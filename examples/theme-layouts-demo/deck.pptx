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914400" y="2971800"/>
            <a:ext cx="103632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1B3A5C"/>
                </a:solidFill>
                <a:latin typeface="Arial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What Drives Us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Excellence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High standards in every deliverable we ship.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Integrity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Transparent and honest in all we do.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Innovation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By the Numbers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2776728"/>
            <a:ext cx="357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127%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396544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Revenue Target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307840" y="2776728"/>
            <a:ext cx="357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94%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4307840" y="396544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Retention Rate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8158480" y="2776728"/>
            <a:ext cx="357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48 NPS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8158480" y="396544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Side-by-Side Evaluation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Legacy Platform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Modern Stack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2395727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Deploy time: 4 hours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6233160" y="2395727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Deploy time: 8 min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Manual scaling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Auto-scales fast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457200" y="4639055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On-premise; high cost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6233160" y="4639055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Key Milestones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Q1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Foundation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Cloud platform migration done.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Q2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334518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API Launch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REST API live with 99.99% SLA.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Q3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AI Beta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AI features shipped to 500 partners.</a:t>
            </a:r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Q4</a:t>
            </a:r>
          </a:p>
        </p:txBody>
      </p:sp>
      <p:sp>
        <p:nvSpPr>
          <p:cNvPr id="13" name="TextBox 12"/>
          <p:cNvSpPr/>
          <p:nvPr>
            <p:ph type="body" idx="14"/>
          </p:nvPr>
        </p:nvSpPr>
        <p:spPr>
          <a:xfrm>
            <a:off x="912114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Scale Out</a:t>
            </a:r>
          </a:p>
        </p:txBody>
      </p:sp>
      <p:sp>
        <p:nvSpPr>
          <p:cNvPr id="14" name="TextBox 13"/>
          <p:cNvSpPr/>
          <p:nvPr>
            <p:ph type="body" idx="15"/>
          </p:nvPr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Built in the Field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Built with customers, not just for them.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What We Offer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Insights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Live data and AI analytics.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334518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Security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Zero-trust, SOC 2 ready.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Speed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Sub-100ms p99 latency.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APIs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What We Will 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1"/>
          </p:nvPr>
        </p:nvSpPr>
        <p:spPr>
          <a:xfrm>
            <a:off x="457200" y="161848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/>
          <p:nvPr>
            <p:ph type="body" idx="2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Performance against targets</a:t>
            </a:r>
          </a:p>
        </p:txBody>
      </p:sp>
      <p:sp>
        <p:nvSpPr>
          <p:cNvPr id="6" name="TextBox 5"/>
          <p:cNvSpPr/>
          <p:nvPr>
            <p:ph type="body" idx="3"/>
          </p:nvPr>
        </p:nvSpPr>
        <p:spPr>
          <a:xfrm>
            <a:off x="457200" y="250179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/>
          <p:nvPr>
            <p:ph type="body" idx="4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Customer and market signals</a:t>
            </a:r>
          </a:p>
        </p:txBody>
      </p:sp>
      <p:sp>
        <p:nvSpPr>
          <p:cNvPr id="8" name="TextBox 7"/>
          <p:cNvSpPr/>
          <p:nvPr>
            <p:ph type="body" idx="5"/>
          </p:nvPr>
        </p:nvSpPr>
        <p:spPr>
          <a:xfrm>
            <a:off x="457200" y="338510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/>
          <p:nvPr>
            <p:ph type="body" idx="6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Operational health and risks</a:t>
            </a:r>
          </a:p>
        </p:txBody>
      </p:sp>
      <p:sp>
        <p:nvSpPr>
          <p:cNvPr id="10" name="TextBox 9"/>
          <p:cNvSpPr/>
          <p:nvPr>
            <p:ph type="body" idx="7"/>
          </p:nvPr>
        </p:nvSpPr>
        <p:spPr>
          <a:xfrm>
            <a:off x="457200" y="426841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04</a:t>
            </a:r>
          </a:p>
        </p:txBody>
      </p:sp>
      <p:sp>
        <p:nvSpPr>
          <p:cNvPr id="11" name="TextBox 10"/>
          <p:cNvSpPr/>
          <p:nvPr>
            <p:ph type="body" idx="8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Roadmap for next quarter</a:t>
            </a:r>
          </a:p>
        </p:txBody>
      </p:sp>
      <p:sp>
        <p:nvSpPr>
          <p:cNvPr id="12" name="TextBox 11"/>
          <p:cNvSpPr/>
          <p:nvPr>
            <p:ph type="body" idx="9"/>
          </p:nvPr>
        </p:nvSpPr>
        <p:spPr>
          <a:xfrm>
            <a:off x="457200" y="515172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05</a:t>
            </a:r>
          </a:p>
        </p:txBody>
      </p:sp>
      <p:sp>
        <p:nvSpPr>
          <p:cNvPr id="13" name="TextBox 12"/>
          <p:cNvSpPr/>
          <p:nvPr>
            <p:ph type="body" idx="13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body" idx="1"/>
          </p:nvPr>
        </p:nvSpPr>
        <p:spPr>
          <a:xfrm>
            <a:off x="457200" y="2025396"/>
            <a:ext cx="11277600" cy="1691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500" b="1" i="0">
                <a:solidFill>
                  <a:srgbClr val="D97706"/>
                </a:solidFill>
                <a:latin typeface="Arial"/>
              </a:rPr>
              <a:t>3.2M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360" y="3771900"/>
            <a:ext cx="1097280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4101084"/>
            <a:ext cx="112776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0" i="0">
                <a:solidFill>
                  <a:srgbClr val="1A1A2E"/>
                </a:solidFill>
                <a:latin typeface="Arial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"We stopped buying tools and started buying outcomes."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996696" y="3947160"/>
            <a:ext cx="10738104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7A8590"/>
                </a:solidFill>
                <a:latin typeface="Arial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1965960"/>
            <a:ext cx="128016" cy="2926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996696" y="1965960"/>
            <a:ext cx="10738104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Net Revenue Retention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996696" y="3246120"/>
            <a:ext cx="10738104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011680"/>
            <a:ext cx="128016" cy="28346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996696" y="2011680"/>
            <a:ext cx="10738104" cy="2834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1A1A2E"/>
                </a:solidFill>
                <a:latin typeface="Arial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What Changed This Quarter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Activation time dropped by half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Support tickets fell sharply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923544"/>
            <a:ext cx="112776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858585"/>
                </a:solidFill>
                <a:latin typeface="Courier New"/>
              </a:rPr>
              <a:t>hello.py</a:t>
            </a:r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457200" y="1578864"/>
            <a:ext cx="666093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Courier New"/>
              </a:rPr>
              <a:t># The classic, end to end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2097023"/>
            <a:ext cx="96024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Courier New"/>
              </a:rPr>
              <a:t>def</a:t>
            </a:r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1234567" y="2097023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1493689" y="2097023"/>
            <a:ext cx="121936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main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2530177" y="2097023"/>
            <a:ext cx="96024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():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457200" y="2615182"/>
            <a:ext cx="121936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   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1493689" y="2615182"/>
            <a:ext cx="1478491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print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2789300" y="2615182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3048422" y="2615182"/>
            <a:ext cx="4069713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Courier New"/>
              </a:rPr>
              <a:t>"Hello, world!"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6935254" y="2615182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)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457200" y="3651500"/>
            <a:ext cx="121936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main</a:t>
            </a:r>
          </a:p>
        </p:txBody>
      </p:sp>
      <p:sp>
        <p:nvSpPr>
          <p:cNvPr id="17" name="TextBox 16"/>
          <p:cNvSpPr/>
          <p:nvPr>
            <p:ph type="body" idx="16"/>
          </p:nvPr>
        </p:nvSpPr>
        <p:spPr>
          <a:xfrm>
            <a:off x="1493689" y="3651500"/>
            <a:ext cx="70112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()</a:t>
            </a:r>
          </a:p>
        </p:txBody>
      </p:sp>
      <p:sp>
        <p:nvSpPr>
          <p:cNvPr id="18" name="TextBox 17"/>
          <p:cNvSpPr/>
          <p:nvPr>
            <p:ph type="body" idx="17"/>
          </p:nvPr>
        </p:nvSpPr>
        <p:spPr>
          <a:xfrm>
            <a:off x="457200" y="4687818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Courier New"/>
              </a:rPr>
              <a:t>$</a:t>
            </a:r>
          </a:p>
        </p:txBody>
      </p:sp>
      <p:sp>
        <p:nvSpPr>
          <p:cNvPr id="19" name="TextBox 18"/>
          <p:cNvSpPr/>
          <p:nvPr>
            <p:ph type="body" idx="18"/>
          </p:nvPr>
        </p:nvSpPr>
        <p:spPr>
          <a:xfrm>
            <a:off x="716322" y="4687818"/>
            <a:ext cx="4328835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python hello.py</a:t>
            </a:r>
          </a:p>
        </p:txBody>
      </p:sp>
      <p:sp>
        <p:nvSpPr>
          <p:cNvPr id="20" name="TextBox 19"/>
          <p:cNvSpPr/>
          <p:nvPr>
            <p:ph type="body" idx="19"/>
          </p:nvPr>
        </p:nvSpPr>
        <p:spPr>
          <a:xfrm>
            <a:off x="457200" y="5205977"/>
            <a:ext cx="3551468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Final folder shape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1"/>
          </p:nvPr>
        </p:nvSpPr>
        <p:spPr>
          <a:xfrm>
            <a:off x="822960" y="1819656"/>
            <a:ext cx="3947773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D97706"/>
                </a:solidFill>
                <a:latin typeface="Courier New"/>
              </a:rPr>
              <a:t>simple-eda-project/</a:t>
            </a:r>
          </a:p>
        </p:txBody>
      </p:sp>
      <p:sp>
        <p:nvSpPr>
          <p:cNvPr id="5" name="TextBox 4"/>
          <p:cNvSpPr/>
          <p:nvPr>
            <p:ph type="body" idx="2"/>
          </p:nvPr>
        </p:nvSpPr>
        <p:spPr>
          <a:xfrm>
            <a:off x="822960" y="221589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6" name="TextBox 5"/>
          <p:cNvSpPr/>
          <p:nvPr>
            <p:ph type="body" idx="3"/>
          </p:nvPr>
        </p:nvSpPr>
        <p:spPr>
          <a:xfrm>
            <a:off x="1417417" y="2215896"/>
            <a:ext cx="975489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D97706"/>
                </a:solidFill>
                <a:latin typeface="Courier New"/>
              </a:rPr>
              <a:t>src/</a:t>
            </a:r>
          </a:p>
        </p:txBody>
      </p:sp>
      <p:sp>
        <p:nvSpPr>
          <p:cNvPr id="7" name="TextBox 6"/>
          <p:cNvSpPr/>
          <p:nvPr>
            <p:ph type="body" idx="4"/>
          </p:nvPr>
        </p:nvSpPr>
        <p:spPr>
          <a:xfrm>
            <a:off x="822960" y="2612136"/>
            <a:ext cx="1371793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8" name="TextBox 7"/>
          <p:cNvSpPr/>
          <p:nvPr>
            <p:ph type="body" idx="5"/>
          </p:nvPr>
        </p:nvSpPr>
        <p:spPr>
          <a:xfrm>
            <a:off x="2011873" y="2612136"/>
            <a:ext cx="2362555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D97706"/>
                </a:solidFill>
                <a:latin typeface="Courier New"/>
              </a:rPr>
              <a:t>simple_eda/</a:t>
            </a:r>
          </a:p>
        </p:txBody>
      </p:sp>
      <p:sp>
        <p:nvSpPr>
          <p:cNvPr id="9" name="TextBox 8"/>
          <p:cNvSpPr/>
          <p:nvPr>
            <p:ph type="body" idx="6"/>
          </p:nvPr>
        </p:nvSpPr>
        <p:spPr>
          <a:xfrm>
            <a:off x="822960" y="3008376"/>
            <a:ext cx="1966250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0" name="TextBox 9"/>
          <p:cNvSpPr/>
          <p:nvPr>
            <p:ph type="body" idx="7"/>
          </p:nvPr>
        </p:nvSpPr>
        <p:spPr>
          <a:xfrm>
            <a:off x="2606330" y="3008376"/>
            <a:ext cx="2362555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1" name="TextBox 10"/>
          <p:cNvSpPr/>
          <p:nvPr>
            <p:ph type="body" idx="8"/>
          </p:nvPr>
        </p:nvSpPr>
        <p:spPr>
          <a:xfrm>
            <a:off x="822960" y="3404616"/>
            <a:ext cx="1966250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2" name="TextBox 11"/>
          <p:cNvSpPr/>
          <p:nvPr>
            <p:ph type="body" idx="9"/>
          </p:nvPr>
        </p:nvSpPr>
        <p:spPr>
          <a:xfrm>
            <a:off x="2606330" y="3404616"/>
            <a:ext cx="1569946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3" name="TextBox 12"/>
          <p:cNvSpPr/>
          <p:nvPr>
            <p:ph type="body" idx="13"/>
          </p:nvPr>
        </p:nvSpPr>
        <p:spPr>
          <a:xfrm>
            <a:off x="822960" y="380085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4" name="TextBox 13"/>
          <p:cNvSpPr/>
          <p:nvPr>
            <p:ph type="body" idx="14"/>
          </p:nvPr>
        </p:nvSpPr>
        <p:spPr>
          <a:xfrm>
            <a:off x="1417417" y="3800856"/>
            <a:ext cx="1966250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5" name="TextBox 14"/>
          <p:cNvSpPr/>
          <p:nvPr>
            <p:ph type="body" idx="15"/>
          </p:nvPr>
        </p:nvSpPr>
        <p:spPr>
          <a:xfrm>
            <a:off x="822960" y="419709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6" name="TextBox 15"/>
          <p:cNvSpPr/>
          <p:nvPr>
            <p:ph type="body" idx="16"/>
          </p:nvPr>
        </p:nvSpPr>
        <p:spPr>
          <a:xfrm>
            <a:off x="1417417" y="4197096"/>
            <a:ext cx="2957011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17" name="TextBox 16"/>
          <p:cNvSpPr/>
          <p:nvPr>
            <p:ph type="body" idx="17"/>
          </p:nvPr>
        </p:nvSpPr>
        <p:spPr>
          <a:xfrm>
            <a:off x="822960" y="459333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18" name="TextBox 17"/>
          <p:cNvSpPr/>
          <p:nvPr>
            <p:ph type="body" idx="18"/>
          </p:nvPr>
        </p:nvSpPr>
        <p:spPr>
          <a:xfrm>
            <a:off x="1417417" y="4593336"/>
            <a:ext cx="1569946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Three Steps to Onboard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776183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1461983" y="1499616"/>
            <a:ext cx="1027281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Connect your data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1461983" y="2109215"/>
            <a:ext cx="10272817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Link a source in minutes with a guided wizard.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457200" y="3011424"/>
            <a:ext cx="776183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1461983" y="3011424"/>
            <a:ext cx="1027281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Pick a template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1461983" y="3621023"/>
            <a:ext cx="10272817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from a proven layout, then tailor it.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457200" y="4523232"/>
            <a:ext cx="776183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1461983" y="4523232"/>
            <a:ext cx="1027281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Share the result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1461983" y="5132831"/>
            <a:ext cx="10272817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Onboarding, Reworked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Before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After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Manual account setup</a:t>
            </a:r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Three-day approval wait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Email-only support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One-click provisioning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Same-day approval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Cloud or On-Prem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6000" b="1" i="0">
                <a:solidFill>
                  <a:srgbClr val="1A1A2E"/>
                </a:solidFill>
                <a:latin typeface="Arial"/>
              </a:rPr>
              <a:t>3 wks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3965448"/>
            <a:ext cx="479298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Cloud time-to-launch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6000" b="1" i="0">
                <a:solidFill>
                  <a:srgbClr val="1A1A2E"/>
                </a:solidFill>
                <a:latin typeface="Arial"/>
              </a:rPr>
              <a:t>6 mo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6941820" y="3965448"/>
            <a:ext cx="479298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On-prem time-to-launch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5524500" y="3310127"/>
            <a:ext cx="11430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7A8590"/>
                </a:solidFill>
                <a:latin typeface="Arial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Key Metrics This Quarter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98.7%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2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Uptime</a:t>
            </a:r>
          </a:p>
        </p:txBody>
      </p:sp>
      <p:sp>
        <p:nvSpPr>
          <p:cNvPr id="6" name="TextBox 5"/>
          <p:cNvSpPr/>
          <p:nvPr>
            <p:ph type="body" idx="3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1,240</a:t>
            </a:r>
          </a:p>
        </p:txBody>
      </p:sp>
      <p:sp>
        <p:nvSpPr>
          <p:cNvPr id="7" name="Rectangle 6"/>
          <p:cNvSpPr/>
          <p:nvPr/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307840" y="2593848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New accounts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4.6/5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2593848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Support rating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$2.1M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8"/>
          </p:nvPr>
        </p:nvSpPr>
        <p:spPr>
          <a:xfrm>
            <a:off x="457200" y="4861560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Net new revenue</a:t>
            </a:r>
          </a:p>
        </p:txBody>
      </p:sp>
      <p:sp>
        <p:nvSpPr>
          <p:cNvPr id="15" name="TextBox 14"/>
          <p:cNvSpPr/>
          <p:nvPr>
            <p:ph type="body" idx="9"/>
          </p:nvPr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12 days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3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Avg. time to value</a:t>
            </a:r>
          </a:p>
        </p:txBody>
      </p:sp>
      <p:sp>
        <p:nvSpPr>
          <p:cNvPr id="18" name="TextBox 17"/>
          <p:cNvSpPr/>
          <p:nvPr>
            <p:ph type="body" idx="14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31%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5"/>
          </p:nvPr>
        </p:nvSpPr>
        <p:spPr>
          <a:xfrm>
            <a:off x="8158480" y="4861560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Monthly Active Teams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3680394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120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0085" y="4335714"/>
            <a:ext cx="1040129" cy="76968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2"/>
          </p:nvPr>
        </p:nvSpPr>
        <p:spPr>
          <a:xfrm>
            <a:off x="457200" y="5379720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Jan</a:t>
            </a:r>
          </a:p>
        </p:txBody>
      </p:sp>
      <p:sp>
        <p:nvSpPr>
          <p:cNvPr id="6" name="TextBox 5"/>
          <p:cNvSpPr/>
          <p:nvPr>
            <p:ph type="body" idx="3"/>
          </p:nvPr>
        </p:nvSpPr>
        <p:spPr>
          <a:xfrm>
            <a:off x="2217420" y="3295551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180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0305" y="3950871"/>
            <a:ext cx="1040129" cy="115452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2217420" y="5379720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Feb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3977640" y="2590005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290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0525" y="3245325"/>
            <a:ext cx="1040129" cy="18600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977640" y="5379720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Mar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5737860" y="1499616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460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60745" y="2154936"/>
            <a:ext cx="1040129" cy="29504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8"/>
          </p:nvPr>
        </p:nvSpPr>
        <p:spPr>
          <a:xfrm>
            <a:off x="5737860" y="5379720"/>
            <a:ext cx="148590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Apr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0" y="1770888"/>
            <a:ext cx="128016" cy="37185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9"/>
          </p:nvPr>
        </p:nvSpPr>
        <p:spPr>
          <a:xfrm>
            <a:off x="8037576" y="1770888"/>
            <a:ext cx="3697224" cy="3718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Pricing Tiers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Plan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307840" y="1499616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Seats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8158480" y="1499616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Price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4"/>
          </p:nvPr>
        </p:nvSpPr>
        <p:spPr>
          <a:xfrm>
            <a:off x="457200" y="2401823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Starter</a:t>
            </a:r>
          </a:p>
        </p:txBody>
      </p:sp>
      <p:sp>
        <p:nvSpPr>
          <p:cNvPr id="8" name="TextBox 7"/>
          <p:cNvSpPr/>
          <p:nvPr>
            <p:ph type="body" idx="5"/>
          </p:nvPr>
        </p:nvSpPr>
        <p:spPr>
          <a:xfrm>
            <a:off x="4307840" y="2401823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5</a:t>
            </a:r>
          </a:p>
        </p:txBody>
      </p:sp>
      <p:sp>
        <p:nvSpPr>
          <p:cNvPr id="9" name="TextBox 8"/>
          <p:cNvSpPr/>
          <p:nvPr>
            <p:ph type="body" idx="6"/>
          </p:nvPr>
        </p:nvSpPr>
        <p:spPr>
          <a:xfrm>
            <a:off x="8158480" y="2401823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$0</a:t>
            </a:r>
          </a:p>
        </p:txBody>
      </p:sp>
      <p:sp>
        <p:nvSpPr>
          <p:cNvPr id="10" name="TextBox 9"/>
          <p:cNvSpPr/>
          <p:nvPr>
            <p:ph type="body" idx="7"/>
          </p:nvPr>
        </p:nvSpPr>
        <p:spPr>
          <a:xfrm>
            <a:off x="457200" y="3310127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Team</a:t>
            </a:r>
          </a:p>
        </p:txBody>
      </p:sp>
      <p:sp>
        <p:nvSpPr>
          <p:cNvPr id="11" name="TextBox 10"/>
          <p:cNvSpPr/>
          <p:nvPr>
            <p:ph type="body" idx="8"/>
          </p:nvPr>
        </p:nvSpPr>
        <p:spPr>
          <a:xfrm>
            <a:off x="4307840" y="3310127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50</a:t>
            </a:r>
          </a:p>
        </p:txBody>
      </p:sp>
      <p:sp>
        <p:nvSpPr>
          <p:cNvPr id="12" name="TextBox 11"/>
          <p:cNvSpPr/>
          <p:nvPr>
            <p:ph type="body" idx="9"/>
          </p:nvPr>
        </p:nvSpPr>
        <p:spPr>
          <a:xfrm>
            <a:off x="8158480" y="3310127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$12/seat</a:t>
            </a:r>
          </a:p>
        </p:txBody>
      </p:sp>
      <p:sp>
        <p:nvSpPr>
          <p:cNvPr id="13" name="TextBox 12"/>
          <p:cNvSpPr/>
          <p:nvPr>
            <p:ph type="body" idx="13"/>
          </p:nvPr>
        </p:nvSpPr>
        <p:spPr>
          <a:xfrm>
            <a:off x="457200" y="4218431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Business</a:t>
            </a:r>
          </a:p>
        </p:txBody>
      </p:sp>
      <p:sp>
        <p:nvSpPr>
          <p:cNvPr id="14" name="TextBox 13"/>
          <p:cNvSpPr/>
          <p:nvPr>
            <p:ph type="body" idx="14"/>
          </p:nvPr>
        </p:nvSpPr>
        <p:spPr>
          <a:xfrm>
            <a:off x="4307840" y="4218431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250</a:t>
            </a:r>
          </a:p>
        </p:txBody>
      </p:sp>
      <p:sp>
        <p:nvSpPr>
          <p:cNvPr id="15" name="TextBox 14"/>
          <p:cNvSpPr/>
          <p:nvPr>
            <p:ph type="body" idx="15"/>
          </p:nvPr>
        </p:nvSpPr>
        <p:spPr>
          <a:xfrm>
            <a:off x="8158480" y="4218431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$20/seat</a:t>
            </a:r>
          </a:p>
        </p:txBody>
      </p:sp>
      <p:sp>
        <p:nvSpPr>
          <p:cNvPr id="16" name="TextBox 15"/>
          <p:cNvSpPr/>
          <p:nvPr>
            <p:ph type="body" idx="16"/>
          </p:nvPr>
        </p:nvSpPr>
        <p:spPr>
          <a:xfrm>
            <a:off x="457200" y="5126735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Enterprise</a:t>
            </a:r>
          </a:p>
        </p:txBody>
      </p:sp>
      <p:sp>
        <p:nvSpPr>
          <p:cNvPr id="17" name="TextBox 16"/>
          <p:cNvSpPr/>
          <p:nvPr>
            <p:ph type="body" idx="17"/>
          </p:nvPr>
        </p:nvSpPr>
        <p:spPr>
          <a:xfrm>
            <a:off x="4307840" y="5126735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Unlimited</a:t>
            </a:r>
          </a:p>
        </p:txBody>
      </p:sp>
      <p:sp>
        <p:nvSpPr>
          <p:cNvPr id="18" name="TextBox 17"/>
          <p:cNvSpPr/>
          <p:nvPr>
            <p:ph type="body" idx="18"/>
          </p:nvPr>
        </p:nvSpPr>
        <p:spPr>
          <a:xfrm>
            <a:off x="8158480" y="5126735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Performance vs Last Year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2075688"/>
            <a:ext cx="357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6000" b="1" i="0">
                <a:solidFill>
                  <a:srgbClr val="D97706"/>
                </a:solidFill>
                <a:latin typeface="Arial"/>
              </a:rPr>
              <a:t>$8.4M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3264408"/>
            <a:ext cx="357632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Annual recurring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1522569" y="4666488"/>
            <a:ext cx="1445581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3"/>
          </p:nvPr>
        </p:nvSpPr>
        <p:spPr>
          <a:xfrm>
            <a:off x="1522569" y="4666488"/>
            <a:ext cx="1445581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+24%</a:t>
            </a:r>
          </a:p>
        </p:txBody>
      </p:sp>
      <p:sp>
        <p:nvSpPr>
          <p:cNvPr id="7" name="TextBox 6"/>
          <p:cNvSpPr/>
          <p:nvPr>
            <p:ph type="body" idx="4"/>
          </p:nvPr>
        </p:nvSpPr>
        <p:spPr>
          <a:xfrm>
            <a:off x="4307840" y="2075688"/>
            <a:ext cx="357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6000" b="1" i="0">
                <a:solidFill>
                  <a:srgbClr val="D97706"/>
                </a:solidFill>
                <a:latin typeface="Arial"/>
              </a:rPr>
              <a:t>2.1%</a:t>
            </a:r>
          </a:p>
        </p:txBody>
      </p:sp>
      <p:sp>
        <p:nvSpPr>
          <p:cNvPr id="8" name="TextBox 7"/>
          <p:cNvSpPr/>
          <p:nvPr>
            <p:ph type="body" idx="5"/>
          </p:nvPr>
        </p:nvSpPr>
        <p:spPr>
          <a:xfrm>
            <a:off x="4307840" y="3264408"/>
            <a:ext cx="357632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Monthly churn</a:t>
            </a:r>
          </a:p>
        </p:txBody>
      </p:sp>
      <p:sp>
        <p:nvSpPr>
          <p:cNvPr id="9" name="Rectangle 8"/>
          <p:cNvSpPr/>
          <p:nvPr/>
        </p:nvSpPr>
        <p:spPr>
          <a:xfrm>
            <a:off x="5175547" y="4666488"/>
            <a:ext cx="1840906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5175547" y="4666488"/>
            <a:ext cx="1840906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-0.8 pts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8158480" y="2075688"/>
            <a:ext cx="357632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6000" b="1" i="0">
                <a:solidFill>
                  <a:srgbClr val="D97706"/>
                </a:solidFill>
                <a:latin typeface="Arial"/>
              </a:rPr>
              <a:t>63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8158480" y="3264408"/>
            <a:ext cx="357632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Net promoter 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27731" y="4666488"/>
            <a:ext cx="1037817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427731" y="4666488"/>
            <a:ext cx="103781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Onboarding Flow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2"/>
          </p:nvPr>
        </p:nvSpPr>
        <p:spPr>
          <a:xfrm>
            <a:off x="45720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Sign up</a:t>
            </a:r>
          </a:p>
        </p:txBody>
      </p:sp>
      <p:sp>
        <p:nvSpPr>
          <p:cNvPr id="6" name="TextBox 5"/>
          <p:cNvSpPr/>
          <p:nvPr>
            <p:ph type="body" idx="3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Create an account</a:t>
            </a:r>
          </a:p>
        </p:txBody>
      </p:sp>
      <p:sp>
        <p:nvSpPr>
          <p:cNvPr id="7" name="TextBox 6"/>
          <p:cNvSpPr/>
          <p:nvPr>
            <p:ph type="body" idx="4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334518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Connect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Link your data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Configure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Pick your metrics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4"/>
          </p:nvPr>
        </p:nvSpPr>
        <p:spPr>
          <a:xfrm>
            <a:off x="912114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Launch</a:t>
            </a:r>
          </a:p>
        </p:txBody>
      </p:sp>
      <p:sp>
        <p:nvSpPr>
          <p:cNvPr id="18" name="TextBox 17"/>
          <p:cNvSpPr/>
          <p:nvPr>
            <p:ph type="body" idx="15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2026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5" name="TextBox 4"/>
          <p:cNvSpPr/>
          <p:nvPr>
            <p:ph type="body" idx="2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Ship API</a:t>
            </a:r>
          </a:p>
        </p:txBody>
      </p:sp>
      <p:sp>
        <p:nvSpPr>
          <p:cNvPr id="6" name="TextBox 5"/>
          <p:cNvSpPr/>
          <p:nvPr>
            <p:ph type="body" idx="3"/>
          </p:nvPr>
        </p:nvSpPr>
        <p:spPr>
          <a:xfrm>
            <a:off x="457200" y="327964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Beta launch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Mobile app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307840" y="327964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Integrations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8158480" y="239572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Enterprise tier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Sales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Visitors · 50,000</a:t>
            </a:r>
          </a:p>
        </p:txBody>
      </p:sp>
      <p:sp>
        <p:nvSpPr>
          <p:cNvPr id="5" name="Rectangle 4"/>
          <p:cNvSpPr/>
          <p:nvPr/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Signups · 8,000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Trials · 2,400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4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Job Search Funnel (2021)</a:t>
            </a:r>
          </a:p>
        </p:txBody>
      </p:sp>
      <p:sp>
        <p:nvSpPr>
          <p:cNvPr id="3" name="Oval 2"/>
          <p:cNvSpPr/>
          <p:nvPr/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7A8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Arial"/>
              </a:rPr>
              <a:t>&gt;700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017676" y="2316480"/>
            <a:ext cx="4156648" cy="670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54990" y="3950208"/>
            <a:ext cx="30820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1.5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5307493" y="5583935"/>
            <a:ext cx="1577014" cy="426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Arial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Hierarchy of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Strategy</a:t>
            </a:r>
          </a:p>
        </p:txBody>
      </p:sp>
      <p:sp>
        <p:nvSpPr>
          <p:cNvPr id="7" name="Rectangle 6"/>
          <p:cNvSpPr/>
          <p:nvPr/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Goals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4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SWOT Analysis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Strengths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2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strong brand with loyal users</a:t>
            </a:r>
          </a:p>
        </p:txBody>
      </p:sp>
      <p:sp>
        <p:nvSpPr>
          <p:cNvPr id="6" name="TextBox 5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Weaknesses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Thin margins and a small team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Opportunities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New markets through partnerships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Threats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8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Evaluation Matrix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3889248" y="1499616"/>
            <a:ext cx="243230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A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6595872" y="1499616"/>
            <a:ext cx="243230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B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9302496" y="1499616"/>
            <a:ext cx="243230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C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4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Security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4245247" y="2401823"/>
            <a:ext cx="1720305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245247" y="2401823"/>
            <a:ext cx="1720305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6595872" y="2401823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457200" y="3612895"/>
            <a:ext cx="3157728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Workflow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3889248" y="3612895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9302496" y="3612895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45247" y="4823967"/>
            <a:ext cx="1720305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245247" y="4823967"/>
            <a:ext cx="1720305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302496" y="4823967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75560"/>
            <a:ext cx="103632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6000" b="1" i="0">
                <a:solidFill>
                  <a:srgbClr val="1B3A5C"/>
                </a:solidFill>
                <a:latin typeface="Arial"/>
              </a:rPr>
              <a:t>Slide Themes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64280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Every design, in Edit theme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How a Design Reaches the Theme Editor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Author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slide declares its component in YAML.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Resolve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Font metrics fix every box to exact EMU.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Layout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The design becomes a named pptx layout.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21140" y="215493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Import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Google Slides lists it in Edit theme.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7A859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Naming Layouts After Designs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Strengths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Designs are selectable, not just baked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Weaknesses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Adds 30 layouts to every deck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Opportunities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Apply a design to brand-new slides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Threats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Edited layouts can drift from the YAML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7A859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