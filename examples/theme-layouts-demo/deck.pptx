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914400" y="2971800"/>
            <a:ext cx="1036320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Drives Us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Excellence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High standards in every deliverable we ship.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Integrity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Transparent and honest in all we do.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Innovation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By the Numbers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357632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127%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Revenue Target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307840" y="2776728"/>
            <a:ext cx="357632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94%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396544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Retention Rate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158480" y="2776728"/>
            <a:ext cx="357632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48 NPS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3965448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Side-by-Side Evaluation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Legacy Platform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Modern Stack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4 hours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Deploy time: 8 min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scaling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Auto-scales fast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On-premise; high cost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Milestones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Foundation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Cloud platform migration done.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 Launch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REST API live with 99.99% SLA.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AI Beta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AI features shipped to 500 partners.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Q4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Scale Out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Built in the Field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Built with customers, not just for them.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What We Offer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Insights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Live data and AI analytics.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Zero-trust, SOC 2 ready.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Speed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Sub-100ms p99 latency.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APIs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783080"/>
            <a:ext cx="128016" cy="2011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783080"/>
            <a:ext cx="10738104" cy="10058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We Will Cover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61848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Performance against targets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250179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Customer and market signals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38510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Operational health and risks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26841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Roadmap for next quarter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5151728"/>
            <a:ext cx="9144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05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2025396"/>
            <a:ext cx="11277600" cy="1691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10500" b="1" i="0">
                <a:solidFill>
                  <a:srgbClr val="D97706"/>
                </a:solidFill>
                <a:latin typeface="Arial"/>
              </a:rPr>
              <a:t>3.2M</a:t>
            </a:r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5547360" y="3771900"/>
            <a:ext cx="109728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4101084"/>
            <a:ext cx="11277600" cy="7315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0" i="0">
                <a:solidFill>
                  <a:srgbClr val="1A1A2E"/>
                </a:solidFill>
                <a:latin typeface="Arial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"We stopped buying tools and started buying outcomes."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947160"/>
            <a:ext cx="10738104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7A8590"/>
                </a:solidFill>
                <a:latin typeface="Arial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1965960"/>
            <a:ext cx="128016" cy="29260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1965960"/>
            <a:ext cx="10738104" cy="10058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D97706"/>
                </a:solidFill>
                <a:latin typeface="Arial"/>
              </a:rPr>
              <a:t>Net Revenue Retention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996696" y="3246120"/>
            <a:ext cx="10738104" cy="16459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2011680"/>
            <a:ext cx="128016" cy="283464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996696" y="2011680"/>
            <a:ext cx="10738104" cy="2834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1A1A2E"/>
                </a:solidFill>
                <a:latin typeface="Arial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What Changed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Activation time dropped by half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Support tickets fell sharply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Rectangle 4"/>
          <p:cNvSpPr/>
          <p:nvPr>
            <p:ph type="body" idx="1"/>
          </p:nvPr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>
            <p:ph type="body" idx="2"/>
          </p:nvPr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>
            <p:ph type="body" idx="3"/>
          </p:nvPr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923544"/>
            <a:ext cx="112776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858585"/>
                </a:solidFill>
                <a:latin typeface="Courier New"/>
              </a:rPr>
              <a:t>hello.py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1578864"/>
            <a:ext cx="666093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ourier New"/>
              </a:rPr>
              <a:t># The classic, end to end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57200" y="2097023"/>
            <a:ext cx="960247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ourier New"/>
              </a:rPr>
              <a:t>def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1234567" y="2097023"/>
            <a:ext cx="44200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493689" y="2097023"/>
            <a:ext cx="1219369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530177" y="2097023"/>
            <a:ext cx="960247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():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457200" y="2615182"/>
            <a:ext cx="1219369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   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1493689" y="2615182"/>
            <a:ext cx="1478491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print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2789300" y="2615182"/>
            <a:ext cx="44200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3048422" y="2615182"/>
            <a:ext cx="4069713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ourier New"/>
              </a:rPr>
              <a:t>"Hello, world!"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6935254" y="2615182"/>
            <a:ext cx="44200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)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457200" y="3651500"/>
            <a:ext cx="1219369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1493689" y="3651500"/>
            <a:ext cx="70112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</a:t>
            </a:r>
          </a:p>
        </p:txBody>
      </p:sp>
      <p:sp>
        <p:nvSpPr>
          <p:cNvPr id="21" name="TextBox 20"/>
          <p:cNvSpPr/>
          <p:nvPr>
            <p:ph type="body" idx="20"/>
          </p:nvPr>
        </p:nvSpPr>
        <p:spPr>
          <a:xfrm>
            <a:off x="457200" y="4687818"/>
            <a:ext cx="44200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ourier New"/>
              </a:rPr>
              <a:t>$</a:t>
            </a:r>
          </a:p>
        </p:txBody>
      </p:sp>
      <p:sp>
        <p:nvSpPr>
          <p:cNvPr id="22" name="TextBox 21"/>
          <p:cNvSpPr/>
          <p:nvPr>
            <p:ph type="body" idx="21"/>
          </p:nvPr>
        </p:nvSpPr>
        <p:spPr>
          <a:xfrm>
            <a:off x="716322" y="4687818"/>
            <a:ext cx="4328835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python hello.py</a:t>
            </a:r>
          </a:p>
        </p:txBody>
      </p:sp>
      <p:sp>
        <p:nvSpPr>
          <p:cNvPr id="23" name="TextBox 22"/>
          <p:cNvSpPr/>
          <p:nvPr>
            <p:ph type="body" idx="22"/>
          </p:nvPr>
        </p:nvSpPr>
        <p:spPr>
          <a:xfrm>
            <a:off x="457200" y="5205977"/>
            <a:ext cx="3551468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Final folder shape</a:t>
            </a:r>
          </a:p>
        </p:txBody>
      </p:sp>
      <p:sp>
        <p:nvSpPr>
          <p:cNvPr id="6" name="Rounded Rectangle 5"/>
          <p:cNvSpPr/>
          <p:nvPr>
            <p:ph type="body" idx="1"/>
          </p:nvPr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822960" y="1819656"/>
            <a:ext cx="3947773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simple-eda-project/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22960" y="2215896"/>
            <a:ext cx="777337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17417" y="2215896"/>
            <a:ext cx="975489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src/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822960" y="2612136"/>
            <a:ext cx="1371793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011873" y="2612136"/>
            <a:ext cx="2362555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1" i="0">
                <a:solidFill>
                  <a:srgbClr val="D97706"/>
                </a:solidFill>
                <a:latin typeface="Courier New"/>
              </a:rPr>
              <a:t>simple_eda/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22960" y="3008376"/>
            <a:ext cx="1966250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2606330" y="3008376"/>
            <a:ext cx="2362555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22960" y="3404616"/>
            <a:ext cx="1966250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2606330" y="3404616"/>
            <a:ext cx="1569946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22960" y="3800856"/>
            <a:ext cx="777337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1417417" y="3800856"/>
            <a:ext cx="1966250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22960" y="4197096"/>
            <a:ext cx="777337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1417417" y="4197096"/>
            <a:ext cx="2957011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822960" y="4593336"/>
            <a:ext cx="777337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1417417" y="4593336"/>
            <a:ext cx="1569946" cy="3962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A1A2E"/>
                </a:solidFill>
                <a:latin typeface="Arial"/>
              </a:rPr>
              <a:t>Three Steps to Onboard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776183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1461983" y="1499616"/>
            <a:ext cx="10272817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 your data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461983" y="2109215"/>
            <a:ext cx="10272817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a source in minutes with a guided wizard.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11424"/>
            <a:ext cx="776183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1461983" y="3011424"/>
            <a:ext cx="10272817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Pick a template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461983" y="3621023"/>
            <a:ext cx="10272817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 from a proven layout, then tailor it.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523232"/>
            <a:ext cx="776183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1461983" y="4523232"/>
            <a:ext cx="10272817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Share the result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1461983" y="5132831"/>
            <a:ext cx="10272817" cy="62788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Onboarding, Reworked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Before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After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Manual account setup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Three-day approval wait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Email-only support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One-click provisioning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Same-day approval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Cloud or On-Prem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776728"/>
            <a:ext cx="479298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3 wks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965448"/>
            <a:ext cx="479298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Cloud time-to-launch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6941820" y="2776728"/>
            <a:ext cx="479298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6000" b="1" i="0">
                <a:solidFill>
                  <a:srgbClr val="1A1A2E"/>
                </a:solidFill>
                <a:latin typeface="Arial"/>
              </a:rPr>
              <a:t>6 mo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941820" y="3965448"/>
            <a:ext cx="479298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On-prem time-to-launch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524500" y="3310127"/>
            <a:ext cx="114300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7A8590"/>
                </a:solidFill>
                <a:latin typeface="Arial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Key Metrics This Quarter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98.7%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Uptime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1,240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New accounts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4.6/5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Support rating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4056888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$2.1M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170891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457200" y="4861560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new revenue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12 days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Avg. time to value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D97706"/>
                </a:solidFill>
                <a:latin typeface="Arial"/>
              </a:rPr>
              <a:t>31%</a:t>
            </a:r>
          </a:p>
        </p:txBody>
      </p:sp>
      <p:sp>
        <p:nvSpPr>
          <p:cNvPr id="22" name="Rectangle 21"/>
          <p:cNvSpPr/>
          <p:nvPr>
            <p:ph type="body" idx="20"/>
          </p:nvPr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8158480" y="4861560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Monthly Active Teams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3680394"/>
            <a:ext cx="14859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120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680085" y="4335714"/>
            <a:ext cx="1040129" cy="76968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5379720"/>
            <a:ext cx="14859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Jan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217420" y="3295551"/>
            <a:ext cx="14859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180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440305" y="3950871"/>
            <a:ext cx="1040129" cy="115452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217420" y="5379720"/>
            <a:ext cx="14859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Feb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977640" y="2590005"/>
            <a:ext cx="14859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290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200525" y="3245325"/>
            <a:ext cx="1040129" cy="1860075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3977640" y="5379720"/>
            <a:ext cx="14859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Mar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5737860" y="1499616"/>
            <a:ext cx="14859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460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5960745" y="2154936"/>
            <a:ext cx="1040129" cy="29504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5737860" y="5379720"/>
            <a:ext cx="148590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0" i="0">
                <a:solidFill>
                  <a:srgbClr val="7A8590"/>
                </a:solidFill>
                <a:latin typeface="Arial"/>
              </a:rPr>
              <a:t>Apr</a:t>
            </a:r>
          </a:p>
        </p:txBody>
      </p:sp>
      <p:sp>
        <p:nvSpPr>
          <p:cNvPr id="18" name="Rectangle 17"/>
          <p:cNvSpPr/>
          <p:nvPr>
            <p:ph type="body" idx="16"/>
          </p:nvPr>
        </p:nvSpPr>
        <p:spPr>
          <a:xfrm>
            <a:off x="7498080" y="1770888"/>
            <a:ext cx="128016" cy="37185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8037576" y="1770888"/>
            <a:ext cx="3697224" cy="3718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Pricing Tiers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Plan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Seats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Price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Starter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2401823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2401823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$0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3310127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Team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307840" y="3310127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50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310127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$12/seat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457200" y="4218431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Business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4307840" y="4218431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Up to 250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8158480" y="4218431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$20/seat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5126735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4307840" y="5126735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Unlimited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8158480" y="5126735"/>
            <a:ext cx="3576320" cy="633984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Performance vs Last Year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2075688"/>
            <a:ext cx="357632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$8.4M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Annual recurring revenue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522569" y="4666488"/>
            <a:ext cx="1445581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+24%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307840" y="2075688"/>
            <a:ext cx="357632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2.1%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Monthly churn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175547" y="4666488"/>
            <a:ext cx="1840906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-0.8 pts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2075688"/>
            <a:ext cx="357632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6000" b="1" i="0">
                <a:solidFill>
                  <a:srgbClr val="D97706"/>
                </a:solidFill>
                <a:latin typeface="Arial"/>
              </a:rPr>
              <a:t>63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3264408"/>
            <a:ext cx="3576320" cy="1127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Net promoter score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9427731" y="4666488"/>
            <a:ext cx="1037817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Onboarding Flow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01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Sign up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Create an account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02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Connect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Link your data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03</a:t>
            </a:r>
          </a:p>
        </p:txBody>
      </p:sp>
      <p:sp>
        <p:nvSpPr>
          <p:cNvPr id="15" name="Rectangle 14"/>
          <p:cNvSpPr/>
          <p:nvPr>
            <p:ph type="body" idx="13"/>
          </p:nvPr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Configure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Pick your metrics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D97706"/>
                </a:solidFill>
                <a:latin typeface="Arial"/>
              </a:rPr>
              <a:t>04</a:t>
            </a:r>
          </a:p>
        </p:txBody>
      </p:sp>
      <p:sp>
        <p:nvSpPr>
          <p:cNvPr id="19" name="Rectangle 18"/>
          <p:cNvSpPr/>
          <p:nvPr>
            <p:ph type="body" idx="17"/>
          </p:nvPr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B3A5C"/>
                </a:solidFill>
                <a:latin typeface="Arial"/>
              </a:rPr>
              <a:t>Launch</a:t>
            </a:r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2026 Plan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Q1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Ship API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200" y="327964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Beta launch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Q2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Mobile app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307840" y="327964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Integrations</a:t>
            </a:r>
          </a:p>
        </p:txBody>
      </p:sp>
      <p:sp>
        <p:nvSpPr>
          <p:cNvPr id="14" name="Rectangle 13"/>
          <p:cNvSpPr/>
          <p:nvPr>
            <p:ph type="body" idx="9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Q3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8158480" y="239572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Enterprise tier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Sales Pipeline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Visitors · 50,000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Signups · 8,000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Trials · 2,400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Job Search Funnel (2021)</a:t>
            </a:r>
          </a:p>
        </p:txBody>
      </p:sp>
      <p:sp>
        <p:nvSpPr>
          <p:cNvPr id="6" name="Oval 5"/>
          <p:cNvSpPr/>
          <p:nvPr>
            <p:ph type="body" idx="1"/>
          </p:nvPr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>
            <p:ph type="body" idx="2"/>
          </p:nvPr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>
            <p:ph type="body" idx="3"/>
          </p:nvPr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Arial"/>
              </a:rPr>
              <a:t>&gt;700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017676" y="2316480"/>
            <a:ext cx="4156648" cy="6705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Arial"/>
              </a:rPr>
              <a:t>Applications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54990" y="3950208"/>
            <a:ext cx="3082020" cy="54864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1.5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5307493" y="5583935"/>
            <a:ext cx="1577014" cy="42672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Arial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Hierarchy of Needs</a:t>
            </a:r>
          </a:p>
        </p:txBody>
      </p:sp>
      <p:sp>
        <p:nvSpPr>
          <p:cNvPr id="6" name="Rectangle 5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Vision</a:t>
            </a:r>
          </a:p>
        </p:txBody>
      </p:sp>
      <p:sp>
        <p:nvSpPr>
          <p:cNvPr id="8" name="Rectangle 7"/>
          <p:cNvSpPr/>
          <p:nvPr>
            <p:ph type="body" idx="3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Strategy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Goals</a:t>
            </a:r>
          </a:p>
        </p:txBody>
      </p:sp>
      <p:sp>
        <p:nvSpPr>
          <p:cNvPr id="12" name="Rectangle 11"/>
          <p:cNvSpPr/>
          <p:nvPr>
            <p:ph type="body" idx="7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rial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SWOT Analysis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7" name="Rectangle 6"/>
          <p:cNvSpPr/>
          <p:nvPr>
            <p:ph type="body" idx="2"/>
          </p:nvPr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strong brand with loyal users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10" name="Rectangle 9"/>
          <p:cNvSpPr/>
          <p:nvPr>
            <p:ph type="body" idx="5"/>
          </p:nvPr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Thin margins and a small team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3" name="Rectangle 12"/>
          <p:cNvSpPr/>
          <p:nvPr>
            <p:ph type="body" idx="8"/>
          </p:nvPr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markets through partnerships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6" name="Rectangle 15"/>
          <p:cNvSpPr/>
          <p:nvPr>
            <p:ph type="body" idx="14"/>
          </p:nvPr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0363200" y="6035040"/>
            <a:ext cx="1371600" cy="36576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5" name="TextBox 4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Evaluation Matrix</a:t>
            </a:r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A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B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1A1A2E"/>
                </a:solidFill>
                <a:latin typeface="Arial"/>
              </a:rPr>
              <a:t>Platform C</a:t>
            </a:r>
          </a:p>
        </p:txBody>
      </p:sp>
      <p:sp>
        <p:nvSpPr>
          <p:cNvPr id="9" name="Rectangle 8"/>
          <p:cNvSpPr/>
          <p:nvPr>
            <p:ph type="body" idx="4"/>
          </p:nvPr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Security</a:t>
            </a:r>
          </a:p>
        </p:txBody>
      </p:sp>
      <p:sp>
        <p:nvSpPr>
          <p:cNvPr id="11" name="Rectangle 10"/>
          <p:cNvSpPr/>
          <p:nvPr>
            <p:ph type="body" idx="6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245247" y="2401823"/>
            <a:ext cx="1720305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Workflow</a:t>
            </a:r>
          </a:p>
        </p:txBody>
      </p:sp>
      <p:sp>
        <p:nvSpPr>
          <p:cNvPr id="16" name="TextBox 15"/>
          <p:cNvSpPr/>
          <p:nvPr>
            <p:ph type="body" idx="14"/>
          </p:nvPr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7" name="TextBox 16"/>
          <p:cNvSpPr/>
          <p:nvPr>
            <p:ph type="body" idx="15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Support</a:t>
            </a:r>
          </a:p>
        </p:txBody>
      </p:sp>
      <p:sp>
        <p:nvSpPr>
          <p:cNvPr id="20" name="Rectangle 19"/>
          <p:cNvSpPr/>
          <p:nvPr>
            <p:ph type="body" idx="18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/>
          <p:nvPr>
            <p:ph type="body" idx="19"/>
          </p:nvPr>
        </p:nvSpPr>
        <p:spPr>
          <a:xfrm>
            <a:off x="4245247" y="4823967"/>
            <a:ext cx="1720305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Arial"/>
              </a:rPr>
              <a:t>Strong</a:t>
            </a:r>
          </a:p>
        </p:txBody>
      </p:sp>
      <p:sp>
        <p:nvSpPr>
          <p:cNvPr id="22" name="TextBox 21"/>
          <p:cNvSpPr/>
          <p:nvPr>
            <p:ph type="body" idx="20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Strong</a:t>
            </a:r>
          </a:p>
        </p:txBody>
      </p:sp>
      <p:sp>
        <p:nvSpPr>
          <p:cNvPr id="23" name="TextBox 22"/>
          <p:cNvSpPr/>
          <p:nvPr>
            <p:ph type="body" idx="21"/>
          </p:nvPr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ctr"/>
            <a:r>
              <a:rPr sz="3400" b="0" i="0">
                <a:solidFill>
                  <a:srgbClr val="1A1A2E"/>
                </a:solidFill>
                <a:latin typeface="Arial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75560"/>
            <a:ext cx="10363200" cy="9144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6000" b="1" i="0">
                <a:solidFill>
                  <a:srgbClr val="1B3A5C"/>
                </a:solidFill>
                <a:latin typeface="Arial"/>
              </a:rPr>
              <a:t>Slide Themes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64280"/>
            <a:ext cx="1036320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Every design, in Edit theme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How a Design Reaches the Theme Editor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261366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5493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Author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 slide declares its component in YAML.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345180" y="1499616"/>
            <a:ext cx="261366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45180" y="215493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Resolve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4518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Font metrics fix every box to exact EMU.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160" y="1499616"/>
            <a:ext cx="261366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215493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Layout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3316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The design becomes a named pptx layout.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21140" y="1499616"/>
            <a:ext cx="2613660" cy="3810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2500" b="1" i="0">
                <a:solidFill>
                  <a:srgbClr val="D97706"/>
                </a:solidFill>
                <a:latin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21140" y="2154936"/>
            <a:ext cx="2613660" cy="518159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1A1A2E"/>
                </a:solidFill>
                <a:latin typeface="Arial"/>
              </a:rPr>
              <a:t>Import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21140" y="2947415"/>
            <a:ext cx="2613660" cy="2813305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Google Slides lists it in Edit theme.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fld id="{1F2E3D4C-5B6A-4978-8765-43210FEDCBA9}" type="slidenum">
              <a:rPr sz="1600" b="0" i="0">
                <a:solidFill>
                  <a:srgbClr val="7A8590"/>
                </a:solidFill>
                <a:latin typeface="Arial"/>
              </a:rPr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4200" b="1" i="0">
                <a:solidFill>
                  <a:srgbClr val="1B3A5C"/>
                </a:solidFill>
                <a:latin typeface="Arial"/>
              </a:rPr>
              <a:t>Naming Layouts After Designs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All designs are selectable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Adds 30 layouts per deck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D97706"/>
                </a:solidFill>
                <a:latin typeface="Arial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4663439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Apply designs to new slides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1" i="0">
                <a:solidFill>
                  <a:srgbClr val="7A8590"/>
                </a:solidFill>
                <a:latin typeface="Arial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7A85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33160" y="4663439"/>
            <a:ext cx="5501640" cy="60960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r>
              <a:rPr sz="3400" b="0" i="0">
                <a:solidFill>
                  <a:srgbClr val="1A1A2E"/>
                </a:solidFill>
                <a:latin typeface="Arial"/>
              </a:rPr>
              <a:t>Edited layouts can drift</a:t>
            </a:r>
          </a:p>
        </p:txBody>
      </p:sp>
      <p:sp>
        <p:nvSpPr>
          <p:cNvPr id="15" name="TextBox 14"/>
          <p:cNvSpPr/>
          <p:nvPr>
            <p:ph type="sldNum" idx="12"/>
          </p:nvPr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 lIns="0" rIns="0">
            <a:noAutofit/>
          </a:bodyPr>
          <a:lstStyle/>
          <a:p>
            <a:pPr algn="l"/>
            <a:fld id="{1F2E3D4C-5B6A-4978-8765-43210FEDCBA9}" type="slidenum">
              <a:rPr sz="1600" b="0" i="0">
                <a:solidFill>
                  <a:srgbClr val="7A8590"/>
                </a:solidFill>
                <a:latin typeface="Arial"/>
              </a:rPr>
              <a:t>3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