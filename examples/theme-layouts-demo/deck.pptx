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971800"/>
            <a:ext cx="10363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Drives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Excellence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Integrity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Innovation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127%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6544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Revenue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94%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396544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Retention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277672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48 NPS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396544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Side-by-Side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Legacy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Modern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4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8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scaling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Auto-scales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On-premise; high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AI Beta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Scale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Built in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We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Zero-trust, SOC 2 ready.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Sub-100ms p99 latency.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We Will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1848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0179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510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6841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Roadmap for next quarter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5172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0" b="1" i="0">
                <a:solidFill>
                  <a:srgbClr val="D97706"/>
                </a:solidFill>
                <a:latin typeface="Arial"/>
              </a:rPr>
              <a:t>3.2M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0" i="0">
                <a:solidFill>
                  <a:srgbClr val="1A1A2E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947160"/>
            <a:ext cx="10738104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7A859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965960"/>
            <a:ext cx="10738104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Net Revenue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Changed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858585"/>
                </a:solidFill>
                <a:latin typeface="Courier New"/>
              </a:rPr>
              <a:t>hello.py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78864"/>
            <a:ext cx="666093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ourier New"/>
              </a:rPr>
              <a:t># The classic, end to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97023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ourier New"/>
              </a:rPr>
              <a:t>def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567" y="2097023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3689" y="2097023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0177" y="2097023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15182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3689" y="2615182"/>
            <a:ext cx="147849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300" y="2615182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422" y="2615182"/>
            <a:ext cx="4069713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ourier New"/>
              </a:rPr>
              <a:t>"Hello, world!"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5254" y="2615182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1500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3689" y="3651500"/>
            <a:ext cx="70112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87818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ourier New"/>
              </a:rPr>
              <a:t>$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322" y="4687818"/>
            <a:ext cx="432883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python hello.py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05977"/>
            <a:ext cx="3551468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Final folder shape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19656"/>
            <a:ext cx="394777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158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417" y="2215896"/>
            <a:ext cx="975489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12136"/>
            <a:ext cx="137179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873" y="261213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0837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330" y="300837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0461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330" y="340461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0085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417" y="380085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970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417" y="4197096"/>
            <a:ext cx="2957011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9333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417" y="459333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Three Steps to Onboard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 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09215"/>
            <a:ext cx="10272817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Pick a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21023"/>
            <a:ext cx="10272817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Share 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132831"/>
            <a:ext cx="10272817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Onboarding, Reworked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After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account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Three-day approval wait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Email-only support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One-click provisioning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Same-day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Cloud or On-Prem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3 wks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6544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Cloud time-to-launch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6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1820" y="396544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On-prem time-to-launch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0" y="3310127"/>
            <a:ext cx="11430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7A859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Metrics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98.7%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Uptime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1,240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784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New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4.6/5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Support 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$2.1M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61560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new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12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Avg. time to 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31%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480" y="4861560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Monthly Active Teams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Jan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180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Feb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Mar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460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Pricing Tiers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84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48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$12/seat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784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250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48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$20/seat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784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Unlimited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48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Performance vs Last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$8.4M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Annual recurring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2569" y="4666488"/>
            <a:ext cx="144558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2.1%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3264408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Monthly churn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75547" y="4666488"/>
            <a:ext cx="1840906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promoter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27731" y="4666488"/>
            <a:ext cx="1037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Sign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Create an account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Pick your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2026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Ship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Beta launch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Mobile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84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Integrations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48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 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Sales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8540" y="4901184"/>
            <a:ext cx="5074919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Job Search Funnel (2021)</a:t>
            </a:r>
          </a:p>
        </p:txBody>
      </p:sp>
      <p:sp>
        <p:nvSpPr>
          <p:cNvPr id="3" name="Oval 2"/>
          <p:cNvSpPr/>
          <p:nvPr/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17676" y="2316480"/>
            <a:ext cx="4156648" cy="670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4990" y="3950208"/>
            <a:ext cx="30820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7493" y="5583935"/>
            <a:ext cx="1577014" cy="426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Hierarchy of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SWOT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Evaluation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45247" y="2401823"/>
            <a:ext cx="172030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2895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45247" y="4823967"/>
            <a:ext cx="172030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Slide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Every design, in Edit theme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How a Design Reaches the Theme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slide declares its component in YAML.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Font metrics fix every box to exact EMU.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design becomes a named pptx layout.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Import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Google Slides lists it in Edit theme.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7A859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Naming Layouts After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Designs are selectable, not just baked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Adds 30 layouts to every deck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Apply a design to brand-new slides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Edited layouts can drift from the YAML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7A859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