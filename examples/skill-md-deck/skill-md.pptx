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7180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33344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965448"/>
            <a:ext cx="50480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3965448"/>
            <a:ext cx="4791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76728"/>
            <a:ext cx="40335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396544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581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651887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038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69408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6"/>
            <a:ext cx="39432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54936"/>
            <a:ext cx="3983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5493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Built with customers.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38353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60% faster; 50% fewer tickets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202539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C1642B"/>
                </a:solidFill>
                <a:latin typeface="Arial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771900"/>
            <a:ext cx="1097280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457200" y="410108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A1A24"/>
                </a:solidFill>
                <a:latin typeface="Arial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A1A24"/>
                </a:solidFill>
                <a:latin typeface="Arial"/>
              </a:rPr>
              <a:t>"We buy outcomes, not tools."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62712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Revenue kept from existing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1A1A24"/>
                </a:solidFill>
                <a:latin typeface="Arial"/>
              </a:rPr>
              <a:t>What if we trusted users?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46804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7851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057461" y="2356103"/>
            <a:ext cx="25243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main():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457200" y="2874262"/>
            <a:ext cx="7046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print("Hello, world!")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457200" y="3910580"/>
            <a:ext cx="21404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main()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4946898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697347" y="4946898"/>
            <a:ext cx="50224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python hello.py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457200" y="5465057"/>
            <a:ext cx="3984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1A1A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C1642B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1642B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C1642B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1642B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C1642B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1642B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1642B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1642B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1642B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1642B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367718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233160" y="2176271"/>
            <a:ext cx="1007604" cy="54864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69425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7594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59042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A1A24"/>
                </a:solidFill>
                <a:latin typeface="Arial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A1A24"/>
                </a:solidFill>
                <a:latin typeface="Arial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1A1A24"/>
                </a:solidFill>
                <a:latin typeface="Arial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1642B"/>
                </a:solidFill>
                <a:latin typeface="Arial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1642B"/>
                </a:solidFill>
                <a:latin typeface="Arial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259384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1642B"/>
                </a:solidFill>
                <a:latin typeface="Arial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1642B"/>
                </a:solidFill>
                <a:latin typeface="Arial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30784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1642B"/>
                </a:solidFill>
                <a:latin typeface="Arial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751832"/>
            <a:ext cx="1072896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943896" y="4861560"/>
            <a:ext cx="430420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1642B"/>
                </a:solidFill>
                <a:latin typeface="Arial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680394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35714"/>
            <a:ext cx="1040129" cy="76968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4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295551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0871"/>
            <a:ext cx="1040129" cy="1154529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4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590005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5325"/>
            <a:ext cx="1040129" cy="1860075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4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54936"/>
            <a:ext cx="1040129" cy="29504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4"/>
                </a:solidFill>
                <a:latin typeface="Arial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3325368"/>
            <a:ext cx="128016" cy="609600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3325368"/>
            <a:ext cx="41544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Activations 4x.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3337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339579" y="1499616"/>
            <a:ext cx="2238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126448" y="1499616"/>
            <a:ext cx="20223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7691577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39579" y="2401823"/>
            <a:ext cx="241036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126448" y="2401823"/>
            <a:ext cx="202232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339579" y="3310127"/>
            <a:ext cx="2794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126448" y="3310127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298620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339579" y="4218431"/>
            <a:ext cx="3178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126448" y="4218431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3316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339579" y="5126735"/>
            <a:ext cx="3062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126448" y="5126735"/>
            <a:ext cx="256317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C1642B"/>
                </a:solidFill>
                <a:latin typeface="Arial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52348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522569" y="4407408"/>
            <a:ext cx="1445581" cy="518159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260802" y="4407408"/>
            <a:ext cx="1969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C1642B"/>
                </a:solidFill>
                <a:latin typeface="Arial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352348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5175547" y="4407408"/>
            <a:ext cx="1840906" cy="518159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795183" y="4407408"/>
            <a:ext cx="26016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C1642B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7701280" y="352348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427731" y="4407408"/>
            <a:ext cx="1037817" cy="518159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288294" y="4407408"/>
            <a:ext cx="1316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27156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2946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444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639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383192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3793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5558452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1A1A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1A1A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594080" y="2316480"/>
            <a:ext cx="5003840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58104" y="3950208"/>
            <a:ext cx="34757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235159" y="5583935"/>
            <a:ext cx="172168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2015207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786352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Strong brand,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2584686" cy="54864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Thin margins,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2830525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801532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New markets via partners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559793" cy="54864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New entrants cut prices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280182" y="1499616"/>
            <a:ext cx="365043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4"/>
                </a:solidFill>
                <a:latin typeface="Arial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5973987" y="1499616"/>
            <a:ext cx="3676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4"/>
                </a:solidFill>
                <a:latin typeface="Arial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4"/>
                </a:solidFill>
                <a:latin typeface="Arial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245247" y="2401823"/>
            <a:ext cx="1720305" cy="518159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01063" y="2401823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491979" y="2401823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279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785355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98603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245247" y="4823967"/>
            <a:ext cx="1720305" cy="518159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901063" y="4823967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198603" y="4823967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75560"/>
            <a:ext cx="103632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SKILL.md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64280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Teaching Claude a capability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What We Cover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What a SKILL.md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Anatomy of the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A worked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What it costs to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Design principles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1A1A24"/>
                </a:solidFill>
                <a:latin typeface="Arial"/>
              </a:rPr>
              <a:t>What should Claude read?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SKILL.md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Instructions Claude loads on demand.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8343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C1642B"/>
                </a:solidFill>
                <a:latin typeface="Arial"/>
              </a:rPr>
              <a:t>2,654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360" y="3329940"/>
            <a:ext cx="1097280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912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A1A24"/>
                </a:solidFill>
                <a:latin typeface="Arial"/>
              </a:rPr>
              <a:t>Tokens to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4964"/>
            <a:ext cx="112776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The size of this repo's SKILL.md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Anatomy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Where it lives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3694747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1" i="0">
                <a:solidFill>
                  <a:srgbClr val="C1642B"/>
                </a:solidFill>
                <a:latin typeface="Courier New"/>
              </a:rPr>
              <a:t>slidekit/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07336"/>
            <a:ext cx="1353502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C1642B"/>
                </a:solidFill>
                <a:latin typeface="Courier New"/>
              </a:rPr>
              <a:t>├─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599" y="2307336"/>
            <a:ext cx="3304540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ourier New"/>
              </a:rPr>
              <a:t>SKILL.md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95016"/>
            <a:ext cx="1353502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C1642B"/>
                </a:solidFill>
                <a:latin typeface="Courier New"/>
              </a:rPr>
              <a:t>├─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599" y="2795016"/>
            <a:ext cx="1743710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1" i="0">
                <a:solidFill>
                  <a:srgbClr val="C1642B"/>
                </a:solidFill>
                <a:latin typeface="Courier New"/>
              </a:rPr>
              <a:t>src/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82696"/>
            <a:ext cx="2524124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C1642B"/>
                </a:solidFill>
                <a:latin typeface="Courier New"/>
              </a:rPr>
              <a:t>│  └─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238" y="3282696"/>
            <a:ext cx="3694747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1" i="0">
                <a:solidFill>
                  <a:srgbClr val="C1642B"/>
                </a:solidFill>
                <a:latin typeface="Courier New"/>
              </a:rPr>
              <a:t>slidekit/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70376"/>
            <a:ext cx="3694747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C1642B"/>
                </a:solidFill>
                <a:latin typeface="Courier New"/>
              </a:rPr>
              <a:t>│     └─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877" y="3770376"/>
            <a:ext cx="2914332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1" i="0">
                <a:solidFill>
                  <a:srgbClr val="C1642B"/>
                </a:solidFill>
                <a:latin typeface="Courier New"/>
              </a:rPr>
              <a:t>layout/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8056"/>
            <a:ext cx="1353502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C1642B"/>
                </a:solidFill>
                <a:latin typeface="Courier New"/>
              </a:rPr>
              <a:t>├─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599" y="4258056"/>
            <a:ext cx="3694747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1" i="0">
                <a:solidFill>
                  <a:srgbClr val="C1642B"/>
                </a:solidFill>
                <a:latin typeface="Courier New"/>
              </a:rPr>
              <a:t>examples/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45736"/>
            <a:ext cx="1353502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C1642B"/>
                </a:solidFill>
                <a:latin typeface="Courier New"/>
              </a:rPr>
              <a:t>└─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599" y="4745736"/>
            <a:ext cx="2133916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1" i="0">
                <a:solidFill>
                  <a:srgbClr val="C1642B"/>
                </a:solidFill>
                <a:latin typeface="Courier New"/>
              </a:rPr>
              <a:t>docs/</a:t>
            </a:r>
          </a:p>
        </p:txBody>
      </p:sp>
      <p:sp>
        <p:nvSpPr>
          <p:cNvPr id="17" name="TextBox 1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SKILL.md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87308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6103"/>
            <a:ext cx="440676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name: slidekit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74262"/>
            <a:ext cx="732579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description: Build .pptx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1523" y="2874262"/>
            <a:ext cx="156464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from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5123" y="2874262"/>
            <a:ext cx="238438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YAML.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1"/>
            <a:ext cx="87308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---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28739"/>
            <a:ext cx="4177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## Build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46898"/>
            <a:ext cx="80163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1. slidekit build deck.yaml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65057"/>
            <a:ext cx="789995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2. fix the JSON lint errors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What the File Carries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A name and a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3535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When to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The workflow to follow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068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The rules that must 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4256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What the tool will not do</a:t>
            </a:r>
          </a:p>
        </p:txBody>
      </p:sp>
      <p:sp>
        <p:nvSpPr>
          <p:cNvPr id="8" name="TextBox 7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How Claude Loads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Description fits the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File enters the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Follow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Claude works the steps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Three Jobs of a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Say when to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Direct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Give the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Constrain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State the hard rules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Sections That Earn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Build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Four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30 layouts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Lint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Nine codes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Writing the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Vague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1271997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Triggerable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2327672" cy="54864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Helps with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590591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A presentation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Useful for decks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Builds .pptx from 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Names the file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Says when NOT to use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A1A24"/>
                </a:solidFill>
                <a:latin typeface="Arial"/>
              </a:rPr>
              <a:t>"Never render to check work."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627120"/>
            <a:ext cx="107381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- slidekit SKILL.md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This Skill in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2.6k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65448"/>
            <a:ext cx="35763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3965448"/>
            <a:ext cx="35763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Layouts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848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C1642B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8480" y="3965448"/>
            <a:ext cx="35763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Lint codes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The Build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14016"/>
            <a:ext cx="29082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Scaffold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41903"/>
            <a:ext cx="3254732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Start 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518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Author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5180" y="3041903"/>
            <a:ext cx="3382923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Edit 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16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Run lint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114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1140" y="3041903"/>
            <a:ext cx="3070860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Read JSON</a:t>
            </a:r>
          </a:p>
        </p:txBody>
      </p:sp>
      <p:sp>
        <p:nvSpPr>
          <p:cNvPr id="19" name="TextBox 1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How the Skill Grew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54936"/>
            <a:ext cx="340721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Build loop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S2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518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Gallery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5180" y="2947415"/>
            <a:ext cx="3332321" cy="281330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30 layouts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154936"/>
            <a:ext cx="36770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Slide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Google Slides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1140" y="2154936"/>
            <a:ext cx="29086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One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2947415"/>
            <a:ext cx="3070860" cy="281330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Wrap rule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Errors the Skill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33649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70797" y="1499616"/>
            <a:ext cx="463716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Meaning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8550761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4981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E_OVERFLOW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797" y="2401823"/>
            <a:ext cx="640383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Text exceeds its 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336495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E_WRAP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797" y="3310127"/>
            <a:ext cx="640417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Text needs two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3791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E_MARGIN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797" y="4218431"/>
            <a:ext cx="6750963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Too close to the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336495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E_FONT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797" y="5126735"/>
            <a:ext cx="701712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Font is not metric-safe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With and Without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No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With SKILL.md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Guesses the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395727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Knows the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17391"/>
            <a:ext cx="555912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Renders to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Reads lint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9055"/>
            <a:ext cx="5673486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Rediscovers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639055"/>
            <a:ext cx="57132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Rules stated once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Cost of One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A1A24"/>
                </a:solidFill>
                <a:latin typeface="Arial"/>
              </a:rPr>
              <a:t>3.4k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Tokens with the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A1A24"/>
                </a:solidFill>
                <a:latin typeface="Arial"/>
              </a:rPr>
              <a:t>29k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Tokens by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1A1A24"/>
                </a:solidFill>
                <a:latin typeface="Arial"/>
              </a:rPr>
              <a:t>VS</a:t>
            </a:r>
          </a:p>
        </p:txBody>
      </p:sp>
      <p:sp>
        <p:nvSpPr>
          <p:cNvPr id="8" name="TextBox 7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Measured on This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C1642B"/>
                </a:solidFill>
                <a:latin typeface="Arial"/>
              </a:rPr>
              <a:t>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988" y="3523488"/>
            <a:ext cx="398474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Tokens/slide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8940" y="4407408"/>
            <a:ext cx="1512839" cy="518159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6996" y="4407408"/>
            <a:ext cx="207672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84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C1642B"/>
                </a:solidFill>
                <a:latin typeface="Arial"/>
              </a:rP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1580" y="3523488"/>
            <a:ext cx="390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Lint payload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3481" y="4407408"/>
            <a:ext cx="1505038" cy="518159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63877" y="4407408"/>
            <a:ext cx="206424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848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C1642B"/>
                </a:solidFill>
                <a:latin typeface="Arial"/>
              </a:rPr>
              <a:t>1,844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1280" y="352348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One screenshot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58067" y="4407408"/>
            <a:ext cx="1577145" cy="518159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6831" y="4407408"/>
            <a:ext cx="21796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image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What Good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1642B"/>
                </a:solidFill>
                <a:latin typeface="Arial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Fix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1642B"/>
                </a:solidFill>
                <a:latin typeface="Arial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84400" y="2593848"/>
            <a:ext cx="40232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Screenshots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1642B"/>
                </a:solidFill>
                <a:latin typeface="Arial"/>
              </a:rPr>
              <a:t>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848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Lint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1642B"/>
                </a:solidFill>
                <a:latin typeface="Arial"/>
              </a:rPr>
              <a:t>32pt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61560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Body floor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Tokens per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04164"/>
            <a:ext cx="324612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3400</a:t>
            </a:r>
          </a:p>
        </p:txBody>
      </p:sp>
      <p:sp>
        <p:nvSpPr>
          <p:cNvPr id="4" name="Rectangle 3"/>
          <p:cNvSpPr/>
          <p:nvPr/>
        </p:nvSpPr>
        <p:spPr>
          <a:xfrm>
            <a:off x="944118" y="4759484"/>
            <a:ext cx="2272284" cy="34591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79720"/>
            <a:ext cx="324612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4"/>
                </a:solidFill>
                <a:latin typeface="Arial"/>
              </a:rPr>
              <a:t>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40" y="1499616"/>
            <a:ext cx="324612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1642B"/>
                </a:solidFill>
                <a:latin typeface="Arial"/>
              </a:rPr>
              <a:t>29000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464558" y="2154936"/>
            <a:ext cx="2272284" cy="29504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5379720"/>
            <a:ext cx="324612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4"/>
                </a:solidFill>
                <a:latin typeface="Arial"/>
              </a:rPr>
              <a:t>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0" y="3325368"/>
            <a:ext cx="128016" cy="609600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6" y="3325368"/>
            <a:ext cx="41544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Lint beats eyes.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23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Order of the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Reference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Edge cases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24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From File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Skills on disk · many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Description matches ·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Loaded · 2.6k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540" y="4901184"/>
            <a:ext cx="5074919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Deck built · 1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What a Skill Wraps</a:t>
            </a:r>
          </a:p>
        </p:txBody>
      </p:sp>
      <p:sp>
        <p:nvSpPr>
          <p:cNvPr id="3" name="Oval 2"/>
          <p:cNvSpPr/>
          <p:nvPr/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92471" y="2316480"/>
            <a:ext cx="4407058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rial"/>
              </a:rPr>
              <a:t>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554" y="3950208"/>
            <a:ext cx="42908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Agent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0526" y="5157216"/>
            <a:ext cx="18709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426" y="5583935"/>
            <a:ext cx="2333148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Build, fix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26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Keeping It Current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360050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New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79647"/>
            <a:ext cx="433018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New lint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Prune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840" y="2395727"/>
            <a:ext cx="4790995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Retired layouts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7840" y="3279647"/>
            <a:ext cx="39466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Stale advice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Tests guard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480" y="327964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Docs regenerate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Skills as an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Strengths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2015207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571329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Rules stated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Weaknesses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160" y="2176271"/>
            <a:ext cx="2584686" cy="54864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Drifts if unmaintained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1642B"/>
                </a:solidFill>
                <a:latin typeface="Arial"/>
              </a:rPr>
              <a:t>Opportunities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43983"/>
            <a:ext cx="2830525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39"/>
            <a:ext cx="770969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Any repeatable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Threats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160" y="4443983"/>
            <a:ext cx="1559793" cy="54864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160" y="4663439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Too long to load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28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Ways to Teach a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01964" y="1499616"/>
            <a:ext cx="340687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4"/>
                </a:solidFill>
                <a:latin typeface="Arial"/>
              </a:rPr>
              <a:t>SKILL.md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1544" y="1499616"/>
            <a:ext cx="26009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4"/>
                </a:solidFill>
                <a:latin typeface="Arial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4"/>
                </a:solidFill>
                <a:latin typeface="Arial"/>
              </a:rPr>
              <a:t>Docs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01823"/>
            <a:ext cx="3983057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On demand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8570" y="2401823"/>
            <a:ext cx="1073659" cy="518159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8380" y="2401823"/>
            <a:ext cx="13740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5872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2895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Current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9248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2496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Partly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4"/>
                </a:solidFill>
                <a:latin typeface="Arial"/>
              </a:rPr>
              <a:t>Cheap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68570" y="4823967"/>
            <a:ext cx="1073659" cy="518159"/>
          </a:xfrm>
          <a:prstGeom prst="rect">
            <a:avLst/>
          </a:prstGeom>
          <a:solidFill>
            <a:srgbClr val="C16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8380" y="4823967"/>
            <a:ext cx="13740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2496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4"/>
                </a:solidFill>
                <a:latin typeface="Arial"/>
              </a:rPr>
              <a:t>Yes</a:t>
            </a:r>
          </a:p>
        </p:txBody>
      </p:sp>
      <p:sp>
        <p:nvSpPr>
          <p:cNvPr id="21" name="TextBox 2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29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1642B"/>
                </a:solidFill>
                <a:latin typeface="Arial"/>
              </a:rPr>
              <a:t>One Rule Above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3160" y="149961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Prove fit with math.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238353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4"/>
                </a:solidFill>
                <a:latin typeface="Arial"/>
              </a:rPr>
              <a:t>Never with a screenshot.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4"/>
                </a:solidFill>
                <a:latin typeface="Arial"/>
              </a:rPr>
              <a:t>30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