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1783080"/>
            <a:ext cx="10363200" cy="91440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l"/>
            <a:r>
              <a:rPr sz="6000" b="1" i="0">
                <a:solidFill>
                  <a:srgbClr val="1A1A2E"/>
                </a:solidFill>
                <a:latin typeface="Arial"/>
              </a:rPr>
              <a:t>Agents in AI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2971800"/>
            <a:ext cx="10363200" cy="518159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l"/>
            <a:r>
              <a:rPr sz="3400" b="0" i="0">
                <a:solidFill>
                  <a:srgbClr val="1A1A2E"/>
                </a:solidFill>
                <a:latin typeface="Arial"/>
              </a:rPr>
              <a:t>How software learned to act, not just answer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600" cy="768096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l"/>
            <a:r>
              <a:rPr sz="4200" b="1" i="0">
                <a:solidFill>
                  <a:srgbClr val="1A1A2E"/>
                </a:solidFill>
                <a:latin typeface="Arial"/>
              </a:rPr>
              <a:t>What Makes Software an Agent</a:t>
            </a:r>
          </a:p>
        </p:txBody>
      </p:sp>
      <p:sp>
        <p:nvSpPr>
          <p:cNvPr id="3" name="Oval 2"/>
          <p:cNvSpPr/>
          <p:nvPr/>
        </p:nvSpPr>
        <p:spPr>
          <a:xfrm>
            <a:off x="457200" y="1844040"/>
            <a:ext cx="548640" cy="548640"/>
          </a:xfrm>
          <a:prstGeom prst="ellipse">
            <a:avLst/>
          </a:prstGeom>
          <a:solidFill>
            <a:srgbClr val="E845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188720" y="1499616"/>
            <a:ext cx="10546080" cy="518159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l"/>
            <a:r>
              <a:rPr sz="3400" b="1" i="0">
                <a:solidFill>
                  <a:srgbClr val="1A1A2E"/>
                </a:solidFill>
                <a:latin typeface="Arial"/>
              </a:rPr>
              <a:t>Perceive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88720" y="2292095"/>
            <a:ext cx="10546080" cy="445009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l"/>
            <a:r>
              <a:rPr sz="3400" b="0" i="0">
                <a:solidFill>
                  <a:srgbClr val="1A1A2E"/>
                </a:solidFill>
                <a:latin typeface="Arial"/>
              </a:rPr>
              <a:t>Read its environment.</a:t>
            </a:r>
          </a:p>
        </p:txBody>
      </p:sp>
      <p:sp>
        <p:nvSpPr>
          <p:cNvPr id="6" name="Oval 5"/>
          <p:cNvSpPr/>
          <p:nvPr/>
        </p:nvSpPr>
        <p:spPr>
          <a:xfrm>
            <a:off x="457200" y="3355848"/>
            <a:ext cx="548640" cy="548640"/>
          </a:xfrm>
          <a:prstGeom prst="ellipse">
            <a:avLst/>
          </a:prstGeom>
          <a:solidFill>
            <a:srgbClr val="E845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88720" y="3011424"/>
            <a:ext cx="10546080" cy="518159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l"/>
            <a:r>
              <a:rPr sz="3400" b="1" i="0">
                <a:solidFill>
                  <a:srgbClr val="1A1A2E"/>
                </a:solidFill>
                <a:latin typeface="Arial"/>
              </a:rPr>
              <a:t>Reason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88720" y="3803903"/>
            <a:ext cx="10546080" cy="445009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l"/>
            <a:r>
              <a:rPr sz="3400" b="0" i="0">
                <a:solidFill>
                  <a:srgbClr val="1A1A2E"/>
                </a:solidFill>
                <a:latin typeface="Arial"/>
              </a:rPr>
              <a:t>Plan a course of action.</a:t>
            </a:r>
          </a:p>
        </p:txBody>
      </p:sp>
      <p:sp>
        <p:nvSpPr>
          <p:cNvPr id="9" name="Oval 8"/>
          <p:cNvSpPr/>
          <p:nvPr/>
        </p:nvSpPr>
        <p:spPr>
          <a:xfrm>
            <a:off x="457200" y="4867656"/>
            <a:ext cx="548640" cy="548640"/>
          </a:xfrm>
          <a:prstGeom prst="ellipse">
            <a:avLst/>
          </a:prstGeom>
          <a:solidFill>
            <a:srgbClr val="E845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88720" y="4523232"/>
            <a:ext cx="10546080" cy="518159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l"/>
            <a:r>
              <a:rPr sz="3400" b="1" i="0">
                <a:solidFill>
                  <a:srgbClr val="1A1A2E"/>
                </a:solidFill>
                <a:latin typeface="Arial"/>
              </a:rPr>
              <a:t>Act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88720" y="5315711"/>
            <a:ext cx="10546080" cy="445009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l"/>
            <a:r>
              <a:rPr sz="3400" b="0" i="0">
                <a:solidFill>
                  <a:srgbClr val="1A1A2E"/>
                </a:solidFill>
                <a:latin typeface="Arial"/>
              </a:rPr>
              <a:t>Use tools to change things.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363200" y="6035040"/>
            <a:ext cx="1371600" cy="3657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l"/>
            <a:r>
              <a:rPr sz="1600" b="0" i="0">
                <a:solidFill>
                  <a:srgbClr val="8A8A9A"/>
                </a:solidFill>
                <a:latin typeface="Arial"/>
              </a:rP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600" cy="768096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l"/>
            <a:r>
              <a:rPr sz="4200" b="1" i="0">
                <a:solidFill>
                  <a:srgbClr val="1A1A2E"/>
                </a:solidFill>
                <a:latin typeface="Arial"/>
              </a:rPr>
              <a:t>Assistant vs Agent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499616"/>
            <a:ext cx="5501640" cy="621791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l"/>
            <a:r>
              <a:rPr sz="3400" b="1" i="0">
                <a:solidFill>
                  <a:srgbClr val="1A1A2E"/>
                </a:solidFill>
                <a:latin typeface="Arial"/>
              </a:rPr>
              <a:t>Assistant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33160" y="1499616"/>
            <a:ext cx="5501640" cy="621791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l"/>
            <a:r>
              <a:rPr sz="3400" b="1" i="0">
                <a:solidFill>
                  <a:srgbClr val="1A1A2E"/>
                </a:solidFill>
                <a:latin typeface="Arial"/>
              </a:rPr>
              <a:t>Agent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2395727"/>
            <a:ext cx="5501640" cy="847344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l"/>
            <a:r>
              <a:rPr sz="3400" b="0" i="0">
                <a:solidFill>
                  <a:srgbClr val="1A1A2E"/>
                </a:solidFill>
                <a:latin typeface="Arial"/>
              </a:rPr>
              <a:t>Answers one prompt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233160" y="2395727"/>
            <a:ext cx="5501640" cy="847344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l"/>
            <a:r>
              <a:rPr sz="3400" b="0" i="0">
                <a:solidFill>
                  <a:srgbClr val="1A1A2E"/>
                </a:solidFill>
                <a:latin typeface="Arial"/>
              </a:rPr>
              <a:t>Pursues a goal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3517391"/>
            <a:ext cx="5501640" cy="847344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l"/>
            <a:r>
              <a:rPr sz="3400" b="0" i="0">
                <a:solidFill>
                  <a:srgbClr val="1A1A2E"/>
                </a:solidFill>
                <a:latin typeface="Arial"/>
              </a:rPr>
              <a:t>Waits for you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233160" y="3517391"/>
            <a:ext cx="5501640" cy="847344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l"/>
            <a:r>
              <a:rPr sz="3400" b="0" i="0">
                <a:solidFill>
                  <a:srgbClr val="1A1A2E"/>
                </a:solidFill>
                <a:latin typeface="Arial"/>
              </a:rPr>
              <a:t>Acts on its own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4639055"/>
            <a:ext cx="5501640" cy="847344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l"/>
            <a:r>
              <a:rPr sz="3400" b="0" i="0">
                <a:solidFill>
                  <a:srgbClr val="1A1A2E"/>
                </a:solidFill>
                <a:latin typeface="Arial"/>
              </a:rPr>
              <a:t>Has no tools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233160" y="4639055"/>
            <a:ext cx="5501640" cy="847344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l"/>
            <a:r>
              <a:rPr sz="3400" b="0" i="0">
                <a:solidFill>
                  <a:srgbClr val="1A1A2E"/>
                </a:solidFill>
                <a:latin typeface="Arial"/>
              </a:rPr>
              <a:t>Calls tools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363200" y="6035040"/>
            <a:ext cx="1371600" cy="3657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l"/>
            <a:r>
              <a:rPr sz="1600" b="0" i="0">
                <a:solidFill>
                  <a:srgbClr val="8A8A9A"/>
                </a:solidFill>
                <a:latin typeface="Arial"/>
              </a:rP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600" cy="768096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l"/>
            <a:r>
              <a:rPr sz="4200" b="1" i="0">
                <a:solidFill>
                  <a:srgbClr val="1A1A2E"/>
                </a:solidFill>
                <a:latin typeface="Arial"/>
              </a:rPr>
              <a:t>Core Capabilities</a:t>
            </a:r>
          </a:p>
        </p:txBody>
      </p:sp>
      <p:sp>
        <p:nvSpPr>
          <p:cNvPr id="3" name="Oval 2"/>
          <p:cNvSpPr/>
          <p:nvPr/>
        </p:nvSpPr>
        <p:spPr>
          <a:xfrm>
            <a:off x="457200" y="1499616"/>
            <a:ext cx="457200" cy="457200"/>
          </a:xfrm>
          <a:prstGeom prst="ellipse">
            <a:avLst/>
          </a:prstGeom>
          <a:solidFill>
            <a:srgbClr val="E845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2093976"/>
            <a:ext cx="2613660" cy="518159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l"/>
            <a:r>
              <a:rPr sz="3400" b="1" i="0">
                <a:solidFill>
                  <a:srgbClr val="1A1A2E"/>
                </a:solidFill>
                <a:latin typeface="Arial"/>
              </a:rPr>
              <a:t>Planning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2749295"/>
            <a:ext cx="2613660" cy="3011425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l"/>
            <a:r>
              <a:rPr sz="3400" b="0" i="0">
                <a:solidFill>
                  <a:srgbClr val="1A1A2E"/>
                </a:solidFill>
                <a:latin typeface="Arial"/>
              </a:rPr>
              <a:t>Break goals into steps.</a:t>
            </a:r>
          </a:p>
        </p:txBody>
      </p:sp>
      <p:sp>
        <p:nvSpPr>
          <p:cNvPr id="6" name="Oval 5"/>
          <p:cNvSpPr/>
          <p:nvPr/>
        </p:nvSpPr>
        <p:spPr>
          <a:xfrm>
            <a:off x="3345180" y="1499616"/>
            <a:ext cx="457200" cy="457200"/>
          </a:xfrm>
          <a:prstGeom prst="ellipse">
            <a:avLst/>
          </a:prstGeom>
          <a:solidFill>
            <a:srgbClr val="E845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345180" y="2093976"/>
            <a:ext cx="2613660" cy="518159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l"/>
            <a:r>
              <a:rPr sz="3400" b="1" i="0">
                <a:solidFill>
                  <a:srgbClr val="1A1A2E"/>
                </a:solidFill>
                <a:latin typeface="Arial"/>
              </a:rPr>
              <a:t>Tool Use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345180" y="2749295"/>
            <a:ext cx="2613660" cy="3011425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l"/>
            <a:r>
              <a:rPr sz="3400" b="0" i="0">
                <a:solidFill>
                  <a:srgbClr val="1A1A2E"/>
                </a:solidFill>
                <a:latin typeface="Arial"/>
              </a:rPr>
              <a:t>Call APIs and code.</a:t>
            </a:r>
          </a:p>
        </p:txBody>
      </p:sp>
      <p:sp>
        <p:nvSpPr>
          <p:cNvPr id="9" name="Oval 8"/>
          <p:cNvSpPr/>
          <p:nvPr/>
        </p:nvSpPr>
        <p:spPr>
          <a:xfrm>
            <a:off x="6233160" y="1499616"/>
            <a:ext cx="457200" cy="457200"/>
          </a:xfrm>
          <a:prstGeom prst="ellipse">
            <a:avLst/>
          </a:prstGeom>
          <a:solidFill>
            <a:srgbClr val="E845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233160" y="2093976"/>
            <a:ext cx="2613660" cy="518159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l"/>
            <a:r>
              <a:rPr sz="3400" b="1" i="0">
                <a:solidFill>
                  <a:srgbClr val="1A1A2E"/>
                </a:solidFill>
                <a:latin typeface="Arial"/>
              </a:rPr>
              <a:t>Memory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233160" y="2749295"/>
            <a:ext cx="2613660" cy="3011425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l"/>
            <a:r>
              <a:rPr sz="3400" b="0" i="0">
                <a:solidFill>
                  <a:srgbClr val="1A1A2E"/>
                </a:solidFill>
                <a:latin typeface="Arial"/>
              </a:rPr>
              <a:t>Recall past context.</a:t>
            </a:r>
          </a:p>
        </p:txBody>
      </p:sp>
      <p:sp>
        <p:nvSpPr>
          <p:cNvPr id="12" name="Oval 11"/>
          <p:cNvSpPr/>
          <p:nvPr/>
        </p:nvSpPr>
        <p:spPr>
          <a:xfrm>
            <a:off x="9121140" y="1499616"/>
            <a:ext cx="457200" cy="457200"/>
          </a:xfrm>
          <a:prstGeom prst="ellipse">
            <a:avLst/>
          </a:prstGeom>
          <a:solidFill>
            <a:srgbClr val="E845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121140" y="2093976"/>
            <a:ext cx="2613660" cy="518159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l"/>
            <a:r>
              <a:rPr sz="3400" b="1" i="0">
                <a:solidFill>
                  <a:srgbClr val="1A1A2E"/>
                </a:solidFill>
                <a:latin typeface="Arial"/>
              </a:rPr>
              <a:t>Reflection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121140" y="2749295"/>
            <a:ext cx="2613660" cy="3011425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l"/>
            <a:r>
              <a:rPr sz="3400" b="0" i="0">
                <a:solidFill>
                  <a:srgbClr val="1A1A2E"/>
                </a:solidFill>
                <a:latin typeface="Arial"/>
              </a:rPr>
              <a:t>Critique and retry.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363200" y="6035040"/>
            <a:ext cx="1371600" cy="3657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l"/>
            <a:r>
              <a:rPr sz="1600" b="0" i="0">
                <a:solidFill>
                  <a:srgbClr val="8A8A9A"/>
                </a:solidFill>
                <a:latin typeface="Arial"/>
              </a:rP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600" cy="768096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l"/>
            <a:r>
              <a:rPr sz="4200" b="1" i="0">
                <a:solidFill>
                  <a:srgbClr val="1A1A2E"/>
                </a:solidFill>
                <a:latin typeface="Arial"/>
              </a:rPr>
              <a:t>Why Now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2449068"/>
            <a:ext cx="3576320" cy="91440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l"/>
            <a:r>
              <a:rPr sz="6000" b="1" i="0">
                <a:solidFill>
                  <a:srgbClr val="1A1A2E"/>
                </a:solidFill>
                <a:latin typeface="Arial"/>
              </a:rPr>
              <a:t>2022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3637788"/>
            <a:ext cx="3576320" cy="518159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l"/>
            <a:r>
              <a:rPr sz="3400" b="0" i="0">
                <a:solidFill>
                  <a:srgbClr val="1A1A2E"/>
                </a:solidFill>
                <a:latin typeface="Arial"/>
              </a:rPr>
              <a:t>LLMs Arrive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4430267"/>
            <a:ext cx="3576320" cy="38100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l"/>
            <a:r>
              <a:rPr sz="2500" b="0" i="0">
                <a:solidFill>
                  <a:srgbClr val="8A8A9A"/>
                </a:solidFill>
                <a:latin typeface="Arial"/>
              </a:rPr>
              <a:t>tool use emerges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307840" y="2449068"/>
            <a:ext cx="3576320" cy="91440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l"/>
            <a:r>
              <a:rPr sz="6000" b="1" i="0">
                <a:solidFill>
                  <a:srgbClr val="1A1A2E"/>
                </a:solidFill>
                <a:latin typeface="Arial"/>
              </a:rPr>
              <a:t>10x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307840" y="3637788"/>
            <a:ext cx="3576320" cy="518159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l"/>
            <a:r>
              <a:rPr sz="3400" b="0" i="0">
                <a:solidFill>
                  <a:srgbClr val="1A1A2E"/>
                </a:solidFill>
                <a:latin typeface="Arial"/>
              </a:rPr>
              <a:t>Faster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307840" y="4430267"/>
            <a:ext cx="3576320" cy="38100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l"/>
            <a:r>
              <a:rPr sz="2500" b="0" i="0">
                <a:solidFill>
                  <a:srgbClr val="8A8A9A"/>
                </a:solidFill>
                <a:latin typeface="Arial"/>
              </a:rPr>
              <a:t>early reports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158480" y="2449068"/>
            <a:ext cx="3576320" cy="91440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l"/>
            <a:r>
              <a:rPr sz="6000" b="1" i="0">
                <a:solidFill>
                  <a:srgbClr val="1A1A2E"/>
                </a:solidFill>
                <a:latin typeface="Arial"/>
              </a:rPr>
              <a:t>1M+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158480" y="3637788"/>
            <a:ext cx="3576320" cy="518159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l"/>
            <a:r>
              <a:rPr sz="3400" b="0" i="0">
                <a:solidFill>
                  <a:srgbClr val="1A1A2E"/>
                </a:solidFill>
                <a:latin typeface="Arial"/>
              </a:rPr>
              <a:t>Developers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158480" y="4430267"/>
            <a:ext cx="3576320" cy="38100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l"/>
            <a:r>
              <a:rPr sz="2500" b="0" i="0">
                <a:solidFill>
                  <a:srgbClr val="8A8A9A"/>
                </a:solidFill>
                <a:latin typeface="Arial"/>
              </a:rPr>
              <a:t>building agents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363200" y="6035040"/>
            <a:ext cx="1371600" cy="3657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l"/>
            <a:r>
              <a:rPr sz="1600" b="0" i="0">
                <a:solidFill>
                  <a:srgbClr val="8A8A9A"/>
                </a:solidFill>
                <a:latin typeface="Arial"/>
              </a:rP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600" cy="768096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l"/>
            <a:r>
              <a:rPr sz="4200" b="1" i="0">
                <a:solidFill>
                  <a:srgbClr val="1A1A2E"/>
                </a:solidFill>
                <a:latin typeface="Arial"/>
              </a:rPr>
              <a:t>From Rules to Agents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499616"/>
            <a:ext cx="3576320" cy="38100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l"/>
            <a:r>
              <a:rPr sz="2500" b="0" i="0">
                <a:solidFill>
                  <a:srgbClr val="8A8A9A"/>
                </a:solidFill>
                <a:latin typeface="Arial"/>
              </a:rPr>
              <a:t>1980s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2154936"/>
            <a:ext cx="3576320" cy="518159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l"/>
            <a:r>
              <a:rPr sz="3400" b="1" i="0">
                <a:solidFill>
                  <a:srgbClr val="1A1A2E"/>
                </a:solidFill>
                <a:latin typeface="Arial"/>
              </a:rPr>
              <a:t>Rules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2947415"/>
            <a:ext cx="3576320" cy="2813305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l"/>
            <a:r>
              <a:rPr sz="3400" b="0" i="0">
                <a:solidFill>
                  <a:srgbClr val="1A1A2E"/>
                </a:solidFill>
                <a:latin typeface="Arial"/>
              </a:rPr>
              <a:t>Hand-coded logic.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307840" y="1499616"/>
            <a:ext cx="3576320" cy="38100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l"/>
            <a:r>
              <a:rPr sz="2500" b="0" i="0">
                <a:solidFill>
                  <a:srgbClr val="8A8A9A"/>
                </a:solidFill>
                <a:latin typeface="Arial"/>
              </a:rPr>
              <a:t>2010s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307840" y="2154936"/>
            <a:ext cx="3576320" cy="518159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l"/>
            <a:r>
              <a:rPr sz="3400" b="1" i="0">
                <a:solidFill>
                  <a:srgbClr val="1A1A2E"/>
                </a:solidFill>
                <a:latin typeface="Arial"/>
              </a:rPr>
              <a:t>ML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307840" y="2947415"/>
            <a:ext cx="3576320" cy="2813305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l"/>
            <a:r>
              <a:rPr sz="3400" b="0" i="0">
                <a:solidFill>
                  <a:srgbClr val="1A1A2E"/>
                </a:solidFill>
                <a:latin typeface="Arial"/>
              </a:rPr>
              <a:t>Learned patterns.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158480" y="1499616"/>
            <a:ext cx="3576320" cy="38100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l"/>
            <a:r>
              <a:rPr sz="2500" b="0" i="0">
                <a:solidFill>
                  <a:srgbClr val="8A8A9A"/>
                </a:solidFill>
                <a:latin typeface="Arial"/>
              </a:rPr>
              <a:t>Today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158480" y="2154936"/>
            <a:ext cx="3576320" cy="518159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l"/>
            <a:r>
              <a:rPr sz="3400" b="1" i="0">
                <a:solidFill>
                  <a:srgbClr val="1A1A2E"/>
                </a:solidFill>
                <a:latin typeface="Arial"/>
              </a:rPr>
              <a:t>Agents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158480" y="2947415"/>
            <a:ext cx="3576320" cy="2813305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l"/>
            <a:r>
              <a:rPr sz="3400" b="0" i="0">
                <a:solidFill>
                  <a:srgbClr val="1A1A2E"/>
                </a:solidFill>
                <a:latin typeface="Arial"/>
              </a:rPr>
              <a:t>Models that act.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363200" y="6035040"/>
            <a:ext cx="1371600" cy="3657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l"/>
            <a:r>
              <a:rPr sz="1600" b="0" i="0">
                <a:solidFill>
                  <a:srgbClr val="8A8A9A"/>
                </a:solidFill>
                <a:latin typeface="Arial"/>
              </a:rPr>
              <a:t>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600" cy="768096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l"/>
            <a:r>
              <a:rPr sz="4200" b="1" i="0">
                <a:solidFill>
                  <a:srgbClr val="1A1A2E"/>
                </a:solidFill>
                <a:latin typeface="Arial"/>
              </a:rPr>
              <a:t>Common Agent Patterns</a:t>
            </a:r>
          </a:p>
        </p:txBody>
      </p:sp>
      <p:sp>
        <p:nvSpPr>
          <p:cNvPr id="3" name="Oval 2"/>
          <p:cNvSpPr/>
          <p:nvPr/>
        </p:nvSpPr>
        <p:spPr>
          <a:xfrm>
            <a:off x="457200" y="1499616"/>
            <a:ext cx="457200" cy="457200"/>
          </a:xfrm>
          <a:prstGeom prst="ellipse">
            <a:avLst/>
          </a:prstGeom>
          <a:solidFill>
            <a:srgbClr val="E845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2093976"/>
            <a:ext cx="2613660" cy="518159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l"/>
            <a:r>
              <a:rPr sz="3400" b="1" i="0">
                <a:solidFill>
                  <a:srgbClr val="1A1A2E"/>
                </a:solidFill>
                <a:latin typeface="Arial"/>
              </a:rPr>
              <a:t>ReAct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2749295"/>
            <a:ext cx="2613660" cy="3011425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l"/>
            <a:r>
              <a:rPr sz="3400" b="0" i="0">
                <a:solidFill>
                  <a:srgbClr val="1A1A2E"/>
                </a:solidFill>
                <a:latin typeface="Arial"/>
              </a:rPr>
              <a:t>Reason, then act.</a:t>
            </a:r>
          </a:p>
        </p:txBody>
      </p:sp>
      <p:sp>
        <p:nvSpPr>
          <p:cNvPr id="6" name="Oval 5"/>
          <p:cNvSpPr/>
          <p:nvPr/>
        </p:nvSpPr>
        <p:spPr>
          <a:xfrm>
            <a:off x="3345180" y="1499616"/>
            <a:ext cx="457200" cy="457200"/>
          </a:xfrm>
          <a:prstGeom prst="ellipse">
            <a:avLst/>
          </a:prstGeom>
          <a:solidFill>
            <a:srgbClr val="E845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345180" y="2093976"/>
            <a:ext cx="2613660" cy="518159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l"/>
            <a:r>
              <a:rPr sz="3400" b="1" i="0">
                <a:solidFill>
                  <a:srgbClr val="1A1A2E"/>
                </a:solidFill>
                <a:latin typeface="Arial"/>
              </a:rPr>
              <a:t>Tool Use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345180" y="2749295"/>
            <a:ext cx="2613660" cy="3011425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l"/>
            <a:r>
              <a:rPr sz="3400" b="0" i="0">
                <a:solidFill>
                  <a:srgbClr val="1A1A2E"/>
                </a:solidFill>
                <a:latin typeface="Arial"/>
              </a:rPr>
              <a:t>Call functions.</a:t>
            </a:r>
          </a:p>
        </p:txBody>
      </p:sp>
      <p:sp>
        <p:nvSpPr>
          <p:cNvPr id="9" name="Oval 8"/>
          <p:cNvSpPr/>
          <p:nvPr/>
        </p:nvSpPr>
        <p:spPr>
          <a:xfrm>
            <a:off x="6233160" y="1499616"/>
            <a:ext cx="457200" cy="457200"/>
          </a:xfrm>
          <a:prstGeom prst="ellipse">
            <a:avLst/>
          </a:prstGeom>
          <a:solidFill>
            <a:srgbClr val="E845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233160" y="2093976"/>
            <a:ext cx="2613660" cy="518159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l"/>
            <a:r>
              <a:rPr sz="3400" b="1" i="0">
                <a:solidFill>
                  <a:srgbClr val="1A1A2E"/>
                </a:solidFill>
                <a:latin typeface="Arial"/>
              </a:rPr>
              <a:t>RAG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233160" y="2749295"/>
            <a:ext cx="2613660" cy="3011425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l"/>
            <a:r>
              <a:rPr sz="3400" b="0" i="0">
                <a:solidFill>
                  <a:srgbClr val="1A1A2E"/>
                </a:solidFill>
                <a:latin typeface="Arial"/>
              </a:rPr>
              <a:t>Retrieve facts first.</a:t>
            </a:r>
          </a:p>
        </p:txBody>
      </p:sp>
      <p:sp>
        <p:nvSpPr>
          <p:cNvPr id="12" name="Oval 11"/>
          <p:cNvSpPr/>
          <p:nvPr/>
        </p:nvSpPr>
        <p:spPr>
          <a:xfrm>
            <a:off x="9121140" y="1499616"/>
            <a:ext cx="457200" cy="457200"/>
          </a:xfrm>
          <a:prstGeom prst="ellipse">
            <a:avLst/>
          </a:prstGeom>
          <a:solidFill>
            <a:srgbClr val="E845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121140" y="2093976"/>
            <a:ext cx="2613660" cy="518159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l"/>
            <a:r>
              <a:rPr sz="3400" b="1" i="0">
                <a:solidFill>
                  <a:srgbClr val="1A1A2E"/>
                </a:solidFill>
                <a:latin typeface="Arial"/>
              </a:rPr>
              <a:t>Multi-Agent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121140" y="2749295"/>
            <a:ext cx="2613660" cy="3011425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l"/>
            <a:r>
              <a:rPr sz="3400" b="0" i="0">
                <a:solidFill>
                  <a:srgbClr val="1A1A2E"/>
                </a:solidFill>
                <a:latin typeface="Arial"/>
              </a:rPr>
              <a:t>Specialists team up.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363200" y="6035040"/>
            <a:ext cx="1371600" cy="3657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l"/>
            <a:r>
              <a:rPr sz="1600" b="0" i="0">
                <a:solidFill>
                  <a:srgbClr val="8A8A9A"/>
                </a:solidFill>
                <a:latin typeface="Arial"/>
              </a:rPr>
              <a:t>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600" cy="768096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l"/>
            <a:r>
              <a:rPr sz="4200" b="1" i="0">
                <a:solidFill>
                  <a:srgbClr val="1A1A2E"/>
                </a:solidFill>
                <a:latin typeface="Arial"/>
              </a:rPr>
              <a:t>Multi-Agent Systems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499616"/>
            <a:ext cx="5501640" cy="11277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l"/>
            <a:r>
              <a:rPr sz="3400" b="0" i="0">
                <a:solidFill>
                  <a:srgbClr val="1A1A2E"/>
                </a:solidFill>
                <a:latin typeface="Arial"/>
              </a:rPr>
              <a:t>Many narrow agents beat one generalist.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2901696"/>
            <a:ext cx="5501640" cy="60960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l"/>
            <a:r>
              <a:rPr sz="3400" b="0" i="0">
                <a:solidFill>
                  <a:srgbClr val="1A1A2E"/>
                </a:solidFill>
                <a:latin typeface="Arial"/>
              </a:rPr>
              <a:t>Each owns a clear role.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233160" y="1499616"/>
            <a:ext cx="5501640" cy="11277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l"/>
            <a:r>
              <a:rPr sz="3400" b="0" i="0">
                <a:solidFill>
                  <a:srgbClr val="1A1A2E"/>
                </a:solidFill>
                <a:latin typeface="Arial"/>
              </a:rPr>
              <a:t>A coordinator routes the work.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233160" y="2901696"/>
            <a:ext cx="5501640" cy="60960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l"/>
            <a:r>
              <a:rPr sz="3400" b="0" i="0">
                <a:solidFill>
                  <a:srgbClr val="1A1A2E"/>
                </a:solidFill>
                <a:latin typeface="Arial"/>
              </a:rPr>
              <a:t>They hand off context.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363200" y="6035040"/>
            <a:ext cx="1371600" cy="3657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l"/>
            <a:r>
              <a:rPr sz="1600" b="0" i="0">
                <a:solidFill>
                  <a:srgbClr val="8A8A9A"/>
                </a:solidFill>
                <a:latin typeface="Arial"/>
              </a:rPr>
              <a:t>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600" cy="768096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l"/>
            <a:r>
              <a:rPr sz="4200" b="1" i="0">
                <a:solidFill>
                  <a:srgbClr val="1A1A2E"/>
                </a:solidFill>
                <a:latin typeface="Arial"/>
              </a:rPr>
              <a:t>Promise vs Pitfalls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499616"/>
            <a:ext cx="5501640" cy="621791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l"/>
            <a:r>
              <a:rPr sz="3400" b="1" i="0">
                <a:solidFill>
                  <a:srgbClr val="1A1A2E"/>
                </a:solidFill>
                <a:latin typeface="Arial"/>
              </a:rPr>
              <a:t>Promise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33160" y="1499616"/>
            <a:ext cx="5501640" cy="621791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l"/>
            <a:r>
              <a:rPr sz="3400" b="1" i="0">
                <a:solidFill>
                  <a:srgbClr val="1A1A2E"/>
                </a:solidFill>
                <a:latin typeface="Arial"/>
              </a:rPr>
              <a:t>Pitfalls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2395727"/>
            <a:ext cx="5501640" cy="847344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l"/>
            <a:r>
              <a:rPr sz="3400" b="0" i="0">
                <a:solidFill>
                  <a:srgbClr val="1A1A2E"/>
                </a:solidFill>
                <a:latin typeface="Arial"/>
              </a:rPr>
              <a:t>Automate real work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233160" y="2395727"/>
            <a:ext cx="5501640" cy="847344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l"/>
            <a:r>
              <a:rPr sz="3400" b="0" i="0">
                <a:solidFill>
                  <a:srgbClr val="1A1A2E"/>
                </a:solidFill>
                <a:latin typeface="Arial"/>
              </a:rPr>
              <a:t>Errors compound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3517391"/>
            <a:ext cx="5501640" cy="847344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l"/>
            <a:r>
              <a:rPr sz="3400" b="0" i="0">
                <a:solidFill>
                  <a:srgbClr val="1A1A2E"/>
                </a:solidFill>
                <a:latin typeface="Arial"/>
              </a:rPr>
              <a:t>Scale expertise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233160" y="3517391"/>
            <a:ext cx="5501640" cy="847344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l"/>
            <a:r>
              <a:rPr sz="3400" b="0" i="0">
                <a:solidFill>
                  <a:srgbClr val="1A1A2E"/>
                </a:solidFill>
                <a:latin typeface="Arial"/>
              </a:rPr>
              <a:t>Hard to predict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4639055"/>
            <a:ext cx="5501640" cy="847344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l"/>
            <a:r>
              <a:rPr sz="3400" b="0" i="0">
                <a:solidFill>
                  <a:srgbClr val="1A1A2E"/>
                </a:solidFill>
                <a:latin typeface="Arial"/>
              </a:rPr>
              <a:t>Run all day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233160" y="4639055"/>
            <a:ext cx="5501640" cy="847344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l"/>
            <a:r>
              <a:rPr sz="3400" b="0" i="0">
                <a:solidFill>
                  <a:srgbClr val="1A1A2E"/>
                </a:solidFill>
                <a:latin typeface="Arial"/>
              </a:rPr>
              <a:t>Needs guardrails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363200" y="6035040"/>
            <a:ext cx="1371600" cy="3657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l"/>
            <a:r>
              <a:rPr sz="1600" b="0" i="0">
                <a:solidFill>
                  <a:srgbClr val="8A8A9A"/>
                </a:solidFill>
                <a:latin typeface="Arial"/>
              </a:rPr>
              <a:t>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1783080"/>
            <a:ext cx="10363200" cy="91440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l"/>
            <a:r>
              <a:rPr sz="6000" b="1" i="0">
                <a:solidFill>
                  <a:srgbClr val="1A1A2E"/>
                </a:solidFill>
                <a:latin typeface="Arial"/>
              </a:rPr>
              <a:t>Takeaways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2971800"/>
            <a:ext cx="10363200" cy="518159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l"/>
            <a:r>
              <a:rPr sz="3400" b="0" i="0">
                <a:solidFill>
                  <a:srgbClr val="1A1A2E"/>
                </a:solidFill>
                <a:latin typeface="Arial"/>
              </a:rPr>
              <a:t>Software that acts, with human oversight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363200" y="6035040"/>
            <a:ext cx="1371600" cy="3657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l"/>
            <a:r>
              <a:rPr sz="1600" b="0" i="0">
                <a:solidFill>
                  <a:srgbClr val="8A8A9A"/>
                </a:solidFill>
                <a:latin typeface="Arial"/>
              </a:rPr>
              <a:t>10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