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914400" y="2971800"/>
            <a:ext cx="112776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Quarterly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con Text Row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Drives Us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Excellence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09215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High standards in every deliverable we ship.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Integrity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621023"/>
            <a:ext cx="1133344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Transparent and honest in all we do.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Innovation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5132831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Investing in ideas that shape tomorrow.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By the Numbers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127%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965448"/>
            <a:ext cx="50480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Revenue Target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30784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94%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3965448"/>
            <a:ext cx="47916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Retention Rate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158480" y="2776728"/>
            <a:ext cx="40335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48 NPS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8158480" y="3965448"/>
            <a:ext cx="40335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Net Promoter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Side-by-Side Evaluation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58115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Legacy Platform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Modern Stack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651887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Deploy time: 4 hours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2395727"/>
            <a:ext cx="590389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Deploy time: 8 min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Manual scaling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Auto-scales fast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639055"/>
            <a:ext cx="6940888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On-premise; high cost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Cloud-native; low cost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Key Milestones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54936"/>
            <a:ext cx="39432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Foundation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Cloud platform migration done.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334518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2154936"/>
            <a:ext cx="39830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API Launch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4518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REST API live with 99.99% SLA.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23316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AI Beta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AI features shipped to 500 partners.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912114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9121140" y="2154936"/>
            <a:ext cx="30708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Scale Out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12114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APAC regions live; global coverage.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mage Half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Built in the Field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6233160" y="1499616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Built with customers.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2383536"/>
            <a:ext cx="550164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60% faster; 50% fewer tickets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Where We Stand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We Will Cover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Performance against targets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250179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371600" y="250179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Customer and market signals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38510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1371600" y="338510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Operational health and risks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26841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371600" y="426841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Roadmap for next quarter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515172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05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1371600" y="515172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Decisions we need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body" idx="1"/>
          </p:nvPr>
        </p:nvSpPr>
        <p:spPr>
          <a:xfrm>
            <a:off x="457200" y="202539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0072CE"/>
                </a:solidFill>
                <a:latin typeface="Arial"/>
              </a:rPr>
              <a:t>3.2M</a:t>
            </a:r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5547360" y="3771900"/>
            <a:ext cx="1097280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457200" y="410108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0A2240"/>
                </a:solidFill>
                <a:latin typeface="Arial"/>
              </a:rPr>
              <a:t>Active customers worldwide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ull 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A2240"/>
                </a:solidFill>
                <a:latin typeface="Arial"/>
              </a:rPr>
              <a:t>"We buy outcomes, not tools."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62712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- VP of Engineering, enterprise customer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Defini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48412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Net Revenue Retention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Revenue kept from existing customers.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Ques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A2240"/>
                </a:solidFill>
                <a:latin typeface="Arial"/>
              </a:rPr>
              <a:t>What if we trusted users?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u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46804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Changed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Activation time dropped by half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Support tickets fell sharply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Expansion revenue outpaced new sales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de Block"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ph type="body" idx="3"/>
          </p:nvPr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4"/>
          </p:nvPr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hello.py</a:t>
            </a:r>
          </a:p>
        </p:txBody>
      </p:sp>
      <p:sp>
        <p:nvSpPr>
          <p:cNvPr id="9" name="TextBox 8"/>
          <p:cNvSpPr/>
          <p:nvPr>
            <p:ph type="body" idx="5"/>
          </p:nvPr>
        </p:nvSpPr>
        <p:spPr>
          <a:xfrm>
            <a:off x="457200" y="1837944"/>
            <a:ext cx="78513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The classic, end to end</a:t>
            </a:r>
          </a:p>
        </p:txBody>
      </p:sp>
      <p:sp>
        <p:nvSpPr>
          <p:cNvPr id="10" name="TextBox 9"/>
          <p:cNvSpPr/>
          <p:nvPr>
            <p:ph type="body" idx="6"/>
          </p:nvPr>
        </p:nvSpPr>
        <p:spPr>
          <a:xfrm>
            <a:off x="457200" y="2356103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11" name="TextBox 10"/>
          <p:cNvSpPr/>
          <p:nvPr>
            <p:ph type="body" idx="7"/>
          </p:nvPr>
        </p:nvSpPr>
        <p:spPr>
          <a:xfrm>
            <a:off x="1057461" y="2356103"/>
            <a:ext cx="252438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main():</a:t>
            </a:r>
          </a:p>
        </p:txBody>
      </p:sp>
      <p:sp>
        <p:nvSpPr>
          <p:cNvPr id="12" name="TextBox 11"/>
          <p:cNvSpPr/>
          <p:nvPr>
            <p:ph type="body" idx="8"/>
          </p:nvPr>
        </p:nvSpPr>
        <p:spPr>
          <a:xfrm>
            <a:off x="457200" y="2874262"/>
            <a:ext cx="70464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print("Hello, world!")</a:t>
            </a:r>
          </a:p>
        </p:txBody>
      </p:sp>
      <p:sp>
        <p:nvSpPr>
          <p:cNvPr id="13" name="TextBox 12"/>
          <p:cNvSpPr/>
          <p:nvPr>
            <p:ph type="body" idx="9"/>
          </p:nvPr>
        </p:nvSpPr>
        <p:spPr>
          <a:xfrm>
            <a:off x="457200" y="3910580"/>
            <a:ext cx="21404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main()</a:t>
            </a:r>
          </a:p>
        </p:txBody>
      </p:sp>
      <p:sp>
        <p:nvSpPr>
          <p:cNvPr id="14" name="TextBox 13"/>
          <p:cNvSpPr/>
          <p:nvPr>
            <p:ph type="body" idx="13"/>
          </p:nvPr>
        </p:nvSpPr>
        <p:spPr>
          <a:xfrm>
            <a:off x="457200" y="4946898"/>
            <a:ext cx="567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$</a:t>
            </a:r>
          </a:p>
        </p:txBody>
      </p:sp>
      <p:sp>
        <p:nvSpPr>
          <p:cNvPr id="15" name="TextBox 14"/>
          <p:cNvSpPr/>
          <p:nvPr>
            <p:ph type="body" idx="14"/>
          </p:nvPr>
        </p:nvSpPr>
        <p:spPr>
          <a:xfrm>
            <a:off x="697347" y="4946898"/>
            <a:ext cx="50224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python hello.py</a:t>
            </a:r>
          </a:p>
        </p:txBody>
      </p:sp>
      <p:sp>
        <p:nvSpPr>
          <p:cNvPr id="16" name="TextBox 15"/>
          <p:cNvSpPr/>
          <p:nvPr>
            <p:ph type="body" idx="15"/>
          </p:nvPr>
        </p:nvSpPr>
        <p:spPr>
          <a:xfrm>
            <a:off x="457200" y="5465057"/>
            <a:ext cx="39840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ile Tre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Final folder shape</a:t>
            </a:r>
          </a:p>
        </p:txBody>
      </p:sp>
      <p:sp>
        <p:nvSpPr>
          <p:cNvPr id="6" name="Rounded Rectangle 5"/>
          <p:cNvSpPr/>
          <p:nvPr>
            <p:ph type="body" idx="1"/>
          </p:nvPr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822960" y="1819656"/>
            <a:ext cx="6206708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0072CE"/>
                </a:solidFill>
                <a:latin typeface="Courier New"/>
              </a:rPr>
              <a:t>simple-eda-project/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22960" y="22158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├─ 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17417" y="2215896"/>
            <a:ext cx="1451054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0072CE"/>
                </a:solidFill>
                <a:latin typeface="Courier New"/>
              </a:rPr>
              <a:t>src/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22960" y="2612136"/>
            <a:ext cx="208514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│  └─ 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011873" y="261213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0072CE"/>
                </a:solidFill>
                <a:latin typeface="Courier New"/>
              </a:rPr>
              <a:t>simple_eda/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22960" y="300837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│     ├─ 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2606330" y="300837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__init__.py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22960" y="340461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│     └─ 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2606330" y="340461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core.py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22960" y="380085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├─ 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1417417" y="380085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README.md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822960" y="41970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├─ 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1417417" y="4197096"/>
            <a:ext cx="4621489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pyproject.toml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822960" y="459333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└─ 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1417417" y="459333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LICENSE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Three Steps to Onboard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Connect your data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461983" y="2185416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Link a source in minutes with a guided wizard.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Pick a template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461983" y="3697224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Start from a proven layout, then tailor it.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Share the result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461983" y="5209032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Publish to your team and gather feedback fast.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wo Panel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Onboarding, Reworked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Before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1367718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After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6233160" y="2176271"/>
            <a:ext cx="1007604" cy="5486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395727"/>
            <a:ext cx="694257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Manual account setup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608831"/>
            <a:ext cx="75943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Three-day approval wait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821935"/>
            <a:ext cx="590423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Email-only support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One-click provisioning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Same-day approval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In-product live chat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his vs Tha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Cloud or On-Prem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A2240"/>
                </a:solidFill>
                <a:latin typeface="Arial"/>
              </a:rPr>
              <a:t>3 wks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Cloud time-to-launch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A2240"/>
                </a:solidFill>
                <a:latin typeface="Arial"/>
              </a:rPr>
              <a:t>6 mo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48462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On-prem time-to-launch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A2240"/>
                </a:solidFill>
                <a:latin typeface="Arial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Key Metrics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98.7%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Uptime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1,240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259384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New accounts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4.6/5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7701280" y="25938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Support rating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$2.1M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Net new revenue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430784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12 days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5559552" y="4751832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943896" y="4861560"/>
            <a:ext cx="430420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Time to value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815848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31%</a:t>
            </a:r>
          </a:p>
        </p:txBody>
      </p:sp>
      <p:sp>
        <p:nvSpPr>
          <p:cNvPr id="22" name="Rectangle 21"/>
          <p:cNvSpPr/>
          <p:nvPr>
            <p:ph type="body" idx="20"/>
          </p:nvPr>
        </p:nvSpPr>
        <p:spPr>
          <a:xfrm>
            <a:off x="9410192" y="4751832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770128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Expansion rate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hart With Ins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Monthly Active Teams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3680394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120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680085" y="4335714"/>
            <a:ext cx="1040129" cy="76968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A2240"/>
                </a:solidFill>
                <a:latin typeface="Arial"/>
              </a:rPr>
              <a:t>Jan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217420" y="3295551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440305" y="3950871"/>
            <a:ext cx="1040129" cy="115452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21742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A2240"/>
                </a:solidFill>
                <a:latin typeface="Arial"/>
              </a:rPr>
              <a:t>Feb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77640" y="2590005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290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200525" y="3245325"/>
            <a:ext cx="1040129" cy="186007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97764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A2240"/>
                </a:solidFill>
                <a:latin typeface="Arial"/>
              </a:rPr>
              <a:t>Mar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5737860" y="1499616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460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5960745" y="2154936"/>
            <a:ext cx="1040129" cy="29504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573786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A2240"/>
                </a:solidFill>
                <a:latin typeface="Arial"/>
              </a:rPr>
              <a:t>Apr</a:t>
            </a:r>
          </a:p>
        </p:txBody>
      </p:sp>
      <p:sp>
        <p:nvSpPr>
          <p:cNvPr id="18" name="Rectangle 17"/>
          <p:cNvSpPr/>
          <p:nvPr>
            <p:ph type="body" idx="16"/>
          </p:nvPr>
        </p:nvSpPr>
        <p:spPr>
          <a:xfrm>
            <a:off x="7498080" y="3325368"/>
            <a:ext cx="128016" cy="6096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8037576" y="3325368"/>
            <a:ext cx="415442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Activations 4x.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Pricing Tiers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3337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Plan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339579" y="1499616"/>
            <a:ext cx="22382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Seats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126448" y="1499616"/>
            <a:ext cx="20223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Price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7691577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Starter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39579" y="2401823"/>
            <a:ext cx="241036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 to 5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126448" y="2401823"/>
            <a:ext cx="202232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$0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3310127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Team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339579" y="3310127"/>
            <a:ext cx="279459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 to 50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126448" y="3310127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$12/seat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457200" y="4218431"/>
            <a:ext cx="298620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Business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3339579" y="4218431"/>
            <a:ext cx="317883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 to 250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6126448" y="4218431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$20/seat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5126735"/>
            <a:ext cx="33316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Enterprise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339579" y="5126735"/>
            <a:ext cx="30624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Unlimited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6126448" y="5126735"/>
            <a:ext cx="256317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Metric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Performance vs Last Year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072CE"/>
                </a:solidFill>
                <a:latin typeface="Arial"/>
              </a:rPr>
              <a:t>$8.4M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52348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Revenue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522569" y="4407408"/>
            <a:ext cx="1445581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260802" y="4407408"/>
            <a:ext cx="1969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+24%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30784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072CE"/>
                </a:solidFill>
                <a:latin typeface="Arial"/>
              </a:rPr>
              <a:t>2.1%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352348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Monthly churn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5175547" y="4407408"/>
            <a:ext cx="1840906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795183" y="4407408"/>
            <a:ext cx="260163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-0.8 pts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15848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072CE"/>
                </a:solidFill>
                <a:latin typeface="Arial"/>
              </a:rPr>
              <a:t>63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7701280" y="352348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Promoter score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9427731" y="4407408"/>
            <a:ext cx="1037817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288294" y="4407408"/>
            <a:ext cx="131669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+11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rocess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Onboarding Flow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414016"/>
            <a:ext cx="27156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Sign up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Create an account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345180" y="2414016"/>
            <a:ext cx="2946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Connect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Link your data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>
            <p:ph type="body" idx="13"/>
          </p:nvPr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6233160" y="2414016"/>
            <a:ext cx="344499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Configure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Pick your metrics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9121140" y="2414016"/>
            <a:ext cx="26394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Launch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912114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Go live in minutes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2026 Plan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Ship API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279647"/>
            <a:ext cx="383192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Beta launch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0784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Mobile app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307840" y="3279647"/>
            <a:ext cx="3793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Integrations</a:t>
            </a:r>
          </a:p>
        </p:txBody>
      </p:sp>
      <p:sp>
        <p:nvSpPr>
          <p:cNvPr id="14" name="Rectangle 13"/>
          <p:cNvSpPr/>
          <p:nvPr>
            <p:ph type="body" idx="9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158480" y="239572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Enterprise tier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8158480" y="327964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SSO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Sales Pipeline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Visitors · 50,000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Signups · 8,000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Trials · 2,400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3558540" y="4901184"/>
            <a:ext cx="5074919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558540" y="4901184"/>
            <a:ext cx="5558452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Customers · 600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ested Circ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Job Search Funnel (2021)</a:t>
            </a:r>
          </a:p>
        </p:txBody>
      </p:sp>
      <p:sp>
        <p:nvSpPr>
          <p:cNvPr id="6" name="Oval 5"/>
          <p:cNvSpPr/>
          <p:nvPr>
            <p:ph type="body" idx="1"/>
          </p:nvPr>
        </p:nvSpPr>
        <p:spPr>
          <a:xfrm>
            <a:off x="3645408" y="1499616"/>
            <a:ext cx="4901184" cy="4901184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ph type="body" idx="2"/>
          </p:nvPr>
        </p:nvSpPr>
        <p:spPr>
          <a:xfrm>
            <a:off x="4462272" y="3133344"/>
            <a:ext cx="3267456" cy="3267456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>
            <p:ph type="body" idx="3"/>
          </p:nvPr>
        </p:nvSpPr>
        <p:spPr>
          <a:xfrm>
            <a:off x="5279136" y="4767072"/>
            <a:ext cx="1633728" cy="1633728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7329" y="1645920"/>
            <a:ext cx="3037342" cy="762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&gt;700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594080" y="2316480"/>
            <a:ext cx="5003840" cy="6705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840583" y="3401568"/>
            <a:ext cx="251083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58104" y="3950208"/>
            <a:ext cx="3475792" cy="548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Interviews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5296524" y="5157216"/>
            <a:ext cx="159895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1.5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5235159" y="5583935"/>
            <a:ext cx="1721682" cy="4267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Offers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Hierarchy of Needs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Vision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Goals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Tactics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WO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SWOT Analysis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Strengths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2015207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7863523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Strong brand, loyal users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Weaknesses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6233160" y="2176271"/>
            <a:ext cx="2584686" cy="5486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Thin margins, small team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Opportunities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57200" y="4443983"/>
            <a:ext cx="2830525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457200" y="4663439"/>
            <a:ext cx="801532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New markets via partners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Threats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6233160" y="4443983"/>
            <a:ext cx="1559793" cy="5486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4663439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New entrants cut prices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Evaluation Matrix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3280182" y="1499616"/>
            <a:ext cx="365043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Platform A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5973987" y="1499616"/>
            <a:ext cx="367607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Platform B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845296" y="1499616"/>
            <a:ext cx="33467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Platform C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Security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4245247" y="2401823"/>
            <a:ext cx="1720305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01063" y="2401823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491979" y="2401823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9302496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Strong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3612895"/>
            <a:ext cx="327902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Workflow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3785355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595872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Strong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98603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4823967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Support</a:t>
            </a:r>
          </a:p>
        </p:txBody>
      </p:sp>
      <p:sp>
        <p:nvSpPr>
          <p:cNvPr id="20" name="Rectangle 19"/>
          <p:cNvSpPr/>
          <p:nvPr>
            <p:ph type="body" idx="18"/>
          </p:nvPr>
        </p:nvSpPr>
        <p:spPr>
          <a:xfrm>
            <a:off x="4245247" y="4823967"/>
            <a:ext cx="1720305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3901063" y="4823967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22" name="TextBox 21"/>
          <p:cNvSpPr/>
          <p:nvPr>
            <p:ph type="body" idx="20"/>
          </p:nvPr>
        </p:nvSpPr>
        <p:spPr>
          <a:xfrm>
            <a:off x="6595872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Strong</a:t>
            </a:r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9198603" y="4823967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75560"/>
            <a:ext cx="112776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MS in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6428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Quantic School of Business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We Will Cover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shape of the degree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22626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22626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What the curriculum 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26764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26764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five-month 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0902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30902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Who the program is built for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8343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0072CE"/>
                </a:solidFill>
                <a:latin typeface="Arial"/>
              </a:rP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360" y="3329940"/>
            <a:ext cx="1097280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912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0A2240"/>
                </a:solidFill>
                <a:latin typeface="Arial"/>
              </a:rPr>
              <a:t>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4964"/>
            <a:ext cx="1127760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Fully online, start to degree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MSSE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Quantic's online master's in software engineering.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The Program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51763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The Degree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938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Concentrations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0334" y="2593848"/>
            <a:ext cx="47913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Specializations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848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Capstone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61560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Months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How It Is Structured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Eight required concentrations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Choose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Two of four specializations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One capstone project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the Curriculum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Machine learning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AI 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Cloud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Microservices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Inside the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Predictive models, decision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Cloud Architectures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Scalable cloud-based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AI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LLM apps, fine-tuned models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How You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 your clock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Agile peers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Applied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Real projects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The Arc of the Degree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Month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54936"/>
            <a:ext cx="398339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Core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47415"/>
            <a:ext cx="3792120" cy="281330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Eight tracks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518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Month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5180" y="2154936"/>
            <a:ext cx="352393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Specialize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518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Pick two tracks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16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Month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154936"/>
            <a:ext cx="333063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2947415"/>
            <a:ext cx="3791446" cy="281330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Team 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114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Month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114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2947415"/>
            <a:ext cx="3070860" cy="281330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Public repo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926080"/>
            <a:ext cx="1108662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A2240"/>
                </a:solidFill>
                <a:latin typeface="Arial"/>
              </a:rPr>
              <a:t>What do you ship?</a:t>
            </a:r>
          </a:p>
        </p:txBody>
      </p:sp>
      <p:sp>
        <p:nvSpPr>
          <p:cNvPr id="4" name="TextBox 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Five Months, One 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140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Scope the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5180" y="2414016"/>
            <a:ext cx="28704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Develop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Write the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160" y="24140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Prove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1140" y="24140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1140" y="3041903"/>
            <a:ext cx="3070860" cy="2718817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Ship it live</a:t>
            </a:r>
          </a:p>
        </p:txBody>
      </p:sp>
      <p:sp>
        <p:nvSpPr>
          <p:cNvPr id="19" name="TextBox 1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Who It Is Built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98047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Recent graduates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3623494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Career shifters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3048112" cy="5486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8645147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Turning a degree into a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713351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No senior title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8094603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Any technical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Moving into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Keeping a full-time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Any technical background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A2240"/>
                </a:solidFill>
                <a:latin typeface="Arial"/>
              </a:rPr>
              <a:t>"The capstone ends in a public repo."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627120"/>
            <a:ext cx="107381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- Your work, visible to employers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