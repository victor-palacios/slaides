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about the .env file: what belongs in one, and how to stop it reaching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 answer is anywhere inside a file you commit, they are not yours any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.env file holds the settings your code reads at startup, and it is the one file in your project that git must never see.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kinds of thing belong there: API keys, database URLs, signing tokens, and anything whose value differs from one machine to the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.env into .gitignore before you create it, not after. Do it the other way round and a single careless commit puts the file into your history for good.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Commit a .env.example alongside it: every key name with the values left blank. That is how a teammate cloning your repo knows what they need to set without you sending anything private.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GitHub the file itself never goes up. Actions read values from repository secrets, deploys can use per-environment secrets, and nothing should ever print a secret into a build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 .env is already pushed, rotate the key before anything else. Deleting the file does not remove it from your history, and a key that has been public should be treated as one that has already been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value lives differently in each place: a .env file on your laptop, nothing whatsoever in a pull request, repository secrets in Actions, and your host's own secret store in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checks before you push: .env is in .gitignore, git status does not show it, the example file is current, and you would be happy for anyone to read the diff.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914400" y="2971800"/>
            <a:ext cx="1127760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Quarterly Business Review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con Text Row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Drives Us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Excellence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09215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High standards in every deliverable we ship.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Integrity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621023"/>
            <a:ext cx="1133344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Transparent and honest in all we do.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Innovation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5132831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Investing in ideas that shape tomorrow.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tat Call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By the Numbers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127%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965448"/>
            <a:ext cx="50480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Revenue Target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30784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94%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3965448"/>
            <a:ext cx="47916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Retention Rate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158480" y="2776728"/>
            <a:ext cx="40335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48 NPS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8158480" y="3965448"/>
            <a:ext cx="40335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Net Promoter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Column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Side-by-Side Evaluation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58115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Legacy Platform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Modern Stack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651887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Deploy time: 4 hours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2395727"/>
            <a:ext cx="5903892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Deploy time: 8 min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Manual scaling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Auto-scales fast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639055"/>
            <a:ext cx="6940888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On-premise; high cost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4639055"/>
            <a:ext cx="59588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Cloud-native; low cost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Key Milestones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Q1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6"/>
            <a:ext cx="39432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Foundation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Cloud platform migration done.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Q2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2154936"/>
            <a:ext cx="39830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API Launch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4518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REST API live with 99.99% SLA.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23316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Q3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15493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AI Beta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AI features shipped to 500 partners.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912114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Q4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9121140" y="2154936"/>
            <a:ext cx="30708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Scale Out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12114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APAC regions live; global coverage.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mage Half Blee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Built in the Field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6233160" y="149961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Built with customers, not just for them.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290169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60% faster rollout; 50% fewer tickets.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ard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We Offer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831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Insights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Live data and AI analytics.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3345180" y="1499616"/>
            <a:ext cx="29092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Security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Zero-trust, SOC 2 ready.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623316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Speed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Sub-100ms p99 latency.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912114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APIs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300+ open connectors.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ection Divi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Where We Stand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We Will Cover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280160"/>
            <a:ext cx="11277600" cy="64008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61848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371600" y="161848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Performance against targets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250179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371600" y="250179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Customer and market signals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38510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03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1371600" y="338510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Operational health and risks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26841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04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371600" y="426841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Roadmap for next quarter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515172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05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1371600" y="515172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Decisions we need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ig Numb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body" idx="1"/>
          </p:nvPr>
        </p:nvSpPr>
        <p:spPr>
          <a:xfrm>
            <a:off x="457200" y="2025396"/>
            <a:ext cx="11277600" cy="1691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10500" b="1" i="0">
                <a:solidFill>
                  <a:srgbClr val="0072CE"/>
                </a:solidFill>
                <a:latin typeface="Arial"/>
              </a:rPr>
              <a:t>3.2M</a:t>
            </a:r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5547360" y="3771900"/>
            <a:ext cx="1097280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457200" y="4101084"/>
            <a:ext cx="11277600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0" i="0">
                <a:solidFill>
                  <a:srgbClr val="0A2240"/>
                </a:solidFill>
                <a:latin typeface="Arial"/>
              </a:rPr>
              <a:t>Active customers worldwide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ull Quo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301240"/>
            <a:ext cx="128016" cy="225552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301240"/>
            <a:ext cx="10738104" cy="1371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0A2240"/>
                </a:solidFill>
                <a:latin typeface="Arial"/>
              </a:rPr>
              <a:t>"We stopped buying tools and started buying outcomes."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94716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B6B82"/>
                </a:solidFill>
                <a:latin typeface="Arial"/>
              </a:rPr>
              <a:t>- VP of Engineering, enterprise customer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Defin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965960"/>
            <a:ext cx="128016" cy="292608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96596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Net Revenue Retention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246120"/>
            <a:ext cx="10738104" cy="16459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The percentage of recurring revenue retained from existing customers over a period, including expansion and after churn.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Ques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011680"/>
            <a:ext cx="128016" cy="283464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011680"/>
            <a:ext cx="10738104" cy="28346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6000" b="1" i="0">
                <a:solidFill>
                  <a:srgbClr val="0A2240"/>
                </a:solidFill>
                <a:latin typeface="Arial"/>
              </a:rPr>
              <a:t>What would we build if we trusted our customers completely?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ullet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46804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Changed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Activation time dropped by half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Support tickets fell sharply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Expansion revenue outpaced new sales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de Block"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>
            <p:ph type="body" idx="3"/>
          </p:nvPr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hello.py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457200" y="1837944"/>
            <a:ext cx="78513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The classic, end to end</a:t>
            </a:r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457200" y="2356103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11" name="TextBox 10"/>
          <p:cNvSpPr/>
          <p:nvPr>
            <p:ph type="body" idx="7"/>
          </p:nvPr>
        </p:nvSpPr>
        <p:spPr>
          <a:xfrm>
            <a:off x="1057461" y="2356103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12" name="TextBox 11"/>
          <p:cNvSpPr/>
          <p:nvPr>
            <p:ph type="body" idx="8"/>
          </p:nvPr>
        </p:nvSpPr>
        <p:spPr>
          <a:xfrm>
            <a:off x="1177429" y="2356103"/>
            <a:ext cx="1680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main</a:t>
            </a:r>
          </a:p>
        </p:txBody>
      </p:sp>
      <p:sp>
        <p:nvSpPr>
          <p:cNvPr id="13" name="TextBox 12"/>
          <p:cNvSpPr/>
          <p:nvPr>
            <p:ph type="body" idx="9"/>
          </p:nvPr>
        </p:nvSpPr>
        <p:spPr>
          <a:xfrm>
            <a:off x="2113347" y="2356103"/>
            <a:ext cx="83496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():</a:t>
            </a:r>
          </a:p>
        </p:txBody>
      </p:sp>
      <p:sp>
        <p:nvSpPr>
          <p:cNvPr id="14" name="TextBox 13"/>
          <p:cNvSpPr/>
          <p:nvPr>
            <p:ph type="body" idx="13"/>
          </p:nvPr>
        </p:nvSpPr>
        <p:spPr>
          <a:xfrm>
            <a:off x="457200" y="2874262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5" name="TextBox 14"/>
          <p:cNvSpPr/>
          <p:nvPr>
            <p:ph type="body" idx="14"/>
          </p:nvPr>
        </p:nvSpPr>
        <p:spPr>
          <a:xfrm>
            <a:off x="937071" y="2874262"/>
            <a:ext cx="15268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print</a:t>
            </a:r>
          </a:p>
        </p:txBody>
      </p:sp>
      <p:sp>
        <p:nvSpPr>
          <p:cNvPr id="16" name="TextBox 15"/>
          <p:cNvSpPr/>
          <p:nvPr>
            <p:ph type="body" idx="15"/>
          </p:nvPr>
        </p:nvSpPr>
        <p:spPr>
          <a:xfrm>
            <a:off x="1777057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17" name="TextBox 16"/>
          <p:cNvSpPr/>
          <p:nvPr>
            <p:ph type="body" idx="16"/>
          </p:nvPr>
        </p:nvSpPr>
        <p:spPr>
          <a:xfrm>
            <a:off x="1920850" y="2874262"/>
            <a:ext cx="44745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"Hello, world!"</a:t>
            </a:r>
          </a:p>
        </p:txBody>
      </p:sp>
      <p:sp>
        <p:nvSpPr>
          <p:cNvPr id="18" name="TextBox 17"/>
          <p:cNvSpPr/>
          <p:nvPr>
            <p:ph type="body" idx="17"/>
          </p:nvPr>
        </p:nvSpPr>
        <p:spPr>
          <a:xfrm>
            <a:off x="4603155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)</a:t>
            </a:r>
          </a:p>
        </p:txBody>
      </p:sp>
      <p:sp>
        <p:nvSpPr>
          <p:cNvPr id="19" name="TextBox 18"/>
          <p:cNvSpPr/>
          <p:nvPr>
            <p:ph type="body" idx="18"/>
          </p:nvPr>
        </p:nvSpPr>
        <p:spPr>
          <a:xfrm>
            <a:off x="457200" y="3910580"/>
            <a:ext cx="1680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main</a:t>
            </a:r>
          </a:p>
        </p:txBody>
      </p:sp>
      <p:sp>
        <p:nvSpPr>
          <p:cNvPr id="20" name="TextBox 19"/>
          <p:cNvSpPr/>
          <p:nvPr>
            <p:ph type="body" idx="19"/>
          </p:nvPr>
        </p:nvSpPr>
        <p:spPr>
          <a:xfrm>
            <a:off x="1393118" y="3910580"/>
            <a:ext cx="6430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</a:t>
            </a:r>
          </a:p>
        </p:txBody>
      </p:sp>
      <p:sp>
        <p:nvSpPr>
          <p:cNvPr id="21" name="TextBox 20"/>
          <p:cNvSpPr/>
          <p:nvPr>
            <p:ph type="body" idx="20"/>
          </p:nvPr>
        </p:nvSpPr>
        <p:spPr>
          <a:xfrm>
            <a:off x="457200" y="4946898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22" name="TextBox 21"/>
          <p:cNvSpPr/>
          <p:nvPr>
            <p:ph type="body" idx="21"/>
          </p:nvPr>
        </p:nvSpPr>
        <p:spPr>
          <a:xfrm>
            <a:off x="697347" y="4946898"/>
            <a:ext cx="502241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python hello.py</a:t>
            </a:r>
          </a:p>
        </p:txBody>
      </p:sp>
      <p:sp>
        <p:nvSpPr>
          <p:cNvPr id="23" name="TextBox 22"/>
          <p:cNvSpPr/>
          <p:nvPr>
            <p:ph type="body" idx="22"/>
          </p:nvPr>
        </p:nvSpPr>
        <p:spPr>
          <a:xfrm>
            <a:off x="457200" y="5465057"/>
            <a:ext cx="39840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Hello, world!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ile Tre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Final folder shape</a:t>
            </a:r>
          </a:p>
        </p:txBody>
      </p:sp>
      <p:sp>
        <p:nvSpPr>
          <p:cNvPr id="6" name="Rounded Rectangle 5"/>
          <p:cNvSpPr/>
          <p:nvPr>
            <p:ph type="body" idx="1"/>
          </p:nvPr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C1A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822960" y="1819656"/>
            <a:ext cx="6206708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simple-eda-project/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22960" y="22158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17417" y="2215896"/>
            <a:ext cx="1451054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src/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22960" y="2612136"/>
            <a:ext cx="208514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└─ 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011873" y="261213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simple_eda/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22960" y="300837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├─ 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2606330" y="300837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__init__.py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22960" y="340461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└─ 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2606330" y="340461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core.py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22960" y="380085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1417417" y="380085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README.md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822960" y="41970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1417417" y="4197096"/>
            <a:ext cx="4621489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pyproject.toml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822960" y="459333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└─ 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1417417" y="459333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LICENSE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umbered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Three Steps to Onboard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Connect your data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461983" y="2185416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Link a source in minutes with a guided wizard.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Pick a template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461983" y="3697224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Start from a proven layout, then tailor it.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Share the result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461983" y="5209032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Publish to your team and gather feedback fast.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wo Panel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Onboarding, Reworked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Before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5B6B82"/>
                </a:solidFill>
                <a:latin typeface="Arial"/>
              </a:rPr>
              <a:t>After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5B6B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395727"/>
            <a:ext cx="694257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Manual account setup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608831"/>
            <a:ext cx="7594321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Three-day approval wait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821935"/>
            <a:ext cx="590423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Email-only support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One-click provisioning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Same-day approval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In-product live chat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his vs Tha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Cloud or On-Prem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A2240"/>
                </a:solidFill>
                <a:latin typeface="Arial"/>
              </a:rPr>
              <a:t>3 wks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Cloud time-to-launch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94182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A2240"/>
                </a:solidFill>
                <a:latin typeface="Arial"/>
              </a:rPr>
              <a:t>6 mo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48462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On-prem time-to-launch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5435323" y="3310127"/>
            <a:ext cx="132135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5B6B82"/>
                </a:solidFill>
                <a:latin typeface="Arial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KPI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Key Metrics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98.7%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1708912" y="2484120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593848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Uptime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1,240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5559552" y="2484120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2593848"/>
            <a:ext cx="4522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New accounts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15848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4.6/5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9410192" y="2484120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7701280" y="2593848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Support rating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$2.1M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1708912" y="4751832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0" y="4861560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Net new revenue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4307840" y="379780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12 days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5559552" y="4492752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4307840" y="4602480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Avg. time to value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815848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31%</a:t>
            </a:r>
          </a:p>
        </p:txBody>
      </p:sp>
      <p:sp>
        <p:nvSpPr>
          <p:cNvPr id="22" name="Rectangle 21"/>
          <p:cNvSpPr/>
          <p:nvPr>
            <p:ph type="body" idx="20"/>
          </p:nvPr>
        </p:nvSpPr>
        <p:spPr>
          <a:xfrm>
            <a:off x="9410192" y="4751832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7701280" y="4861560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Expansion rate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hart With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Monthly Active Teams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3680394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120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680085" y="4335714"/>
            <a:ext cx="1040129" cy="76968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5B6B82"/>
                </a:solidFill>
                <a:latin typeface="Arial"/>
              </a:rPr>
              <a:t>Jan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217420" y="3295551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180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440305" y="3950871"/>
            <a:ext cx="1040129" cy="115452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21742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5B6B82"/>
                </a:solidFill>
                <a:latin typeface="Arial"/>
              </a:rPr>
              <a:t>Feb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77640" y="2590005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290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200525" y="3245325"/>
            <a:ext cx="1040129" cy="186007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97764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5B6B82"/>
                </a:solidFill>
                <a:latin typeface="Arial"/>
              </a:rPr>
              <a:t>Mar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5737860" y="1499616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460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5960745" y="2154936"/>
            <a:ext cx="1040129" cy="29504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573786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5B6B82"/>
                </a:solidFill>
                <a:latin typeface="Arial"/>
              </a:rPr>
              <a:t>Apr</a:t>
            </a:r>
          </a:p>
        </p:txBody>
      </p:sp>
      <p:sp>
        <p:nvSpPr>
          <p:cNvPr id="18" name="Rectangle 17"/>
          <p:cNvSpPr/>
          <p:nvPr>
            <p:ph type="body" idx="16"/>
          </p:nvPr>
        </p:nvSpPr>
        <p:spPr>
          <a:xfrm>
            <a:off x="7498080" y="1770888"/>
            <a:ext cx="128016" cy="371856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8037576" y="1770888"/>
            <a:ext cx="3697224" cy="37185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Activations nearly quadrupled once self-serve onboarding shipped in February.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Pricing Tiers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33373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Plan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339579" y="1499616"/>
            <a:ext cx="22382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Seats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126448" y="1499616"/>
            <a:ext cx="20223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Price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7691577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Starter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39579" y="2401823"/>
            <a:ext cx="241036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Up to 5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126448" y="2401823"/>
            <a:ext cx="202232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$0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3310127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Team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339579" y="3310127"/>
            <a:ext cx="2794595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Up to 50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126448" y="3310127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$12/seat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457200" y="4218431"/>
            <a:ext cx="298620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Business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3339579" y="4218431"/>
            <a:ext cx="317883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Up to 250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6126448" y="4218431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$20/seat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5126735"/>
            <a:ext cx="33316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Enterprise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3339579" y="5126735"/>
            <a:ext cx="30624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Unlimited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6126448" y="5126735"/>
            <a:ext cx="2563177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Custom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Metric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Performance vs Last Year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072CE"/>
                </a:solidFill>
                <a:latin typeface="Arial"/>
              </a:rPr>
              <a:t>$8.4M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26440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Annual recurring revenue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522569" y="4666488"/>
            <a:ext cx="1445581" cy="51815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260802" y="4666488"/>
            <a:ext cx="1969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+24%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30784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072CE"/>
                </a:solidFill>
                <a:latin typeface="Arial"/>
              </a:rPr>
              <a:t>2.1%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3264408"/>
            <a:ext cx="4522132" cy="1127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Monthly churn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5175547" y="4666488"/>
            <a:ext cx="1840906" cy="51815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795183" y="4666488"/>
            <a:ext cx="260163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-0.8 pts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15848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072CE"/>
                </a:solidFill>
                <a:latin typeface="Arial"/>
              </a:rPr>
              <a:t>63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326440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Net promoter score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9427731" y="4666488"/>
            <a:ext cx="1037817" cy="51815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288294" y="4666488"/>
            <a:ext cx="131669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+11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rocess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Onboarding Flow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414016"/>
            <a:ext cx="27156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Sign up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Create an account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02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345180" y="2414016"/>
            <a:ext cx="29464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Connect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Link your data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03</a:t>
            </a:r>
          </a:p>
        </p:txBody>
      </p:sp>
      <p:sp>
        <p:nvSpPr>
          <p:cNvPr id="15" name="Rectangle 14"/>
          <p:cNvSpPr/>
          <p:nvPr>
            <p:ph type="body" idx="13"/>
          </p:nvPr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6233160" y="2414016"/>
            <a:ext cx="344499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Configure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Pick your metrics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04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9121140" y="2414016"/>
            <a:ext cx="26394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Launch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Go live in minutes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Roadma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2026 Plan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Ship API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279647"/>
            <a:ext cx="3831928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Beta launch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0784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Mobile app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307840" y="3279647"/>
            <a:ext cx="3793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Integrations</a:t>
            </a:r>
          </a:p>
        </p:txBody>
      </p:sp>
      <p:sp>
        <p:nvSpPr>
          <p:cNvPr id="14" name="Rectangle 13"/>
          <p:cNvSpPr/>
          <p:nvPr>
            <p:ph type="body" idx="9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Q3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158480" y="2395727"/>
            <a:ext cx="40335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Enterprise tier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8158480" y="327964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SSO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un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Sales Pipeline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Visitors · 50,000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Signups · 8,000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Trials · 2,400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3558540" y="4901184"/>
            <a:ext cx="5074919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558540" y="4901184"/>
            <a:ext cx="5558452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Customers · 600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ested Circ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Job Search Funnel (2021)</a:t>
            </a:r>
          </a:p>
        </p:txBody>
      </p:sp>
      <p:sp>
        <p:nvSpPr>
          <p:cNvPr id="6" name="Oval 5"/>
          <p:cNvSpPr/>
          <p:nvPr>
            <p:ph type="body" idx="1"/>
          </p:nvPr>
        </p:nvSpPr>
        <p:spPr>
          <a:xfrm>
            <a:off x="3645408" y="1499616"/>
            <a:ext cx="4901184" cy="4901184"/>
          </a:xfrm>
          <a:prstGeom prst="ellipse">
            <a:avLst/>
          </a:prstGeom>
          <a:solidFill>
            <a:srgbClr val="5B6B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>
            <p:ph type="body" idx="2"/>
          </p:nvPr>
        </p:nvSpPr>
        <p:spPr>
          <a:xfrm>
            <a:off x="4462272" y="3133344"/>
            <a:ext cx="3267456" cy="3267456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>
            <p:ph type="body" idx="3"/>
          </p:nvPr>
        </p:nvSpPr>
        <p:spPr>
          <a:xfrm>
            <a:off x="5279136" y="4767072"/>
            <a:ext cx="1633728" cy="1633728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7329" y="1645920"/>
            <a:ext cx="3037342" cy="762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5000" b="1" i="0">
                <a:solidFill>
                  <a:srgbClr val="FFFFFF"/>
                </a:solidFill>
                <a:latin typeface="Arial"/>
              </a:rPr>
              <a:t>&gt;700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594080" y="2316480"/>
            <a:ext cx="5003840" cy="6705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  <a:latin typeface="Arial"/>
              </a:rPr>
              <a:t>Applications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840583" y="3401568"/>
            <a:ext cx="251083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58104" y="3950208"/>
            <a:ext cx="3475792" cy="548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5296524" y="5157216"/>
            <a:ext cx="159895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1.5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5235159" y="5583935"/>
            <a:ext cx="1721682" cy="4267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Arial"/>
              </a:rPr>
              <a:t>Offers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yram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Hierarchy of Needs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Vision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Strategy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Goals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Tactics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WO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SWOT Analysis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Strengths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 strong brand with loyal users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5B6B82"/>
                </a:solidFill>
                <a:latin typeface="Arial"/>
              </a:rPr>
              <a:t>Weaknesses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5B6B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Thin margins and a small team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Opportunities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57200" y="4443983"/>
            <a:ext cx="1650492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45720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New markets through partnerships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5B6B82"/>
                </a:solidFill>
                <a:latin typeface="Arial"/>
              </a:rPr>
              <a:t>Threats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6233160" y="4443983"/>
            <a:ext cx="1650492" cy="54864"/>
          </a:xfrm>
          <a:prstGeom prst="rect">
            <a:avLst/>
          </a:prstGeom>
          <a:solidFill>
            <a:srgbClr val="5B6B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New entrants driving price pressure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Matrix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Evaluation Matrix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3280182" y="1499616"/>
            <a:ext cx="365043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A2240"/>
                </a:solidFill>
                <a:latin typeface="Arial"/>
              </a:rPr>
              <a:t>Platform A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5973987" y="1499616"/>
            <a:ext cx="367607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A2240"/>
                </a:solidFill>
                <a:latin typeface="Arial"/>
              </a:rPr>
              <a:t>Platform B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845296" y="1499616"/>
            <a:ext cx="33467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A2240"/>
                </a:solidFill>
                <a:latin typeface="Arial"/>
              </a:rPr>
              <a:t>Platform C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Security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4245247" y="2401823"/>
            <a:ext cx="1720305" cy="51815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01063" y="2401823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491979" y="2401823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Medium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9302496" y="2401823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Strong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3612895"/>
            <a:ext cx="327902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Workflow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3785355" y="3612895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Medium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595872" y="3612895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Strong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98603" y="3612895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Medium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4823967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Support</a:t>
            </a:r>
          </a:p>
        </p:txBody>
      </p:sp>
      <p:sp>
        <p:nvSpPr>
          <p:cNvPr id="20" name="Rectangle 19"/>
          <p:cNvSpPr/>
          <p:nvPr>
            <p:ph type="body" idx="18"/>
          </p:nvPr>
        </p:nvSpPr>
        <p:spPr>
          <a:xfrm>
            <a:off x="4245247" y="4823967"/>
            <a:ext cx="1720305" cy="51815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3901063" y="4823967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22" name="TextBox 21"/>
          <p:cNvSpPr/>
          <p:nvPr>
            <p:ph type="body" idx="20"/>
          </p:nvPr>
        </p:nvSpPr>
        <p:spPr>
          <a:xfrm>
            <a:off x="6595872" y="4823967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Strong</a:t>
            </a:r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9198603" y="4823967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Medium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Relationship Id="rId38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38.xml"/><Relationship Id="rId40" Type="http://schemas.openxmlformats.org/officeDocument/2006/relationships/slideLayout" Target="../slideLayouts/slideLayout39.xml"/><Relationship Id="rId41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739" r:id="rId40"/>
    <p:sldLayoutId id="2147483740" r:id="rId41"/>
    <p:sldLayoutId id="2147483741" r:id="rId4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75560"/>
            <a:ext cx="1036320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The .env 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6428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Keeping secrets out of your repository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0"/>
            <a:ext cx="128016" cy="100584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92608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A2240"/>
                </a:solidFill>
                <a:latin typeface="Arial"/>
              </a:rPr>
              <a:t>Where do your keys live?</a:t>
            </a:r>
          </a:p>
        </p:txBody>
      </p:sp>
      <p:sp>
        <p:nvSpPr>
          <p:cNvPr id="4" name="TextBox 3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.env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Local settings your code reads and git ignores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Goes in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411027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Setting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16116" y="1499616"/>
            <a:ext cx="514824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Example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980715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411027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An API key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16116" y="2401823"/>
            <a:ext cx="514824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sk-live-4f9c2a...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5214361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 database URL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16116" y="3310127"/>
            <a:ext cx="707588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postgres://user:pw@host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4868921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 signing token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6116" y="4218431"/>
            <a:ext cx="6519545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 long random string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6174105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 per-machine path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116" y="5126735"/>
            <a:ext cx="514824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/Users/you/data</a:t>
            </a:r>
          </a:p>
        </p:txBody>
      </p:sp>
      <p:sp>
        <p:nvSpPr>
          <p:cNvPr id="14" name="TextBox 13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373444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Ignore It Before You Write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Add .env to .gitignore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Then create the 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Never the other way 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One slip and it is in history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565136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Commit an Example Instead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 file named .env.example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Every key name, no values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Committed on purpose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So a teammate knows what to set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On GitHub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The .env file never goes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Actions read repository secrets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8014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Per-environment secrets for deploys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Never print one into the log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If It Is Already Pushed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Rotate the key first, right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Deleting the file is not enough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Your history still holds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Assume it was already read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Where Each Value Lives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32217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27637" y="1499616"/>
            <a:ext cx="53266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How it is stored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8490461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365313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Your laptop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27637" y="2401823"/>
            <a:ext cx="5867121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 .env file, ignored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4369315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 pull request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27637" y="3310127"/>
            <a:ext cx="472002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Nothing at 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47525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GitHub 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7637" y="4218431"/>
            <a:ext cx="5903892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Repository secrets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3485812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Production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27637" y="5126735"/>
            <a:ext cx="7149702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The host's secret store</a:t>
            </a:r>
          </a:p>
        </p:txBody>
      </p:sp>
      <p:sp>
        <p:nvSpPr>
          <p:cNvPr id="14" name="TextBox 13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9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Before You Push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Is .env in .gitignore?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Does git status show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Is .env.example up to date?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Would you show this diff to anyone?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10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