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about the .env file: what belongs in one, and how to stop it reaching GitHub.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answer is anywhere inside a file you commit, they are not yours any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.env file holds the settings your code reads at startup, and it is the one file in your project that git must never see.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kinds of thing belong there: API keys, database URLs, signing tokens, and anything whose value differs from one machine to the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Put .env into .gitignore before you create it, not after. Do it the other way round and a single careless commit puts the file into your history for good.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Commit a .env.example alongside it: every key name with the values left blank. That is how a teammate cloning your repo knows what they need to set without you sending anything private.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GitHub the file itself never goes up. Actions read values from repository secrets, deploys can use per-environment secrets, and nothing should ever print a secret into a build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a .env is already pushed, rotate the key before anything else. Deleting the file does not remove it from your history, and a key that has been public should be treated as one that has already been 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same value lives differently in each place: a .env file on your laptop, nothing whatsoever in a pull request, repository secrets in Actions, and your host's own secret store in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checks before you push: .env is in .gitignore, git status does not show it, the example file is current, and you would be happy for anyone to read the diff.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914400" y="2971800"/>
            <a:ext cx="1127760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Quarterly Business Review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Icon Text Row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What Drives Us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Excellence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2109215"/>
            <a:ext cx="117348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High standards in every deliverable we ship.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3011424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Integrity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621023"/>
            <a:ext cx="1133344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Transparent and honest in all we do.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4523232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Innovation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57200" y="5132831"/>
            <a:ext cx="11734800" cy="62788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Investing in ideas that shape tomorrow.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Stat Call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By the Numbers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77672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127%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3965448"/>
            <a:ext cx="504805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Revenue Target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307840" y="277672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94%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307840" y="3965448"/>
            <a:ext cx="479167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Retention Rate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8158480" y="2776728"/>
            <a:ext cx="40335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48 NPS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8158480" y="3965448"/>
            <a:ext cx="403352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Net Promoter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omparison Column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Side-by-Side Evaluation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5558115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Legacy Platform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Modern Stack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395727"/>
            <a:ext cx="651887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Deploy time: 4 hours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6233160" y="2395727"/>
            <a:ext cx="5903892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Deploy time: 8 min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3517391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Manual scaling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6233160" y="3517391"/>
            <a:ext cx="55016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Auto-scales fast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4639055"/>
            <a:ext cx="6940888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On-premise; high cost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233160" y="4639055"/>
            <a:ext cx="5958840" cy="84734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Cloud-native; low cost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imelin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Key Milestones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072CE"/>
                </a:solidFill>
                <a:latin typeface="Arial"/>
              </a:rPr>
              <a:t>Q1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2154936"/>
            <a:ext cx="394325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Foundation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Cloud platform migration done.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334518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072CE"/>
                </a:solidFill>
                <a:latin typeface="Arial"/>
              </a:rPr>
              <a:t>Q2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3345180" y="2154936"/>
            <a:ext cx="398305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API Launch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34518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REST API live with 99.99% SLA.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623316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072CE"/>
                </a:solidFill>
                <a:latin typeface="Arial"/>
              </a:rPr>
              <a:t>Q3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233160" y="2154936"/>
            <a:ext cx="26136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AI Beta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623316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AI features shipped to 500 partners.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9121140" y="1499616"/>
            <a:ext cx="261366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072CE"/>
                </a:solidFill>
                <a:latin typeface="Arial"/>
              </a:rPr>
              <a:t>Q4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9121140" y="2154936"/>
            <a:ext cx="307086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Scale Out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9121140" y="2947415"/>
            <a:ext cx="2613660" cy="2813305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APAC regions live; global coverage.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Image Half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Built in the Field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6233160" y="1499616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Built with customers.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6233160" y="2383536"/>
            <a:ext cx="5501640" cy="1127760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60% faster; 50% fewer tickets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Section Divi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1783080"/>
            <a:ext cx="128016" cy="201168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178308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996696" y="3063240"/>
            <a:ext cx="107381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Where We Stand Today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What We Will Cover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457200" y="1280160"/>
            <a:ext cx="11277600" cy="64008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161848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1371600" y="161848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Performance against targets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250179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1371600" y="250179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Customer and market signals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57200" y="338510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1371600" y="338510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Operational health and risks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57200" y="426841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04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1371600" y="426841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Roadmap for next quarter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457200" y="5151728"/>
            <a:ext cx="95134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05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1371600" y="5151728"/>
            <a:ext cx="103632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Decisions we need today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Big Numb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body" idx="1"/>
          </p:nvPr>
        </p:nvSpPr>
        <p:spPr>
          <a:xfrm>
            <a:off x="457200" y="2025396"/>
            <a:ext cx="11277600" cy="16916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10500" b="1" i="0">
                <a:solidFill>
                  <a:srgbClr val="0072CE"/>
                </a:solidFill>
                <a:latin typeface="Arial"/>
              </a:rPr>
              <a:t>3.2M</a:t>
            </a:r>
          </a:p>
        </p:txBody>
      </p:sp>
      <p:sp>
        <p:nvSpPr>
          <p:cNvPr id="6" name="Rectangle 5"/>
          <p:cNvSpPr/>
          <p:nvPr>
            <p:ph type="body" idx="2"/>
          </p:nvPr>
        </p:nvSpPr>
        <p:spPr>
          <a:xfrm>
            <a:off x="5547360" y="3771900"/>
            <a:ext cx="1097280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457200" y="4101084"/>
            <a:ext cx="11277600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0" i="0">
                <a:solidFill>
                  <a:srgbClr val="0A2240"/>
                </a:solidFill>
                <a:latin typeface="Arial"/>
              </a:rPr>
              <a:t>Active customers worldwide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Pull Quo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2621280"/>
            <a:ext cx="128016" cy="161544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2621280"/>
            <a:ext cx="11195304" cy="7315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A2240"/>
                </a:solidFill>
                <a:latin typeface="Arial"/>
              </a:rPr>
              <a:t>"We buy outcomes, not tools."</a:t>
            </a:r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996696" y="362712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- VP of Engineering, enterprise customer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Defini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2484120"/>
            <a:ext cx="128016" cy="188976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2484120"/>
            <a:ext cx="111953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Net Revenue Retention</a:t>
            </a:r>
          </a:p>
        </p:txBody>
      </p:sp>
      <p:sp>
        <p:nvSpPr>
          <p:cNvPr id="7" name="TextBox 6"/>
          <p:cNvSpPr/>
          <p:nvPr>
            <p:ph type="body" idx="3"/>
          </p:nvPr>
        </p:nvSpPr>
        <p:spPr>
          <a:xfrm>
            <a:off x="996696" y="376428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Revenue kept from existing customers.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Ques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2926080"/>
            <a:ext cx="128016" cy="100584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/>
          <p:nvPr>
            <p:ph type="body" idx="2"/>
          </p:nvPr>
        </p:nvSpPr>
        <p:spPr>
          <a:xfrm>
            <a:off x="996696" y="2926080"/>
            <a:ext cx="111953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A2240"/>
                </a:solidFill>
                <a:latin typeface="Arial"/>
              </a:rPr>
              <a:t>What if we trusted users?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Bullet Lis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46804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What Changed This Quarter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39572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Activation time dropped by half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337108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Support tickets fell sharply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4346447"/>
            <a:ext cx="117348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Expansion revenue outpaced new sales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ode Block">
    <p:bg>
      <p:bgPr>
        <a:solidFill>
          <a:srgbClr val="0C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/>
          <p:cNvSpPr/>
          <p:nvPr>
            <p:ph type="body" idx="1"/>
          </p:nvPr>
        </p:nvSpPr>
        <p:spPr>
          <a:xfrm>
            <a:off x="457200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>
            <p:ph type="body" idx="2"/>
          </p:nvPr>
        </p:nvSpPr>
        <p:spPr>
          <a:xfrm>
            <a:off x="713232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ph type="body" idx="3"/>
          </p:nvPr>
        </p:nvSpPr>
        <p:spPr>
          <a:xfrm>
            <a:off x="969264" y="457200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4"/>
          </p:nvPr>
        </p:nvSpPr>
        <p:spPr>
          <a:xfrm>
            <a:off x="457200" y="923544"/>
            <a:ext cx="1127760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0" i="0">
                <a:solidFill>
                  <a:srgbClr val="FFFFFF"/>
                </a:solidFill>
                <a:latin typeface="Arial"/>
              </a:rPr>
              <a:t>hello.py</a:t>
            </a:r>
          </a:p>
        </p:txBody>
      </p:sp>
      <p:sp>
        <p:nvSpPr>
          <p:cNvPr id="9" name="TextBox 8"/>
          <p:cNvSpPr/>
          <p:nvPr>
            <p:ph type="body" idx="5"/>
          </p:nvPr>
        </p:nvSpPr>
        <p:spPr>
          <a:xfrm>
            <a:off x="457200" y="1837944"/>
            <a:ext cx="785137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# The classic, end to end</a:t>
            </a:r>
          </a:p>
        </p:txBody>
      </p:sp>
      <p:sp>
        <p:nvSpPr>
          <p:cNvPr id="10" name="TextBox 9"/>
          <p:cNvSpPr/>
          <p:nvPr>
            <p:ph type="body" idx="6"/>
          </p:nvPr>
        </p:nvSpPr>
        <p:spPr>
          <a:xfrm>
            <a:off x="457200" y="2356103"/>
            <a:ext cx="114329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def</a:t>
            </a:r>
          </a:p>
        </p:txBody>
      </p:sp>
      <p:sp>
        <p:nvSpPr>
          <p:cNvPr id="11" name="TextBox 10"/>
          <p:cNvSpPr/>
          <p:nvPr>
            <p:ph type="body" idx="7"/>
          </p:nvPr>
        </p:nvSpPr>
        <p:spPr>
          <a:xfrm>
            <a:off x="1057461" y="2356103"/>
            <a:ext cx="252438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main():</a:t>
            </a:r>
          </a:p>
        </p:txBody>
      </p:sp>
      <p:sp>
        <p:nvSpPr>
          <p:cNvPr id="12" name="TextBox 11"/>
          <p:cNvSpPr/>
          <p:nvPr>
            <p:ph type="body" idx="8"/>
          </p:nvPr>
        </p:nvSpPr>
        <p:spPr>
          <a:xfrm>
            <a:off x="457200" y="2874262"/>
            <a:ext cx="704647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   print("Hello, world!")</a:t>
            </a:r>
          </a:p>
        </p:txBody>
      </p:sp>
      <p:sp>
        <p:nvSpPr>
          <p:cNvPr id="13" name="TextBox 12"/>
          <p:cNvSpPr/>
          <p:nvPr>
            <p:ph type="body" idx="9"/>
          </p:nvPr>
        </p:nvSpPr>
        <p:spPr>
          <a:xfrm>
            <a:off x="457200" y="3910580"/>
            <a:ext cx="214048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main()</a:t>
            </a:r>
          </a:p>
        </p:txBody>
      </p:sp>
      <p:sp>
        <p:nvSpPr>
          <p:cNvPr id="14" name="TextBox 13"/>
          <p:cNvSpPr/>
          <p:nvPr>
            <p:ph type="body" idx="13"/>
          </p:nvPr>
        </p:nvSpPr>
        <p:spPr>
          <a:xfrm>
            <a:off x="457200" y="4946898"/>
            <a:ext cx="56711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569CD6"/>
                </a:solidFill>
                <a:latin typeface="Arial"/>
              </a:rPr>
              <a:t>$</a:t>
            </a:r>
          </a:p>
        </p:txBody>
      </p:sp>
      <p:sp>
        <p:nvSpPr>
          <p:cNvPr id="15" name="TextBox 14"/>
          <p:cNvSpPr/>
          <p:nvPr>
            <p:ph type="body" idx="14"/>
          </p:nvPr>
        </p:nvSpPr>
        <p:spPr>
          <a:xfrm>
            <a:off x="697347" y="4946898"/>
            <a:ext cx="502241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 python hello.py</a:t>
            </a:r>
          </a:p>
        </p:txBody>
      </p:sp>
      <p:sp>
        <p:nvSpPr>
          <p:cNvPr id="16" name="TextBox 15"/>
          <p:cNvSpPr/>
          <p:nvPr>
            <p:ph type="body" idx="15"/>
          </p:nvPr>
        </p:nvSpPr>
        <p:spPr>
          <a:xfrm>
            <a:off x="457200" y="5465057"/>
            <a:ext cx="3984068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Arial"/>
              </a:rPr>
              <a:t>Hello, world!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File Tre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Final folder shape</a:t>
            </a:r>
          </a:p>
        </p:txBody>
      </p:sp>
      <p:sp>
        <p:nvSpPr>
          <p:cNvPr id="6" name="Rounded Rectangle 5"/>
          <p:cNvSpPr/>
          <p:nvPr>
            <p:ph type="body" idx="1"/>
          </p:nvPr>
        </p:nvSpPr>
        <p:spPr>
          <a:xfrm>
            <a:off x="457200" y="1499616"/>
            <a:ext cx="11277600" cy="4261104"/>
          </a:xfrm>
          <a:prstGeom prst="roundRect">
            <a:avLst>
              <a:gd name="adj" fmla="val 3004"/>
            </a:avLst>
          </a:prstGeom>
          <a:solidFill>
            <a:srgbClr val="0A22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822960" y="1819656"/>
            <a:ext cx="6206708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1" i="0">
                <a:solidFill>
                  <a:srgbClr val="0072CE"/>
                </a:solidFill>
                <a:latin typeface="Courier New"/>
              </a:rPr>
              <a:t>simple-eda-project/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822960" y="221589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0072CE"/>
                </a:solidFill>
                <a:latin typeface="Courier New"/>
              </a:rPr>
              <a:t>├─ 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1417417" y="2215896"/>
            <a:ext cx="1451054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1" i="0">
                <a:solidFill>
                  <a:srgbClr val="0072CE"/>
                </a:solidFill>
                <a:latin typeface="Courier New"/>
              </a:rPr>
              <a:t>src/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822960" y="2612136"/>
            <a:ext cx="2085140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0072CE"/>
                </a:solidFill>
                <a:latin typeface="Courier New"/>
              </a:rPr>
              <a:t>│  └─ 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2011873" y="2612136"/>
            <a:ext cx="3670360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1" i="0">
                <a:solidFill>
                  <a:srgbClr val="0072CE"/>
                </a:solidFill>
                <a:latin typeface="Courier New"/>
              </a:rPr>
              <a:t>simple_eda/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822960" y="3008376"/>
            <a:ext cx="3036272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0072CE"/>
                </a:solidFill>
                <a:latin typeface="Courier New"/>
              </a:rPr>
              <a:t>│     ├─ 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2606330" y="3008376"/>
            <a:ext cx="3670360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__init__.py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822960" y="3404616"/>
            <a:ext cx="3036272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0072CE"/>
                </a:solidFill>
                <a:latin typeface="Courier New"/>
              </a:rPr>
              <a:t>│     └─ 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2606330" y="3404616"/>
            <a:ext cx="2402185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core.py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822960" y="380085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0072CE"/>
                </a:solidFill>
                <a:latin typeface="Courier New"/>
              </a:rPr>
              <a:t>├─ 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1417417" y="3800856"/>
            <a:ext cx="3036272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README.md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822960" y="419709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0072CE"/>
                </a:solidFill>
                <a:latin typeface="Courier New"/>
              </a:rPr>
              <a:t>├─ </a:t>
            </a:r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1417417" y="4197096"/>
            <a:ext cx="4621489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pyproject.toml</a:t>
            </a:r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822960" y="4593336"/>
            <a:ext cx="1134011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0072CE"/>
                </a:solidFill>
                <a:latin typeface="Courier New"/>
              </a:rPr>
              <a:t>└─ 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1417417" y="4593336"/>
            <a:ext cx="2402185" cy="3962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ourier New"/>
              </a:rPr>
              <a:t>LICENSE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Numbered Step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Three Steps to Onboard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1461983" y="1499616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Connect your data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1461983" y="2185416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Link a source in minutes with a guided wizard.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011424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1461983" y="3011424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Pick a template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1461983" y="3697224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Start from a proven layout, then tailor it.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4523232"/>
            <a:ext cx="113216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03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1461983" y="4523232"/>
            <a:ext cx="10272817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Share the result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1461983" y="5209032"/>
            <a:ext cx="10730017" cy="551688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Publish to your team and gather feedback fast.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wo Panel Lis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Onboarding, Reworked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Before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457200" y="2176271"/>
            <a:ext cx="1367718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After</a:t>
            </a:r>
          </a:p>
        </p:txBody>
      </p:sp>
      <p:sp>
        <p:nvSpPr>
          <p:cNvPr id="9" name="Rectangle 8"/>
          <p:cNvSpPr/>
          <p:nvPr>
            <p:ph type="body" idx="4"/>
          </p:nvPr>
        </p:nvSpPr>
        <p:spPr>
          <a:xfrm>
            <a:off x="6233160" y="2176271"/>
            <a:ext cx="1007604" cy="54864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2395727"/>
            <a:ext cx="694257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Manual account setup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57200" y="3608831"/>
            <a:ext cx="7594321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Three-day approval wait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4821935"/>
            <a:ext cx="590423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Email-only support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233160" y="2395727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One-click provisioning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6233160" y="3608831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Same-day approval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6233160" y="4821935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In-product live chat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his vs Tha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Cloud or On-Prem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776728"/>
            <a:ext cx="479298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0A2240"/>
                </a:solidFill>
                <a:latin typeface="Arial"/>
              </a:rPr>
              <a:t>3 wks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0" y="3965448"/>
            <a:ext cx="57073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Cloud time-to-launch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6941820" y="2776728"/>
            <a:ext cx="479298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0A2240"/>
                </a:solidFill>
                <a:latin typeface="Arial"/>
              </a:rPr>
              <a:t>6 mo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6484620" y="3965448"/>
            <a:ext cx="570738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On-prem time-to-launch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5435323" y="3310127"/>
            <a:ext cx="132135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A2240"/>
                </a:solidFill>
                <a:latin typeface="Arial"/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Key Metrics This Quarter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072CE"/>
                </a:solidFill>
                <a:latin typeface="Arial"/>
              </a:rPr>
              <a:t>98.7%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1708912" y="2484120"/>
            <a:ext cx="1072896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593848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Uptime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30784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072CE"/>
                </a:solidFill>
                <a:latin typeface="Arial"/>
              </a:rPr>
              <a:t>1,240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5559552" y="2484120"/>
            <a:ext cx="1072896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834934" y="2593848"/>
            <a:ext cx="452213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New accounts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8158480" y="1789176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072CE"/>
                </a:solidFill>
                <a:latin typeface="Arial"/>
              </a:rPr>
              <a:t>4.6/5</a:t>
            </a:r>
          </a:p>
        </p:txBody>
      </p:sp>
      <p:sp>
        <p:nvSpPr>
          <p:cNvPr id="13" name="Rectangle 12"/>
          <p:cNvSpPr/>
          <p:nvPr>
            <p:ph type="body" idx="8"/>
          </p:nvPr>
        </p:nvSpPr>
        <p:spPr>
          <a:xfrm>
            <a:off x="9410192" y="2484120"/>
            <a:ext cx="1072896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7701280" y="2593848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Support rating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457200" y="4056888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072CE"/>
                </a:solidFill>
                <a:latin typeface="Arial"/>
              </a:rPr>
              <a:t>$2.1M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1708912" y="4751832"/>
            <a:ext cx="1072896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0" y="4861560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Net new revenue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4307840" y="4056888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072CE"/>
                </a:solidFill>
                <a:latin typeface="Arial"/>
              </a:rPr>
              <a:t>12 days</a:t>
            </a:r>
          </a:p>
        </p:txBody>
      </p:sp>
      <p:sp>
        <p:nvSpPr>
          <p:cNvPr id="19" name="Rectangle 18"/>
          <p:cNvSpPr/>
          <p:nvPr>
            <p:ph type="body" idx="17"/>
          </p:nvPr>
        </p:nvSpPr>
        <p:spPr>
          <a:xfrm>
            <a:off x="5559552" y="4751832"/>
            <a:ext cx="1072896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3943896" y="4861560"/>
            <a:ext cx="4304208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Time to value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8158480" y="4056888"/>
            <a:ext cx="357632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0072CE"/>
                </a:solidFill>
                <a:latin typeface="Arial"/>
              </a:rPr>
              <a:t>31%</a:t>
            </a:r>
          </a:p>
        </p:txBody>
      </p:sp>
      <p:sp>
        <p:nvSpPr>
          <p:cNvPr id="22" name="Rectangle 21"/>
          <p:cNvSpPr/>
          <p:nvPr>
            <p:ph type="body" idx="20"/>
          </p:nvPr>
        </p:nvSpPr>
        <p:spPr>
          <a:xfrm>
            <a:off x="9410192" y="4751832"/>
            <a:ext cx="1072896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/>
          <p:nvPr>
            <p:ph type="body" idx="21"/>
          </p:nvPr>
        </p:nvSpPr>
        <p:spPr>
          <a:xfrm>
            <a:off x="7701280" y="4861560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Expansion rate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hart With Ins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Monthly Active Teams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3680394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072CE"/>
                </a:solidFill>
                <a:latin typeface="Arial"/>
              </a:rPr>
              <a:t>120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680085" y="4335714"/>
            <a:ext cx="1040129" cy="769686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0A2240"/>
                </a:solidFill>
                <a:latin typeface="Arial"/>
              </a:rPr>
              <a:t>Jan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2217420" y="3295551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072CE"/>
                </a:solidFill>
                <a:latin typeface="Arial"/>
              </a:rPr>
              <a:t>180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2440305" y="3950871"/>
            <a:ext cx="1040129" cy="1154529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221742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0A2240"/>
                </a:solidFill>
                <a:latin typeface="Arial"/>
              </a:rPr>
              <a:t>Feb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3977640" y="2590005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072CE"/>
                </a:solidFill>
                <a:latin typeface="Arial"/>
              </a:rPr>
              <a:t>290</a:t>
            </a:r>
          </a:p>
        </p:txBody>
      </p:sp>
      <p:sp>
        <p:nvSpPr>
          <p:cNvPr id="13" name="Rectangle 12"/>
          <p:cNvSpPr/>
          <p:nvPr>
            <p:ph type="body" idx="8"/>
          </p:nvPr>
        </p:nvSpPr>
        <p:spPr>
          <a:xfrm>
            <a:off x="4200525" y="3245325"/>
            <a:ext cx="1040129" cy="186007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397764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0A2240"/>
                </a:solidFill>
                <a:latin typeface="Arial"/>
              </a:rPr>
              <a:t>Mar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5737860" y="1499616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1" i="0">
                <a:solidFill>
                  <a:srgbClr val="0072CE"/>
                </a:solidFill>
                <a:latin typeface="Arial"/>
              </a:rPr>
              <a:t>460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5960745" y="2154936"/>
            <a:ext cx="1040129" cy="29504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5737860" y="5379720"/>
            <a:ext cx="1485900" cy="381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2500" b="0" i="0">
                <a:solidFill>
                  <a:srgbClr val="0A2240"/>
                </a:solidFill>
                <a:latin typeface="Arial"/>
              </a:rPr>
              <a:t>Apr</a:t>
            </a:r>
          </a:p>
        </p:txBody>
      </p:sp>
      <p:sp>
        <p:nvSpPr>
          <p:cNvPr id="18" name="Rectangle 17"/>
          <p:cNvSpPr/>
          <p:nvPr>
            <p:ph type="body" idx="16"/>
          </p:nvPr>
        </p:nvSpPr>
        <p:spPr>
          <a:xfrm>
            <a:off x="7498080" y="3325368"/>
            <a:ext cx="128016" cy="6096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8037576" y="3325368"/>
            <a:ext cx="415442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Activations 4x.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Pricing Tiers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233373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Plan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3339579" y="1499616"/>
            <a:ext cx="223822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Seats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6126448" y="1499616"/>
            <a:ext cx="2022329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Price</a:t>
            </a:r>
          </a:p>
        </p:txBody>
      </p:sp>
      <p:sp>
        <p:nvSpPr>
          <p:cNvPr id="9" name="Rectangle 8"/>
          <p:cNvSpPr/>
          <p:nvPr>
            <p:ph type="body" idx="4"/>
          </p:nvPr>
        </p:nvSpPr>
        <p:spPr>
          <a:xfrm>
            <a:off x="457200" y="2072639"/>
            <a:ext cx="7691577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2401823"/>
            <a:ext cx="233373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Starter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339579" y="2401823"/>
            <a:ext cx="241036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Up to 5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6126448" y="2401823"/>
            <a:ext cx="202232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$0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57200" y="3310127"/>
            <a:ext cx="233373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Team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3339579" y="3310127"/>
            <a:ext cx="2794595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Up to 50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6126448" y="3310127"/>
            <a:ext cx="283339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$12/seat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457200" y="4218431"/>
            <a:ext cx="298620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Business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3339579" y="4218431"/>
            <a:ext cx="317883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Up to 250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6126448" y="4218431"/>
            <a:ext cx="283339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$20/seat</a:t>
            </a:r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457200" y="5126735"/>
            <a:ext cx="333164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Enterprise</a:t>
            </a:r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3339579" y="5126735"/>
            <a:ext cx="306244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Unlimited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6126448" y="5126735"/>
            <a:ext cx="2563177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Custom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Metric 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Performance vs Last Year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233476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0072CE"/>
                </a:solidFill>
                <a:latin typeface="Arial"/>
              </a:rPr>
              <a:t>$8.4M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3523488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Revenue</a:t>
            </a:r>
          </a:p>
        </p:txBody>
      </p:sp>
      <p:sp>
        <p:nvSpPr>
          <p:cNvPr id="8" name="Rectangle 7"/>
          <p:cNvSpPr/>
          <p:nvPr>
            <p:ph type="body" idx="3"/>
          </p:nvPr>
        </p:nvSpPr>
        <p:spPr>
          <a:xfrm>
            <a:off x="1522569" y="4407408"/>
            <a:ext cx="1445581" cy="518159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1260802" y="4407408"/>
            <a:ext cx="1969115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+24%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307840" y="233476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0072CE"/>
                </a:solidFill>
                <a:latin typeface="Arial"/>
              </a:rPr>
              <a:t>2.1%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3834934" y="3523488"/>
            <a:ext cx="452213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Monthly churn</a:t>
            </a:r>
          </a:p>
        </p:txBody>
      </p:sp>
      <p:sp>
        <p:nvSpPr>
          <p:cNvPr id="12" name="Rectangle 11"/>
          <p:cNvSpPr/>
          <p:nvPr>
            <p:ph type="body" idx="7"/>
          </p:nvPr>
        </p:nvSpPr>
        <p:spPr>
          <a:xfrm>
            <a:off x="5175547" y="4407408"/>
            <a:ext cx="1840906" cy="518159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795183" y="4407408"/>
            <a:ext cx="260163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-0.8 pts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8158480" y="2334768"/>
            <a:ext cx="357632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6000" b="1" i="0">
                <a:solidFill>
                  <a:srgbClr val="0072CE"/>
                </a:solidFill>
                <a:latin typeface="Arial"/>
              </a:rPr>
              <a:t>63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7701280" y="3523488"/>
            <a:ext cx="44907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Promoter score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9427731" y="4407408"/>
            <a:ext cx="1037817" cy="518159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9288294" y="4407408"/>
            <a:ext cx="1316691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+11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Process Step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Onboarding Flow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457200" y="2194560"/>
            <a:ext cx="593303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414016"/>
            <a:ext cx="271565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Sign up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Create an account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334518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02</a:t>
            </a:r>
          </a:p>
        </p:txBody>
      </p:sp>
      <p:sp>
        <p:nvSpPr>
          <p:cNvPr id="11" name="Rectangle 10"/>
          <p:cNvSpPr/>
          <p:nvPr>
            <p:ph type="body" idx="6"/>
          </p:nvPr>
        </p:nvSpPr>
        <p:spPr>
          <a:xfrm>
            <a:off x="3345180" y="2194560"/>
            <a:ext cx="593303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3345180" y="2414016"/>
            <a:ext cx="29464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Connect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334518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Link your data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623316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03</a:t>
            </a:r>
          </a:p>
        </p:txBody>
      </p:sp>
      <p:sp>
        <p:nvSpPr>
          <p:cNvPr id="15" name="Rectangle 14"/>
          <p:cNvSpPr/>
          <p:nvPr>
            <p:ph type="body" idx="13"/>
          </p:nvPr>
        </p:nvSpPr>
        <p:spPr>
          <a:xfrm>
            <a:off x="6233160" y="2194560"/>
            <a:ext cx="593303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6233160" y="2414016"/>
            <a:ext cx="344499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Configure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623316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Pick your metrics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9121140" y="1499616"/>
            <a:ext cx="2613660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04</a:t>
            </a:r>
          </a:p>
        </p:txBody>
      </p:sp>
      <p:sp>
        <p:nvSpPr>
          <p:cNvPr id="19" name="Rectangle 18"/>
          <p:cNvSpPr/>
          <p:nvPr>
            <p:ph type="body" idx="17"/>
          </p:nvPr>
        </p:nvSpPr>
        <p:spPr>
          <a:xfrm>
            <a:off x="9121140" y="2194560"/>
            <a:ext cx="593303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/>
          <p:nvPr>
            <p:ph type="body" idx="18"/>
          </p:nvPr>
        </p:nvSpPr>
        <p:spPr>
          <a:xfrm>
            <a:off x="9121140" y="2414016"/>
            <a:ext cx="263941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Launch</a:t>
            </a:r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9121140" y="3041903"/>
            <a:ext cx="2613660" cy="2718817"/>
          </a:xfrm>
          <a:prstGeom prst="rect">
            <a:avLst/>
          </a:prstGeom>
          <a:noFill/>
        </p:spPr>
        <p:txBody>
          <a:bodyPr wrap="squar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Go live in minutes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Roadma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2026 Plan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457200" y="1499616"/>
            <a:ext cx="3576320" cy="621791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395727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Ship API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200" y="3279647"/>
            <a:ext cx="3831928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Beta launch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4307840" y="1499616"/>
            <a:ext cx="3576320" cy="621791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30784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307840" y="2395727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Mobile app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307840" y="3279647"/>
            <a:ext cx="3793132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Integrations</a:t>
            </a:r>
          </a:p>
        </p:txBody>
      </p:sp>
      <p:sp>
        <p:nvSpPr>
          <p:cNvPr id="14" name="Rectangle 13"/>
          <p:cNvSpPr/>
          <p:nvPr>
            <p:ph type="body" idx="9"/>
          </p:nvPr>
        </p:nvSpPr>
        <p:spPr>
          <a:xfrm>
            <a:off x="8158480" y="1499616"/>
            <a:ext cx="3576320" cy="621791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8158480" y="1499616"/>
            <a:ext cx="357632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8158480" y="2395727"/>
            <a:ext cx="40335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Enterprise tier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8158480" y="3279647"/>
            <a:ext cx="357632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SSO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Sales Pipeline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457200" y="1499616"/>
            <a:ext cx="11277600" cy="859536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457200" y="1499616"/>
            <a:ext cx="1127760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Visitors · 50,000</a:t>
            </a:r>
          </a:p>
        </p:txBody>
      </p:sp>
      <p:sp>
        <p:nvSpPr>
          <p:cNvPr id="8" name="Rectangle 7"/>
          <p:cNvSpPr/>
          <p:nvPr>
            <p:ph type="body" idx="3"/>
          </p:nvPr>
        </p:nvSpPr>
        <p:spPr>
          <a:xfrm>
            <a:off x="1490980" y="2633472"/>
            <a:ext cx="9210040" cy="859536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1490980" y="2633472"/>
            <a:ext cx="921004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Signups · 8,000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2524760" y="3767328"/>
            <a:ext cx="7142480" cy="859536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2524760" y="3767328"/>
            <a:ext cx="714248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Trials · 2,400</a:t>
            </a:r>
          </a:p>
        </p:txBody>
      </p:sp>
      <p:sp>
        <p:nvSpPr>
          <p:cNvPr id="12" name="Rectangle 11"/>
          <p:cNvSpPr/>
          <p:nvPr>
            <p:ph type="body" idx="7"/>
          </p:nvPr>
        </p:nvSpPr>
        <p:spPr>
          <a:xfrm>
            <a:off x="3558540" y="4901184"/>
            <a:ext cx="5074919" cy="859536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3558540" y="4901184"/>
            <a:ext cx="5558452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Customers · 600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Nested Circl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Job Search Funnel (2021)</a:t>
            </a:r>
          </a:p>
        </p:txBody>
      </p:sp>
      <p:sp>
        <p:nvSpPr>
          <p:cNvPr id="6" name="Oval 5"/>
          <p:cNvSpPr/>
          <p:nvPr>
            <p:ph type="body" idx="1"/>
          </p:nvPr>
        </p:nvSpPr>
        <p:spPr>
          <a:xfrm>
            <a:off x="3645408" y="1499616"/>
            <a:ext cx="4901184" cy="4901184"/>
          </a:xfrm>
          <a:prstGeom prst="ellipse">
            <a:avLst/>
          </a:prstGeom>
          <a:solidFill>
            <a:srgbClr val="0A22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>
            <p:ph type="body" idx="2"/>
          </p:nvPr>
        </p:nvSpPr>
        <p:spPr>
          <a:xfrm>
            <a:off x="4462272" y="3133344"/>
            <a:ext cx="3267456" cy="3267456"/>
          </a:xfrm>
          <a:prstGeom prst="ellipse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>
            <p:ph type="body" idx="3"/>
          </p:nvPr>
        </p:nvSpPr>
        <p:spPr>
          <a:xfrm>
            <a:off x="5279136" y="4767072"/>
            <a:ext cx="1633728" cy="1633728"/>
          </a:xfrm>
          <a:prstGeom prst="ellipse">
            <a:avLst/>
          </a:prstGeom>
          <a:solidFill>
            <a:srgbClr val="0A22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4577329" y="1645920"/>
            <a:ext cx="3037342" cy="7620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  <a:latin typeface="Arial"/>
              </a:rPr>
              <a:t>&gt;700</a:t>
            </a:r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3594080" y="2316480"/>
            <a:ext cx="5003840" cy="6705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400" b="0" i="0">
                <a:solidFill>
                  <a:srgbClr val="FFFFFF"/>
                </a:solidFill>
                <a:latin typeface="Arial"/>
              </a:rPr>
              <a:t>Applications</a:t>
            </a:r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4840583" y="3401568"/>
            <a:ext cx="2510834" cy="64008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358104" y="3950208"/>
            <a:ext cx="3475792" cy="5486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Arial"/>
              </a:rPr>
              <a:t>Interviews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5296524" y="5157216"/>
            <a:ext cx="1598952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1.5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5235159" y="5583935"/>
            <a:ext cx="1721682" cy="42672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Arial"/>
              </a:rPr>
              <a:t>Offers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Hierarchy of Needs</a:t>
            </a:r>
          </a:p>
        </p:txBody>
      </p:sp>
      <p:sp>
        <p:nvSpPr>
          <p:cNvPr id="6" name="Rectangle 5"/>
          <p:cNvSpPr/>
          <p:nvPr>
            <p:ph type="body" idx="1"/>
          </p:nvPr>
        </p:nvSpPr>
        <p:spPr>
          <a:xfrm>
            <a:off x="3840480" y="1499616"/>
            <a:ext cx="4511040" cy="859536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3840480" y="1499616"/>
            <a:ext cx="451104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Vision</a:t>
            </a:r>
          </a:p>
        </p:txBody>
      </p:sp>
      <p:sp>
        <p:nvSpPr>
          <p:cNvPr id="8" name="Rectangle 7"/>
          <p:cNvSpPr/>
          <p:nvPr>
            <p:ph type="body" idx="3"/>
          </p:nvPr>
        </p:nvSpPr>
        <p:spPr>
          <a:xfrm>
            <a:off x="2712720" y="2633472"/>
            <a:ext cx="6766560" cy="859536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2712720" y="2633472"/>
            <a:ext cx="676656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Strategy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1584960" y="3767328"/>
            <a:ext cx="9022080" cy="859536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1584960" y="3767328"/>
            <a:ext cx="902208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Goals</a:t>
            </a:r>
          </a:p>
        </p:txBody>
      </p:sp>
      <p:sp>
        <p:nvSpPr>
          <p:cNvPr id="12" name="Rectangle 11"/>
          <p:cNvSpPr/>
          <p:nvPr>
            <p:ph type="body" idx="7"/>
          </p:nvPr>
        </p:nvSpPr>
        <p:spPr>
          <a:xfrm>
            <a:off x="457200" y="4901184"/>
            <a:ext cx="11277600" cy="859536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457200" y="4901184"/>
            <a:ext cx="11277600" cy="85953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"/>
              </a:rPr>
              <a:t>Tactics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SWO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SWOT Analysis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45720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Strengths</a:t>
            </a:r>
          </a:p>
        </p:txBody>
      </p:sp>
      <p:sp>
        <p:nvSpPr>
          <p:cNvPr id="7" name="Rectangle 6"/>
          <p:cNvSpPr/>
          <p:nvPr>
            <p:ph type="body" idx="2"/>
          </p:nvPr>
        </p:nvSpPr>
        <p:spPr>
          <a:xfrm>
            <a:off x="457200" y="2176271"/>
            <a:ext cx="2015207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457200" y="2395727"/>
            <a:ext cx="7863523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Strong brand, loyal users</a:t>
            </a:r>
          </a:p>
        </p:txBody>
      </p:sp>
      <p:sp>
        <p:nvSpPr>
          <p:cNvPr id="9" name="TextBox 8"/>
          <p:cNvSpPr/>
          <p:nvPr>
            <p:ph type="body" idx="4"/>
          </p:nvPr>
        </p:nvSpPr>
        <p:spPr>
          <a:xfrm>
            <a:off x="6233160" y="1499616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Weaknesses</a:t>
            </a:r>
          </a:p>
        </p:txBody>
      </p:sp>
      <p:sp>
        <p:nvSpPr>
          <p:cNvPr id="10" name="Rectangle 9"/>
          <p:cNvSpPr/>
          <p:nvPr>
            <p:ph type="body" idx="5"/>
          </p:nvPr>
        </p:nvSpPr>
        <p:spPr>
          <a:xfrm>
            <a:off x="6233160" y="2176271"/>
            <a:ext cx="2584686" cy="54864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/>
          <p:nvPr>
            <p:ph type="body" idx="6"/>
          </p:nvPr>
        </p:nvSpPr>
        <p:spPr>
          <a:xfrm>
            <a:off x="6233160" y="2395727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Thin margins, small team</a:t>
            </a:r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457200" y="3767328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Opportunities</a:t>
            </a:r>
          </a:p>
        </p:txBody>
      </p:sp>
      <p:sp>
        <p:nvSpPr>
          <p:cNvPr id="13" name="Rectangle 12"/>
          <p:cNvSpPr/>
          <p:nvPr>
            <p:ph type="body" idx="8"/>
          </p:nvPr>
        </p:nvSpPr>
        <p:spPr>
          <a:xfrm>
            <a:off x="457200" y="4443983"/>
            <a:ext cx="2830525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457200" y="4663439"/>
            <a:ext cx="8015326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New markets via partners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6233160" y="3767328"/>
            <a:ext cx="5501640" cy="621791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Threats</a:t>
            </a:r>
          </a:p>
        </p:txBody>
      </p:sp>
      <p:sp>
        <p:nvSpPr>
          <p:cNvPr id="16" name="Rectangle 15"/>
          <p:cNvSpPr/>
          <p:nvPr>
            <p:ph type="body" idx="14"/>
          </p:nvPr>
        </p:nvSpPr>
        <p:spPr>
          <a:xfrm>
            <a:off x="6233160" y="4443983"/>
            <a:ext cx="1559793" cy="54864"/>
          </a:xfrm>
          <a:prstGeom prst="rect">
            <a:avLst/>
          </a:prstGeom>
          <a:solidFill>
            <a:srgbClr val="0A22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6233160" y="4663439"/>
            <a:ext cx="5958840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New entrants cut prices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kit · Comparison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186160" y="6035040"/>
            <a:ext cx="548640" cy="3657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/>
          <p:cNvSpPr/>
          <p:nvPr>
            <p:ph type="title"/>
          </p:nvPr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Evaluation Matrix</a:t>
            </a:r>
          </a:p>
        </p:txBody>
      </p:sp>
      <p:sp>
        <p:nvSpPr>
          <p:cNvPr id="6" name="TextBox 5"/>
          <p:cNvSpPr/>
          <p:nvPr>
            <p:ph type="body" idx="1"/>
          </p:nvPr>
        </p:nvSpPr>
        <p:spPr>
          <a:xfrm>
            <a:off x="3280182" y="1499616"/>
            <a:ext cx="365043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0A2240"/>
                </a:solidFill>
                <a:latin typeface="Arial"/>
              </a:rPr>
              <a:t>Platform A</a:t>
            </a:r>
          </a:p>
        </p:txBody>
      </p:sp>
      <p:sp>
        <p:nvSpPr>
          <p:cNvPr id="7" name="TextBox 6"/>
          <p:cNvSpPr/>
          <p:nvPr>
            <p:ph type="body" idx="2"/>
          </p:nvPr>
        </p:nvSpPr>
        <p:spPr>
          <a:xfrm>
            <a:off x="5973987" y="1499616"/>
            <a:ext cx="367607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0A2240"/>
                </a:solidFill>
                <a:latin typeface="Arial"/>
              </a:rPr>
              <a:t>Platform B</a:t>
            </a:r>
          </a:p>
        </p:txBody>
      </p:sp>
      <p:sp>
        <p:nvSpPr>
          <p:cNvPr id="8" name="TextBox 7"/>
          <p:cNvSpPr/>
          <p:nvPr>
            <p:ph type="body" idx="3"/>
          </p:nvPr>
        </p:nvSpPr>
        <p:spPr>
          <a:xfrm>
            <a:off x="8845296" y="1499616"/>
            <a:ext cx="3346704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0A2240"/>
                </a:solidFill>
                <a:latin typeface="Arial"/>
              </a:rPr>
              <a:t>Platform C</a:t>
            </a:r>
          </a:p>
        </p:txBody>
      </p:sp>
      <p:sp>
        <p:nvSpPr>
          <p:cNvPr id="9" name="Rectangle 8"/>
          <p:cNvSpPr/>
          <p:nvPr>
            <p:ph type="body" idx="4"/>
          </p:nvPr>
        </p:nvSpPr>
        <p:spPr>
          <a:xfrm>
            <a:off x="457200" y="2072639"/>
            <a:ext cx="11277600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/>
          <p:nvPr>
            <p:ph type="body" idx="5"/>
          </p:nvPr>
        </p:nvSpPr>
        <p:spPr>
          <a:xfrm>
            <a:off x="457200" y="2401823"/>
            <a:ext cx="3157728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Security</a:t>
            </a:r>
          </a:p>
        </p:txBody>
      </p:sp>
      <p:sp>
        <p:nvSpPr>
          <p:cNvPr id="11" name="Rectangle 10"/>
          <p:cNvSpPr/>
          <p:nvPr>
            <p:ph type="body" idx="6"/>
          </p:nvPr>
        </p:nvSpPr>
        <p:spPr>
          <a:xfrm>
            <a:off x="4245247" y="2401823"/>
            <a:ext cx="1720305" cy="518159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/>
          <p:nvPr>
            <p:ph type="body" idx="7"/>
          </p:nvPr>
        </p:nvSpPr>
        <p:spPr>
          <a:xfrm>
            <a:off x="3901063" y="2401823"/>
            <a:ext cx="240867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Strong</a:t>
            </a:r>
          </a:p>
        </p:txBody>
      </p:sp>
      <p:sp>
        <p:nvSpPr>
          <p:cNvPr id="13" name="TextBox 12"/>
          <p:cNvSpPr/>
          <p:nvPr>
            <p:ph type="body" idx="8"/>
          </p:nvPr>
        </p:nvSpPr>
        <p:spPr>
          <a:xfrm>
            <a:off x="6491979" y="2401823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Medium</a:t>
            </a:r>
          </a:p>
        </p:txBody>
      </p:sp>
      <p:sp>
        <p:nvSpPr>
          <p:cNvPr id="14" name="TextBox 13"/>
          <p:cNvSpPr/>
          <p:nvPr>
            <p:ph type="body" idx="9"/>
          </p:nvPr>
        </p:nvSpPr>
        <p:spPr>
          <a:xfrm>
            <a:off x="9302496" y="2401823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Strong</a:t>
            </a:r>
          </a:p>
        </p:txBody>
      </p:sp>
      <p:sp>
        <p:nvSpPr>
          <p:cNvPr id="15" name="TextBox 14"/>
          <p:cNvSpPr/>
          <p:nvPr>
            <p:ph type="body" idx="13"/>
          </p:nvPr>
        </p:nvSpPr>
        <p:spPr>
          <a:xfrm>
            <a:off x="457200" y="3612895"/>
            <a:ext cx="327902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Workflow</a:t>
            </a:r>
          </a:p>
        </p:txBody>
      </p:sp>
      <p:sp>
        <p:nvSpPr>
          <p:cNvPr id="16" name="TextBox 15"/>
          <p:cNvSpPr/>
          <p:nvPr>
            <p:ph type="body" idx="14"/>
          </p:nvPr>
        </p:nvSpPr>
        <p:spPr>
          <a:xfrm>
            <a:off x="3785355" y="3612895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Medium</a:t>
            </a:r>
          </a:p>
        </p:txBody>
      </p:sp>
      <p:sp>
        <p:nvSpPr>
          <p:cNvPr id="17" name="TextBox 16"/>
          <p:cNvSpPr/>
          <p:nvPr>
            <p:ph type="body" idx="15"/>
          </p:nvPr>
        </p:nvSpPr>
        <p:spPr>
          <a:xfrm>
            <a:off x="6595872" y="3612895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Strong</a:t>
            </a:r>
          </a:p>
        </p:txBody>
      </p:sp>
      <p:sp>
        <p:nvSpPr>
          <p:cNvPr id="18" name="TextBox 17"/>
          <p:cNvSpPr/>
          <p:nvPr>
            <p:ph type="body" idx="16"/>
          </p:nvPr>
        </p:nvSpPr>
        <p:spPr>
          <a:xfrm>
            <a:off x="9198603" y="3612895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Medium</a:t>
            </a:r>
          </a:p>
        </p:txBody>
      </p:sp>
      <p:sp>
        <p:nvSpPr>
          <p:cNvPr id="19" name="TextBox 18"/>
          <p:cNvSpPr/>
          <p:nvPr>
            <p:ph type="body" idx="17"/>
          </p:nvPr>
        </p:nvSpPr>
        <p:spPr>
          <a:xfrm>
            <a:off x="457200" y="4823967"/>
            <a:ext cx="3157728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A2240"/>
                </a:solidFill>
                <a:latin typeface="Arial"/>
              </a:rPr>
              <a:t>Support</a:t>
            </a:r>
          </a:p>
        </p:txBody>
      </p:sp>
      <p:sp>
        <p:nvSpPr>
          <p:cNvPr id="20" name="Rectangle 19"/>
          <p:cNvSpPr/>
          <p:nvPr>
            <p:ph type="body" idx="18"/>
          </p:nvPr>
        </p:nvSpPr>
        <p:spPr>
          <a:xfrm>
            <a:off x="4245247" y="4823967"/>
            <a:ext cx="1720305" cy="518159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/>
          <p:nvPr>
            <p:ph type="body" idx="19"/>
          </p:nvPr>
        </p:nvSpPr>
        <p:spPr>
          <a:xfrm>
            <a:off x="3901063" y="4823967"/>
            <a:ext cx="2408673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Arial"/>
              </a:rPr>
              <a:t>Strong</a:t>
            </a:r>
          </a:p>
        </p:txBody>
      </p:sp>
      <p:sp>
        <p:nvSpPr>
          <p:cNvPr id="22" name="TextBox 21"/>
          <p:cNvSpPr/>
          <p:nvPr>
            <p:ph type="body" idx="20"/>
          </p:nvPr>
        </p:nvSpPr>
        <p:spPr>
          <a:xfrm>
            <a:off x="6595872" y="4823967"/>
            <a:ext cx="2432304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Strong</a:t>
            </a:r>
          </a:p>
        </p:txBody>
      </p:sp>
      <p:sp>
        <p:nvSpPr>
          <p:cNvPr id="23" name="TextBox 22"/>
          <p:cNvSpPr/>
          <p:nvPr>
            <p:ph type="body" idx="21"/>
          </p:nvPr>
        </p:nvSpPr>
        <p:spPr>
          <a:xfrm>
            <a:off x="9198603" y="4823967"/>
            <a:ext cx="2640090" cy="936752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ctr"/>
            <a:r>
              <a:rPr sz="3400" b="0" i="0">
                <a:solidFill>
                  <a:srgbClr val="0A2240"/>
                </a:solidFill>
                <a:latin typeface="Arial"/>
              </a:rPr>
              <a:t>Medium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39.xml"/><Relationship Id="rId41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712" r:id="rId13"/>
    <p:sldLayoutId id="2147483713" r:id="rId14"/>
    <p:sldLayoutId id="2147483714" r:id="rId15"/>
    <p:sldLayoutId id="2147483715" r:id="rId16"/>
    <p:sldLayoutId id="2147483716" r:id="rId17"/>
    <p:sldLayoutId id="2147483717" r:id="rId18"/>
    <p:sldLayoutId id="2147483718" r:id="rId19"/>
    <p:sldLayoutId id="2147483719" r:id="rId20"/>
    <p:sldLayoutId id="2147483720" r:id="rId21"/>
    <p:sldLayoutId id="2147483721" r:id="rId22"/>
    <p:sldLayoutId id="2147483722" r:id="rId23"/>
    <p:sldLayoutId id="2147483723" r:id="rId24"/>
    <p:sldLayoutId id="2147483724" r:id="rId25"/>
    <p:sldLayoutId id="2147483725" r:id="rId26"/>
    <p:sldLayoutId id="2147483726" r:id="rId27"/>
    <p:sldLayoutId id="2147483727" r:id="rId28"/>
    <p:sldLayoutId id="2147483728" r:id="rId29"/>
    <p:sldLayoutId id="2147483729" r:id="rId30"/>
    <p:sldLayoutId id="2147483730" r:id="rId31"/>
    <p:sldLayoutId id="2147483731" r:id="rId32"/>
    <p:sldLayoutId id="2147483732" r:id="rId33"/>
    <p:sldLayoutId id="2147483733" r:id="rId34"/>
    <p:sldLayoutId id="2147483734" r:id="rId35"/>
    <p:sldLayoutId id="2147483735" r:id="rId36"/>
    <p:sldLayoutId id="2147483736" r:id="rId37"/>
    <p:sldLayoutId id="2147483737" r:id="rId38"/>
    <p:sldLayoutId id="2147483738" r:id="rId39"/>
    <p:sldLayoutId id="2147483739" r:id="rId40"/>
    <p:sldLayoutId id="2147483740" r:id="rId4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75560"/>
            <a:ext cx="10363200" cy="9144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The .env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64280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Keeping secrets out of your repository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926080"/>
            <a:ext cx="128016" cy="100584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926080"/>
            <a:ext cx="111953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A2240"/>
                </a:solidFill>
                <a:latin typeface="Arial"/>
              </a:rPr>
              <a:t>Where do your keys live?</a:t>
            </a:r>
          </a:p>
        </p:txBody>
      </p:sp>
      <p:sp>
        <p:nvSpPr>
          <p:cNvPr id="4" name="TextBox 3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484120"/>
            <a:ext cx="128016" cy="188976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96696" y="2484120"/>
            <a:ext cx="10738104" cy="100584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6000" b="1" i="0">
                <a:solidFill>
                  <a:srgbClr val="0072CE"/>
                </a:solidFill>
                <a:latin typeface="Arial"/>
              </a:rPr>
              <a:t>.env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" y="3764280"/>
            <a:ext cx="11195304" cy="60960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Local settings your code reads and git ignores</a:t>
            </a:r>
          </a:p>
        </p:txBody>
      </p:sp>
      <p:sp>
        <p:nvSpPr>
          <p:cNvPr id="5" name="TextBox 4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What Goes in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4110276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Setting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16116" y="1499616"/>
            <a:ext cx="514824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Example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72639"/>
            <a:ext cx="9807156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401823"/>
            <a:ext cx="4110276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An API key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16116" y="2401823"/>
            <a:ext cx="514824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sk-live-4f9c2a...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10127"/>
            <a:ext cx="5214361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 database URL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16116" y="3310127"/>
            <a:ext cx="7075884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postgres://user:pw@host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18431"/>
            <a:ext cx="4868921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 signing token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16116" y="4218431"/>
            <a:ext cx="6519545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 long random string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26735"/>
            <a:ext cx="6174105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 per-machine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16116" y="5126735"/>
            <a:ext cx="5148240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/Users/you/data</a:t>
            </a:r>
          </a:p>
        </p:txBody>
      </p:sp>
      <p:sp>
        <p:nvSpPr>
          <p:cNvPr id="14" name="TextBox 13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373444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Ignore It Before You Write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08050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Add .env to .gitignore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8340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Then create the 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5876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Never the other way 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3412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One slip and it is in history</a:t>
            </a:r>
          </a:p>
        </p:txBody>
      </p:sp>
      <p:sp>
        <p:nvSpPr>
          <p:cNvPr id="7" name="TextBox 6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565136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Commit an Example Instead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08050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 file named .env.example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8340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Every key name, no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5876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Committed on purpose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3412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So a teammate knows what to set</a:t>
            </a:r>
          </a:p>
        </p:txBody>
      </p:sp>
      <p:sp>
        <p:nvSpPr>
          <p:cNvPr id="7" name="TextBox 6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On 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08050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The .env file never goes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8340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Actions read repository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58768"/>
            <a:ext cx="1128014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Per-environment secrets for deploys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3412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Never print one into the log</a:t>
            </a:r>
          </a:p>
        </p:txBody>
      </p:sp>
      <p:sp>
        <p:nvSpPr>
          <p:cNvPr id="7" name="TextBox 6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If It Is Already Pushed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08050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Rotate the key first, right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8340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Deleting the file is not enough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5876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Your history still holds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3412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Assume it was already read</a:t>
            </a:r>
          </a:p>
        </p:txBody>
      </p:sp>
      <p:sp>
        <p:nvSpPr>
          <p:cNvPr id="7" name="TextBox 6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Where Each Value Lives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99616"/>
            <a:ext cx="322179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27637" y="1499616"/>
            <a:ext cx="5326697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1" i="0">
                <a:solidFill>
                  <a:srgbClr val="0072CE"/>
                </a:solidFill>
                <a:latin typeface="Arial"/>
              </a:rPr>
              <a:t>How it is stored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72639"/>
            <a:ext cx="8490461" cy="54864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401823"/>
            <a:ext cx="3653134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Your laptop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27637" y="2401823"/>
            <a:ext cx="5867121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 .env file, ignored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10127"/>
            <a:ext cx="4369315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A pull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7637" y="3310127"/>
            <a:ext cx="4720024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Nothing at 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18431"/>
            <a:ext cx="4752539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GitHub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7637" y="4218431"/>
            <a:ext cx="5903892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Repository secrets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26735"/>
            <a:ext cx="3485812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Production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7637" y="5126735"/>
            <a:ext cx="7149702" cy="633984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The host's secret store</a:t>
            </a:r>
          </a:p>
        </p:txBody>
      </p:sp>
      <p:sp>
        <p:nvSpPr>
          <p:cNvPr id="14" name="TextBox 13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768096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4200" b="1" i="0">
                <a:solidFill>
                  <a:srgbClr val="0072CE"/>
                </a:solidFill>
                <a:latin typeface="Arial"/>
              </a:rPr>
              <a:t>Before You Push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08050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Is .env in .gitignore?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83409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Does git status show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58768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Is .env.example up to date?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34127"/>
            <a:ext cx="11277600" cy="518159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l"/>
            <a:r>
              <a:rPr sz="3400" b="0" i="0">
                <a:solidFill>
                  <a:srgbClr val="0A2240"/>
                </a:solidFill>
                <a:latin typeface="Arial"/>
              </a:rPr>
              <a:t>Would you show this diff to anyone?</a:t>
            </a:r>
          </a:p>
        </p:txBody>
      </p:sp>
      <p:sp>
        <p:nvSpPr>
          <p:cNvPr id="7" name="TextBox 6"/>
          <p:cNvSpPr/>
          <p:nvPr>
            <p:ph type="sldNum" idx="12"/>
          </p:nvPr>
        </p:nvSpPr>
        <p:spPr>
          <a:xfrm>
            <a:off x="11186160" y="6035040"/>
            <a:ext cx="548640" cy="365760"/>
          </a:xfrm>
          <a:prstGeom prst="rect">
            <a:avLst/>
          </a:prstGeom>
          <a:noFill/>
        </p:spPr>
        <p:txBody>
          <a:bodyPr wrap="none" lIns="0" rIns="0">
            <a:noAutofit/>
          </a:bodyPr>
          <a:lstStyle/>
          <a:p>
            <a:pPr algn="r"/>
            <a:fld id="{4B0E1F8A-6C1D-4E2A-9F3B-7A5C8D2E1F60}" type="slidenum">
              <a:rPr sz="1600" b="0" i="0">
                <a:solidFill>
                  <a:srgbClr val="0A2240"/>
                </a:solidFill>
                <a:latin typeface="Arial"/>
              </a:rPr>
              <a:t>10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