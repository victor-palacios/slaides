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session of Day 2. They have a pipeline that runs; nobody outside the team can use it. This hour closes that gap and hands Day 3 something to attack.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 in one line: a link they can send to someone who is not in this room. Everything else this hour — the script, the caveats — hangs off that link existing.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syllabus objectives across four moves. The fourth feels optional and is not: an undocumented fake is the single easiest thing for tomorrow's red team to find.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2.2 ended on, now the one to answer. Make them picture a specific stranger — a friend, a recruiter — opening a link with no explanation from them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Yesterday's and this morning's work produced something that works in your hands. A demo is the same thing working in somebody else's, which is a different and smaller problem than it feels.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hour. Note that three of the four are not code. The build is already done; this session is about making the build legible to someone who was not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clock up. 11:20 is the hard gate — a team without a URL by then should stop improving the front end and ship whatever exists, because the remaining three deliverables all assume a link.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for the whole session. Until there is a URL, everything they have is something they can describe. Day 3 does not attack descriptions, and neither do investors.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The bar is low on purpose: not beautiful, not responsive, not accessible — drivable. One input, one button, one output that appears without help.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it by its job rather than its technology. If a person needs you on a call to get a result, you do not have a front end yet, however much HTML exists.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needs, in the order they hit. Most prototypes fail the first — the page opens and there is no sentence saying what the thing is for. That sentence is the cheapest fix available today.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are named in the syllabus and both are legitimate. Push the room toward the left column unless a team has a specific reason — the time saved goes into the script and the caveats, which are worth more.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trade in three rows. Control is the only column the hosted page wins, and control is worth very little in a demo that lasts three minutes and then never runs again.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it removes: no repo, no build step, no hosting decision. For a team whose interesting work is in the pipeline rather than the interface, that is the whole problem solved.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prevents the classic failure of a beautiful layout that breaks the moment real output arrives. Give it the actual JSON from this morning, not a description of the shape.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that produce something usable on the first try. The fourth line is the one people leave out, and it is the reason their first attempt looks wrong.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elements, and the second is the highest-leverage. A pre-filled example means a stranger gets a result on their first click instead of staring at an empty box wondering what to type.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ban list logic as 2.2. Each of these is real work that no one evaluating a two-day prototype will credit you for, and each is an hour you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is the only error handling allowed today, and it is one line: when something fails, say so on the page. A silent blank screen is what makes a demo look broken rather than limited.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failure modes, all found by watching one person use it. Do not help them. The urge to reach over and click is exactly the information you came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Short, mechanical, and non-negotiable. The syllabus is explicit that the demo must not depend on your laptop staying open, and there is a reason it is written that way.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plainly. Every failed demo anyone in the room has seen was a local thing that stopped being reachable. A public URL removes the entire category for the price of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and the fourth is specific to this week. Day 3's red team needs to reach the thing without you present; a localhost demo cannot be attacked, which sounds good and is not.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named in the syllabus. Pages if the front end is a static file and the repo already exists; Cloudflare if something has to run server-side. Do not let this choice take more than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under five minutes. The waiting in step three catches people out — they check immediately, see a 404, and assume it failed. Tell them to wait.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Note the last is a click, not a command — the one manual step today that is genuinely unavoidable, and it only ever happens once per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that work on a laptop and not on the internet. Each is found in seconds by opening the public URL in a private window, which is the very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that prevent a genuinely bad week. Remind them a public repo is public forever, including its history — deleting a key in a later commit does not remove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valuable ten minutes of the session. Nearly every team finds at least one break here, and every one of those breaks would otherwise have surfaced in front of an audience.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at 11:20 regardless. The order of sacrifice matters: the front end is the most expendable thing in this session, and the caveat list is the least, which is the opposite of what teams assume.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checks, all binary. Run them as a team out loud. The third is the one the syllabus actually asks for, and the easiest to verify — close the lid and have someone else try.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repeat when a team says their local version is basically the same thing. It is not the same thing, and the difference shows up at the worst possible moment.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the part that separates teams tomorrow. A working demo badly narrated loses to a modest demo explained well, every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written. Teams believe they will improvise fine and then spend ninety seconds explaining their architecture to people who wanted to see it work.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structure that works. The largest block is the demo itself, and the word to stress is silence — narrating every click is what eats the time and undercuts the thing running.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opening they will be tempted to make longest. It is the shortest. Everything they learned in 1.1 about a precise problem statement pays out right here, in three sentences.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phrases that lose the room. The second and third are apologies nobody asked for; the fourth is a team talking themselves down in public. State limits as facts instead — that is what the caveat list is for.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of rehearsal beats another twenty of building at this stage. Step two is the one that finds the parts only muscle memory was holding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it as an asset, not a confession. A written caveat list is the difference between a team that knows its own system and one that is about to be surprised by it in public.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categories. The last catches the things nobody thinks to write down — the path that worked the one time it was run, which is not the same as working.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format, not content. Two columns is enough. Anyone reading this table knows exactly where the system is soft, which is precisely what you want before tomorrow rather than during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committed next to the code. In the repo rather than in a document, because that is where tomorrow's red team will look and where it cannot be quietly forgotten.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of work, seven entries. Point at CAVEATS.md sitting beside the code as an equal — that placement is the argument, and it is the file tomorrow's red team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argument for honesty, and it is tactical rather than moral. A named limit is a scoping decision; the same limit discovered by someone else is a failure. Same fact, opposite outcome.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tomorrow so tonight's work is aimed. All three are cheap to defend against today and expensive to explain away tomorrow, which is the whole argument for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checklist and the end of Day 2. Four lines, all binary. A team that ticks all four has genuinely finished the build phase of the week.</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into the repo before Day 2 ends. The last is the one to sleep on — teams usually know it, and writing it down is how it gets fixed rather than discovered.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and worth more than any code they could write. One real person failing to use the thing tells them more than the whole team looking at it again, and every fix it produces is aimed at something real.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turning them around. Asking a team where their own system is weakest is the most efficient preparation for tomorrow, and the answer is always immediate.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Day 3 and end the day here. The mindset flips overnight from building to breaking, and the caveat list they just wrote is what they arrive with.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Making It Demoable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public URL</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Wrap it so a stranger can drive</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Ship it to a public URL</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Write a three-minute script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Document what is faked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Could a stranger drive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2.2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path</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It runs when you run it</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demo</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It runs when they do</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Wrap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A front end, however plain</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Ship</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A URL off your machine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Script</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Three minutes, rehearsed</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Admit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Write down what is fake</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50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11:00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Wrap it</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A front end anyone can drive</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11:20</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Ship it</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Public URL, tested cold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11:35</a:t>
            </a:r>
          </a:p>
        </p:txBody>
      </p:sp>
      <p:sp>
        <p:nvSpPr>
          <p:cNvPr id="10" name="TextBox 9"/>
          <p:cNvSpPr txBox="1"/>
          <p:nvPr/>
        </p:nvSpPr>
        <p:spPr>
          <a:xfrm>
            <a:off x="6233160" y="2154936"/>
            <a:ext cx="2754788" cy="518159"/>
          </a:xfrm>
          <a:prstGeom prst="rect">
            <a:avLst/>
          </a:prstGeom>
          <a:noFill/>
        </p:spPr>
        <p:txBody>
          <a:bodyPr wrap="none" lIns="0" rIns="0">
            <a:noAutofit/>
          </a:bodyPr>
          <a:lstStyle/>
          <a:p>
            <a:pPr algn="l"/>
            <a:r>
              <a:rPr sz="3400" b="1" i="0">
                <a:solidFill>
                  <a:srgbClr val="0A2240"/>
                </a:solidFill>
                <a:latin typeface="Arial"/>
              </a:rPr>
              <a:t>Script it</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Three minutes, out loud</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11:45</a:t>
            </a:r>
          </a:p>
        </p:txBody>
      </p:sp>
      <p:sp>
        <p:nvSpPr>
          <p:cNvPr id="13" name="TextBox 12"/>
          <p:cNvSpPr txBox="1"/>
          <p:nvPr/>
        </p:nvSpPr>
        <p:spPr>
          <a:xfrm>
            <a:off x="9121140" y="2154936"/>
            <a:ext cx="2908617" cy="518159"/>
          </a:xfrm>
          <a:prstGeom prst="rect">
            <a:avLst/>
          </a:prstGeom>
          <a:noFill/>
        </p:spPr>
        <p:txBody>
          <a:bodyPr wrap="none" lIns="0" rIns="0">
            <a:noAutofit/>
          </a:bodyPr>
          <a:lstStyle/>
          <a:p>
            <a:pPr algn="l"/>
            <a:r>
              <a:rPr sz="3400" b="1" i="0">
                <a:solidFill>
                  <a:srgbClr val="0A2240"/>
                </a:solidFill>
                <a:latin typeface="Arial"/>
              </a:rPr>
              <a:t>Confess</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The caveat list, in the repo</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demo nobody can open is a story."</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close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 Front End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Front end</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part that works without you in the room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 Stranger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To know what this thing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Something obvious to click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result they can read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instructions from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Honest Options</a:t>
            </a:r>
          </a:p>
        </p:txBody>
      </p:sp>
      <p:sp>
        <p:nvSpPr>
          <p:cNvPr id="3" name="TextBox 2"/>
          <p:cNvSpPr txBox="1"/>
          <p:nvPr/>
        </p:nvSpPr>
        <p:spPr>
          <a:xfrm>
            <a:off x="457200" y="1499616"/>
            <a:ext cx="5736233" cy="621791"/>
          </a:xfrm>
          <a:prstGeom prst="rect">
            <a:avLst/>
          </a:prstGeom>
          <a:noFill/>
        </p:spPr>
        <p:txBody>
          <a:bodyPr wrap="none" lIns="0" rIns="0">
            <a:noAutofit/>
          </a:bodyPr>
          <a:lstStyle/>
          <a:p>
            <a:pPr algn="l"/>
            <a:r>
              <a:rPr sz="3400" b="1" i="0">
                <a:solidFill>
                  <a:srgbClr val="0072CE"/>
                </a:solidFill>
                <a:latin typeface="Arial"/>
              </a:rPr>
              <a:t>A Claude Artifact</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31128" cy="621791"/>
          </a:xfrm>
          <a:prstGeom prst="rect">
            <a:avLst/>
          </a:prstGeom>
          <a:noFill/>
        </p:spPr>
        <p:txBody>
          <a:bodyPr wrap="none" lIns="0" rIns="0">
            <a:noAutofit/>
          </a:bodyPr>
          <a:lstStyle/>
          <a:p>
            <a:pPr algn="l"/>
            <a:r>
              <a:rPr sz="3400" b="1" i="0">
                <a:solidFill>
                  <a:srgbClr val="5B6B82"/>
                </a:solidFill>
                <a:latin typeface="Arial"/>
              </a:rPr>
              <a:t>A page you host</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Minutes to build</a:t>
            </a:r>
          </a:p>
        </p:txBody>
      </p:sp>
      <p:sp>
        <p:nvSpPr>
          <p:cNvPr id="8" name="TextBox 7"/>
          <p:cNvSpPr txBox="1"/>
          <p:nvPr/>
        </p:nvSpPr>
        <p:spPr>
          <a:xfrm>
            <a:off x="457200" y="3608831"/>
            <a:ext cx="7326808" cy="609600"/>
          </a:xfrm>
          <a:prstGeom prst="rect">
            <a:avLst/>
          </a:prstGeom>
          <a:noFill/>
        </p:spPr>
        <p:txBody>
          <a:bodyPr wrap="none" lIns="0" rIns="0">
            <a:noAutofit/>
          </a:bodyPr>
          <a:lstStyle/>
          <a:p>
            <a:pPr algn="l"/>
            <a:r>
              <a:rPr sz="3400" b="0" i="0">
                <a:solidFill>
                  <a:srgbClr val="0A2240"/>
                </a:solidFill>
                <a:latin typeface="Arial"/>
              </a:rPr>
              <a:t>Shareable link included</a:t>
            </a:r>
          </a:p>
        </p:txBody>
      </p:sp>
      <p:sp>
        <p:nvSpPr>
          <p:cNvPr id="9" name="TextBox 8"/>
          <p:cNvSpPr txBox="1"/>
          <p:nvPr/>
        </p:nvSpPr>
        <p:spPr>
          <a:xfrm>
            <a:off x="457200" y="4821935"/>
            <a:ext cx="7020838" cy="609600"/>
          </a:xfrm>
          <a:prstGeom prst="rect">
            <a:avLst/>
          </a:prstGeom>
          <a:noFill/>
        </p:spPr>
        <p:txBody>
          <a:bodyPr wrap="none" lIns="0" rIns="0">
            <a:noAutofit/>
          </a:bodyPr>
          <a:lstStyle/>
          <a:p>
            <a:pPr algn="l"/>
            <a:r>
              <a:rPr sz="3400" b="0" i="0">
                <a:solidFill>
                  <a:srgbClr val="0A2240"/>
                </a:solidFill>
                <a:latin typeface="Arial"/>
              </a:rPr>
              <a:t>Good enough to judge</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More control</a:t>
            </a:r>
          </a:p>
        </p:txBody>
      </p:sp>
      <p:sp>
        <p:nvSpPr>
          <p:cNvPr id="11" name="TextBox 10"/>
          <p:cNvSpPr txBox="1"/>
          <p:nvPr/>
        </p:nvSpPr>
        <p:spPr>
          <a:xfrm>
            <a:off x="6233160" y="3608831"/>
            <a:ext cx="5673824" cy="609600"/>
          </a:xfrm>
          <a:prstGeom prst="rect">
            <a:avLst/>
          </a:prstGeom>
          <a:noFill/>
        </p:spPr>
        <p:txBody>
          <a:bodyPr wrap="none" lIns="0" rIns="0">
            <a:noAutofit/>
          </a:bodyPr>
          <a:lstStyle/>
          <a:p>
            <a:pPr algn="l"/>
            <a:r>
              <a:rPr sz="3400" b="0" i="0">
                <a:solidFill>
                  <a:srgbClr val="0A2240"/>
                </a:solidFill>
                <a:latin typeface="Arial"/>
              </a:rPr>
              <a:t>More time to build</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Yours after the week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Choosing Between Them</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Artifact</a:t>
            </a:r>
          </a:p>
        </p:txBody>
      </p:sp>
      <p:sp>
        <p:nvSpPr>
          <p:cNvPr id="4" name="TextBox 3"/>
          <p:cNvSpPr txBox="1"/>
          <p:nvPr/>
        </p:nvSpPr>
        <p:spPr>
          <a:xfrm>
            <a:off x="7677575" y="1499616"/>
            <a:ext cx="4328834" cy="518159"/>
          </a:xfrm>
          <a:prstGeom prst="rect">
            <a:avLst/>
          </a:prstGeom>
          <a:noFill/>
        </p:spPr>
        <p:txBody>
          <a:bodyPr wrap="none" lIns="0" rIns="0">
            <a:noAutofit/>
          </a:bodyPr>
          <a:lstStyle/>
          <a:p>
            <a:pPr algn="ctr"/>
            <a:r>
              <a:rPr sz="3400" b="1" i="0">
                <a:solidFill>
                  <a:srgbClr val="0A2240"/>
                </a:solidFill>
                <a:latin typeface="Arial"/>
              </a:rPr>
              <a:t>Hosted page</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71249" cy="936752"/>
          </a:xfrm>
          <a:prstGeom prst="rect">
            <a:avLst/>
          </a:prstGeom>
          <a:noFill/>
        </p:spPr>
        <p:txBody>
          <a:bodyPr wrap="none" lIns="0" rIns="0">
            <a:noAutofit/>
          </a:bodyPr>
          <a:lstStyle/>
          <a:p>
            <a:pPr algn="l"/>
            <a:r>
              <a:rPr sz="3400" b="1" i="0">
                <a:solidFill>
                  <a:srgbClr val="0A2240"/>
                </a:solidFill>
                <a:latin typeface="Arial"/>
              </a:rPr>
              <a:t>Time to live</a:t>
            </a:r>
          </a:p>
        </p:txBody>
      </p:sp>
      <p:sp>
        <p:nvSpPr>
          <p:cNvPr id="7" name="Rectangle 6"/>
          <p:cNvSpPr/>
          <p:nvPr/>
        </p:nvSpPr>
        <p:spPr>
          <a:xfrm>
            <a:off x="4801830" y="2401823"/>
            <a:ext cx="1960452"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5602" y="2401823"/>
            <a:ext cx="2792908" cy="518159"/>
          </a:xfrm>
          <a:prstGeom prst="rect">
            <a:avLst/>
          </a:prstGeom>
          <a:noFill/>
        </p:spPr>
        <p:txBody>
          <a:bodyPr wrap="none" lIns="0" rIns="0">
            <a:noAutofit/>
          </a:bodyPr>
          <a:lstStyle/>
          <a:p>
            <a:pPr algn="ctr"/>
            <a:r>
              <a:rPr sz="3400" b="1" i="0">
                <a:solidFill>
                  <a:srgbClr val="FFFFFF"/>
                </a:solidFill>
                <a:latin typeface="Arial"/>
              </a:rPr>
              <a:t>Minutes</a:t>
            </a:r>
          </a:p>
        </p:txBody>
      </p:sp>
      <p:sp>
        <p:nvSpPr>
          <p:cNvPr id="9" name="TextBox 8"/>
          <p:cNvSpPr txBox="1"/>
          <p:nvPr/>
        </p:nvSpPr>
        <p:spPr>
          <a:xfrm>
            <a:off x="7491984" y="2401823"/>
            <a:ext cx="4700016" cy="936752"/>
          </a:xfrm>
          <a:prstGeom prst="rect">
            <a:avLst/>
          </a:prstGeom>
          <a:noFill/>
        </p:spPr>
        <p:txBody>
          <a:bodyPr wrap="none" lIns="0" rIns="0">
            <a:noAutofit/>
          </a:bodyPr>
          <a:lstStyle/>
          <a:p>
            <a:pPr algn="ctr"/>
            <a:r>
              <a:rPr sz="3400" b="0" i="0">
                <a:solidFill>
                  <a:srgbClr val="0A2240"/>
                </a:solidFill>
                <a:latin typeface="Arial"/>
              </a:rPr>
              <a:t>An hour or more</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Control</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Limited</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Total</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491984" y="4823967"/>
            <a:ext cx="4700016" cy="936752"/>
          </a:xfrm>
          <a:prstGeom prst="rect">
            <a:avLst/>
          </a:prstGeom>
          <a:noFill/>
        </p:spPr>
        <p:txBody>
          <a:bodyPr wrap="none" lIns="0" rIns="0">
            <a:noAutofit/>
          </a:bodyPr>
          <a:lstStyle/>
          <a:p>
            <a:pPr algn="ctr"/>
            <a:r>
              <a:rPr sz="3400" b="0" i="0">
                <a:solidFill>
                  <a:srgbClr val="0A2240"/>
                </a:solidFill>
                <a:latin typeface="Arial"/>
              </a:rPr>
              <a:t>Yours to manage</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Artifact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working page Claude builds and hosts for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Wrapping It, Either Way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Describe the one screen</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Input, button, result — nothing else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Paste in a real result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So the layout fits actual output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Drive it yourself,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New tab, no context, no excuses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wrapper worth asking for</a:t>
            </a:r>
          </a:p>
        </p:txBody>
      </p:sp>
      <p:sp>
        <p:nvSpPr>
          <p:cNvPr id="6" name="TextBox 5"/>
          <p:cNvSpPr txBox="1"/>
          <p:nvPr/>
        </p:nvSpPr>
        <p:spPr>
          <a:xfrm>
            <a:off x="457200" y="1837944"/>
            <a:ext cx="10706993" cy="518159"/>
          </a:xfrm>
          <a:prstGeom prst="rect">
            <a:avLst/>
          </a:prstGeom>
          <a:noFill/>
        </p:spPr>
        <p:txBody>
          <a:bodyPr wrap="none" lIns="0" rIns="0">
            <a:noAutofit/>
          </a:bodyPr>
          <a:lstStyle/>
          <a:p>
            <a:pPr algn="l"/>
            <a:r>
              <a:rPr sz="3400" b="0" i="0">
                <a:solidFill>
                  <a:srgbClr val="D4D4D4"/>
                </a:solidFill>
                <a:latin typeface="Arial"/>
              </a:rPr>
              <a:t>One page. A box to paste a report </a:t>
            </a:r>
          </a:p>
        </p:txBody>
      </p:sp>
      <p:sp>
        <p:nvSpPr>
          <p:cNvPr id="7" name="TextBox 6"/>
          <p:cNvSpPr txBox="1"/>
          <p:nvPr/>
        </p:nvSpPr>
        <p:spPr>
          <a:xfrm>
            <a:off x="7034771" y="1837944"/>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8" name="TextBox 7"/>
          <p:cNvSpPr txBox="1"/>
          <p:nvPr/>
        </p:nvSpPr>
        <p:spPr>
          <a:xfrm>
            <a:off x="7370849" y="1837944"/>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4523144" cy="518159"/>
          </a:xfrm>
          <a:prstGeom prst="rect">
            <a:avLst/>
          </a:prstGeom>
          <a:noFill/>
        </p:spPr>
        <p:txBody>
          <a:bodyPr wrap="none" lIns="0" rIns="0">
            <a:noAutofit/>
          </a:bodyPr>
          <a:lstStyle/>
          <a:p>
            <a:pPr algn="l"/>
            <a:r>
              <a:rPr sz="3400" b="0" i="0">
                <a:solidFill>
                  <a:srgbClr val="D4D4D4"/>
                </a:solidFill>
                <a:latin typeface="Arial"/>
              </a:rPr>
              <a:t>a Run button, </a:t>
            </a:r>
          </a:p>
        </p:txBody>
      </p:sp>
      <p:sp>
        <p:nvSpPr>
          <p:cNvPr id="10" name="TextBox 9"/>
          <p:cNvSpPr txBox="1"/>
          <p:nvPr/>
        </p:nvSpPr>
        <p:spPr>
          <a:xfrm>
            <a:off x="3169865" y="2356103"/>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1" name="TextBox 10"/>
          <p:cNvSpPr txBox="1"/>
          <p:nvPr/>
        </p:nvSpPr>
        <p:spPr>
          <a:xfrm>
            <a:off x="3890305" y="2356103"/>
            <a:ext cx="5943024" cy="518159"/>
          </a:xfrm>
          <a:prstGeom prst="rect">
            <a:avLst/>
          </a:prstGeom>
          <a:noFill/>
        </p:spPr>
        <p:txBody>
          <a:bodyPr wrap="none" lIns="0" rIns="0">
            <a:noAutofit/>
          </a:bodyPr>
          <a:lstStyle/>
          <a:p>
            <a:pPr algn="l"/>
            <a:r>
              <a:rPr sz="3400" b="0" i="0">
                <a:solidFill>
                  <a:srgbClr val="D4D4D4"/>
                </a:solidFill>
                <a:latin typeface="Arial"/>
              </a:rPr>
              <a:t> the result below it.</a:t>
            </a:r>
          </a:p>
        </p:txBody>
      </p:sp>
      <p:sp>
        <p:nvSpPr>
          <p:cNvPr id="12" name="TextBox 11"/>
          <p:cNvSpPr txBox="1"/>
          <p:nvPr/>
        </p:nvSpPr>
        <p:spPr>
          <a:xfrm>
            <a:off x="457200" y="2874262"/>
            <a:ext cx="7326134" cy="518159"/>
          </a:xfrm>
          <a:prstGeom prst="rect">
            <a:avLst/>
          </a:prstGeom>
          <a:noFill/>
        </p:spPr>
        <p:txBody>
          <a:bodyPr wrap="none" lIns="0" rIns="0">
            <a:noAutofit/>
          </a:bodyPr>
          <a:lstStyle/>
          <a:p>
            <a:pPr algn="l"/>
            <a:r>
              <a:rPr sz="3400" b="0" i="0">
                <a:solidFill>
                  <a:srgbClr val="D4D4D4"/>
                </a:solidFill>
                <a:latin typeface="Arial"/>
              </a:rPr>
              <a:t>Show this exact output </a:t>
            </a:r>
          </a:p>
        </p:txBody>
      </p:sp>
      <p:sp>
        <p:nvSpPr>
          <p:cNvPr id="13" name="TextBox 12"/>
          <p:cNvSpPr txBox="1"/>
          <p:nvPr/>
        </p:nvSpPr>
        <p:spPr>
          <a:xfrm>
            <a:off x="4921734" y="2874262"/>
            <a:ext cx="912555" cy="518159"/>
          </a:xfrm>
          <a:prstGeom prst="rect">
            <a:avLst/>
          </a:prstGeom>
          <a:noFill/>
        </p:spPr>
        <p:txBody>
          <a:bodyPr wrap="none" lIns="0" rIns="0">
            <a:noAutofit/>
          </a:bodyPr>
          <a:lstStyle/>
          <a:p>
            <a:pPr algn="l"/>
            <a:r>
              <a:rPr sz="3400" b="0" i="0">
                <a:solidFill>
                  <a:srgbClr val="569CD6"/>
                </a:solidFill>
                <a:latin typeface="Arial"/>
              </a:rPr>
              <a:t>as</a:t>
            </a:r>
          </a:p>
        </p:txBody>
      </p:sp>
      <p:sp>
        <p:nvSpPr>
          <p:cNvPr id="14" name="TextBox 13"/>
          <p:cNvSpPr txBox="1"/>
          <p:nvPr/>
        </p:nvSpPr>
        <p:spPr>
          <a:xfrm>
            <a:off x="5377780" y="2874262"/>
            <a:ext cx="4138572" cy="518159"/>
          </a:xfrm>
          <a:prstGeom prst="rect">
            <a:avLst/>
          </a:prstGeom>
          <a:noFill/>
        </p:spPr>
        <p:txBody>
          <a:bodyPr wrap="none" lIns="0" rIns="0">
            <a:noAutofit/>
          </a:bodyPr>
          <a:lstStyle/>
          <a:p>
            <a:pPr algn="l"/>
            <a:r>
              <a:rPr sz="3400" b="0" i="0">
                <a:solidFill>
                  <a:srgbClr val="D4D4D4"/>
                </a:solidFill>
                <a:latin typeface="Arial"/>
              </a:rPr>
              <a:t> an example:</a:t>
            </a:r>
          </a:p>
        </p:txBody>
      </p:sp>
      <p:sp>
        <p:nvSpPr>
          <p:cNvPr id="15" name="TextBox 14"/>
          <p:cNvSpPr txBox="1"/>
          <p:nvPr/>
        </p:nvSpPr>
        <p:spPr>
          <a:xfrm>
            <a:off x="457200" y="3392421"/>
            <a:ext cx="8939649" cy="518159"/>
          </a:xfrm>
          <a:prstGeom prst="rect">
            <a:avLst/>
          </a:prstGeom>
          <a:noFill/>
        </p:spPr>
        <p:txBody>
          <a:bodyPr wrap="none" lIns="0" rIns="0">
            <a:noAutofit/>
          </a:bodyPr>
          <a:lstStyle/>
          <a:p>
            <a:pPr algn="l"/>
            <a:r>
              <a:rPr sz="3400" b="0" i="0">
                <a:solidFill>
                  <a:srgbClr val="D4D4D4"/>
                </a:solidFill>
                <a:latin typeface="Arial"/>
              </a:rPr>
              <a:t>&lt;paste out/answer.md here&gt;</a:t>
            </a:r>
          </a:p>
        </p:txBody>
      </p:sp>
      <p:sp>
        <p:nvSpPr>
          <p:cNvPr id="16" name="TextBox 15"/>
          <p:cNvSpPr txBox="1"/>
          <p:nvPr/>
        </p:nvSpPr>
        <p:spPr>
          <a:xfrm>
            <a:off x="457200" y="3910580"/>
            <a:ext cx="1911092" cy="518159"/>
          </a:xfrm>
          <a:prstGeom prst="rect">
            <a:avLst/>
          </a:prstGeom>
          <a:noFill/>
        </p:spPr>
        <p:txBody>
          <a:bodyPr wrap="none" lIns="0" rIns="0">
            <a:noAutofit/>
          </a:bodyPr>
          <a:lstStyle/>
          <a:p>
            <a:pPr algn="l"/>
            <a:r>
              <a:rPr sz="3400" b="0" i="0">
                <a:solidFill>
                  <a:srgbClr val="D4D4D4"/>
                </a:solidFill>
                <a:latin typeface="Arial"/>
              </a:rPr>
              <a:t>Plain </a:t>
            </a:r>
          </a:p>
        </p:txBody>
      </p:sp>
      <p:sp>
        <p:nvSpPr>
          <p:cNvPr id="17" name="TextBox 16"/>
          <p:cNvSpPr txBox="1"/>
          <p:nvPr/>
        </p:nvSpPr>
        <p:spPr>
          <a:xfrm>
            <a:off x="1537333" y="3910580"/>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8" name="TextBox 17"/>
          <p:cNvSpPr txBox="1"/>
          <p:nvPr/>
        </p:nvSpPr>
        <p:spPr>
          <a:xfrm>
            <a:off x="2257772" y="3910580"/>
            <a:ext cx="9092128" cy="518159"/>
          </a:xfrm>
          <a:prstGeom prst="rect">
            <a:avLst/>
          </a:prstGeom>
          <a:noFill/>
        </p:spPr>
        <p:txBody>
          <a:bodyPr wrap="none" lIns="0" rIns="0">
            <a:noAutofit/>
          </a:bodyPr>
          <a:lstStyle/>
          <a:p>
            <a:pPr algn="l"/>
            <a:r>
              <a:rPr sz="3400" b="0" i="0">
                <a:solidFill>
                  <a:srgbClr val="D4D4D4"/>
                </a:solidFill>
                <a:latin typeface="Arial"/>
              </a:rPr>
              <a:t> readable. No styling flourish.</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Put These on the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sentence: what this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 example input, pre-filled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result, readable as text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line saying what is faked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Leave These Out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Accounts and sign-in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Settings and options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second page of any kind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you would style twice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Tests of Drivable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One click to a result</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From landing on the page, with nothing typed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Obvious what happened</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output reads without you explaining 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Survives a bad input</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Says something, rather than showing nothing</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Watch For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An empty box with no hint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result that needs your voice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spinner that never finishes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Output only you can read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Off Your Laptop</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the wifi drops?</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Why Localhost Is Not a Demo</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dies when your laptop sleeps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Nobody can open it later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cannot send it to anyone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Tomorrow's team cannot test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Ship 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GitHub Pages</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Cloudflare</a:t>
            </a:r>
          </a:p>
        </p:txBody>
      </p:sp>
      <p:sp>
        <p:nvSpPr>
          <p:cNvPr id="5" name="TextBox 4"/>
          <p:cNvSpPr txBox="1"/>
          <p:nvPr/>
        </p:nvSpPr>
        <p:spPr>
          <a:xfrm>
            <a:off x="457200" y="2395727"/>
            <a:ext cx="8515945" cy="847344"/>
          </a:xfrm>
          <a:prstGeom prst="rect">
            <a:avLst/>
          </a:prstGeom>
          <a:noFill/>
        </p:spPr>
        <p:txBody>
          <a:bodyPr wrap="none" lIns="0" rIns="0">
            <a:noAutofit/>
          </a:bodyPr>
          <a:lstStyle/>
          <a:p>
            <a:pPr algn="l"/>
            <a:r>
              <a:rPr sz="3400" b="0" i="0">
                <a:solidFill>
                  <a:srgbClr val="0A2240"/>
                </a:solidFill>
                <a:latin typeface="Arial"/>
              </a:rPr>
              <a:t>Already where your code is</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Handles more than static</a:t>
            </a:r>
          </a:p>
        </p:txBody>
      </p:sp>
      <p:sp>
        <p:nvSpPr>
          <p:cNvPr id="7" name="TextBox 6"/>
          <p:cNvSpPr txBox="1"/>
          <p:nvPr/>
        </p:nvSpPr>
        <p:spPr>
          <a:xfrm>
            <a:off x="457200" y="3517391"/>
            <a:ext cx="6518532" cy="847344"/>
          </a:xfrm>
          <a:prstGeom prst="rect">
            <a:avLst/>
          </a:prstGeom>
          <a:noFill/>
        </p:spPr>
        <p:txBody>
          <a:bodyPr wrap="none" lIns="0" rIns="0">
            <a:noAutofit/>
          </a:bodyPr>
          <a:lstStyle/>
          <a:p>
            <a:pPr algn="l"/>
            <a:r>
              <a:rPr sz="3400" b="0" i="0">
                <a:solidFill>
                  <a:srgbClr val="0A2240"/>
                </a:solidFill>
                <a:latin typeface="Arial"/>
              </a:rPr>
              <a:t>A commit is a deploy</a:t>
            </a:r>
          </a:p>
        </p:txBody>
      </p:sp>
      <p:sp>
        <p:nvSpPr>
          <p:cNvPr id="8" name="TextBox 7"/>
          <p:cNvSpPr txBox="1"/>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Fast to set up</a:t>
            </a:r>
          </a:p>
        </p:txBody>
      </p:sp>
      <p:sp>
        <p:nvSpPr>
          <p:cNvPr id="9" name="TextBox 8"/>
          <p:cNvSpPr txBox="1"/>
          <p:nvPr/>
        </p:nvSpPr>
        <p:spPr>
          <a:xfrm>
            <a:off x="457200" y="4639055"/>
            <a:ext cx="5501640" cy="847344"/>
          </a:xfrm>
          <a:prstGeom prst="rect">
            <a:avLst/>
          </a:prstGeom>
          <a:noFill/>
        </p:spPr>
        <p:txBody>
          <a:bodyPr wrap="none" lIns="0" rIns="0">
            <a:noAutofit/>
          </a:bodyPr>
          <a:lstStyle/>
          <a:p>
            <a:pPr algn="l"/>
            <a:r>
              <a:rPr sz="3400" b="0" i="0">
                <a:solidFill>
                  <a:srgbClr val="0A2240"/>
                </a:solidFill>
                <a:latin typeface="Arial"/>
              </a:rPr>
              <a:t>Static pages only</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A second account to make</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Shipping with Pages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Put the page in the repo</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index.html at the root, or in docs/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Turn Pages on</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Settings, Pages, pick the branch</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Wait, then open the URL</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First build takes a minute or two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From repo to public URL</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10589596" cy="518159"/>
          </a:xfrm>
          <a:prstGeom prst="rect">
            <a:avLst/>
          </a:prstGeom>
          <a:noFill/>
        </p:spPr>
        <p:txBody>
          <a:bodyPr wrap="none" lIns="0" rIns="0">
            <a:noAutofit/>
          </a:bodyPr>
          <a:lstStyle/>
          <a:p>
            <a:pPr algn="l"/>
            <a:r>
              <a:rPr sz="3400" b="0" i="0">
                <a:solidFill>
                  <a:srgbClr val="D4D4D4"/>
                </a:solidFill>
                <a:latin typeface="Arial"/>
              </a:rPr>
              <a:t> cp out/index.html docs/index.html</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7441168" cy="518159"/>
          </a:xfrm>
          <a:prstGeom prst="rect">
            <a:avLst/>
          </a:prstGeom>
          <a:noFill/>
        </p:spPr>
        <p:txBody>
          <a:bodyPr wrap="none" lIns="0" rIns="0">
            <a:noAutofit/>
          </a:bodyPr>
          <a:lstStyle/>
          <a:p>
            <a:pPr algn="l"/>
            <a:r>
              <a:rPr sz="3400" b="0" i="0">
                <a:solidFill>
                  <a:srgbClr val="D4D4D4"/>
                </a:solidFill>
                <a:latin typeface="Arial"/>
              </a:rPr>
              <a:t> git add docs/index.html</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11040963" cy="518159"/>
          </a:xfrm>
          <a:prstGeom prst="rect">
            <a:avLst/>
          </a:prstGeom>
          <a:noFill/>
        </p:spPr>
        <p:txBody>
          <a:bodyPr wrap="none" lIns="0" rIns="0">
            <a:noAutofit/>
          </a:bodyPr>
          <a:lstStyle/>
          <a:p>
            <a:pPr algn="l"/>
            <a:r>
              <a:rPr sz="3400" b="0" i="0">
                <a:solidFill>
                  <a:srgbClr val="D4D4D4"/>
                </a:solidFill>
                <a:latin typeface="Arial"/>
              </a:rPr>
              <a:t> git commit -m "publish demo page"</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2794595" cy="518159"/>
          </a:xfrm>
          <a:prstGeom prst="rect">
            <a:avLst/>
          </a:prstGeom>
          <a:noFill/>
        </p:spPr>
        <p:txBody>
          <a:bodyPr wrap="none" lIns="0" rIns="0">
            <a:noAutofit/>
          </a:bodyPr>
          <a:lstStyle/>
          <a:p>
            <a:pPr algn="l"/>
            <a:r>
              <a:rPr sz="3400" b="0" i="0">
                <a:solidFill>
                  <a:srgbClr val="D4D4D4"/>
                </a:solidFill>
                <a:latin typeface="Arial"/>
              </a:rPr>
              <a:t> git push</a:t>
            </a:r>
          </a:p>
        </p:txBody>
      </p:sp>
      <p:sp>
        <p:nvSpPr>
          <p:cNvPr id="14" name="TextBox 13"/>
          <p:cNvSpPr txBox="1"/>
          <p:nvPr/>
        </p:nvSpPr>
        <p:spPr>
          <a:xfrm>
            <a:off x="457200" y="3910580"/>
            <a:ext cx="11734800" cy="518159"/>
          </a:xfrm>
          <a:prstGeom prst="rect">
            <a:avLst/>
          </a:prstGeom>
          <a:noFill/>
        </p:spPr>
        <p:txBody>
          <a:bodyPr wrap="none" lIns="0" rIns="0">
            <a:noAutofit/>
          </a:bodyPr>
          <a:lstStyle/>
          <a:p>
            <a:pPr algn="l"/>
            <a:r>
              <a:rPr sz="3400" b="0" i="0">
                <a:solidFill>
                  <a:srgbClr val="6A9955"/>
                </a:solidFill>
                <a:latin typeface="Arial"/>
              </a:rPr>
              <a:t># Settings &gt; Pages &gt; branch: main, /docs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Breaks When You Go Public</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Paths that only exist locally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key that was in your shell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you never committed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reading your disk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Check Before You Share It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API keys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keys in the repo history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Nothing private in the fixture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you cannot show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Test It Like a Stranger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Open a private window</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No logins, no cache, no extensions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Do nothing but click</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Type nothing you have not pre-filled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try it on a phone</a:t>
            </a:r>
          </a:p>
        </p:txBody>
      </p:sp>
      <p:sp>
        <p:nvSpPr>
          <p:cNvPr id="11" name="TextBox 10"/>
          <p:cNvSpPr txBox="1"/>
          <p:nvPr/>
        </p:nvSpPr>
        <p:spPr>
          <a:xfrm>
            <a:off x="1461983" y="5209032"/>
            <a:ext cx="10283289" cy="551688"/>
          </a:xfrm>
          <a:prstGeom prst="rect">
            <a:avLst/>
          </a:prstGeom>
          <a:noFill/>
        </p:spPr>
        <p:txBody>
          <a:bodyPr wrap="none" lIns="0" rIns="0">
            <a:noAutofit/>
          </a:bodyPr>
          <a:lstStyle/>
          <a:p>
            <a:pPr algn="l"/>
            <a:r>
              <a:rPr sz="3400" b="0" i="0">
                <a:solidFill>
                  <a:srgbClr val="0A2240"/>
                </a:solidFill>
                <a:latin typeface="Arial"/>
              </a:rPr>
              <a:t>Half the people you send it to will</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Ship what exists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An ugly live page beats a good local one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front end</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A page showing one saved result still counts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drop the caveats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Five honest lines take two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Ship Checklist</a:t>
            </a:r>
          </a:p>
        </p:txBody>
      </p:sp>
      <p:sp>
        <p:nvSpPr>
          <p:cNvPr id="3" name="TextBox 2"/>
          <p:cNvSpPr txBox="1"/>
          <p:nvPr/>
        </p:nvSpPr>
        <p:spPr>
          <a:xfrm>
            <a:off x="457200" y="1499616"/>
            <a:ext cx="3269657" cy="518159"/>
          </a:xfrm>
          <a:prstGeom prst="rect">
            <a:avLst/>
          </a:prstGeom>
          <a:noFill/>
        </p:spPr>
        <p:txBody>
          <a:bodyPr wrap="none" lIns="0" rIns="0">
            <a:noAutofit/>
          </a:bodyPr>
          <a:lstStyle/>
          <a:p>
            <a:pPr algn="l"/>
            <a:r>
              <a:rPr sz="3400" b="1" i="0">
                <a:solidFill>
                  <a:srgbClr val="123A6B"/>
                </a:solidFill>
                <a:latin typeface="Arial"/>
              </a:rPr>
              <a:t>Check</a:t>
            </a:r>
          </a:p>
        </p:txBody>
      </p:sp>
      <p:sp>
        <p:nvSpPr>
          <p:cNvPr id="4" name="TextBox 3"/>
          <p:cNvSpPr txBox="1"/>
          <p:nvPr/>
        </p:nvSpPr>
        <p:spPr>
          <a:xfrm>
            <a:off x="4275497" y="1499616"/>
            <a:ext cx="4935503" cy="518159"/>
          </a:xfrm>
          <a:prstGeom prst="rect">
            <a:avLst/>
          </a:prstGeom>
          <a:noFill/>
        </p:spPr>
        <p:txBody>
          <a:bodyPr wrap="none" lIns="0" rIns="0">
            <a:noAutofit/>
          </a:bodyPr>
          <a:lstStyle/>
          <a:p>
            <a:pPr algn="l"/>
            <a:r>
              <a:rPr sz="3400" b="1" i="0">
                <a:solidFill>
                  <a:srgbClr val="123A6B"/>
                </a:solidFill>
                <a:latin typeface="Arial"/>
              </a:rPr>
              <a:t>Pass means</a:t>
            </a:r>
          </a:p>
        </p:txBody>
      </p:sp>
      <p:sp>
        <p:nvSpPr>
          <p:cNvPr id="5" name="Rectangle 4"/>
          <p:cNvSpPr/>
          <p:nvPr/>
        </p:nvSpPr>
        <p:spPr>
          <a:xfrm>
            <a:off x="457200" y="2072639"/>
            <a:ext cx="87538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29115" cy="633984"/>
          </a:xfrm>
          <a:prstGeom prst="rect">
            <a:avLst/>
          </a:prstGeom>
          <a:noFill/>
        </p:spPr>
        <p:txBody>
          <a:bodyPr wrap="none" lIns="0" rIns="0">
            <a:noAutofit/>
          </a:bodyPr>
          <a:lstStyle/>
          <a:p>
            <a:pPr algn="l"/>
            <a:r>
              <a:rPr sz="3400" b="0" i="0">
                <a:solidFill>
                  <a:srgbClr val="0A2240"/>
                </a:solidFill>
                <a:latin typeface="Arial"/>
              </a:rPr>
              <a:t>Private window</a:t>
            </a:r>
          </a:p>
        </p:txBody>
      </p:sp>
      <p:sp>
        <p:nvSpPr>
          <p:cNvPr id="7" name="TextBox 6"/>
          <p:cNvSpPr txBox="1"/>
          <p:nvPr/>
        </p:nvSpPr>
        <p:spPr>
          <a:xfrm>
            <a:off x="4275497" y="2401823"/>
            <a:ext cx="5290939" cy="633984"/>
          </a:xfrm>
          <a:prstGeom prst="rect">
            <a:avLst/>
          </a:prstGeom>
          <a:noFill/>
        </p:spPr>
        <p:txBody>
          <a:bodyPr wrap="none" lIns="0" rIns="0">
            <a:noAutofit/>
          </a:bodyPr>
          <a:lstStyle/>
          <a:p>
            <a:pPr algn="l"/>
            <a:r>
              <a:rPr sz="3400" b="0" i="0">
                <a:solidFill>
                  <a:srgbClr val="0A2240"/>
                </a:solidFill>
                <a:latin typeface="Arial"/>
              </a:rPr>
              <a:t>It loads and runs</a:t>
            </a:r>
          </a:p>
        </p:txBody>
      </p:sp>
      <p:sp>
        <p:nvSpPr>
          <p:cNvPr id="8" name="TextBox 7"/>
          <p:cNvSpPr txBox="1"/>
          <p:nvPr/>
        </p:nvSpPr>
        <p:spPr>
          <a:xfrm>
            <a:off x="457200" y="3310127"/>
            <a:ext cx="3269657" cy="633984"/>
          </a:xfrm>
          <a:prstGeom prst="rect">
            <a:avLst/>
          </a:prstGeom>
          <a:noFill/>
        </p:spPr>
        <p:txBody>
          <a:bodyPr wrap="none" lIns="0" rIns="0">
            <a:noAutofit/>
          </a:bodyPr>
          <a:lstStyle/>
          <a:p>
            <a:pPr algn="l"/>
            <a:r>
              <a:rPr sz="3400" b="0" i="0">
                <a:solidFill>
                  <a:srgbClr val="0A2240"/>
                </a:solidFill>
                <a:latin typeface="Arial"/>
              </a:rPr>
              <a:t>Phone</a:t>
            </a:r>
          </a:p>
        </p:txBody>
      </p:sp>
      <p:sp>
        <p:nvSpPr>
          <p:cNvPr id="9" name="TextBox 8"/>
          <p:cNvSpPr txBox="1"/>
          <p:nvPr/>
        </p:nvSpPr>
        <p:spPr>
          <a:xfrm>
            <a:off x="4275497" y="3310127"/>
            <a:ext cx="7494468" cy="633984"/>
          </a:xfrm>
          <a:prstGeom prst="rect">
            <a:avLst/>
          </a:prstGeom>
          <a:noFill/>
        </p:spPr>
        <p:txBody>
          <a:bodyPr wrap="none" lIns="0" rIns="0">
            <a:noAutofit/>
          </a:bodyPr>
          <a:lstStyle/>
          <a:p>
            <a:pPr algn="l"/>
            <a:r>
              <a:rPr sz="3400" b="0" i="0">
                <a:solidFill>
                  <a:srgbClr val="0A2240"/>
                </a:solidFill>
                <a:latin typeface="Arial"/>
              </a:rPr>
              <a:t>You can read the output</a:t>
            </a:r>
          </a:p>
        </p:txBody>
      </p:sp>
      <p:sp>
        <p:nvSpPr>
          <p:cNvPr id="10" name="TextBox 9"/>
          <p:cNvSpPr txBox="1"/>
          <p:nvPr/>
        </p:nvSpPr>
        <p:spPr>
          <a:xfrm>
            <a:off x="457200" y="4218431"/>
            <a:ext cx="4485025" cy="633984"/>
          </a:xfrm>
          <a:prstGeom prst="rect">
            <a:avLst/>
          </a:prstGeom>
          <a:noFill/>
        </p:spPr>
        <p:txBody>
          <a:bodyPr wrap="none" lIns="0" rIns="0">
            <a:noAutofit/>
          </a:bodyPr>
          <a:lstStyle/>
          <a:p>
            <a:pPr algn="l"/>
            <a:r>
              <a:rPr sz="3400" b="0" i="0">
                <a:solidFill>
                  <a:srgbClr val="0A2240"/>
                </a:solidFill>
                <a:latin typeface="Arial"/>
              </a:rPr>
              <a:t>Laptop closed</a:t>
            </a:r>
          </a:p>
        </p:txBody>
      </p:sp>
      <p:sp>
        <p:nvSpPr>
          <p:cNvPr id="11" name="TextBox 10"/>
          <p:cNvSpPr txBox="1"/>
          <p:nvPr/>
        </p:nvSpPr>
        <p:spPr>
          <a:xfrm>
            <a:off x="4275497" y="4218431"/>
            <a:ext cx="7441505" cy="633984"/>
          </a:xfrm>
          <a:prstGeom prst="rect">
            <a:avLst/>
          </a:prstGeom>
          <a:noFill/>
        </p:spPr>
        <p:txBody>
          <a:bodyPr wrap="none" lIns="0" rIns="0">
            <a:noAutofit/>
          </a:bodyPr>
          <a:lstStyle/>
          <a:p>
            <a:pPr algn="l"/>
            <a:r>
              <a:rPr sz="3400" b="0" i="0">
                <a:solidFill>
                  <a:srgbClr val="0A2240"/>
                </a:solidFill>
                <a:latin typeface="Arial"/>
              </a:rPr>
              <a:t>A teammate can open it</a:t>
            </a:r>
          </a:p>
        </p:txBody>
      </p:sp>
      <p:sp>
        <p:nvSpPr>
          <p:cNvPr id="12" name="TextBox 11"/>
          <p:cNvSpPr txBox="1"/>
          <p:nvPr/>
        </p:nvSpPr>
        <p:spPr>
          <a:xfrm>
            <a:off x="457200" y="5126735"/>
            <a:ext cx="3484800" cy="633984"/>
          </a:xfrm>
          <a:prstGeom prst="rect">
            <a:avLst/>
          </a:prstGeom>
          <a:noFill/>
        </p:spPr>
        <p:txBody>
          <a:bodyPr wrap="none" lIns="0" rIns="0">
            <a:noAutofit/>
          </a:bodyPr>
          <a:lstStyle/>
          <a:p>
            <a:pPr algn="l"/>
            <a:r>
              <a:rPr sz="3400" b="0" i="0">
                <a:solidFill>
                  <a:srgbClr val="0A2240"/>
                </a:solidFill>
                <a:latin typeface="Arial"/>
              </a:rPr>
              <a:t>No secrets</a:t>
            </a:r>
          </a:p>
        </p:txBody>
      </p:sp>
      <p:sp>
        <p:nvSpPr>
          <p:cNvPr id="13" name="TextBox 12"/>
          <p:cNvSpPr txBox="1"/>
          <p:nvPr/>
        </p:nvSpPr>
        <p:spPr>
          <a:xfrm>
            <a:off x="4275497" y="5126735"/>
            <a:ext cx="7403723" cy="633984"/>
          </a:xfrm>
          <a:prstGeom prst="rect">
            <a:avLst/>
          </a:prstGeom>
          <a:noFill/>
        </p:spPr>
        <p:txBody>
          <a:bodyPr wrap="none" lIns="0" rIns="0">
            <a:noAutofit/>
          </a:bodyPr>
          <a:lstStyle/>
          <a:p>
            <a:pPr algn="l"/>
            <a:r>
              <a:rPr sz="3400" b="0" i="0">
                <a:solidFill>
                  <a:srgbClr val="0A2240"/>
                </a:solidFill>
                <a:latin typeface="Arial"/>
              </a:rPr>
              <a:t>Nothing in page or repo</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"Needs your laptop? Not shipped."</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Script and Caveats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Demo script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three minutes, written down word for word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Minutes</a:t>
            </a:r>
          </a:p>
        </p:txBody>
      </p:sp>
      <p:sp>
        <p:nvSpPr>
          <p:cNvPr id="3" name="TextBox 2"/>
          <p:cNvSpPr txBox="1"/>
          <p:nvPr/>
        </p:nvSpPr>
        <p:spPr>
          <a:xfrm>
            <a:off x="457200" y="1499616"/>
            <a:ext cx="2286722" cy="518159"/>
          </a:xfrm>
          <a:prstGeom prst="rect">
            <a:avLst/>
          </a:prstGeom>
          <a:noFill/>
        </p:spPr>
        <p:txBody>
          <a:bodyPr wrap="none" lIns="0" rIns="0">
            <a:noAutofit/>
          </a:bodyPr>
          <a:lstStyle/>
          <a:p>
            <a:pPr algn="l"/>
            <a:r>
              <a:rPr sz="3400" b="1" i="0">
                <a:solidFill>
                  <a:srgbClr val="123A6B"/>
                </a:solidFill>
                <a:latin typeface="Arial"/>
              </a:rPr>
              <a:t>Time</a:t>
            </a:r>
          </a:p>
        </p:txBody>
      </p:sp>
      <p:sp>
        <p:nvSpPr>
          <p:cNvPr id="4" name="TextBox 3"/>
          <p:cNvSpPr txBox="1"/>
          <p:nvPr/>
        </p:nvSpPr>
        <p:spPr>
          <a:xfrm>
            <a:off x="3292562" y="1499616"/>
            <a:ext cx="5406308" cy="518159"/>
          </a:xfrm>
          <a:prstGeom prst="rect">
            <a:avLst/>
          </a:prstGeom>
          <a:noFill/>
        </p:spPr>
        <p:txBody>
          <a:bodyPr wrap="none" lIns="0" rIns="0">
            <a:noAutofit/>
          </a:bodyPr>
          <a:lstStyle/>
          <a:p>
            <a:pPr algn="l"/>
            <a:r>
              <a:rPr sz="3400" b="1" i="0">
                <a:solidFill>
                  <a:srgbClr val="123A6B"/>
                </a:solidFill>
                <a:latin typeface="Arial"/>
              </a:rPr>
              <a:t>What you say</a:t>
            </a:r>
          </a:p>
        </p:txBody>
      </p:sp>
      <p:sp>
        <p:nvSpPr>
          <p:cNvPr id="5" name="Rectangle 4"/>
          <p:cNvSpPr/>
          <p:nvPr/>
        </p:nvSpPr>
        <p:spPr>
          <a:xfrm>
            <a:off x="457200" y="2072639"/>
            <a:ext cx="824167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256419" cy="633984"/>
          </a:xfrm>
          <a:prstGeom prst="rect">
            <a:avLst/>
          </a:prstGeom>
          <a:noFill/>
        </p:spPr>
        <p:txBody>
          <a:bodyPr wrap="none" lIns="0" rIns="0">
            <a:noAutofit/>
          </a:bodyPr>
          <a:lstStyle/>
          <a:p>
            <a:pPr algn="l"/>
            <a:r>
              <a:rPr sz="3400" b="0" i="0">
                <a:solidFill>
                  <a:srgbClr val="0A2240"/>
                </a:solidFill>
                <a:latin typeface="Arial"/>
              </a:rPr>
              <a:t>0:00–0:30</a:t>
            </a:r>
          </a:p>
        </p:txBody>
      </p:sp>
      <p:sp>
        <p:nvSpPr>
          <p:cNvPr id="7" name="TextBox 6"/>
          <p:cNvSpPr txBox="1"/>
          <p:nvPr/>
        </p:nvSpPr>
        <p:spPr>
          <a:xfrm>
            <a:off x="3292562" y="2401823"/>
            <a:ext cx="7593985" cy="633984"/>
          </a:xfrm>
          <a:prstGeom prst="rect">
            <a:avLst/>
          </a:prstGeom>
          <a:noFill/>
        </p:spPr>
        <p:txBody>
          <a:bodyPr wrap="none" lIns="0" rIns="0">
            <a:noAutofit/>
          </a:bodyPr>
          <a:lstStyle/>
          <a:p>
            <a:pPr algn="l"/>
            <a:r>
              <a:rPr sz="3400" b="0" i="0">
                <a:solidFill>
                  <a:srgbClr val="0A2240"/>
                </a:solidFill>
                <a:latin typeface="Arial"/>
              </a:rPr>
              <a:t>The problem, concretely</a:t>
            </a:r>
          </a:p>
        </p:txBody>
      </p:sp>
      <p:sp>
        <p:nvSpPr>
          <p:cNvPr id="8" name="TextBox 7"/>
          <p:cNvSpPr txBox="1"/>
          <p:nvPr/>
        </p:nvSpPr>
        <p:spPr>
          <a:xfrm>
            <a:off x="457200" y="3310127"/>
            <a:ext cx="3256419" cy="633984"/>
          </a:xfrm>
          <a:prstGeom prst="rect">
            <a:avLst/>
          </a:prstGeom>
          <a:noFill/>
        </p:spPr>
        <p:txBody>
          <a:bodyPr wrap="none" lIns="0" rIns="0">
            <a:noAutofit/>
          </a:bodyPr>
          <a:lstStyle/>
          <a:p>
            <a:pPr algn="l"/>
            <a:r>
              <a:rPr sz="3400" b="0" i="0">
                <a:solidFill>
                  <a:srgbClr val="0A2240"/>
                </a:solidFill>
                <a:latin typeface="Arial"/>
              </a:rPr>
              <a:t>0:30–2:00</a:t>
            </a:r>
          </a:p>
        </p:txBody>
      </p:sp>
      <p:sp>
        <p:nvSpPr>
          <p:cNvPr id="9" name="TextBox 8"/>
          <p:cNvSpPr txBox="1"/>
          <p:nvPr/>
        </p:nvSpPr>
        <p:spPr>
          <a:xfrm>
            <a:off x="3292562" y="3310127"/>
            <a:ext cx="7017126" cy="633984"/>
          </a:xfrm>
          <a:prstGeom prst="rect">
            <a:avLst/>
          </a:prstGeom>
          <a:noFill/>
        </p:spPr>
        <p:txBody>
          <a:bodyPr wrap="none" lIns="0" rIns="0">
            <a:noAutofit/>
          </a:bodyPr>
          <a:lstStyle/>
          <a:p>
            <a:pPr algn="l"/>
            <a:r>
              <a:rPr sz="3400" b="0" i="0">
                <a:solidFill>
                  <a:srgbClr val="0A2240"/>
                </a:solidFill>
                <a:latin typeface="Arial"/>
              </a:rPr>
              <a:t>Drive it, live, in silence</a:t>
            </a:r>
          </a:p>
        </p:txBody>
      </p:sp>
      <p:sp>
        <p:nvSpPr>
          <p:cNvPr id="10" name="TextBox 9"/>
          <p:cNvSpPr txBox="1"/>
          <p:nvPr/>
        </p:nvSpPr>
        <p:spPr>
          <a:xfrm>
            <a:off x="457200" y="4218431"/>
            <a:ext cx="3256419" cy="633984"/>
          </a:xfrm>
          <a:prstGeom prst="rect">
            <a:avLst/>
          </a:prstGeom>
          <a:noFill/>
        </p:spPr>
        <p:txBody>
          <a:bodyPr wrap="none" lIns="0" rIns="0">
            <a:noAutofit/>
          </a:bodyPr>
          <a:lstStyle/>
          <a:p>
            <a:pPr algn="l"/>
            <a:r>
              <a:rPr sz="3400" b="0" i="0">
                <a:solidFill>
                  <a:srgbClr val="0A2240"/>
                </a:solidFill>
                <a:latin typeface="Arial"/>
              </a:rPr>
              <a:t>2:00–2:30</a:t>
            </a:r>
          </a:p>
        </p:txBody>
      </p:sp>
      <p:sp>
        <p:nvSpPr>
          <p:cNvPr id="11" name="TextBox 10"/>
          <p:cNvSpPr txBox="1"/>
          <p:nvPr/>
        </p:nvSpPr>
        <p:spPr>
          <a:xfrm>
            <a:off x="3292562" y="4218431"/>
            <a:ext cx="7516732" cy="633984"/>
          </a:xfrm>
          <a:prstGeom prst="rect">
            <a:avLst/>
          </a:prstGeom>
          <a:noFill/>
        </p:spPr>
        <p:txBody>
          <a:bodyPr wrap="none" lIns="0" rIns="0">
            <a:noAutofit/>
          </a:bodyPr>
          <a:lstStyle/>
          <a:p>
            <a:pPr algn="l"/>
            <a:r>
              <a:rPr sz="3400" b="0" i="0">
                <a:solidFill>
                  <a:srgbClr val="0A2240"/>
                </a:solidFill>
                <a:latin typeface="Arial"/>
              </a:rPr>
              <a:t>What is real, what is not</a:t>
            </a:r>
          </a:p>
        </p:txBody>
      </p:sp>
      <p:sp>
        <p:nvSpPr>
          <p:cNvPr id="12" name="TextBox 11"/>
          <p:cNvSpPr txBox="1"/>
          <p:nvPr/>
        </p:nvSpPr>
        <p:spPr>
          <a:xfrm>
            <a:off x="457200" y="5126735"/>
            <a:ext cx="3256419" cy="633984"/>
          </a:xfrm>
          <a:prstGeom prst="rect">
            <a:avLst/>
          </a:prstGeom>
          <a:noFill/>
        </p:spPr>
        <p:txBody>
          <a:bodyPr wrap="none" lIns="0" rIns="0">
            <a:noAutofit/>
          </a:bodyPr>
          <a:lstStyle/>
          <a:p>
            <a:pPr algn="l"/>
            <a:r>
              <a:rPr sz="3400" b="0" i="0">
                <a:solidFill>
                  <a:srgbClr val="0A2240"/>
                </a:solidFill>
                <a:latin typeface="Arial"/>
              </a:rPr>
              <a:t>2:30–3:00</a:t>
            </a:r>
          </a:p>
        </p:txBody>
      </p:sp>
      <p:sp>
        <p:nvSpPr>
          <p:cNvPr id="13" name="TextBox 12"/>
          <p:cNvSpPr txBox="1"/>
          <p:nvPr/>
        </p:nvSpPr>
        <p:spPr>
          <a:xfrm>
            <a:off x="3292562" y="5126735"/>
            <a:ext cx="8247756" cy="633984"/>
          </a:xfrm>
          <a:prstGeom prst="rect">
            <a:avLst/>
          </a:prstGeom>
          <a:noFill/>
        </p:spPr>
        <p:txBody>
          <a:bodyPr wrap="none" lIns="0" rIns="0">
            <a:noAutofit/>
          </a:bodyPr>
          <a:lstStyle/>
          <a:p>
            <a:pPr algn="l"/>
            <a:r>
              <a:rPr sz="3400" b="0" i="0">
                <a:solidFill>
                  <a:srgbClr val="0A2240"/>
                </a:solidFill>
                <a:latin typeface="Arial"/>
              </a:rPr>
              <a:t>What you would build next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First Thirty Seconds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Name who has the problem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Say what it costs them today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sentence, no background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stop and show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 Not Say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Let me explain the architecture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Normally this works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We ran out of time to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basically just a wrapper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Rehearse It Properly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Time it, out loud</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Silently in your head is always shorter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382072" cy="640080"/>
          </a:xfrm>
          <a:prstGeom prst="rect">
            <a:avLst/>
          </a:prstGeom>
          <a:noFill/>
        </p:spPr>
        <p:txBody>
          <a:bodyPr wrap="none" lIns="0" rIns="0">
            <a:noAutofit/>
          </a:bodyPr>
          <a:lstStyle/>
          <a:p>
            <a:pPr algn="l"/>
            <a:r>
              <a:rPr sz="4200" b="1" i="0">
                <a:solidFill>
                  <a:srgbClr val="123A6B"/>
                </a:solidFill>
                <a:latin typeface="Arial"/>
              </a:rPr>
              <a:t>Have someone else drive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The builder's hands hide the rough edges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Cut until it fits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Three minutes means three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Caveat list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Everything stubbed, faked, or known to break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Goes on the List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step you stubbed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hardcoded value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Inputs you know it fails 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only tested once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Write It Down</a:t>
            </a:r>
          </a:p>
        </p:txBody>
      </p:sp>
      <p:sp>
        <p:nvSpPr>
          <p:cNvPr id="3" name="TextBox 2"/>
          <p:cNvSpPr txBox="1"/>
          <p:nvPr/>
        </p:nvSpPr>
        <p:spPr>
          <a:xfrm>
            <a:off x="457200" y="1499616"/>
            <a:ext cx="2765539" cy="518159"/>
          </a:xfrm>
          <a:prstGeom prst="rect">
            <a:avLst/>
          </a:prstGeom>
          <a:noFill/>
        </p:spPr>
        <p:txBody>
          <a:bodyPr wrap="none" lIns="0" rIns="0">
            <a:noAutofit/>
          </a:bodyPr>
          <a:lstStyle/>
          <a:p>
            <a:pPr algn="l"/>
            <a:r>
              <a:rPr sz="3400" b="1" i="0">
                <a:solidFill>
                  <a:srgbClr val="123A6B"/>
                </a:solidFill>
                <a:latin typeface="Arial"/>
              </a:rPr>
              <a:t>What</a:t>
            </a:r>
          </a:p>
        </p:txBody>
      </p:sp>
      <p:sp>
        <p:nvSpPr>
          <p:cNvPr id="4" name="TextBox 3"/>
          <p:cNvSpPr txBox="1"/>
          <p:nvPr/>
        </p:nvSpPr>
        <p:spPr>
          <a:xfrm>
            <a:off x="3771379" y="1499616"/>
            <a:ext cx="3894797" cy="518159"/>
          </a:xfrm>
          <a:prstGeom prst="rect">
            <a:avLst/>
          </a:prstGeom>
          <a:noFill/>
        </p:spPr>
        <p:txBody>
          <a:bodyPr wrap="none" lIns="0" rIns="0">
            <a:noAutofit/>
          </a:bodyPr>
          <a:lstStyle/>
          <a:p>
            <a:pPr algn="l"/>
            <a:r>
              <a:rPr sz="3400" b="1" i="0">
                <a:solidFill>
                  <a:srgbClr val="123A6B"/>
                </a:solidFill>
                <a:latin typeface="Arial"/>
              </a:rPr>
              <a:t>Status</a:t>
            </a:r>
          </a:p>
        </p:txBody>
      </p:sp>
      <p:sp>
        <p:nvSpPr>
          <p:cNvPr id="5" name="Rectangle 4"/>
          <p:cNvSpPr/>
          <p:nvPr/>
        </p:nvSpPr>
        <p:spPr>
          <a:xfrm>
            <a:off x="457200" y="2072639"/>
            <a:ext cx="720897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765539" cy="633984"/>
          </a:xfrm>
          <a:prstGeom prst="rect">
            <a:avLst/>
          </a:prstGeom>
          <a:noFill/>
        </p:spPr>
        <p:txBody>
          <a:bodyPr wrap="none" lIns="0" rIns="0">
            <a:noAutofit/>
          </a:bodyPr>
          <a:lstStyle/>
          <a:p>
            <a:pPr algn="l"/>
            <a:r>
              <a:rPr sz="3400" b="0" i="0">
                <a:solidFill>
                  <a:srgbClr val="0A2240"/>
                </a:solidFill>
                <a:latin typeface="Arial"/>
              </a:rPr>
              <a:t>Login</a:t>
            </a:r>
          </a:p>
        </p:txBody>
      </p:sp>
      <p:sp>
        <p:nvSpPr>
          <p:cNvPr id="7" name="TextBox 6"/>
          <p:cNvSpPr txBox="1"/>
          <p:nvPr/>
        </p:nvSpPr>
        <p:spPr>
          <a:xfrm>
            <a:off x="3771379" y="2401823"/>
            <a:ext cx="5829339" cy="633984"/>
          </a:xfrm>
          <a:prstGeom prst="rect">
            <a:avLst/>
          </a:prstGeom>
          <a:noFill/>
        </p:spPr>
        <p:txBody>
          <a:bodyPr wrap="none" lIns="0" rIns="0">
            <a:noAutofit/>
          </a:bodyPr>
          <a:lstStyle/>
          <a:p>
            <a:pPr algn="l"/>
            <a:r>
              <a:rPr sz="3400" b="0" i="0">
                <a:solidFill>
                  <a:srgbClr val="0A2240"/>
                </a:solidFill>
                <a:latin typeface="Arial"/>
              </a:rPr>
              <a:t>Stubbed, one user</a:t>
            </a:r>
          </a:p>
        </p:txBody>
      </p:sp>
      <p:sp>
        <p:nvSpPr>
          <p:cNvPr id="8" name="TextBox 7"/>
          <p:cNvSpPr txBox="1"/>
          <p:nvPr/>
        </p:nvSpPr>
        <p:spPr>
          <a:xfrm>
            <a:off x="457200" y="3310127"/>
            <a:ext cx="4022526" cy="633984"/>
          </a:xfrm>
          <a:prstGeom prst="rect">
            <a:avLst/>
          </a:prstGeom>
          <a:noFill/>
        </p:spPr>
        <p:txBody>
          <a:bodyPr wrap="none" lIns="0" rIns="0">
            <a:noAutofit/>
          </a:bodyPr>
          <a:lstStyle/>
          <a:p>
            <a:pPr algn="l"/>
            <a:r>
              <a:rPr sz="3400" b="0" i="0">
                <a:solidFill>
                  <a:srgbClr val="0A2240"/>
                </a:solidFill>
                <a:latin typeface="Arial"/>
              </a:rPr>
              <a:t>PDF parsing</a:t>
            </a:r>
          </a:p>
        </p:txBody>
      </p:sp>
      <p:sp>
        <p:nvSpPr>
          <p:cNvPr id="9" name="TextBox 8"/>
          <p:cNvSpPr txBox="1"/>
          <p:nvPr/>
        </p:nvSpPr>
        <p:spPr>
          <a:xfrm>
            <a:off x="3771379" y="3310127"/>
            <a:ext cx="4023201" cy="633984"/>
          </a:xfrm>
          <a:prstGeom prst="rect">
            <a:avLst/>
          </a:prstGeom>
          <a:noFill/>
        </p:spPr>
        <p:txBody>
          <a:bodyPr wrap="none" lIns="0" rIns="0">
            <a:noAutofit/>
          </a:bodyPr>
          <a:lstStyle/>
          <a:p>
            <a:pPr algn="l"/>
            <a:r>
              <a:rPr sz="3400" b="0" i="0">
                <a:solidFill>
                  <a:srgbClr val="0A2240"/>
                </a:solidFill>
                <a:latin typeface="Arial"/>
              </a:rPr>
              <a:t>One file only</a:t>
            </a:r>
          </a:p>
        </p:txBody>
      </p:sp>
      <p:sp>
        <p:nvSpPr>
          <p:cNvPr id="10" name="TextBox 9"/>
          <p:cNvSpPr txBox="1"/>
          <p:nvPr/>
        </p:nvSpPr>
        <p:spPr>
          <a:xfrm>
            <a:off x="457200" y="4218431"/>
            <a:ext cx="2908955" cy="633984"/>
          </a:xfrm>
          <a:prstGeom prst="rect">
            <a:avLst/>
          </a:prstGeom>
          <a:noFill/>
        </p:spPr>
        <p:txBody>
          <a:bodyPr wrap="none" lIns="0" rIns="0">
            <a:noAutofit/>
          </a:bodyPr>
          <a:lstStyle/>
          <a:p>
            <a:pPr algn="l"/>
            <a:r>
              <a:rPr sz="3400" b="0" i="0">
                <a:solidFill>
                  <a:srgbClr val="0A2240"/>
                </a:solidFill>
                <a:latin typeface="Arial"/>
              </a:rPr>
              <a:t>Retrieval</a:t>
            </a:r>
          </a:p>
        </p:txBody>
      </p:sp>
      <p:sp>
        <p:nvSpPr>
          <p:cNvPr id="11" name="TextBox 10"/>
          <p:cNvSpPr txBox="1"/>
          <p:nvPr/>
        </p:nvSpPr>
        <p:spPr>
          <a:xfrm>
            <a:off x="3771379" y="4218431"/>
            <a:ext cx="5328721" cy="633984"/>
          </a:xfrm>
          <a:prstGeom prst="rect">
            <a:avLst/>
          </a:prstGeom>
          <a:noFill/>
        </p:spPr>
        <p:txBody>
          <a:bodyPr wrap="none" lIns="0" rIns="0">
            <a:noAutofit/>
          </a:bodyPr>
          <a:lstStyle/>
          <a:p>
            <a:pPr algn="l"/>
            <a:r>
              <a:rPr sz="3400" b="0" i="0">
                <a:solidFill>
                  <a:srgbClr val="0A2240"/>
                </a:solidFill>
                <a:latin typeface="Arial"/>
              </a:rPr>
              <a:t>Faked, four docs</a:t>
            </a:r>
          </a:p>
        </p:txBody>
      </p:sp>
      <p:sp>
        <p:nvSpPr>
          <p:cNvPr id="12" name="TextBox 11"/>
          <p:cNvSpPr txBox="1"/>
          <p:nvPr/>
        </p:nvSpPr>
        <p:spPr>
          <a:xfrm>
            <a:off x="457200" y="5126735"/>
            <a:ext cx="3755350" cy="633984"/>
          </a:xfrm>
          <a:prstGeom prst="rect">
            <a:avLst/>
          </a:prstGeom>
          <a:noFill/>
        </p:spPr>
        <p:txBody>
          <a:bodyPr wrap="none" lIns="0" rIns="0">
            <a:noAutofit/>
          </a:bodyPr>
          <a:lstStyle/>
          <a:p>
            <a:pPr algn="l"/>
            <a:r>
              <a:rPr sz="3400" b="0" i="0">
                <a:solidFill>
                  <a:srgbClr val="0A2240"/>
                </a:solidFill>
                <a:latin typeface="Arial"/>
              </a:rPr>
              <a:t>Long inputs</a:t>
            </a:r>
          </a:p>
        </p:txBody>
      </p:sp>
      <p:sp>
        <p:nvSpPr>
          <p:cNvPr id="13" name="TextBox 12"/>
          <p:cNvSpPr txBox="1"/>
          <p:nvPr/>
        </p:nvSpPr>
        <p:spPr>
          <a:xfrm>
            <a:off x="3771379" y="5126735"/>
            <a:ext cx="4983619" cy="633984"/>
          </a:xfrm>
          <a:prstGeom prst="rect">
            <a:avLst/>
          </a:prstGeom>
          <a:noFill/>
        </p:spPr>
        <p:txBody>
          <a:bodyPr wrap="none" lIns="0" rIns="0">
            <a:noAutofit/>
          </a:bodyPr>
          <a:lstStyle/>
          <a:p>
            <a:pPr algn="l"/>
            <a:r>
              <a:rPr sz="3400" b="0" i="0">
                <a:solidFill>
                  <a:srgbClr val="0A2240"/>
                </a:solidFill>
                <a:latin typeface="Arial"/>
              </a:rPr>
              <a:t>Known to break</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677649" cy="640080"/>
          </a:xfrm>
          <a:prstGeom prst="rect">
            <a:avLst/>
          </a:prstGeom>
          <a:noFill/>
        </p:spPr>
        <p:txBody>
          <a:bodyPr wrap="none" lIns="0" rIns="0">
            <a:noAutofit/>
          </a:bodyPr>
          <a:lstStyle/>
          <a:p>
            <a:pPr algn="l"/>
            <a:r>
              <a:rPr sz="4200" b="0" i="0">
                <a:solidFill>
                  <a:srgbClr val="D4D4D4"/>
                </a:solidFill>
                <a:latin typeface="Arial"/>
              </a:rPr>
              <a:t>CAVEATS.md, in the repo root</a:t>
            </a:r>
          </a:p>
        </p:txBody>
      </p:sp>
      <p:sp>
        <p:nvSpPr>
          <p:cNvPr id="6" name="TextBox 5"/>
          <p:cNvSpPr txBox="1"/>
          <p:nvPr/>
        </p:nvSpPr>
        <p:spPr>
          <a:xfrm>
            <a:off x="457200" y="1837944"/>
            <a:ext cx="9245619" cy="518159"/>
          </a:xfrm>
          <a:prstGeom prst="rect">
            <a:avLst/>
          </a:prstGeom>
          <a:noFill/>
        </p:spPr>
        <p:txBody>
          <a:bodyPr wrap="none" lIns="0" rIns="0">
            <a:noAutofit/>
          </a:bodyPr>
          <a:lstStyle/>
          <a:p>
            <a:pPr algn="l"/>
            <a:r>
              <a:rPr sz="3400" b="0" i="0">
                <a:solidFill>
                  <a:srgbClr val="6A9955"/>
                </a:solidFill>
                <a:latin typeface="Arial"/>
              </a:rPr>
              <a:t># What is real and what is not</a:t>
            </a:r>
          </a:p>
        </p:txBody>
      </p:sp>
      <p:sp>
        <p:nvSpPr>
          <p:cNvPr id="7" name="TextBox 6"/>
          <p:cNvSpPr txBox="1"/>
          <p:nvPr/>
        </p:nvSpPr>
        <p:spPr>
          <a:xfrm>
            <a:off x="457200" y="2356103"/>
            <a:ext cx="9361328" cy="518159"/>
          </a:xfrm>
          <a:prstGeom prst="rect">
            <a:avLst/>
          </a:prstGeom>
          <a:noFill/>
        </p:spPr>
        <p:txBody>
          <a:bodyPr wrap="none" lIns="0" rIns="0">
            <a:noAutofit/>
          </a:bodyPr>
          <a:lstStyle/>
          <a:p>
            <a:pPr algn="l"/>
            <a:r>
              <a:rPr sz="3400" b="0" i="0">
                <a:solidFill>
                  <a:srgbClr val="D4D4D4"/>
                </a:solidFill>
                <a:latin typeface="Arial"/>
              </a:rPr>
              <a:t>- Login: stubbed, always user </a:t>
            </a:r>
          </a:p>
        </p:txBody>
      </p:sp>
      <p:sp>
        <p:nvSpPr>
          <p:cNvPr id="8" name="TextBox 7"/>
          <p:cNvSpPr txBox="1"/>
          <p:nvPr/>
        </p:nvSpPr>
        <p:spPr>
          <a:xfrm>
            <a:off x="6193730" y="2356103"/>
            <a:ext cx="1826081" cy="518159"/>
          </a:xfrm>
          <a:prstGeom prst="rect">
            <a:avLst/>
          </a:prstGeom>
          <a:noFill/>
        </p:spPr>
        <p:txBody>
          <a:bodyPr wrap="none" lIns="0" rIns="0">
            <a:noAutofit/>
          </a:bodyPr>
          <a:lstStyle/>
          <a:p>
            <a:pPr algn="l"/>
            <a:r>
              <a:rPr sz="3400" b="0" i="0">
                <a:solidFill>
                  <a:srgbClr val="CE9178"/>
                </a:solidFill>
                <a:latin typeface="Arial"/>
              </a:rPr>
              <a:t>"ana"</a:t>
            </a:r>
          </a:p>
        </p:txBody>
      </p:sp>
      <p:sp>
        <p:nvSpPr>
          <p:cNvPr id="9" name="TextBox 8"/>
          <p:cNvSpPr txBox="1"/>
          <p:nvPr/>
        </p:nvSpPr>
        <p:spPr>
          <a:xfrm>
            <a:off x="457200" y="2874262"/>
            <a:ext cx="9360654" cy="518159"/>
          </a:xfrm>
          <a:prstGeom prst="rect">
            <a:avLst/>
          </a:prstGeom>
          <a:noFill/>
        </p:spPr>
        <p:txBody>
          <a:bodyPr wrap="none" lIns="0" rIns="0">
            <a:noAutofit/>
          </a:bodyPr>
          <a:lstStyle/>
          <a:p>
            <a:pPr algn="l"/>
            <a:r>
              <a:rPr sz="3400" b="0" i="0">
                <a:solidFill>
                  <a:srgbClr val="D4D4D4"/>
                </a:solidFill>
                <a:latin typeface="Arial"/>
              </a:rPr>
              <a:t>- Input: only fixtures/report.pdf</a:t>
            </a:r>
          </a:p>
        </p:txBody>
      </p:sp>
      <p:sp>
        <p:nvSpPr>
          <p:cNvPr id="10" name="TextBox 9"/>
          <p:cNvSpPr txBox="1"/>
          <p:nvPr/>
        </p:nvSpPr>
        <p:spPr>
          <a:xfrm>
            <a:off x="457200" y="3392421"/>
            <a:ext cx="3714868" cy="518159"/>
          </a:xfrm>
          <a:prstGeom prst="rect">
            <a:avLst/>
          </a:prstGeom>
          <a:noFill/>
        </p:spPr>
        <p:txBody>
          <a:bodyPr wrap="none" lIns="0" rIns="0">
            <a:noAutofit/>
          </a:bodyPr>
          <a:lstStyle/>
          <a:p>
            <a:pPr algn="l"/>
            <a:r>
              <a:rPr sz="3400" b="0" i="0">
                <a:solidFill>
                  <a:srgbClr val="D4D4D4"/>
                </a:solidFill>
                <a:latin typeface="Arial"/>
              </a:rPr>
              <a:t>- Retrieval: </a:t>
            </a:r>
          </a:p>
        </p:txBody>
      </p:sp>
      <p:sp>
        <p:nvSpPr>
          <p:cNvPr id="11" name="TextBox 10"/>
          <p:cNvSpPr txBox="1"/>
          <p:nvPr/>
        </p:nvSpPr>
        <p:spPr>
          <a:xfrm>
            <a:off x="2664693" y="3392421"/>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2" name="TextBox 11"/>
          <p:cNvSpPr txBox="1"/>
          <p:nvPr/>
        </p:nvSpPr>
        <p:spPr>
          <a:xfrm>
            <a:off x="2904840" y="3392421"/>
            <a:ext cx="4484350" cy="518159"/>
          </a:xfrm>
          <a:prstGeom prst="rect">
            <a:avLst/>
          </a:prstGeom>
          <a:noFill/>
        </p:spPr>
        <p:txBody>
          <a:bodyPr wrap="none" lIns="0" rIns="0">
            <a:noAutofit/>
          </a:bodyPr>
          <a:lstStyle/>
          <a:p>
            <a:pPr algn="l"/>
            <a:r>
              <a:rPr sz="3400" b="0" i="0">
                <a:solidFill>
                  <a:srgbClr val="D4D4D4"/>
                </a:solidFill>
                <a:latin typeface="Arial"/>
              </a:rPr>
              <a:t> docs, pasted </a:t>
            </a:r>
          </a:p>
        </p:txBody>
      </p:sp>
      <p:sp>
        <p:nvSpPr>
          <p:cNvPr id="13" name="TextBox 12"/>
          <p:cNvSpPr txBox="1"/>
          <p:nvPr/>
        </p:nvSpPr>
        <p:spPr>
          <a:xfrm>
            <a:off x="5593259"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4" name="TextBox 13"/>
          <p:cNvSpPr txBox="1"/>
          <p:nvPr/>
        </p:nvSpPr>
        <p:spPr>
          <a:xfrm>
            <a:off x="6193520" y="3392421"/>
            <a:ext cx="2641104" cy="518159"/>
          </a:xfrm>
          <a:prstGeom prst="rect">
            <a:avLst/>
          </a:prstGeom>
          <a:noFill/>
        </p:spPr>
        <p:txBody>
          <a:bodyPr wrap="none" lIns="0" rIns="0">
            <a:noAutofit/>
          </a:bodyPr>
          <a:lstStyle/>
          <a:p>
            <a:pPr algn="l"/>
            <a:r>
              <a:rPr sz="3400" b="0" i="0">
                <a:solidFill>
                  <a:srgbClr val="D4D4D4"/>
                </a:solidFill>
                <a:latin typeface="Arial"/>
              </a:rPr>
              <a:t> fetched</a:t>
            </a:r>
          </a:p>
        </p:txBody>
      </p:sp>
      <p:sp>
        <p:nvSpPr>
          <p:cNvPr id="15" name="TextBox 14"/>
          <p:cNvSpPr txBox="1"/>
          <p:nvPr/>
        </p:nvSpPr>
        <p:spPr>
          <a:xfrm>
            <a:off x="457200" y="3910580"/>
            <a:ext cx="7382808" cy="518159"/>
          </a:xfrm>
          <a:prstGeom prst="rect">
            <a:avLst/>
          </a:prstGeom>
          <a:noFill/>
        </p:spPr>
        <p:txBody>
          <a:bodyPr wrap="none" lIns="0" rIns="0">
            <a:noAutofit/>
          </a:bodyPr>
          <a:lstStyle/>
          <a:p>
            <a:pPr algn="l"/>
            <a:r>
              <a:rPr sz="3400" b="0" i="0">
                <a:solidFill>
                  <a:srgbClr val="D4D4D4"/>
                </a:solidFill>
                <a:latin typeface="Arial"/>
              </a:rPr>
              <a:t>- Fails on: inputs over ~</a:t>
            </a:r>
          </a:p>
        </p:txBody>
      </p:sp>
      <p:sp>
        <p:nvSpPr>
          <p:cNvPr id="16" name="TextBox 15"/>
          <p:cNvSpPr txBox="1"/>
          <p:nvPr/>
        </p:nvSpPr>
        <p:spPr>
          <a:xfrm>
            <a:off x="4957155" y="3910580"/>
            <a:ext cx="951348" cy="518159"/>
          </a:xfrm>
          <a:prstGeom prst="rect">
            <a:avLst/>
          </a:prstGeom>
          <a:noFill/>
        </p:spPr>
        <p:txBody>
          <a:bodyPr wrap="none" lIns="0" rIns="0">
            <a:noAutofit/>
          </a:bodyPr>
          <a:lstStyle/>
          <a:p>
            <a:pPr algn="l"/>
            <a:r>
              <a:rPr sz="3400" b="0" i="0">
                <a:solidFill>
                  <a:srgbClr val="B5CEA8"/>
                </a:solidFill>
                <a:latin typeface="Arial"/>
              </a:rPr>
              <a:t>20</a:t>
            </a:r>
          </a:p>
        </p:txBody>
      </p:sp>
      <p:sp>
        <p:nvSpPr>
          <p:cNvPr id="17" name="TextBox 16"/>
          <p:cNvSpPr txBox="1"/>
          <p:nvPr/>
        </p:nvSpPr>
        <p:spPr>
          <a:xfrm>
            <a:off x="5437448" y="3910580"/>
            <a:ext cx="2257206" cy="518159"/>
          </a:xfrm>
          <a:prstGeom prst="rect">
            <a:avLst/>
          </a:prstGeom>
          <a:noFill/>
        </p:spPr>
        <p:txBody>
          <a:bodyPr wrap="none" lIns="0" rIns="0">
            <a:noAutofit/>
          </a:bodyPr>
          <a:lstStyle/>
          <a:p>
            <a:pPr algn="l"/>
            <a:r>
              <a:rPr sz="3400" b="0" i="0">
                <a:solidFill>
                  <a:srgbClr val="D4D4D4"/>
                </a:solidFill>
                <a:latin typeface="Arial"/>
              </a:rPr>
              <a:t> pages</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11392" cy="768096"/>
          </a:xfrm>
          <a:prstGeom prst="rect">
            <a:avLst/>
          </a:prstGeom>
          <a:noFill/>
        </p:spPr>
        <p:txBody>
          <a:bodyPr wrap="none" lIns="0" rIns="0">
            <a:noAutofit/>
          </a:bodyPr>
          <a:lstStyle/>
          <a:p>
            <a:pPr algn="l"/>
            <a:r>
              <a:rPr sz="4200" b="1" i="0">
                <a:solidFill>
                  <a:srgbClr val="0072CE"/>
                </a:solidFill>
                <a:latin typeface="Arial"/>
              </a:rPr>
              <a:t>The repo at the end of Day 2</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670360" cy="396240"/>
          </a:xfrm>
          <a:prstGeom prst="rect">
            <a:avLst/>
          </a:prstGeom>
          <a:noFill/>
        </p:spPr>
        <p:txBody>
          <a:bodyPr wrap="none" lIns="0" rIns="0">
            <a:noAutofit/>
          </a:bodyPr>
          <a:lstStyle/>
          <a:p>
            <a:pPr algn="l"/>
            <a:r>
              <a:rPr sz="2600" b="1" i="0">
                <a:solidFill>
                  <a:srgbClr val="569CD6"/>
                </a:solidFill>
                <a:latin typeface="Courier New"/>
              </a:rPr>
              <a:t>happy-path/</a:t>
            </a:r>
          </a:p>
        </p:txBody>
      </p:sp>
      <p:sp>
        <p:nvSpPr>
          <p:cNvPr id="5" name="TextBox 4"/>
          <p:cNvSpPr txBox="1"/>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6" name="TextBox 5"/>
          <p:cNvSpPr txBox="1"/>
          <p:nvPr/>
        </p:nvSpPr>
        <p:spPr>
          <a:xfrm>
            <a:off x="1417417" y="2215896"/>
            <a:ext cx="1768097" cy="396240"/>
          </a:xfrm>
          <a:prstGeom prst="rect">
            <a:avLst/>
          </a:prstGeom>
          <a:noFill/>
        </p:spPr>
        <p:txBody>
          <a:bodyPr wrap="none" lIns="0" rIns="0">
            <a:noAutofit/>
          </a:bodyPr>
          <a:lstStyle/>
          <a:p>
            <a:pPr algn="l"/>
            <a:r>
              <a:rPr sz="2600" b="1" i="0">
                <a:solidFill>
                  <a:srgbClr val="569CD6"/>
                </a:solidFill>
                <a:latin typeface="Courier New"/>
              </a:rPr>
              <a:t>docs/</a:t>
            </a:r>
          </a:p>
        </p:txBody>
      </p:sp>
      <p:sp>
        <p:nvSpPr>
          <p:cNvPr id="7" name="TextBox 6"/>
          <p:cNvSpPr txBox="1"/>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8" name="TextBox 7"/>
          <p:cNvSpPr txBox="1"/>
          <p:nvPr/>
        </p:nvSpPr>
        <p:spPr>
          <a:xfrm>
            <a:off x="2011873" y="2612136"/>
            <a:ext cx="3353315" cy="396240"/>
          </a:xfrm>
          <a:prstGeom prst="rect">
            <a:avLst/>
          </a:prstGeom>
          <a:noFill/>
        </p:spPr>
        <p:txBody>
          <a:bodyPr wrap="none" lIns="0" rIns="0">
            <a:noAutofit/>
          </a:bodyPr>
          <a:lstStyle/>
          <a:p>
            <a:pPr algn="l"/>
            <a:r>
              <a:rPr sz="2600" b="0" i="0">
                <a:solidFill>
                  <a:srgbClr val="D4D4D4"/>
                </a:solidFill>
                <a:latin typeface="Courier New"/>
              </a:rPr>
              <a:t>index.html</a:t>
            </a:r>
          </a:p>
        </p:txBody>
      </p:sp>
      <p:sp>
        <p:nvSpPr>
          <p:cNvPr id="9" name="TextBox 8"/>
          <p:cNvSpPr txBox="1"/>
          <p:nvPr/>
        </p:nvSpPr>
        <p:spPr>
          <a:xfrm>
            <a:off x="822960" y="300837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0" name="TextBox 9"/>
          <p:cNvSpPr txBox="1"/>
          <p:nvPr/>
        </p:nvSpPr>
        <p:spPr>
          <a:xfrm>
            <a:off x="1417417" y="3008376"/>
            <a:ext cx="3036272" cy="396240"/>
          </a:xfrm>
          <a:prstGeom prst="rect">
            <a:avLst/>
          </a:prstGeom>
          <a:noFill/>
        </p:spPr>
        <p:txBody>
          <a:bodyPr wrap="none" lIns="0" rIns="0">
            <a:noAutofit/>
          </a:bodyPr>
          <a:lstStyle/>
          <a:p>
            <a:pPr algn="l"/>
            <a:r>
              <a:rPr sz="2600" b="1" i="0">
                <a:solidFill>
                  <a:srgbClr val="569CD6"/>
                </a:solidFill>
                <a:latin typeface="Courier New"/>
              </a:rPr>
              <a:t>fixtures/</a:t>
            </a:r>
          </a:p>
        </p:txBody>
      </p:sp>
      <p:sp>
        <p:nvSpPr>
          <p:cNvPr id="11" name="TextBox 10"/>
          <p:cNvSpPr txBox="1"/>
          <p:nvPr/>
        </p:nvSpPr>
        <p:spPr>
          <a:xfrm>
            <a:off x="822960" y="340461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2" name="TextBox 11"/>
          <p:cNvSpPr txBox="1"/>
          <p:nvPr/>
        </p:nvSpPr>
        <p:spPr>
          <a:xfrm>
            <a:off x="1417417" y="3404616"/>
            <a:ext cx="2085140" cy="396240"/>
          </a:xfrm>
          <a:prstGeom prst="rect">
            <a:avLst/>
          </a:prstGeom>
          <a:noFill/>
        </p:spPr>
        <p:txBody>
          <a:bodyPr wrap="none" lIns="0" rIns="0">
            <a:noAutofit/>
          </a:bodyPr>
          <a:lstStyle/>
          <a:p>
            <a:pPr algn="l"/>
            <a:r>
              <a:rPr sz="2600" b="1" i="0">
                <a:solidFill>
                  <a:srgbClr val="569CD6"/>
                </a:solidFill>
                <a:latin typeface="Courier New"/>
              </a:rPr>
              <a:t>steps/</a:t>
            </a:r>
          </a:p>
        </p:txBody>
      </p:sp>
      <p:sp>
        <p:nvSpPr>
          <p:cNvPr id="13" name="TextBox 12"/>
          <p:cNvSpPr txBox="1"/>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4" name="TextBox 13"/>
          <p:cNvSpPr txBox="1"/>
          <p:nvPr/>
        </p:nvSpPr>
        <p:spPr>
          <a:xfrm>
            <a:off x="1417417" y="3800856"/>
            <a:ext cx="2085140" cy="396240"/>
          </a:xfrm>
          <a:prstGeom prst="rect">
            <a:avLst/>
          </a:prstGeom>
          <a:noFill/>
        </p:spPr>
        <p:txBody>
          <a:bodyPr wrap="none" lIns="0" rIns="0">
            <a:noAutofit/>
          </a:bodyPr>
          <a:lstStyle/>
          <a:p>
            <a:pPr algn="l"/>
            <a:r>
              <a:rPr sz="2600" b="0" i="0">
                <a:solidFill>
                  <a:srgbClr val="D4D4D4"/>
                </a:solidFill>
                <a:latin typeface="Courier New"/>
              </a:rPr>
              <a:t>run.py</a:t>
            </a:r>
          </a:p>
        </p:txBody>
      </p:sp>
      <p:sp>
        <p:nvSpPr>
          <p:cNvPr id="15" name="TextBox 14"/>
          <p:cNvSpPr txBox="1"/>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6" name="TextBox 15"/>
          <p:cNvSpPr txBox="1"/>
          <p:nvPr/>
        </p:nvSpPr>
        <p:spPr>
          <a:xfrm>
            <a:off x="1417417" y="4197096"/>
            <a:ext cx="3353315" cy="396240"/>
          </a:xfrm>
          <a:prstGeom prst="rect">
            <a:avLst/>
          </a:prstGeom>
          <a:noFill/>
        </p:spPr>
        <p:txBody>
          <a:bodyPr wrap="none" lIns="0" rIns="0">
            <a:noAutofit/>
          </a:bodyPr>
          <a:lstStyle/>
          <a:p>
            <a:pPr algn="l"/>
            <a:r>
              <a:rPr sz="2600" b="0" i="0">
                <a:solidFill>
                  <a:srgbClr val="D4D4D4"/>
                </a:solidFill>
                <a:latin typeface="Courier New"/>
              </a:rPr>
              <a:t>CAVEATS.md</a:t>
            </a:r>
          </a:p>
        </p:txBody>
      </p:sp>
      <p:sp>
        <p:nvSpPr>
          <p:cNvPr id="17" name="TextBox 16"/>
          <p:cNvSpPr txBox="1"/>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8" name="TextBox 17"/>
          <p:cNvSpPr txBox="1"/>
          <p:nvPr/>
        </p:nvSpPr>
        <p:spPr>
          <a:xfrm>
            <a:off x="1417417" y="459333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Hiding and Naming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Hiding a limit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Naming a limit</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096515" cy="609600"/>
          </a:xfrm>
          <a:prstGeom prst="rect">
            <a:avLst/>
          </a:prstGeom>
          <a:noFill/>
        </p:spPr>
        <p:txBody>
          <a:bodyPr wrap="none" lIns="0" rIns="0">
            <a:noAutofit/>
          </a:bodyPr>
          <a:lstStyle/>
          <a:p>
            <a:pPr algn="l"/>
            <a:r>
              <a:rPr sz="3400" b="0" i="0">
                <a:solidFill>
                  <a:srgbClr val="0A2240"/>
                </a:solidFill>
                <a:latin typeface="Arial"/>
              </a:rPr>
              <a:t>They find it anyway</a:t>
            </a:r>
          </a:p>
        </p:txBody>
      </p:sp>
      <p:sp>
        <p:nvSpPr>
          <p:cNvPr id="8" name="TextBox 7"/>
          <p:cNvSpPr txBox="1"/>
          <p:nvPr/>
        </p:nvSpPr>
        <p:spPr>
          <a:xfrm>
            <a:off x="457200" y="3608831"/>
            <a:ext cx="6748601" cy="609600"/>
          </a:xfrm>
          <a:prstGeom prst="rect">
            <a:avLst/>
          </a:prstGeom>
          <a:noFill/>
        </p:spPr>
        <p:txBody>
          <a:bodyPr wrap="none" lIns="0" rIns="0">
            <a:noAutofit/>
          </a:bodyPr>
          <a:lstStyle/>
          <a:p>
            <a:pPr algn="l"/>
            <a:r>
              <a:rPr sz="3400" b="0" i="0">
                <a:solidFill>
                  <a:srgbClr val="0A2240"/>
                </a:solidFill>
                <a:latin typeface="Arial"/>
              </a:rPr>
              <a:t>It looks like a mistake</a:t>
            </a:r>
          </a:p>
        </p:txBody>
      </p:sp>
      <p:sp>
        <p:nvSpPr>
          <p:cNvPr id="9" name="TextBox 8"/>
          <p:cNvSpPr txBox="1"/>
          <p:nvPr/>
        </p:nvSpPr>
        <p:spPr>
          <a:xfrm>
            <a:off x="457200" y="4821935"/>
            <a:ext cx="5726449" cy="609600"/>
          </a:xfrm>
          <a:prstGeom prst="rect">
            <a:avLst/>
          </a:prstGeom>
          <a:noFill/>
        </p:spPr>
        <p:txBody>
          <a:bodyPr wrap="none" lIns="0" rIns="0">
            <a:noAutofit/>
          </a:bodyPr>
          <a:lstStyle/>
          <a:p>
            <a:pPr algn="l"/>
            <a:r>
              <a:rPr sz="3400" b="0" i="0">
                <a:solidFill>
                  <a:srgbClr val="0A2240"/>
                </a:solidFill>
                <a:latin typeface="Arial"/>
              </a:rPr>
              <a:t>You lose the room</a:t>
            </a:r>
          </a:p>
        </p:txBody>
      </p:sp>
      <p:sp>
        <p:nvSpPr>
          <p:cNvPr id="10" name="TextBox 9"/>
          <p:cNvSpPr txBox="1"/>
          <p:nvPr/>
        </p:nvSpPr>
        <p:spPr>
          <a:xfrm>
            <a:off x="6233160" y="2395727"/>
            <a:ext cx="5803364" cy="609600"/>
          </a:xfrm>
          <a:prstGeom prst="rect">
            <a:avLst/>
          </a:prstGeom>
          <a:noFill/>
        </p:spPr>
        <p:txBody>
          <a:bodyPr wrap="none" lIns="0" rIns="0">
            <a:noAutofit/>
          </a:bodyPr>
          <a:lstStyle/>
          <a:p>
            <a:pPr algn="l"/>
            <a:r>
              <a:rPr sz="3400" b="0" i="0">
                <a:solidFill>
                  <a:srgbClr val="0A2240"/>
                </a:solidFill>
                <a:latin typeface="Arial"/>
              </a:rPr>
              <a:t>You look in control</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It reads as a decision</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The question moves on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Day 3 Will Attack</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The undocumented fake</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Anything real-looking that is not on your list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single input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second thing they try will not be yours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dead link</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URL that only worked on your machine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URL a stranger can open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works with your laptop shut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three-minute script, rehearsed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CAVEATS.md, committed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44572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45156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91971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944486" cy="633984"/>
          </a:xfrm>
          <a:prstGeom prst="rect">
            <a:avLst/>
          </a:prstGeom>
          <a:noFill/>
        </p:spPr>
        <p:txBody>
          <a:bodyPr wrap="none" lIns="0" rIns="0">
            <a:noAutofit/>
          </a:bodyPr>
          <a:lstStyle/>
          <a:p>
            <a:pPr algn="l"/>
            <a:r>
              <a:rPr sz="3400" b="0" i="0">
                <a:solidFill>
                  <a:srgbClr val="0A2240"/>
                </a:solidFill>
                <a:latin typeface="Arial"/>
              </a:rPr>
              <a:t>The public URL</a:t>
            </a:r>
          </a:p>
        </p:txBody>
      </p:sp>
      <p:sp>
        <p:nvSpPr>
          <p:cNvPr id="7" name="TextBox 6"/>
          <p:cNvSpPr txBox="1"/>
          <p:nvPr/>
        </p:nvSpPr>
        <p:spPr>
          <a:xfrm>
            <a:off x="545156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6710819" cy="633984"/>
          </a:xfrm>
          <a:prstGeom prst="rect">
            <a:avLst/>
          </a:prstGeom>
          <a:noFill/>
        </p:spPr>
        <p:txBody>
          <a:bodyPr wrap="none" lIns="0" rIns="0">
            <a:noAutofit/>
          </a:bodyPr>
          <a:lstStyle/>
          <a:p>
            <a:pPr algn="l"/>
            <a:r>
              <a:rPr sz="3400" b="0" i="0">
                <a:solidFill>
                  <a:srgbClr val="0A2240"/>
                </a:solidFill>
                <a:latin typeface="Arial"/>
              </a:rPr>
              <a:t>Who drives the demo</a:t>
            </a:r>
          </a:p>
        </p:txBody>
      </p:sp>
      <p:sp>
        <p:nvSpPr>
          <p:cNvPr id="9" name="TextBox 8"/>
          <p:cNvSpPr txBox="1"/>
          <p:nvPr/>
        </p:nvSpPr>
        <p:spPr>
          <a:xfrm>
            <a:off x="545156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714755" cy="633984"/>
          </a:xfrm>
          <a:prstGeom prst="rect">
            <a:avLst/>
          </a:prstGeom>
          <a:noFill/>
        </p:spPr>
        <p:txBody>
          <a:bodyPr wrap="none" lIns="0" rIns="0">
            <a:noAutofit/>
          </a:bodyPr>
          <a:lstStyle/>
          <a:p>
            <a:pPr algn="l"/>
            <a:r>
              <a:rPr sz="3400" b="0" i="0">
                <a:solidFill>
                  <a:srgbClr val="0A2240"/>
                </a:solidFill>
                <a:latin typeface="Arial"/>
              </a:rPr>
              <a:t>Biggest caveat</a:t>
            </a:r>
          </a:p>
        </p:txBody>
      </p:sp>
      <p:sp>
        <p:nvSpPr>
          <p:cNvPr id="11" name="TextBox 10"/>
          <p:cNvSpPr txBox="1"/>
          <p:nvPr/>
        </p:nvSpPr>
        <p:spPr>
          <a:xfrm>
            <a:off x="545156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6095841" cy="633984"/>
          </a:xfrm>
          <a:prstGeom prst="rect">
            <a:avLst/>
          </a:prstGeom>
          <a:noFill/>
        </p:spPr>
        <p:txBody>
          <a:bodyPr wrap="none" lIns="0" rIns="0">
            <a:noAutofit/>
          </a:bodyPr>
          <a:lstStyle/>
          <a:p>
            <a:pPr algn="l"/>
            <a:r>
              <a:rPr sz="3400" b="0" i="0">
                <a:solidFill>
                  <a:srgbClr val="0A2240"/>
                </a:solidFill>
                <a:latin typeface="Arial"/>
              </a:rPr>
              <a:t>Most likely to break</a:t>
            </a:r>
          </a:p>
        </p:txBody>
      </p:sp>
      <p:sp>
        <p:nvSpPr>
          <p:cNvPr id="13" name="TextBox 12"/>
          <p:cNvSpPr txBox="1"/>
          <p:nvPr/>
        </p:nvSpPr>
        <p:spPr>
          <a:xfrm>
            <a:off x="545156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420952" cy="768096"/>
          </a:xfrm>
          <a:prstGeom prst="rect">
            <a:avLst/>
          </a:prstGeom>
          <a:noFill/>
        </p:spPr>
        <p:txBody>
          <a:bodyPr wrap="none" lIns="0" rIns="0">
            <a:noAutofit/>
          </a:bodyPr>
          <a:lstStyle/>
          <a:p>
            <a:pPr algn="l"/>
            <a:r>
              <a:rPr sz="4200" b="1" i="0">
                <a:solidFill>
                  <a:srgbClr val="0072CE"/>
                </a:solidFill>
                <a:latin typeface="Arial"/>
              </a:rPr>
              <a:t>Tonight, If You Have Energy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Send the link to one stranger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Watch where they get stuck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Fix only what stopped them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Add what broke to the caveats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attack?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The Battle Test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design an attack, not a feature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Another team red-teams yours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Agents probe it, not just people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Bring the caveat list with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