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2.3, Making It Demoable. You have a pipeline that runs; right now nobody outside your team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link you can send to somebody who is not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wrap it so a stranger can drive it, ship it to a public URL, write a three-minute script, and document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 stranger drive it? Picture a specific one — a friend, a recruiter — opening a link with no explanation from you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morning's work runs in your hands. A demo is the same thing running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wrap it in a front end however plain, ship it to a URL off your machine, script three minutes and rehearse them, and write down what is fake.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Wrap it by 11:20, ship it, script it at 11:35, and write the caveats at 11:45. If you have no URL by 11:20, ship whatever exists — the rest of the hour assumes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nobody can open is a story. Until there is a URL, everything you have is something you can describe.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and the bar is deliberately low: not beautiful, not responsive — drivable.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front end is the part that works without you in the room. If somebody needs you on a call to get a result, you do not have one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stranger needs four things, in this order: to know what this thing does, something obvious to click, a result they can read, and no instructions from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options. A Claude Artifact takes minutes, comes with a shareable link, and is good enough to be judged. A page you host gives more control, takes more time, and is yours after the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versus hosted page, in three rows. Minutes to live against an hour or more. Limited control against total control. Low demo risk against risk you manage yourself.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a working page Claude builds and hosts for you — no repo, no build step, no hosting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either way. Describe the one screen: input, button, result, nothing else. Paste in a real result so the layout fits actual output. Then drive it yourself cold, in a new tab, with no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One page, a box to paste into, a Run button, the result below — and this exact output as the example. Plain and readable, no styling flourish.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on the page: one sentence saying what it does, an example input already filled in, the result readable as text, and a line saying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out accounts and sign-in, settings and options, a second page of any kind, and anything you would end up styling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of drivable. One click to a result, from landing on the page with nothing typed. Obvious what happened, so the output reads without you explaining it. And it survives a bad input by saying something rather than showing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watch for: an empty box with no hint, a result that needs your voice to make sense, a spinner that never finishes, and output only you can read.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getting it off your laptop, which the syllabus is explicit about.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the wifi drops? Every failed demo any of us has seen was a local thing that stopped being reachable.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Localhost is not a demo. It dies when your laptop sleeps, nobody can open it later, you cannot send it to anyone, and tomorrow's red team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ship. GitHub Pages is already where your code is, a commit is a deploy, and it serves static pages only. Cloudflare handles more than static and is fast to set up, but it is another account to make.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with Pages. Put the page in the repo, as index dot html at the root or in docs. Turn Pages on in settings and pick the branch. Then wait — the first build takes a minute or two — and open the URL.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from repo to public URL: copy the page into docs, add it, commit, push, then turn Pages on in settings. That last one is a click rather than a command, and it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paths that only exist locally, a key that was in your shell, a file you never committed, and anything reading your disk.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before you share it. No API keys in the page, no keys anywhere in the repo history, nothing private in the fixture, and nothing you cannot show. A public repo is public forever, history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on Pages or Cloudflare is a file being served. The moment your demo needs to remember anything a visitor did, that file has nowhere to put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read-only page shows a stranger what you made. A page that can also write lets them leave something behind, and that is a different kind of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 is a hosted Postgres database that also gives you sign-in and file storage, reachable straight from a web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a database your page can write rows to, sign-in you did not have to build, storage for files people upload, and an HTTPS API that reaches all of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about ten minutes. Create the project on the free tier, make one table with the columns your demo needs, and copy the project URL and the public key.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integration. Create the client with your URL and public key, then insert a row. No server of your own, from a page that is still just a static file.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worth storing in a prototype: what a visitor typed, the result you gave back, any file they uploaded, and a count of how often the thing was run.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exception to the rule two slides ago. Supabase gives you a public key that is designed to sit in the page, and a secret key that must never leave your machine — and the public one is only safe once row level security is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Secrets keeps a key out of your repository and your git history, but not out of the page — if a build step inlines the value into the JavaScript you ship, anyone can read it. A key only stays private inside something that runs on a server, like an Action, a Worker, or an edge function.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halves split cleanly. Pages or Cloudflare serves the page; Supabase remembers what happened and handles sign-in. Both are free at the size a prototype runs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all of this if your demo only reads, if nothing needs to outlive the browser tab, or if one saved result would do. A backend is a step like any other, and stubbing it is a legitimate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this is the most valuable ten minutes of the session. Open a private window — no logins, no cache, no extensions. Do nothing but click, typing nothing you have not pre-filled. Then try it on a phone, because half the people you send it to will.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ship what exists, because an ugly live page beats a good local one. Drop the front end if you must — a page showing one saved result still counts. But never drop the caveats; five honest lines take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Private window: it loads and runs. Phone: you can read the output. Laptop closed: a teammate can still open it. No secrets: nothing in the page or the repo.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 your laptop? Not shipped. A local version is not basically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this is what separates teams tomorrow: the script and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script is the three minutes, written down word for word. Written, because improvising turns into ninety seconds of architecture nobody asked for.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structure that works. Thirty seconds on the problem, concretely. Ninety seconds driving it live, in silence. Thirty seconds on what is real and what is not. Thirty seconds on what you would build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thirty seconds: name who has the problem, say what it costs them today, one sentence with no background — then stop and show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“Let me explain the architecture.” “Normally this works.” “We ran out of time to.” And “it is basically just a wrapper.”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Time it out loud, because silently in your head is always shorter. Have someone else drive, since the builder's hands hide the rough edges. Then cut until it fits — three minutes means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caveat list is everything stubbed, faked, or known to break. It is an asset rather than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go on it: every step you stubbed, every hardcoded value, inputs you know it fails on, and anything only tested once.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Login: stubbed, one user. PDF parsing: one file only. Retrieval: faked, four docs. Long inputs: known to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as CAVEATS dot md — in the repo rather than a document, because that is where tomorrow's red team will look.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Notice CAVEATS.md sitting beside the code as an equal.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Hiding a limit means they find it anyway, it looks like a mistake, and you lose the room. Naming it means you look in control, it reads as a decision, and the question moves on.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Day 3 will attack. The undocumented fake — anything real- looking that is not on your list. The single input, because the second thing they try will not be yours. And the dead link, a URL that only ever worked on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URL a stranger can open, that works with your laptop shut, a three-minute script you have rehearsed, and CAVEATS dot md committed.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public URL, who drives the demo, your biggest caveat, and what is most likely to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tonight, and worth more than any code: send the link to one stranger, watch where they get stuck, fix only what stopped them, and add what broke to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of the day: what would you attack? You already know where your own system is weakest.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the mindset flips. You design an attack rather than a feature, another team red-teams yours, agents probe it rather than just people — and you bring the caveat list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Handles more than static</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Fast to set up</a:t>
            </a:r>
          </a:p>
        </p:txBody>
      </p:sp>
      <p:sp>
        <p:nvSpPr>
          <p:cNvPr id="9" name="TextBox 8"/>
          <p:cNvSpPr txBox="1"/>
          <p:nvPr/>
        </p:nvSpPr>
        <p:spPr>
          <a:xfrm>
            <a:off x="457200" y="4639055"/>
            <a:ext cx="5501640" cy="847344"/>
          </a:xfrm>
          <a:prstGeom prst="rect">
            <a:avLst/>
          </a:prstGeom>
          <a:noFill/>
        </p:spPr>
        <p:txBody>
          <a:bodyPr wrap="none" lIns="0" rIns="0">
            <a:noAutofit/>
          </a:bodyPr>
          <a:lstStyle/>
          <a:p>
            <a:pPr algn="l"/>
            <a:r>
              <a:rPr sz="3400" b="0" i="0">
                <a:solidFill>
                  <a:srgbClr val="0A2240"/>
                </a:solidFill>
                <a:latin typeface="Arial"/>
              </a:rPr>
              <a:t>Static pages only</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does the data go?</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Way or Two</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Static</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 page that just shows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Stateful</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A page that remembers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Supabase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Postgres, with auth and storage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Get</a:t>
            </a:r>
          </a:p>
        </p:txBody>
      </p:sp>
      <p:sp>
        <p:nvSpPr>
          <p:cNvPr id="3" name="TextBox 2"/>
          <p:cNvSpPr txBox="1"/>
          <p:nvPr/>
        </p:nvSpPr>
        <p:spPr>
          <a:xfrm>
            <a:off x="457200" y="1499616"/>
            <a:ext cx="3255068" cy="518159"/>
          </a:xfrm>
          <a:prstGeom prst="rect">
            <a:avLst/>
          </a:prstGeom>
          <a:noFill/>
        </p:spPr>
        <p:txBody>
          <a:bodyPr wrap="none" lIns="0" rIns="0">
            <a:noAutofit/>
          </a:bodyPr>
          <a:lstStyle/>
          <a:p>
            <a:pPr algn="l"/>
            <a:r>
              <a:rPr sz="3400" b="1" i="0">
                <a:solidFill>
                  <a:srgbClr val="0A2240"/>
                </a:solidFill>
                <a:latin typeface="Arial"/>
              </a:rPr>
              <a:t>Database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Rows your page can write</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Auth</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Sign-in you did not build</a:t>
            </a:r>
          </a:p>
        </p:txBody>
      </p:sp>
      <p:sp>
        <p:nvSpPr>
          <p:cNvPr id="7" name="TextBox 6"/>
          <p:cNvSpPr txBox="1"/>
          <p:nvPr/>
        </p:nvSpPr>
        <p:spPr>
          <a:xfrm>
            <a:off x="6233160" y="1499616"/>
            <a:ext cx="2755126" cy="518159"/>
          </a:xfrm>
          <a:prstGeom prst="rect">
            <a:avLst/>
          </a:prstGeom>
          <a:noFill/>
        </p:spPr>
        <p:txBody>
          <a:bodyPr wrap="none" lIns="0" rIns="0">
            <a:noAutofit/>
          </a:bodyPr>
          <a:lstStyle/>
          <a:p>
            <a:pPr algn="l"/>
            <a:r>
              <a:rPr sz="3400" b="1" i="0">
                <a:solidFill>
                  <a:srgbClr val="0A2240"/>
                </a:solidFill>
                <a:latin typeface="Arial"/>
              </a:rPr>
              <a:t>Storage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Files people upload</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All of it, over HTTPS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One click, on the free tier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Make one table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columns your demo needs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Copy the two keys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project URL and the public key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Writing a row from a static page</a:t>
            </a:r>
          </a:p>
        </p:txBody>
      </p:sp>
      <p:sp>
        <p:nvSpPr>
          <p:cNvPr id="6" name="TextBox 5"/>
          <p:cNvSpPr txBox="1"/>
          <p:nvPr/>
        </p:nvSpPr>
        <p:spPr>
          <a:xfrm>
            <a:off x="457200" y="1837944"/>
            <a:ext cx="3581955" cy="518159"/>
          </a:xfrm>
          <a:prstGeom prst="rect">
            <a:avLst/>
          </a:prstGeom>
          <a:noFill/>
        </p:spPr>
        <p:txBody>
          <a:bodyPr wrap="none" lIns="0" rIns="0">
            <a:noAutofit/>
          </a:bodyPr>
          <a:lstStyle/>
          <a:p>
            <a:pPr algn="l"/>
            <a:r>
              <a:rPr sz="3400" b="0" i="0">
                <a:solidFill>
                  <a:srgbClr val="D4D4D4"/>
                </a:solidFill>
                <a:latin typeface="Arial"/>
              </a:rPr>
              <a:t>const db = </a:t>
            </a:r>
          </a:p>
        </p:txBody>
      </p:sp>
      <p:sp>
        <p:nvSpPr>
          <p:cNvPr id="7" name="TextBox 6"/>
          <p:cNvSpPr txBox="1"/>
          <p:nvPr/>
        </p:nvSpPr>
        <p:spPr>
          <a:xfrm>
            <a:off x="2581622" y="1837944"/>
            <a:ext cx="3869372" cy="518159"/>
          </a:xfrm>
          <a:prstGeom prst="rect">
            <a:avLst/>
          </a:prstGeom>
          <a:noFill/>
        </p:spPr>
        <p:txBody>
          <a:bodyPr wrap="none" lIns="0" rIns="0">
            <a:noAutofit/>
          </a:bodyPr>
          <a:lstStyle/>
          <a:p>
            <a:pPr algn="l"/>
            <a:r>
              <a:rPr sz="3400" b="0" i="0">
                <a:solidFill>
                  <a:srgbClr val="DCDCAA"/>
                </a:solidFill>
                <a:latin typeface="Arial"/>
              </a:rPr>
              <a:t>createClient</a:t>
            </a:r>
          </a:p>
        </p:txBody>
      </p:sp>
      <p:sp>
        <p:nvSpPr>
          <p:cNvPr id="8" name="TextBox 7"/>
          <p:cNvSpPr txBox="1"/>
          <p:nvPr/>
        </p:nvSpPr>
        <p:spPr>
          <a:xfrm>
            <a:off x="4885680" y="1837944"/>
            <a:ext cx="6671350" cy="518159"/>
          </a:xfrm>
          <a:prstGeom prst="rect">
            <a:avLst/>
          </a:prstGeom>
          <a:noFill/>
        </p:spPr>
        <p:txBody>
          <a:bodyPr wrap="none" lIns="0" rIns="0">
            <a:noAutofit/>
          </a:bodyPr>
          <a:lstStyle/>
          <a:p>
            <a:pPr algn="l"/>
            <a:r>
              <a:rPr sz="3400" b="0" i="0">
                <a:solidFill>
                  <a:srgbClr val="D4D4D4"/>
                </a:solidFill>
                <a:latin typeface="Arial"/>
              </a:rPr>
              <a:t>(URL, PUBLIC_KEY)</a:t>
            </a:r>
          </a:p>
        </p:txBody>
      </p:sp>
      <p:sp>
        <p:nvSpPr>
          <p:cNvPr id="9" name="TextBox 8"/>
          <p:cNvSpPr txBox="1"/>
          <p:nvPr/>
        </p:nvSpPr>
        <p:spPr>
          <a:xfrm>
            <a:off x="457200" y="2874262"/>
            <a:ext cx="1795720" cy="518159"/>
          </a:xfrm>
          <a:prstGeom prst="rect">
            <a:avLst/>
          </a:prstGeom>
          <a:noFill/>
        </p:spPr>
        <p:txBody>
          <a:bodyPr wrap="none" lIns="0" rIns="0">
            <a:noAutofit/>
          </a:bodyPr>
          <a:lstStyle/>
          <a:p>
            <a:pPr algn="l"/>
            <a:r>
              <a:rPr sz="3400" b="0" i="0">
                <a:solidFill>
                  <a:srgbClr val="569CD6"/>
                </a:solidFill>
                <a:latin typeface="Arial"/>
              </a:rPr>
              <a:t>await</a:t>
            </a:r>
          </a:p>
        </p:txBody>
      </p:sp>
      <p:sp>
        <p:nvSpPr>
          <p:cNvPr id="10" name="TextBox 9"/>
          <p:cNvSpPr txBox="1"/>
          <p:nvPr/>
        </p:nvSpPr>
        <p:spPr>
          <a:xfrm>
            <a:off x="1465225" y="2874262"/>
            <a:ext cx="1335246" cy="518159"/>
          </a:xfrm>
          <a:prstGeom prst="rect">
            <a:avLst/>
          </a:prstGeom>
          <a:noFill/>
        </p:spPr>
        <p:txBody>
          <a:bodyPr wrap="none" lIns="0" rIns="0">
            <a:noAutofit/>
          </a:bodyPr>
          <a:lstStyle/>
          <a:p>
            <a:pPr algn="l"/>
            <a:r>
              <a:rPr sz="3400" b="0" i="0">
                <a:solidFill>
                  <a:srgbClr val="D4D4D4"/>
                </a:solidFill>
                <a:latin typeface="Arial"/>
              </a:rPr>
              <a:t> db.</a:t>
            </a:r>
          </a:p>
        </p:txBody>
      </p:sp>
      <p:sp>
        <p:nvSpPr>
          <p:cNvPr id="11" name="TextBox 10"/>
          <p:cNvSpPr txBox="1"/>
          <p:nvPr/>
        </p:nvSpPr>
        <p:spPr>
          <a:xfrm>
            <a:off x="2185454"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2" name="TextBox 11"/>
          <p:cNvSpPr txBox="1"/>
          <p:nvPr/>
        </p:nvSpPr>
        <p:spPr>
          <a:xfrm>
            <a:off x="3049054"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3192847" y="2874262"/>
            <a:ext cx="2017355" cy="518159"/>
          </a:xfrm>
          <a:prstGeom prst="rect">
            <a:avLst/>
          </a:prstGeom>
          <a:noFill/>
        </p:spPr>
        <p:txBody>
          <a:bodyPr wrap="none" lIns="0" rIns="0">
            <a:noAutofit/>
          </a:bodyPr>
          <a:lstStyle/>
          <a:p>
            <a:pPr algn="l"/>
            <a:r>
              <a:rPr sz="3400" b="0" i="0">
                <a:solidFill>
                  <a:srgbClr val="CE9178"/>
                </a:solidFill>
                <a:latin typeface="Arial"/>
              </a:rPr>
              <a:t>"runs"</a:t>
            </a:r>
          </a:p>
        </p:txBody>
      </p:sp>
      <p:sp>
        <p:nvSpPr>
          <p:cNvPr id="14" name="TextBox 13"/>
          <p:cNvSpPr txBox="1"/>
          <p:nvPr/>
        </p:nvSpPr>
        <p:spPr>
          <a:xfrm>
            <a:off x="4339394" y="2874262"/>
            <a:ext cx="60489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603155" y="2874262"/>
            <a:ext cx="1872297" cy="518159"/>
          </a:xfrm>
          <a:prstGeom prst="rect">
            <a:avLst/>
          </a:prstGeom>
          <a:noFill/>
        </p:spPr>
        <p:txBody>
          <a:bodyPr wrap="none" lIns="0" rIns="0">
            <a:noAutofit/>
          </a:bodyPr>
          <a:lstStyle/>
          <a:p>
            <a:pPr algn="l"/>
            <a:r>
              <a:rPr sz="3400" b="0" i="0">
                <a:solidFill>
                  <a:srgbClr val="DCDCAA"/>
                </a:solidFill>
                <a:latin typeface="Arial"/>
              </a:rPr>
              <a:t>insert</a:t>
            </a:r>
          </a:p>
        </p:txBody>
      </p:sp>
      <p:sp>
        <p:nvSpPr>
          <p:cNvPr id="16" name="TextBox 15"/>
          <p:cNvSpPr txBox="1"/>
          <p:nvPr/>
        </p:nvSpPr>
        <p:spPr>
          <a:xfrm>
            <a:off x="5659041" y="2874262"/>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txBox="1"/>
          <p:nvPr/>
        </p:nvSpPr>
        <p:spPr>
          <a:xfrm>
            <a:off x="457200" y="3392421"/>
            <a:ext cx="3754337" cy="518159"/>
          </a:xfrm>
          <a:prstGeom prst="rect">
            <a:avLst/>
          </a:prstGeom>
          <a:noFill/>
        </p:spPr>
        <p:txBody>
          <a:bodyPr wrap="none" lIns="0" rIns="0">
            <a:noAutofit/>
          </a:bodyPr>
          <a:lstStyle/>
          <a:p>
            <a:pPr algn="l"/>
            <a:r>
              <a:rPr sz="3400" b="0" i="0">
                <a:solidFill>
                  <a:srgbClr val="D4D4D4"/>
                </a:solidFill>
                <a:latin typeface="Arial"/>
              </a:rPr>
              <a:t>  input: text,</a:t>
            </a:r>
          </a:p>
        </p:txBody>
      </p:sp>
      <p:sp>
        <p:nvSpPr>
          <p:cNvPr id="18" name="TextBox 17"/>
          <p:cNvSpPr txBox="1"/>
          <p:nvPr/>
        </p:nvSpPr>
        <p:spPr>
          <a:xfrm>
            <a:off x="457200" y="3910580"/>
            <a:ext cx="5021064" cy="518159"/>
          </a:xfrm>
          <a:prstGeom prst="rect">
            <a:avLst/>
          </a:prstGeom>
          <a:noFill/>
        </p:spPr>
        <p:txBody>
          <a:bodyPr wrap="none" lIns="0" rIns="0">
            <a:noAutofit/>
          </a:bodyPr>
          <a:lstStyle/>
          <a:p>
            <a:pPr algn="l"/>
            <a:r>
              <a:rPr sz="3400" b="0" i="0">
                <a:solidFill>
                  <a:srgbClr val="D4D4D4"/>
                </a:solidFill>
                <a:latin typeface="Arial"/>
              </a:rPr>
              <a:t>  result: answer,</a:t>
            </a:r>
          </a:p>
        </p:txBody>
      </p:sp>
      <p:sp>
        <p:nvSpPr>
          <p:cNvPr id="19" name="TextBox 18"/>
          <p:cNvSpPr txBox="1"/>
          <p:nvPr/>
        </p:nvSpPr>
        <p:spPr>
          <a:xfrm>
            <a:off x="457200" y="4428739"/>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Demo Actually Stores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a visitor typed 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result you gave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somebody uploaded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count of how often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Two Keys Are Not the Same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key belongs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secret key never does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Turn row level security on first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check it as a stranger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Secrets Are Not Secret in a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Secrets keep it out of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do not keep it out of the page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build that inlines it publishes it</a:t>
            </a:r>
          </a:p>
        </p:txBody>
      </p:sp>
      <p:sp>
        <p:nvSpPr>
          <p:cNvPr id="6" name="TextBox 5"/>
          <p:cNvSpPr txBox="1"/>
          <p:nvPr/>
        </p:nvSpPr>
        <p:spPr>
          <a:xfrm>
            <a:off x="457200" y="4834127"/>
            <a:ext cx="11734800" cy="518159"/>
          </a:xfrm>
          <a:prstGeom prst="rect">
            <a:avLst/>
          </a:prstGeom>
          <a:noFill/>
        </p:spPr>
        <p:txBody>
          <a:bodyPr wrap="none" lIns="0" rIns="0">
            <a:noAutofit/>
          </a:bodyPr>
          <a:lstStyle/>
          <a:p>
            <a:pPr algn="l"/>
            <a:r>
              <a:rPr sz="3400" b="0" i="0">
                <a:solidFill>
                  <a:srgbClr val="0A2240"/>
                </a:solidFill>
                <a:latin typeface="Arial"/>
              </a:rPr>
              <a:t>Only server-side code keeps it private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Half Does What</a:t>
            </a:r>
          </a:p>
        </p:txBody>
      </p:sp>
      <p:sp>
        <p:nvSpPr>
          <p:cNvPr id="3" name="TextBox 2"/>
          <p:cNvSpPr txBox="1"/>
          <p:nvPr/>
        </p:nvSpPr>
        <p:spPr>
          <a:xfrm>
            <a:off x="457200" y="1499616"/>
            <a:ext cx="3822268" cy="518159"/>
          </a:xfrm>
          <a:prstGeom prst="rect">
            <a:avLst/>
          </a:prstGeom>
          <a:noFill/>
        </p:spPr>
        <p:txBody>
          <a:bodyPr wrap="none" lIns="0" rIns="0">
            <a:noAutofit/>
          </a:bodyPr>
          <a:lstStyle/>
          <a:p>
            <a:pPr algn="l"/>
            <a:r>
              <a:rPr sz="3400" b="1" i="0">
                <a:solidFill>
                  <a:srgbClr val="123A6B"/>
                </a:solidFill>
                <a:latin typeface="Arial"/>
              </a:rPr>
              <a:t>Job</a:t>
            </a:r>
          </a:p>
        </p:txBody>
      </p:sp>
      <p:sp>
        <p:nvSpPr>
          <p:cNvPr id="4" name="TextBox 3"/>
          <p:cNvSpPr txBox="1"/>
          <p:nvPr/>
        </p:nvSpPr>
        <p:spPr>
          <a:xfrm>
            <a:off x="4828108" y="1499616"/>
            <a:ext cx="4182172" cy="518159"/>
          </a:xfrm>
          <a:prstGeom prst="rect">
            <a:avLst/>
          </a:prstGeom>
          <a:noFill/>
        </p:spPr>
        <p:txBody>
          <a:bodyPr wrap="none" lIns="0" rIns="0">
            <a:noAutofit/>
          </a:bodyPr>
          <a:lstStyle/>
          <a:p>
            <a:pPr algn="l"/>
            <a:r>
              <a:rPr sz="3400" b="1" i="0">
                <a:solidFill>
                  <a:srgbClr val="123A6B"/>
                </a:solidFill>
                <a:latin typeface="Arial"/>
              </a:rPr>
              <a:t>Which half</a:t>
            </a:r>
          </a:p>
        </p:txBody>
      </p:sp>
      <p:sp>
        <p:nvSpPr>
          <p:cNvPr id="5" name="Rectangle 4"/>
          <p:cNvSpPr/>
          <p:nvPr/>
        </p:nvSpPr>
        <p:spPr>
          <a:xfrm>
            <a:off x="457200" y="2072639"/>
            <a:ext cx="85530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4361" cy="633984"/>
          </a:xfrm>
          <a:prstGeom prst="rect">
            <a:avLst/>
          </a:prstGeom>
          <a:noFill/>
        </p:spPr>
        <p:txBody>
          <a:bodyPr wrap="none" lIns="0" rIns="0">
            <a:noAutofit/>
          </a:bodyPr>
          <a:lstStyle/>
          <a:p>
            <a:pPr algn="l"/>
            <a:r>
              <a:rPr sz="3400" b="0" i="0">
                <a:solidFill>
                  <a:srgbClr val="0A2240"/>
                </a:solidFill>
                <a:latin typeface="Arial"/>
              </a:rPr>
              <a:t>Serves the page</a:t>
            </a:r>
          </a:p>
        </p:txBody>
      </p:sp>
      <p:sp>
        <p:nvSpPr>
          <p:cNvPr id="7" name="TextBox 6"/>
          <p:cNvSpPr txBox="1"/>
          <p:nvPr/>
        </p:nvSpPr>
        <p:spPr>
          <a:xfrm>
            <a:off x="4828108" y="2401823"/>
            <a:ext cx="6289139" cy="633984"/>
          </a:xfrm>
          <a:prstGeom prst="rect">
            <a:avLst/>
          </a:prstGeom>
          <a:noFill/>
        </p:spPr>
        <p:txBody>
          <a:bodyPr wrap="none" lIns="0" rIns="0">
            <a:noAutofit/>
          </a:bodyPr>
          <a:lstStyle/>
          <a:p>
            <a:pPr algn="l"/>
            <a:r>
              <a:rPr sz="3400" b="0" i="0">
                <a:solidFill>
                  <a:srgbClr val="0A2240"/>
                </a:solidFill>
                <a:latin typeface="Arial"/>
              </a:rPr>
              <a:t>Pages or Cloudflare</a:t>
            </a:r>
          </a:p>
        </p:txBody>
      </p:sp>
      <p:sp>
        <p:nvSpPr>
          <p:cNvPr id="8" name="TextBox 7"/>
          <p:cNvSpPr txBox="1"/>
          <p:nvPr/>
        </p:nvSpPr>
        <p:spPr>
          <a:xfrm>
            <a:off x="457200" y="3310127"/>
            <a:ext cx="5635366" cy="633984"/>
          </a:xfrm>
          <a:prstGeom prst="rect">
            <a:avLst/>
          </a:prstGeom>
          <a:noFill/>
        </p:spPr>
        <p:txBody>
          <a:bodyPr wrap="none" lIns="0" rIns="0">
            <a:noAutofit/>
          </a:bodyPr>
          <a:lstStyle/>
          <a:p>
            <a:pPr algn="l"/>
            <a:r>
              <a:rPr sz="3400" b="0" i="0">
                <a:solidFill>
                  <a:srgbClr val="0A2240"/>
                </a:solidFill>
                <a:latin typeface="Arial"/>
              </a:rPr>
              <a:t>Remembers input</a:t>
            </a:r>
          </a:p>
        </p:txBody>
      </p:sp>
      <p:sp>
        <p:nvSpPr>
          <p:cNvPr id="9" name="TextBox 8"/>
          <p:cNvSpPr txBox="1"/>
          <p:nvPr/>
        </p:nvSpPr>
        <p:spPr>
          <a:xfrm>
            <a:off x="4828108" y="3310127"/>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0" name="TextBox 9"/>
          <p:cNvSpPr txBox="1"/>
          <p:nvPr/>
        </p:nvSpPr>
        <p:spPr>
          <a:xfrm>
            <a:off x="457200" y="4218431"/>
            <a:ext cx="4944824" cy="633984"/>
          </a:xfrm>
          <a:prstGeom prst="rect">
            <a:avLst/>
          </a:prstGeom>
          <a:noFill/>
        </p:spPr>
        <p:txBody>
          <a:bodyPr wrap="none" lIns="0" rIns="0">
            <a:noAutofit/>
          </a:bodyPr>
          <a:lstStyle/>
          <a:p>
            <a:pPr algn="l"/>
            <a:r>
              <a:rPr sz="3400" b="0" i="0">
                <a:solidFill>
                  <a:srgbClr val="0A2240"/>
                </a:solidFill>
                <a:latin typeface="Arial"/>
              </a:rPr>
              <a:t>Handles sign-in</a:t>
            </a:r>
          </a:p>
        </p:txBody>
      </p:sp>
      <p:sp>
        <p:nvSpPr>
          <p:cNvPr id="11" name="TextBox 10"/>
          <p:cNvSpPr txBox="1"/>
          <p:nvPr/>
        </p:nvSpPr>
        <p:spPr>
          <a:xfrm>
            <a:off x="4828108" y="4218431"/>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2" name="TextBox 11"/>
          <p:cNvSpPr txBox="1"/>
          <p:nvPr/>
        </p:nvSpPr>
        <p:spPr>
          <a:xfrm>
            <a:off x="457200" y="5126735"/>
            <a:ext cx="5713292" cy="633984"/>
          </a:xfrm>
          <a:prstGeom prst="rect">
            <a:avLst/>
          </a:prstGeom>
          <a:noFill/>
        </p:spPr>
        <p:txBody>
          <a:bodyPr wrap="none" lIns="0" rIns="0">
            <a:noAutofit/>
          </a:bodyPr>
          <a:lstStyle/>
          <a:p>
            <a:pPr algn="l"/>
            <a:r>
              <a:rPr sz="3400" b="0" i="0">
                <a:solidFill>
                  <a:srgbClr val="0A2240"/>
                </a:solidFill>
                <a:latin typeface="Arial"/>
              </a:rPr>
              <a:t>Costs you nothing</a:t>
            </a:r>
          </a:p>
        </p:txBody>
      </p:sp>
      <p:sp>
        <p:nvSpPr>
          <p:cNvPr id="13" name="TextBox 12"/>
          <p:cNvSpPr txBox="1"/>
          <p:nvPr/>
        </p:nvSpPr>
        <p:spPr>
          <a:xfrm>
            <a:off x="4828108" y="5126735"/>
            <a:ext cx="4182172" cy="633984"/>
          </a:xfrm>
          <a:prstGeom prst="rect">
            <a:avLst/>
          </a:prstGeom>
          <a:noFill/>
        </p:spPr>
        <p:txBody>
          <a:bodyPr wrap="none" lIns="0" rIns="0">
            <a:noAutofit/>
          </a:bodyPr>
          <a:lstStyle/>
          <a:p>
            <a:pPr algn="l"/>
            <a:r>
              <a:rPr sz="3400" b="0" i="0">
                <a:solidFill>
                  <a:srgbClr val="0A2240"/>
                </a:solidFill>
                <a:latin typeface="Arial"/>
              </a:rPr>
              <a:t>Both</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Not to Bother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demo only ever reads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Nothing needs to outlive the tab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saved result would do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stub it, like anything else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54</a:t>
            </a:fld>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55</a:t>
            </a:fld>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56</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57</a:t>
            </a:fld>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58</a:t>
            </a:fld>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59</a:t>
            </a:fld>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60</a:t>
            </a:fld>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