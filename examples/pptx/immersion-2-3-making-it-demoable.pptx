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2.3, Making It Demoable. You have a pipeline that runs; right now nobody outside your team can use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minutes, and you leave with a link you can send to somebody who is not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wrap it so a stranger can drive it, ship it to a public URL, write a three-minute script, and document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 stranger drive it? Picture a specific one — a friend, a recruiter — opening a link with no explanation from you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morning's work runs in your hands. A demo is the same thing running in somebody else's, which is a different and smaller problem than it feels.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wrap it in a front end however plain, ship it to a URL off your machine, script three minutes and rehearse them, and write down what is fake.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Wrap it by 11:20, ship it, script it at 11:35, and write the caveats at 11:45. If you have no URL by 11:20, ship whatever exists — the rest of the hour assumes a link.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nobody can open is a story. Until there is a URL, everything you have is something you can describe.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and the bar is deliberately low: not beautiful, not responsive — drivable.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front end is the part that works without you in the room. If somebody needs you on a call to get a result, you do not have one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stranger needs four things, in this order: to know what this thing does, something obvious to click, a result they can read, and no instructions from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options. A Claude Artifact takes minutes, comes with a shareable link, and is good enough to be judged. A page you host gives more control, takes more time, and is yours after the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versus hosted page, in three rows. Minutes to live against an hour or more. Limited control against total control. Low demo risk against risk you manage yourself.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Claude Artifact is a working page Claude builds and hosts for you — no repo, no build step, no hosting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either way. Describe the one screen: input, button, result, nothing else. Paste in a real result so the layout fits actual output. Then drive it yourself cold, in a new tab, with no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ask. One page, a box to paste into, a Run button, the result below — and this exact output as the example. Plain and readable, no styling flourish.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on the page: one sentence saying what it does, an example input already filled in, the result readable as text, and a line saying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out accounts and sign-in, settings and options, a second page of any kind, and anything you would end up styling twice.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tests of drivable. One click to a result, from landing on the page with nothing typed. Obvious what happened, so the output reads without you explaining it. And it survives a bad input by saying something rather than showing nothing.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watch for: an empty box with no hint, a result that needs your voice to make sense, a spinner that never finishes, and output only you can read.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getting it off your laptop, which the syllabus is explicit about.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the wifi drops? Every failed demo any of us has seen was a local thing that stopped being reachable.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Localhost is not a demo. It dies when your laptop sleeps, nobody can open it later, you cannot send it to anyone, and tomorrow's red team cannot test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ship. GitHub Pages is already where your code is, a commit is a deploy, and it serves static pages only. Cloudflare handles more than static and is fast to set up, but it is another account to make.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with Pages. Put the page in the repo, as index dot html at the root or in docs. Turn Pages on in settings and pick the branch. Then wait — the first build takes a minute or two — and open the URL.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from repo to public URL: copy the page into docs, add it, commit, push, then turn Pages on in settings. That last one is a click rather than a command, and it happens once per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that work on a laptop and not on the internet: paths that only exist locally, a key that was in your shell, a file you never committed, and anything reading your disk.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before you share it. No API keys in the page, no keys anywhere in the repo history, nothing private in the fixture, and nothing you cannot show. A public repo is public forever, history included.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page on Pages or Cloudflare is a file being served. The moment your demo needs to remember anything a visitor did, that file has nowhere to put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read-only page shows a stranger what you made. A page that can also write lets them leave something behind, and that is a different kind of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Supabase is a hosted Postgres database that also gives you sign-in and file storage, reachable straight from a web page.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a database your page can write rows to, sign-in you did not have to build, storage for files people upload, and an HTTPS API that reaches all of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about ten minutes. Create the project on the free tier, make one table with the columns your demo needs, and copy the project URL and the public key.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integration. Create the client with your URL and public key, then insert a row. No server of your own, from a page that is still just a static file.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worth storing in a prototype: what a visitor typed, the result you gave back, any file they uploaded, and a count of how often the thing was run.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exception to the rule two slides ago. Supabase gives you a public key that is designed to sit in the page, and a secret key that must never leave your machine — and the public one is only safe once row level security is switched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halves split cleanly. Pages or Cloudflare serves the page; Supabase remembers what happened and handles sign-in. Both are free at the size a prototype runs 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all of this if your demo only reads, if nothing needs to outlive the browser tab, or if one saved result would do. A backend is a step like any other, and stubbing it is a legitimate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and this is the most valuable ten minutes of the session. Open a private window — no logins, no cache, no extensions. Do nothing but click, typing nothing you have not pre-filled. Then try it on a phone, because half the people you send it to will.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ship what exists, because an ugly live page beats a good local one. Drop the front end if you must — a page showing one saved result still counts. But never drop the caveats; five honest lines take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checks, all binary. Private window: it loads and runs. Phone: you can read the output. Laptop closed: a teammate can still open it. No secrets: nothing in the page or the repo.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Needs your laptop? Not shipped. A local version is not basically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this is what separates teams tomorrow: the script and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script is the three minutes, written down word for word. Written, because improvising turns into ninety seconds of architecture nobody asked for.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structure that works. Thirty seconds on the problem, concretely. Ninety seconds driving it live, in silence. Thirty seconds on what is real and what is not. Thirty seconds on what you would build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thirty seconds: name who has the problem, say what it costs them today, one sentence with no background — then stop and show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phrases that lose the room. “Let me explain the architecture.” “Normally this works.” “We ran out of time to.” And “it is basically just a wrapper.”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Time it out loud, because silently in your head is always shorter. Have someone else drive, since the builder's hands hide the rough edges. Then cut until it fits — three minutes means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caveat list is everything stubbed, faked, or known to break. It is an asset rather than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categories go on it: every step you stubbed, every hardcoded value, inputs you know it fails on, and anything only tested once.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is enough. Login: stubbed, one user. PDF parsing: one file only. Retrieval: faked, four docs. Long inputs: known to break.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committed next to the code as CAVEATS dot md — in the repo rather than a document, because that is where tomorrow's red team will look.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of work, seven entries. Notice CAVEATS.md sitting beside the code as an equal.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Hiding a limit means they find it anyway, it looks like a mistake, and you lose the room. Naming it means you look in control, it reads as a decision, and the question moves on. Same fact, opposite outcome.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Day 3 will attack. The undocumented fake — anything real- looking that is not on your list. The single input, because the second thing they try will not be yours. And the dead link, a URL that only ever worked on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a URL a stranger can open, that works with your laptop shut, a three-minute script you have rehearsed, and CAVEATS dot md committed.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into the repo before Day 2 ends: the public URL, who drives the demo, your biggest caveat, and what is most likely to break.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tonight, and worth more than any code: send the link to one stranger, watch where they get stuck, fix only what stopped them, and add what broke to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of the day: what would you attack? You already know where your own system is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the mindset flips. You design an attack rather than a feature, another team red-teams yours, agents probe it rather than just people — and you bring the caveat list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Making It Demoable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public URL</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Wrap it so a stranger can drive</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Ship it to a public URL</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Write a three-minute script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Document what is faked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Could a stranger drive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2.2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path</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It runs when you run it</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demo</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It runs when they do</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Wrap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A front end, however plain</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Ship</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A URL off your machine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Script</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Three minutes, rehearsed</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Admit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Write down what is fake</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50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11:00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Wrap it</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A front end anyone can drive</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11:20</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Ship it</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Public URL, tested cold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11:35</a:t>
            </a:r>
          </a:p>
        </p:txBody>
      </p:sp>
      <p:sp>
        <p:nvSpPr>
          <p:cNvPr id="10" name="TextBox 9"/>
          <p:cNvSpPr txBox="1"/>
          <p:nvPr/>
        </p:nvSpPr>
        <p:spPr>
          <a:xfrm>
            <a:off x="6233160" y="2154936"/>
            <a:ext cx="2754788" cy="518159"/>
          </a:xfrm>
          <a:prstGeom prst="rect">
            <a:avLst/>
          </a:prstGeom>
          <a:noFill/>
        </p:spPr>
        <p:txBody>
          <a:bodyPr wrap="none" lIns="0" rIns="0">
            <a:noAutofit/>
          </a:bodyPr>
          <a:lstStyle/>
          <a:p>
            <a:pPr algn="l"/>
            <a:r>
              <a:rPr sz="3400" b="1" i="0">
                <a:solidFill>
                  <a:srgbClr val="0A2240"/>
                </a:solidFill>
                <a:latin typeface="Arial"/>
              </a:rPr>
              <a:t>Script it</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Three minutes, out loud</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11:45</a:t>
            </a:r>
          </a:p>
        </p:txBody>
      </p:sp>
      <p:sp>
        <p:nvSpPr>
          <p:cNvPr id="13" name="TextBox 12"/>
          <p:cNvSpPr txBox="1"/>
          <p:nvPr/>
        </p:nvSpPr>
        <p:spPr>
          <a:xfrm>
            <a:off x="9121140" y="2154936"/>
            <a:ext cx="2908617" cy="518159"/>
          </a:xfrm>
          <a:prstGeom prst="rect">
            <a:avLst/>
          </a:prstGeom>
          <a:noFill/>
        </p:spPr>
        <p:txBody>
          <a:bodyPr wrap="none" lIns="0" rIns="0">
            <a:noAutofit/>
          </a:bodyPr>
          <a:lstStyle/>
          <a:p>
            <a:pPr algn="l"/>
            <a:r>
              <a:rPr sz="3400" b="1" i="0">
                <a:solidFill>
                  <a:srgbClr val="0A2240"/>
                </a:solidFill>
                <a:latin typeface="Arial"/>
              </a:rPr>
              <a:t>Confess</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The caveat list, in the repo</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demo nobody can open is a story."</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close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 Front End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Front end</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part that works without you in the room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 Stranger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To know what this thing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Something obvious to click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result they can read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instructions from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Honest Options</a:t>
            </a:r>
          </a:p>
        </p:txBody>
      </p:sp>
      <p:sp>
        <p:nvSpPr>
          <p:cNvPr id="3" name="TextBox 2"/>
          <p:cNvSpPr txBox="1"/>
          <p:nvPr/>
        </p:nvSpPr>
        <p:spPr>
          <a:xfrm>
            <a:off x="457200" y="1499616"/>
            <a:ext cx="5736233" cy="621791"/>
          </a:xfrm>
          <a:prstGeom prst="rect">
            <a:avLst/>
          </a:prstGeom>
          <a:noFill/>
        </p:spPr>
        <p:txBody>
          <a:bodyPr wrap="none" lIns="0" rIns="0">
            <a:noAutofit/>
          </a:bodyPr>
          <a:lstStyle/>
          <a:p>
            <a:pPr algn="l"/>
            <a:r>
              <a:rPr sz="3400" b="1" i="0">
                <a:solidFill>
                  <a:srgbClr val="0072CE"/>
                </a:solidFill>
                <a:latin typeface="Arial"/>
              </a:rPr>
              <a:t>A Claude Artifact</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31128" cy="621791"/>
          </a:xfrm>
          <a:prstGeom prst="rect">
            <a:avLst/>
          </a:prstGeom>
          <a:noFill/>
        </p:spPr>
        <p:txBody>
          <a:bodyPr wrap="none" lIns="0" rIns="0">
            <a:noAutofit/>
          </a:bodyPr>
          <a:lstStyle/>
          <a:p>
            <a:pPr algn="l"/>
            <a:r>
              <a:rPr sz="3400" b="1" i="0">
                <a:solidFill>
                  <a:srgbClr val="5B6B82"/>
                </a:solidFill>
                <a:latin typeface="Arial"/>
              </a:rPr>
              <a:t>A page you host</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Minutes to build</a:t>
            </a:r>
          </a:p>
        </p:txBody>
      </p:sp>
      <p:sp>
        <p:nvSpPr>
          <p:cNvPr id="8" name="TextBox 7"/>
          <p:cNvSpPr txBox="1"/>
          <p:nvPr/>
        </p:nvSpPr>
        <p:spPr>
          <a:xfrm>
            <a:off x="457200" y="3608831"/>
            <a:ext cx="7326808" cy="609600"/>
          </a:xfrm>
          <a:prstGeom prst="rect">
            <a:avLst/>
          </a:prstGeom>
          <a:noFill/>
        </p:spPr>
        <p:txBody>
          <a:bodyPr wrap="none" lIns="0" rIns="0">
            <a:noAutofit/>
          </a:bodyPr>
          <a:lstStyle/>
          <a:p>
            <a:pPr algn="l"/>
            <a:r>
              <a:rPr sz="3400" b="0" i="0">
                <a:solidFill>
                  <a:srgbClr val="0A2240"/>
                </a:solidFill>
                <a:latin typeface="Arial"/>
              </a:rPr>
              <a:t>Shareable link included</a:t>
            </a:r>
          </a:p>
        </p:txBody>
      </p:sp>
      <p:sp>
        <p:nvSpPr>
          <p:cNvPr id="9" name="TextBox 8"/>
          <p:cNvSpPr txBox="1"/>
          <p:nvPr/>
        </p:nvSpPr>
        <p:spPr>
          <a:xfrm>
            <a:off x="457200" y="4821935"/>
            <a:ext cx="7020838" cy="609600"/>
          </a:xfrm>
          <a:prstGeom prst="rect">
            <a:avLst/>
          </a:prstGeom>
          <a:noFill/>
        </p:spPr>
        <p:txBody>
          <a:bodyPr wrap="none" lIns="0" rIns="0">
            <a:noAutofit/>
          </a:bodyPr>
          <a:lstStyle/>
          <a:p>
            <a:pPr algn="l"/>
            <a:r>
              <a:rPr sz="3400" b="0" i="0">
                <a:solidFill>
                  <a:srgbClr val="0A2240"/>
                </a:solidFill>
                <a:latin typeface="Arial"/>
              </a:rPr>
              <a:t>Good enough to judge</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More control</a:t>
            </a:r>
          </a:p>
        </p:txBody>
      </p:sp>
      <p:sp>
        <p:nvSpPr>
          <p:cNvPr id="11" name="TextBox 10"/>
          <p:cNvSpPr txBox="1"/>
          <p:nvPr/>
        </p:nvSpPr>
        <p:spPr>
          <a:xfrm>
            <a:off x="6233160" y="3608831"/>
            <a:ext cx="5673824" cy="609600"/>
          </a:xfrm>
          <a:prstGeom prst="rect">
            <a:avLst/>
          </a:prstGeom>
          <a:noFill/>
        </p:spPr>
        <p:txBody>
          <a:bodyPr wrap="none" lIns="0" rIns="0">
            <a:noAutofit/>
          </a:bodyPr>
          <a:lstStyle/>
          <a:p>
            <a:pPr algn="l"/>
            <a:r>
              <a:rPr sz="3400" b="0" i="0">
                <a:solidFill>
                  <a:srgbClr val="0A2240"/>
                </a:solidFill>
                <a:latin typeface="Arial"/>
              </a:rPr>
              <a:t>More time to build</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Yours after the week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Choosing Between Them</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Artifact</a:t>
            </a:r>
          </a:p>
        </p:txBody>
      </p:sp>
      <p:sp>
        <p:nvSpPr>
          <p:cNvPr id="4" name="TextBox 3"/>
          <p:cNvSpPr txBox="1"/>
          <p:nvPr/>
        </p:nvSpPr>
        <p:spPr>
          <a:xfrm>
            <a:off x="7677575" y="1499616"/>
            <a:ext cx="4328834" cy="518159"/>
          </a:xfrm>
          <a:prstGeom prst="rect">
            <a:avLst/>
          </a:prstGeom>
          <a:noFill/>
        </p:spPr>
        <p:txBody>
          <a:bodyPr wrap="none" lIns="0" rIns="0">
            <a:noAutofit/>
          </a:bodyPr>
          <a:lstStyle/>
          <a:p>
            <a:pPr algn="ctr"/>
            <a:r>
              <a:rPr sz="3400" b="1" i="0">
                <a:solidFill>
                  <a:srgbClr val="0A2240"/>
                </a:solidFill>
                <a:latin typeface="Arial"/>
              </a:rPr>
              <a:t>Hosted page</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71249" cy="936752"/>
          </a:xfrm>
          <a:prstGeom prst="rect">
            <a:avLst/>
          </a:prstGeom>
          <a:noFill/>
        </p:spPr>
        <p:txBody>
          <a:bodyPr wrap="none" lIns="0" rIns="0">
            <a:noAutofit/>
          </a:bodyPr>
          <a:lstStyle/>
          <a:p>
            <a:pPr algn="l"/>
            <a:r>
              <a:rPr sz="3400" b="1" i="0">
                <a:solidFill>
                  <a:srgbClr val="0A2240"/>
                </a:solidFill>
                <a:latin typeface="Arial"/>
              </a:rPr>
              <a:t>Time to live</a:t>
            </a:r>
          </a:p>
        </p:txBody>
      </p:sp>
      <p:sp>
        <p:nvSpPr>
          <p:cNvPr id="7" name="Rectangle 6"/>
          <p:cNvSpPr/>
          <p:nvPr/>
        </p:nvSpPr>
        <p:spPr>
          <a:xfrm>
            <a:off x="4801830" y="2401823"/>
            <a:ext cx="1960452"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5602" y="2401823"/>
            <a:ext cx="2792908" cy="518159"/>
          </a:xfrm>
          <a:prstGeom prst="rect">
            <a:avLst/>
          </a:prstGeom>
          <a:noFill/>
        </p:spPr>
        <p:txBody>
          <a:bodyPr wrap="none" lIns="0" rIns="0">
            <a:noAutofit/>
          </a:bodyPr>
          <a:lstStyle/>
          <a:p>
            <a:pPr algn="ctr"/>
            <a:r>
              <a:rPr sz="3400" b="1" i="0">
                <a:solidFill>
                  <a:srgbClr val="FFFFFF"/>
                </a:solidFill>
                <a:latin typeface="Arial"/>
              </a:rPr>
              <a:t>Minutes</a:t>
            </a:r>
          </a:p>
        </p:txBody>
      </p:sp>
      <p:sp>
        <p:nvSpPr>
          <p:cNvPr id="9" name="TextBox 8"/>
          <p:cNvSpPr txBox="1"/>
          <p:nvPr/>
        </p:nvSpPr>
        <p:spPr>
          <a:xfrm>
            <a:off x="7491984" y="2401823"/>
            <a:ext cx="4700016" cy="936752"/>
          </a:xfrm>
          <a:prstGeom prst="rect">
            <a:avLst/>
          </a:prstGeom>
          <a:noFill/>
        </p:spPr>
        <p:txBody>
          <a:bodyPr wrap="none" lIns="0" rIns="0">
            <a:noAutofit/>
          </a:bodyPr>
          <a:lstStyle/>
          <a:p>
            <a:pPr algn="ctr"/>
            <a:r>
              <a:rPr sz="3400" b="0" i="0">
                <a:solidFill>
                  <a:srgbClr val="0A2240"/>
                </a:solidFill>
                <a:latin typeface="Arial"/>
              </a:rPr>
              <a:t>An hour or more</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Control</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Limited</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Total</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491984" y="4823967"/>
            <a:ext cx="4700016" cy="936752"/>
          </a:xfrm>
          <a:prstGeom prst="rect">
            <a:avLst/>
          </a:prstGeom>
          <a:noFill/>
        </p:spPr>
        <p:txBody>
          <a:bodyPr wrap="none" lIns="0" rIns="0">
            <a:noAutofit/>
          </a:bodyPr>
          <a:lstStyle/>
          <a:p>
            <a:pPr algn="ctr"/>
            <a:r>
              <a:rPr sz="3400" b="0" i="0">
                <a:solidFill>
                  <a:srgbClr val="0A2240"/>
                </a:solidFill>
                <a:latin typeface="Arial"/>
              </a:rPr>
              <a:t>Yours to manage</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Artifact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working page Claude builds and hosts for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Wrapping It, Either Way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Describe the one screen</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Input, button, result — nothing else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Paste in a real result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So the layout fits actual output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Drive it yourself,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New tab, no context, no excuses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wrapper worth asking for</a:t>
            </a:r>
          </a:p>
        </p:txBody>
      </p:sp>
      <p:sp>
        <p:nvSpPr>
          <p:cNvPr id="6" name="TextBox 5"/>
          <p:cNvSpPr txBox="1"/>
          <p:nvPr/>
        </p:nvSpPr>
        <p:spPr>
          <a:xfrm>
            <a:off x="457200" y="1837944"/>
            <a:ext cx="10706993" cy="518159"/>
          </a:xfrm>
          <a:prstGeom prst="rect">
            <a:avLst/>
          </a:prstGeom>
          <a:noFill/>
        </p:spPr>
        <p:txBody>
          <a:bodyPr wrap="none" lIns="0" rIns="0">
            <a:noAutofit/>
          </a:bodyPr>
          <a:lstStyle/>
          <a:p>
            <a:pPr algn="l"/>
            <a:r>
              <a:rPr sz="3400" b="0" i="0">
                <a:solidFill>
                  <a:srgbClr val="D4D4D4"/>
                </a:solidFill>
                <a:latin typeface="Arial"/>
              </a:rPr>
              <a:t>One page. A box to paste a report </a:t>
            </a:r>
          </a:p>
        </p:txBody>
      </p:sp>
      <p:sp>
        <p:nvSpPr>
          <p:cNvPr id="7" name="TextBox 6"/>
          <p:cNvSpPr txBox="1"/>
          <p:nvPr/>
        </p:nvSpPr>
        <p:spPr>
          <a:xfrm>
            <a:off x="7034771" y="1837944"/>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8" name="TextBox 7"/>
          <p:cNvSpPr txBox="1"/>
          <p:nvPr/>
        </p:nvSpPr>
        <p:spPr>
          <a:xfrm>
            <a:off x="7370849" y="1837944"/>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4523144" cy="518159"/>
          </a:xfrm>
          <a:prstGeom prst="rect">
            <a:avLst/>
          </a:prstGeom>
          <a:noFill/>
        </p:spPr>
        <p:txBody>
          <a:bodyPr wrap="none" lIns="0" rIns="0">
            <a:noAutofit/>
          </a:bodyPr>
          <a:lstStyle/>
          <a:p>
            <a:pPr algn="l"/>
            <a:r>
              <a:rPr sz="3400" b="0" i="0">
                <a:solidFill>
                  <a:srgbClr val="D4D4D4"/>
                </a:solidFill>
                <a:latin typeface="Arial"/>
              </a:rPr>
              <a:t>a Run button, </a:t>
            </a:r>
          </a:p>
        </p:txBody>
      </p:sp>
      <p:sp>
        <p:nvSpPr>
          <p:cNvPr id="10" name="TextBox 9"/>
          <p:cNvSpPr txBox="1"/>
          <p:nvPr/>
        </p:nvSpPr>
        <p:spPr>
          <a:xfrm>
            <a:off x="3169865" y="2356103"/>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1" name="TextBox 10"/>
          <p:cNvSpPr txBox="1"/>
          <p:nvPr/>
        </p:nvSpPr>
        <p:spPr>
          <a:xfrm>
            <a:off x="3890305" y="2356103"/>
            <a:ext cx="5943024" cy="518159"/>
          </a:xfrm>
          <a:prstGeom prst="rect">
            <a:avLst/>
          </a:prstGeom>
          <a:noFill/>
        </p:spPr>
        <p:txBody>
          <a:bodyPr wrap="none" lIns="0" rIns="0">
            <a:noAutofit/>
          </a:bodyPr>
          <a:lstStyle/>
          <a:p>
            <a:pPr algn="l"/>
            <a:r>
              <a:rPr sz="3400" b="0" i="0">
                <a:solidFill>
                  <a:srgbClr val="D4D4D4"/>
                </a:solidFill>
                <a:latin typeface="Arial"/>
              </a:rPr>
              <a:t> the result below it.</a:t>
            </a:r>
          </a:p>
        </p:txBody>
      </p:sp>
      <p:sp>
        <p:nvSpPr>
          <p:cNvPr id="12" name="TextBox 11"/>
          <p:cNvSpPr txBox="1"/>
          <p:nvPr/>
        </p:nvSpPr>
        <p:spPr>
          <a:xfrm>
            <a:off x="457200" y="2874262"/>
            <a:ext cx="7326134" cy="518159"/>
          </a:xfrm>
          <a:prstGeom prst="rect">
            <a:avLst/>
          </a:prstGeom>
          <a:noFill/>
        </p:spPr>
        <p:txBody>
          <a:bodyPr wrap="none" lIns="0" rIns="0">
            <a:noAutofit/>
          </a:bodyPr>
          <a:lstStyle/>
          <a:p>
            <a:pPr algn="l"/>
            <a:r>
              <a:rPr sz="3400" b="0" i="0">
                <a:solidFill>
                  <a:srgbClr val="D4D4D4"/>
                </a:solidFill>
                <a:latin typeface="Arial"/>
              </a:rPr>
              <a:t>Show this exact output </a:t>
            </a:r>
          </a:p>
        </p:txBody>
      </p:sp>
      <p:sp>
        <p:nvSpPr>
          <p:cNvPr id="13" name="TextBox 12"/>
          <p:cNvSpPr txBox="1"/>
          <p:nvPr/>
        </p:nvSpPr>
        <p:spPr>
          <a:xfrm>
            <a:off x="4921734" y="2874262"/>
            <a:ext cx="912555" cy="518159"/>
          </a:xfrm>
          <a:prstGeom prst="rect">
            <a:avLst/>
          </a:prstGeom>
          <a:noFill/>
        </p:spPr>
        <p:txBody>
          <a:bodyPr wrap="none" lIns="0" rIns="0">
            <a:noAutofit/>
          </a:bodyPr>
          <a:lstStyle/>
          <a:p>
            <a:pPr algn="l"/>
            <a:r>
              <a:rPr sz="3400" b="0" i="0">
                <a:solidFill>
                  <a:srgbClr val="569CD6"/>
                </a:solidFill>
                <a:latin typeface="Arial"/>
              </a:rPr>
              <a:t>as</a:t>
            </a:r>
          </a:p>
        </p:txBody>
      </p:sp>
      <p:sp>
        <p:nvSpPr>
          <p:cNvPr id="14" name="TextBox 13"/>
          <p:cNvSpPr txBox="1"/>
          <p:nvPr/>
        </p:nvSpPr>
        <p:spPr>
          <a:xfrm>
            <a:off x="5377780" y="2874262"/>
            <a:ext cx="4138572" cy="518159"/>
          </a:xfrm>
          <a:prstGeom prst="rect">
            <a:avLst/>
          </a:prstGeom>
          <a:noFill/>
        </p:spPr>
        <p:txBody>
          <a:bodyPr wrap="none" lIns="0" rIns="0">
            <a:noAutofit/>
          </a:bodyPr>
          <a:lstStyle/>
          <a:p>
            <a:pPr algn="l"/>
            <a:r>
              <a:rPr sz="3400" b="0" i="0">
                <a:solidFill>
                  <a:srgbClr val="D4D4D4"/>
                </a:solidFill>
                <a:latin typeface="Arial"/>
              </a:rPr>
              <a:t> an example:</a:t>
            </a:r>
          </a:p>
        </p:txBody>
      </p:sp>
      <p:sp>
        <p:nvSpPr>
          <p:cNvPr id="15" name="TextBox 14"/>
          <p:cNvSpPr txBox="1"/>
          <p:nvPr/>
        </p:nvSpPr>
        <p:spPr>
          <a:xfrm>
            <a:off x="457200" y="3392421"/>
            <a:ext cx="8939649" cy="518159"/>
          </a:xfrm>
          <a:prstGeom prst="rect">
            <a:avLst/>
          </a:prstGeom>
          <a:noFill/>
        </p:spPr>
        <p:txBody>
          <a:bodyPr wrap="none" lIns="0" rIns="0">
            <a:noAutofit/>
          </a:bodyPr>
          <a:lstStyle/>
          <a:p>
            <a:pPr algn="l"/>
            <a:r>
              <a:rPr sz="3400" b="0" i="0">
                <a:solidFill>
                  <a:srgbClr val="D4D4D4"/>
                </a:solidFill>
                <a:latin typeface="Arial"/>
              </a:rPr>
              <a:t>&lt;paste out/answer.md here&gt;</a:t>
            </a:r>
          </a:p>
        </p:txBody>
      </p:sp>
      <p:sp>
        <p:nvSpPr>
          <p:cNvPr id="16" name="TextBox 15"/>
          <p:cNvSpPr txBox="1"/>
          <p:nvPr/>
        </p:nvSpPr>
        <p:spPr>
          <a:xfrm>
            <a:off x="457200" y="3910580"/>
            <a:ext cx="1911092" cy="518159"/>
          </a:xfrm>
          <a:prstGeom prst="rect">
            <a:avLst/>
          </a:prstGeom>
          <a:noFill/>
        </p:spPr>
        <p:txBody>
          <a:bodyPr wrap="none" lIns="0" rIns="0">
            <a:noAutofit/>
          </a:bodyPr>
          <a:lstStyle/>
          <a:p>
            <a:pPr algn="l"/>
            <a:r>
              <a:rPr sz="3400" b="0" i="0">
                <a:solidFill>
                  <a:srgbClr val="D4D4D4"/>
                </a:solidFill>
                <a:latin typeface="Arial"/>
              </a:rPr>
              <a:t>Plain </a:t>
            </a:r>
          </a:p>
        </p:txBody>
      </p:sp>
      <p:sp>
        <p:nvSpPr>
          <p:cNvPr id="17" name="TextBox 16"/>
          <p:cNvSpPr txBox="1"/>
          <p:nvPr/>
        </p:nvSpPr>
        <p:spPr>
          <a:xfrm>
            <a:off x="1537333" y="3910580"/>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8" name="TextBox 17"/>
          <p:cNvSpPr txBox="1"/>
          <p:nvPr/>
        </p:nvSpPr>
        <p:spPr>
          <a:xfrm>
            <a:off x="2257772" y="3910580"/>
            <a:ext cx="9092128" cy="518159"/>
          </a:xfrm>
          <a:prstGeom prst="rect">
            <a:avLst/>
          </a:prstGeom>
          <a:noFill/>
        </p:spPr>
        <p:txBody>
          <a:bodyPr wrap="none" lIns="0" rIns="0">
            <a:noAutofit/>
          </a:bodyPr>
          <a:lstStyle/>
          <a:p>
            <a:pPr algn="l"/>
            <a:r>
              <a:rPr sz="3400" b="0" i="0">
                <a:solidFill>
                  <a:srgbClr val="D4D4D4"/>
                </a:solidFill>
                <a:latin typeface="Arial"/>
              </a:rPr>
              <a:t> readable. No styling flourish.</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Put These on the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sentence: what this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 example input, pre-filled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result, readable as text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line saying what is faked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Leave These Out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Accounts and sign-in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Settings and options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second page of any kind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you would style twice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Tests of Drivable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One click to a result</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From landing on the page, with nothing typed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Obvious what happened</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output reads without you explaining 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Survives a bad input</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Says something, rather than showing nothing</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Watch For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An empty box with no hint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result that needs your voice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spinner that never finishes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Output only you can read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Off Your Laptop</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the wifi drops?</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Why Localhost Is Not a Demo</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dies when your laptop sleeps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Nobody can open it later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cannot send it to anyone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Tomorrow's team cannot test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Ship 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GitHub Pages</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Cloudflare</a:t>
            </a:r>
          </a:p>
        </p:txBody>
      </p:sp>
      <p:sp>
        <p:nvSpPr>
          <p:cNvPr id="5" name="TextBox 4"/>
          <p:cNvSpPr txBox="1"/>
          <p:nvPr/>
        </p:nvSpPr>
        <p:spPr>
          <a:xfrm>
            <a:off x="457200" y="2395727"/>
            <a:ext cx="8515945" cy="847344"/>
          </a:xfrm>
          <a:prstGeom prst="rect">
            <a:avLst/>
          </a:prstGeom>
          <a:noFill/>
        </p:spPr>
        <p:txBody>
          <a:bodyPr wrap="none" lIns="0" rIns="0">
            <a:noAutofit/>
          </a:bodyPr>
          <a:lstStyle/>
          <a:p>
            <a:pPr algn="l"/>
            <a:r>
              <a:rPr sz="3400" b="0" i="0">
                <a:solidFill>
                  <a:srgbClr val="0A2240"/>
                </a:solidFill>
                <a:latin typeface="Arial"/>
              </a:rPr>
              <a:t>Already where your code is</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Handles more than static</a:t>
            </a:r>
          </a:p>
        </p:txBody>
      </p:sp>
      <p:sp>
        <p:nvSpPr>
          <p:cNvPr id="7" name="TextBox 6"/>
          <p:cNvSpPr txBox="1"/>
          <p:nvPr/>
        </p:nvSpPr>
        <p:spPr>
          <a:xfrm>
            <a:off x="457200" y="3517391"/>
            <a:ext cx="6518532" cy="847344"/>
          </a:xfrm>
          <a:prstGeom prst="rect">
            <a:avLst/>
          </a:prstGeom>
          <a:noFill/>
        </p:spPr>
        <p:txBody>
          <a:bodyPr wrap="none" lIns="0" rIns="0">
            <a:noAutofit/>
          </a:bodyPr>
          <a:lstStyle/>
          <a:p>
            <a:pPr algn="l"/>
            <a:r>
              <a:rPr sz="3400" b="0" i="0">
                <a:solidFill>
                  <a:srgbClr val="0A2240"/>
                </a:solidFill>
                <a:latin typeface="Arial"/>
              </a:rPr>
              <a:t>A commit is a deploy</a:t>
            </a:r>
          </a:p>
        </p:txBody>
      </p:sp>
      <p:sp>
        <p:nvSpPr>
          <p:cNvPr id="8" name="TextBox 7"/>
          <p:cNvSpPr txBox="1"/>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Fast to set up</a:t>
            </a:r>
          </a:p>
        </p:txBody>
      </p:sp>
      <p:sp>
        <p:nvSpPr>
          <p:cNvPr id="9" name="TextBox 8"/>
          <p:cNvSpPr txBox="1"/>
          <p:nvPr/>
        </p:nvSpPr>
        <p:spPr>
          <a:xfrm>
            <a:off x="457200" y="4639055"/>
            <a:ext cx="5501640" cy="847344"/>
          </a:xfrm>
          <a:prstGeom prst="rect">
            <a:avLst/>
          </a:prstGeom>
          <a:noFill/>
        </p:spPr>
        <p:txBody>
          <a:bodyPr wrap="none" lIns="0" rIns="0">
            <a:noAutofit/>
          </a:bodyPr>
          <a:lstStyle/>
          <a:p>
            <a:pPr algn="l"/>
            <a:r>
              <a:rPr sz="3400" b="0" i="0">
                <a:solidFill>
                  <a:srgbClr val="0A2240"/>
                </a:solidFill>
                <a:latin typeface="Arial"/>
              </a:rPr>
              <a:t>Static pages only</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A second account to make</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Shipping with Pages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Put the page in the repo</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index.html at the root, or in docs/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Turn Pages on</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Settings, Pages, pick the branch</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Wait, then open the URL</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First build takes a minute or two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From repo to public URL</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10589596" cy="518159"/>
          </a:xfrm>
          <a:prstGeom prst="rect">
            <a:avLst/>
          </a:prstGeom>
          <a:noFill/>
        </p:spPr>
        <p:txBody>
          <a:bodyPr wrap="none" lIns="0" rIns="0">
            <a:noAutofit/>
          </a:bodyPr>
          <a:lstStyle/>
          <a:p>
            <a:pPr algn="l"/>
            <a:r>
              <a:rPr sz="3400" b="0" i="0">
                <a:solidFill>
                  <a:srgbClr val="D4D4D4"/>
                </a:solidFill>
                <a:latin typeface="Arial"/>
              </a:rPr>
              <a:t> cp out/index.html docs/index.html</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7441168" cy="518159"/>
          </a:xfrm>
          <a:prstGeom prst="rect">
            <a:avLst/>
          </a:prstGeom>
          <a:noFill/>
        </p:spPr>
        <p:txBody>
          <a:bodyPr wrap="none" lIns="0" rIns="0">
            <a:noAutofit/>
          </a:bodyPr>
          <a:lstStyle/>
          <a:p>
            <a:pPr algn="l"/>
            <a:r>
              <a:rPr sz="3400" b="0" i="0">
                <a:solidFill>
                  <a:srgbClr val="D4D4D4"/>
                </a:solidFill>
                <a:latin typeface="Arial"/>
              </a:rPr>
              <a:t> git add docs/index.html</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11040963" cy="518159"/>
          </a:xfrm>
          <a:prstGeom prst="rect">
            <a:avLst/>
          </a:prstGeom>
          <a:noFill/>
        </p:spPr>
        <p:txBody>
          <a:bodyPr wrap="none" lIns="0" rIns="0">
            <a:noAutofit/>
          </a:bodyPr>
          <a:lstStyle/>
          <a:p>
            <a:pPr algn="l"/>
            <a:r>
              <a:rPr sz="3400" b="0" i="0">
                <a:solidFill>
                  <a:srgbClr val="D4D4D4"/>
                </a:solidFill>
                <a:latin typeface="Arial"/>
              </a:rPr>
              <a:t> git commit -m "publish demo page"</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2794595" cy="518159"/>
          </a:xfrm>
          <a:prstGeom prst="rect">
            <a:avLst/>
          </a:prstGeom>
          <a:noFill/>
        </p:spPr>
        <p:txBody>
          <a:bodyPr wrap="none" lIns="0" rIns="0">
            <a:noAutofit/>
          </a:bodyPr>
          <a:lstStyle/>
          <a:p>
            <a:pPr algn="l"/>
            <a:r>
              <a:rPr sz="3400" b="0" i="0">
                <a:solidFill>
                  <a:srgbClr val="D4D4D4"/>
                </a:solidFill>
                <a:latin typeface="Arial"/>
              </a:rPr>
              <a:t> git push</a:t>
            </a:r>
          </a:p>
        </p:txBody>
      </p:sp>
      <p:sp>
        <p:nvSpPr>
          <p:cNvPr id="14" name="TextBox 13"/>
          <p:cNvSpPr txBox="1"/>
          <p:nvPr/>
        </p:nvSpPr>
        <p:spPr>
          <a:xfrm>
            <a:off x="457200" y="3910580"/>
            <a:ext cx="11734800" cy="518159"/>
          </a:xfrm>
          <a:prstGeom prst="rect">
            <a:avLst/>
          </a:prstGeom>
          <a:noFill/>
        </p:spPr>
        <p:txBody>
          <a:bodyPr wrap="none" lIns="0" rIns="0">
            <a:noAutofit/>
          </a:bodyPr>
          <a:lstStyle/>
          <a:p>
            <a:pPr algn="l"/>
            <a:r>
              <a:rPr sz="3400" b="0" i="0">
                <a:solidFill>
                  <a:srgbClr val="6A9955"/>
                </a:solidFill>
                <a:latin typeface="Arial"/>
              </a:rPr>
              <a:t># Settings &gt; Pages &gt; branch: main, /docs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Breaks When You Go Public</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Paths that only exist locally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key that was in your shell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you never committed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reading your disk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Check Before You Share It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API keys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keys in the repo history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Nothing private in the fixture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you cannot show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Where does the data go?</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One Way or Two</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Static</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 page that just shows</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Stateful</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A page that remembers</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Supabase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Hosted Postgres, with auth and storage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Get</a:t>
            </a:r>
          </a:p>
        </p:txBody>
      </p:sp>
      <p:sp>
        <p:nvSpPr>
          <p:cNvPr id="3" name="TextBox 2"/>
          <p:cNvSpPr txBox="1"/>
          <p:nvPr/>
        </p:nvSpPr>
        <p:spPr>
          <a:xfrm>
            <a:off x="457200" y="1499616"/>
            <a:ext cx="3255068" cy="518159"/>
          </a:xfrm>
          <a:prstGeom prst="rect">
            <a:avLst/>
          </a:prstGeom>
          <a:noFill/>
        </p:spPr>
        <p:txBody>
          <a:bodyPr wrap="none" lIns="0" rIns="0">
            <a:noAutofit/>
          </a:bodyPr>
          <a:lstStyle/>
          <a:p>
            <a:pPr algn="l"/>
            <a:r>
              <a:rPr sz="3400" b="1" i="0">
                <a:solidFill>
                  <a:srgbClr val="0A2240"/>
                </a:solidFill>
                <a:latin typeface="Arial"/>
              </a:rPr>
              <a:t>Database</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Rows your page can write</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Auth</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Sign-in you did not build</a:t>
            </a:r>
          </a:p>
        </p:txBody>
      </p:sp>
      <p:sp>
        <p:nvSpPr>
          <p:cNvPr id="7" name="TextBox 6"/>
          <p:cNvSpPr txBox="1"/>
          <p:nvPr/>
        </p:nvSpPr>
        <p:spPr>
          <a:xfrm>
            <a:off x="6233160" y="1499616"/>
            <a:ext cx="2755126" cy="518159"/>
          </a:xfrm>
          <a:prstGeom prst="rect">
            <a:avLst/>
          </a:prstGeom>
          <a:noFill/>
        </p:spPr>
        <p:txBody>
          <a:bodyPr wrap="none" lIns="0" rIns="0">
            <a:noAutofit/>
          </a:bodyPr>
          <a:lstStyle/>
          <a:p>
            <a:pPr algn="l"/>
            <a:r>
              <a:rPr sz="3400" b="1" i="0">
                <a:solidFill>
                  <a:srgbClr val="0A2240"/>
                </a:solidFill>
                <a:latin typeface="Arial"/>
              </a:rPr>
              <a:t>Storage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Files people upload</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All of it, over HTTPS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Standing It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 the project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One click, on the free tier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Make one table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columns your demo needs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Copy the two keys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The project URL and the public key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Writing a row from a static page</a:t>
            </a:r>
          </a:p>
        </p:txBody>
      </p:sp>
      <p:sp>
        <p:nvSpPr>
          <p:cNvPr id="6" name="TextBox 5"/>
          <p:cNvSpPr txBox="1"/>
          <p:nvPr/>
        </p:nvSpPr>
        <p:spPr>
          <a:xfrm>
            <a:off x="457200" y="1837944"/>
            <a:ext cx="3581955" cy="518159"/>
          </a:xfrm>
          <a:prstGeom prst="rect">
            <a:avLst/>
          </a:prstGeom>
          <a:noFill/>
        </p:spPr>
        <p:txBody>
          <a:bodyPr wrap="none" lIns="0" rIns="0">
            <a:noAutofit/>
          </a:bodyPr>
          <a:lstStyle/>
          <a:p>
            <a:pPr algn="l"/>
            <a:r>
              <a:rPr sz="3400" b="0" i="0">
                <a:solidFill>
                  <a:srgbClr val="D4D4D4"/>
                </a:solidFill>
                <a:latin typeface="Arial"/>
              </a:rPr>
              <a:t>const db = </a:t>
            </a:r>
          </a:p>
        </p:txBody>
      </p:sp>
      <p:sp>
        <p:nvSpPr>
          <p:cNvPr id="7" name="TextBox 6"/>
          <p:cNvSpPr txBox="1"/>
          <p:nvPr/>
        </p:nvSpPr>
        <p:spPr>
          <a:xfrm>
            <a:off x="2581622" y="1837944"/>
            <a:ext cx="3869372" cy="518159"/>
          </a:xfrm>
          <a:prstGeom prst="rect">
            <a:avLst/>
          </a:prstGeom>
          <a:noFill/>
        </p:spPr>
        <p:txBody>
          <a:bodyPr wrap="none" lIns="0" rIns="0">
            <a:noAutofit/>
          </a:bodyPr>
          <a:lstStyle/>
          <a:p>
            <a:pPr algn="l"/>
            <a:r>
              <a:rPr sz="3400" b="0" i="0">
                <a:solidFill>
                  <a:srgbClr val="DCDCAA"/>
                </a:solidFill>
                <a:latin typeface="Arial"/>
              </a:rPr>
              <a:t>createClient</a:t>
            </a:r>
          </a:p>
        </p:txBody>
      </p:sp>
      <p:sp>
        <p:nvSpPr>
          <p:cNvPr id="8" name="TextBox 7"/>
          <p:cNvSpPr txBox="1"/>
          <p:nvPr/>
        </p:nvSpPr>
        <p:spPr>
          <a:xfrm>
            <a:off x="4885680" y="1837944"/>
            <a:ext cx="6671350" cy="518159"/>
          </a:xfrm>
          <a:prstGeom prst="rect">
            <a:avLst/>
          </a:prstGeom>
          <a:noFill/>
        </p:spPr>
        <p:txBody>
          <a:bodyPr wrap="none" lIns="0" rIns="0">
            <a:noAutofit/>
          </a:bodyPr>
          <a:lstStyle/>
          <a:p>
            <a:pPr algn="l"/>
            <a:r>
              <a:rPr sz="3400" b="0" i="0">
                <a:solidFill>
                  <a:srgbClr val="D4D4D4"/>
                </a:solidFill>
                <a:latin typeface="Arial"/>
              </a:rPr>
              <a:t>(URL, PUBLIC_KEY)</a:t>
            </a:r>
          </a:p>
        </p:txBody>
      </p:sp>
      <p:sp>
        <p:nvSpPr>
          <p:cNvPr id="9" name="TextBox 8"/>
          <p:cNvSpPr txBox="1"/>
          <p:nvPr/>
        </p:nvSpPr>
        <p:spPr>
          <a:xfrm>
            <a:off x="457200" y="2874262"/>
            <a:ext cx="1795720" cy="518159"/>
          </a:xfrm>
          <a:prstGeom prst="rect">
            <a:avLst/>
          </a:prstGeom>
          <a:noFill/>
        </p:spPr>
        <p:txBody>
          <a:bodyPr wrap="none" lIns="0" rIns="0">
            <a:noAutofit/>
          </a:bodyPr>
          <a:lstStyle/>
          <a:p>
            <a:pPr algn="l"/>
            <a:r>
              <a:rPr sz="3400" b="0" i="0">
                <a:solidFill>
                  <a:srgbClr val="569CD6"/>
                </a:solidFill>
                <a:latin typeface="Arial"/>
              </a:rPr>
              <a:t>await</a:t>
            </a:r>
          </a:p>
        </p:txBody>
      </p:sp>
      <p:sp>
        <p:nvSpPr>
          <p:cNvPr id="10" name="TextBox 9"/>
          <p:cNvSpPr txBox="1"/>
          <p:nvPr/>
        </p:nvSpPr>
        <p:spPr>
          <a:xfrm>
            <a:off x="1465225" y="2874262"/>
            <a:ext cx="1335246" cy="518159"/>
          </a:xfrm>
          <a:prstGeom prst="rect">
            <a:avLst/>
          </a:prstGeom>
          <a:noFill/>
        </p:spPr>
        <p:txBody>
          <a:bodyPr wrap="none" lIns="0" rIns="0">
            <a:noAutofit/>
          </a:bodyPr>
          <a:lstStyle/>
          <a:p>
            <a:pPr algn="l"/>
            <a:r>
              <a:rPr sz="3400" b="0" i="0">
                <a:solidFill>
                  <a:srgbClr val="D4D4D4"/>
                </a:solidFill>
                <a:latin typeface="Arial"/>
              </a:rPr>
              <a:t> db.</a:t>
            </a:r>
          </a:p>
        </p:txBody>
      </p:sp>
      <p:sp>
        <p:nvSpPr>
          <p:cNvPr id="11" name="TextBox 10"/>
          <p:cNvSpPr txBox="1"/>
          <p:nvPr/>
        </p:nvSpPr>
        <p:spPr>
          <a:xfrm>
            <a:off x="2185454" y="2874262"/>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12" name="TextBox 11"/>
          <p:cNvSpPr txBox="1"/>
          <p:nvPr/>
        </p:nvSpPr>
        <p:spPr>
          <a:xfrm>
            <a:off x="3049054"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3" name="TextBox 12"/>
          <p:cNvSpPr txBox="1"/>
          <p:nvPr/>
        </p:nvSpPr>
        <p:spPr>
          <a:xfrm>
            <a:off x="3192847" y="2874262"/>
            <a:ext cx="2017355" cy="518159"/>
          </a:xfrm>
          <a:prstGeom prst="rect">
            <a:avLst/>
          </a:prstGeom>
          <a:noFill/>
        </p:spPr>
        <p:txBody>
          <a:bodyPr wrap="none" lIns="0" rIns="0">
            <a:noAutofit/>
          </a:bodyPr>
          <a:lstStyle/>
          <a:p>
            <a:pPr algn="l"/>
            <a:r>
              <a:rPr sz="3400" b="0" i="0">
                <a:solidFill>
                  <a:srgbClr val="CE9178"/>
                </a:solidFill>
                <a:latin typeface="Arial"/>
              </a:rPr>
              <a:t>"runs"</a:t>
            </a:r>
          </a:p>
        </p:txBody>
      </p:sp>
      <p:sp>
        <p:nvSpPr>
          <p:cNvPr id="14" name="TextBox 13"/>
          <p:cNvSpPr txBox="1"/>
          <p:nvPr/>
        </p:nvSpPr>
        <p:spPr>
          <a:xfrm>
            <a:off x="4339394" y="2874262"/>
            <a:ext cx="604897" cy="518159"/>
          </a:xfrm>
          <a:prstGeom prst="rect">
            <a:avLst/>
          </a:prstGeom>
          <a:noFill/>
        </p:spPr>
        <p:txBody>
          <a:bodyPr wrap="none" lIns="0" rIns="0">
            <a:noAutofit/>
          </a:bodyPr>
          <a:lstStyle/>
          <a:p>
            <a:pPr algn="l"/>
            <a:r>
              <a:rPr sz="3400" b="0" i="0">
                <a:solidFill>
                  <a:srgbClr val="D4D4D4"/>
                </a:solidFill>
                <a:latin typeface="Arial"/>
              </a:rPr>
              <a:t>).</a:t>
            </a:r>
          </a:p>
        </p:txBody>
      </p:sp>
      <p:sp>
        <p:nvSpPr>
          <p:cNvPr id="15" name="TextBox 14"/>
          <p:cNvSpPr txBox="1"/>
          <p:nvPr/>
        </p:nvSpPr>
        <p:spPr>
          <a:xfrm>
            <a:off x="4603155" y="2874262"/>
            <a:ext cx="1872297" cy="518159"/>
          </a:xfrm>
          <a:prstGeom prst="rect">
            <a:avLst/>
          </a:prstGeom>
          <a:noFill/>
        </p:spPr>
        <p:txBody>
          <a:bodyPr wrap="none" lIns="0" rIns="0">
            <a:noAutofit/>
          </a:bodyPr>
          <a:lstStyle/>
          <a:p>
            <a:pPr algn="l"/>
            <a:r>
              <a:rPr sz="3400" b="0" i="0">
                <a:solidFill>
                  <a:srgbClr val="DCDCAA"/>
                </a:solidFill>
                <a:latin typeface="Arial"/>
              </a:rPr>
              <a:t>insert</a:t>
            </a:r>
          </a:p>
        </p:txBody>
      </p:sp>
      <p:sp>
        <p:nvSpPr>
          <p:cNvPr id="16" name="TextBox 15"/>
          <p:cNvSpPr txBox="1"/>
          <p:nvPr/>
        </p:nvSpPr>
        <p:spPr>
          <a:xfrm>
            <a:off x="5659041" y="2874262"/>
            <a:ext cx="643691"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txBox="1"/>
          <p:nvPr/>
        </p:nvSpPr>
        <p:spPr>
          <a:xfrm>
            <a:off x="457200" y="3392421"/>
            <a:ext cx="3754337" cy="518159"/>
          </a:xfrm>
          <a:prstGeom prst="rect">
            <a:avLst/>
          </a:prstGeom>
          <a:noFill/>
        </p:spPr>
        <p:txBody>
          <a:bodyPr wrap="none" lIns="0" rIns="0">
            <a:noAutofit/>
          </a:bodyPr>
          <a:lstStyle/>
          <a:p>
            <a:pPr algn="l"/>
            <a:r>
              <a:rPr sz="3400" b="0" i="0">
                <a:solidFill>
                  <a:srgbClr val="D4D4D4"/>
                </a:solidFill>
                <a:latin typeface="Arial"/>
              </a:rPr>
              <a:t>  input: text,</a:t>
            </a:r>
          </a:p>
        </p:txBody>
      </p:sp>
      <p:sp>
        <p:nvSpPr>
          <p:cNvPr id="18" name="TextBox 17"/>
          <p:cNvSpPr txBox="1"/>
          <p:nvPr/>
        </p:nvSpPr>
        <p:spPr>
          <a:xfrm>
            <a:off x="457200" y="3910580"/>
            <a:ext cx="5021064" cy="518159"/>
          </a:xfrm>
          <a:prstGeom prst="rect">
            <a:avLst/>
          </a:prstGeom>
          <a:noFill/>
        </p:spPr>
        <p:txBody>
          <a:bodyPr wrap="none" lIns="0" rIns="0">
            <a:noAutofit/>
          </a:bodyPr>
          <a:lstStyle/>
          <a:p>
            <a:pPr algn="l"/>
            <a:r>
              <a:rPr sz="3400" b="0" i="0">
                <a:solidFill>
                  <a:srgbClr val="D4D4D4"/>
                </a:solidFill>
                <a:latin typeface="Arial"/>
              </a:rPr>
              <a:t>  result: answer,</a:t>
            </a:r>
          </a:p>
        </p:txBody>
      </p:sp>
      <p:sp>
        <p:nvSpPr>
          <p:cNvPr id="19" name="TextBox 18"/>
          <p:cNvSpPr txBox="1"/>
          <p:nvPr/>
        </p:nvSpPr>
        <p:spPr>
          <a:xfrm>
            <a:off x="457200" y="4428739"/>
            <a:ext cx="643691" cy="518159"/>
          </a:xfrm>
          <a:prstGeom prst="rect">
            <a:avLst/>
          </a:prstGeom>
          <a:noFill/>
        </p:spPr>
        <p:txBody>
          <a:bodyPr wrap="none" lIns="0" rIns="0">
            <a:noAutofit/>
          </a:bodyPr>
          <a:lstStyle/>
          <a:p>
            <a:pPr algn="l"/>
            <a:r>
              <a:rPr sz="3400" b="0" i="0">
                <a:solidFill>
                  <a:srgbClr val="D4D4D4"/>
                </a:solidFill>
                <a:latin typeface="Arial"/>
              </a:rPr>
              <a:t>})</a:t>
            </a:r>
          </a:p>
        </p:txBody>
      </p:sp>
      <p:sp>
        <p:nvSpPr>
          <p:cNvPr id="20" name="TextBox 1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a Demo Actually Stores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a visitor typed 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result you gave back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somebody uploaded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count of how often it ran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Two Keys Are Not the Same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public key belongs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secret key never does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Turn row level security on first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check it as a stranger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Half Does What</a:t>
            </a:r>
          </a:p>
        </p:txBody>
      </p:sp>
      <p:sp>
        <p:nvSpPr>
          <p:cNvPr id="3" name="TextBox 2"/>
          <p:cNvSpPr txBox="1"/>
          <p:nvPr/>
        </p:nvSpPr>
        <p:spPr>
          <a:xfrm>
            <a:off x="457200" y="1499616"/>
            <a:ext cx="3822268" cy="518159"/>
          </a:xfrm>
          <a:prstGeom prst="rect">
            <a:avLst/>
          </a:prstGeom>
          <a:noFill/>
        </p:spPr>
        <p:txBody>
          <a:bodyPr wrap="none" lIns="0" rIns="0">
            <a:noAutofit/>
          </a:bodyPr>
          <a:lstStyle/>
          <a:p>
            <a:pPr algn="l"/>
            <a:r>
              <a:rPr sz="3400" b="1" i="0">
                <a:solidFill>
                  <a:srgbClr val="123A6B"/>
                </a:solidFill>
                <a:latin typeface="Arial"/>
              </a:rPr>
              <a:t>Job</a:t>
            </a:r>
          </a:p>
        </p:txBody>
      </p:sp>
      <p:sp>
        <p:nvSpPr>
          <p:cNvPr id="4" name="TextBox 3"/>
          <p:cNvSpPr txBox="1"/>
          <p:nvPr/>
        </p:nvSpPr>
        <p:spPr>
          <a:xfrm>
            <a:off x="4828108" y="1499616"/>
            <a:ext cx="4182172" cy="518159"/>
          </a:xfrm>
          <a:prstGeom prst="rect">
            <a:avLst/>
          </a:prstGeom>
          <a:noFill/>
        </p:spPr>
        <p:txBody>
          <a:bodyPr wrap="none" lIns="0" rIns="0">
            <a:noAutofit/>
          </a:bodyPr>
          <a:lstStyle/>
          <a:p>
            <a:pPr algn="l"/>
            <a:r>
              <a:rPr sz="3400" b="1" i="0">
                <a:solidFill>
                  <a:srgbClr val="123A6B"/>
                </a:solidFill>
                <a:latin typeface="Arial"/>
              </a:rPr>
              <a:t>Which half</a:t>
            </a:r>
          </a:p>
        </p:txBody>
      </p:sp>
      <p:sp>
        <p:nvSpPr>
          <p:cNvPr id="5" name="Rectangle 4"/>
          <p:cNvSpPr/>
          <p:nvPr/>
        </p:nvSpPr>
        <p:spPr>
          <a:xfrm>
            <a:off x="457200" y="2072639"/>
            <a:ext cx="85530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214361" cy="633984"/>
          </a:xfrm>
          <a:prstGeom prst="rect">
            <a:avLst/>
          </a:prstGeom>
          <a:noFill/>
        </p:spPr>
        <p:txBody>
          <a:bodyPr wrap="none" lIns="0" rIns="0">
            <a:noAutofit/>
          </a:bodyPr>
          <a:lstStyle/>
          <a:p>
            <a:pPr algn="l"/>
            <a:r>
              <a:rPr sz="3400" b="0" i="0">
                <a:solidFill>
                  <a:srgbClr val="0A2240"/>
                </a:solidFill>
                <a:latin typeface="Arial"/>
              </a:rPr>
              <a:t>Serves the page</a:t>
            </a:r>
          </a:p>
        </p:txBody>
      </p:sp>
      <p:sp>
        <p:nvSpPr>
          <p:cNvPr id="7" name="TextBox 6"/>
          <p:cNvSpPr txBox="1"/>
          <p:nvPr/>
        </p:nvSpPr>
        <p:spPr>
          <a:xfrm>
            <a:off x="4828108" y="2401823"/>
            <a:ext cx="6289139" cy="633984"/>
          </a:xfrm>
          <a:prstGeom prst="rect">
            <a:avLst/>
          </a:prstGeom>
          <a:noFill/>
        </p:spPr>
        <p:txBody>
          <a:bodyPr wrap="none" lIns="0" rIns="0">
            <a:noAutofit/>
          </a:bodyPr>
          <a:lstStyle/>
          <a:p>
            <a:pPr algn="l"/>
            <a:r>
              <a:rPr sz="3400" b="0" i="0">
                <a:solidFill>
                  <a:srgbClr val="0A2240"/>
                </a:solidFill>
                <a:latin typeface="Arial"/>
              </a:rPr>
              <a:t>Pages or Cloudflare</a:t>
            </a:r>
          </a:p>
        </p:txBody>
      </p:sp>
      <p:sp>
        <p:nvSpPr>
          <p:cNvPr id="8" name="TextBox 7"/>
          <p:cNvSpPr txBox="1"/>
          <p:nvPr/>
        </p:nvSpPr>
        <p:spPr>
          <a:xfrm>
            <a:off x="457200" y="3310127"/>
            <a:ext cx="5635366" cy="633984"/>
          </a:xfrm>
          <a:prstGeom prst="rect">
            <a:avLst/>
          </a:prstGeom>
          <a:noFill/>
        </p:spPr>
        <p:txBody>
          <a:bodyPr wrap="none" lIns="0" rIns="0">
            <a:noAutofit/>
          </a:bodyPr>
          <a:lstStyle/>
          <a:p>
            <a:pPr algn="l"/>
            <a:r>
              <a:rPr sz="3400" b="0" i="0">
                <a:solidFill>
                  <a:srgbClr val="0A2240"/>
                </a:solidFill>
                <a:latin typeface="Arial"/>
              </a:rPr>
              <a:t>Remembers input</a:t>
            </a:r>
          </a:p>
        </p:txBody>
      </p:sp>
      <p:sp>
        <p:nvSpPr>
          <p:cNvPr id="9" name="TextBox 8"/>
          <p:cNvSpPr txBox="1"/>
          <p:nvPr/>
        </p:nvSpPr>
        <p:spPr>
          <a:xfrm>
            <a:off x="4828108" y="3310127"/>
            <a:ext cx="4182172" cy="633984"/>
          </a:xfrm>
          <a:prstGeom prst="rect">
            <a:avLst/>
          </a:prstGeom>
          <a:noFill/>
        </p:spPr>
        <p:txBody>
          <a:bodyPr wrap="none" lIns="0" rIns="0">
            <a:noAutofit/>
          </a:bodyPr>
          <a:lstStyle/>
          <a:p>
            <a:pPr algn="l"/>
            <a:r>
              <a:rPr sz="3400" b="0" i="0">
                <a:solidFill>
                  <a:srgbClr val="0A2240"/>
                </a:solidFill>
                <a:latin typeface="Arial"/>
              </a:rPr>
              <a:t>Supabase</a:t>
            </a:r>
          </a:p>
        </p:txBody>
      </p:sp>
      <p:sp>
        <p:nvSpPr>
          <p:cNvPr id="10" name="TextBox 9"/>
          <p:cNvSpPr txBox="1"/>
          <p:nvPr/>
        </p:nvSpPr>
        <p:spPr>
          <a:xfrm>
            <a:off x="457200" y="4218431"/>
            <a:ext cx="4944824" cy="633984"/>
          </a:xfrm>
          <a:prstGeom prst="rect">
            <a:avLst/>
          </a:prstGeom>
          <a:noFill/>
        </p:spPr>
        <p:txBody>
          <a:bodyPr wrap="none" lIns="0" rIns="0">
            <a:noAutofit/>
          </a:bodyPr>
          <a:lstStyle/>
          <a:p>
            <a:pPr algn="l"/>
            <a:r>
              <a:rPr sz="3400" b="0" i="0">
                <a:solidFill>
                  <a:srgbClr val="0A2240"/>
                </a:solidFill>
                <a:latin typeface="Arial"/>
              </a:rPr>
              <a:t>Handles sign-in</a:t>
            </a:r>
          </a:p>
        </p:txBody>
      </p:sp>
      <p:sp>
        <p:nvSpPr>
          <p:cNvPr id="11" name="TextBox 10"/>
          <p:cNvSpPr txBox="1"/>
          <p:nvPr/>
        </p:nvSpPr>
        <p:spPr>
          <a:xfrm>
            <a:off x="4828108" y="4218431"/>
            <a:ext cx="4182172" cy="633984"/>
          </a:xfrm>
          <a:prstGeom prst="rect">
            <a:avLst/>
          </a:prstGeom>
          <a:noFill/>
        </p:spPr>
        <p:txBody>
          <a:bodyPr wrap="none" lIns="0" rIns="0">
            <a:noAutofit/>
          </a:bodyPr>
          <a:lstStyle/>
          <a:p>
            <a:pPr algn="l"/>
            <a:r>
              <a:rPr sz="3400" b="0" i="0">
                <a:solidFill>
                  <a:srgbClr val="0A2240"/>
                </a:solidFill>
                <a:latin typeface="Arial"/>
              </a:rPr>
              <a:t>Supabase</a:t>
            </a:r>
          </a:p>
        </p:txBody>
      </p:sp>
      <p:sp>
        <p:nvSpPr>
          <p:cNvPr id="12" name="TextBox 11"/>
          <p:cNvSpPr txBox="1"/>
          <p:nvPr/>
        </p:nvSpPr>
        <p:spPr>
          <a:xfrm>
            <a:off x="457200" y="5126735"/>
            <a:ext cx="5713292" cy="633984"/>
          </a:xfrm>
          <a:prstGeom prst="rect">
            <a:avLst/>
          </a:prstGeom>
          <a:noFill/>
        </p:spPr>
        <p:txBody>
          <a:bodyPr wrap="none" lIns="0" rIns="0">
            <a:noAutofit/>
          </a:bodyPr>
          <a:lstStyle/>
          <a:p>
            <a:pPr algn="l"/>
            <a:r>
              <a:rPr sz="3400" b="0" i="0">
                <a:solidFill>
                  <a:srgbClr val="0A2240"/>
                </a:solidFill>
                <a:latin typeface="Arial"/>
              </a:rPr>
              <a:t>Costs you nothing</a:t>
            </a:r>
          </a:p>
        </p:txBody>
      </p:sp>
      <p:sp>
        <p:nvSpPr>
          <p:cNvPr id="13" name="TextBox 12"/>
          <p:cNvSpPr txBox="1"/>
          <p:nvPr/>
        </p:nvSpPr>
        <p:spPr>
          <a:xfrm>
            <a:off x="4828108" y="5126735"/>
            <a:ext cx="4182172" cy="633984"/>
          </a:xfrm>
          <a:prstGeom prst="rect">
            <a:avLst/>
          </a:prstGeom>
          <a:noFill/>
        </p:spPr>
        <p:txBody>
          <a:bodyPr wrap="none" lIns="0" rIns="0">
            <a:noAutofit/>
          </a:bodyPr>
          <a:lstStyle/>
          <a:p>
            <a:pPr algn="l"/>
            <a:r>
              <a:rPr sz="3400" b="0" i="0">
                <a:solidFill>
                  <a:srgbClr val="0A2240"/>
                </a:solidFill>
                <a:latin typeface="Arial"/>
              </a:rPr>
              <a:t>Both</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Not to Bother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Your demo only ever reads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Nothing needs to outlive the tab</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saved result would do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stub it, like anything else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Test It Like a Stranger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Open a private window</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No logins, no cache, no extensions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Do nothing but click</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Type nothing you have not pre-filled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try it on a phone</a:t>
            </a:r>
          </a:p>
        </p:txBody>
      </p:sp>
      <p:sp>
        <p:nvSpPr>
          <p:cNvPr id="11" name="TextBox 10"/>
          <p:cNvSpPr txBox="1"/>
          <p:nvPr/>
        </p:nvSpPr>
        <p:spPr>
          <a:xfrm>
            <a:off x="1461983" y="5209032"/>
            <a:ext cx="10283289" cy="551688"/>
          </a:xfrm>
          <a:prstGeom prst="rect">
            <a:avLst/>
          </a:prstGeom>
          <a:noFill/>
        </p:spPr>
        <p:txBody>
          <a:bodyPr wrap="none" lIns="0" rIns="0">
            <a:noAutofit/>
          </a:bodyPr>
          <a:lstStyle/>
          <a:p>
            <a:pPr algn="l"/>
            <a:r>
              <a:rPr sz="3400" b="0" i="0">
                <a:solidFill>
                  <a:srgbClr val="0A2240"/>
                </a:solidFill>
                <a:latin typeface="Arial"/>
              </a:rPr>
              <a:t>Half the people you send it to will</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Ship what exists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An ugly live page beats a good local one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front end</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A page showing one saved result still counts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drop the caveats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Five honest lines take two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Ship Checklist</a:t>
            </a:r>
          </a:p>
        </p:txBody>
      </p:sp>
      <p:sp>
        <p:nvSpPr>
          <p:cNvPr id="3" name="TextBox 2"/>
          <p:cNvSpPr txBox="1"/>
          <p:nvPr/>
        </p:nvSpPr>
        <p:spPr>
          <a:xfrm>
            <a:off x="457200" y="1499616"/>
            <a:ext cx="3269657" cy="518159"/>
          </a:xfrm>
          <a:prstGeom prst="rect">
            <a:avLst/>
          </a:prstGeom>
          <a:noFill/>
        </p:spPr>
        <p:txBody>
          <a:bodyPr wrap="none" lIns="0" rIns="0">
            <a:noAutofit/>
          </a:bodyPr>
          <a:lstStyle/>
          <a:p>
            <a:pPr algn="l"/>
            <a:r>
              <a:rPr sz="3400" b="1" i="0">
                <a:solidFill>
                  <a:srgbClr val="123A6B"/>
                </a:solidFill>
                <a:latin typeface="Arial"/>
              </a:rPr>
              <a:t>Check</a:t>
            </a:r>
          </a:p>
        </p:txBody>
      </p:sp>
      <p:sp>
        <p:nvSpPr>
          <p:cNvPr id="4" name="TextBox 3"/>
          <p:cNvSpPr txBox="1"/>
          <p:nvPr/>
        </p:nvSpPr>
        <p:spPr>
          <a:xfrm>
            <a:off x="4275497" y="1499616"/>
            <a:ext cx="4935503" cy="518159"/>
          </a:xfrm>
          <a:prstGeom prst="rect">
            <a:avLst/>
          </a:prstGeom>
          <a:noFill/>
        </p:spPr>
        <p:txBody>
          <a:bodyPr wrap="none" lIns="0" rIns="0">
            <a:noAutofit/>
          </a:bodyPr>
          <a:lstStyle/>
          <a:p>
            <a:pPr algn="l"/>
            <a:r>
              <a:rPr sz="3400" b="1" i="0">
                <a:solidFill>
                  <a:srgbClr val="123A6B"/>
                </a:solidFill>
                <a:latin typeface="Arial"/>
              </a:rPr>
              <a:t>Pass means</a:t>
            </a:r>
          </a:p>
        </p:txBody>
      </p:sp>
      <p:sp>
        <p:nvSpPr>
          <p:cNvPr id="5" name="Rectangle 4"/>
          <p:cNvSpPr/>
          <p:nvPr/>
        </p:nvSpPr>
        <p:spPr>
          <a:xfrm>
            <a:off x="457200" y="2072639"/>
            <a:ext cx="87538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29115" cy="633984"/>
          </a:xfrm>
          <a:prstGeom prst="rect">
            <a:avLst/>
          </a:prstGeom>
          <a:noFill/>
        </p:spPr>
        <p:txBody>
          <a:bodyPr wrap="none" lIns="0" rIns="0">
            <a:noAutofit/>
          </a:bodyPr>
          <a:lstStyle/>
          <a:p>
            <a:pPr algn="l"/>
            <a:r>
              <a:rPr sz="3400" b="0" i="0">
                <a:solidFill>
                  <a:srgbClr val="0A2240"/>
                </a:solidFill>
                <a:latin typeface="Arial"/>
              </a:rPr>
              <a:t>Private window</a:t>
            </a:r>
          </a:p>
        </p:txBody>
      </p:sp>
      <p:sp>
        <p:nvSpPr>
          <p:cNvPr id="7" name="TextBox 6"/>
          <p:cNvSpPr txBox="1"/>
          <p:nvPr/>
        </p:nvSpPr>
        <p:spPr>
          <a:xfrm>
            <a:off x="4275497" y="2401823"/>
            <a:ext cx="5290939" cy="633984"/>
          </a:xfrm>
          <a:prstGeom prst="rect">
            <a:avLst/>
          </a:prstGeom>
          <a:noFill/>
        </p:spPr>
        <p:txBody>
          <a:bodyPr wrap="none" lIns="0" rIns="0">
            <a:noAutofit/>
          </a:bodyPr>
          <a:lstStyle/>
          <a:p>
            <a:pPr algn="l"/>
            <a:r>
              <a:rPr sz="3400" b="0" i="0">
                <a:solidFill>
                  <a:srgbClr val="0A2240"/>
                </a:solidFill>
                <a:latin typeface="Arial"/>
              </a:rPr>
              <a:t>It loads and runs</a:t>
            </a:r>
          </a:p>
        </p:txBody>
      </p:sp>
      <p:sp>
        <p:nvSpPr>
          <p:cNvPr id="8" name="TextBox 7"/>
          <p:cNvSpPr txBox="1"/>
          <p:nvPr/>
        </p:nvSpPr>
        <p:spPr>
          <a:xfrm>
            <a:off x="457200" y="3310127"/>
            <a:ext cx="3269657" cy="633984"/>
          </a:xfrm>
          <a:prstGeom prst="rect">
            <a:avLst/>
          </a:prstGeom>
          <a:noFill/>
        </p:spPr>
        <p:txBody>
          <a:bodyPr wrap="none" lIns="0" rIns="0">
            <a:noAutofit/>
          </a:bodyPr>
          <a:lstStyle/>
          <a:p>
            <a:pPr algn="l"/>
            <a:r>
              <a:rPr sz="3400" b="0" i="0">
                <a:solidFill>
                  <a:srgbClr val="0A2240"/>
                </a:solidFill>
                <a:latin typeface="Arial"/>
              </a:rPr>
              <a:t>Phone</a:t>
            </a:r>
          </a:p>
        </p:txBody>
      </p:sp>
      <p:sp>
        <p:nvSpPr>
          <p:cNvPr id="9" name="TextBox 8"/>
          <p:cNvSpPr txBox="1"/>
          <p:nvPr/>
        </p:nvSpPr>
        <p:spPr>
          <a:xfrm>
            <a:off x="4275497" y="3310127"/>
            <a:ext cx="7494468" cy="633984"/>
          </a:xfrm>
          <a:prstGeom prst="rect">
            <a:avLst/>
          </a:prstGeom>
          <a:noFill/>
        </p:spPr>
        <p:txBody>
          <a:bodyPr wrap="none" lIns="0" rIns="0">
            <a:noAutofit/>
          </a:bodyPr>
          <a:lstStyle/>
          <a:p>
            <a:pPr algn="l"/>
            <a:r>
              <a:rPr sz="3400" b="0" i="0">
                <a:solidFill>
                  <a:srgbClr val="0A2240"/>
                </a:solidFill>
                <a:latin typeface="Arial"/>
              </a:rPr>
              <a:t>You can read the output</a:t>
            </a:r>
          </a:p>
        </p:txBody>
      </p:sp>
      <p:sp>
        <p:nvSpPr>
          <p:cNvPr id="10" name="TextBox 9"/>
          <p:cNvSpPr txBox="1"/>
          <p:nvPr/>
        </p:nvSpPr>
        <p:spPr>
          <a:xfrm>
            <a:off x="457200" y="4218431"/>
            <a:ext cx="4485025" cy="633984"/>
          </a:xfrm>
          <a:prstGeom prst="rect">
            <a:avLst/>
          </a:prstGeom>
          <a:noFill/>
        </p:spPr>
        <p:txBody>
          <a:bodyPr wrap="none" lIns="0" rIns="0">
            <a:noAutofit/>
          </a:bodyPr>
          <a:lstStyle/>
          <a:p>
            <a:pPr algn="l"/>
            <a:r>
              <a:rPr sz="3400" b="0" i="0">
                <a:solidFill>
                  <a:srgbClr val="0A2240"/>
                </a:solidFill>
                <a:latin typeface="Arial"/>
              </a:rPr>
              <a:t>Laptop closed</a:t>
            </a:r>
          </a:p>
        </p:txBody>
      </p:sp>
      <p:sp>
        <p:nvSpPr>
          <p:cNvPr id="11" name="TextBox 10"/>
          <p:cNvSpPr txBox="1"/>
          <p:nvPr/>
        </p:nvSpPr>
        <p:spPr>
          <a:xfrm>
            <a:off x="4275497" y="4218431"/>
            <a:ext cx="7441505" cy="633984"/>
          </a:xfrm>
          <a:prstGeom prst="rect">
            <a:avLst/>
          </a:prstGeom>
          <a:noFill/>
        </p:spPr>
        <p:txBody>
          <a:bodyPr wrap="none" lIns="0" rIns="0">
            <a:noAutofit/>
          </a:bodyPr>
          <a:lstStyle/>
          <a:p>
            <a:pPr algn="l"/>
            <a:r>
              <a:rPr sz="3400" b="0" i="0">
                <a:solidFill>
                  <a:srgbClr val="0A2240"/>
                </a:solidFill>
                <a:latin typeface="Arial"/>
              </a:rPr>
              <a:t>A teammate can open it</a:t>
            </a:r>
          </a:p>
        </p:txBody>
      </p:sp>
      <p:sp>
        <p:nvSpPr>
          <p:cNvPr id="12" name="TextBox 11"/>
          <p:cNvSpPr txBox="1"/>
          <p:nvPr/>
        </p:nvSpPr>
        <p:spPr>
          <a:xfrm>
            <a:off x="457200" y="5126735"/>
            <a:ext cx="3484800" cy="633984"/>
          </a:xfrm>
          <a:prstGeom prst="rect">
            <a:avLst/>
          </a:prstGeom>
          <a:noFill/>
        </p:spPr>
        <p:txBody>
          <a:bodyPr wrap="none" lIns="0" rIns="0">
            <a:noAutofit/>
          </a:bodyPr>
          <a:lstStyle/>
          <a:p>
            <a:pPr algn="l"/>
            <a:r>
              <a:rPr sz="3400" b="0" i="0">
                <a:solidFill>
                  <a:srgbClr val="0A2240"/>
                </a:solidFill>
                <a:latin typeface="Arial"/>
              </a:rPr>
              <a:t>No secrets</a:t>
            </a:r>
          </a:p>
        </p:txBody>
      </p:sp>
      <p:sp>
        <p:nvSpPr>
          <p:cNvPr id="13" name="TextBox 12"/>
          <p:cNvSpPr txBox="1"/>
          <p:nvPr/>
        </p:nvSpPr>
        <p:spPr>
          <a:xfrm>
            <a:off x="4275497" y="5126735"/>
            <a:ext cx="7403723" cy="633984"/>
          </a:xfrm>
          <a:prstGeom prst="rect">
            <a:avLst/>
          </a:prstGeom>
          <a:noFill/>
        </p:spPr>
        <p:txBody>
          <a:bodyPr wrap="none" lIns="0" rIns="0">
            <a:noAutofit/>
          </a:bodyPr>
          <a:lstStyle/>
          <a:p>
            <a:pPr algn="l"/>
            <a:r>
              <a:rPr sz="3400" b="0" i="0">
                <a:solidFill>
                  <a:srgbClr val="0A2240"/>
                </a:solidFill>
                <a:latin typeface="Arial"/>
              </a:rPr>
              <a:t>Nothing in page or repo</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"Needs your laptop? Not shipped."</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Script and Caveats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Demo script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three minutes, written down word for word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Minutes</a:t>
            </a:r>
          </a:p>
        </p:txBody>
      </p:sp>
      <p:sp>
        <p:nvSpPr>
          <p:cNvPr id="3" name="TextBox 2"/>
          <p:cNvSpPr txBox="1"/>
          <p:nvPr/>
        </p:nvSpPr>
        <p:spPr>
          <a:xfrm>
            <a:off x="457200" y="1499616"/>
            <a:ext cx="2286722" cy="518159"/>
          </a:xfrm>
          <a:prstGeom prst="rect">
            <a:avLst/>
          </a:prstGeom>
          <a:noFill/>
        </p:spPr>
        <p:txBody>
          <a:bodyPr wrap="none" lIns="0" rIns="0">
            <a:noAutofit/>
          </a:bodyPr>
          <a:lstStyle/>
          <a:p>
            <a:pPr algn="l"/>
            <a:r>
              <a:rPr sz="3400" b="1" i="0">
                <a:solidFill>
                  <a:srgbClr val="123A6B"/>
                </a:solidFill>
                <a:latin typeface="Arial"/>
              </a:rPr>
              <a:t>Time</a:t>
            </a:r>
          </a:p>
        </p:txBody>
      </p:sp>
      <p:sp>
        <p:nvSpPr>
          <p:cNvPr id="4" name="TextBox 3"/>
          <p:cNvSpPr txBox="1"/>
          <p:nvPr/>
        </p:nvSpPr>
        <p:spPr>
          <a:xfrm>
            <a:off x="3292562" y="1499616"/>
            <a:ext cx="5406308" cy="518159"/>
          </a:xfrm>
          <a:prstGeom prst="rect">
            <a:avLst/>
          </a:prstGeom>
          <a:noFill/>
        </p:spPr>
        <p:txBody>
          <a:bodyPr wrap="none" lIns="0" rIns="0">
            <a:noAutofit/>
          </a:bodyPr>
          <a:lstStyle/>
          <a:p>
            <a:pPr algn="l"/>
            <a:r>
              <a:rPr sz="3400" b="1" i="0">
                <a:solidFill>
                  <a:srgbClr val="123A6B"/>
                </a:solidFill>
                <a:latin typeface="Arial"/>
              </a:rPr>
              <a:t>What you say</a:t>
            </a:r>
          </a:p>
        </p:txBody>
      </p:sp>
      <p:sp>
        <p:nvSpPr>
          <p:cNvPr id="5" name="Rectangle 4"/>
          <p:cNvSpPr/>
          <p:nvPr/>
        </p:nvSpPr>
        <p:spPr>
          <a:xfrm>
            <a:off x="457200" y="2072639"/>
            <a:ext cx="824167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256419" cy="633984"/>
          </a:xfrm>
          <a:prstGeom prst="rect">
            <a:avLst/>
          </a:prstGeom>
          <a:noFill/>
        </p:spPr>
        <p:txBody>
          <a:bodyPr wrap="none" lIns="0" rIns="0">
            <a:noAutofit/>
          </a:bodyPr>
          <a:lstStyle/>
          <a:p>
            <a:pPr algn="l"/>
            <a:r>
              <a:rPr sz="3400" b="0" i="0">
                <a:solidFill>
                  <a:srgbClr val="0A2240"/>
                </a:solidFill>
                <a:latin typeface="Arial"/>
              </a:rPr>
              <a:t>0:00–0:30</a:t>
            </a:r>
          </a:p>
        </p:txBody>
      </p:sp>
      <p:sp>
        <p:nvSpPr>
          <p:cNvPr id="7" name="TextBox 6"/>
          <p:cNvSpPr txBox="1"/>
          <p:nvPr/>
        </p:nvSpPr>
        <p:spPr>
          <a:xfrm>
            <a:off x="3292562" y="2401823"/>
            <a:ext cx="7593985" cy="633984"/>
          </a:xfrm>
          <a:prstGeom prst="rect">
            <a:avLst/>
          </a:prstGeom>
          <a:noFill/>
        </p:spPr>
        <p:txBody>
          <a:bodyPr wrap="none" lIns="0" rIns="0">
            <a:noAutofit/>
          </a:bodyPr>
          <a:lstStyle/>
          <a:p>
            <a:pPr algn="l"/>
            <a:r>
              <a:rPr sz="3400" b="0" i="0">
                <a:solidFill>
                  <a:srgbClr val="0A2240"/>
                </a:solidFill>
                <a:latin typeface="Arial"/>
              </a:rPr>
              <a:t>The problem, concretely</a:t>
            </a:r>
          </a:p>
        </p:txBody>
      </p:sp>
      <p:sp>
        <p:nvSpPr>
          <p:cNvPr id="8" name="TextBox 7"/>
          <p:cNvSpPr txBox="1"/>
          <p:nvPr/>
        </p:nvSpPr>
        <p:spPr>
          <a:xfrm>
            <a:off x="457200" y="3310127"/>
            <a:ext cx="3256419" cy="633984"/>
          </a:xfrm>
          <a:prstGeom prst="rect">
            <a:avLst/>
          </a:prstGeom>
          <a:noFill/>
        </p:spPr>
        <p:txBody>
          <a:bodyPr wrap="none" lIns="0" rIns="0">
            <a:noAutofit/>
          </a:bodyPr>
          <a:lstStyle/>
          <a:p>
            <a:pPr algn="l"/>
            <a:r>
              <a:rPr sz="3400" b="0" i="0">
                <a:solidFill>
                  <a:srgbClr val="0A2240"/>
                </a:solidFill>
                <a:latin typeface="Arial"/>
              </a:rPr>
              <a:t>0:30–2:00</a:t>
            </a:r>
          </a:p>
        </p:txBody>
      </p:sp>
      <p:sp>
        <p:nvSpPr>
          <p:cNvPr id="9" name="TextBox 8"/>
          <p:cNvSpPr txBox="1"/>
          <p:nvPr/>
        </p:nvSpPr>
        <p:spPr>
          <a:xfrm>
            <a:off x="3292562" y="3310127"/>
            <a:ext cx="7017126" cy="633984"/>
          </a:xfrm>
          <a:prstGeom prst="rect">
            <a:avLst/>
          </a:prstGeom>
          <a:noFill/>
        </p:spPr>
        <p:txBody>
          <a:bodyPr wrap="none" lIns="0" rIns="0">
            <a:noAutofit/>
          </a:bodyPr>
          <a:lstStyle/>
          <a:p>
            <a:pPr algn="l"/>
            <a:r>
              <a:rPr sz="3400" b="0" i="0">
                <a:solidFill>
                  <a:srgbClr val="0A2240"/>
                </a:solidFill>
                <a:latin typeface="Arial"/>
              </a:rPr>
              <a:t>Drive it, live, in silence</a:t>
            </a:r>
          </a:p>
        </p:txBody>
      </p:sp>
      <p:sp>
        <p:nvSpPr>
          <p:cNvPr id="10" name="TextBox 9"/>
          <p:cNvSpPr txBox="1"/>
          <p:nvPr/>
        </p:nvSpPr>
        <p:spPr>
          <a:xfrm>
            <a:off x="457200" y="4218431"/>
            <a:ext cx="3256419" cy="633984"/>
          </a:xfrm>
          <a:prstGeom prst="rect">
            <a:avLst/>
          </a:prstGeom>
          <a:noFill/>
        </p:spPr>
        <p:txBody>
          <a:bodyPr wrap="none" lIns="0" rIns="0">
            <a:noAutofit/>
          </a:bodyPr>
          <a:lstStyle/>
          <a:p>
            <a:pPr algn="l"/>
            <a:r>
              <a:rPr sz="3400" b="0" i="0">
                <a:solidFill>
                  <a:srgbClr val="0A2240"/>
                </a:solidFill>
                <a:latin typeface="Arial"/>
              </a:rPr>
              <a:t>2:00–2:30</a:t>
            </a:r>
          </a:p>
        </p:txBody>
      </p:sp>
      <p:sp>
        <p:nvSpPr>
          <p:cNvPr id="11" name="TextBox 10"/>
          <p:cNvSpPr txBox="1"/>
          <p:nvPr/>
        </p:nvSpPr>
        <p:spPr>
          <a:xfrm>
            <a:off x="3292562" y="4218431"/>
            <a:ext cx="7516732" cy="633984"/>
          </a:xfrm>
          <a:prstGeom prst="rect">
            <a:avLst/>
          </a:prstGeom>
          <a:noFill/>
        </p:spPr>
        <p:txBody>
          <a:bodyPr wrap="none" lIns="0" rIns="0">
            <a:noAutofit/>
          </a:bodyPr>
          <a:lstStyle/>
          <a:p>
            <a:pPr algn="l"/>
            <a:r>
              <a:rPr sz="3400" b="0" i="0">
                <a:solidFill>
                  <a:srgbClr val="0A2240"/>
                </a:solidFill>
                <a:latin typeface="Arial"/>
              </a:rPr>
              <a:t>What is real, what is not</a:t>
            </a:r>
          </a:p>
        </p:txBody>
      </p:sp>
      <p:sp>
        <p:nvSpPr>
          <p:cNvPr id="12" name="TextBox 11"/>
          <p:cNvSpPr txBox="1"/>
          <p:nvPr/>
        </p:nvSpPr>
        <p:spPr>
          <a:xfrm>
            <a:off x="457200" y="5126735"/>
            <a:ext cx="3256419" cy="633984"/>
          </a:xfrm>
          <a:prstGeom prst="rect">
            <a:avLst/>
          </a:prstGeom>
          <a:noFill/>
        </p:spPr>
        <p:txBody>
          <a:bodyPr wrap="none" lIns="0" rIns="0">
            <a:noAutofit/>
          </a:bodyPr>
          <a:lstStyle/>
          <a:p>
            <a:pPr algn="l"/>
            <a:r>
              <a:rPr sz="3400" b="0" i="0">
                <a:solidFill>
                  <a:srgbClr val="0A2240"/>
                </a:solidFill>
                <a:latin typeface="Arial"/>
              </a:rPr>
              <a:t>2:30–3:00</a:t>
            </a:r>
          </a:p>
        </p:txBody>
      </p:sp>
      <p:sp>
        <p:nvSpPr>
          <p:cNvPr id="13" name="TextBox 12"/>
          <p:cNvSpPr txBox="1"/>
          <p:nvPr/>
        </p:nvSpPr>
        <p:spPr>
          <a:xfrm>
            <a:off x="3292562" y="5126735"/>
            <a:ext cx="8247756" cy="633984"/>
          </a:xfrm>
          <a:prstGeom prst="rect">
            <a:avLst/>
          </a:prstGeom>
          <a:noFill/>
        </p:spPr>
        <p:txBody>
          <a:bodyPr wrap="none" lIns="0" rIns="0">
            <a:noAutofit/>
          </a:bodyPr>
          <a:lstStyle/>
          <a:p>
            <a:pPr algn="l"/>
            <a:r>
              <a:rPr sz="3400" b="0" i="0">
                <a:solidFill>
                  <a:srgbClr val="0A2240"/>
                </a:solidFill>
                <a:latin typeface="Arial"/>
              </a:rPr>
              <a:t>What you would build next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First Thirty Seconds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Name who has the problem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Say what it costs them today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sentence, no background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stop and show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 Not Say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Let me explain the architecture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Normally this works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We ran out of time to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basically just a wrapper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Rehearse It Properly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Time it, out loud</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Silently in your head is always shorter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382072" cy="640080"/>
          </a:xfrm>
          <a:prstGeom prst="rect">
            <a:avLst/>
          </a:prstGeom>
          <a:noFill/>
        </p:spPr>
        <p:txBody>
          <a:bodyPr wrap="none" lIns="0" rIns="0">
            <a:noAutofit/>
          </a:bodyPr>
          <a:lstStyle/>
          <a:p>
            <a:pPr algn="l"/>
            <a:r>
              <a:rPr sz="4200" b="1" i="0">
                <a:solidFill>
                  <a:srgbClr val="123A6B"/>
                </a:solidFill>
                <a:latin typeface="Arial"/>
              </a:rPr>
              <a:t>Have someone else drive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The builder's hands hide the rough edges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Cut until it fits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Three minutes means three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Caveat list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Everything stubbed, faked, or known to break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Goes on the List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step you stubbed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hardcoded value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Inputs you know it fails 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only tested once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Write It Down</a:t>
            </a:r>
          </a:p>
        </p:txBody>
      </p:sp>
      <p:sp>
        <p:nvSpPr>
          <p:cNvPr id="3" name="TextBox 2"/>
          <p:cNvSpPr txBox="1"/>
          <p:nvPr/>
        </p:nvSpPr>
        <p:spPr>
          <a:xfrm>
            <a:off x="457200" y="1499616"/>
            <a:ext cx="2765539" cy="518159"/>
          </a:xfrm>
          <a:prstGeom prst="rect">
            <a:avLst/>
          </a:prstGeom>
          <a:noFill/>
        </p:spPr>
        <p:txBody>
          <a:bodyPr wrap="none" lIns="0" rIns="0">
            <a:noAutofit/>
          </a:bodyPr>
          <a:lstStyle/>
          <a:p>
            <a:pPr algn="l"/>
            <a:r>
              <a:rPr sz="3400" b="1" i="0">
                <a:solidFill>
                  <a:srgbClr val="123A6B"/>
                </a:solidFill>
                <a:latin typeface="Arial"/>
              </a:rPr>
              <a:t>What</a:t>
            </a:r>
          </a:p>
        </p:txBody>
      </p:sp>
      <p:sp>
        <p:nvSpPr>
          <p:cNvPr id="4" name="TextBox 3"/>
          <p:cNvSpPr txBox="1"/>
          <p:nvPr/>
        </p:nvSpPr>
        <p:spPr>
          <a:xfrm>
            <a:off x="3771379" y="1499616"/>
            <a:ext cx="3894797" cy="518159"/>
          </a:xfrm>
          <a:prstGeom prst="rect">
            <a:avLst/>
          </a:prstGeom>
          <a:noFill/>
        </p:spPr>
        <p:txBody>
          <a:bodyPr wrap="none" lIns="0" rIns="0">
            <a:noAutofit/>
          </a:bodyPr>
          <a:lstStyle/>
          <a:p>
            <a:pPr algn="l"/>
            <a:r>
              <a:rPr sz="3400" b="1" i="0">
                <a:solidFill>
                  <a:srgbClr val="123A6B"/>
                </a:solidFill>
                <a:latin typeface="Arial"/>
              </a:rPr>
              <a:t>Status</a:t>
            </a:r>
          </a:p>
        </p:txBody>
      </p:sp>
      <p:sp>
        <p:nvSpPr>
          <p:cNvPr id="5" name="Rectangle 4"/>
          <p:cNvSpPr/>
          <p:nvPr/>
        </p:nvSpPr>
        <p:spPr>
          <a:xfrm>
            <a:off x="457200" y="2072639"/>
            <a:ext cx="720897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765539" cy="633984"/>
          </a:xfrm>
          <a:prstGeom prst="rect">
            <a:avLst/>
          </a:prstGeom>
          <a:noFill/>
        </p:spPr>
        <p:txBody>
          <a:bodyPr wrap="none" lIns="0" rIns="0">
            <a:noAutofit/>
          </a:bodyPr>
          <a:lstStyle/>
          <a:p>
            <a:pPr algn="l"/>
            <a:r>
              <a:rPr sz="3400" b="0" i="0">
                <a:solidFill>
                  <a:srgbClr val="0A2240"/>
                </a:solidFill>
                <a:latin typeface="Arial"/>
              </a:rPr>
              <a:t>Login</a:t>
            </a:r>
          </a:p>
        </p:txBody>
      </p:sp>
      <p:sp>
        <p:nvSpPr>
          <p:cNvPr id="7" name="TextBox 6"/>
          <p:cNvSpPr txBox="1"/>
          <p:nvPr/>
        </p:nvSpPr>
        <p:spPr>
          <a:xfrm>
            <a:off x="3771379" y="2401823"/>
            <a:ext cx="5829339" cy="633984"/>
          </a:xfrm>
          <a:prstGeom prst="rect">
            <a:avLst/>
          </a:prstGeom>
          <a:noFill/>
        </p:spPr>
        <p:txBody>
          <a:bodyPr wrap="none" lIns="0" rIns="0">
            <a:noAutofit/>
          </a:bodyPr>
          <a:lstStyle/>
          <a:p>
            <a:pPr algn="l"/>
            <a:r>
              <a:rPr sz="3400" b="0" i="0">
                <a:solidFill>
                  <a:srgbClr val="0A2240"/>
                </a:solidFill>
                <a:latin typeface="Arial"/>
              </a:rPr>
              <a:t>Stubbed, one user</a:t>
            </a:r>
          </a:p>
        </p:txBody>
      </p:sp>
      <p:sp>
        <p:nvSpPr>
          <p:cNvPr id="8" name="TextBox 7"/>
          <p:cNvSpPr txBox="1"/>
          <p:nvPr/>
        </p:nvSpPr>
        <p:spPr>
          <a:xfrm>
            <a:off x="457200" y="3310127"/>
            <a:ext cx="4022526" cy="633984"/>
          </a:xfrm>
          <a:prstGeom prst="rect">
            <a:avLst/>
          </a:prstGeom>
          <a:noFill/>
        </p:spPr>
        <p:txBody>
          <a:bodyPr wrap="none" lIns="0" rIns="0">
            <a:noAutofit/>
          </a:bodyPr>
          <a:lstStyle/>
          <a:p>
            <a:pPr algn="l"/>
            <a:r>
              <a:rPr sz="3400" b="0" i="0">
                <a:solidFill>
                  <a:srgbClr val="0A2240"/>
                </a:solidFill>
                <a:latin typeface="Arial"/>
              </a:rPr>
              <a:t>PDF parsing</a:t>
            </a:r>
          </a:p>
        </p:txBody>
      </p:sp>
      <p:sp>
        <p:nvSpPr>
          <p:cNvPr id="9" name="TextBox 8"/>
          <p:cNvSpPr txBox="1"/>
          <p:nvPr/>
        </p:nvSpPr>
        <p:spPr>
          <a:xfrm>
            <a:off x="3771379" y="3310127"/>
            <a:ext cx="4023201" cy="633984"/>
          </a:xfrm>
          <a:prstGeom prst="rect">
            <a:avLst/>
          </a:prstGeom>
          <a:noFill/>
        </p:spPr>
        <p:txBody>
          <a:bodyPr wrap="none" lIns="0" rIns="0">
            <a:noAutofit/>
          </a:bodyPr>
          <a:lstStyle/>
          <a:p>
            <a:pPr algn="l"/>
            <a:r>
              <a:rPr sz="3400" b="0" i="0">
                <a:solidFill>
                  <a:srgbClr val="0A2240"/>
                </a:solidFill>
                <a:latin typeface="Arial"/>
              </a:rPr>
              <a:t>One file only</a:t>
            </a:r>
          </a:p>
        </p:txBody>
      </p:sp>
      <p:sp>
        <p:nvSpPr>
          <p:cNvPr id="10" name="TextBox 9"/>
          <p:cNvSpPr txBox="1"/>
          <p:nvPr/>
        </p:nvSpPr>
        <p:spPr>
          <a:xfrm>
            <a:off x="457200" y="4218431"/>
            <a:ext cx="2908955" cy="633984"/>
          </a:xfrm>
          <a:prstGeom prst="rect">
            <a:avLst/>
          </a:prstGeom>
          <a:noFill/>
        </p:spPr>
        <p:txBody>
          <a:bodyPr wrap="none" lIns="0" rIns="0">
            <a:noAutofit/>
          </a:bodyPr>
          <a:lstStyle/>
          <a:p>
            <a:pPr algn="l"/>
            <a:r>
              <a:rPr sz="3400" b="0" i="0">
                <a:solidFill>
                  <a:srgbClr val="0A2240"/>
                </a:solidFill>
                <a:latin typeface="Arial"/>
              </a:rPr>
              <a:t>Retrieval</a:t>
            </a:r>
          </a:p>
        </p:txBody>
      </p:sp>
      <p:sp>
        <p:nvSpPr>
          <p:cNvPr id="11" name="TextBox 10"/>
          <p:cNvSpPr txBox="1"/>
          <p:nvPr/>
        </p:nvSpPr>
        <p:spPr>
          <a:xfrm>
            <a:off x="3771379" y="4218431"/>
            <a:ext cx="5328721" cy="633984"/>
          </a:xfrm>
          <a:prstGeom prst="rect">
            <a:avLst/>
          </a:prstGeom>
          <a:noFill/>
        </p:spPr>
        <p:txBody>
          <a:bodyPr wrap="none" lIns="0" rIns="0">
            <a:noAutofit/>
          </a:bodyPr>
          <a:lstStyle/>
          <a:p>
            <a:pPr algn="l"/>
            <a:r>
              <a:rPr sz="3400" b="0" i="0">
                <a:solidFill>
                  <a:srgbClr val="0A2240"/>
                </a:solidFill>
                <a:latin typeface="Arial"/>
              </a:rPr>
              <a:t>Faked, four docs</a:t>
            </a:r>
          </a:p>
        </p:txBody>
      </p:sp>
      <p:sp>
        <p:nvSpPr>
          <p:cNvPr id="12" name="TextBox 11"/>
          <p:cNvSpPr txBox="1"/>
          <p:nvPr/>
        </p:nvSpPr>
        <p:spPr>
          <a:xfrm>
            <a:off x="457200" y="5126735"/>
            <a:ext cx="3755350" cy="633984"/>
          </a:xfrm>
          <a:prstGeom prst="rect">
            <a:avLst/>
          </a:prstGeom>
          <a:noFill/>
        </p:spPr>
        <p:txBody>
          <a:bodyPr wrap="none" lIns="0" rIns="0">
            <a:noAutofit/>
          </a:bodyPr>
          <a:lstStyle/>
          <a:p>
            <a:pPr algn="l"/>
            <a:r>
              <a:rPr sz="3400" b="0" i="0">
                <a:solidFill>
                  <a:srgbClr val="0A2240"/>
                </a:solidFill>
                <a:latin typeface="Arial"/>
              </a:rPr>
              <a:t>Long inputs</a:t>
            </a:r>
          </a:p>
        </p:txBody>
      </p:sp>
      <p:sp>
        <p:nvSpPr>
          <p:cNvPr id="13" name="TextBox 12"/>
          <p:cNvSpPr txBox="1"/>
          <p:nvPr/>
        </p:nvSpPr>
        <p:spPr>
          <a:xfrm>
            <a:off x="3771379" y="5126735"/>
            <a:ext cx="4983619" cy="633984"/>
          </a:xfrm>
          <a:prstGeom prst="rect">
            <a:avLst/>
          </a:prstGeom>
          <a:noFill/>
        </p:spPr>
        <p:txBody>
          <a:bodyPr wrap="none" lIns="0" rIns="0">
            <a:noAutofit/>
          </a:bodyPr>
          <a:lstStyle/>
          <a:p>
            <a:pPr algn="l"/>
            <a:r>
              <a:rPr sz="3400" b="0" i="0">
                <a:solidFill>
                  <a:srgbClr val="0A2240"/>
                </a:solidFill>
                <a:latin typeface="Arial"/>
              </a:rPr>
              <a:t>Known to break</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677649" cy="640080"/>
          </a:xfrm>
          <a:prstGeom prst="rect">
            <a:avLst/>
          </a:prstGeom>
          <a:noFill/>
        </p:spPr>
        <p:txBody>
          <a:bodyPr wrap="none" lIns="0" rIns="0">
            <a:noAutofit/>
          </a:bodyPr>
          <a:lstStyle/>
          <a:p>
            <a:pPr algn="l"/>
            <a:r>
              <a:rPr sz="4200" b="0" i="0">
                <a:solidFill>
                  <a:srgbClr val="D4D4D4"/>
                </a:solidFill>
                <a:latin typeface="Arial"/>
              </a:rPr>
              <a:t>CAVEATS.md, in the repo root</a:t>
            </a:r>
          </a:p>
        </p:txBody>
      </p:sp>
      <p:sp>
        <p:nvSpPr>
          <p:cNvPr id="6" name="TextBox 5"/>
          <p:cNvSpPr txBox="1"/>
          <p:nvPr/>
        </p:nvSpPr>
        <p:spPr>
          <a:xfrm>
            <a:off x="457200" y="1837944"/>
            <a:ext cx="9245619" cy="518159"/>
          </a:xfrm>
          <a:prstGeom prst="rect">
            <a:avLst/>
          </a:prstGeom>
          <a:noFill/>
        </p:spPr>
        <p:txBody>
          <a:bodyPr wrap="none" lIns="0" rIns="0">
            <a:noAutofit/>
          </a:bodyPr>
          <a:lstStyle/>
          <a:p>
            <a:pPr algn="l"/>
            <a:r>
              <a:rPr sz="3400" b="0" i="0">
                <a:solidFill>
                  <a:srgbClr val="6A9955"/>
                </a:solidFill>
                <a:latin typeface="Arial"/>
              </a:rPr>
              <a:t># What is real and what is not</a:t>
            </a:r>
          </a:p>
        </p:txBody>
      </p:sp>
      <p:sp>
        <p:nvSpPr>
          <p:cNvPr id="7" name="TextBox 6"/>
          <p:cNvSpPr txBox="1"/>
          <p:nvPr/>
        </p:nvSpPr>
        <p:spPr>
          <a:xfrm>
            <a:off x="457200" y="2356103"/>
            <a:ext cx="9361328" cy="518159"/>
          </a:xfrm>
          <a:prstGeom prst="rect">
            <a:avLst/>
          </a:prstGeom>
          <a:noFill/>
        </p:spPr>
        <p:txBody>
          <a:bodyPr wrap="none" lIns="0" rIns="0">
            <a:noAutofit/>
          </a:bodyPr>
          <a:lstStyle/>
          <a:p>
            <a:pPr algn="l"/>
            <a:r>
              <a:rPr sz="3400" b="0" i="0">
                <a:solidFill>
                  <a:srgbClr val="D4D4D4"/>
                </a:solidFill>
                <a:latin typeface="Arial"/>
              </a:rPr>
              <a:t>- Login: stubbed, always user </a:t>
            </a:r>
          </a:p>
        </p:txBody>
      </p:sp>
      <p:sp>
        <p:nvSpPr>
          <p:cNvPr id="8" name="TextBox 7"/>
          <p:cNvSpPr txBox="1"/>
          <p:nvPr/>
        </p:nvSpPr>
        <p:spPr>
          <a:xfrm>
            <a:off x="6193730" y="2356103"/>
            <a:ext cx="1826081" cy="518159"/>
          </a:xfrm>
          <a:prstGeom prst="rect">
            <a:avLst/>
          </a:prstGeom>
          <a:noFill/>
        </p:spPr>
        <p:txBody>
          <a:bodyPr wrap="none" lIns="0" rIns="0">
            <a:noAutofit/>
          </a:bodyPr>
          <a:lstStyle/>
          <a:p>
            <a:pPr algn="l"/>
            <a:r>
              <a:rPr sz="3400" b="0" i="0">
                <a:solidFill>
                  <a:srgbClr val="CE9178"/>
                </a:solidFill>
                <a:latin typeface="Arial"/>
              </a:rPr>
              <a:t>"ana"</a:t>
            </a:r>
          </a:p>
        </p:txBody>
      </p:sp>
      <p:sp>
        <p:nvSpPr>
          <p:cNvPr id="9" name="TextBox 8"/>
          <p:cNvSpPr txBox="1"/>
          <p:nvPr/>
        </p:nvSpPr>
        <p:spPr>
          <a:xfrm>
            <a:off x="457200" y="2874262"/>
            <a:ext cx="9360654" cy="518159"/>
          </a:xfrm>
          <a:prstGeom prst="rect">
            <a:avLst/>
          </a:prstGeom>
          <a:noFill/>
        </p:spPr>
        <p:txBody>
          <a:bodyPr wrap="none" lIns="0" rIns="0">
            <a:noAutofit/>
          </a:bodyPr>
          <a:lstStyle/>
          <a:p>
            <a:pPr algn="l"/>
            <a:r>
              <a:rPr sz="3400" b="0" i="0">
                <a:solidFill>
                  <a:srgbClr val="D4D4D4"/>
                </a:solidFill>
                <a:latin typeface="Arial"/>
              </a:rPr>
              <a:t>- Input: only fixtures/report.pdf</a:t>
            </a:r>
          </a:p>
        </p:txBody>
      </p:sp>
      <p:sp>
        <p:nvSpPr>
          <p:cNvPr id="10" name="TextBox 9"/>
          <p:cNvSpPr txBox="1"/>
          <p:nvPr/>
        </p:nvSpPr>
        <p:spPr>
          <a:xfrm>
            <a:off x="457200" y="3392421"/>
            <a:ext cx="3714868" cy="518159"/>
          </a:xfrm>
          <a:prstGeom prst="rect">
            <a:avLst/>
          </a:prstGeom>
          <a:noFill/>
        </p:spPr>
        <p:txBody>
          <a:bodyPr wrap="none" lIns="0" rIns="0">
            <a:noAutofit/>
          </a:bodyPr>
          <a:lstStyle/>
          <a:p>
            <a:pPr algn="l"/>
            <a:r>
              <a:rPr sz="3400" b="0" i="0">
                <a:solidFill>
                  <a:srgbClr val="D4D4D4"/>
                </a:solidFill>
                <a:latin typeface="Arial"/>
              </a:rPr>
              <a:t>- Retrieval: </a:t>
            </a:r>
          </a:p>
        </p:txBody>
      </p:sp>
      <p:sp>
        <p:nvSpPr>
          <p:cNvPr id="11" name="TextBox 10"/>
          <p:cNvSpPr txBox="1"/>
          <p:nvPr/>
        </p:nvSpPr>
        <p:spPr>
          <a:xfrm>
            <a:off x="2664693" y="3392421"/>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2" name="TextBox 11"/>
          <p:cNvSpPr txBox="1"/>
          <p:nvPr/>
        </p:nvSpPr>
        <p:spPr>
          <a:xfrm>
            <a:off x="2904840" y="3392421"/>
            <a:ext cx="4484350" cy="518159"/>
          </a:xfrm>
          <a:prstGeom prst="rect">
            <a:avLst/>
          </a:prstGeom>
          <a:noFill/>
        </p:spPr>
        <p:txBody>
          <a:bodyPr wrap="none" lIns="0" rIns="0">
            <a:noAutofit/>
          </a:bodyPr>
          <a:lstStyle/>
          <a:p>
            <a:pPr algn="l"/>
            <a:r>
              <a:rPr sz="3400" b="0" i="0">
                <a:solidFill>
                  <a:srgbClr val="D4D4D4"/>
                </a:solidFill>
                <a:latin typeface="Arial"/>
              </a:rPr>
              <a:t> docs, pasted </a:t>
            </a:r>
          </a:p>
        </p:txBody>
      </p:sp>
      <p:sp>
        <p:nvSpPr>
          <p:cNvPr id="13" name="TextBox 12"/>
          <p:cNvSpPr txBox="1"/>
          <p:nvPr/>
        </p:nvSpPr>
        <p:spPr>
          <a:xfrm>
            <a:off x="5593259"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4" name="TextBox 13"/>
          <p:cNvSpPr txBox="1"/>
          <p:nvPr/>
        </p:nvSpPr>
        <p:spPr>
          <a:xfrm>
            <a:off x="6193520" y="3392421"/>
            <a:ext cx="2641104" cy="518159"/>
          </a:xfrm>
          <a:prstGeom prst="rect">
            <a:avLst/>
          </a:prstGeom>
          <a:noFill/>
        </p:spPr>
        <p:txBody>
          <a:bodyPr wrap="none" lIns="0" rIns="0">
            <a:noAutofit/>
          </a:bodyPr>
          <a:lstStyle/>
          <a:p>
            <a:pPr algn="l"/>
            <a:r>
              <a:rPr sz="3400" b="0" i="0">
                <a:solidFill>
                  <a:srgbClr val="D4D4D4"/>
                </a:solidFill>
                <a:latin typeface="Arial"/>
              </a:rPr>
              <a:t> fetched</a:t>
            </a:r>
          </a:p>
        </p:txBody>
      </p:sp>
      <p:sp>
        <p:nvSpPr>
          <p:cNvPr id="15" name="TextBox 14"/>
          <p:cNvSpPr txBox="1"/>
          <p:nvPr/>
        </p:nvSpPr>
        <p:spPr>
          <a:xfrm>
            <a:off x="457200" y="3910580"/>
            <a:ext cx="7382808" cy="518159"/>
          </a:xfrm>
          <a:prstGeom prst="rect">
            <a:avLst/>
          </a:prstGeom>
          <a:noFill/>
        </p:spPr>
        <p:txBody>
          <a:bodyPr wrap="none" lIns="0" rIns="0">
            <a:noAutofit/>
          </a:bodyPr>
          <a:lstStyle/>
          <a:p>
            <a:pPr algn="l"/>
            <a:r>
              <a:rPr sz="3400" b="0" i="0">
                <a:solidFill>
                  <a:srgbClr val="D4D4D4"/>
                </a:solidFill>
                <a:latin typeface="Arial"/>
              </a:rPr>
              <a:t>- Fails on: inputs over ~</a:t>
            </a:r>
          </a:p>
        </p:txBody>
      </p:sp>
      <p:sp>
        <p:nvSpPr>
          <p:cNvPr id="16" name="TextBox 15"/>
          <p:cNvSpPr txBox="1"/>
          <p:nvPr/>
        </p:nvSpPr>
        <p:spPr>
          <a:xfrm>
            <a:off x="4957155" y="3910580"/>
            <a:ext cx="951348" cy="518159"/>
          </a:xfrm>
          <a:prstGeom prst="rect">
            <a:avLst/>
          </a:prstGeom>
          <a:noFill/>
        </p:spPr>
        <p:txBody>
          <a:bodyPr wrap="none" lIns="0" rIns="0">
            <a:noAutofit/>
          </a:bodyPr>
          <a:lstStyle/>
          <a:p>
            <a:pPr algn="l"/>
            <a:r>
              <a:rPr sz="3400" b="0" i="0">
                <a:solidFill>
                  <a:srgbClr val="B5CEA8"/>
                </a:solidFill>
                <a:latin typeface="Arial"/>
              </a:rPr>
              <a:t>20</a:t>
            </a:r>
          </a:p>
        </p:txBody>
      </p:sp>
      <p:sp>
        <p:nvSpPr>
          <p:cNvPr id="17" name="TextBox 16"/>
          <p:cNvSpPr txBox="1"/>
          <p:nvPr/>
        </p:nvSpPr>
        <p:spPr>
          <a:xfrm>
            <a:off x="5437448" y="3910580"/>
            <a:ext cx="2257206" cy="518159"/>
          </a:xfrm>
          <a:prstGeom prst="rect">
            <a:avLst/>
          </a:prstGeom>
          <a:noFill/>
        </p:spPr>
        <p:txBody>
          <a:bodyPr wrap="none" lIns="0" rIns="0">
            <a:noAutofit/>
          </a:bodyPr>
          <a:lstStyle/>
          <a:p>
            <a:pPr algn="l"/>
            <a:r>
              <a:rPr sz="3400" b="0" i="0">
                <a:solidFill>
                  <a:srgbClr val="D4D4D4"/>
                </a:solidFill>
                <a:latin typeface="Arial"/>
              </a:rPr>
              <a:t> pages</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11392" cy="768096"/>
          </a:xfrm>
          <a:prstGeom prst="rect">
            <a:avLst/>
          </a:prstGeom>
          <a:noFill/>
        </p:spPr>
        <p:txBody>
          <a:bodyPr wrap="none" lIns="0" rIns="0">
            <a:noAutofit/>
          </a:bodyPr>
          <a:lstStyle/>
          <a:p>
            <a:pPr algn="l"/>
            <a:r>
              <a:rPr sz="4200" b="1" i="0">
                <a:solidFill>
                  <a:srgbClr val="0072CE"/>
                </a:solidFill>
                <a:latin typeface="Arial"/>
              </a:rPr>
              <a:t>The repo at the end of Day 2</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670360" cy="396240"/>
          </a:xfrm>
          <a:prstGeom prst="rect">
            <a:avLst/>
          </a:prstGeom>
          <a:noFill/>
        </p:spPr>
        <p:txBody>
          <a:bodyPr wrap="none" lIns="0" rIns="0">
            <a:noAutofit/>
          </a:bodyPr>
          <a:lstStyle/>
          <a:p>
            <a:pPr algn="l"/>
            <a:r>
              <a:rPr sz="2600" b="1" i="0">
                <a:solidFill>
                  <a:srgbClr val="569CD6"/>
                </a:solidFill>
                <a:latin typeface="Courier New"/>
              </a:rPr>
              <a:t>happy-path/</a:t>
            </a:r>
          </a:p>
        </p:txBody>
      </p:sp>
      <p:sp>
        <p:nvSpPr>
          <p:cNvPr id="5" name="TextBox 4"/>
          <p:cNvSpPr txBox="1"/>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6" name="TextBox 5"/>
          <p:cNvSpPr txBox="1"/>
          <p:nvPr/>
        </p:nvSpPr>
        <p:spPr>
          <a:xfrm>
            <a:off x="1417417" y="2215896"/>
            <a:ext cx="1768097" cy="396240"/>
          </a:xfrm>
          <a:prstGeom prst="rect">
            <a:avLst/>
          </a:prstGeom>
          <a:noFill/>
        </p:spPr>
        <p:txBody>
          <a:bodyPr wrap="none" lIns="0" rIns="0">
            <a:noAutofit/>
          </a:bodyPr>
          <a:lstStyle/>
          <a:p>
            <a:pPr algn="l"/>
            <a:r>
              <a:rPr sz="2600" b="1" i="0">
                <a:solidFill>
                  <a:srgbClr val="569CD6"/>
                </a:solidFill>
                <a:latin typeface="Courier New"/>
              </a:rPr>
              <a:t>docs/</a:t>
            </a:r>
          </a:p>
        </p:txBody>
      </p:sp>
      <p:sp>
        <p:nvSpPr>
          <p:cNvPr id="7" name="TextBox 6"/>
          <p:cNvSpPr txBox="1"/>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8" name="TextBox 7"/>
          <p:cNvSpPr txBox="1"/>
          <p:nvPr/>
        </p:nvSpPr>
        <p:spPr>
          <a:xfrm>
            <a:off x="2011873" y="2612136"/>
            <a:ext cx="3353315" cy="396240"/>
          </a:xfrm>
          <a:prstGeom prst="rect">
            <a:avLst/>
          </a:prstGeom>
          <a:noFill/>
        </p:spPr>
        <p:txBody>
          <a:bodyPr wrap="none" lIns="0" rIns="0">
            <a:noAutofit/>
          </a:bodyPr>
          <a:lstStyle/>
          <a:p>
            <a:pPr algn="l"/>
            <a:r>
              <a:rPr sz="2600" b="0" i="0">
                <a:solidFill>
                  <a:srgbClr val="D4D4D4"/>
                </a:solidFill>
                <a:latin typeface="Courier New"/>
              </a:rPr>
              <a:t>index.html</a:t>
            </a:r>
          </a:p>
        </p:txBody>
      </p:sp>
      <p:sp>
        <p:nvSpPr>
          <p:cNvPr id="9" name="TextBox 8"/>
          <p:cNvSpPr txBox="1"/>
          <p:nvPr/>
        </p:nvSpPr>
        <p:spPr>
          <a:xfrm>
            <a:off x="822960" y="300837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0" name="TextBox 9"/>
          <p:cNvSpPr txBox="1"/>
          <p:nvPr/>
        </p:nvSpPr>
        <p:spPr>
          <a:xfrm>
            <a:off x="1417417" y="3008376"/>
            <a:ext cx="3036272" cy="396240"/>
          </a:xfrm>
          <a:prstGeom prst="rect">
            <a:avLst/>
          </a:prstGeom>
          <a:noFill/>
        </p:spPr>
        <p:txBody>
          <a:bodyPr wrap="none" lIns="0" rIns="0">
            <a:noAutofit/>
          </a:bodyPr>
          <a:lstStyle/>
          <a:p>
            <a:pPr algn="l"/>
            <a:r>
              <a:rPr sz="2600" b="1" i="0">
                <a:solidFill>
                  <a:srgbClr val="569CD6"/>
                </a:solidFill>
                <a:latin typeface="Courier New"/>
              </a:rPr>
              <a:t>fixtures/</a:t>
            </a:r>
          </a:p>
        </p:txBody>
      </p:sp>
      <p:sp>
        <p:nvSpPr>
          <p:cNvPr id="11" name="TextBox 10"/>
          <p:cNvSpPr txBox="1"/>
          <p:nvPr/>
        </p:nvSpPr>
        <p:spPr>
          <a:xfrm>
            <a:off x="822960" y="340461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2" name="TextBox 11"/>
          <p:cNvSpPr txBox="1"/>
          <p:nvPr/>
        </p:nvSpPr>
        <p:spPr>
          <a:xfrm>
            <a:off x="1417417" y="3404616"/>
            <a:ext cx="2085140" cy="396240"/>
          </a:xfrm>
          <a:prstGeom prst="rect">
            <a:avLst/>
          </a:prstGeom>
          <a:noFill/>
        </p:spPr>
        <p:txBody>
          <a:bodyPr wrap="none" lIns="0" rIns="0">
            <a:noAutofit/>
          </a:bodyPr>
          <a:lstStyle/>
          <a:p>
            <a:pPr algn="l"/>
            <a:r>
              <a:rPr sz="2600" b="1" i="0">
                <a:solidFill>
                  <a:srgbClr val="569CD6"/>
                </a:solidFill>
                <a:latin typeface="Courier New"/>
              </a:rPr>
              <a:t>steps/</a:t>
            </a:r>
          </a:p>
        </p:txBody>
      </p:sp>
      <p:sp>
        <p:nvSpPr>
          <p:cNvPr id="13" name="TextBox 12"/>
          <p:cNvSpPr txBox="1"/>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4" name="TextBox 13"/>
          <p:cNvSpPr txBox="1"/>
          <p:nvPr/>
        </p:nvSpPr>
        <p:spPr>
          <a:xfrm>
            <a:off x="1417417" y="3800856"/>
            <a:ext cx="2085140" cy="396240"/>
          </a:xfrm>
          <a:prstGeom prst="rect">
            <a:avLst/>
          </a:prstGeom>
          <a:noFill/>
        </p:spPr>
        <p:txBody>
          <a:bodyPr wrap="none" lIns="0" rIns="0">
            <a:noAutofit/>
          </a:bodyPr>
          <a:lstStyle/>
          <a:p>
            <a:pPr algn="l"/>
            <a:r>
              <a:rPr sz="2600" b="0" i="0">
                <a:solidFill>
                  <a:srgbClr val="D4D4D4"/>
                </a:solidFill>
                <a:latin typeface="Courier New"/>
              </a:rPr>
              <a:t>run.py</a:t>
            </a:r>
          </a:p>
        </p:txBody>
      </p:sp>
      <p:sp>
        <p:nvSpPr>
          <p:cNvPr id="15" name="TextBox 14"/>
          <p:cNvSpPr txBox="1"/>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6" name="TextBox 15"/>
          <p:cNvSpPr txBox="1"/>
          <p:nvPr/>
        </p:nvSpPr>
        <p:spPr>
          <a:xfrm>
            <a:off x="1417417" y="4197096"/>
            <a:ext cx="3353315" cy="396240"/>
          </a:xfrm>
          <a:prstGeom prst="rect">
            <a:avLst/>
          </a:prstGeom>
          <a:noFill/>
        </p:spPr>
        <p:txBody>
          <a:bodyPr wrap="none" lIns="0" rIns="0">
            <a:noAutofit/>
          </a:bodyPr>
          <a:lstStyle/>
          <a:p>
            <a:pPr algn="l"/>
            <a:r>
              <a:rPr sz="2600" b="0" i="0">
                <a:solidFill>
                  <a:srgbClr val="D4D4D4"/>
                </a:solidFill>
                <a:latin typeface="Courier New"/>
              </a:rPr>
              <a:t>CAVEATS.md</a:t>
            </a:r>
          </a:p>
        </p:txBody>
      </p:sp>
      <p:sp>
        <p:nvSpPr>
          <p:cNvPr id="17" name="TextBox 16"/>
          <p:cNvSpPr txBox="1"/>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8" name="TextBox 17"/>
          <p:cNvSpPr txBox="1"/>
          <p:nvPr/>
        </p:nvSpPr>
        <p:spPr>
          <a:xfrm>
            <a:off x="1417417" y="459333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Hiding and Naming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Hiding a limit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Naming a limit</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096515" cy="609600"/>
          </a:xfrm>
          <a:prstGeom prst="rect">
            <a:avLst/>
          </a:prstGeom>
          <a:noFill/>
        </p:spPr>
        <p:txBody>
          <a:bodyPr wrap="none" lIns="0" rIns="0">
            <a:noAutofit/>
          </a:bodyPr>
          <a:lstStyle/>
          <a:p>
            <a:pPr algn="l"/>
            <a:r>
              <a:rPr sz="3400" b="0" i="0">
                <a:solidFill>
                  <a:srgbClr val="0A2240"/>
                </a:solidFill>
                <a:latin typeface="Arial"/>
              </a:rPr>
              <a:t>They find it anyway</a:t>
            </a:r>
          </a:p>
        </p:txBody>
      </p:sp>
      <p:sp>
        <p:nvSpPr>
          <p:cNvPr id="8" name="TextBox 7"/>
          <p:cNvSpPr txBox="1"/>
          <p:nvPr/>
        </p:nvSpPr>
        <p:spPr>
          <a:xfrm>
            <a:off x="457200" y="3608831"/>
            <a:ext cx="6748601" cy="609600"/>
          </a:xfrm>
          <a:prstGeom prst="rect">
            <a:avLst/>
          </a:prstGeom>
          <a:noFill/>
        </p:spPr>
        <p:txBody>
          <a:bodyPr wrap="none" lIns="0" rIns="0">
            <a:noAutofit/>
          </a:bodyPr>
          <a:lstStyle/>
          <a:p>
            <a:pPr algn="l"/>
            <a:r>
              <a:rPr sz="3400" b="0" i="0">
                <a:solidFill>
                  <a:srgbClr val="0A2240"/>
                </a:solidFill>
                <a:latin typeface="Arial"/>
              </a:rPr>
              <a:t>It looks like a mistake</a:t>
            </a:r>
          </a:p>
        </p:txBody>
      </p:sp>
      <p:sp>
        <p:nvSpPr>
          <p:cNvPr id="9" name="TextBox 8"/>
          <p:cNvSpPr txBox="1"/>
          <p:nvPr/>
        </p:nvSpPr>
        <p:spPr>
          <a:xfrm>
            <a:off x="457200" y="4821935"/>
            <a:ext cx="5726449" cy="609600"/>
          </a:xfrm>
          <a:prstGeom prst="rect">
            <a:avLst/>
          </a:prstGeom>
          <a:noFill/>
        </p:spPr>
        <p:txBody>
          <a:bodyPr wrap="none" lIns="0" rIns="0">
            <a:noAutofit/>
          </a:bodyPr>
          <a:lstStyle/>
          <a:p>
            <a:pPr algn="l"/>
            <a:r>
              <a:rPr sz="3400" b="0" i="0">
                <a:solidFill>
                  <a:srgbClr val="0A2240"/>
                </a:solidFill>
                <a:latin typeface="Arial"/>
              </a:rPr>
              <a:t>You lose the room</a:t>
            </a:r>
          </a:p>
        </p:txBody>
      </p:sp>
      <p:sp>
        <p:nvSpPr>
          <p:cNvPr id="10" name="TextBox 9"/>
          <p:cNvSpPr txBox="1"/>
          <p:nvPr/>
        </p:nvSpPr>
        <p:spPr>
          <a:xfrm>
            <a:off x="6233160" y="2395727"/>
            <a:ext cx="5803364" cy="609600"/>
          </a:xfrm>
          <a:prstGeom prst="rect">
            <a:avLst/>
          </a:prstGeom>
          <a:noFill/>
        </p:spPr>
        <p:txBody>
          <a:bodyPr wrap="none" lIns="0" rIns="0">
            <a:noAutofit/>
          </a:bodyPr>
          <a:lstStyle/>
          <a:p>
            <a:pPr algn="l"/>
            <a:r>
              <a:rPr sz="3400" b="0" i="0">
                <a:solidFill>
                  <a:srgbClr val="0A2240"/>
                </a:solidFill>
                <a:latin typeface="Arial"/>
              </a:rPr>
              <a:t>You look in control</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It reads as a decision</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The question moves on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54</a:t>
            </a:fld>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Day 3 Will Attack</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The undocumented fake</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Anything real-looking that is not on your list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single input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second thing they try will not be yours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dead link</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URL that only worked on your machine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55</a:t>
            </a:fld>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URL a stranger can open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works with your laptop shut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three-minute script, rehearsed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CAVEATS.md, committed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56</a:t>
            </a:fld>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44572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45156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91971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944486" cy="633984"/>
          </a:xfrm>
          <a:prstGeom prst="rect">
            <a:avLst/>
          </a:prstGeom>
          <a:noFill/>
        </p:spPr>
        <p:txBody>
          <a:bodyPr wrap="none" lIns="0" rIns="0">
            <a:noAutofit/>
          </a:bodyPr>
          <a:lstStyle/>
          <a:p>
            <a:pPr algn="l"/>
            <a:r>
              <a:rPr sz="3400" b="0" i="0">
                <a:solidFill>
                  <a:srgbClr val="0A2240"/>
                </a:solidFill>
                <a:latin typeface="Arial"/>
              </a:rPr>
              <a:t>The public URL</a:t>
            </a:r>
          </a:p>
        </p:txBody>
      </p:sp>
      <p:sp>
        <p:nvSpPr>
          <p:cNvPr id="7" name="TextBox 6"/>
          <p:cNvSpPr txBox="1"/>
          <p:nvPr/>
        </p:nvSpPr>
        <p:spPr>
          <a:xfrm>
            <a:off x="545156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6710819" cy="633984"/>
          </a:xfrm>
          <a:prstGeom prst="rect">
            <a:avLst/>
          </a:prstGeom>
          <a:noFill/>
        </p:spPr>
        <p:txBody>
          <a:bodyPr wrap="none" lIns="0" rIns="0">
            <a:noAutofit/>
          </a:bodyPr>
          <a:lstStyle/>
          <a:p>
            <a:pPr algn="l"/>
            <a:r>
              <a:rPr sz="3400" b="0" i="0">
                <a:solidFill>
                  <a:srgbClr val="0A2240"/>
                </a:solidFill>
                <a:latin typeface="Arial"/>
              </a:rPr>
              <a:t>Who drives the demo</a:t>
            </a:r>
          </a:p>
        </p:txBody>
      </p:sp>
      <p:sp>
        <p:nvSpPr>
          <p:cNvPr id="9" name="TextBox 8"/>
          <p:cNvSpPr txBox="1"/>
          <p:nvPr/>
        </p:nvSpPr>
        <p:spPr>
          <a:xfrm>
            <a:off x="545156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714755" cy="633984"/>
          </a:xfrm>
          <a:prstGeom prst="rect">
            <a:avLst/>
          </a:prstGeom>
          <a:noFill/>
        </p:spPr>
        <p:txBody>
          <a:bodyPr wrap="none" lIns="0" rIns="0">
            <a:noAutofit/>
          </a:bodyPr>
          <a:lstStyle/>
          <a:p>
            <a:pPr algn="l"/>
            <a:r>
              <a:rPr sz="3400" b="0" i="0">
                <a:solidFill>
                  <a:srgbClr val="0A2240"/>
                </a:solidFill>
                <a:latin typeface="Arial"/>
              </a:rPr>
              <a:t>Biggest caveat</a:t>
            </a:r>
          </a:p>
        </p:txBody>
      </p:sp>
      <p:sp>
        <p:nvSpPr>
          <p:cNvPr id="11" name="TextBox 10"/>
          <p:cNvSpPr txBox="1"/>
          <p:nvPr/>
        </p:nvSpPr>
        <p:spPr>
          <a:xfrm>
            <a:off x="545156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6095841" cy="633984"/>
          </a:xfrm>
          <a:prstGeom prst="rect">
            <a:avLst/>
          </a:prstGeom>
          <a:noFill/>
        </p:spPr>
        <p:txBody>
          <a:bodyPr wrap="none" lIns="0" rIns="0">
            <a:noAutofit/>
          </a:bodyPr>
          <a:lstStyle/>
          <a:p>
            <a:pPr algn="l"/>
            <a:r>
              <a:rPr sz="3400" b="0" i="0">
                <a:solidFill>
                  <a:srgbClr val="0A2240"/>
                </a:solidFill>
                <a:latin typeface="Arial"/>
              </a:rPr>
              <a:t>Most likely to break</a:t>
            </a:r>
          </a:p>
        </p:txBody>
      </p:sp>
      <p:sp>
        <p:nvSpPr>
          <p:cNvPr id="13" name="TextBox 12"/>
          <p:cNvSpPr txBox="1"/>
          <p:nvPr/>
        </p:nvSpPr>
        <p:spPr>
          <a:xfrm>
            <a:off x="545156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57</a:t>
            </a:fld>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420952" cy="768096"/>
          </a:xfrm>
          <a:prstGeom prst="rect">
            <a:avLst/>
          </a:prstGeom>
          <a:noFill/>
        </p:spPr>
        <p:txBody>
          <a:bodyPr wrap="none" lIns="0" rIns="0">
            <a:noAutofit/>
          </a:bodyPr>
          <a:lstStyle/>
          <a:p>
            <a:pPr algn="l"/>
            <a:r>
              <a:rPr sz="4200" b="1" i="0">
                <a:solidFill>
                  <a:srgbClr val="0072CE"/>
                </a:solidFill>
                <a:latin typeface="Arial"/>
              </a:rPr>
              <a:t>Tonight, If You Have Energy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Send the link to one stranger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Watch where they get stuck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Fix only what stopped them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Add what broke to the caveats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58</a:t>
            </a:fld>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attack?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59</a:t>
            </a:fld>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The Battle Test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design an attack, not a feature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Another team red-teams yours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Agents probe it, not just people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Bring the caveat list with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