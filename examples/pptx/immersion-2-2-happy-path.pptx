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session of the week where they write code. Everything before this was deciding what to build; this is the hour it starts existing. Keep the energy high and the scope brutally small.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deliverable in one line: a single known-good input travels the whole map and comes out the far end without anyone touching it. Not a good product — a working path.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syllabus objectives across four moves. The order is not negotiable: teams that connect before building have nothing to connect, and teams that polish before committing lose the working version.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wait. Teams that cannot answer in ten seconds have not chosen an input, they have a category of inputs — and a category cannot be built against. Make them name a specific file, message, or URL.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Last session gave every box a tool. Tools sitting side by side are not a prototype; the prototype appears the moment one input crosses all of them without help.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hour. Point out that "chain" is a separate move from "build" — the seams between steps are where the time actually goes, and teams who assume otherwise run out of clock.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the clock on the wall. The two times that matter are 10:35 and 10:50 — a team still building steps at 10:35 must cut a box, and a team not committed by 10:50 has lost the session regardless of what runs.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deliberately old idea. Working comes before right, and right comes before fast. Today ends at the first word. Anyone reaching for the second before lunch is off the path.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A single frozen input is the most useful constraint available today — it turns an open-ended build into a finite one and gives the team an unambiguous test.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it before they water it down. The happy path is not the common case or the typical case; it is one specific route, with one specific input, chosen because it works.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disclaimers, because teams keep widening the definition until it means "the product". The happy path is a scaffold you build the real thing against, and it is allowed to be embarrassingly narrow.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three is the one teams skip and regret. If two people are testing against slightly different inputs, every disagreement about whether it works becomes unresolvable.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properties. The tension is between the first two — small and real pull in opposite directions. Resolve it toward small; a convincing demo needs one good example, not a large 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commands, thirty seconds, and the team stops arguing about inputs for the rest of the week. Do this before writing a line of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right column aloud twice. Every item there is genuinely good engineering, and every one of them will cost you the demo if you do it this morning. They are Day 3 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hard ban, not a suggestion. Each of these feels responsible and each is a way of avoiding the frightening part, which is finding out whether the path actually connects.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it precisely. It is not autocomplete — it reads files, writes them, and runs commands in your project. That changes how you should ask for things, which is the next few slides.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in every request. The second is the one from 1.2 — the arrow labels they wrote yesterday are exactly the contracts to hand over now. That is why yesterday mattered.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working in your repo can read anything you put there. Committing yesterday's map and contracts as plain text costs a minute and stops you re-explaining the same design in every request.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highest-leverage slide for the hour. Left-hand asks produce plausible code you cannot check. Right-hand asks produce code with an obvious pass or fail, which is what lets you move fast.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lines that name the input, the output, the location, and the proof. The last line matters most — asking it to run the thing turns a claim into an artifact you can look 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is counter-intuitive and worth dwelling on. Nudging a wrong answer usually produces a differently wrong answer; restating the request cleanly is almost always faster than three corrections.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common failures and their one-line fixes. Notice each fix is information you had and did not give. That is usually the shape of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gate between boxes. Moving on from an unverified step is how teams end up at noon with five steps and no idea which one is broken. Thirty seconds here saves an hour later.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and the half of the session teams underestimate. Working steps are not a working path; the seams between them are new work and need their own time.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this while they are feeling good about their individual steps. Every copy-paste, every "then I open the file and", every manual rename is a place the demo will break in front of people.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Broaden the definition on purpose. Renaming a file counts. Opening a tab counts. If it lives in someone's head rather than the repo, it will be forgotten exactly once, on stage.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that teams genuinely do not notice, because the person doing them is the person who built it. Have someone else try to run the pipeline — the hidden steps surface in seconds.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difference an audience feels immediately. A narrated demo asks people to believe the connections exist. A single command shows them. Day 3's red team will attack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three is the real test. A pipeline that only works when yesterday's files happen to be lying around is not connected — it is a coincidence you have not noticed yet.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filenames, not abstractions. Once each step names the file it leaves behind, connecting them is mechanical — and any mismatch becomes visible on this table instead of at runtime.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deliverable of the session in four lines. The first line is the important one — clearing the outputs is what proves the path runs from cold rather than from leftovers.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seam failures, all of them mismatches rather than bugs inside a step. This is why the contracts from 1.2 pay off: a written contract makes a mismatch a five-second fix.</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two is a rule of thumb worth adopting for the week: change the consumer rather than the producer, because upstream changes invalidate every step after them.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case for connecting before polishing. Every surprise you find at 10:40 is small; the same surprise at 4:30 tomorrow is the demo. Connect ugly, early, and often.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a path looks connected and is not. Read each and have teams self-diagnose out loud. Most rooms will have at least two of these right now.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at 10:35 whether or not anyone asks. Teams under time pressure instinctively half-finish every step; the right move is to fully remove one so the path still runs end to end.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definition of done for this hour. Note the third: a teammate running it on their own machine catches more problems in a minute than an hour of reading code.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syllabus says no manual intervention, and it means none. This is the line to repeat when a team argues that their one small copy-paste does not really count.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Short section, absolute rule. The gap between "it works" and "it is committed" is where more prototypes die than in any technical failure all week.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working so it cannot be argued with. Not "should work", not "worked earlier" — it ran, from cold, and you watched it. That is the moment the commit rule triggers.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but the second carries it. The moment after something works is the moment of maximum temptation to improve it, and the improvement is not yet reversible.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ceremonial, because the discipline is behavioural rather than technical. Everyone knows they should commit; almost nobody does it at exactly the right second.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explicit paths on the first line rather than a bulk add — you want the pipeline, not the output directory or a stray virtual environment. The tag gives the demo a name to fall back to.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prototype, seven entries. Show it to make the point that a working path is small — if a team's repo is much bigger than this by 10:50, they built something other than the happy path.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commit message that answers the first three is a handover note. Tomorrow's red team and tonight's tired teammate both read it, and neither cares about the fourth.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rule in two columns. The left column is a discipline of about sixty seconds; the right column is the freedom it buys for the rest of the 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payoffs, and the third is the one they will actually use. Every week at least one team demos from the tag rather than from main, and is very glad it exists.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that opens once the commit is in. Notice the last item is 2.3's work — teams who finish early should start there rather than gold-plating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into the repo before the break. The fourth is the honest one, and it becomes part of the caveat list that 2.3 asks them to write and Day 3 attacks.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exit checklist. A team missing the last line is not finished, however good their code is — read it slowly and let the pause do the work.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into 2.3. Right now the honest answer is usually no, and that gap — between a path that runs and a thing a stranger can drive — is exactly what the next session is for.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2.3. The pipeline they just built is the engine; the next hour puts a handle on it and gets it off their machine. The last line is the one Day 3 will read most carefully.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0363200" cy="914400"/>
          </a:xfrm>
          <a:prstGeom prst="rect">
            <a:avLst/>
          </a:prstGeom>
          <a:noFill/>
        </p:spPr>
        <p:txBody>
          <a:bodyPr wrap="none" lIns="0" rIns="0">
            <a:noAutofit/>
          </a:bodyPr>
          <a:lstStyle/>
          <a:p>
            <a:pPr algn="l"/>
            <a:r>
              <a:rPr sz="6000" b="1" i="0">
                <a:solidFill>
                  <a:srgbClr val="0072CE"/>
                </a:solidFill>
                <a:latin typeface="Arial"/>
              </a:rPr>
              <a:t>The Happy Path</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2 · Session 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55</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One input reaches one output</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Pick one known-good input</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Build each step against it</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Connect the steps end to end</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Commit the moment it works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is your one input?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2.1 to Now</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 stack</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What each step runs on</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A path</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One input, all the way</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Input</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Choose one, freeze it</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Build</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One step at a time</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Chain</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Remove every hand</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754451" cy="518159"/>
          </a:xfrm>
          <a:prstGeom prst="rect">
            <a:avLst/>
          </a:prstGeom>
          <a:noFill/>
        </p:spPr>
        <p:txBody>
          <a:bodyPr wrap="none" lIns="0" rIns="0">
            <a:noAutofit/>
          </a:bodyPr>
          <a:lstStyle/>
          <a:p>
            <a:pPr algn="l"/>
            <a:r>
              <a:rPr sz="3400" b="1" i="0">
                <a:solidFill>
                  <a:srgbClr val="123A6B"/>
                </a:solidFill>
                <a:latin typeface="Arial"/>
              </a:rPr>
              <a:t>Commit</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The second it works</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Next 55 Minutes</a:t>
            </a:r>
          </a:p>
        </p:txBody>
      </p:sp>
      <p:sp>
        <p:nvSpPr>
          <p:cNvPr id="3" name="TextBox 2"/>
          <p:cNvSpPr txBo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10:00</a:t>
            </a:r>
          </a:p>
        </p:txBody>
      </p:sp>
      <p:sp>
        <p:nvSpPr>
          <p:cNvPr id="4" name="TextBox 3"/>
          <p:cNvSpPr txBox="1"/>
          <p:nvPr/>
        </p:nvSpPr>
        <p:spPr>
          <a:xfrm>
            <a:off x="457200" y="2154936"/>
            <a:ext cx="2985868" cy="518159"/>
          </a:xfrm>
          <a:prstGeom prst="rect">
            <a:avLst/>
          </a:prstGeom>
          <a:noFill/>
        </p:spPr>
        <p:txBody>
          <a:bodyPr wrap="none" lIns="0" rIns="0">
            <a:noAutofit/>
          </a:bodyPr>
          <a:lstStyle/>
          <a:p>
            <a:pPr algn="l"/>
            <a:r>
              <a:rPr sz="3400" b="1" i="0">
                <a:solidFill>
                  <a:srgbClr val="0A2240"/>
                </a:solidFill>
                <a:latin typeface="Arial"/>
              </a:rPr>
              <a:t>Freeze it</a:t>
            </a:r>
          </a:p>
        </p:txBody>
      </p:sp>
      <p:sp>
        <p:nvSpPr>
          <p:cNvPr id="5" name="TextBox 4"/>
          <p:cNvSpPr txBox="1"/>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One file, committed, shared</a:t>
            </a:r>
          </a:p>
        </p:txBody>
      </p:sp>
      <p:sp>
        <p:nvSpPr>
          <p:cNvPr id="6" name="TextBox 5"/>
          <p:cNvSpPr txBox="1"/>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10:10</a:t>
            </a:r>
          </a:p>
        </p:txBody>
      </p:sp>
      <p:sp>
        <p:nvSpPr>
          <p:cNvPr id="7" name="TextBox 6"/>
          <p:cNvSpPr txBox="1"/>
          <p:nvPr/>
        </p:nvSpPr>
        <p:spPr>
          <a:xfrm>
            <a:off x="3345180" y="2154936"/>
            <a:ext cx="3906480" cy="518159"/>
          </a:xfrm>
          <a:prstGeom prst="rect">
            <a:avLst/>
          </a:prstGeom>
          <a:noFill/>
        </p:spPr>
        <p:txBody>
          <a:bodyPr wrap="none" lIns="0" rIns="0">
            <a:noAutofit/>
          </a:bodyPr>
          <a:lstStyle/>
          <a:p>
            <a:pPr algn="l"/>
            <a:r>
              <a:rPr sz="3400" b="1" i="0">
                <a:solidFill>
                  <a:srgbClr val="0A2240"/>
                </a:solidFill>
                <a:latin typeface="Arial"/>
              </a:rPr>
              <a:t>Build steps</a:t>
            </a:r>
          </a:p>
        </p:txBody>
      </p:sp>
      <p:sp>
        <p:nvSpPr>
          <p:cNvPr id="8" name="TextBox 7"/>
          <p:cNvSpPr txBox="1"/>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One box at a time, verified</a:t>
            </a:r>
          </a:p>
        </p:txBody>
      </p:sp>
      <p:sp>
        <p:nvSpPr>
          <p:cNvPr id="9" name="TextBox 8"/>
          <p:cNvSpPr txBox="1"/>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10:35</a:t>
            </a:r>
          </a:p>
        </p:txBody>
      </p:sp>
      <p:sp>
        <p:nvSpPr>
          <p:cNvPr id="10" name="TextBox 9"/>
          <p:cNvSpPr txBox="1"/>
          <p:nvPr/>
        </p:nvSpPr>
        <p:spPr>
          <a:xfrm>
            <a:off x="6233160" y="2154936"/>
            <a:ext cx="2946400" cy="518159"/>
          </a:xfrm>
          <a:prstGeom prst="rect">
            <a:avLst/>
          </a:prstGeom>
          <a:noFill/>
        </p:spPr>
        <p:txBody>
          <a:bodyPr wrap="none" lIns="0" rIns="0">
            <a:noAutofit/>
          </a:bodyPr>
          <a:lstStyle/>
          <a:p>
            <a:pPr algn="l"/>
            <a:r>
              <a:rPr sz="3400" b="1" i="0">
                <a:solidFill>
                  <a:srgbClr val="0A2240"/>
                </a:solidFill>
                <a:latin typeface="Arial"/>
              </a:rPr>
              <a:t>Connect</a:t>
            </a:r>
          </a:p>
        </p:txBody>
      </p:sp>
      <p:sp>
        <p:nvSpPr>
          <p:cNvPr id="11" name="TextBox 10"/>
          <p:cNvSpPr txBox="1"/>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Run it from a cold start</a:t>
            </a:r>
          </a:p>
        </p:txBody>
      </p:sp>
      <p:sp>
        <p:nvSpPr>
          <p:cNvPr id="12" name="TextBox 11"/>
          <p:cNvSpPr txBox="1"/>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10:50</a:t>
            </a:r>
          </a:p>
        </p:txBody>
      </p:sp>
      <p:sp>
        <p:nvSpPr>
          <p:cNvPr id="13" name="TextBox 12"/>
          <p:cNvSpPr txBox="1"/>
          <p:nvPr/>
        </p:nvSpPr>
        <p:spPr>
          <a:xfrm>
            <a:off x="9121140" y="2154936"/>
            <a:ext cx="2754451" cy="518159"/>
          </a:xfrm>
          <a:prstGeom prst="rect">
            <a:avLst/>
          </a:prstGeom>
          <a:noFill/>
        </p:spPr>
        <p:txBody>
          <a:bodyPr wrap="none" lIns="0" rIns="0">
            <a:noAutofit/>
          </a:bodyPr>
          <a:lstStyle/>
          <a:p>
            <a:pPr algn="l"/>
            <a:r>
              <a:rPr sz="3400" b="1" i="0">
                <a:solidFill>
                  <a:srgbClr val="0A2240"/>
                </a:solidFill>
                <a:latin typeface="Arial"/>
              </a:rPr>
              <a:t>Commit</a:t>
            </a:r>
          </a:p>
        </p:txBody>
      </p:sp>
      <p:sp>
        <p:nvSpPr>
          <p:cNvPr id="14" name="TextBox 13"/>
          <p:cNvSpPr txBox="1"/>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Tag the version that works</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"Make it work. Only then, anything else."</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Day 2 rule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One Known-Good Input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Happy path</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one route where nothing goes wrong</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It Is Not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Not the average case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Not most of your inputs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Not robust to anything</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 what you ship later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Choosing the Input</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Take a real one</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From the actual problem, not invented</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Check it is boring</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Nothing weird, nothing missing</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Freeze it in the repo</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Same bytes for everyone, all day</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Makes One Good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Small enough to read fully</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Real enough to be convincing</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Boring enough to always work</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Fixed, so results compare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734800" cy="640080"/>
          </a:xfrm>
          <a:prstGeom prst="rect">
            <a:avLst/>
          </a:prstGeom>
          <a:noFill/>
        </p:spPr>
        <p:txBody>
          <a:bodyPr wrap="none" lIns="0" rIns="0">
            <a:noAutofit/>
          </a:bodyPr>
          <a:lstStyle/>
          <a:p>
            <a:pPr algn="l"/>
            <a:r>
              <a:rPr sz="4200" b="0" i="0">
                <a:solidFill>
                  <a:srgbClr val="D4D4D4"/>
                </a:solidFill>
                <a:latin typeface="Arial"/>
              </a:rPr>
              <a:t>Freeze it where everyone can see</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5288577" cy="518159"/>
          </a:xfrm>
          <a:prstGeom prst="rect">
            <a:avLst/>
          </a:prstGeom>
          <a:noFill/>
        </p:spPr>
        <p:txBody>
          <a:bodyPr wrap="none" lIns="0" rIns="0">
            <a:noAutofit/>
          </a:bodyPr>
          <a:lstStyle/>
          <a:p>
            <a:pPr algn="l"/>
            <a:r>
              <a:rPr sz="3400" b="0" i="0">
                <a:solidFill>
                  <a:srgbClr val="D4D4D4"/>
                </a:solidFill>
                <a:latin typeface="Arial"/>
              </a:rPr>
              <a:t> mkdir -p fixtures</a:t>
            </a:r>
          </a:p>
        </p:txBody>
      </p:sp>
      <p:sp>
        <p:nvSpPr>
          <p:cNvPr id="8" name="TextBox 7"/>
          <p:cNvSpPr txBox="1"/>
          <p:nvPr/>
        </p:nvSpPr>
        <p:spPr>
          <a:xfrm>
            <a:off x="457200" y="2356103"/>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9" name="TextBox 8"/>
          <p:cNvSpPr txBox="1"/>
          <p:nvPr/>
        </p:nvSpPr>
        <p:spPr>
          <a:xfrm>
            <a:off x="697347" y="2356103"/>
            <a:ext cx="11069636" cy="518159"/>
          </a:xfrm>
          <a:prstGeom prst="rect">
            <a:avLst/>
          </a:prstGeom>
          <a:noFill/>
        </p:spPr>
        <p:txBody>
          <a:bodyPr wrap="none" lIns="0" rIns="0">
            <a:noAutofit/>
          </a:bodyPr>
          <a:lstStyle/>
          <a:p>
            <a:pPr algn="l"/>
            <a:r>
              <a:rPr sz="3400" b="0" i="0">
                <a:solidFill>
                  <a:srgbClr val="D4D4D4"/>
                </a:solidFill>
                <a:latin typeface="Arial"/>
              </a:rPr>
              <a:t> cp ~/Downloads/report.pdf fixtures/</a:t>
            </a:r>
          </a:p>
        </p:txBody>
      </p:sp>
      <p:sp>
        <p:nvSpPr>
          <p:cNvPr id="10" name="TextBox 9"/>
          <p:cNvSpPr txBox="1"/>
          <p:nvPr/>
        </p:nvSpPr>
        <p:spPr>
          <a:xfrm>
            <a:off x="457200" y="2874262"/>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1" name="TextBox 10"/>
          <p:cNvSpPr txBox="1"/>
          <p:nvPr/>
        </p:nvSpPr>
        <p:spPr>
          <a:xfrm>
            <a:off x="697347" y="2874262"/>
            <a:ext cx="8017014" cy="518159"/>
          </a:xfrm>
          <a:prstGeom prst="rect">
            <a:avLst/>
          </a:prstGeom>
          <a:noFill/>
        </p:spPr>
        <p:txBody>
          <a:bodyPr wrap="none" lIns="0" rIns="0">
            <a:noAutofit/>
          </a:bodyPr>
          <a:lstStyle/>
          <a:p>
            <a:pPr algn="l"/>
            <a:r>
              <a:rPr sz="3400" b="0" i="0">
                <a:solidFill>
                  <a:srgbClr val="D4D4D4"/>
                </a:solidFill>
                <a:latin typeface="Arial"/>
              </a:rPr>
              <a:t> git add fixtures/report.pdf</a:t>
            </a:r>
          </a:p>
        </p:txBody>
      </p:sp>
      <p:sp>
        <p:nvSpPr>
          <p:cNvPr id="12" name="TextBox 11"/>
          <p:cNvSpPr txBox="1"/>
          <p:nvPr/>
        </p:nvSpPr>
        <p:spPr>
          <a:xfrm>
            <a:off x="457200" y="3392421"/>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3" name="TextBox 12"/>
          <p:cNvSpPr txBox="1"/>
          <p:nvPr/>
        </p:nvSpPr>
        <p:spPr>
          <a:xfrm>
            <a:off x="697347" y="3392421"/>
            <a:ext cx="10732968" cy="518159"/>
          </a:xfrm>
          <a:prstGeom prst="rect">
            <a:avLst/>
          </a:prstGeom>
          <a:noFill/>
        </p:spPr>
        <p:txBody>
          <a:bodyPr wrap="none" lIns="0" rIns="0">
            <a:noAutofit/>
          </a:bodyPr>
          <a:lstStyle/>
          <a:p>
            <a:pPr algn="l"/>
            <a:r>
              <a:rPr sz="3400" b="0" i="0">
                <a:solidFill>
                  <a:srgbClr val="D4D4D4"/>
                </a:solidFill>
                <a:latin typeface="Arial"/>
              </a:rPr>
              <a:t> git commit -m "freeze demo input"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Today and Not Today</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Today</a:t>
            </a:r>
          </a:p>
        </p:txBody>
      </p:sp>
      <p:sp>
        <p:nvSpPr>
          <p:cNvPr id="4" name="Rectangle 3"/>
          <p:cNvSpPr/>
          <p:nvPr/>
        </p:nvSpPr>
        <p:spPr>
          <a:xfrm>
            <a:off x="54864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Not today</a:t>
            </a:r>
          </a:p>
        </p:txBody>
      </p:sp>
      <p:sp>
        <p:nvSpPr>
          <p:cNvPr id="6" name="Rectangle 5"/>
          <p:cNvSpPr/>
          <p:nvPr/>
        </p:nvSpPr>
        <p:spPr>
          <a:xfrm>
            <a:off x="632460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826865" cy="609600"/>
          </a:xfrm>
          <a:prstGeom prst="rect">
            <a:avLst/>
          </a:prstGeom>
          <a:noFill/>
        </p:spPr>
        <p:txBody>
          <a:bodyPr wrap="none" lIns="0" rIns="0">
            <a:noAutofit/>
          </a:bodyPr>
          <a:lstStyle/>
          <a:p>
            <a:pPr algn="l"/>
            <a:r>
              <a:rPr sz="3400" b="0" i="0">
                <a:solidFill>
                  <a:srgbClr val="0A2240"/>
                </a:solidFill>
                <a:latin typeface="Arial"/>
              </a:rPr>
              <a:t>One input, all the way</a:t>
            </a:r>
          </a:p>
        </p:txBody>
      </p:sp>
      <p:sp>
        <p:nvSpPr>
          <p:cNvPr id="8" name="TextBox 7"/>
          <p:cNvSpPr txBox="1"/>
          <p:nvPr/>
        </p:nvSpPr>
        <p:spPr>
          <a:xfrm>
            <a:off x="457200" y="3608831"/>
            <a:ext cx="7862172" cy="609600"/>
          </a:xfrm>
          <a:prstGeom prst="rect">
            <a:avLst/>
          </a:prstGeom>
          <a:noFill/>
        </p:spPr>
        <p:txBody>
          <a:bodyPr wrap="none" lIns="0" rIns="0">
            <a:noAutofit/>
          </a:bodyPr>
          <a:lstStyle/>
          <a:p>
            <a:pPr algn="l"/>
            <a:r>
              <a:rPr sz="3400" b="0" i="0">
                <a:solidFill>
                  <a:srgbClr val="0A2240"/>
                </a:solidFill>
                <a:latin typeface="Arial"/>
              </a:rPr>
              <a:t>The steps from your map</a:t>
            </a:r>
          </a:p>
        </p:txBody>
      </p:sp>
      <p:sp>
        <p:nvSpPr>
          <p:cNvPr id="9" name="TextBox 8"/>
          <p:cNvSpPr txBox="1"/>
          <p:nvPr/>
        </p:nvSpPr>
        <p:spPr>
          <a:xfrm>
            <a:off x="457200" y="4821935"/>
            <a:ext cx="6019264" cy="609600"/>
          </a:xfrm>
          <a:prstGeom prst="rect">
            <a:avLst/>
          </a:prstGeom>
          <a:noFill/>
        </p:spPr>
        <p:txBody>
          <a:bodyPr wrap="none" lIns="0" rIns="0">
            <a:noAutofit/>
          </a:bodyPr>
          <a:lstStyle/>
          <a:p>
            <a:pPr algn="l"/>
            <a:r>
              <a:rPr sz="3400" b="0" i="0">
                <a:solidFill>
                  <a:srgbClr val="0A2240"/>
                </a:solidFill>
                <a:latin typeface="Arial"/>
              </a:rPr>
              <a:t>Whatever is ugliest</a:t>
            </a:r>
          </a:p>
        </p:txBody>
      </p:sp>
      <p:sp>
        <p:nvSpPr>
          <p:cNvPr id="10" name="TextBox 9"/>
          <p:cNvSpPr txBox="1"/>
          <p:nvPr/>
        </p:nvSpPr>
        <p:spPr>
          <a:xfrm>
            <a:off x="6233160" y="2395727"/>
            <a:ext cx="5501640" cy="609600"/>
          </a:xfrm>
          <a:prstGeom prst="rect">
            <a:avLst/>
          </a:prstGeom>
          <a:noFill/>
        </p:spPr>
        <p:txBody>
          <a:bodyPr wrap="none" lIns="0" rIns="0">
            <a:noAutofit/>
          </a:bodyPr>
          <a:lstStyle/>
          <a:p>
            <a:pPr algn="l"/>
            <a:r>
              <a:rPr sz="3400" b="0" i="0">
                <a:solidFill>
                  <a:srgbClr val="0A2240"/>
                </a:solidFill>
                <a:latin typeface="Arial"/>
              </a:rPr>
              <a:t>Edge cases</a:t>
            </a:r>
          </a:p>
        </p:txBody>
      </p:sp>
      <p:sp>
        <p:nvSpPr>
          <p:cNvPr id="11" name="TextBox 10"/>
          <p:cNvSpPr txBox="1"/>
          <p:nvPr/>
        </p:nvSpPr>
        <p:spPr>
          <a:xfrm>
            <a:off x="6233160" y="3608831"/>
            <a:ext cx="5501640" cy="609600"/>
          </a:xfrm>
          <a:prstGeom prst="rect">
            <a:avLst/>
          </a:prstGeom>
          <a:noFill/>
        </p:spPr>
        <p:txBody>
          <a:bodyPr wrap="none" lIns="0" rIns="0">
            <a:noAutofit/>
          </a:bodyPr>
          <a:lstStyle/>
          <a:p>
            <a:pPr algn="l"/>
            <a:r>
              <a:rPr sz="3400" b="0" i="0">
                <a:solidFill>
                  <a:srgbClr val="0A2240"/>
                </a:solidFill>
                <a:latin typeface="Arial"/>
              </a:rPr>
              <a:t>Error handling</a:t>
            </a:r>
          </a:p>
        </p:txBody>
      </p:sp>
      <p:sp>
        <p:nvSpPr>
          <p:cNvPr id="12" name="TextBox 11"/>
          <p:cNvSpPr txBox="1"/>
          <p:nvPr/>
        </p:nvSpPr>
        <p:spPr>
          <a:xfrm>
            <a:off x="6233160" y="4821935"/>
            <a:ext cx="5501640" cy="609600"/>
          </a:xfrm>
          <a:prstGeom prst="rect">
            <a:avLst/>
          </a:prstGeom>
          <a:noFill/>
        </p:spPr>
        <p:txBody>
          <a:bodyPr wrap="none" lIns="0" rIns="0">
            <a:noAutofit/>
          </a:bodyPr>
          <a:lstStyle/>
          <a:p>
            <a:pPr algn="l"/>
            <a:r>
              <a:rPr sz="3400" b="0" i="0">
                <a:solidFill>
                  <a:srgbClr val="0A2240"/>
                </a:solidFill>
                <a:latin typeface="Arial"/>
              </a:rPr>
              <a:t>A second input</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Ban List for This Hour</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No try or catch anywhere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 configuration files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 second input to test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 renaming or refactoring</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Code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An agent that edits and runs your repo</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Driving It, Per Step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Name the one step</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From your map, by its box</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Give it the contract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What comes in, what goes out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Point at the input</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The frozen file, by path</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Give It What It Needs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map, as a file in the repo</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contracts between steps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frozen input, by path</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command that proves it ran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Ways to Ask</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Vague</a:t>
            </a:r>
          </a:p>
        </p:txBody>
      </p:sp>
      <p:sp>
        <p:nvSpPr>
          <p:cNvPr id="4" name="TextBox 3"/>
          <p:cNvSpPr txBox="1"/>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Specific</a:t>
            </a:r>
          </a:p>
        </p:txBody>
      </p:sp>
      <p:sp>
        <p:nvSpPr>
          <p:cNvPr id="5" name="TextBox 4"/>
          <p:cNvSpPr txBox="1"/>
          <p:nvPr/>
        </p:nvSpPr>
        <p:spPr>
          <a:xfrm>
            <a:off x="457200" y="2395727"/>
            <a:ext cx="6856552" cy="847344"/>
          </a:xfrm>
          <a:prstGeom prst="rect">
            <a:avLst/>
          </a:prstGeom>
          <a:noFill/>
        </p:spPr>
        <p:txBody>
          <a:bodyPr wrap="none" lIns="0" rIns="0">
            <a:noAutofit/>
          </a:bodyPr>
          <a:lstStyle/>
          <a:p>
            <a:pPr algn="l"/>
            <a:r>
              <a:rPr sz="3400" b="0" i="0">
                <a:solidFill>
                  <a:srgbClr val="0A2240"/>
                </a:solidFill>
                <a:latin typeface="Arial"/>
              </a:rPr>
              <a:t>"Parse the document"</a:t>
            </a:r>
          </a:p>
        </p:txBody>
      </p:sp>
      <p:sp>
        <p:nvSpPr>
          <p:cNvPr id="6" name="TextBox 5"/>
          <p:cNvSpPr txBox="1"/>
          <p:nvPr/>
        </p:nvSpPr>
        <p:spPr>
          <a:xfrm>
            <a:off x="6233160" y="2395727"/>
            <a:ext cx="5958840" cy="847344"/>
          </a:xfrm>
          <a:prstGeom prst="rect">
            <a:avLst/>
          </a:prstGeom>
          <a:noFill/>
        </p:spPr>
        <p:txBody>
          <a:bodyPr wrap="none" lIns="0" rIns="0">
            <a:noAutofit/>
          </a:bodyPr>
          <a:lstStyle/>
          <a:p>
            <a:pPr algn="l"/>
            <a:r>
              <a:rPr sz="3400" b="0" i="0">
                <a:solidFill>
                  <a:srgbClr val="0A2240"/>
                </a:solidFill>
                <a:latin typeface="Arial"/>
              </a:rPr>
              <a:t>"Read fixtures/report.pdf"</a:t>
            </a:r>
          </a:p>
        </p:txBody>
      </p:sp>
      <p:sp>
        <p:nvSpPr>
          <p:cNvPr id="7" name="TextBox 6"/>
          <p:cNvSpPr txBox="1"/>
          <p:nvPr/>
        </p:nvSpPr>
        <p:spPr>
          <a:xfrm>
            <a:off x="457200" y="3517391"/>
            <a:ext cx="7085945" cy="847344"/>
          </a:xfrm>
          <a:prstGeom prst="rect">
            <a:avLst/>
          </a:prstGeom>
          <a:noFill/>
        </p:spPr>
        <p:txBody>
          <a:bodyPr wrap="none" lIns="0" rIns="0">
            <a:noAutofit/>
          </a:bodyPr>
          <a:lstStyle/>
          <a:p>
            <a:pPr algn="l"/>
            <a:r>
              <a:rPr sz="3400" b="0" i="0">
                <a:solidFill>
                  <a:srgbClr val="0A2240"/>
                </a:solidFill>
                <a:latin typeface="Arial"/>
              </a:rPr>
              <a:t>"Make it handle PDFs"</a:t>
            </a:r>
          </a:p>
        </p:txBody>
      </p:sp>
      <p:sp>
        <p:nvSpPr>
          <p:cNvPr id="8" name="TextBox 7"/>
          <p:cNvSpPr txBox="1"/>
          <p:nvPr/>
        </p:nvSpPr>
        <p:spPr>
          <a:xfrm>
            <a:off x="6233160" y="3517391"/>
            <a:ext cx="5958840" cy="847344"/>
          </a:xfrm>
          <a:prstGeom prst="rect">
            <a:avLst/>
          </a:prstGeom>
          <a:noFill/>
        </p:spPr>
        <p:txBody>
          <a:bodyPr wrap="none" lIns="0" rIns="0">
            <a:noAutofit/>
          </a:bodyPr>
          <a:lstStyle/>
          <a:p>
            <a:pPr algn="l"/>
            <a:r>
              <a:rPr sz="3400" b="0" i="0">
                <a:solidFill>
                  <a:srgbClr val="0A2240"/>
                </a:solidFill>
                <a:latin typeface="Arial"/>
              </a:rPr>
              <a:t>"Return title and date"</a:t>
            </a:r>
          </a:p>
        </p:txBody>
      </p:sp>
      <p:sp>
        <p:nvSpPr>
          <p:cNvPr id="9" name="TextBox 8"/>
          <p:cNvSpPr txBox="1"/>
          <p:nvPr/>
        </p:nvSpPr>
        <p:spPr>
          <a:xfrm>
            <a:off x="457200" y="4639055"/>
            <a:ext cx="6704072" cy="847344"/>
          </a:xfrm>
          <a:prstGeom prst="rect">
            <a:avLst/>
          </a:prstGeom>
          <a:noFill/>
        </p:spPr>
        <p:txBody>
          <a:bodyPr wrap="none" lIns="0" rIns="0">
            <a:noAutofit/>
          </a:bodyPr>
          <a:lstStyle/>
          <a:p>
            <a:pPr algn="l"/>
            <a:r>
              <a:rPr sz="3400" b="0" i="0">
                <a:solidFill>
                  <a:srgbClr val="0A2240"/>
                </a:solidFill>
                <a:latin typeface="Arial"/>
              </a:rPr>
              <a:t>"Clean up the output"</a:t>
            </a:r>
          </a:p>
        </p:txBody>
      </p:sp>
      <p:sp>
        <p:nvSpPr>
          <p:cNvPr id="10" name="TextBox 9"/>
          <p:cNvSpPr txBox="1"/>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"Write it to out.json"</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A request worth making</a:t>
            </a:r>
          </a:p>
        </p:txBody>
      </p:sp>
      <p:sp>
        <p:nvSpPr>
          <p:cNvPr id="6" name="TextBox 5"/>
          <p:cNvSpPr txBox="1"/>
          <p:nvPr/>
        </p:nvSpPr>
        <p:spPr>
          <a:xfrm>
            <a:off x="457200" y="1837944"/>
            <a:ext cx="7594321" cy="518159"/>
          </a:xfrm>
          <a:prstGeom prst="rect">
            <a:avLst/>
          </a:prstGeom>
          <a:noFill/>
        </p:spPr>
        <p:txBody>
          <a:bodyPr wrap="none" lIns="0" rIns="0">
            <a:noAutofit/>
          </a:bodyPr>
          <a:lstStyle/>
          <a:p>
            <a:pPr algn="l"/>
            <a:r>
              <a:rPr sz="3400" b="0" i="0">
                <a:solidFill>
                  <a:srgbClr val="D4D4D4"/>
                </a:solidFill>
                <a:latin typeface="Arial"/>
              </a:rPr>
              <a:t>Read fixtures/report.pdf.</a:t>
            </a:r>
          </a:p>
        </p:txBody>
      </p:sp>
      <p:sp>
        <p:nvSpPr>
          <p:cNvPr id="7" name="TextBox 6"/>
          <p:cNvSpPr txBox="1"/>
          <p:nvPr/>
        </p:nvSpPr>
        <p:spPr>
          <a:xfrm>
            <a:off x="457200" y="2356103"/>
            <a:ext cx="7979568" cy="518159"/>
          </a:xfrm>
          <a:prstGeom prst="rect">
            <a:avLst/>
          </a:prstGeom>
          <a:noFill/>
        </p:spPr>
        <p:txBody>
          <a:bodyPr wrap="none" lIns="0" rIns="0">
            <a:noAutofit/>
          </a:bodyPr>
          <a:lstStyle/>
          <a:p>
            <a:pPr algn="l"/>
            <a:r>
              <a:rPr sz="3400" b="0" i="0">
                <a:solidFill>
                  <a:srgbClr val="D4D4D4"/>
                </a:solidFill>
                <a:latin typeface="Arial"/>
              </a:rPr>
              <a:t>Pull out title, author, date.</a:t>
            </a:r>
          </a:p>
        </p:txBody>
      </p:sp>
      <p:sp>
        <p:nvSpPr>
          <p:cNvPr id="8" name="TextBox 7"/>
          <p:cNvSpPr txBox="1"/>
          <p:nvPr/>
        </p:nvSpPr>
        <p:spPr>
          <a:xfrm>
            <a:off x="457200" y="2874262"/>
            <a:ext cx="8963937" cy="518159"/>
          </a:xfrm>
          <a:prstGeom prst="rect">
            <a:avLst/>
          </a:prstGeom>
          <a:noFill/>
        </p:spPr>
        <p:txBody>
          <a:bodyPr wrap="none" lIns="0" rIns="0">
            <a:noAutofit/>
          </a:bodyPr>
          <a:lstStyle/>
          <a:p>
            <a:pPr algn="l"/>
            <a:r>
              <a:rPr sz="3400" b="0" i="0">
                <a:solidFill>
                  <a:srgbClr val="D4D4D4"/>
                </a:solidFill>
                <a:latin typeface="Arial"/>
              </a:rPr>
              <a:t>Write them to out/step1.json.</a:t>
            </a:r>
          </a:p>
        </p:txBody>
      </p:sp>
      <p:sp>
        <p:nvSpPr>
          <p:cNvPr id="9" name="TextBox 8"/>
          <p:cNvSpPr txBox="1"/>
          <p:nvPr/>
        </p:nvSpPr>
        <p:spPr>
          <a:xfrm>
            <a:off x="457200" y="3392421"/>
            <a:ext cx="2179617" cy="518159"/>
          </a:xfrm>
          <a:prstGeom prst="rect">
            <a:avLst/>
          </a:prstGeom>
          <a:noFill/>
        </p:spPr>
        <p:txBody>
          <a:bodyPr wrap="none" lIns="0" rIns="0">
            <a:noAutofit/>
          </a:bodyPr>
          <a:lstStyle/>
          <a:p>
            <a:pPr algn="l"/>
            <a:r>
              <a:rPr sz="3400" b="0" i="0">
                <a:solidFill>
                  <a:srgbClr val="D4D4D4"/>
                </a:solidFill>
                <a:latin typeface="Arial"/>
              </a:rPr>
              <a:t>Run it </a:t>
            </a:r>
          </a:p>
        </p:txBody>
      </p:sp>
      <p:sp>
        <p:nvSpPr>
          <p:cNvPr id="10" name="TextBox 9"/>
          <p:cNvSpPr txBox="1"/>
          <p:nvPr/>
        </p:nvSpPr>
        <p:spPr>
          <a:xfrm>
            <a:off x="1705161" y="3392421"/>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1" name="TextBox 10"/>
          <p:cNvSpPr txBox="1"/>
          <p:nvPr/>
        </p:nvSpPr>
        <p:spPr>
          <a:xfrm>
            <a:off x="2425601" y="3392421"/>
            <a:ext cx="5558790" cy="518159"/>
          </a:xfrm>
          <a:prstGeom prst="rect">
            <a:avLst/>
          </a:prstGeom>
          <a:noFill/>
        </p:spPr>
        <p:txBody>
          <a:bodyPr wrap="none" lIns="0" rIns="0">
            <a:noAutofit/>
          </a:bodyPr>
          <a:lstStyle/>
          <a:p>
            <a:pPr algn="l"/>
            <a:r>
              <a:rPr sz="3400" b="0" i="0">
                <a:solidFill>
                  <a:srgbClr val="D4D4D4"/>
                </a:solidFill>
                <a:latin typeface="Arial"/>
              </a:rPr>
              <a:t> show me the file.</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Rules for Driving</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One step per ask</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Never two boxes of the map at once</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Make it run</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Ask for the output, not a description</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Reset, do not nudge</a:t>
            </a:r>
          </a:p>
        </p:txBody>
      </p:sp>
      <p:sp>
        <p:nvSpPr>
          <p:cNvPr id="8" name="TextBox 7"/>
          <p:cNvSpPr txBox="1"/>
          <p:nvPr/>
        </p:nvSpPr>
        <p:spPr>
          <a:xfrm>
            <a:off x="457200" y="5132831"/>
            <a:ext cx="11318596" cy="627889"/>
          </a:xfrm>
          <a:prstGeom prst="rect">
            <a:avLst/>
          </a:prstGeom>
          <a:noFill/>
        </p:spPr>
        <p:txBody>
          <a:bodyPr wrap="none" lIns="0" rIns="0">
            <a:noAutofit/>
          </a:bodyPr>
          <a:lstStyle/>
          <a:p>
            <a:pPr algn="l"/>
            <a:r>
              <a:rPr sz="3400" b="0" i="0">
                <a:solidFill>
                  <a:srgbClr val="0A2240"/>
                </a:solidFill>
                <a:latin typeface="Arial"/>
              </a:rPr>
              <a:t>If two tries fail, restate the whole ask</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When It Goes Sideways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It invented a file — name paths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It over-built — say what to skip</a:t>
            </a:r>
          </a:p>
        </p:txBody>
      </p:sp>
      <p:sp>
        <p:nvSpPr>
          <p:cNvPr id="5" name="TextBox 4"/>
          <p:cNvSpPr txBox="1"/>
          <p:nvPr/>
        </p:nvSpPr>
        <p:spPr>
          <a:xfrm>
            <a:off x="457200" y="3858768"/>
            <a:ext cx="11280814" cy="518159"/>
          </a:xfrm>
          <a:prstGeom prst="rect">
            <a:avLst/>
          </a:prstGeom>
          <a:noFill/>
        </p:spPr>
        <p:txBody>
          <a:bodyPr wrap="none" lIns="0" rIns="0">
            <a:noAutofit/>
          </a:bodyPr>
          <a:lstStyle/>
          <a:p>
            <a:pPr algn="l"/>
            <a:r>
              <a:rPr sz="3400" b="0" i="0">
                <a:solidFill>
                  <a:srgbClr val="0A2240"/>
                </a:solidFill>
                <a:latin typeface="Arial"/>
              </a:rPr>
              <a:t>It cannot run — give it the command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loops — restate from scratch</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Check Each Step Before Moving 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ran it yourself, just now</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output file exists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read the output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matches the contract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Connect the Steps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Where do hands still touch?</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Manual step</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Anything a person does between two steps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Manual Steps That Hide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Copying output into the next box</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Renaming a file by hand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Pasting into a chat window</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Knowing to run them in order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Kinds of Demo</a:t>
            </a:r>
          </a:p>
        </p:txBody>
      </p:sp>
      <p:sp>
        <p:nvSpPr>
          <p:cNvPr id="3" name="TextBox 2"/>
          <p:cNvSpPr txBox="1"/>
          <p:nvPr/>
        </p:nvSpPr>
        <p:spPr>
          <a:xfrm>
            <a:off x="255092" y="2776728"/>
            <a:ext cx="5197196" cy="914400"/>
          </a:xfrm>
          <a:prstGeom prst="rect">
            <a:avLst/>
          </a:prstGeom>
          <a:noFill/>
        </p:spPr>
        <p:txBody>
          <a:bodyPr wrap="none" lIns="0" rIns="0">
            <a:noAutofit/>
          </a:bodyPr>
          <a:lstStyle/>
          <a:p>
            <a:pPr algn="ctr"/>
            <a:r>
              <a:rPr sz="6000" b="1" i="0">
                <a:solidFill>
                  <a:srgbClr val="0A2240"/>
                </a:solidFill>
                <a:latin typeface="Arial"/>
              </a:rPr>
              <a:t>Narrated</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And now I open this</a:t>
            </a:r>
          </a:p>
        </p:txBody>
      </p:sp>
      <p:sp>
        <p:nvSpPr>
          <p:cNvPr id="5" name="TextBox 4"/>
          <p:cNvSpPr txBox="1"/>
          <p:nvPr/>
        </p:nvSpPr>
        <p:spPr>
          <a:xfrm>
            <a:off x="6484620" y="2776728"/>
            <a:ext cx="5707380" cy="914400"/>
          </a:xfrm>
          <a:prstGeom prst="rect">
            <a:avLst/>
          </a:prstGeom>
          <a:noFill/>
        </p:spPr>
        <p:txBody>
          <a:bodyPr wrap="none" lIns="0" rIns="0">
            <a:noAutofit/>
          </a:bodyPr>
          <a:lstStyle/>
          <a:p>
            <a:pPr algn="ctr"/>
            <a:r>
              <a:rPr sz="6000" b="1" i="0">
                <a:solidFill>
                  <a:srgbClr val="0A2240"/>
                </a:solidFill>
                <a:latin typeface="Arial"/>
              </a:rPr>
              <a:t>Run once</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One command, done</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Connecting, in Order</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362068" cy="640080"/>
          </a:xfrm>
          <a:prstGeom prst="rect">
            <a:avLst/>
          </a:prstGeom>
          <a:noFill/>
        </p:spPr>
        <p:txBody>
          <a:bodyPr wrap="none" lIns="0" rIns="0">
            <a:noAutofit/>
          </a:bodyPr>
          <a:lstStyle/>
          <a:p>
            <a:pPr algn="l"/>
            <a:r>
              <a:rPr sz="4200" b="1" i="0">
                <a:solidFill>
                  <a:srgbClr val="123A6B"/>
                </a:solidFill>
                <a:latin typeface="Arial"/>
              </a:rPr>
              <a:t>Write the contracts down</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What each step leaves behind</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Chain two, then three</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Add one box at a time</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Run it from cold</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Delete the outputs and start over</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Down the Seams</a:t>
            </a:r>
          </a:p>
        </p:txBody>
      </p:sp>
      <p:sp>
        <p:nvSpPr>
          <p:cNvPr id="3" name="TextBox 2"/>
          <p:cNvSpPr txBox="1"/>
          <p:nvPr/>
        </p:nvSpPr>
        <p:spPr>
          <a:xfrm>
            <a:off x="457200" y="1499616"/>
            <a:ext cx="1854078" cy="518159"/>
          </a:xfrm>
          <a:prstGeom prst="rect">
            <a:avLst/>
          </a:prstGeom>
          <a:noFill/>
        </p:spPr>
        <p:txBody>
          <a:bodyPr wrap="none" lIns="0" rIns="0">
            <a:noAutofit/>
          </a:bodyPr>
          <a:lstStyle/>
          <a:p>
            <a:pPr algn="l"/>
            <a:r>
              <a:rPr sz="3400" b="1" i="0">
                <a:solidFill>
                  <a:srgbClr val="123A6B"/>
                </a:solidFill>
                <a:latin typeface="Arial"/>
              </a:rPr>
              <a:t>Step</a:t>
            </a:r>
          </a:p>
        </p:txBody>
      </p:sp>
      <p:sp>
        <p:nvSpPr>
          <p:cNvPr id="4" name="TextBox 3"/>
          <p:cNvSpPr txBox="1"/>
          <p:nvPr/>
        </p:nvSpPr>
        <p:spPr>
          <a:xfrm>
            <a:off x="2859918" y="1499616"/>
            <a:ext cx="4982268" cy="518159"/>
          </a:xfrm>
          <a:prstGeom prst="rect">
            <a:avLst/>
          </a:prstGeom>
          <a:noFill/>
        </p:spPr>
        <p:txBody>
          <a:bodyPr wrap="none" lIns="0" rIns="0">
            <a:noAutofit/>
          </a:bodyPr>
          <a:lstStyle/>
          <a:p>
            <a:pPr algn="l"/>
            <a:r>
              <a:rPr sz="3400" b="1" i="0">
                <a:solidFill>
                  <a:srgbClr val="123A6B"/>
                </a:solidFill>
                <a:latin typeface="Arial"/>
              </a:rPr>
              <a:t>Leaves behind</a:t>
            </a:r>
          </a:p>
        </p:txBody>
      </p:sp>
      <p:sp>
        <p:nvSpPr>
          <p:cNvPr id="5" name="Rectangle 4"/>
          <p:cNvSpPr/>
          <p:nvPr/>
        </p:nvSpPr>
        <p:spPr>
          <a:xfrm>
            <a:off x="457200" y="2072639"/>
            <a:ext cx="5768096"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2064920" cy="633984"/>
          </a:xfrm>
          <a:prstGeom prst="rect">
            <a:avLst/>
          </a:prstGeom>
          <a:noFill/>
        </p:spPr>
        <p:txBody>
          <a:bodyPr wrap="none" lIns="0" rIns="0">
            <a:noAutofit/>
          </a:bodyPr>
          <a:lstStyle/>
          <a:p>
            <a:pPr algn="l"/>
            <a:r>
              <a:rPr sz="3400" b="0" i="0">
                <a:solidFill>
                  <a:srgbClr val="0A2240"/>
                </a:solidFill>
                <a:latin typeface="Arial"/>
              </a:rPr>
              <a:t>Ingest</a:t>
            </a:r>
          </a:p>
        </p:txBody>
      </p:sp>
      <p:sp>
        <p:nvSpPr>
          <p:cNvPr id="7" name="TextBox 6"/>
          <p:cNvSpPr txBox="1"/>
          <p:nvPr/>
        </p:nvSpPr>
        <p:spPr>
          <a:xfrm>
            <a:off x="2859918" y="2401823"/>
            <a:ext cx="3869710" cy="633984"/>
          </a:xfrm>
          <a:prstGeom prst="rect">
            <a:avLst/>
          </a:prstGeom>
          <a:noFill/>
        </p:spPr>
        <p:txBody>
          <a:bodyPr wrap="none" lIns="0" rIns="0">
            <a:noAutofit/>
          </a:bodyPr>
          <a:lstStyle/>
          <a:p>
            <a:pPr algn="l"/>
            <a:r>
              <a:rPr sz="3400" b="0" i="0">
                <a:solidFill>
                  <a:srgbClr val="0A2240"/>
                </a:solidFill>
                <a:latin typeface="Arial"/>
              </a:rPr>
              <a:t>out/raw.json</a:t>
            </a:r>
          </a:p>
        </p:txBody>
      </p:sp>
      <p:sp>
        <p:nvSpPr>
          <p:cNvPr id="8" name="TextBox 7"/>
          <p:cNvSpPr txBox="1"/>
          <p:nvPr/>
        </p:nvSpPr>
        <p:spPr>
          <a:xfrm>
            <a:off x="457200" y="3310127"/>
            <a:ext cx="2332771" cy="633984"/>
          </a:xfrm>
          <a:prstGeom prst="rect">
            <a:avLst/>
          </a:prstGeom>
          <a:noFill/>
        </p:spPr>
        <p:txBody>
          <a:bodyPr wrap="none" lIns="0" rIns="0">
            <a:noAutofit/>
          </a:bodyPr>
          <a:lstStyle/>
          <a:p>
            <a:pPr algn="l"/>
            <a:r>
              <a:rPr sz="3400" b="0" i="0">
                <a:solidFill>
                  <a:srgbClr val="0A2240"/>
                </a:solidFill>
                <a:latin typeface="Arial"/>
              </a:rPr>
              <a:t>Extract</a:t>
            </a:r>
          </a:p>
        </p:txBody>
      </p:sp>
      <p:sp>
        <p:nvSpPr>
          <p:cNvPr id="9" name="TextBox 8"/>
          <p:cNvSpPr txBox="1"/>
          <p:nvPr/>
        </p:nvSpPr>
        <p:spPr>
          <a:xfrm>
            <a:off x="2859918" y="3310127"/>
            <a:ext cx="4407435" cy="633984"/>
          </a:xfrm>
          <a:prstGeom prst="rect">
            <a:avLst/>
          </a:prstGeom>
          <a:noFill/>
        </p:spPr>
        <p:txBody>
          <a:bodyPr wrap="none" lIns="0" rIns="0">
            <a:noAutofit/>
          </a:bodyPr>
          <a:lstStyle/>
          <a:p>
            <a:pPr algn="l"/>
            <a:r>
              <a:rPr sz="3400" b="0" i="0">
                <a:solidFill>
                  <a:srgbClr val="0A2240"/>
                </a:solidFill>
                <a:latin typeface="Arial"/>
              </a:rPr>
              <a:t>out/fields.json</a:t>
            </a:r>
          </a:p>
        </p:txBody>
      </p:sp>
      <p:sp>
        <p:nvSpPr>
          <p:cNvPr id="10" name="TextBox 9"/>
          <p:cNvSpPr txBox="1"/>
          <p:nvPr/>
        </p:nvSpPr>
        <p:spPr>
          <a:xfrm>
            <a:off x="457200" y="4218431"/>
            <a:ext cx="2564188" cy="633984"/>
          </a:xfrm>
          <a:prstGeom prst="rect">
            <a:avLst/>
          </a:prstGeom>
          <a:noFill/>
        </p:spPr>
        <p:txBody>
          <a:bodyPr wrap="none" lIns="0" rIns="0">
            <a:noAutofit/>
          </a:bodyPr>
          <a:lstStyle/>
          <a:p>
            <a:pPr algn="l"/>
            <a:r>
              <a:rPr sz="3400" b="0" i="0">
                <a:solidFill>
                  <a:srgbClr val="0A2240"/>
                </a:solidFill>
                <a:latin typeface="Arial"/>
              </a:rPr>
              <a:t>Reason</a:t>
            </a:r>
          </a:p>
        </p:txBody>
      </p:sp>
      <p:sp>
        <p:nvSpPr>
          <p:cNvPr id="11" name="TextBox 10"/>
          <p:cNvSpPr txBox="1"/>
          <p:nvPr/>
        </p:nvSpPr>
        <p:spPr>
          <a:xfrm>
            <a:off x="2859918" y="4218431"/>
            <a:ext cx="4675961" cy="633984"/>
          </a:xfrm>
          <a:prstGeom prst="rect">
            <a:avLst/>
          </a:prstGeom>
          <a:noFill/>
        </p:spPr>
        <p:txBody>
          <a:bodyPr wrap="none" lIns="0" rIns="0">
            <a:noAutofit/>
          </a:bodyPr>
          <a:lstStyle/>
          <a:p>
            <a:pPr algn="l"/>
            <a:r>
              <a:rPr sz="3400" b="0" i="0">
                <a:solidFill>
                  <a:srgbClr val="0A2240"/>
                </a:solidFill>
                <a:latin typeface="Arial"/>
              </a:rPr>
              <a:t>out/answer.md</a:t>
            </a:r>
          </a:p>
        </p:txBody>
      </p:sp>
      <p:sp>
        <p:nvSpPr>
          <p:cNvPr id="12" name="TextBox 11"/>
          <p:cNvSpPr txBox="1"/>
          <p:nvPr/>
        </p:nvSpPr>
        <p:spPr>
          <a:xfrm>
            <a:off x="457200" y="5126735"/>
            <a:ext cx="2448817" cy="633984"/>
          </a:xfrm>
          <a:prstGeom prst="rect">
            <a:avLst/>
          </a:prstGeom>
          <a:noFill/>
        </p:spPr>
        <p:txBody>
          <a:bodyPr wrap="none" lIns="0" rIns="0">
            <a:noAutofit/>
          </a:bodyPr>
          <a:lstStyle/>
          <a:p>
            <a:pPr algn="l"/>
            <a:r>
              <a:rPr sz="3400" b="0" i="0">
                <a:solidFill>
                  <a:srgbClr val="0A2240"/>
                </a:solidFill>
                <a:latin typeface="Arial"/>
              </a:rPr>
              <a:t>Render</a:t>
            </a:r>
          </a:p>
        </p:txBody>
      </p:sp>
      <p:sp>
        <p:nvSpPr>
          <p:cNvPr id="13" name="TextBox 12"/>
          <p:cNvSpPr txBox="1"/>
          <p:nvPr/>
        </p:nvSpPr>
        <p:spPr>
          <a:xfrm>
            <a:off x="2859918" y="5126735"/>
            <a:ext cx="4484012" cy="633984"/>
          </a:xfrm>
          <a:prstGeom prst="rect">
            <a:avLst/>
          </a:prstGeom>
          <a:noFill/>
        </p:spPr>
        <p:txBody>
          <a:bodyPr wrap="none" lIns="0" rIns="0">
            <a:noAutofit/>
          </a:bodyPr>
          <a:lstStyle/>
          <a:p>
            <a:pPr algn="l"/>
            <a:r>
              <a:rPr sz="3400" b="0" i="0">
                <a:solidFill>
                  <a:srgbClr val="0A2240"/>
                </a:solidFill>
                <a:latin typeface="Arial"/>
              </a:rPr>
              <a:t>out/index.html</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734800" cy="640080"/>
          </a:xfrm>
          <a:prstGeom prst="rect">
            <a:avLst/>
          </a:prstGeom>
          <a:noFill/>
        </p:spPr>
        <p:txBody>
          <a:bodyPr wrap="none" lIns="0" rIns="0">
            <a:noAutofit/>
          </a:bodyPr>
          <a:lstStyle/>
          <a:p>
            <a:pPr algn="l"/>
            <a:r>
              <a:rPr sz="4200" b="0" i="0">
                <a:solidFill>
                  <a:srgbClr val="D4D4D4"/>
                </a:solidFill>
                <a:latin typeface="Arial"/>
              </a:rPr>
              <a:t>The whole path, one command</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7515384" cy="518159"/>
          </a:xfrm>
          <a:prstGeom prst="rect">
            <a:avLst/>
          </a:prstGeom>
          <a:noFill/>
        </p:spPr>
        <p:txBody>
          <a:bodyPr wrap="none" lIns="0" rIns="0">
            <a:noAutofit/>
          </a:bodyPr>
          <a:lstStyle/>
          <a:p>
            <a:pPr algn="l"/>
            <a:r>
              <a:rPr sz="3400" b="0" i="0">
                <a:solidFill>
                  <a:srgbClr val="D4D4D4"/>
                </a:solidFill>
                <a:latin typeface="Arial"/>
              </a:rPr>
              <a:t> rm -rf out/ &amp;&amp; mkdir out</a:t>
            </a:r>
          </a:p>
        </p:txBody>
      </p:sp>
      <p:sp>
        <p:nvSpPr>
          <p:cNvPr id="8" name="TextBox 7"/>
          <p:cNvSpPr txBox="1"/>
          <p:nvPr/>
        </p:nvSpPr>
        <p:spPr>
          <a:xfrm>
            <a:off x="457200" y="2356103"/>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9" name="TextBox 8"/>
          <p:cNvSpPr txBox="1"/>
          <p:nvPr/>
        </p:nvSpPr>
        <p:spPr>
          <a:xfrm>
            <a:off x="697347" y="2356103"/>
            <a:ext cx="10129123" cy="518159"/>
          </a:xfrm>
          <a:prstGeom prst="rect">
            <a:avLst/>
          </a:prstGeom>
          <a:noFill/>
        </p:spPr>
        <p:txBody>
          <a:bodyPr wrap="none" lIns="0" rIns="0">
            <a:noAutofit/>
          </a:bodyPr>
          <a:lstStyle/>
          <a:p>
            <a:pPr algn="l"/>
            <a:r>
              <a:rPr sz="3400" b="0" i="0">
                <a:solidFill>
                  <a:srgbClr val="D4D4D4"/>
                </a:solidFill>
                <a:latin typeface="Arial"/>
              </a:rPr>
              <a:t> python run.py fixtures/report.pdf</a:t>
            </a:r>
          </a:p>
        </p:txBody>
      </p:sp>
      <p:sp>
        <p:nvSpPr>
          <p:cNvPr id="10" name="TextBox 9"/>
          <p:cNvSpPr txBox="1"/>
          <p:nvPr/>
        </p:nvSpPr>
        <p:spPr>
          <a:xfrm>
            <a:off x="457200" y="2874262"/>
            <a:ext cx="950673"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1" name="TextBox 10"/>
          <p:cNvSpPr txBox="1"/>
          <p:nvPr/>
        </p:nvSpPr>
        <p:spPr>
          <a:xfrm>
            <a:off x="937071" y="2874262"/>
            <a:ext cx="567115" cy="518159"/>
          </a:xfrm>
          <a:prstGeom prst="rect">
            <a:avLst/>
          </a:prstGeom>
          <a:noFill/>
        </p:spPr>
        <p:txBody>
          <a:bodyPr wrap="none" lIns="0" rIns="0">
            <a:noAutofit/>
          </a:bodyPr>
          <a:lstStyle/>
          <a:p>
            <a:pPr algn="l"/>
            <a:r>
              <a:rPr sz="3400" b="0" i="0">
                <a:solidFill>
                  <a:srgbClr val="B5CEA8"/>
                </a:solidFill>
                <a:latin typeface="Arial"/>
              </a:rPr>
              <a:t>4</a:t>
            </a:r>
          </a:p>
        </p:txBody>
      </p:sp>
      <p:sp>
        <p:nvSpPr>
          <p:cNvPr id="12" name="TextBox 11"/>
          <p:cNvSpPr txBox="1"/>
          <p:nvPr/>
        </p:nvSpPr>
        <p:spPr>
          <a:xfrm>
            <a:off x="1177218" y="2874262"/>
            <a:ext cx="2947748" cy="518159"/>
          </a:xfrm>
          <a:prstGeom prst="rect">
            <a:avLst/>
          </a:prstGeom>
          <a:noFill/>
        </p:spPr>
        <p:txBody>
          <a:bodyPr wrap="none" lIns="0" rIns="0">
            <a:noAutofit/>
          </a:bodyPr>
          <a:lstStyle/>
          <a:p>
            <a:pPr algn="l"/>
            <a:r>
              <a:rPr sz="3400" b="0" i="0">
                <a:solidFill>
                  <a:srgbClr val="D4D4D4"/>
                </a:solidFill>
                <a:latin typeface="Arial"/>
              </a:rPr>
              <a:t> steps ok</a:t>
            </a:r>
          </a:p>
        </p:txBody>
      </p:sp>
      <p:sp>
        <p:nvSpPr>
          <p:cNvPr id="13" name="TextBox 12"/>
          <p:cNvSpPr txBox="1"/>
          <p:nvPr/>
        </p:nvSpPr>
        <p:spPr>
          <a:xfrm>
            <a:off x="457200" y="3392421"/>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4" name="TextBox 13"/>
          <p:cNvSpPr txBox="1"/>
          <p:nvPr/>
        </p:nvSpPr>
        <p:spPr>
          <a:xfrm>
            <a:off x="697347" y="3392421"/>
            <a:ext cx="6404848" cy="518159"/>
          </a:xfrm>
          <a:prstGeom prst="rect">
            <a:avLst/>
          </a:prstGeom>
          <a:noFill/>
        </p:spPr>
        <p:txBody>
          <a:bodyPr wrap="none" lIns="0" rIns="0">
            <a:noAutofit/>
          </a:bodyPr>
          <a:lstStyle/>
          <a:p>
            <a:pPr algn="l"/>
            <a:r>
              <a:rPr sz="3400" b="0" i="0">
                <a:solidFill>
                  <a:srgbClr val="D4D4D4"/>
                </a:solidFill>
                <a:latin typeface="Arial"/>
              </a:rPr>
              <a:t> open out/index.html</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The Seam Is Where It Breaks</a:t>
            </a:r>
          </a:p>
        </p:txBody>
      </p:sp>
      <p:sp>
        <p:nvSpPr>
          <p:cNvPr id="3" name="TextBox 2"/>
          <p:cNvSpPr txBox="1"/>
          <p:nvPr/>
        </p:nvSpPr>
        <p:spPr>
          <a:xfrm>
            <a:off x="457200" y="1908050"/>
            <a:ext cx="11665723" cy="518159"/>
          </a:xfrm>
          <a:prstGeom prst="rect">
            <a:avLst/>
          </a:prstGeom>
          <a:noFill/>
        </p:spPr>
        <p:txBody>
          <a:bodyPr wrap="none" lIns="0" rIns="0">
            <a:noAutofit/>
          </a:bodyPr>
          <a:lstStyle/>
          <a:p>
            <a:pPr algn="l"/>
            <a:r>
              <a:rPr sz="3400" b="0" i="0">
                <a:solidFill>
                  <a:srgbClr val="0A2240"/>
                </a:solidFill>
                <a:latin typeface="Arial"/>
              </a:rPr>
              <a:t>One step writes, the next cannot read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field is named two ways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One step assumes a list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 path is right on one machine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Debugging a Seam</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Open both files</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What was written, what was expected</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Fix the later step</a:t>
            </a:r>
          </a:p>
        </p:txBody>
      </p:sp>
      <p:sp>
        <p:nvSpPr>
          <p:cNvPr id="8" name="TextBox 7"/>
          <p:cNvSpPr txBox="1"/>
          <p:nvPr/>
        </p:nvSpPr>
        <p:spPr>
          <a:xfrm>
            <a:off x="1461983" y="3697224"/>
            <a:ext cx="10359529" cy="551688"/>
          </a:xfrm>
          <a:prstGeom prst="rect">
            <a:avLst/>
          </a:prstGeom>
          <a:noFill/>
        </p:spPr>
        <p:txBody>
          <a:bodyPr wrap="none" lIns="0" rIns="0">
            <a:noAutofit/>
          </a:bodyPr>
          <a:lstStyle/>
          <a:p>
            <a:pPr algn="l"/>
            <a:r>
              <a:rPr sz="3400" b="0" i="0">
                <a:solidFill>
                  <a:srgbClr val="0A2240"/>
                </a:solidFill>
                <a:latin typeface="Arial"/>
              </a:rPr>
              <a:t>Adapt downstream, not upstream</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Rerun from cold</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Never trust a partial run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Connect Early or Late</a:t>
            </a:r>
          </a:p>
        </p:txBody>
      </p:sp>
      <p:sp>
        <p:nvSpPr>
          <p:cNvPr id="3" name="TextBox 2"/>
          <p:cNvSpPr txBox="1"/>
          <p:nvPr/>
        </p:nvSpPr>
        <p:spPr>
          <a:xfrm>
            <a:off x="3406124" y="1499616"/>
            <a:ext cx="4751864" cy="518159"/>
          </a:xfrm>
          <a:prstGeom prst="rect">
            <a:avLst/>
          </a:prstGeom>
          <a:noFill/>
        </p:spPr>
        <p:txBody>
          <a:bodyPr wrap="none" lIns="0" rIns="0">
            <a:noAutofit/>
          </a:bodyPr>
          <a:lstStyle/>
          <a:p>
            <a:pPr algn="ctr"/>
            <a:r>
              <a:rPr sz="3400" b="1" i="0">
                <a:solidFill>
                  <a:srgbClr val="0A2240"/>
                </a:solidFill>
                <a:latin typeface="Arial"/>
              </a:rPr>
              <a:t>Connect early</a:t>
            </a:r>
          </a:p>
        </p:txBody>
      </p:sp>
      <p:sp>
        <p:nvSpPr>
          <p:cNvPr id="4" name="TextBox 3"/>
          <p:cNvSpPr txBox="1"/>
          <p:nvPr/>
        </p:nvSpPr>
        <p:spPr>
          <a:xfrm>
            <a:off x="7677575" y="1499616"/>
            <a:ext cx="4328834" cy="518159"/>
          </a:xfrm>
          <a:prstGeom prst="rect">
            <a:avLst/>
          </a:prstGeom>
          <a:noFill/>
        </p:spPr>
        <p:txBody>
          <a:bodyPr wrap="none" lIns="0" rIns="0">
            <a:noAutofit/>
          </a:bodyPr>
          <a:lstStyle/>
          <a:p>
            <a:pPr algn="ctr"/>
            <a:r>
              <a:rPr sz="3400" b="1" i="0">
                <a:solidFill>
                  <a:srgbClr val="0A2240"/>
                </a:solidFill>
                <a:latin typeface="Arial"/>
              </a:rPr>
              <a:t>Connect late</a:t>
            </a:r>
          </a:p>
        </p:txBody>
      </p:sp>
      <p:sp>
        <p:nvSpPr>
          <p:cNvPr id="5" name="Rectangle 4"/>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370104" cy="936752"/>
          </a:xfrm>
          <a:prstGeom prst="rect">
            <a:avLst/>
          </a:prstGeom>
          <a:noFill/>
        </p:spPr>
        <p:txBody>
          <a:bodyPr wrap="none" lIns="0" rIns="0">
            <a:noAutofit/>
          </a:bodyPr>
          <a:lstStyle/>
          <a:p>
            <a:pPr algn="l"/>
            <a:r>
              <a:rPr sz="3400" b="1" i="0">
                <a:solidFill>
                  <a:srgbClr val="0A2240"/>
                </a:solidFill>
                <a:latin typeface="Arial"/>
              </a:rPr>
              <a:t>Surprises</a:t>
            </a:r>
          </a:p>
        </p:txBody>
      </p:sp>
      <p:sp>
        <p:nvSpPr>
          <p:cNvPr id="7" name="Rectangle 6"/>
          <p:cNvSpPr/>
          <p:nvPr/>
        </p:nvSpPr>
        <p:spPr>
          <a:xfrm>
            <a:off x="4497693" y="2401823"/>
            <a:ext cx="2568725"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98983" y="2401823"/>
            <a:ext cx="3766145" cy="518159"/>
          </a:xfrm>
          <a:prstGeom prst="rect">
            <a:avLst/>
          </a:prstGeom>
          <a:noFill/>
        </p:spPr>
        <p:txBody>
          <a:bodyPr wrap="none" lIns="0" rIns="0">
            <a:noAutofit/>
          </a:bodyPr>
          <a:lstStyle/>
          <a:p>
            <a:pPr algn="ctr"/>
            <a:r>
              <a:rPr sz="3400" b="1" i="0">
                <a:solidFill>
                  <a:srgbClr val="FFFFFF"/>
                </a:solidFill>
                <a:latin typeface="Arial"/>
              </a:rPr>
              <a:t>Now, small</a:t>
            </a:r>
          </a:p>
        </p:txBody>
      </p:sp>
      <p:sp>
        <p:nvSpPr>
          <p:cNvPr id="9" name="TextBox 8"/>
          <p:cNvSpPr txBox="1"/>
          <p:nvPr/>
        </p:nvSpPr>
        <p:spPr>
          <a:xfrm>
            <a:off x="7949184" y="2401823"/>
            <a:ext cx="3785616" cy="936752"/>
          </a:xfrm>
          <a:prstGeom prst="rect">
            <a:avLst/>
          </a:prstGeom>
          <a:noFill/>
        </p:spPr>
        <p:txBody>
          <a:bodyPr wrap="none" lIns="0" rIns="0">
            <a:noAutofit/>
          </a:bodyPr>
          <a:lstStyle/>
          <a:p>
            <a:pPr algn="ctr"/>
            <a:r>
              <a:rPr sz="3400" b="0" i="0">
                <a:solidFill>
                  <a:srgbClr val="0A2240"/>
                </a:solidFill>
                <a:latin typeface="Arial"/>
              </a:rPr>
              <a:t>Late, large</a:t>
            </a:r>
          </a:p>
        </p:txBody>
      </p:sp>
      <p:sp>
        <p:nvSpPr>
          <p:cNvPr id="10" name="TextBox 9"/>
          <p:cNvSpPr txBox="1"/>
          <p:nvPr/>
        </p:nvSpPr>
        <p:spPr>
          <a:xfrm>
            <a:off x="457200" y="3612895"/>
            <a:ext cx="3157728" cy="936752"/>
          </a:xfrm>
          <a:prstGeom prst="rect">
            <a:avLst/>
          </a:prstGeom>
          <a:noFill/>
        </p:spPr>
        <p:txBody>
          <a:bodyPr wrap="none" lIns="0" rIns="0">
            <a:noAutofit/>
          </a:bodyPr>
          <a:lstStyle/>
          <a:p>
            <a:pPr algn="l"/>
            <a:r>
              <a:rPr sz="3400" b="1" i="0">
                <a:solidFill>
                  <a:srgbClr val="0A2240"/>
                </a:solidFill>
                <a:latin typeface="Arial"/>
              </a:rPr>
              <a:t>Rework</a:t>
            </a:r>
          </a:p>
        </p:txBody>
      </p:sp>
      <p:sp>
        <p:nvSpPr>
          <p:cNvPr id="11" name="TextBox 10"/>
          <p:cNvSpPr txBox="1"/>
          <p:nvPr/>
        </p:nvSpPr>
        <p:spPr>
          <a:xfrm>
            <a:off x="3889248" y="3612895"/>
            <a:ext cx="3785616" cy="936752"/>
          </a:xfrm>
          <a:prstGeom prst="rect">
            <a:avLst/>
          </a:prstGeom>
          <a:noFill/>
        </p:spPr>
        <p:txBody>
          <a:bodyPr wrap="none" lIns="0" rIns="0">
            <a:noAutofit/>
          </a:bodyPr>
          <a:lstStyle/>
          <a:p>
            <a:pPr algn="ctr"/>
            <a:r>
              <a:rPr sz="3400" b="0" i="0">
                <a:solidFill>
                  <a:srgbClr val="0A2240"/>
                </a:solidFill>
                <a:latin typeface="Arial"/>
              </a:rPr>
              <a:t>Cheap</a:t>
            </a:r>
          </a:p>
        </p:txBody>
      </p:sp>
      <p:sp>
        <p:nvSpPr>
          <p:cNvPr id="12" name="TextBox 11"/>
          <p:cNvSpPr txBox="1"/>
          <p:nvPr/>
        </p:nvSpPr>
        <p:spPr>
          <a:xfrm>
            <a:off x="7949184" y="3612895"/>
            <a:ext cx="3785616" cy="936752"/>
          </a:xfrm>
          <a:prstGeom prst="rect">
            <a:avLst/>
          </a:prstGeom>
          <a:noFill/>
        </p:spPr>
        <p:txBody>
          <a:bodyPr wrap="none" lIns="0" rIns="0">
            <a:noAutofit/>
          </a:bodyPr>
          <a:lstStyle/>
          <a:p>
            <a:pPr algn="ctr"/>
            <a:r>
              <a:rPr sz="3400" b="0" i="0">
                <a:solidFill>
                  <a:srgbClr val="0A2240"/>
                </a:solidFill>
                <a:latin typeface="Arial"/>
              </a:rPr>
              <a:t>Expensive</a:t>
            </a:r>
          </a:p>
        </p:txBody>
      </p:sp>
      <p:sp>
        <p:nvSpPr>
          <p:cNvPr id="13" name="TextBox 12"/>
          <p:cNvSpPr txBox="1"/>
          <p:nvPr/>
        </p:nvSpPr>
        <p:spPr>
          <a:xfrm>
            <a:off x="457200" y="4823967"/>
            <a:ext cx="3523595" cy="936752"/>
          </a:xfrm>
          <a:prstGeom prst="rect">
            <a:avLst/>
          </a:prstGeom>
          <a:noFill/>
        </p:spPr>
        <p:txBody>
          <a:bodyPr wrap="none" lIns="0" rIns="0">
            <a:noAutofit/>
          </a:bodyPr>
          <a:lstStyle/>
          <a:p>
            <a:pPr algn="l"/>
            <a:r>
              <a:rPr sz="3400" b="1" i="0">
                <a:solidFill>
                  <a:srgbClr val="0A2240"/>
                </a:solidFill>
                <a:latin typeface="Arial"/>
              </a:rPr>
              <a:t>Demo risk</a:t>
            </a:r>
          </a:p>
        </p:txBody>
      </p:sp>
      <p:sp>
        <p:nvSpPr>
          <p:cNvPr id="14" name="Rectangle 13"/>
          <p:cNvSpPr/>
          <p:nvPr/>
        </p:nvSpPr>
        <p:spPr>
          <a:xfrm>
            <a:off x="5185769" y="4823967"/>
            <a:ext cx="1192573"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99905" y="4823967"/>
            <a:ext cx="1564301" cy="518159"/>
          </a:xfrm>
          <a:prstGeom prst="rect">
            <a:avLst/>
          </a:prstGeom>
          <a:noFill/>
        </p:spPr>
        <p:txBody>
          <a:bodyPr wrap="none" lIns="0" rIns="0">
            <a:noAutofit/>
          </a:bodyPr>
          <a:lstStyle/>
          <a:p>
            <a:pPr algn="ctr"/>
            <a:r>
              <a:rPr sz="3400" b="1" i="0">
                <a:solidFill>
                  <a:srgbClr val="FFFFFF"/>
                </a:solidFill>
                <a:latin typeface="Arial"/>
              </a:rPr>
              <a:t>Low</a:t>
            </a:r>
          </a:p>
        </p:txBody>
      </p:sp>
      <p:sp>
        <p:nvSpPr>
          <p:cNvPr id="16" name="TextBox 15"/>
          <p:cNvSpPr txBox="1"/>
          <p:nvPr/>
        </p:nvSpPr>
        <p:spPr>
          <a:xfrm>
            <a:off x="7949184" y="4823967"/>
            <a:ext cx="3785616" cy="936752"/>
          </a:xfrm>
          <a:prstGeom prst="rect">
            <a:avLst/>
          </a:prstGeom>
          <a:noFill/>
        </p:spPr>
        <p:txBody>
          <a:bodyPr wrap="none" lIns="0" rIns="0">
            <a:noAutofit/>
          </a:bodyPr>
          <a:lstStyle/>
          <a:p>
            <a:pPr algn="ctr"/>
            <a:r>
              <a:rPr sz="3400" b="0" i="0">
                <a:solidFill>
                  <a:srgbClr val="0A2240"/>
                </a:solidFill>
                <a:latin typeface="Arial"/>
              </a:rPr>
              <a:t>High</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Four Smells</a:t>
            </a:r>
          </a:p>
        </p:txBody>
      </p:sp>
      <p:sp>
        <p:nvSpPr>
          <p:cNvPr id="3" name="TextBox 2"/>
          <p:cNvSpPr txBox="1"/>
          <p:nvPr/>
        </p:nvSpPr>
        <p:spPr>
          <a:xfrm>
            <a:off x="457200" y="1499616"/>
            <a:ext cx="3189961" cy="518159"/>
          </a:xfrm>
          <a:prstGeom prst="rect">
            <a:avLst/>
          </a:prstGeom>
          <a:noFill/>
        </p:spPr>
        <p:txBody>
          <a:bodyPr wrap="none" lIns="0" rIns="0">
            <a:noAutofit/>
          </a:bodyPr>
          <a:lstStyle/>
          <a:p>
            <a:pPr algn="l"/>
            <a:r>
              <a:rPr sz="3400" b="1" i="0">
                <a:solidFill>
                  <a:srgbClr val="0A2240"/>
                </a:solidFill>
                <a:latin typeface="Arial"/>
              </a:rPr>
              <a:t>Only Ana</a:t>
            </a:r>
          </a:p>
        </p:txBody>
      </p:sp>
      <p:sp>
        <p:nvSpPr>
          <p:cNvPr id="4" name="TextBox 3"/>
          <p:cNvSpPr txBox="1"/>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One person can run it</a:t>
            </a:r>
          </a:p>
        </p:txBody>
      </p:sp>
      <p:sp>
        <p:nvSpPr>
          <p:cNvPr id="5" name="TextBox 4"/>
          <p:cNvSpPr txBox="1"/>
          <p:nvPr/>
        </p:nvSpPr>
        <p:spPr>
          <a:xfrm>
            <a:off x="3345180" y="1499616"/>
            <a:ext cx="3688892" cy="518159"/>
          </a:xfrm>
          <a:prstGeom prst="rect">
            <a:avLst/>
          </a:prstGeom>
          <a:noFill/>
        </p:spPr>
        <p:txBody>
          <a:bodyPr wrap="none" lIns="0" rIns="0">
            <a:noAutofit/>
          </a:bodyPr>
          <a:lstStyle/>
          <a:p>
            <a:pPr algn="l"/>
            <a:r>
              <a:rPr sz="3400" b="1" i="0">
                <a:solidFill>
                  <a:srgbClr val="0A2240"/>
                </a:solidFill>
                <a:latin typeface="Arial"/>
              </a:rPr>
              <a:t>Warm only</a:t>
            </a:r>
          </a:p>
        </p:txBody>
      </p:sp>
      <p:sp>
        <p:nvSpPr>
          <p:cNvPr id="6" name="TextBox 5"/>
          <p:cNvSpPr txBox="1"/>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Fails from a clean start</a:t>
            </a:r>
          </a:p>
        </p:txBody>
      </p:sp>
      <p:sp>
        <p:nvSpPr>
          <p:cNvPr id="7" name="TextBox 6"/>
          <p:cNvSpPr txBox="1"/>
          <p:nvPr/>
        </p:nvSpPr>
        <p:spPr>
          <a:xfrm>
            <a:off x="6233160" y="1499616"/>
            <a:ext cx="2754788" cy="518159"/>
          </a:xfrm>
          <a:prstGeom prst="rect">
            <a:avLst/>
          </a:prstGeom>
          <a:noFill/>
        </p:spPr>
        <p:txBody>
          <a:bodyPr wrap="none" lIns="0" rIns="0">
            <a:noAutofit/>
          </a:bodyPr>
          <a:lstStyle/>
          <a:p>
            <a:pPr algn="l"/>
            <a:r>
              <a:rPr sz="3400" b="1" i="0">
                <a:solidFill>
                  <a:srgbClr val="0A2240"/>
                </a:solidFill>
                <a:latin typeface="Arial"/>
              </a:rPr>
              <a:t>In order</a:t>
            </a:r>
          </a:p>
        </p:txBody>
      </p:sp>
      <p:sp>
        <p:nvSpPr>
          <p:cNvPr id="8" name="TextBox 7"/>
          <p:cNvSpPr txBox="1"/>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You must know the sequence</a:t>
            </a:r>
          </a:p>
        </p:txBody>
      </p:sp>
      <p:sp>
        <p:nvSpPr>
          <p:cNvPr id="9" name="TextBox 8"/>
          <p:cNvSpPr txBox="1"/>
          <p:nvPr/>
        </p:nvSpPr>
        <p:spPr>
          <a:xfrm>
            <a:off x="9121140" y="1499616"/>
            <a:ext cx="2946737" cy="518159"/>
          </a:xfrm>
          <a:prstGeom prst="rect">
            <a:avLst/>
          </a:prstGeom>
          <a:noFill/>
        </p:spPr>
        <p:txBody>
          <a:bodyPr wrap="none" lIns="0" rIns="0">
            <a:noAutofit/>
          </a:bodyPr>
          <a:lstStyle/>
          <a:p>
            <a:pPr algn="l"/>
            <a:r>
              <a:rPr sz="3400" b="1" i="0">
                <a:solidFill>
                  <a:srgbClr val="0A2240"/>
                </a:solidFill>
                <a:latin typeface="Arial"/>
              </a:rPr>
              <a:t>One box</a:t>
            </a:r>
          </a:p>
        </p:txBody>
      </p:sp>
      <p:sp>
        <p:nvSpPr>
          <p:cNvPr id="10" name="TextBox 9"/>
          <p:cNvSpPr txBox="1"/>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A step still done by hand</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If You Are Behind</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Cut a box, not a corner</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Stub a whole step, keep the path whole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Shrink the input</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One page instead of the whole report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Never drop the commit</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A short path committed beats a long one lost</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Done Means All Four</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One command, start to finish</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Runs from an empty output dir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Someone else ran it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output is the real thing</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"If hands touch it, it is not connected."</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Objective two, restated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Commit It Immediately</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Works</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It ran end to end, cold, in front of you</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Right Now</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This is the version that works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next change may break it</a:t>
            </a:r>
          </a:p>
        </p:txBody>
      </p:sp>
      <p:sp>
        <p:nvSpPr>
          <p:cNvPr id="5" name="TextBox 4"/>
          <p:cNvSpPr txBox="1"/>
          <p:nvPr/>
        </p:nvSpPr>
        <p:spPr>
          <a:xfrm>
            <a:off x="457200" y="3858768"/>
            <a:ext cx="11486593" cy="518159"/>
          </a:xfrm>
          <a:prstGeom prst="rect">
            <a:avLst/>
          </a:prstGeom>
          <a:noFill/>
        </p:spPr>
        <p:txBody>
          <a:bodyPr wrap="none" lIns="0" rIns="0">
            <a:noAutofit/>
          </a:bodyPr>
          <a:lstStyle/>
          <a:p>
            <a:pPr algn="l"/>
            <a:r>
              <a:rPr sz="3400" b="0" i="0">
                <a:solidFill>
                  <a:srgbClr val="0A2240"/>
                </a:solidFill>
                <a:latin typeface="Arial"/>
              </a:rPr>
              <a:t>You will not remember what changed</a:t>
            </a:r>
          </a:p>
        </p:txBody>
      </p:sp>
      <p:sp>
        <p:nvSpPr>
          <p:cNvPr id="6" name="TextBox 5"/>
          <p:cNvSpPr txBox="1"/>
          <p:nvPr/>
        </p:nvSpPr>
        <p:spPr>
          <a:xfrm>
            <a:off x="457200" y="4834127"/>
            <a:ext cx="11550352" cy="518159"/>
          </a:xfrm>
          <a:prstGeom prst="rect">
            <a:avLst/>
          </a:prstGeom>
          <a:noFill/>
        </p:spPr>
        <p:txBody>
          <a:bodyPr wrap="none" lIns="0" rIns="0">
            <a:noAutofit/>
          </a:bodyPr>
          <a:lstStyle/>
          <a:p>
            <a:pPr algn="l"/>
            <a:r>
              <a:rPr sz="3400" b="0" i="0">
                <a:solidFill>
                  <a:srgbClr val="0A2240"/>
                </a:solidFill>
                <a:latin typeface="Arial"/>
              </a:rPr>
              <a:t>A demo needs a known-good commit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Commit Ritual</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Stop typing</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Hands off the keyboard, it works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Commit and push</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Message says what now works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Then keep going</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Anything new lands on top of it</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Sixty seconds of insurance</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9207163" cy="518159"/>
          </a:xfrm>
          <a:prstGeom prst="rect">
            <a:avLst/>
          </a:prstGeom>
          <a:noFill/>
        </p:spPr>
        <p:txBody>
          <a:bodyPr wrap="none" lIns="0" rIns="0">
            <a:noAutofit/>
          </a:bodyPr>
          <a:lstStyle/>
          <a:p>
            <a:pPr algn="l"/>
            <a:r>
              <a:rPr sz="3400" b="0" i="0">
                <a:solidFill>
                  <a:srgbClr val="D4D4D4"/>
                </a:solidFill>
                <a:latin typeface="Arial"/>
              </a:rPr>
              <a:t> git add run.py steps/ fixtures/</a:t>
            </a:r>
          </a:p>
        </p:txBody>
      </p:sp>
      <p:sp>
        <p:nvSpPr>
          <p:cNvPr id="8" name="TextBox 7"/>
          <p:cNvSpPr txBox="1"/>
          <p:nvPr/>
        </p:nvSpPr>
        <p:spPr>
          <a:xfrm>
            <a:off x="457200" y="2356103"/>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9" name="TextBox 8"/>
          <p:cNvSpPr txBox="1"/>
          <p:nvPr/>
        </p:nvSpPr>
        <p:spPr>
          <a:xfrm>
            <a:off x="697347" y="2356103"/>
            <a:ext cx="11494653" cy="518159"/>
          </a:xfrm>
          <a:prstGeom prst="rect">
            <a:avLst/>
          </a:prstGeom>
          <a:noFill/>
        </p:spPr>
        <p:txBody>
          <a:bodyPr wrap="none" lIns="0" rIns="0">
            <a:noAutofit/>
          </a:bodyPr>
          <a:lstStyle/>
          <a:p>
            <a:pPr algn="l"/>
            <a:r>
              <a:rPr sz="3400" b="0" i="0">
                <a:solidFill>
                  <a:srgbClr val="D4D4D4"/>
                </a:solidFill>
                <a:latin typeface="Arial"/>
              </a:rPr>
              <a:t> git commit -m "happy path runs cold"</a:t>
            </a:r>
          </a:p>
        </p:txBody>
      </p:sp>
      <p:sp>
        <p:nvSpPr>
          <p:cNvPr id="10" name="TextBox 9"/>
          <p:cNvSpPr txBox="1"/>
          <p:nvPr/>
        </p:nvSpPr>
        <p:spPr>
          <a:xfrm>
            <a:off x="457200" y="2874262"/>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1" name="TextBox 10"/>
          <p:cNvSpPr txBox="1"/>
          <p:nvPr/>
        </p:nvSpPr>
        <p:spPr>
          <a:xfrm>
            <a:off x="697347" y="2874262"/>
            <a:ext cx="7171968" cy="518159"/>
          </a:xfrm>
          <a:prstGeom prst="rect">
            <a:avLst/>
          </a:prstGeom>
          <a:noFill/>
        </p:spPr>
        <p:txBody>
          <a:bodyPr wrap="none" lIns="0" rIns="0">
            <a:noAutofit/>
          </a:bodyPr>
          <a:lstStyle/>
          <a:p>
            <a:pPr algn="l"/>
            <a:r>
              <a:rPr sz="3400" b="0" i="0">
                <a:solidFill>
                  <a:srgbClr val="D4D4D4"/>
                </a:solidFill>
                <a:latin typeface="Arial"/>
              </a:rPr>
              <a:t> git push -u origin main</a:t>
            </a:r>
          </a:p>
        </p:txBody>
      </p:sp>
      <p:sp>
        <p:nvSpPr>
          <p:cNvPr id="12" name="TextBox 11"/>
          <p:cNvSpPr txBox="1"/>
          <p:nvPr/>
        </p:nvSpPr>
        <p:spPr>
          <a:xfrm>
            <a:off x="457200" y="3392421"/>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3" name="TextBox 12"/>
          <p:cNvSpPr txBox="1"/>
          <p:nvPr/>
        </p:nvSpPr>
        <p:spPr>
          <a:xfrm>
            <a:off x="697347" y="3392421"/>
            <a:ext cx="11494653" cy="518159"/>
          </a:xfrm>
          <a:prstGeom prst="rect">
            <a:avLst/>
          </a:prstGeom>
          <a:noFill/>
        </p:spPr>
        <p:txBody>
          <a:bodyPr wrap="none" lIns="0" rIns="0">
            <a:noAutofit/>
          </a:bodyPr>
          <a:lstStyle/>
          <a:p>
            <a:pPr algn="l"/>
            <a:r>
              <a:rPr sz="3400" b="0" i="0">
                <a:solidFill>
                  <a:srgbClr val="D4D4D4"/>
                </a:solidFill>
                <a:latin typeface="Arial"/>
              </a:rPr>
              <a:t> git tag happy-path &amp;&amp; git push --tags</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the repo looks like now</a:t>
            </a:r>
          </a:p>
        </p:txBody>
      </p:sp>
      <p:sp>
        <p:nvSpPr>
          <p:cNvPr id="3" name="Rounded Rectangle 2"/>
          <p:cNvSpPr/>
          <p:nvPr/>
        </p:nvSpPr>
        <p:spPr>
          <a:xfrm>
            <a:off x="457200" y="1499616"/>
            <a:ext cx="11277600" cy="4261104"/>
          </a:xfrm>
          <a:prstGeom prst="roundRect">
            <a:avLst>
              <a:gd name="adj" fmla="val 3004"/>
            </a:avLst>
          </a:prstGeom>
          <a:solidFill>
            <a:srgbClr val="0C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19656"/>
            <a:ext cx="3670360" cy="396240"/>
          </a:xfrm>
          <a:prstGeom prst="rect">
            <a:avLst/>
          </a:prstGeom>
          <a:noFill/>
        </p:spPr>
        <p:txBody>
          <a:bodyPr wrap="none" lIns="0" rIns="0">
            <a:noAutofit/>
          </a:bodyPr>
          <a:lstStyle/>
          <a:p>
            <a:pPr algn="l"/>
            <a:r>
              <a:rPr sz="2600" b="1" i="0">
                <a:solidFill>
                  <a:srgbClr val="569CD6"/>
                </a:solidFill>
                <a:latin typeface="Courier New"/>
              </a:rPr>
              <a:t>happy-path/</a:t>
            </a:r>
          </a:p>
        </p:txBody>
      </p:sp>
      <p:sp>
        <p:nvSpPr>
          <p:cNvPr id="5" name="TextBox 4"/>
          <p:cNvSpPr txBox="1"/>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6" name="TextBox 5"/>
          <p:cNvSpPr txBox="1"/>
          <p:nvPr/>
        </p:nvSpPr>
        <p:spPr>
          <a:xfrm>
            <a:off x="1417417" y="2215896"/>
            <a:ext cx="3036272" cy="396240"/>
          </a:xfrm>
          <a:prstGeom prst="rect">
            <a:avLst/>
          </a:prstGeom>
          <a:noFill/>
        </p:spPr>
        <p:txBody>
          <a:bodyPr wrap="none" lIns="0" rIns="0">
            <a:noAutofit/>
          </a:bodyPr>
          <a:lstStyle/>
          <a:p>
            <a:pPr algn="l"/>
            <a:r>
              <a:rPr sz="2600" b="1" i="0">
                <a:solidFill>
                  <a:srgbClr val="569CD6"/>
                </a:solidFill>
                <a:latin typeface="Courier New"/>
              </a:rPr>
              <a:t>fixtures/</a:t>
            </a:r>
          </a:p>
        </p:txBody>
      </p:sp>
      <p:sp>
        <p:nvSpPr>
          <p:cNvPr id="7" name="TextBox 6"/>
          <p:cNvSpPr txBox="1"/>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8" name="TextBox 7"/>
          <p:cNvSpPr txBox="1"/>
          <p:nvPr/>
        </p:nvSpPr>
        <p:spPr>
          <a:xfrm>
            <a:off x="2011873" y="2612136"/>
            <a:ext cx="3353315" cy="396240"/>
          </a:xfrm>
          <a:prstGeom prst="rect">
            <a:avLst/>
          </a:prstGeom>
          <a:noFill/>
        </p:spPr>
        <p:txBody>
          <a:bodyPr wrap="none" lIns="0" rIns="0">
            <a:noAutofit/>
          </a:bodyPr>
          <a:lstStyle/>
          <a:p>
            <a:pPr algn="l"/>
            <a:r>
              <a:rPr sz="2600" b="0" i="0">
                <a:solidFill>
                  <a:srgbClr val="D4D4D4"/>
                </a:solidFill>
                <a:latin typeface="Courier New"/>
              </a:rPr>
              <a:t>report.pdf</a:t>
            </a:r>
          </a:p>
        </p:txBody>
      </p:sp>
      <p:sp>
        <p:nvSpPr>
          <p:cNvPr id="9" name="TextBox 8"/>
          <p:cNvSpPr txBox="1"/>
          <p:nvPr/>
        </p:nvSpPr>
        <p:spPr>
          <a:xfrm>
            <a:off x="822960" y="300837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0" name="TextBox 9"/>
          <p:cNvSpPr txBox="1"/>
          <p:nvPr/>
        </p:nvSpPr>
        <p:spPr>
          <a:xfrm>
            <a:off x="1417417" y="3008376"/>
            <a:ext cx="2085140" cy="396240"/>
          </a:xfrm>
          <a:prstGeom prst="rect">
            <a:avLst/>
          </a:prstGeom>
          <a:noFill/>
        </p:spPr>
        <p:txBody>
          <a:bodyPr wrap="none" lIns="0" rIns="0">
            <a:noAutofit/>
          </a:bodyPr>
          <a:lstStyle/>
          <a:p>
            <a:pPr algn="l"/>
            <a:r>
              <a:rPr sz="2600" b="1" i="0">
                <a:solidFill>
                  <a:srgbClr val="569CD6"/>
                </a:solidFill>
                <a:latin typeface="Courier New"/>
              </a:rPr>
              <a:t>steps/</a:t>
            </a:r>
          </a:p>
        </p:txBody>
      </p:sp>
      <p:sp>
        <p:nvSpPr>
          <p:cNvPr id="11" name="TextBox 10"/>
          <p:cNvSpPr txBox="1"/>
          <p:nvPr/>
        </p:nvSpPr>
        <p:spPr>
          <a:xfrm>
            <a:off x="822960" y="340461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2" name="TextBox 11"/>
          <p:cNvSpPr txBox="1"/>
          <p:nvPr/>
        </p:nvSpPr>
        <p:spPr>
          <a:xfrm>
            <a:off x="2011873" y="3404616"/>
            <a:ext cx="3353315" cy="396240"/>
          </a:xfrm>
          <a:prstGeom prst="rect">
            <a:avLst/>
          </a:prstGeom>
          <a:noFill/>
        </p:spPr>
        <p:txBody>
          <a:bodyPr wrap="none" lIns="0" rIns="0">
            <a:noAutofit/>
          </a:bodyPr>
          <a:lstStyle/>
          <a:p>
            <a:pPr algn="l"/>
            <a:r>
              <a:rPr sz="2600" b="0" i="0">
                <a:solidFill>
                  <a:srgbClr val="D4D4D4"/>
                </a:solidFill>
                <a:latin typeface="Courier New"/>
              </a:rPr>
              <a:t>extract.py</a:t>
            </a:r>
          </a:p>
        </p:txBody>
      </p:sp>
      <p:sp>
        <p:nvSpPr>
          <p:cNvPr id="13" name="TextBox 12"/>
          <p:cNvSpPr txBox="1"/>
          <p:nvPr/>
        </p:nvSpPr>
        <p:spPr>
          <a:xfrm>
            <a:off x="822960" y="380085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4" name="TextBox 13"/>
          <p:cNvSpPr txBox="1"/>
          <p:nvPr/>
        </p:nvSpPr>
        <p:spPr>
          <a:xfrm>
            <a:off x="2011873" y="3800856"/>
            <a:ext cx="3036272" cy="396240"/>
          </a:xfrm>
          <a:prstGeom prst="rect">
            <a:avLst/>
          </a:prstGeom>
          <a:noFill/>
        </p:spPr>
        <p:txBody>
          <a:bodyPr wrap="none" lIns="0" rIns="0">
            <a:noAutofit/>
          </a:bodyPr>
          <a:lstStyle/>
          <a:p>
            <a:pPr algn="l"/>
            <a:r>
              <a:rPr sz="2600" b="0" i="0">
                <a:solidFill>
                  <a:srgbClr val="D4D4D4"/>
                </a:solidFill>
                <a:latin typeface="Courier New"/>
              </a:rPr>
              <a:t>render.py</a:t>
            </a:r>
          </a:p>
        </p:txBody>
      </p:sp>
      <p:sp>
        <p:nvSpPr>
          <p:cNvPr id="15" name="TextBox 14"/>
          <p:cNvSpPr txBox="1"/>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6" name="TextBox 15"/>
          <p:cNvSpPr txBox="1"/>
          <p:nvPr/>
        </p:nvSpPr>
        <p:spPr>
          <a:xfrm>
            <a:off x="1417417" y="4197096"/>
            <a:ext cx="2085140" cy="396240"/>
          </a:xfrm>
          <a:prstGeom prst="rect">
            <a:avLst/>
          </a:prstGeom>
          <a:noFill/>
        </p:spPr>
        <p:txBody>
          <a:bodyPr wrap="none" lIns="0" rIns="0">
            <a:noAutofit/>
          </a:bodyPr>
          <a:lstStyle/>
          <a:p>
            <a:pPr algn="l"/>
            <a:r>
              <a:rPr sz="2600" b="0" i="0">
                <a:solidFill>
                  <a:srgbClr val="D4D4D4"/>
                </a:solidFill>
                <a:latin typeface="Courier New"/>
              </a:rPr>
              <a:t>run.py</a:t>
            </a:r>
          </a:p>
        </p:txBody>
      </p:sp>
      <p:sp>
        <p:nvSpPr>
          <p:cNvPr id="17" name="TextBox 16"/>
          <p:cNvSpPr txBox="1"/>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8" name="TextBox 17"/>
          <p:cNvSpPr txBox="1"/>
          <p:nvPr/>
        </p:nvSpPr>
        <p:spPr>
          <a:xfrm>
            <a:off x="1417417" y="459333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the Message Should Say</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What input it accepts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What output it produces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What is still stubbed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 how clever it is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Before and After the Commit</a:t>
            </a:r>
          </a:p>
        </p:txBody>
      </p:sp>
      <p:sp>
        <p:nvSpPr>
          <p:cNvPr id="3" name="TextBox 2"/>
          <p:cNvSpPr txBox="1"/>
          <p:nvPr/>
        </p:nvSpPr>
        <p:spPr>
          <a:xfrm>
            <a:off x="457200" y="1499616"/>
            <a:ext cx="6286102" cy="621791"/>
          </a:xfrm>
          <a:prstGeom prst="rect">
            <a:avLst/>
          </a:prstGeom>
          <a:noFill/>
        </p:spPr>
        <p:txBody>
          <a:bodyPr wrap="none" lIns="0" rIns="0">
            <a:noAutofit/>
          </a:bodyPr>
          <a:lstStyle/>
          <a:p>
            <a:pPr algn="l"/>
            <a:r>
              <a:rPr sz="3400" b="1" i="0">
                <a:solidFill>
                  <a:srgbClr val="5B6B82"/>
                </a:solidFill>
                <a:latin typeface="Arial"/>
              </a:rPr>
              <a:t>Before committing</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709920" cy="621791"/>
          </a:xfrm>
          <a:prstGeom prst="rect">
            <a:avLst/>
          </a:prstGeom>
          <a:noFill/>
        </p:spPr>
        <p:txBody>
          <a:bodyPr wrap="none" lIns="0" rIns="0">
            <a:noAutofit/>
          </a:bodyPr>
          <a:lstStyle/>
          <a:p>
            <a:pPr algn="l"/>
            <a:r>
              <a:rPr sz="3400" b="1" i="0">
                <a:solidFill>
                  <a:srgbClr val="0072CE"/>
                </a:solidFill>
                <a:latin typeface="Arial"/>
              </a:rPr>
              <a:t>After committing</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674836" cy="609600"/>
          </a:xfrm>
          <a:prstGeom prst="rect">
            <a:avLst/>
          </a:prstGeom>
          <a:noFill/>
        </p:spPr>
        <p:txBody>
          <a:bodyPr wrap="none" lIns="0" rIns="0">
            <a:noAutofit/>
          </a:bodyPr>
          <a:lstStyle/>
          <a:p>
            <a:pPr algn="l"/>
            <a:r>
              <a:rPr sz="3400" b="0" i="0">
                <a:solidFill>
                  <a:srgbClr val="0A2240"/>
                </a:solidFill>
                <a:latin typeface="Arial"/>
              </a:rPr>
              <a:t>Nothing else at all</a:t>
            </a:r>
          </a:p>
        </p:txBody>
      </p:sp>
      <p:sp>
        <p:nvSpPr>
          <p:cNvPr id="8" name="TextBox 7"/>
          <p:cNvSpPr txBox="1"/>
          <p:nvPr/>
        </p:nvSpPr>
        <p:spPr>
          <a:xfrm>
            <a:off x="457200" y="3608831"/>
            <a:ext cx="7479625" cy="609600"/>
          </a:xfrm>
          <a:prstGeom prst="rect">
            <a:avLst/>
          </a:prstGeom>
          <a:noFill/>
        </p:spPr>
        <p:txBody>
          <a:bodyPr wrap="none" lIns="0" rIns="0">
            <a:noAutofit/>
          </a:bodyPr>
          <a:lstStyle/>
          <a:p>
            <a:pPr algn="l"/>
            <a:r>
              <a:rPr sz="3400" b="0" i="0">
                <a:solidFill>
                  <a:srgbClr val="0A2240"/>
                </a:solidFill>
                <a:latin typeface="Arial"/>
              </a:rPr>
              <a:t>No tidying, no renaming</a:t>
            </a:r>
          </a:p>
        </p:txBody>
      </p:sp>
      <p:sp>
        <p:nvSpPr>
          <p:cNvPr id="9" name="TextBox 8"/>
          <p:cNvSpPr txBox="1"/>
          <p:nvPr/>
        </p:nvSpPr>
        <p:spPr>
          <a:xfrm>
            <a:off x="457200" y="4821935"/>
            <a:ext cx="6863635" cy="609600"/>
          </a:xfrm>
          <a:prstGeom prst="rect">
            <a:avLst/>
          </a:prstGeom>
          <a:noFill/>
        </p:spPr>
        <p:txBody>
          <a:bodyPr wrap="none" lIns="0" rIns="0">
            <a:noAutofit/>
          </a:bodyPr>
          <a:lstStyle/>
          <a:p>
            <a:pPr algn="l"/>
            <a:r>
              <a:rPr sz="3400" b="0" i="0">
                <a:solidFill>
                  <a:srgbClr val="0A2240"/>
                </a:solidFill>
                <a:latin typeface="Arial"/>
              </a:rPr>
              <a:t>No one more small fix</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Everything you want</a:t>
            </a:r>
          </a:p>
        </p:txBody>
      </p:sp>
      <p:sp>
        <p:nvSpPr>
          <p:cNvPr id="11" name="TextBox 10"/>
          <p:cNvSpPr txBox="1"/>
          <p:nvPr/>
        </p:nvSpPr>
        <p:spPr>
          <a:xfrm>
            <a:off x="6233160" y="3608831"/>
            <a:ext cx="5501640" cy="609600"/>
          </a:xfrm>
          <a:prstGeom prst="rect">
            <a:avLst/>
          </a:prstGeom>
          <a:noFill/>
        </p:spPr>
        <p:txBody>
          <a:bodyPr wrap="none" lIns="0" rIns="0">
            <a:noAutofit/>
          </a:bodyPr>
          <a:lstStyle/>
          <a:p>
            <a:pPr algn="l"/>
            <a:r>
              <a:rPr sz="3400" b="0" i="0">
                <a:solidFill>
                  <a:srgbClr val="0A2240"/>
                </a:solidFill>
                <a:latin typeface="Arial"/>
              </a:rPr>
              <a:t>Break it freely</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You can always get back</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93852" cy="768096"/>
          </a:xfrm>
          <a:prstGeom prst="rect">
            <a:avLst/>
          </a:prstGeom>
          <a:noFill/>
        </p:spPr>
        <p:txBody>
          <a:bodyPr wrap="none" lIns="0" rIns="0">
            <a:noAutofit/>
          </a:bodyPr>
          <a:lstStyle/>
          <a:p>
            <a:pPr algn="l"/>
            <a:r>
              <a:rPr sz="4200" b="1" i="0">
                <a:solidFill>
                  <a:srgbClr val="0072CE"/>
                </a:solidFill>
                <a:latin typeface="Arial"/>
              </a:rPr>
              <a:t>What the Commit Buys You</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A place to stand</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Every later change can be undone to here</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A shared build</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Teammates start from what already works</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A safe demo</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A known-good tag if tomorrow goes wrong</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Then, and Only Then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Add a second input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Handle the obvious failure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Make the output look right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Start on the demo wrapper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This Down Now</a:t>
            </a:r>
          </a:p>
        </p:txBody>
      </p:sp>
      <p:sp>
        <p:nvSpPr>
          <p:cNvPr id="3" name="TextBox 2"/>
          <p:cNvSpPr txBox="1"/>
          <p:nvPr/>
        </p:nvSpPr>
        <p:spPr>
          <a:xfrm>
            <a:off x="457200" y="1499616"/>
            <a:ext cx="4302562"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4" name="TextBox 3"/>
          <p:cNvSpPr txBox="1"/>
          <p:nvPr/>
        </p:nvSpPr>
        <p:spPr>
          <a:xfrm>
            <a:off x="5308402" y="1499616"/>
            <a:ext cx="4278233" cy="518159"/>
          </a:xfrm>
          <a:prstGeom prst="rect">
            <a:avLst/>
          </a:prstGeom>
          <a:noFill/>
        </p:spPr>
        <p:txBody>
          <a:bodyPr wrap="none" lIns="0" rIns="0">
            <a:noAutofit/>
          </a:bodyPr>
          <a:lstStyle/>
          <a:p>
            <a:pPr algn="l"/>
            <a:r>
              <a:rPr sz="3400" b="1" i="0">
                <a:solidFill>
                  <a:srgbClr val="123A6B"/>
                </a:solidFill>
                <a:latin typeface="Arial"/>
              </a:rPr>
              <a:t>Your answer</a:t>
            </a:r>
          </a:p>
        </p:txBody>
      </p:sp>
      <p:sp>
        <p:nvSpPr>
          <p:cNvPr id="5" name="Rectangle 4"/>
          <p:cNvSpPr/>
          <p:nvPr/>
        </p:nvSpPr>
        <p:spPr>
          <a:xfrm>
            <a:off x="457200" y="2072639"/>
            <a:ext cx="7776558"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175568" cy="633984"/>
          </a:xfrm>
          <a:prstGeom prst="rect">
            <a:avLst/>
          </a:prstGeom>
          <a:noFill/>
        </p:spPr>
        <p:txBody>
          <a:bodyPr wrap="none" lIns="0" rIns="0">
            <a:noAutofit/>
          </a:bodyPr>
          <a:lstStyle/>
          <a:p>
            <a:pPr algn="l"/>
            <a:r>
              <a:rPr sz="3400" b="0" i="0">
                <a:solidFill>
                  <a:srgbClr val="0A2240"/>
                </a:solidFill>
                <a:latin typeface="Arial"/>
              </a:rPr>
              <a:t>The frozen input</a:t>
            </a:r>
          </a:p>
        </p:txBody>
      </p:sp>
      <p:sp>
        <p:nvSpPr>
          <p:cNvPr id="7" name="TextBox 6"/>
          <p:cNvSpPr txBox="1"/>
          <p:nvPr/>
        </p:nvSpPr>
        <p:spPr>
          <a:xfrm>
            <a:off x="5308402" y="2401823"/>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8" name="TextBox 7"/>
          <p:cNvSpPr txBox="1"/>
          <p:nvPr/>
        </p:nvSpPr>
        <p:spPr>
          <a:xfrm>
            <a:off x="457200" y="3310127"/>
            <a:ext cx="5943361" cy="633984"/>
          </a:xfrm>
          <a:prstGeom prst="rect">
            <a:avLst/>
          </a:prstGeom>
          <a:noFill/>
        </p:spPr>
        <p:txBody>
          <a:bodyPr wrap="none" lIns="0" rIns="0">
            <a:noAutofit/>
          </a:bodyPr>
          <a:lstStyle/>
          <a:p>
            <a:pPr algn="l"/>
            <a:r>
              <a:rPr sz="3400" b="0" i="0">
                <a:solidFill>
                  <a:srgbClr val="0A2240"/>
                </a:solidFill>
                <a:latin typeface="Arial"/>
              </a:rPr>
              <a:t>The one command</a:t>
            </a:r>
          </a:p>
        </p:txBody>
      </p:sp>
      <p:sp>
        <p:nvSpPr>
          <p:cNvPr id="9" name="TextBox 8"/>
          <p:cNvSpPr txBox="1"/>
          <p:nvPr/>
        </p:nvSpPr>
        <p:spPr>
          <a:xfrm>
            <a:off x="5308402" y="3310127"/>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0" name="TextBox 9"/>
          <p:cNvSpPr txBox="1"/>
          <p:nvPr/>
        </p:nvSpPr>
        <p:spPr>
          <a:xfrm>
            <a:off x="457200" y="4218431"/>
            <a:ext cx="6481763" cy="633984"/>
          </a:xfrm>
          <a:prstGeom prst="rect">
            <a:avLst/>
          </a:prstGeom>
          <a:noFill/>
        </p:spPr>
        <p:txBody>
          <a:bodyPr wrap="none" lIns="0" rIns="0">
            <a:noAutofit/>
          </a:bodyPr>
          <a:lstStyle/>
          <a:p>
            <a:pPr algn="l"/>
            <a:r>
              <a:rPr sz="3400" b="0" i="0">
                <a:solidFill>
                  <a:srgbClr val="0A2240"/>
                </a:solidFill>
                <a:latin typeface="Arial"/>
              </a:rPr>
              <a:t>The known-good tag</a:t>
            </a:r>
          </a:p>
        </p:txBody>
      </p:sp>
      <p:sp>
        <p:nvSpPr>
          <p:cNvPr id="11" name="TextBox 10"/>
          <p:cNvSpPr txBox="1"/>
          <p:nvPr/>
        </p:nvSpPr>
        <p:spPr>
          <a:xfrm>
            <a:off x="5308402" y="4218431"/>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2" name="TextBox 11"/>
          <p:cNvSpPr txBox="1"/>
          <p:nvPr/>
        </p:nvSpPr>
        <p:spPr>
          <a:xfrm>
            <a:off x="457200" y="5126735"/>
            <a:ext cx="5675510" cy="633984"/>
          </a:xfrm>
          <a:prstGeom prst="rect">
            <a:avLst/>
          </a:prstGeom>
          <a:noFill/>
        </p:spPr>
        <p:txBody>
          <a:bodyPr wrap="none" lIns="0" rIns="0">
            <a:noAutofit/>
          </a:bodyPr>
          <a:lstStyle/>
          <a:p>
            <a:pPr algn="l"/>
            <a:r>
              <a:rPr sz="3400" b="0" i="0">
                <a:solidFill>
                  <a:srgbClr val="0A2240"/>
                </a:solidFill>
                <a:latin typeface="Arial"/>
              </a:rPr>
              <a:t>Still done by hand</a:t>
            </a:r>
          </a:p>
        </p:txBody>
      </p:sp>
      <p:sp>
        <p:nvSpPr>
          <p:cNvPr id="13" name="TextBox 12"/>
          <p:cNvSpPr txBox="1"/>
          <p:nvPr/>
        </p:nvSpPr>
        <p:spPr>
          <a:xfrm>
            <a:off x="5308402" y="5126735"/>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50</a:t>
            </a:fld>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Leaving This Session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One input, frozen in the repo</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One command runs it all</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It works from a cold start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is committed and pushed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51</a:t>
            </a:fld>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Could a stranger run it?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52</a:t>
            </a:fld>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Next: Making It Demoable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front end a stranger can drive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public URL, not your laptop</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three-minute demo script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 honest list of what is faked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53</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