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2.2, the Happy Path. It is the first session of the week where we write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Fifty-five minutes, and by the end one known-good input travels your whole map and comes out the far end without anyone touching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session. We pick one known-good input, build each step against it, connect the steps end to end, and commit the moment it works.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your one input? Not a category of inputs — one specific file, message or URL.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gave every step a tool. Tools sitting side by side are not a prototype; the prototype appears when one input crosses all of them without help.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choose one input and freeze it, build one step at a time, chain them so no hands are left in the middle, and commit the second it 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hour runs in four blocks. Freeze the input by ten past, build steps until 10:35, connect from a cold start, and commit and tag by 10:50. If you are still building steps at 10:35, cut a box.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work. Only then, anything else. Working comes before right, and right comes before fast — today ends at the first word.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one known-good input, chosen and frozen.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happy path is the one route through your system where nothing goes wrong.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not the average case, not most of your inputs, not robust to anything, and not what you ship later. It is allowed to be embarrassingly narrow.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to choose it. Take a real one, from the actual problem rather than invented. Check it is boring — nothing weird, nothing missing. Then freeze it in the repo, so it is the same bytes for everyone all 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input is small enough to read fully, real enough to be convincing, boring enough to always work, and fixed so results can be compared.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commands and thirty seconds: make a fixtures folder, copy the file in, add it, and commit it. After that nobody argues about inputs for the rest of the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one input all the way, the steps from your map, and whatever is ugliest. Not today: edge cases, error handling, and a second input.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ban list for this hour. No try or catch anywhere. No configuration files. No second input to test. And no renaming or refactoring.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 is an agent that edits and runs your repo. It is not autocomplete — it reads files, writes them, and runs commands.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in every request. Name the one step, by its box on your map. Give it the contract — what comes in and what goes out. And point at the input, the frozen file, by path.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can read anything you put in the repo, so give it four things: the map as a file, the contracts between steps, the frozen input by path, and the command that proves it ran.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ask. Vague: “parse the document”, “make it handle PDFs”. Specific: “read fixtures slash report dot pdf”, “return title and date”, “write it to out dot 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request worth making. Read the file, pull out title, author and date, write them to a named output — and run it and show me the file.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for driving it. One step per ask, never two boxes at once. Make it run, and ask for the output rather than a description. And reset rather than nudge — if two tries fail, restate the whole ask.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common failures and their fixes. It invented a file, so name paths. It over-built, so say what to skip. It cannot run, so give it the command. It is looping, so restate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move to the next box: you ran it yourself just now, the output file exists, you read the output, and it matches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connecting the steps so one input reaches the output with nobody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steps work individually. So where do hands still touch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manual step is anything a person does between two steps. Renaming a file counts. Opening a tab counts.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that hide in plain sight: copying output into the next box, renaming a file by hand, pasting into a chat window, and simply knowing to run them in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demo. The narrated one, where you say “and now I open this”. And the one that runs once — one command, done.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in order. Write the contracts down, meaning what each step leaves behind. Chain two, then three, adding one box at a time. Then run it from cold, deleting the outputs and starting over.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seams down with real filenames. Ingest leaves raw JSON, extract leaves fields, reason leaves an answer, render leaves the page.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path in one command. Clear the output directory, run it against the frozen input, four steps report ok, and open the result. That first line is what proves it runs from cold rather than from leftovers.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Seams are where it breaks, and they are mismatches rather than bugs. One step writes something the next cannot read, a field is named two ways, a step assumes a list, or a path is only right on one machine.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Debugging a seam is three steps. Open both files — what was written and what was expected. Fix the later step, adapting downstream rather than upstream. Then rerun from cold, because a partial run proves nothing.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Connecting early means surprises now and small, cheap rework, and low demo risk. Connecting late means surprises late and large, expensive rework, and high demo risk.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smells that look connected and are not. Only one person can run it. It fails from a clean start. You have to know the sequence. Or one box is still done by hand.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cut a box rather than a corner, stubbing a whole step so the path stays whole. Shrink the input, one page instead of the whole report. And never drop the commit — a short path committed beats a long one lost.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Done means all four: one command start to finish, it runs from an empty output directory, someone else has run it, and the output is the real thing.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hands touch it, it is not connected. That one small copy-paste does count.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and it is a short one with an absolute rule: commit the moment it works.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 means it ran end to end, from cold, in front of you. Not “should work”, not “worked earlier”.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right now: this is the version that works, the next change may break it, you will not remember what you changed, and a demo needs a known-good commit.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deliberately ceremonial. Stop typing — hands off the keyboard, it works. Commit and push, with a message saying what now works. Then keep going, and anything new lands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of insurance. Add the pipeline by explicit path, commit, push, and tag it — because the tag gives your demo a name to fall back to.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prototype, seven entries. If your repo is much bigger than this by 10:50, you built something other than the happy path.</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message should say what input it accepts, what output it produces, and what is still stubbed. Not how clever it 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committing: nothing else at all, no tidying, no renaming, not one more small fix. After committing: everything you want, break it freely, you can always get back.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commit buys you three things. A place to stand, since every later change can be undone to here. A shared build, so teammates start from what already works. And a safe demo — a known-good tag if tomorrow goes wrong.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and only then: add a second input, handle the obvious failure, make the output look right, and start on the demo wrapper.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answers into the repo now: the frozen input, the one command, the known-good tag, and what is still done by hand.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leaving with one input frozen in the repo, one command that runs it all, a cold start that works, and all of it committed and pushed.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to carry into the break: could a stranger run it? Right now the honest answer is usually no.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session we put a front end on it that a stranger can drive, ship it to a public URL rather than your laptop, write a three-minute demo script, and list honestly what is faked.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0363200" cy="914400"/>
          </a:xfrm>
          <a:prstGeom prst="rect">
            <a:avLst/>
          </a:prstGeom>
          <a:noFill/>
        </p:spPr>
        <p:txBody>
          <a:bodyPr wrap="none" lIns="0" rIns="0">
            <a:noAutofit/>
          </a:bodyPr>
          <a:lstStyle/>
          <a:p>
            <a:pPr algn="l"/>
            <a:r>
              <a:rPr sz="6000" b="1" i="0">
                <a:solidFill>
                  <a:srgbClr val="0072CE"/>
                </a:solidFill>
                <a:latin typeface="Arial"/>
              </a:rPr>
              <a:t>The Happy Path</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2 · Session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55</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457200" y="4664964"/>
            <a:ext cx="11277600" cy="609600"/>
          </a:xfrm>
          <a:prstGeom prst="rect">
            <a:avLst/>
          </a:prstGeom>
          <a:noFill/>
        </p:spPr>
        <p:txBody>
          <a:bodyPr wrap="none" lIns="0" rIns="0">
            <a:noAutofit/>
          </a:bodyPr>
          <a:lstStyle/>
          <a:p>
            <a:pPr algn="ctr"/>
            <a:r>
              <a:rPr sz="3400" b="0" i="0">
                <a:solidFill>
                  <a:srgbClr val="0A2240"/>
                </a:solidFill>
                <a:latin typeface="Arial"/>
              </a:rPr>
              <a:t>One input reaches one output</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Pick one known-good input</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Build each step against it</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Connect the steps end to end</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Commit the moment it works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is your one input?</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2.1 to Now</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A stack</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What each step runs on</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A path</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One input, all the way</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Input</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Choose one, freeze it</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Build</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One step at a time</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Chain</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Remove every hand</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754451" cy="518159"/>
          </a:xfrm>
          <a:prstGeom prst="rect">
            <a:avLst/>
          </a:prstGeom>
          <a:noFill/>
        </p:spPr>
        <p:txBody>
          <a:bodyPr wrap="none" lIns="0" rIns="0">
            <a:noAutofit/>
          </a:bodyPr>
          <a:lstStyle/>
          <a:p>
            <a:pPr algn="l"/>
            <a:r>
              <a:rPr sz="3400" b="1" i="0">
                <a:solidFill>
                  <a:srgbClr val="0072CE"/>
                </a:solidFill>
                <a:latin typeface="Arial"/>
              </a:rPr>
              <a:t>Commit</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The second it works</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Next 55 Minutes</a:t>
            </a:r>
          </a:p>
        </p:txBody>
      </p:sp>
      <p:sp>
        <p:nvSpPr>
          <p:cNvPr id="3" name="TextBox 2"/>
          <p:cNvSpPr txBo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10:00</a:t>
            </a:r>
          </a:p>
        </p:txBody>
      </p:sp>
      <p:sp>
        <p:nvSpPr>
          <p:cNvPr id="4" name="TextBox 3"/>
          <p:cNvSpPr txBox="1"/>
          <p:nvPr/>
        </p:nvSpPr>
        <p:spPr>
          <a:xfrm>
            <a:off x="457200" y="2154936"/>
            <a:ext cx="2985868" cy="518159"/>
          </a:xfrm>
          <a:prstGeom prst="rect">
            <a:avLst/>
          </a:prstGeom>
          <a:noFill/>
        </p:spPr>
        <p:txBody>
          <a:bodyPr wrap="none" lIns="0" rIns="0">
            <a:noAutofit/>
          </a:bodyPr>
          <a:lstStyle/>
          <a:p>
            <a:pPr algn="l"/>
            <a:r>
              <a:rPr sz="3400" b="1" i="0">
                <a:solidFill>
                  <a:srgbClr val="0A2240"/>
                </a:solidFill>
                <a:latin typeface="Arial"/>
              </a:rPr>
              <a:t>Freeze it</a:t>
            </a:r>
          </a:p>
        </p:txBody>
      </p:sp>
      <p:sp>
        <p:nvSpPr>
          <p:cNvPr id="5" name="TextBox 4"/>
          <p:cNvSpPr txBox="1"/>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One file, committed, shared</a:t>
            </a:r>
          </a:p>
        </p:txBody>
      </p:sp>
      <p:sp>
        <p:nvSpPr>
          <p:cNvPr id="6" name="TextBox 5"/>
          <p:cNvSpPr txBox="1"/>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10:10</a:t>
            </a:r>
          </a:p>
        </p:txBody>
      </p:sp>
      <p:sp>
        <p:nvSpPr>
          <p:cNvPr id="7" name="TextBox 6"/>
          <p:cNvSpPr txBox="1"/>
          <p:nvPr/>
        </p:nvSpPr>
        <p:spPr>
          <a:xfrm>
            <a:off x="3345180" y="2154936"/>
            <a:ext cx="3906480" cy="518159"/>
          </a:xfrm>
          <a:prstGeom prst="rect">
            <a:avLst/>
          </a:prstGeom>
          <a:noFill/>
        </p:spPr>
        <p:txBody>
          <a:bodyPr wrap="none" lIns="0" rIns="0">
            <a:noAutofit/>
          </a:bodyPr>
          <a:lstStyle/>
          <a:p>
            <a:pPr algn="l"/>
            <a:r>
              <a:rPr sz="3400" b="1" i="0">
                <a:solidFill>
                  <a:srgbClr val="0A2240"/>
                </a:solidFill>
                <a:latin typeface="Arial"/>
              </a:rPr>
              <a:t>Build steps</a:t>
            </a:r>
          </a:p>
        </p:txBody>
      </p:sp>
      <p:sp>
        <p:nvSpPr>
          <p:cNvPr id="8" name="TextBox 7"/>
          <p:cNvSpPr txBox="1"/>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One box at a time, verified</a:t>
            </a:r>
          </a:p>
        </p:txBody>
      </p:sp>
      <p:sp>
        <p:nvSpPr>
          <p:cNvPr id="9" name="TextBox 8"/>
          <p:cNvSpPr txBox="1"/>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10:35</a:t>
            </a:r>
          </a:p>
        </p:txBody>
      </p:sp>
      <p:sp>
        <p:nvSpPr>
          <p:cNvPr id="10" name="TextBox 9"/>
          <p:cNvSpPr txBox="1"/>
          <p:nvPr/>
        </p:nvSpPr>
        <p:spPr>
          <a:xfrm>
            <a:off x="6233160" y="2154936"/>
            <a:ext cx="2946400" cy="518159"/>
          </a:xfrm>
          <a:prstGeom prst="rect">
            <a:avLst/>
          </a:prstGeom>
          <a:noFill/>
        </p:spPr>
        <p:txBody>
          <a:bodyPr wrap="none" lIns="0" rIns="0">
            <a:noAutofit/>
          </a:bodyPr>
          <a:lstStyle/>
          <a:p>
            <a:pPr algn="l"/>
            <a:r>
              <a:rPr sz="3400" b="1" i="0">
                <a:solidFill>
                  <a:srgbClr val="0A2240"/>
                </a:solidFill>
                <a:latin typeface="Arial"/>
              </a:rPr>
              <a:t>Connect</a:t>
            </a:r>
          </a:p>
        </p:txBody>
      </p:sp>
      <p:sp>
        <p:nvSpPr>
          <p:cNvPr id="11" name="TextBox 10"/>
          <p:cNvSpPr txBox="1"/>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Run it from a cold start</a:t>
            </a:r>
          </a:p>
        </p:txBody>
      </p:sp>
      <p:sp>
        <p:nvSpPr>
          <p:cNvPr id="12" name="TextBox 11"/>
          <p:cNvSpPr txBox="1"/>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10:50</a:t>
            </a:r>
          </a:p>
        </p:txBody>
      </p:sp>
      <p:sp>
        <p:nvSpPr>
          <p:cNvPr id="13" name="TextBox 12"/>
          <p:cNvSpPr txBox="1"/>
          <p:nvPr/>
        </p:nvSpPr>
        <p:spPr>
          <a:xfrm>
            <a:off x="9121140" y="2154936"/>
            <a:ext cx="2754451" cy="518159"/>
          </a:xfrm>
          <a:prstGeom prst="rect">
            <a:avLst/>
          </a:prstGeom>
          <a:noFill/>
        </p:spPr>
        <p:txBody>
          <a:bodyPr wrap="none" lIns="0" rIns="0">
            <a:noAutofit/>
          </a:bodyPr>
          <a:lstStyle/>
          <a:p>
            <a:pPr algn="l"/>
            <a:r>
              <a:rPr sz="3400" b="1" i="0">
                <a:solidFill>
                  <a:srgbClr val="0A2240"/>
                </a:solidFill>
                <a:latin typeface="Arial"/>
              </a:rPr>
              <a:t>Commit</a:t>
            </a:r>
          </a:p>
        </p:txBody>
      </p:sp>
      <p:sp>
        <p:nvSpPr>
          <p:cNvPr id="14" name="TextBox 13"/>
          <p:cNvSpPr txBox="1"/>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Tag the version that works</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"Make it work. Only then, anything else."</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Day 2 rule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One Known-Good Input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Happy path</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one route where nothing goes wrong</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It Is Not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Not the average case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Not most of your inputs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Not robust to anything</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 what you ship later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Choosing the Input</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Take a real one</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From the actual problem, not invented</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Check it is boring</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Nothing weird, nothing missing</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Freeze it in the repo</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Same bytes for everyone, all day</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Makes One Good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Small enough to read fully</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Real enough to be convincing</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Boring enough to always work</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Fixed, so results compare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734800" cy="640080"/>
          </a:xfrm>
          <a:prstGeom prst="rect">
            <a:avLst/>
          </a:prstGeom>
          <a:noFill/>
        </p:spPr>
        <p:txBody>
          <a:bodyPr wrap="none" lIns="0" rIns="0">
            <a:noAutofit/>
          </a:bodyPr>
          <a:lstStyle/>
          <a:p>
            <a:pPr algn="l"/>
            <a:r>
              <a:rPr sz="4200" b="0" i="0">
                <a:solidFill>
                  <a:srgbClr val="FFFFFF"/>
                </a:solidFill>
                <a:latin typeface="Arial"/>
              </a:rPr>
              <a:t>Freeze it where everyone can see</a:t>
            </a:r>
          </a:p>
        </p:txBody>
      </p:sp>
      <p:sp>
        <p:nvSpPr>
          <p:cNvPr id="6" name="TextBox 5"/>
          <p:cNvSpPr txBox="1"/>
          <p:nvPr/>
        </p:nvSpPr>
        <p:spPr>
          <a:xfrm>
            <a:off x="457200" y="1837944"/>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7" name="TextBox 6"/>
          <p:cNvSpPr txBox="1"/>
          <p:nvPr/>
        </p:nvSpPr>
        <p:spPr>
          <a:xfrm>
            <a:off x="697347" y="1837944"/>
            <a:ext cx="5288577" cy="518159"/>
          </a:xfrm>
          <a:prstGeom prst="rect">
            <a:avLst/>
          </a:prstGeom>
          <a:noFill/>
        </p:spPr>
        <p:txBody>
          <a:bodyPr wrap="none" lIns="0" rIns="0">
            <a:noAutofit/>
          </a:bodyPr>
          <a:lstStyle/>
          <a:p>
            <a:pPr algn="l"/>
            <a:r>
              <a:rPr sz="3400" b="0" i="0">
                <a:solidFill>
                  <a:srgbClr val="FFFFFF"/>
                </a:solidFill>
                <a:latin typeface="Arial"/>
              </a:rPr>
              <a:t> mkdir -p fixtures</a:t>
            </a:r>
          </a:p>
        </p:txBody>
      </p:sp>
      <p:sp>
        <p:nvSpPr>
          <p:cNvPr id="8" name="TextBox 7"/>
          <p:cNvSpPr txBox="1"/>
          <p:nvPr/>
        </p:nvSpPr>
        <p:spPr>
          <a:xfrm>
            <a:off x="457200" y="2356103"/>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9" name="TextBox 8"/>
          <p:cNvSpPr txBox="1"/>
          <p:nvPr/>
        </p:nvSpPr>
        <p:spPr>
          <a:xfrm>
            <a:off x="697347" y="2356103"/>
            <a:ext cx="11069636" cy="518159"/>
          </a:xfrm>
          <a:prstGeom prst="rect">
            <a:avLst/>
          </a:prstGeom>
          <a:noFill/>
        </p:spPr>
        <p:txBody>
          <a:bodyPr wrap="none" lIns="0" rIns="0">
            <a:noAutofit/>
          </a:bodyPr>
          <a:lstStyle/>
          <a:p>
            <a:pPr algn="l"/>
            <a:r>
              <a:rPr sz="3400" b="0" i="0">
                <a:solidFill>
                  <a:srgbClr val="FFFFFF"/>
                </a:solidFill>
                <a:latin typeface="Arial"/>
              </a:rPr>
              <a:t> cp ~/Downloads/report.pdf fixtures/</a:t>
            </a:r>
          </a:p>
        </p:txBody>
      </p:sp>
      <p:sp>
        <p:nvSpPr>
          <p:cNvPr id="10" name="TextBox 9"/>
          <p:cNvSpPr txBox="1"/>
          <p:nvPr/>
        </p:nvSpPr>
        <p:spPr>
          <a:xfrm>
            <a:off x="457200" y="2874262"/>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1" name="TextBox 10"/>
          <p:cNvSpPr txBox="1"/>
          <p:nvPr/>
        </p:nvSpPr>
        <p:spPr>
          <a:xfrm>
            <a:off x="697347" y="2874262"/>
            <a:ext cx="8017014" cy="518159"/>
          </a:xfrm>
          <a:prstGeom prst="rect">
            <a:avLst/>
          </a:prstGeom>
          <a:noFill/>
        </p:spPr>
        <p:txBody>
          <a:bodyPr wrap="none" lIns="0" rIns="0">
            <a:noAutofit/>
          </a:bodyPr>
          <a:lstStyle/>
          <a:p>
            <a:pPr algn="l"/>
            <a:r>
              <a:rPr sz="3400" b="0" i="0">
                <a:solidFill>
                  <a:srgbClr val="FFFFFF"/>
                </a:solidFill>
                <a:latin typeface="Arial"/>
              </a:rPr>
              <a:t> git add fixtures/report.pdf</a:t>
            </a:r>
          </a:p>
        </p:txBody>
      </p:sp>
      <p:sp>
        <p:nvSpPr>
          <p:cNvPr id="12" name="TextBox 11"/>
          <p:cNvSpPr txBox="1"/>
          <p:nvPr/>
        </p:nvSpPr>
        <p:spPr>
          <a:xfrm>
            <a:off x="457200" y="3392421"/>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3" name="TextBox 12"/>
          <p:cNvSpPr txBox="1"/>
          <p:nvPr/>
        </p:nvSpPr>
        <p:spPr>
          <a:xfrm>
            <a:off x="697347" y="3392421"/>
            <a:ext cx="10732968" cy="518159"/>
          </a:xfrm>
          <a:prstGeom prst="rect">
            <a:avLst/>
          </a:prstGeom>
          <a:noFill/>
        </p:spPr>
        <p:txBody>
          <a:bodyPr wrap="none" lIns="0" rIns="0">
            <a:noAutofit/>
          </a:bodyPr>
          <a:lstStyle/>
          <a:p>
            <a:pPr algn="l"/>
            <a:r>
              <a:rPr sz="3400" b="0" i="0">
                <a:solidFill>
                  <a:srgbClr val="FFFFFF"/>
                </a:solidFill>
                <a:latin typeface="Arial"/>
              </a:rPr>
              <a:t> git commit -m "freeze demo input"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Today and Not Today</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Today</a:t>
            </a:r>
          </a:p>
        </p:txBody>
      </p:sp>
      <p:sp>
        <p:nvSpPr>
          <p:cNvPr id="4" name="Rectangle 3"/>
          <p:cNvSpPr/>
          <p:nvPr/>
        </p:nvSpPr>
        <p:spPr>
          <a:xfrm>
            <a:off x="457200" y="2176271"/>
            <a:ext cx="1239527"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Not today</a:t>
            </a:r>
          </a:p>
        </p:txBody>
      </p:sp>
      <p:sp>
        <p:nvSpPr>
          <p:cNvPr id="6" name="Rectangle 5"/>
          <p:cNvSpPr/>
          <p:nvPr/>
        </p:nvSpPr>
        <p:spPr>
          <a:xfrm>
            <a:off x="6233160" y="2176271"/>
            <a:ext cx="1990961"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826865" cy="609600"/>
          </a:xfrm>
          <a:prstGeom prst="rect">
            <a:avLst/>
          </a:prstGeom>
          <a:noFill/>
        </p:spPr>
        <p:txBody>
          <a:bodyPr wrap="none" lIns="0" rIns="0">
            <a:noAutofit/>
          </a:bodyPr>
          <a:lstStyle/>
          <a:p>
            <a:pPr algn="l"/>
            <a:r>
              <a:rPr sz="3400" b="0" i="0">
                <a:solidFill>
                  <a:srgbClr val="0A2240"/>
                </a:solidFill>
                <a:latin typeface="Arial"/>
              </a:rPr>
              <a:t>One input, all the way</a:t>
            </a:r>
          </a:p>
        </p:txBody>
      </p:sp>
      <p:sp>
        <p:nvSpPr>
          <p:cNvPr id="8" name="TextBox 7"/>
          <p:cNvSpPr txBox="1"/>
          <p:nvPr/>
        </p:nvSpPr>
        <p:spPr>
          <a:xfrm>
            <a:off x="457200" y="3608831"/>
            <a:ext cx="7862172" cy="609600"/>
          </a:xfrm>
          <a:prstGeom prst="rect">
            <a:avLst/>
          </a:prstGeom>
          <a:noFill/>
        </p:spPr>
        <p:txBody>
          <a:bodyPr wrap="none" lIns="0" rIns="0">
            <a:noAutofit/>
          </a:bodyPr>
          <a:lstStyle/>
          <a:p>
            <a:pPr algn="l"/>
            <a:r>
              <a:rPr sz="3400" b="0" i="0">
                <a:solidFill>
                  <a:srgbClr val="0A2240"/>
                </a:solidFill>
                <a:latin typeface="Arial"/>
              </a:rPr>
              <a:t>The steps from your map</a:t>
            </a:r>
          </a:p>
        </p:txBody>
      </p:sp>
      <p:sp>
        <p:nvSpPr>
          <p:cNvPr id="9" name="TextBox 8"/>
          <p:cNvSpPr txBox="1"/>
          <p:nvPr/>
        </p:nvSpPr>
        <p:spPr>
          <a:xfrm>
            <a:off x="457200" y="4821935"/>
            <a:ext cx="6019264" cy="609600"/>
          </a:xfrm>
          <a:prstGeom prst="rect">
            <a:avLst/>
          </a:prstGeom>
          <a:noFill/>
        </p:spPr>
        <p:txBody>
          <a:bodyPr wrap="none" lIns="0" rIns="0">
            <a:noAutofit/>
          </a:bodyPr>
          <a:lstStyle/>
          <a:p>
            <a:pPr algn="l"/>
            <a:r>
              <a:rPr sz="3400" b="0" i="0">
                <a:solidFill>
                  <a:srgbClr val="0A2240"/>
                </a:solidFill>
                <a:latin typeface="Arial"/>
              </a:rPr>
              <a:t>Whatever is ugliest</a:t>
            </a:r>
          </a:p>
        </p:txBody>
      </p:sp>
      <p:sp>
        <p:nvSpPr>
          <p:cNvPr id="10" name="TextBox 9"/>
          <p:cNvSpPr txBox="1"/>
          <p:nvPr/>
        </p:nvSpPr>
        <p:spPr>
          <a:xfrm>
            <a:off x="6233160" y="2395727"/>
            <a:ext cx="5501640" cy="609600"/>
          </a:xfrm>
          <a:prstGeom prst="rect">
            <a:avLst/>
          </a:prstGeom>
          <a:noFill/>
        </p:spPr>
        <p:txBody>
          <a:bodyPr wrap="none" lIns="0" rIns="0">
            <a:noAutofit/>
          </a:bodyPr>
          <a:lstStyle/>
          <a:p>
            <a:pPr algn="l"/>
            <a:r>
              <a:rPr sz="3400" b="0" i="0">
                <a:solidFill>
                  <a:srgbClr val="0A2240"/>
                </a:solidFill>
                <a:latin typeface="Arial"/>
              </a:rPr>
              <a:t>Edge cases</a:t>
            </a:r>
          </a:p>
        </p:txBody>
      </p:sp>
      <p:sp>
        <p:nvSpPr>
          <p:cNvPr id="11" name="TextBox 10"/>
          <p:cNvSpPr txBox="1"/>
          <p:nvPr/>
        </p:nvSpPr>
        <p:spPr>
          <a:xfrm>
            <a:off x="6233160" y="3608831"/>
            <a:ext cx="5501640" cy="609600"/>
          </a:xfrm>
          <a:prstGeom prst="rect">
            <a:avLst/>
          </a:prstGeom>
          <a:noFill/>
        </p:spPr>
        <p:txBody>
          <a:bodyPr wrap="none" lIns="0" rIns="0">
            <a:noAutofit/>
          </a:bodyPr>
          <a:lstStyle/>
          <a:p>
            <a:pPr algn="l"/>
            <a:r>
              <a:rPr sz="3400" b="0" i="0">
                <a:solidFill>
                  <a:srgbClr val="0A2240"/>
                </a:solidFill>
                <a:latin typeface="Arial"/>
              </a:rPr>
              <a:t>Error handling</a:t>
            </a:r>
          </a:p>
        </p:txBody>
      </p:sp>
      <p:sp>
        <p:nvSpPr>
          <p:cNvPr id="12" name="TextBox 11"/>
          <p:cNvSpPr txBox="1"/>
          <p:nvPr/>
        </p:nvSpPr>
        <p:spPr>
          <a:xfrm>
            <a:off x="6233160" y="4821935"/>
            <a:ext cx="5501640" cy="609600"/>
          </a:xfrm>
          <a:prstGeom prst="rect">
            <a:avLst/>
          </a:prstGeom>
          <a:noFill/>
        </p:spPr>
        <p:txBody>
          <a:bodyPr wrap="none" lIns="0" rIns="0">
            <a:noAutofit/>
          </a:bodyPr>
          <a:lstStyle/>
          <a:p>
            <a:pPr algn="l"/>
            <a:r>
              <a:rPr sz="3400" b="0" i="0">
                <a:solidFill>
                  <a:srgbClr val="0A2240"/>
                </a:solidFill>
                <a:latin typeface="Arial"/>
              </a:rPr>
              <a:t>A second input</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Ban List for This Hour</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No try or catch anywhere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 configuration files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 second input to test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 renaming or refactoring</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Claude Code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An agent that edits and runs your repo</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Driving It, Per Step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Name the one step</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From your map, by its box</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Give it the contract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What comes in, what goes out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Point at the input</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The frozen file, by path</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Give It What It Needs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map, as a file in the repo</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 contracts between steps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frozen input, by path</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command that proves it ran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Ways to Ask</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Vague</a:t>
            </a:r>
          </a:p>
        </p:txBody>
      </p:sp>
      <p:sp>
        <p:nvSpPr>
          <p:cNvPr id="4" name="TextBox 3"/>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Specific</a:t>
            </a:r>
          </a:p>
        </p:txBody>
      </p:sp>
      <p:sp>
        <p:nvSpPr>
          <p:cNvPr id="5" name="TextBox 4"/>
          <p:cNvSpPr txBox="1"/>
          <p:nvPr/>
        </p:nvSpPr>
        <p:spPr>
          <a:xfrm>
            <a:off x="457200" y="2395727"/>
            <a:ext cx="6856552" cy="847344"/>
          </a:xfrm>
          <a:prstGeom prst="rect">
            <a:avLst/>
          </a:prstGeom>
          <a:noFill/>
        </p:spPr>
        <p:txBody>
          <a:bodyPr wrap="none" lIns="0" rIns="0">
            <a:noAutofit/>
          </a:bodyPr>
          <a:lstStyle/>
          <a:p>
            <a:pPr algn="l"/>
            <a:r>
              <a:rPr sz="3400" b="0" i="0">
                <a:solidFill>
                  <a:srgbClr val="0A2240"/>
                </a:solidFill>
                <a:latin typeface="Arial"/>
              </a:rPr>
              <a:t>"Parse the document"</a:t>
            </a:r>
          </a:p>
        </p:txBody>
      </p:sp>
      <p:sp>
        <p:nvSpPr>
          <p:cNvPr id="6" name="TextBox 5"/>
          <p:cNvSpPr txBox="1"/>
          <p:nvPr/>
        </p:nvSpPr>
        <p:spPr>
          <a:xfrm>
            <a:off x="6233160" y="2395727"/>
            <a:ext cx="5958840" cy="847344"/>
          </a:xfrm>
          <a:prstGeom prst="rect">
            <a:avLst/>
          </a:prstGeom>
          <a:noFill/>
        </p:spPr>
        <p:txBody>
          <a:bodyPr wrap="none" lIns="0" rIns="0">
            <a:noAutofit/>
          </a:bodyPr>
          <a:lstStyle/>
          <a:p>
            <a:pPr algn="l"/>
            <a:r>
              <a:rPr sz="3400" b="0" i="0">
                <a:solidFill>
                  <a:srgbClr val="0A2240"/>
                </a:solidFill>
                <a:latin typeface="Arial"/>
              </a:rPr>
              <a:t>"Read fixtures/report.pdf"</a:t>
            </a:r>
          </a:p>
        </p:txBody>
      </p:sp>
      <p:sp>
        <p:nvSpPr>
          <p:cNvPr id="7" name="TextBox 6"/>
          <p:cNvSpPr txBox="1"/>
          <p:nvPr/>
        </p:nvSpPr>
        <p:spPr>
          <a:xfrm>
            <a:off x="457200" y="3517391"/>
            <a:ext cx="7085945" cy="847344"/>
          </a:xfrm>
          <a:prstGeom prst="rect">
            <a:avLst/>
          </a:prstGeom>
          <a:noFill/>
        </p:spPr>
        <p:txBody>
          <a:bodyPr wrap="none" lIns="0" rIns="0">
            <a:noAutofit/>
          </a:bodyPr>
          <a:lstStyle/>
          <a:p>
            <a:pPr algn="l"/>
            <a:r>
              <a:rPr sz="3400" b="0" i="0">
                <a:solidFill>
                  <a:srgbClr val="0A2240"/>
                </a:solidFill>
                <a:latin typeface="Arial"/>
              </a:rPr>
              <a:t>"Make it handle PDFs"</a:t>
            </a:r>
          </a:p>
        </p:txBody>
      </p:sp>
      <p:sp>
        <p:nvSpPr>
          <p:cNvPr id="8" name="TextBox 7"/>
          <p:cNvSpPr txBox="1"/>
          <p:nvPr/>
        </p:nvSpPr>
        <p:spPr>
          <a:xfrm>
            <a:off x="6233160" y="3517391"/>
            <a:ext cx="5958840" cy="847344"/>
          </a:xfrm>
          <a:prstGeom prst="rect">
            <a:avLst/>
          </a:prstGeom>
          <a:noFill/>
        </p:spPr>
        <p:txBody>
          <a:bodyPr wrap="none" lIns="0" rIns="0">
            <a:noAutofit/>
          </a:bodyPr>
          <a:lstStyle/>
          <a:p>
            <a:pPr algn="l"/>
            <a:r>
              <a:rPr sz="3400" b="0" i="0">
                <a:solidFill>
                  <a:srgbClr val="0A2240"/>
                </a:solidFill>
                <a:latin typeface="Arial"/>
              </a:rPr>
              <a:t>"Return title and date"</a:t>
            </a:r>
          </a:p>
        </p:txBody>
      </p:sp>
      <p:sp>
        <p:nvSpPr>
          <p:cNvPr id="9" name="TextBox 8"/>
          <p:cNvSpPr txBox="1"/>
          <p:nvPr/>
        </p:nvSpPr>
        <p:spPr>
          <a:xfrm>
            <a:off x="457200" y="4639055"/>
            <a:ext cx="6704072" cy="847344"/>
          </a:xfrm>
          <a:prstGeom prst="rect">
            <a:avLst/>
          </a:prstGeom>
          <a:noFill/>
        </p:spPr>
        <p:txBody>
          <a:bodyPr wrap="none" lIns="0" rIns="0">
            <a:noAutofit/>
          </a:bodyPr>
          <a:lstStyle/>
          <a:p>
            <a:pPr algn="l"/>
            <a:r>
              <a:rPr sz="3400" b="0" i="0">
                <a:solidFill>
                  <a:srgbClr val="0A2240"/>
                </a:solidFill>
                <a:latin typeface="Arial"/>
              </a:rPr>
              <a:t>"Clean up the output"</a:t>
            </a:r>
          </a:p>
        </p:txBody>
      </p:sp>
      <p:sp>
        <p:nvSpPr>
          <p:cNvPr id="10" name="TextBox 9"/>
          <p:cNvSpPr txBox="1"/>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"Write it to out.json"</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A request worth making</a:t>
            </a:r>
          </a:p>
        </p:txBody>
      </p:sp>
      <p:sp>
        <p:nvSpPr>
          <p:cNvPr id="6" name="TextBox 5"/>
          <p:cNvSpPr txBox="1"/>
          <p:nvPr/>
        </p:nvSpPr>
        <p:spPr>
          <a:xfrm>
            <a:off x="457200" y="1837944"/>
            <a:ext cx="7594321" cy="518159"/>
          </a:xfrm>
          <a:prstGeom prst="rect">
            <a:avLst/>
          </a:prstGeom>
          <a:noFill/>
        </p:spPr>
        <p:txBody>
          <a:bodyPr wrap="none" lIns="0" rIns="0">
            <a:noAutofit/>
          </a:bodyPr>
          <a:lstStyle/>
          <a:p>
            <a:pPr algn="l"/>
            <a:r>
              <a:rPr sz="3400" b="0" i="0">
                <a:solidFill>
                  <a:srgbClr val="FFFFFF"/>
                </a:solidFill>
                <a:latin typeface="Arial"/>
              </a:rPr>
              <a:t>Read fixtures/report.pdf.</a:t>
            </a:r>
          </a:p>
        </p:txBody>
      </p:sp>
      <p:sp>
        <p:nvSpPr>
          <p:cNvPr id="7" name="TextBox 6"/>
          <p:cNvSpPr txBox="1"/>
          <p:nvPr/>
        </p:nvSpPr>
        <p:spPr>
          <a:xfrm>
            <a:off x="457200" y="2356103"/>
            <a:ext cx="7979568" cy="518159"/>
          </a:xfrm>
          <a:prstGeom prst="rect">
            <a:avLst/>
          </a:prstGeom>
          <a:noFill/>
        </p:spPr>
        <p:txBody>
          <a:bodyPr wrap="none" lIns="0" rIns="0">
            <a:noAutofit/>
          </a:bodyPr>
          <a:lstStyle/>
          <a:p>
            <a:pPr algn="l"/>
            <a:r>
              <a:rPr sz="3400" b="0" i="0">
                <a:solidFill>
                  <a:srgbClr val="FFFFFF"/>
                </a:solidFill>
                <a:latin typeface="Arial"/>
              </a:rPr>
              <a:t>Pull out title, author, date.</a:t>
            </a:r>
          </a:p>
        </p:txBody>
      </p:sp>
      <p:sp>
        <p:nvSpPr>
          <p:cNvPr id="8" name="TextBox 7"/>
          <p:cNvSpPr txBox="1"/>
          <p:nvPr/>
        </p:nvSpPr>
        <p:spPr>
          <a:xfrm>
            <a:off x="457200" y="2874262"/>
            <a:ext cx="8963937" cy="518159"/>
          </a:xfrm>
          <a:prstGeom prst="rect">
            <a:avLst/>
          </a:prstGeom>
          <a:noFill/>
        </p:spPr>
        <p:txBody>
          <a:bodyPr wrap="none" lIns="0" rIns="0">
            <a:noAutofit/>
          </a:bodyPr>
          <a:lstStyle/>
          <a:p>
            <a:pPr algn="l"/>
            <a:r>
              <a:rPr sz="3400" b="0" i="0">
                <a:solidFill>
                  <a:srgbClr val="FFFFFF"/>
                </a:solidFill>
                <a:latin typeface="Arial"/>
              </a:rPr>
              <a:t>Write them to out/step1.json.</a:t>
            </a:r>
          </a:p>
        </p:txBody>
      </p:sp>
      <p:sp>
        <p:nvSpPr>
          <p:cNvPr id="9" name="TextBox 8"/>
          <p:cNvSpPr txBox="1"/>
          <p:nvPr/>
        </p:nvSpPr>
        <p:spPr>
          <a:xfrm>
            <a:off x="457200" y="3392421"/>
            <a:ext cx="2179617" cy="518159"/>
          </a:xfrm>
          <a:prstGeom prst="rect">
            <a:avLst/>
          </a:prstGeom>
          <a:noFill/>
        </p:spPr>
        <p:txBody>
          <a:bodyPr wrap="none" lIns="0" rIns="0">
            <a:noAutofit/>
          </a:bodyPr>
          <a:lstStyle/>
          <a:p>
            <a:pPr algn="l"/>
            <a:r>
              <a:rPr sz="3400" b="0" i="0">
                <a:solidFill>
                  <a:srgbClr val="FFFFFF"/>
                </a:solidFill>
                <a:latin typeface="Arial"/>
              </a:rPr>
              <a:t>Run it </a:t>
            </a:r>
          </a:p>
        </p:txBody>
      </p:sp>
      <p:sp>
        <p:nvSpPr>
          <p:cNvPr id="10" name="TextBox 9"/>
          <p:cNvSpPr txBox="1"/>
          <p:nvPr/>
        </p:nvSpPr>
        <p:spPr>
          <a:xfrm>
            <a:off x="1705161" y="3392421"/>
            <a:ext cx="1335584" cy="518159"/>
          </a:xfrm>
          <a:prstGeom prst="rect">
            <a:avLst/>
          </a:prstGeom>
          <a:noFill/>
        </p:spPr>
        <p:txBody>
          <a:bodyPr wrap="none" lIns="0" rIns="0">
            <a:noAutofit/>
          </a:bodyPr>
          <a:lstStyle/>
          <a:p>
            <a:pPr algn="l"/>
            <a:r>
              <a:rPr sz="3400" b="0" i="0">
                <a:solidFill>
                  <a:srgbClr val="569CD6"/>
                </a:solidFill>
                <a:latin typeface="Arial"/>
              </a:rPr>
              <a:t>and</a:t>
            </a:r>
          </a:p>
        </p:txBody>
      </p:sp>
      <p:sp>
        <p:nvSpPr>
          <p:cNvPr id="11" name="TextBox 10"/>
          <p:cNvSpPr txBox="1"/>
          <p:nvPr/>
        </p:nvSpPr>
        <p:spPr>
          <a:xfrm>
            <a:off x="2425601" y="3392421"/>
            <a:ext cx="5558790" cy="518159"/>
          </a:xfrm>
          <a:prstGeom prst="rect">
            <a:avLst/>
          </a:prstGeom>
          <a:noFill/>
        </p:spPr>
        <p:txBody>
          <a:bodyPr wrap="none" lIns="0" rIns="0">
            <a:noAutofit/>
          </a:bodyPr>
          <a:lstStyle/>
          <a:p>
            <a:pPr algn="l"/>
            <a:r>
              <a:rPr sz="3400" b="0" i="0">
                <a:solidFill>
                  <a:srgbClr val="FFFFFF"/>
                </a:solidFill>
                <a:latin typeface="Arial"/>
              </a:rPr>
              <a:t> show me the file.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Rules for Driving</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One step per ask</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Never two boxes of the map at once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Make it run</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Ask for the output, not a description</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Reset, do not nudge</a:t>
            </a:r>
          </a:p>
        </p:txBody>
      </p:sp>
      <p:sp>
        <p:nvSpPr>
          <p:cNvPr id="8" name="TextBox 7"/>
          <p:cNvSpPr txBox="1"/>
          <p:nvPr/>
        </p:nvSpPr>
        <p:spPr>
          <a:xfrm>
            <a:off x="457200" y="5132831"/>
            <a:ext cx="11318596" cy="627889"/>
          </a:xfrm>
          <a:prstGeom prst="rect">
            <a:avLst/>
          </a:prstGeom>
          <a:noFill/>
        </p:spPr>
        <p:txBody>
          <a:bodyPr wrap="none" lIns="0" rIns="0">
            <a:noAutofit/>
          </a:bodyPr>
          <a:lstStyle/>
          <a:p>
            <a:pPr algn="l"/>
            <a:r>
              <a:rPr sz="3400" b="0" i="0">
                <a:solidFill>
                  <a:srgbClr val="0A2240"/>
                </a:solidFill>
                <a:latin typeface="Arial"/>
              </a:rPr>
              <a:t>If two tries fail, restate the whole ask</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When It Goes Sideways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It invented a file — name paths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It over-built — say what to skip</a:t>
            </a:r>
          </a:p>
        </p:txBody>
      </p:sp>
      <p:sp>
        <p:nvSpPr>
          <p:cNvPr id="5" name="TextBox 4"/>
          <p:cNvSpPr txBox="1"/>
          <p:nvPr/>
        </p:nvSpPr>
        <p:spPr>
          <a:xfrm>
            <a:off x="457200" y="3858768"/>
            <a:ext cx="11280814" cy="518159"/>
          </a:xfrm>
          <a:prstGeom prst="rect">
            <a:avLst/>
          </a:prstGeom>
          <a:noFill/>
        </p:spPr>
        <p:txBody>
          <a:bodyPr wrap="none" lIns="0" rIns="0">
            <a:noAutofit/>
          </a:bodyPr>
          <a:lstStyle/>
          <a:p>
            <a:pPr algn="l"/>
            <a:r>
              <a:rPr sz="3400" b="0" i="0">
                <a:solidFill>
                  <a:srgbClr val="0A2240"/>
                </a:solidFill>
                <a:latin typeface="Arial"/>
              </a:rPr>
              <a:t>It cannot run — give it the command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It loops — restate from scratch</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Check Each Step Before Moving 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 ran it yourself, just now</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 output file exists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 read the output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It matches the contract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Connect the Steps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Where do hands still touch?</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Manual step</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Anything a person does between two steps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Manual Steps That Hide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Copying output into the next box</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Renaming a file by hand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Pasting into a chat window</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Knowing to run them in order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Kinds of Demo</a:t>
            </a:r>
          </a:p>
        </p:txBody>
      </p:sp>
      <p:sp>
        <p:nvSpPr>
          <p:cNvPr id="3" name="TextBox 2"/>
          <p:cNvSpPr txBox="1"/>
          <p:nvPr/>
        </p:nvSpPr>
        <p:spPr>
          <a:xfrm>
            <a:off x="255092" y="2776728"/>
            <a:ext cx="5197196" cy="914400"/>
          </a:xfrm>
          <a:prstGeom prst="rect">
            <a:avLst/>
          </a:prstGeom>
          <a:noFill/>
        </p:spPr>
        <p:txBody>
          <a:bodyPr wrap="none" lIns="0" rIns="0">
            <a:noAutofit/>
          </a:bodyPr>
          <a:lstStyle/>
          <a:p>
            <a:pPr algn="ctr"/>
            <a:r>
              <a:rPr sz="6000" b="1" i="0">
                <a:solidFill>
                  <a:srgbClr val="0A2240"/>
                </a:solidFill>
                <a:latin typeface="Arial"/>
              </a:rPr>
              <a:t>Narrated</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And now I open this</a:t>
            </a:r>
          </a:p>
        </p:txBody>
      </p:sp>
      <p:sp>
        <p:nvSpPr>
          <p:cNvPr id="5" name="TextBox 4"/>
          <p:cNvSpPr txBox="1"/>
          <p:nvPr/>
        </p:nvSpPr>
        <p:spPr>
          <a:xfrm>
            <a:off x="6484620" y="2776728"/>
            <a:ext cx="5707380" cy="914400"/>
          </a:xfrm>
          <a:prstGeom prst="rect">
            <a:avLst/>
          </a:prstGeom>
          <a:noFill/>
        </p:spPr>
        <p:txBody>
          <a:bodyPr wrap="none" lIns="0" rIns="0">
            <a:noAutofit/>
          </a:bodyPr>
          <a:lstStyle/>
          <a:p>
            <a:pPr algn="ctr"/>
            <a:r>
              <a:rPr sz="6000" b="1" i="0">
                <a:solidFill>
                  <a:srgbClr val="0A2240"/>
                </a:solidFill>
                <a:latin typeface="Arial"/>
              </a:rPr>
              <a:t>Run once</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One command, done</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Connecting, in Order</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362068" cy="640080"/>
          </a:xfrm>
          <a:prstGeom prst="rect">
            <a:avLst/>
          </a:prstGeom>
          <a:noFill/>
        </p:spPr>
        <p:txBody>
          <a:bodyPr wrap="none" lIns="0" rIns="0">
            <a:noAutofit/>
          </a:bodyPr>
          <a:lstStyle/>
          <a:p>
            <a:pPr algn="l"/>
            <a:r>
              <a:rPr sz="4200" b="1" i="0">
                <a:solidFill>
                  <a:srgbClr val="0072CE"/>
                </a:solidFill>
                <a:latin typeface="Arial"/>
              </a:rPr>
              <a:t>Write the contracts down</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What each step leaves behind</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Chain two, then three</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Add one box at a time</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Run it from cold</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Delete the outputs and start over</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Down the Seams</a:t>
            </a:r>
          </a:p>
        </p:txBody>
      </p:sp>
      <p:sp>
        <p:nvSpPr>
          <p:cNvPr id="3" name="TextBox 2"/>
          <p:cNvSpPr txBox="1"/>
          <p:nvPr/>
        </p:nvSpPr>
        <p:spPr>
          <a:xfrm>
            <a:off x="457200" y="1499616"/>
            <a:ext cx="1854078" cy="518159"/>
          </a:xfrm>
          <a:prstGeom prst="rect">
            <a:avLst/>
          </a:prstGeom>
          <a:noFill/>
        </p:spPr>
        <p:txBody>
          <a:bodyPr wrap="none" lIns="0" rIns="0">
            <a:noAutofit/>
          </a:bodyPr>
          <a:lstStyle/>
          <a:p>
            <a:pPr algn="l"/>
            <a:r>
              <a:rPr sz="3400" b="1" i="0">
                <a:solidFill>
                  <a:srgbClr val="0072CE"/>
                </a:solidFill>
                <a:latin typeface="Arial"/>
              </a:rPr>
              <a:t>Step</a:t>
            </a:r>
          </a:p>
        </p:txBody>
      </p:sp>
      <p:sp>
        <p:nvSpPr>
          <p:cNvPr id="4" name="TextBox 3"/>
          <p:cNvSpPr txBox="1"/>
          <p:nvPr/>
        </p:nvSpPr>
        <p:spPr>
          <a:xfrm>
            <a:off x="2859918" y="1499616"/>
            <a:ext cx="4982268" cy="518159"/>
          </a:xfrm>
          <a:prstGeom prst="rect">
            <a:avLst/>
          </a:prstGeom>
          <a:noFill/>
        </p:spPr>
        <p:txBody>
          <a:bodyPr wrap="none" lIns="0" rIns="0">
            <a:noAutofit/>
          </a:bodyPr>
          <a:lstStyle/>
          <a:p>
            <a:pPr algn="l"/>
            <a:r>
              <a:rPr sz="3400" b="1" i="0">
                <a:solidFill>
                  <a:srgbClr val="0072CE"/>
                </a:solidFill>
                <a:latin typeface="Arial"/>
              </a:rPr>
              <a:t>Leaves behind</a:t>
            </a:r>
          </a:p>
        </p:txBody>
      </p:sp>
      <p:sp>
        <p:nvSpPr>
          <p:cNvPr id="5" name="Rectangle 4"/>
          <p:cNvSpPr/>
          <p:nvPr/>
        </p:nvSpPr>
        <p:spPr>
          <a:xfrm>
            <a:off x="457200" y="2072639"/>
            <a:ext cx="5768096"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064920" cy="633984"/>
          </a:xfrm>
          <a:prstGeom prst="rect">
            <a:avLst/>
          </a:prstGeom>
          <a:noFill/>
        </p:spPr>
        <p:txBody>
          <a:bodyPr wrap="none" lIns="0" rIns="0">
            <a:noAutofit/>
          </a:bodyPr>
          <a:lstStyle/>
          <a:p>
            <a:pPr algn="l"/>
            <a:r>
              <a:rPr sz="3400" b="0" i="0">
                <a:solidFill>
                  <a:srgbClr val="0A2240"/>
                </a:solidFill>
                <a:latin typeface="Arial"/>
              </a:rPr>
              <a:t>Ingest</a:t>
            </a:r>
          </a:p>
        </p:txBody>
      </p:sp>
      <p:sp>
        <p:nvSpPr>
          <p:cNvPr id="7" name="TextBox 6"/>
          <p:cNvSpPr txBox="1"/>
          <p:nvPr/>
        </p:nvSpPr>
        <p:spPr>
          <a:xfrm>
            <a:off x="2859918" y="2401823"/>
            <a:ext cx="3869710" cy="633984"/>
          </a:xfrm>
          <a:prstGeom prst="rect">
            <a:avLst/>
          </a:prstGeom>
          <a:noFill/>
        </p:spPr>
        <p:txBody>
          <a:bodyPr wrap="none" lIns="0" rIns="0">
            <a:noAutofit/>
          </a:bodyPr>
          <a:lstStyle/>
          <a:p>
            <a:pPr algn="l"/>
            <a:r>
              <a:rPr sz="3400" b="0" i="0">
                <a:solidFill>
                  <a:srgbClr val="0A2240"/>
                </a:solidFill>
                <a:latin typeface="Arial"/>
              </a:rPr>
              <a:t>out/raw.json</a:t>
            </a:r>
          </a:p>
        </p:txBody>
      </p:sp>
      <p:sp>
        <p:nvSpPr>
          <p:cNvPr id="8" name="TextBox 7"/>
          <p:cNvSpPr txBox="1"/>
          <p:nvPr/>
        </p:nvSpPr>
        <p:spPr>
          <a:xfrm>
            <a:off x="457200" y="3310127"/>
            <a:ext cx="2332771" cy="633984"/>
          </a:xfrm>
          <a:prstGeom prst="rect">
            <a:avLst/>
          </a:prstGeom>
          <a:noFill/>
        </p:spPr>
        <p:txBody>
          <a:bodyPr wrap="none" lIns="0" rIns="0">
            <a:noAutofit/>
          </a:bodyPr>
          <a:lstStyle/>
          <a:p>
            <a:pPr algn="l"/>
            <a:r>
              <a:rPr sz="3400" b="0" i="0">
                <a:solidFill>
                  <a:srgbClr val="0A2240"/>
                </a:solidFill>
                <a:latin typeface="Arial"/>
              </a:rPr>
              <a:t>Extract</a:t>
            </a:r>
          </a:p>
        </p:txBody>
      </p:sp>
      <p:sp>
        <p:nvSpPr>
          <p:cNvPr id="9" name="TextBox 8"/>
          <p:cNvSpPr txBox="1"/>
          <p:nvPr/>
        </p:nvSpPr>
        <p:spPr>
          <a:xfrm>
            <a:off x="2859918" y="3310127"/>
            <a:ext cx="4407435" cy="633984"/>
          </a:xfrm>
          <a:prstGeom prst="rect">
            <a:avLst/>
          </a:prstGeom>
          <a:noFill/>
        </p:spPr>
        <p:txBody>
          <a:bodyPr wrap="none" lIns="0" rIns="0">
            <a:noAutofit/>
          </a:bodyPr>
          <a:lstStyle/>
          <a:p>
            <a:pPr algn="l"/>
            <a:r>
              <a:rPr sz="3400" b="0" i="0">
                <a:solidFill>
                  <a:srgbClr val="0A2240"/>
                </a:solidFill>
                <a:latin typeface="Arial"/>
              </a:rPr>
              <a:t>out/fields.json</a:t>
            </a:r>
          </a:p>
        </p:txBody>
      </p:sp>
      <p:sp>
        <p:nvSpPr>
          <p:cNvPr id="10" name="TextBox 9"/>
          <p:cNvSpPr txBox="1"/>
          <p:nvPr/>
        </p:nvSpPr>
        <p:spPr>
          <a:xfrm>
            <a:off x="457200" y="4218431"/>
            <a:ext cx="2564188" cy="633984"/>
          </a:xfrm>
          <a:prstGeom prst="rect">
            <a:avLst/>
          </a:prstGeom>
          <a:noFill/>
        </p:spPr>
        <p:txBody>
          <a:bodyPr wrap="none" lIns="0" rIns="0">
            <a:noAutofit/>
          </a:bodyPr>
          <a:lstStyle/>
          <a:p>
            <a:pPr algn="l"/>
            <a:r>
              <a:rPr sz="3400" b="0" i="0">
                <a:solidFill>
                  <a:srgbClr val="0A2240"/>
                </a:solidFill>
                <a:latin typeface="Arial"/>
              </a:rPr>
              <a:t>Reason</a:t>
            </a:r>
          </a:p>
        </p:txBody>
      </p:sp>
      <p:sp>
        <p:nvSpPr>
          <p:cNvPr id="11" name="TextBox 10"/>
          <p:cNvSpPr txBox="1"/>
          <p:nvPr/>
        </p:nvSpPr>
        <p:spPr>
          <a:xfrm>
            <a:off x="2859918" y="4218431"/>
            <a:ext cx="4675961" cy="633984"/>
          </a:xfrm>
          <a:prstGeom prst="rect">
            <a:avLst/>
          </a:prstGeom>
          <a:noFill/>
        </p:spPr>
        <p:txBody>
          <a:bodyPr wrap="none" lIns="0" rIns="0">
            <a:noAutofit/>
          </a:bodyPr>
          <a:lstStyle/>
          <a:p>
            <a:pPr algn="l"/>
            <a:r>
              <a:rPr sz="3400" b="0" i="0">
                <a:solidFill>
                  <a:srgbClr val="0A2240"/>
                </a:solidFill>
                <a:latin typeface="Arial"/>
              </a:rPr>
              <a:t>out/answer.md</a:t>
            </a:r>
          </a:p>
        </p:txBody>
      </p:sp>
      <p:sp>
        <p:nvSpPr>
          <p:cNvPr id="12" name="TextBox 11"/>
          <p:cNvSpPr txBox="1"/>
          <p:nvPr/>
        </p:nvSpPr>
        <p:spPr>
          <a:xfrm>
            <a:off x="457200" y="5126735"/>
            <a:ext cx="2448817" cy="633984"/>
          </a:xfrm>
          <a:prstGeom prst="rect">
            <a:avLst/>
          </a:prstGeom>
          <a:noFill/>
        </p:spPr>
        <p:txBody>
          <a:bodyPr wrap="none" lIns="0" rIns="0">
            <a:noAutofit/>
          </a:bodyPr>
          <a:lstStyle/>
          <a:p>
            <a:pPr algn="l"/>
            <a:r>
              <a:rPr sz="3400" b="0" i="0">
                <a:solidFill>
                  <a:srgbClr val="0A2240"/>
                </a:solidFill>
                <a:latin typeface="Arial"/>
              </a:rPr>
              <a:t>Render</a:t>
            </a:r>
          </a:p>
        </p:txBody>
      </p:sp>
      <p:sp>
        <p:nvSpPr>
          <p:cNvPr id="13" name="TextBox 12"/>
          <p:cNvSpPr txBox="1"/>
          <p:nvPr/>
        </p:nvSpPr>
        <p:spPr>
          <a:xfrm>
            <a:off x="2859918" y="5126735"/>
            <a:ext cx="4484012" cy="633984"/>
          </a:xfrm>
          <a:prstGeom prst="rect">
            <a:avLst/>
          </a:prstGeom>
          <a:noFill/>
        </p:spPr>
        <p:txBody>
          <a:bodyPr wrap="none" lIns="0" rIns="0">
            <a:noAutofit/>
          </a:bodyPr>
          <a:lstStyle/>
          <a:p>
            <a:pPr algn="l"/>
            <a:r>
              <a:rPr sz="3400" b="0" i="0">
                <a:solidFill>
                  <a:srgbClr val="0A2240"/>
                </a:solidFill>
                <a:latin typeface="Arial"/>
              </a:rPr>
              <a:t>out/index.html</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734800" cy="640080"/>
          </a:xfrm>
          <a:prstGeom prst="rect">
            <a:avLst/>
          </a:prstGeom>
          <a:noFill/>
        </p:spPr>
        <p:txBody>
          <a:bodyPr wrap="none" lIns="0" rIns="0">
            <a:noAutofit/>
          </a:bodyPr>
          <a:lstStyle/>
          <a:p>
            <a:pPr algn="l"/>
            <a:r>
              <a:rPr sz="4200" b="0" i="0">
                <a:solidFill>
                  <a:srgbClr val="FFFFFF"/>
                </a:solidFill>
                <a:latin typeface="Arial"/>
              </a:rPr>
              <a:t>The whole path, one command</a:t>
            </a:r>
          </a:p>
        </p:txBody>
      </p:sp>
      <p:sp>
        <p:nvSpPr>
          <p:cNvPr id="6" name="TextBox 5"/>
          <p:cNvSpPr txBox="1"/>
          <p:nvPr/>
        </p:nvSpPr>
        <p:spPr>
          <a:xfrm>
            <a:off x="457200" y="1837944"/>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7" name="TextBox 6"/>
          <p:cNvSpPr txBox="1"/>
          <p:nvPr/>
        </p:nvSpPr>
        <p:spPr>
          <a:xfrm>
            <a:off x="697347" y="1837944"/>
            <a:ext cx="7515384" cy="518159"/>
          </a:xfrm>
          <a:prstGeom prst="rect">
            <a:avLst/>
          </a:prstGeom>
          <a:noFill/>
        </p:spPr>
        <p:txBody>
          <a:bodyPr wrap="none" lIns="0" rIns="0">
            <a:noAutofit/>
          </a:bodyPr>
          <a:lstStyle/>
          <a:p>
            <a:pPr algn="l"/>
            <a:r>
              <a:rPr sz="3400" b="0" i="0">
                <a:solidFill>
                  <a:srgbClr val="FFFFFF"/>
                </a:solidFill>
                <a:latin typeface="Arial"/>
              </a:rPr>
              <a:t> rm -rf out/ &amp;&amp; mkdir out</a:t>
            </a:r>
          </a:p>
        </p:txBody>
      </p:sp>
      <p:sp>
        <p:nvSpPr>
          <p:cNvPr id="8" name="TextBox 7"/>
          <p:cNvSpPr txBox="1"/>
          <p:nvPr/>
        </p:nvSpPr>
        <p:spPr>
          <a:xfrm>
            <a:off x="457200" y="2356103"/>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9" name="TextBox 8"/>
          <p:cNvSpPr txBox="1"/>
          <p:nvPr/>
        </p:nvSpPr>
        <p:spPr>
          <a:xfrm>
            <a:off x="697347" y="2356103"/>
            <a:ext cx="10129123" cy="518159"/>
          </a:xfrm>
          <a:prstGeom prst="rect">
            <a:avLst/>
          </a:prstGeom>
          <a:noFill/>
        </p:spPr>
        <p:txBody>
          <a:bodyPr wrap="none" lIns="0" rIns="0">
            <a:noAutofit/>
          </a:bodyPr>
          <a:lstStyle/>
          <a:p>
            <a:pPr algn="l"/>
            <a:r>
              <a:rPr sz="3400" b="0" i="0">
                <a:solidFill>
                  <a:srgbClr val="FFFFFF"/>
                </a:solidFill>
                <a:latin typeface="Arial"/>
              </a:rPr>
              <a:t> python run.py fixtures/report.pdf</a:t>
            </a:r>
          </a:p>
        </p:txBody>
      </p:sp>
      <p:sp>
        <p:nvSpPr>
          <p:cNvPr id="10" name="TextBox 9"/>
          <p:cNvSpPr txBox="1"/>
          <p:nvPr/>
        </p:nvSpPr>
        <p:spPr>
          <a:xfrm>
            <a:off x="457200" y="2874262"/>
            <a:ext cx="4099777" cy="518159"/>
          </a:xfrm>
          <a:prstGeom prst="rect">
            <a:avLst/>
          </a:prstGeom>
          <a:noFill/>
        </p:spPr>
        <p:txBody>
          <a:bodyPr wrap="none" lIns="0" rIns="0">
            <a:noAutofit/>
          </a:bodyPr>
          <a:lstStyle/>
          <a:p>
            <a:pPr algn="l"/>
            <a:r>
              <a:rPr sz="3400" b="0" i="0">
                <a:solidFill>
                  <a:srgbClr val="FFFFFF"/>
                </a:solidFill>
                <a:latin typeface="Arial"/>
              </a:rPr>
              <a:t>... 4 steps ok</a:t>
            </a:r>
          </a:p>
        </p:txBody>
      </p:sp>
      <p:sp>
        <p:nvSpPr>
          <p:cNvPr id="11" name="TextBox 10"/>
          <p:cNvSpPr txBox="1"/>
          <p:nvPr/>
        </p:nvSpPr>
        <p:spPr>
          <a:xfrm>
            <a:off x="457200" y="3392421"/>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2" name="TextBox 11"/>
          <p:cNvSpPr txBox="1"/>
          <p:nvPr/>
        </p:nvSpPr>
        <p:spPr>
          <a:xfrm>
            <a:off x="697347" y="3392421"/>
            <a:ext cx="6404848" cy="518159"/>
          </a:xfrm>
          <a:prstGeom prst="rect">
            <a:avLst/>
          </a:prstGeom>
          <a:noFill/>
        </p:spPr>
        <p:txBody>
          <a:bodyPr wrap="none" lIns="0" rIns="0">
            <a:noAutofit/>
          </a:bodyPr>
          <a:lstStyle/>
          <a:p>
            <a:pPr algn="l"/>
            <a:r>
              <a:rPr sz="3400" b="0" i="0">
                <a:solidFill>
                  <a:srgbClr val="FFFFFF"/>
                </a:solidFill>
                <a:latin typeface="Arial"/>
              </a:rPr>
              <a:t> open out/index.html</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The Seam Is Where It Breaks</a:t>
            </a:r>
          </a:p>
        </p:txBody>
      </p:sp>
      <p:sp>
        <p:nvSpPr>
          <p:cNvPr id="3" name="TextBox 2"/>
          <p:cNvSpPr txBox="1"/>
          <p:nvPr/>
        </p:nvSpPr>
        <p:spPr>
          <a:xfrm>
            <a:off x="457200" y="1908050"/>
            <a:ext cx="11665723" cy="518159"/>
          </a:xfrm>
          <a:prstGeom prst="rect">
            <a:avLst/>
          </a:prstGeom>
          <a:noFill/>
        </p:spPr>
        <p:txBody>
          <a:bodyPr wrap="none" lIns="0" rIns="0">
            <a:noAutofit/>
          </a:bodyPr>
          <a:lstStyle/>
          <a:p>
            <a:pPr algn="l"/>
            <a:r>
              <a:rPr sz="3400" b="0" i="0">
                <a:solidFill>
                  <a:srgbClr val="0A2240"/>
                </a:solidFill>
                <a:latin typeface="Arial"/>
              </a:rPr>
              <a:t>One step writes, the next cannot read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field is named two ways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One step assumes a list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 path is right on one machine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Debugging a Seam</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Open both files</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What was written, what was expected</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Fix the later step</a:t>
            </a:r>
          </a:p>
        </p:txBody>
      </p:sp>
      <p:sp>
        <p:nvSpPr>
          <p:cNvPr id="8" name="TextBox 7"/>
          <p:cNvSpPr txBox="1"/>
          <p:nvPr/>
        </p:nvSpPr>
        <p:spPr>
          <a:xfrm>
            <a:off x="1461983" y="3697224"/>
            <a:ext cx="10359529" cy="551688"/>
          </a:xfrm>
          <a:prstGeom prst="rect">
            <a:avLst/>
          </a:prstGeom>
          <a:noFill/>
        </p:spPr>
        <p:txBody>
          <a:bodyPr wrap="none" lIns="0" rIns="0">
            <a:noAutofit/>
          </a:bodyPr>
          <a:lstStyle/>
          <a:p>
            <a:pPr algn="l"/>
            <a:r>
              <a:rPr sz="3400" b="0" i="0">
                <a:solidFill>
                  <a:srgbClr val="0A2240"/>
                </a:solidFill>
                <a:latin typeface="Arial"/>
              </a:rPr>
              <a:t>Adapt downstream, not upstream</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Rerun from cold</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Never trust a partial run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Connect Early or Late</a:t>
            </a:r>
          </a:p>
        </p:txBody>
      </p:sp>
      <p:sp>
        <p:nvSpPr>
          <p:cNvPr id="3" name="TextBox 2"/>
          <p:cNvSpPr txBox="1"/>
          <p:nvPr/>
        </p:nvSpPr>
        <p:spPr>
          <a:xfrm>
            <a:off x="3406124" y="1499616"/>
            <a:ext cx="4751864" cy="518159"/>
          </a:xfrm>
          <a:prstGeom prst="rect">
            <a:avLst/>
          </a:prstGeom>
          <a:noFill/>
        </p:spPr>
        <p:txBody>
          <a:bodyPr wrap="none" lIns="0" rIns="0">
            <a:noAutofit/>
          </a:bodyPr>
          <a:lstStyle/>
          <a:p>
            <a:pPr algn="ctr"/>
            <a:r>
              <a:rPr sz="3400" b="1" i="0">
                <a:solidFill>
                  <a:srgbClr val="0A2240"/>
                </a:solidFill>
                <a:latin typeface="Arial"/>
              </a:rPr>
              <a:t>Connect early</a:t>
            </a:r>
          </a:p>
        </p:txBody>
      </p:sp>
      <p:sp>
        <p:nvSpPr>
          <p:cNvPr id="4" name="TextBox 3"/>
          <p:cNvSpPr txBox="1"/>
          <p:nvPr/>
        </p:nvSpPr>
        <p:spPr>
          <a:xfrm>
            <a:off x="7677575" y="1499616"/>
            <a:ext cx="4328834" cy="518159"/>
          </a:xfrm>
          <a:prstGeom prst="rect">
            <a:avLst/>
          </a:prstGeom>
          <a:noFill/>
        </p:spPr>
        <p:txBody>
          <a:bodyPr wrap="none" lIns="0" rIns="0">
            <a:noAutofit/>
          </a:bodyPr>
          <a:lstStyle/>
          <a:p>
            <a:pPr algn="ctr"/>
            <a:r>
              <a:rPr sz="3400" b="1" i="0">
                <a:solidFill>
                  <a:srgbClr val="0A2240"/>
                </a:solidFill>
                <a:latin typeface="Arial"/>
              </a:rPr>
              <a:t>Connect late</a:t>
            </a:r>
          </a:p>
        </p:txBody>
      </p:sp>
      <p:sp>
        <p:nvSpPr>
          <p:cNvPr id="5" name="Rectangle 4"/>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370104" cy="936752"/>
          </a:xfrm>
          <a:prstGeom prst="rect">
            <a:avLst/>
          </a:prstGeom>
          <a:noFill/>
        </p:spPr>
        <p:txBody>
          <a:bodyPr wrap="none" lIns="0" rIns="0">
            <a:noAutofit/>
          </a:bodyPr>
          <a:lstStyle/>
          <a:p>
            <a:pPr algn="l"/>
            <a:r>
              <a:rPr sz="3400" b="1" i="0">
                <a:solidFill>
                  <a:srgbClr val="0A2240"/>
                </a:solidFill>
                <a:latin typeface="Arial"/>
              </a:rPr>
              <a:t>Surprises</a:t>
            </a:r>
          </a:p>
        </p:txBody>
      </p:sp>
      <p:sp>
        <p:nvSpPr>
          <p:cNvPr id="7" name="Rectangle 6"/>
          <p:cNvSpPr/>
          <p:nvPr/>
        </p:nvSpPr>
        <p:spPr>
          <a:xfrm>
            <a:off x="4497693" y="2401823"/>
            <a:ext cx="2568725"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98983" y="2401823"/>
            <a:ext cx="3766145" cy="518159"/>
          </a:xfrm>
          <a:prstGeom prst="rect">
            <a:avLst/>
          </a:prstGeom>
          <a:noFill/>
        </p:spPr>
        <p:txBody>
          <a:bodyPr wrap="none" lIns="0" rIns="0">
            <a:noAutofit/>
          </a:bodyPr>
          <a:lstStyle/>
          <a:p>
            <a:pPr algn="ctr"/>
            <a:r>
              <a:rPr sz="3400" b="1" i="0">
                <a:solidFill>
                  <a:srgbClr val="FFFFFF"/>
                </a:solidFill>
                <a:latin typeface="Arial"/>
              </a:rPr>
              <a:t>Now, small</a:t>
            </a:r>
          </a:p>
        </p:txBody>
      </p:sp>
      <p:sp>
        <p:nvSpPr>
          <p:cNvPr id="9" name="TextBox 8"/>
          <p:cNvSpPr txBox="1"/>
          <p:nvPr/>
        </p:nvSpPr>
        <p:spPr>
          <a:xfrm>
            <a:off x="7949184" y="2401823"/>
            <a:ext cx="3785616" cy="936752"/>
          </a:xfrm>
          <a:prstGeom prst="rect">
            <a:avLst/>
          </a:prstGeom>
          <a:noFill/>
        </p:spPr>
        <p:txBody>
          <a:bodyPr wrap="none" lIns="0" rIns="0">
            <a:noAutofit/>
          </a:bodyPr>
          <a:lstStyle/>
          <a:p>
            <a:pPr algn="ctr"/>
            <a:r>
              <a:rPr sz="3400" b="0" i="0">
                <a:solidFill>
                  <a:srgbClr val="0A2240"/>
                </a:solidFill>
                <a:latin typeface="Arial"/>
              </a:rPr>
              <a:t>Late, large</a:t>
            </a:r>
          </a:p>
        </p:txBody>
      </p:sp>
      <p:sp>
        <p:nvSpPr>
          <p:cNvPr id="10" name="TextBox 9"/>
          <p:cNvSpPr txBox="1"/>
          <p:nvPr/>
        </p:nvSpPr>
        <p:spPr>
          <a:xfrm>
            <a:off x="457200" y="3612895"/>
            <a:ext cx="3157728" cy="936752"/>
          </a:xfrm>
          <a:prstGeom prst="rect">
            <a:avLst/>
          </a:prstGeom>
          <a:noFill/>
        </p:spPr>
        <p:txBody>
          <a:bodyPr wrap="none" lIns="0" rIns="0">
            <a:noAutofit/>
          </a:bodyPr>
          <a:lstStyle/>
          <a:p>
            <a:pPr algn="l"/>
            <a:r>
              <a:rPr sz="3400" b="1" i="0">
                <a:solidFill>
                  <a:srgbClr val="0A2240"/>
                </a:solidFill>
                <a:latin typeface="Arial"/>
              </a:rPr>
              <a:t>Rework</a:t>
            </a:r>
          </a:p>
        </p:txBody>
      </p:sp>
      <p:sp>
        <p:nvSpPr>
          <p:cNvPr id="11" name="TextBox 10"/>
          <p:cNvSpPr txBox="1"/>
          <p:nvPr/>
        </p:nvSpPr>
        <p:spPr>
          <a:xfrm>
            <a:off x="3889248" y="3612895"/>
            <a:ext cx="3785616" cy="936752"/>
          </a:xfrm>
          <a:prstGeom prst="rect">
            <a:avLst/>
          </a:prstGeom>
          <a:noFill/>
        </p:spPr>
        <p:txBody>
          <a:bodyPr wrap="none" lIns="0" rIns="0">
            <a:noAutofit/>
          </a:bodyPr>
          <a:lstStyle/>
          <a:p>
            <a:pPr algn="ctr"/>
            <a:r>
              <a:rPr sz="3400" b="0" i="0">
                <a:solidFill>
                  <a:srgbClr val="0A2240"/>
                </a:solidFill>
                <a:latin typeface="Arial"/>
              </a:rPr>
              <a:t>Cheap</a:t>
            </a:r>
          </a:p>
        </p:txBody>
      </p:sp>
      <p:sp>
        <p:nvSpPr>
          <p:cNvPr id="12" name="TextBox 11"/>
          <p:cNvSpPr txBox="1"/>
          <p:nvPr/>
        </p:nvSpPr>
        <p:spPr>
          <a:xfrm>
            <a:off x="7949184" y="3612895"/>
            <a:ext cx="3785616" cy="936752"/>
          </a:xfrm>
          <a:prstGeom prst="rect">
            <a:avLst/>
          </a:prstGeom>
          <a:noFill/>
        </p:spPr>
        <p:txBody>
          <a:bodyPr wrap="none" lIns="0" rIns="0">
            <a:noAutofit/>
          </a:bodyPr>
          <a:lstStyle/>
          <a:p>
            <a:pPr algn="ctr"/>
            <a:r>
              <a:rPr sz="3400" b="0" i="0">
                <a:solidFill>
                  <a:srgbClr val="0A2240"/>
                </a:solidFill>
                <a:latin typeface="Arial"/>
              </a:rPr>
              <a:t>Expensive</a:t>
            </a:r>
          </a:p>
        </p:txBody>
      </p:sp>
      <p:sp>
        <p:nvSpPr>
          <p:cNvPr id="13" name="TextBox 12"/>
          <p:cNvSpPr txBox="1"/>
          <p:nvPr/>
        </p:nvSpPr>
        <p:spPr>
          <a:xfrm>
            <a:off x="457200" y="4823967"/>
            <a:ext cx="3523595" cy="936752"/>
          </a:xfrm>
          <a:prstGeom prst="rect">
            <a:avLst/>
          </a:prstGeom>
          <a:noFill/>
        </p:spPr>
        <p:txBody>
          <a:bodyPr wrap="none" lIns="0" rIns="0">
            <a:noAutofit/>
          </a:bodyPr>
          <a:lstStyle/>
          <a:p>
            <a:pPr algn="l"/>
            <a:r>
              <a:rPr sz="3400" b="1" i="0">
                <a:solidFill>
                  <a:srgbClr val="0A2240"/>
                </a:solidFill>
                <a:latin typeface="Arial"/>
              </a:rPr>
              <a:t>Demo risk</a:t>
            </a:r>
          </a:p>
        </p:txBody>
      </p:sp>
      <p:sp>
        <p:nvSpPr>
          <p:cNvPr id="14" name="Rectangle 13"/>
          <p:cNvSpPr/>
          <p:nvPr/>
        </p:nvSpPr>
        <p:spPr>
          <a:xfrm>
            <a:off x="5185769" y="4823967"/>
            <a:ext cx="1192573"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99905" y="4823967"/>
            <a:ext cx="1564301" cy="518159"/>
          </a:xfrm>
          <a:prstGeom prst="rect">
            <a:avLst/>
          </a:prstGeom>
          <a:noFill/>
        </p:spPr>
        <p:txBody>
          <a:bodyPr wrap="none" lIns="0" rIns="0">
            <a:noAutofit/>
          </a:bodyPr>
          <a:lstStyle/>
          <a:p>
            <a:pPr algn="ctr"/>
            <a:r>
              <a:rPr sz="3400" b="1" i="0">
                <a:solidFill>
                  <a:srgbClr val="FFFFFF"/>
                </a:solidFill>
                <a:latin typeface="Arial"/>
              </a:rPr>
              <a:t>Low</a:t>
            </a:r>
          </a:p>
        </p:txBody>
      </p:sp>
      <p:sp>
        <p:nvSpPr>
          <p:cNvPr id="16" name="TextBox 15"/>
          <p:cNvSpPr txBox="1"/>
          <p:nvPr/>
        </p:nvSpPr>
        <p:spPr>
          <a:xfrm>
            <a:off x="7949184" y="4823967"/>
            <a:ext cx="3785616" cy="936752"/>
          </a:xfrm>
          <a:prstGeom prst="rect">
            <a:avLst/>
          </a:prstGeom>
          <a:noFill/>
        </p:spPr>
        <p:txBody>
          <a:bodyPr wrap="none" lIns="0" rIns="0">
            <a:noAutofit/>
          </a:bodyPr>
          <a:lstStyle/>
          <a:p>
            <a:pPr algn="ctr"/>
            <a:r>
              <a:rPr sz="3400" b="0" i="0">
                <a:solidFill>
                  <a:srgbClr val="0A2240"/>
                </a:solidFill>
                <a:latin typeface="Arial"/>
              </a:rPr>
              <a:t>High</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Four Smells</a:t>
            </a:r>
          </a:p>
        </p:txBody>
      </p:sp>
      <p:sp>
        <p:nvSpPr>
          <p:cNvPr id="3" name="TextBox 2"/>
          <p:cNvSpPr txBox="1"/>
          <p:nvPr/>
        </p:nvSpPr>
        <p:spPr>
          <a:xfrm>
            <a:off x="457200" y="1499616"/>
            <a:ext cx="2413015" cy="518159"/>
          </a:xfrm>
          <a:prstGeom prst="rect">
            <a:avLst/>
          </a:prstGeom>
          <a:noFill/>
        </p:spPr>
        <p:txBody>
          <a:bodyPr wrap="none" lIns="0" rIns="0">
            <a:noAutofit/>
          </a:bodyPr>
          <a:lstStyle/>
          <a:p>
            <a:pPr algn="l"/>
            <a:r>
              <a:rPr sz="3400" b="1" i="0">
                <a:solidFill>
                  <a:srgbClr val="0072CE"/>
                </a:solidFill>
                <a:latin typeface="Arial"/>
              </a:rPr>
              <a:t>Smell</a:t>
            </a:r>
          </a:p>
        </p:txBody>
      </p:sp>
      <p:sp>
        <p:nvSpPr>
          <p:cNvPr id="4" name="TextBox 3"/>
          <p:cNvSpPr txBox="1"/>
          <p:nvPr/>
        </p:nvSpPr>
        <p:spPr>
          <a:xfrm>
            <a:off x="3418855" y="1499616"/>
            <a:ext cx="5990967" cy="518159"/>
          </a:xfrm>
          <a:prstGeom prst="rect">
            <a:avLst/>
          </a:prstGeom>
          <a:noFill/>
        </p:spPr>
        <p:txBody>
          <a:bodyPr wrap="none" lIns="0" rIns="0">
            <a:noAutofit/>
          </a:bodyPr>
          <a:lstStyle/>
          <a:p>
            <a:pPr algn="l"/>
            <a:r>
              <a:rPr sz="3400" b="1" i="0">
                <a:solidFill>
                  <a:srgbClr val="0072CE"/>
                </a:solidFill>
                <a:latin typeface="Arial"/>
              </a:rPr>
              <a:t>What it means</a:t>
            </a:r>
          </a:p>
        </p:txBody>
      </p:sp>
      <p:sp>
        <p:nvSpPr>
          <p:cNvPr id="5" name="Rectangle 4"/>
          <p:cNvSpPr/>
          <p:nvPr/>
        </p:nvSpPr>
        <p:spPr>
          <a:xfrm>
            <a:off x="457200" y="2072639"/>
            <a:ext cx="895262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986544" cy="633984"/>
          </a:xfrm>
          <a:prstGeom prst="rect">
            <a:avLst/>
          </a:prstGeom>
          <a:noFill/>
        </p:spPr>
        <p:txBody>
          <a:bodyPr wrap="none" lIns="0" rIns="0">
            <a:noAutofit/>
          </a:bodyPr>
          <a:lstStyle/>
          <a:p>
            <a:pPr algn="l"/>
            <a:r>
              <a:rPr sz="3400" b="0" i="0">
                <a:solidFill>
                  <a:srgbClr val="0A2240"/>
                </a:solidFill>
                <a:latin typeface="Arial"/>
              </a:rPr>
              <a:t>Only Ana</a:t>
            </a:r>
          </a:p>
        </p:txBody>
      </p:sp>
      <p:sp>
        <p:nvSpPr>
          <p:cNvPr id="7" name="TextBox 6"/>
          <p:cNvSpPr txBox="1"/>
          <p:nvPr/>
        </p:nvSpPr>
        <p:spPr>
          <a:xfrm>
            <a:off x="3418855" y="2401823"/>
            <a:ext cx="6826865" cy="633984"/>
          </a:xfrm>
          <a:prstGeom prst="rect">
            <a:avLst/>
          </a:prstGeom>
          <a:noFill/>
        </p:spPr>
        <p:txBody>
          <a:bodyPr wrap="none" lIns="0" rIns="0">
            <a:noAutofit/>
          </a:bodyPr>
          <a:lstStyle/>
          <a:p>
            <a:pPr algn="l"/>
            <a:r>
              <a:rPr sz="3400" b="0" i="0">
                <a:solidFill>
                  <a:srgbClr val="0A2240"/>
                </a:solidFill>
                <a:latin typeface="Arial"/>
              </a:rPr>
              <a:t>One person can run it</a:t>
            </a:r>
          </a:p>
        </p:txBody>
      </p:sp>
      <p:sp>
        <p:nvSpPr>
          <p:cNvPr id="8" name="TextBox 7"/>
          <p:cNvSpPr txBox="1"/>
          <p:nvPr/>
        </p:nvSpPr>
        <p:spPr>
          <a:xfrm>
            <a:off x="457200" y="3310127"/>
            <a:ext cx="3458488" cy="633984"/>
          </a:xfrm>
          <a:prstGeom prst="rect">
            <a:avLst/>
          </a:prstGeom>
          <a:noFill/>
        </p:spPr>
        <p:txBody>
          <a:bodyPr wrap="none" lIns="0" rIns="0">
            <a:noAutofit/>
          </a:bodyPr>
          <a:lstStyle/>
          <a:p>
            <a:pPr algn="l"/>
            <a:r>
              <a:rPr sz="3400" b="0" i="0">
                <a:solidFill>
                  <a:srgbClr val="0A2240"/>
                </a:solidFill>
                <a:latin typeface="Arial"/>
              </a:rPr>
              <a:t>Warm only</a:t>
            </a:r>
          </a:p>
        </p:txBody>
      </p:sp>
      <p:sp>
        <p:nvSpPr>
          <p:cNvPr id="9" name="TextBox 8"/>
          <p:cNvSpPr txBox="1"/>
          <p:nvPr/>
        </p:nvSpPr>
        <p:spPr>
          <a:xfrm>
            <a:off x="3418855" y="3310127"/>
            <a:ext cx="7170619" cy="633984"/>
          </a:xfrm>
          <a:prstGeom prst="rect">
            <a:avLst/>
          </a:prstGeom>
          <a:noFill/>
        </p:spPr>
        <p:txBody>
          <a:bodyPr wrap="none" lIns="0" rIns="0">
            <a:noAutofit/>
          </a:bodyPr>
          <a:lstStyle/>
          <a:p>
            <a:pPr algn="l"/>
            <a:r>
              <a:rPr sz="3400" b="0" i="0">
                <a:solidFill>
                  <a:srgbClr val="0A2240"/>
                </a:solidFill>
                <a:latin typeface="Arial"/>
              </a:rPr>
              <a:t>Fails from a clean start</a:t>
            </a:r>
          </a:p>
        </p:txBody>
      </p:sp>
      <p:sp>
        <p:nvSpPr>
          <p:cNvPr id="10" name="TextBox 9"/>
          <p:cNvSpPr txBox="1"/>
          <p:nvPr/>
        </p:nvSpPr>
        <p:spPr>
          <a:xfrm>
            <a:off x="457200" y="4218431"/>
            <a:ext cx="2563852" cy="633984"/>
          </a:xfrm>
          <a:prstGeom prst="rect">
            <a:avLst/>
          </a:prstGeom>
          <a:noFill/>
        </p:spPr>
        <p:txBody>
          <a:bodyPr wrap="none" lIns="0" rIns="0">
            <a:noAutofit/>
          </a:bodyPr>
          <a:lstStyle/>
          <a:p>
            <a:pPr algn="l"/>
            <a:r>
              <a:rPr sz="3400" b="0" i="0">
                <a:solidFill>
                  <a:srgbClr val="0A2240"/>
                </a:solidFill>
                <a:latin typeface="Arial"/>
              </a:rPr>
              <a:t>In order</a:t>
            </a:r>
          </a:p>
        </p:txBody>
      </p:sp>
      <p:sp>
        <p:nvSpPr>
          <p:cNvPr id="11" name="TextBox 10"/>
          <p:cNvSpPr txBox="1"/>
          <p:nvPr/>
        </p:nvSpPr>
        <p:spPr>
          <a:xfrm>
            <a:off x="3418855" y="4218431"/>
            <a:ext cx="8773145" cy="633984"/>
          </a:xfrm>
          <a:prstGeom prst="rect">
            <a:avLst/>
          </a:prstGeom>
          <a:noFill/>
        </p:spPr>
        <p:txBody>
          <a:bodyPr wrap="none" lIns="0" rIns="0">
            <a:noAutofit/>
          </a:bodyPr>
          <a:lstStyle/>
          <a:p>
            <a:pPr algn="l"/>
            <a:r>
              <a:rPr sz="3400" b="0" i="0">
                <a:solidFill>
                  <a:srgbClr val="0A2240"/>
                </a:solidFill>
                <a:latin typeface="Arial"/>
              </a:rPr>
              <a:t>You must know the sequence</a:t>
            </a:r>
          </a:p>
        </p:txBody>
      </p:sp>
      <p:sp>
        <p:nvSpPr>
          <p:cNvPr id="12" name="TextBox 11"/>
          <p:cNvSpPr txBox="1"/>
          <p:nvPr/>
        </p:nvSpPr>
        <p:spPr>
          <a:xfrm>
            <a:off x="457200" y="5126735"/>
            <a:ext cx="2794595" cy="633984"/>
          </a:xfrm>
          <a:prstGeom prst="rect">
            <a:avLst/>
          </a:prstGeom>
          <a:noFill/>
        </p:spPr>
        <p:txBody>
          <a:bodyPr wrap="none" lIns="0" rIns="0">
            <a:noAutofit/>
          </a:bodyPr>
          <a:lstStyle/>
          <a:p>
            <a:pPr algn="l"/>
            <a:r>
              <a:rPr sz="3400" b="0" i="0">
                <a:solidFill>
                  <a:srgbClr val="0A2240"/>
                </a:solidFill>
                <a:latin typeface="Arial"/>
              </a:rPr>
              <a:t>One box</a:t>
            </a:r>
          </a:p>
        </p:txBody>
      </p:sp>
      <p:sp>
        <p:nvSpPr>
          <p:cNvPr id="13" name="TextBox 12"/>
          <p:cNvSpPr txBox="1"/>
          <p:nvPr/>
        </p:nvSpPr>
        <p:spPr>
          <a:xfrm>
            <a:off x="3418855" y="5126735"/>
            <a:ext cx="7672585" cy="633984"/>
          </a:xfrm>
          <a:prstGeom prst="rect">
            <a:avLst/>
          </a:prstGeom>
          <a:noFill/>
        </p:spPr>
        <p:txBody>
          <a:bodyPr wrap="none" lIns="0" rIns="0">
            <a:noAutofit/>
          </a:bodyPr>
          <a:lstStyle/>
          <a:p>
            <a:pPr algn="l"/>
            <a:r>
              <a:rPr sz="3400" b="0" i="0">
                <a:solidFill>
                  <a:srgbClr val="0A2240"/>
                </a:solidFill>
                <a:latin typeface="Arial"/>
              </a:rPr>
              <a:t>A step still done by hand</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If You Are Behind</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Cut a box, not a corner</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Stub a whole step, keep the path whole</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Shrink the input</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One page instead of the whole report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Never drop the commit</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A short path committed beats a long one lost</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Done Means All Four</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One command, start to finish</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Runs from an empty output dir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Someone else ran it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output is the real thing</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"If hands touch it, it is not connected."</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Objective two, restated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Commit It Immediately</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Works</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It ran end to end, cold, in front of you</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Right Now</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This is the version that works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 next change may break it</a:t>
            </a:r>
          </a:p>
        </p:txBody>
      </p:sp>
      <p:sp>
        <p:nvSpPr>
          <p:cNvPr id="5" name="TextBox 4"/>
          <p:cNvSpPr txBox="1"/>
          <p:nvPr/>
        </p:nvSpPr>
        <p:spPr>
          <a:xfrm>
            <a:off x="457200" y="3858768"/>
            <a:ext cx="11486593" cy="518159"/>
          </a:xfrm>
          <a:prstGeom prst="rect">
            <a:avLst/>
          </a:prstGeom>
          <a:noFill/>
        </p:spPr>
        <p:txBody>
          <a:bodyPr wrap="none" lIns="0" rIns="0">
            <a:noAutofit/>
          </a:bodyPr>
          <a:lstStyle/>
          <a:p>
            <a:pPr algn="l"/>
            <a:r>
              <a:rPr sz="3400" b="0" i="0">
                <a:solidFill>
                  <a:srgbClr val="0A2240"/>
                </a:solidFill>
                <a:latin typeface="Arial"/>
              </a:rPr>
              <a:t>You will not remember what changed</a:t>
            </a:r>
          </a:p>
        </p:txBody>
      </p:sp>
      <p:sp>
        <p:nvSpPr>
          <p:cNvPr id="6" name="TextBox 5"/>
          <p:cNvSpPr txBox="1"/>
          <p:nvPr/>
        </p:nvSpPr>
        <p:spPr>
          <a:xfrm>
            <a:off x="457200" y="4834127"/>
            <a:ext cx="11550352" cy="518159"/>
          </a:xfrm>
          <a:prstGeom prst="rect">
            <a:avLst/>
          </a:prstGeom>
          <a:noFill/>
        </p:spPr>
        <p:txBody>
          <a:bodyPr wrap="none" lIns="0" rIns="0">
            <a:noAutofit/>
          </a:bodyPr>
          <a:lstStyle/>
          <a:p>
            <a:pPr algn="l"/>
            <a:r>
              <a:rPr sz="3400" b="0" i="0">
                <a:solidFill>
                  <a:srgbClr val="0A2240"/>
                </a:solidFill>
                <a:latin typeface="Arial"/>
              </a:rPr>
              <a:t>A demo needs a known-good commit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Commit Ritual</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Stop typing</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Hands off the keyboard, it works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Commit and push</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Message says what now works</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Then keep going</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Anything new lands on top of it</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Sixty seconds of insurance</a:t>
            </a:r>
          </a:p>
        </p:txBody>
      </p:sp>
      <p:sp>
        <p:nvSpPr>
          <p:cNvPr id="6" name="TextBox 5"/>
          <p:cNvSpPr txBox="1"/>
          <p:nvPr/>
        </p:nvSpPr>
        <p:spPr>
          <a:xfrm>
            <a:off x="457200" y="1837944"/>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7" name="TextBox 6"/>
          <p:cNvSpPr txBox="1"/>
          <p:nvPr/>
        </p:nvSpPr>
        <p:spPr>
          <a:xfrm>
            <a:off x="697347" y="1837944"/>
            <a:ext cx="9207163" cy="518159"/>
          </a:xfrm>
          <a:prstGeom prst="rect">
            <a:avLst/>
          </a:prstGeom>
          <a:noFill/>
        </p:spPr>
        <p:txBody>
          <a:bodyPr wrap="none" lIns="0" rIns="0">
            <a:noAutofit/>
          </a:bodyPr>
          <a:lstStyle/>
          <a:p>
            <a:pPr algn="l"/>
            <a:r>
              <a:rPr sz="3400" b="0" i="0">
                <a:solidFill>
                  <a:srgbClr val="FFFFFF"/>
                </a:solidFill>
                <a:latin typeface="Arial"/>
              </a:rPr>
              <a:t> git add run.py steps/ fixtures/</a:t>
            </a:r>
          </a:p>
        </p:txBody>
      </p:sp>
      <p:sp>
        <p:nvSpPr>
          <p:cNvPr id="8" name="TextBox 7"/>
          <p:cNvSpPr txBox="1"/>
          <p:nvPr/>
        </p:nvSpPr>
        <p:spPr>
          <a:xfrm>
            <a:off x="457200" y="2356103"/>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9" name="TextBox 8"/>
          <p:cNvSpPr txBox="1"/>
          <p:nvPr/>
        </p:nvSpPr>
        <p:spPr>
          <a:xfrm>
            <a:off x="697347" y="2356103"/>
            <a:ext cx="11494653" cy="518159"/>
          </a:xfrm>
          <a:prstGeom prst="rect">
            <a:avLst/>
          </a:prstGeom>
          <a:noFill/>
        </p:spPr>
        <p:txBody>
          <a:bodyPr wrap="none" lIns="0" rIns="0">
            <a:noAutofit/>
          </a:bodyPr>
          <a:lstStyle/>
          <a:p>
            <a:pPr algn="l"/>
            <a:r>
              <a:rPr sz="3400" b="0" i="0">
                <a:solidFill>
                  <a:srgbClr val="FFFFFF"/>
                </a:solidFill>
                <a:latin typeface="Arial"/>
              </a:rPr>
              <a:t> git commit -m "happy path runs cold"</a:t>
            </a:r>
          </a:p>
        </p:txBody>
      </p:sp>
      <p:sp>
        <p:nvSpPr>
          <p:cNvPr id="10" name="TextBox 9"/>
          <p:cNvSpPr txBox="1"/>
          <p:nvPr/>
        </p:nvSpPr>
        <p:spPr>
          <a:xfrm>
            <a:off x="457200" y="2874262"/>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1" name="TextBox 10"/>
          <p:cNvSpPr txBox="1"/>
          <p:nvPr/>
        </p:nvSpPr>
        <p:spPr>
          <a:xfrm>
            <a:off x="697347" y="2874262"/>
            <a:ext cx="7171968" cy="518159"/>
          </a:xfrm>
          <a:prstGeom prst="rect">
            <a:avLst/>
          </a:prstGeom>
          <a:noFill/>
        </p:spPr>
        <p:txBody>
          <a:bodyPr wrap="none" lIns="0" rIns="0">
            <a:noAutofit/>
          </a:bodyPr>
          <a:lstStyle/>
          <a:p>
            <a:pPr algn="l"/>
            <a:r>
              <a:rPr sz="3400" b="0" i="0">
                <a:solidFill>
                  <a:srgbClr val="FFFFFF"/>
                </a:solidFill>
                <a:latin typeface="Arial"/>
              </a:rPr>
              <a:t> git push -u origin main</a:t>
            </a:r>
          </a:p>
        </p:txBody>
      </p:sp>
      <p:sp>
        <p:nvSpPr>
          <p:cNvPr id="12" name="TextBox 11"/>
          <p:cNvSpPr txBox="1"/>
          <p:nvPr/>
        </p:nvSpPr>
        <p:spPr>
          <a:xfrm>
            <a:off x="457200" y="3392421"/>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3" name="TextBox 12"/>
          <p:cNvSpPr txBox="1"/>
          <p:nvPr/>
        </p:nvSpPr>
        <p:spPr>
          <a:xfrm>
            <a:off x="697347" y="3392421"/>
            <a:ext cx="11494653" cy="518159"/>
          </a:xfrm>
          <a:prstGeom prst="rect">
            <a:avLst/>
          </a:prstGeom>
          <a:noFill/>
        </p:spPr>
        <p:txBody>
          <a:bodyPr wrap="none" lIns="0" rIns="0">
            <a:noAutofit/>
          </a:bodyPr>
          <a:lstStyle/>
          <a:p>
            <a:pPr algn="l"/>
            <a:r>
              <a:rPr sz="3400" b="0" i="0">
                <a:solidFill>
                  <a:srgbClr val="FFFFFF"/>
                </a:solidFill>
                <a:latin typeface="Arial"/>
              </a:rPr>
              <a:t> git tag happy-path &amp;&amp; git push --tags</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the repo looks like now</a:t>
            </a:r>
          </a:p>
        </p:txBody>
      </p:sp>
      <p:sp>
        <p:nvSpPr>
          <p:cNvPr id="3" name="Rounded Rectangle 2"/>
          <p:cNvSpPr/>
          <p:nvPr/>
        </p:nvSpPr>
        <p:spPr>
          <a:xfrm>
            <a:off x="457200" y="1499616"/>
            <a:ext cx="11277600" cy="4261104"/>
          </a:xfrm>
          <a:prstGeom prst="roundRect">
            <a:avLst>
              <a:gd name="adj" fmla="val 3004"/>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19656"/>
            <a:ext cx="3670360" cy="396240"/>
          </a:xfrm>
          <a:prstGeom prst="rect">
            <a:avLst/>
          </a:prstGeom>
          <a:noFill/>
        </p:spPr>
        <p:txBody>
          <a:bodyPr wrap="none" lIns="0" rIns="0">
            <a:noAutofit/>
          </a:bodyPr>
          <a:lstStyle/>
          <a:p>
            <a:pPr algn="l"/>
            <a:r>
              <a:rPr sz="2600" b="1" i="0">
                <a:solidFill>
                  <a:srgbClr val="0072CE"/>
                </a:solidFill>
                <a:latin typeface="Courier New"/>
              </a:rPr>
              <a:t>happy-path/</a:t>
            </a:r>
          </a:p>
        </p:txBody>
      </p:sp>
      <p:sp>
        <p:nvSpPr>
          <p:cNvPr id="5" name="TextBox 4"/>
          <p:cNvSpPr txBox="1"/>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6" name="TextBox 5"/>
          <p:cNvSpPr txBox="1"/>
          <p:nvPr/>
        </p:nvSpPr>
        <p:spPr>
          <a:xfrm>
            <a:off x="1417417" y="2215896"/>
            <a:ext cx="3036272" cy="396240"/>
          </a:xfrm>
          <a:prstGeom prst="rect">
            <a:avLst/>
          </a:prstGeom>
          <a:noFill/>
        </p:spPr>
        <p:txBody>
          <a:bodyPr wrap="none" lIns="0" rIns="0">
            <a:noAutofit/>
          </a:bodyPr>
          <a:lstStyle/>
          <a:p>
            <a:pPr algn="l"/>
            <a:r>
              <a:rPr sz="2600" b="1" i="0">
                <a:solidFill>
                  <a:srgbClr val="0072CE"/>
                </a:solidFill>
                <a:latin typeface="Courier New"/>
              </a:rPr>
              <a:t>fixtures/</a:t>
            </a:r>
          </a:p>
        </p:txBody>
      </p:sp>
      <p:sp>
        <p:nvSpPr>
          <p:cNvPr id="7" name="TextBox 6"/>
          <p:cNvSpPr txBox="1"/>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8" name="TextBox 7"/>
          <p:cNvSpPr txBox="1"/>
          <p:nvPr/>
        </p:nvSpPr>
        <p:spPr>
          <a:xfrm>
            <a:off x="2011873" y="2612136"/>
            <a:ext cx="3353315" cy="396240"/>
          </a:xfrm>
          <a:prstGeom prst="rect">
            <a:avLst/>
          </a:prstGeom>
          <a:noFill/>
        </p:spPr>
        <p:txBody>
          <a:bodyPr wrap="none" lIns="0" rIns="0">
            <a:noAutofit/>
          </a:bodyPr>
          <a:lstStyle/>
          <a:p>
            <a:pPr algn="l"/>
            <a:r>
              <a:rPr sz="2600" b="0" i="0">
                <a:solidFill>
                  <a:srgbClr val="FFFFFF"/>
                </a:solidFill>
                <a:latin typeface="Courier New"/>
              </a:rPr>
              <a:t>report.pdf</a:t>
            </a:r>
          </a:p>
        </p:txBody>
      </p:sp>
      <p:sp>
        <p:nvSpPr>
          <p:cNvPr id="9" name="TextBox 8"/>
          <p:cNvSpPr txBox="1"/>
          <p:nvPr/>
        </p:nvSpPr>
        <p:spPr>
          <a:xfrm>
            <a:off x="822960" y="300837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0" name="TextBox 9"/>
          <p:cNvSpPr txBox="1"/>
          <p:nvPr/>
        </p:nvSpPr>
        <p:spPr>
          <a:xfrm>
            <a:off x="1417417" y="3008376"/>
            <a:ext cx="2085140" cy="396240"/>
          </a:xfrm>
          <a:prstGeom prst="rect">
            <a:avLst/>
          </a:prstGeom>
          <a:noFill/>
        </p:spPr>
        <p:txBody>
          <a:bodyPr wrap="none" lIns="0" rIns="0">
            <a:noAutofit/>
          </a:bodyPr>
          <a:lstStyle/>
          <a:p>
            <a:pPr algn="l"/>
            <a:r>
              <a:rPr sz="2600" b="1" i="0">
                <a:solidFill>
                  <a:srgbClr val="0072CE"/>
                </a:solidFill>
                <a:latin typeface="Courier New"/>
              </a:rPr>
              <a:t>steps/</a:t>
            </a:r>
          </a:p>
        </p:txBody>
      </p:sp>
      <p:sp>
        <p:nvSpPr>
          <p:cNvPr id="11" name="TextBox 10"/>
          <p:cNvSpPr txBox="1"/>
          <p:nvPr/>
        </p:nvSpPr>
        <p:spPr>
          <a:xfrm>
            <a:off x="822960" y="340461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2" name="TextBox 11"/>
          <p:cNvSpPr txBox="1"/>
          <p:nvPr/>
        </p:nvSpPr>
        <p:spPr>
          <a:xfrm>
            <a:off x="2011873" y="3404616"/>
            <a:ext cx="3353315" cy="396240"/>
          </a:xfrm>
          <a:prstGeom prst="rect">
            <a:avLst/>
          </a:prstGeom>
          <a:noFill/>
        </p:spPr>
        <p:txBody>
          <a:bodyPr wrap="none" lIns="0" rIns="0">
            <a:noAutofit/>
          </a:bodyPr>
          <a:lstStyle/>
          <a:p>
            <a:pPr algn="l"/>
            <a:r>
              <a:rPr sz="2600" b="0" i="0">
                <a:solidFill>
                  <a:srgbClr val="FFFFFF"/>
                </a:solidFill>
                <a:latin typeface="Courier New"/>
              </a:rPr>
              <a:t>extract.py</a:t>
            </a:r>
          </a:p>
        </p:txBody>
      </p:sp>
      <p:sp>
        <p:nvSpPr>
          <p:cNvPr id="13" name="TextBox 12"/>
          <p:cNvSpPr txBox="1"/>
          <p:nvPr/>
        </p:nvSpPr>
        <p:spPr>
          <a:xfrm>
            <a:off x="822960" y="380085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4" name="TextBox 13"/>
          <p:cNvSpPr txBox="1"/>
          <p:nvPr/>
        </p:nvSpPr>
        <p:spPr>
          <a:xfrm>
            <a:off x="2011873" y="3800856"/>
            <a:ext cx="3036272" cy="396240"/>
          </a:xfrm>
          <a:prstGeom prst="rect">
            <a:avLst/>
          </a:prstGeom>
          <a:noFill/>
        </p:spPr>
        <p:txBody>
          <a:bodyPr wrap="none" lIns="0" rIns="0">
            <a:noAutofit/>
          </a:bodyPr>
          <a:lstStyle/>
          <a:p>
            <a:pPr algn="l"/>
            <a:r>
              <a:rPr sz="2600" b="0" i="0">
                <a:solidFill>
                  <a:srgbClr val="FFFFFF"/>
                </a:solidFill>
                <a:latin typeface="Courier New"/>
              </a:rPr>
              <a:t>render.py</a:t>
            </a:r>
          </a:p>
        </p:txBody>
      </p:sp>
      <p:sp>
        <p:nvSpPr>
          <p:cNvPr id="15" name="TextBox 14"/>
          <p:cNvSpPr txBox="1"/>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6" name="TextBox 15"/>
          <p:cNvSpPr txBox="1"/>
          <p:nvPr/>
        </p:nvSpPr>
        <p:spPr>
          <a:xfrm>
            <a:off x="1417417" y="4197096"/>
            <a:ext cx="2085140" cy="396240"/>
          </a:xfrm>
          <a:prstGeom prst="rect">
            <a:avLst/>
          </a:prstGeom>
          <a:noFill/>
        </p:spPr>
        <p:txBody>
          <a:bodyPr wrap="none" lIns="0" rIns="0">
            <a:noAutofit/>
          </a:bodyPr>
          <a:lstStyle/>
          <a:p>
            <a:pPr algn="l"/>
            <a:r>
              <a:rPr sz="2600" b="0" i="0">
                <a:solidFill>
                  <a:srgbClr val="FFFFFF"/>
                </a:solidFill>
                <a:latin typeface="Courier New"/>
              </a:rPr>
              <a:t>run.py</a:t>
            </a:r>
          </a:p>
        </p:txBody>
      </p:sp>
      <p:sp>
        <p:nvSpPr>
          <p:cNvPr id="17" name="TextBox 16"/>
          <p:cNvSpPr txBox="1"/>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8" name="TextBox 17"/>
          <p:cNvSpPr txBox="1"/>
          <p:nvPr/>
        </p:nvSpPr>
        <p:spPr>
          <a:xfrm>
            <a:off x="1417417" y="459333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the Message Should Say</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What input it accepts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What output it produces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What is still stubbed</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 how clever it is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Before and After the Commit</a:t>
            </a:r>
          </a:p>
        </p:txBody>
      </p:sp>
      <p:sp>
        <p:nvSpPr>
          <p:cNvPr id="3" name="TextBox 2"/>
          <p:cNvSpPr txBox="1"/>
          <p:nvPr/>
        </p:nvSpPr>
        <p:spPr>
          <a:xfrm>
            <a:off x="457200" y="1499616"/>
            <a:ext cx="6286102" cy="621791"/>
          </a:xfrm>
          <a:prstGeom prst="rect">
            <a:avLst/>
          </a:prstGeom>
          <a:noFill/>
        </p:spPr>
        <p:txBody>
          <a:bodyPr wrap="none" lIns="0" rIns="0">
            <a:noAutofit/>
          </a:bodyPr>
          <a:lstStyle/>
          <a:p>
            <a:pPr algn="l"/>
            <a:r>
              <a:rPr sz="3400" b="1" i="0">
                <a:solidFill>
                  <a:srgbClr val="0A2240"/>
                </a:solidFill>
                <a:latin typeface="Arial"/>
              </a:rPr>
              <a:t>Before committing</a:t>
            </a:r>
          </a:p>
        </p:txBody>
      </p:sp>
      <p:sp>
        <p:nvSpPr>
          <p:cNvPr id="4" name="Rectangle 3"/>
          <p:cNvSpPr/>
          <p:nvPr/>
        </p:nvSpPr>
        <p:spPr>
          <a:xfrm>
            <a:off x="457200" y="2176271"/>
            <a:ext cx="3814514"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709920" cy="621791"/>
          </a:xfrm>
          <a:prstGeom prst="rect">
            <a:avLst/>
          </a:prstGeom>
          <a:noFill/>
        </p:spPr>
        <p:txBody>
          <a:bodyPr wrap="none" lIns="0" rIns="0">
            <a:noAutofit/>
          </a:bodyPr>
          <a:lstStyle/>
          <a:p>
            <a:pPr algn="l"/>
            <a:r>
              <a:rPr sz="3400" b="1" i="0">
                <a:solidFill>
                  <a:srgbClr val="0072CE"/>
                </a:solidFill>
                <a:latin typeface="Arial"/>
              </a:rPr>
              <a:t>After committing</a:t>
            </a:r>
          </a:p>
        </p:txBody>
      </p:sp>
      <p:sp>
        <p:nvSpPr>
          <p:cNvPr id="6" name="Rectangle 5"/>
          <p:cNvSpPr/>
          <p:nvPr/>
        </p:nvSpPr>
        <p:spPr>
          <a:xfrm>
            <a:off x="6233160" y="2176271"/>
            <a:ext cx="34544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5674836" cy="609600"/>
          </a:xfrm>
          <a:prstGeom prst="rect">
            <a:avLst/>
          </a:prstGeom>
          <a:noFill/>
        </p:spPr>
        <p:txBody>
          <a:bodyPr wrap="none" lIns="0" rIns="0">
            <a:noAutofit/>
          </a:bodyPr>
          <a:lstStyle/>
          <a:p>
            <a:pPr algn="l"/>
            <a:r>
              <a:rPr sz="3400" b="0" i="0">
                <a:solidFill>
                  <a:srgbClr val="0A2240"/>
                </a:solidFill>
                <a:latin typeface="Arial"/>
              </a:rPr>
              <a:t>Nothing else at all</a:t>
            </a:r>
          </a:p>
        </p:txBody>
      </p:sp>
      <p:sp>
        <p:nvSpPr>
          <p:cNvPr id="8" name="TextBox 7"/>
          <p:cNvSpPr txBox="1"/>
          <p:nvPr/>
        </p:nvSpPr>
        <p:spPr>
          <a:xfrm>
            <a:off x="457200" y="3608831"/>
            <a:ext cx="7479625" cy="609600"/>
          </a:xfrm>
          <a:prstGeom prst="rect">
            <a:avLst/>
          </a:prstGeom>
          <a:noFill/>
        </p:spPr>
        <p:txBody>
          <a:bodyPr wrap="none" lIns="0" rIns="0">
            <a:noAutofit/>
          </a:bodyPr>
          <a:lstStyle/>
          <a:p>
            <a:pPr algn="l"/>
            <a:r>
              <a:rPr sz="3400" b="0" i="0">
                <a:solidFill>
                  <a:srgbClr val="0A2240"/>
                </a:solidFill>
                <a:latin typeface="Arial"/>
              </a:rPr>
              <a:t>No tidying, no renaming</a:t>
            </a:r>
          </a:p>
        </p:txBody>
      </p:sp>
      <p:sp>
        <p:nvSpPr>
          <p:cNvPr id="9" name="TextBox 8"/>
          <p:cNvSpPr txBox="1"/>
          <p:nvPr/>
        </p:nvSpPr>
        <p:spPr>
          <a:xfrm>
            <a:off x="457200" y="4821935"/>
            <a:ext cx="6863635" cy="609600"/>
          </a:xfrm>
          <a:prstGeom prst="rect">
            <a:avLst/>
          </a:prstGeom>
          <a:noFill/>
        </p:spPr>
        <p:txBody>
          <a:bodyPr wrap="none" lIns="0" rIns="0">
            <a:noAutofit/>
          </a:bodyPr>
          <a:lstStyle/>
          <a:p>
            <a:pPr algn="l"/>
            <a:r>
              <a:rPr sz="3400" b="0" i="0">
                <a:solidFill>
                  <a:srgbClr val="0A2240"/>
                </a:solidFill>
                <a:latin typeface="Arial"/>
              </a:rPr>
              <a:t>No one more small fix</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Everything you want</a:t>
            </a:r>
          </a:p>
        </p:txBody>
      </p:sp>
      <p:sp>
        <p:nvSpPr>
          <p:cNvPr id="11" name="TextBox 10"/>
          <p:cNvSpPr txBox="1"/>
          <p:nvPr/>
        </p:nvSpPr>
        <p:spPr>
          <a:xfrm>
            <a:off x="6233160" y="3608831"/>
            <a:ext cx="5501640" cy="609600"/>
          </a:xfrm>
          <a:prstGeom prst="rect">
            <a:avLst/>
          </a:prstGeom>
          <a:noFill/>
        </p:spPr>
        <p:txBody>
          <a:bodyPr wrap="none" lIns="0" rIns="0">
            <a:noAutofit/>
          </a:bodyPr>
          <a:lstStyle/>
          <a:p>
            <a:pPr algn="l"/>
            <a:r>
              <a:rPr sz="3400" b="0" i="0">
                <a:solidFill>
                  <a:srgbClr val="0A2240"/>
                </a:solidFill>
                <a:latin typeface="Arial"/>
              </a:rPr>
              <a:t>Break it freely</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You can always get back</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93852" cy="768096"/>
          </a:xfrm>
          <a:prstGeom prst="rect">
            <a:avLst/>
          </a:prstGeom>
          <a:noFill/>
        </p:spPr>
        <p:txBody>
          <a:bodyPr wrap="none" lIns="0" rIns="0">
            <a:noAutofit/>
          </a:bodyPr>
          <a:lstStyle/>
          <a:p>
            <a:pPr algn="l"/>
            <a:r>
              <a:rPr sz="4200" b="1" i="0">
                <a:solidFill>
                  <a:srgbClr val="0072CE"/>
                </a:solidFill>
                <a:latin typeface="Arial"/>
              </a:rPr>
              <a:t>What the Commit Buys You</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A place to stand</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Every later change can be undone to here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A shared build</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Teammates start from what already works</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A safe demo</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A known-good tag if tomorrow goes wrong</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Then, and Only Then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Add a second input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Handle the obvious failure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Make the output look right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Start on the demo wrapper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49</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This Down Now</a:t>
            </a:r>
          </a:p>
        </p:txBody>
      </p:sp>
      <p:sp>
        <p:nvSpPr>
          <p:cNvPr id="3" name="TextBox 2"/>
          <p:cNvSpPr txBox="1"/>
          <p:nvPr/>
        </p:nvSpPr>
        <p:spPr>
          <a:xfrm>
            <a:off x="457200" y="1499616"/>
            <a:ext cx="4302562" cy="518159"/>
          </a:xfrm>
          <a:prstGeom prst="rect">
            <a:avLst/>
          </a:prstGeom>
          <a:noFill/>
        </p:spPr>
        <p:txBody>
          <a:bodyPr wrap="none" lIns="0" rIns="0">
            <a:noAutofit/>
          </a:bodyPr>
          <a:lstStyle/>
          <a:p>
            <a:pPr algn="l"/>
            <a:r>
              <a:rPr sz="3400" b="1" i="0">
                <a:solidFill>
                  <a:srgbClr val="0072CE"/>
                </a:solidFill>
                <a:latin typeface="Arial"/>
              </a:rPr>
              <a:t>Question</a:t>
            </a:r>
          </a:p>
        </p:txBody>
      </p:sp>
      <p:sp>
        <p:nvSpPr>
          <p:cNvPr id="4" name="TextBox 3"/>
          <p:cNvSpPr txBox="1"/>
          <p:nvPr/>
        </p:nvSpPr>
        <p:spPr>
          <a:xfrm>
            <a:off x="5308402" y="1499616"/>
            <a:ext cx="4278233" cy="518159"/>
          </a:xfrm>
          <a:prstGeom prst="rect">
            <a:avLst/>
          </a:prstGeom>
          <a:noFill/>
        </p:spPr>
        <p:txBody>
          <a:bodyPr wrap="none" lIns="0" rIns="0">
            <a:noAutofit/>
          </a:bodyPr>
          <a:lstStyle/>
          <a:p>
            <a:pPr algn="l"/>
            <a:r>
              <a:rPr sz="3400" b="1" i="0">
                <a:solidFill>
                  <a:srgbClr val="0072CE"/>
                </a:solidFill>
                <a:latin typeface="Arial"/>
              </a:rPr>
              <a:t>Your answer</a:t>
            </a:r>
          </a:p>
        </p:txBody>
      </p:sp>
      <p:sp>
        <p:nvSpPr>
          <p:cNvPr id="5" name="Rectangle 4"/>
          <p:cNvSpPr/>
          <p:nvPr/>
        </p:nvSpPr>
        <p:spPr>
          <a:xfrm>
            <a:off x="457200" y="2072639"/>
            <a:ext cx="7776558"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5175568" cy="633984"/>
          </a:xfrm>
          <a:prstGeom prst="rect">
            <a:avLst/>
          </a:prstGeom>
          <a:noFill/>
        </p:spPr>
        <p:txBody>
          <a:bodyPr wrap="none" lIns="0" rIns="0">
            <a:noAutofit/>
          </a:bodyPr>
          <a:lstStyle/>
          <a:p>
            <a:pPr algn="l"/>
            <a:r>
              <a:rPr sz="3400" b="0" i="0">
                <a:solidFill>
                  <a:srgbClr val="0A2240"/>
                </a:solidFill>
                <a:latin typeface="Arial"/>
              </a:rPr>
              <a:t>The frozen input</a:t>
            </a:r>
          </a:p>
        </p:txBody>
      </p:sp>
      <p:sp>
        <p:nvSpPr>
          <p:cNvPr id="7" name="TextBox 6"/>
          <p:cNvSpPr txBox="1"/>
          <p:nvPr/>
        </p:nvSpPr>
        <p:spPr>
          <a:xfrm>
            <a:off x="5308402" y="2401823"/>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8" name="TextBox 7"/>
          <p:cNvSpPr txBox="1"/>
          <p:nvPr/>
        </p:nvSpPr>
        <p:spPr>
          <a:xfrm>
            <a:off x="457200" y="3310127"/>
            <a:ext cx="5943361" cy="633984"/>
          </a:xfrm>
          <a:prstGeom prst="rect">
            <a:avLst/>
          </a:prstGeom>
          <a:noFill/>
        </p:spPr>
        <p:txBody>
          <a:bodyPr wrap="none" lIns="0" rIns="0">
            <a:noAutofit/>
          </a:bodyPr>
          <a:lstStyle/>
          <a:p>
            <a:pPr algn="l"/>
            <a:r>
              <a:rPr sz="3400" b="0" i="0">
                <a:solidFill>
                  <a:srgbClr val="0A2240"/>
                </a:solidFill>
                <a:latin typeface="Arial"/>
              </a:rPr>
              <a:t>The one command</a:t>
            </a:r>
          </a:p>
        </p:txBody>
      </p:sp>
      <p:sp>
        <p:nvSpPr>
          <p:cNvPr id="9" name="TextBox 8"/>
          <p:cNvSpPr txBox="1"/>
          <p:nvPr/>
        </p:nvSpPr>
        <p:spPr>
          <a:xfrm>
            <a:off x="5308402" y="3310127"/>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0" name="TextBox 9"/>
          <p:cNvSpPr txBox="1"/>
          <p:nvPr/>
        </p:nvSpPr>
        <p:spPr>
          <a:xfrm>
            <a:off x="457200" y="4218431"/>
            <a:ext cx="6481763" cy="633984"/>
          </a:xfrm>
          <a:prstGeom prst="rect">
            <a:avLst/>
          </a:prstGeom>
          <a:noFill/>
        </p:spPr>
        <p:txBody>
          <a:bodyPr wrap="none" lIns="0" rIns="0">
            <a:noAutofit/>
          </a:bodyPr>
          <a:lstStyle/>
          <a:p>
            <a:pPr algn="l"/>
            <a:r>
              <a:rPr sz="3400" b="0" i="0">
                <a:solidFill>
                  <a:srgbClr val="0A2240"/>
                </a:solidFill>
                <a:latin typeface="Arial"/>
              </a:rPr>
              <a:t>The known-good tag</a:t>
            </a:r>
          </a:p>
        </p:txBody>
      </p:sp>
      <p:sp>
        <p:nvSpPr>
          <p:cNvPr id="11" name="TextBox 10"/>
          <p:cNvSpPr txBox="1"/>
          <p:nvPr/>
        </p:nvSpPr>
        <p:spPr>
          <a:xfrm>
            <a:off x="5308402" y="4218431"/>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2" name="TextBox 11"/>
          <p:cNvSpPr txBox="1"/>
          <p:nvPr/>
        </p:nvSpPr>
        <p:spPr>
          <a:xfrm>
            <a:off x="457200" y="5126735"/>
            <a:ext cx="5675510" cy="633984"/>
          </a:xfrm>
          <a:prstGeom prst="rect">
            <a:avLst/>
          </a:prstGeom>
          <a:noFill/>
        </p:spPr>
        <p:txBody>
          <a:bodyPr wrap="none" lIns="0" rIns="0">
            <a:noAutofit/>
          </a:bodyPr>
          <a:lstStyle/>
          <a:p>
            <a:pPr algn="l"/>
            <a:r>
              <a:rPr sz="3400" b="0" i="0">
                <a:solidFill>
                  <a:srgbClr val="0A2240"/>
                </a:solidFill>
                <a:latin typeface="Arial"/>
              </a:rPr>
              <a:t>Still done by hand</a:t>
            </a:r>
          </a:p>
        </p:txBody>
      </p:sp>
      <p:sp>
        <p:nvSpPr>
          <p:cNvPr id="13" name="TextBox 12"/>
          <p:cNvSpPr txBox="1"/>
          <p:nvPr/>
        </p:nvSpPr>
        <p:spPr>
          <a:xfrm>
            <a:off x="5308402" y="5126735"/>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50</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Leaving This Session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One input, frozen in the repo</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One command runs it all</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It works from a cold start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It is committed and pushed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51</a:t>
            </a:fld>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Could a stranger run it?</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52</a:t>
            </a:fld>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Next: Making It Demoable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front end a stranger can drive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public URL, not your laptop</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three-minute demo script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An honest list of what is faked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