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session 1.1, From Vague to Precise. Over the next thirty-five minutes we turn whatever you arrived with into a problem statement sharp enough to build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Thirty-five minutes, and you leave with exactly one thing: a single precise problem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things this session. We separate problem statements from solution statements, get Claude to interrogate a vague ask, run the three-gate scoping test, and stand up your Claude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So: what are you building? Answer it in one sentence, out loud, before we go any further.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are two ways to answer that. “An AI thing for resumes” is the vague one. “Flags gaps in two hundred files” is the precise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moves to get from one to the other: separate the problem from the solution, let Claude interrogate the ask, run it through the scoping test, then commit it to your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the distinction everything else rests on: a problem is not a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problem statement is the mismatch between reality and expectation — a gap between what happens today and what should happen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solution statement is something you plan to build, and it quietly assumes the diagnosis is already settled.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how to tell them apart. A problem describes a gap, admits several fixes, and names who suffers. A solution describes a build, assumes one fix, and names a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real asks on the left and the problem underneath each one on the right. “Build a RAG chatbot” means staff cannot find answers; “use an agent” means review takes four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Starting from the solution costs you four things: you cannot tell if it worked, the tool choice is locked before you understand the problem, scope creeps with no boundary, and feedback arrives too late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tells that what you wrote is a solution. A tool is named. Only one fix fits. And nobody appears in it as a person who is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fastest test in the room: if it names a tool, it is not a problem statement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Interrogation means handing Claude your vague ask and having it attack that ask until what is left is precise.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things make it actually interrogate rather than agree: give it the adversarial role, forbid it from proposing solutions, demand one question at a time, and make it refuse to move on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prompt. A skeptical product lead, your idea in quotes, and four rules: one question at a time, never propose a solution, reject vague answers, stop when it is precise.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loop is three steps. Answer plainly, with no hedging and no tool names. Let it push, and expect the follow-up to hurt. Then ask Claude to restate your problem back to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one interrogation does. “An AI thing for resumes”, with no idea who it is for or when it is done, becomes: recruiters miss skill gaps, for two hundred intern applicants, flagged in one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know it is precise when a stranger can restate it, you know who is stuck, you can name a wrong answer, and two people would agree on whether it is solved.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Second: a precise problem still has to be the right size. That is what the scoping test is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scoping test is three gates your problem passes through before you commit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gates are a measurable outcome, so you can say whether it worked; data available today, in hand; and three days, meaning finishable by Friday noon.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Gate one is measurable. Before you build anything, state what would prove it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Vague on the left, measurable on the right. “Better resumes” becomes “flags eight of ten known gaps”; “faster reviews” becomes “under thirty seconds per file”.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Gate two is data, and it has three parts: it exists, you are allowed to use it, and you have it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plans die in three places. Access is still pending approval. The data exists but is in the wrong shape. Or it is real records too sensitive to touch.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Gate three is three days, and what it means is the whole path working rather than one part polished.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days buys you one of two things: one path, end to end and rough, or one part, polished and alone. Take the rough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candidate ideas against the three gates. Resumes passes all three. Policy fails on data today. Grader fails on measurable and 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opposite case means having Claude argue that your problem is the wrong one to pick.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that prompt. Paste your statement, then ask for the three strongest objections to it as a three-day build, hardest first, with no alternatives offered.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steps. Read all three objections without answering. Rank them by which would actually sink you. Then either fix the problem or accept the risk knowingly.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an objection lands, narrow the users rather than the ambition, shrink the data but keep the path, and stub the hard step for now. Change problems only if a gate actually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Cutting scope means one user type instead of four, one input format instead of any, and one clean path with no edge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 and last: getting all of this out of your head and into something the team shares.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Claude Project is a shared workspace that holds your instructions and your context in one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difference from a chat is this. In a chat, context dies with the tab, one person holds it, and you re-explain it every time. In a Project, context persists, the whole team shares it, and you explain it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Project holds three things: instructions, which are standing rules for every chat; context, meaning your uploaded documents and data; and one place everybody works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steps, right now. Create it and name it for the problem. Paste your problem statement into the instructions. Then add every teammate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template for those instructions: the problem, what success looks like, and what is out of scope along with why you cut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Upload three things: sample data even if it is faked, the interrogation transcript, and the objections you accepted.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upload real personal records, anything under an NDA, or credentials and API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conventions worth agreeing now: the Project is the single source, decisions get logged in writing, everyone reads it first, and it gets updated whenever scope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ways Projects go stale: instructions written once and never updated, uploads nobody has actually read, and one team member still working in a private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are done with this session when your statement passes all three gates, the strongest objection has an answer, and the Project exists and is shared.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leave with one precise problem, three gates passed, and one shared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session we break that problem into steps, draw it as a Claude Artifact, and name what each step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last question to take with you: can a stranger restate your problem back to you? If not, it is not precise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33344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65448"/>
            <a:ext cx="50480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65448"/>
            <a:ext cx="4791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76728"/>
            <a:ext cx="40335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6544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581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651887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038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69408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3943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39830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831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2909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0072CE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0A2240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0A2240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B6B82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6596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011680"/>
            <a:ext cx="128016" cy="28346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011680"/>
            <a:ext cx="10738104" cy="28346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0A2240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46804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7851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057461" y="2356103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177429" y="2356103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11334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937071" y="287426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1777057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1920850" y="2874262"/>
            <a:ext cx="44745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4603155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910580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393118" y="3910580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697347" y="4946898"/>
            <a:ext cx="50224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465057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5B6B82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69425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7594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9042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48462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5B6B82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259384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701280" y="259384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0072CE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70128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5B6B82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5B6B82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5B6B82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0072CE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5B6B82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3337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339579" y="1499616"/>
            <a:ext cx="22382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126448" y="1499616"/>
            <a:ext cx="20223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7691577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39579" y="2401823"/>
            <a:ext cx="241036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126448" y="2401823"/>
            <a:ext cx="202232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339579" y="3310127"/>
            <a:ext cx="2794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126448" y="3310127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298620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339579" y="4218431"/>
            <a:ext cx="3178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126448" y="4218431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3316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339579" y="5126735"/>
            <a:ext cx="3062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126448" y="5126735"/>
            <a:ext cx="256317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666488"/>
            <a:ext cx="1445581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260802" y="4666488"/>
            <a:ext cx="1969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3264408"/>
            <a:ext cx="4522132" cy="1127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666488"/>
            <a:ext cx="1840906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795183" y="4666488"/>
            <a:ext cx="26016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072CE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666488"/>
            <a:ext cx="1037817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288294" y="4666488"/>
            <a:ext cx="1316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7156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946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444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39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8319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793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558452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5B6B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594080" y="2316480"/>
            <a:ext cx="5003840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58104" y="3950208"/>
            <a:ext cx="34757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235159" y="5583935"/>
            <a:ext cx="1721682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5B6B82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5B6B82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186160" y="6035040"/>
            <a:ext cx="54864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280182" y="1499616"/>
            <a:ext cx="36504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5973987" y="1499616"/>
            <a:ext cx="367607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845296" y="1499616"/>
            <a:ext cx="3346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01063" y="2401823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491979" y="2401823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279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785355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98603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901063" y="4823967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198603" y="4823967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7556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From Vague to Precise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6428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Immersion Week SF · Day 1 · Session 1.1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58343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0072CE"/>
                </a:solidFill>
                <a:latin typeface="Arial"/>
              </a:rPr>
              <a:t>35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360" y="3329940"/>
            <a:ext cx="109728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912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0A2240"/>
                </a:solidFill>
                <a:latin typeface="Arial"/>
              </a:rPr>
              <a:t>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664964"/>
            <a:ext cx="1219200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5B6B82"/>
                </a:solidFill>
                <a:latin typeface="Arial"/>
              </a:rPr>
              <a:t>You leave with one precise problem statement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This Session Covers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18488"/>
            <a:ext cx="10820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Problem statements versus solution statements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22626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22626"/>
            <a:ext cx="10820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Making Claude interrogate a vague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26764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26764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three-gate scoping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30902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930902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Standing up your Claude Project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0"/>
            <a:ext cx="128016" cy="10058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92608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A2240"/>
                </a:solidFill>
                <a:latin typeface="Arial"/>
              </a:rPr>
              <a:t>What are you building?</a:t>
            </a:r>
          </a:p>
        </p:txBody>
      </p:sp>
      <p:sp>
        <p:nvSpPr>
          <p:cNvPr id="4" name="TextBox 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Two Ways to Answer That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Vague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An AI thing for resumes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Precise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462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Flags gaps in 200 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5B6B82"/>
                </a:solidFill>
                <a:latin typeface="Arial"/>
              </a:rPr>
              <a:t>VS</a:t>
            </a:r>
          </a:p>
        </p:txBody>
      </p:sp>
      <p:sp>
        <p:nvSpPr>
          <p:cNvPr id="8" name="TextBox 7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How We Get There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31015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Separate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Problem apart from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379144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Interrogate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Let Claude attack the 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Run the three-gate 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2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7544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Commit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Write it into the Project</a:t>
            </a:r>
          </a:p>
        </p:txBody>
      </p:sp>
      <p:sp>
        <p:nvSpPr>
          <p:cNvPr id="19" name="TextBox 1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Problem, Not Solution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1158656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gap between what happens and what should.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1156275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Solution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thing you plan to build, assuming the diagnosis.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How to Tell Them Apart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5B6B82"/>
                </a:solidFill>
                <a:latin typeface="Arial"/>
              </a:rPr>
              <a:t>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Describes a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632591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Admits several fixes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608336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Names who suffers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Describes a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Assumes one fix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Names a tool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They Said, What They Meant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498024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Said (solution)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83944" y="1499616"/>
            <a:ext cx="55564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Meant (problem)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10233052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64426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Build a RAG chatbot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83944" y="2401823"/>
            <a:ext cx="690805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Staff cannot find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575141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Fine-tune a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3944" y="3310127"/>
            <a:ext cx="690805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Output misses our tone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590557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Make a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3944" y="4218431"/>
            <a:ext cx="690805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Nobody sees the 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4292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Use an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3944" y="5126735"/>
            <a:ext cx="690805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Review takes four hours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Why Solution-First Hurts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You cannot tell if it worked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tool choice is already locked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Scope creeps with no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Feedback arrives too late to use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Three Tells You Wrote a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 tool is named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RAG, agent, fine-tune,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Only one fix 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No alternative is even thinkable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No one is in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Nobody is described as stuck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13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621280"/>
            <a:ext cx="128016" cy="16154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621280"/>
            <a:ext cx="111953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A2240"/>
                </a:solidFill>
                <a:latin typeface="Arial"/>
              </a:rPr>
              <a:t>"Names a tool? Not a problem yet."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627120"/>
            <a:ext cx="107381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B6B82"/>
                </a:solidFill>
                <a:latin typeface="Arial"/>
              </a:rPr>
              <a:t>- The fastest test in the room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14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Interrogation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Making Claude attack a vague ask until it is precise.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15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Makes Claude Interrogate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Give it the adversarial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Forbid it from proposing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Demand one question at a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Make it refuse to move on early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16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The Interrogation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101817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You are a skeptical product lead.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56103"/>
            <a:ext cx="29858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My idea: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09068" y="2356103"/>
            <a:ext cx="77778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"an AI thing for resumes"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92421"/>
            <a:ext cx="21411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Rules: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910580"/>
            <a:ext cx="962884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- Ask ONE question at a 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28739"/>
            <a:ext cx="886172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- Never propose a solution.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946898"/>
            <a:ext cx="79778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- Reject vague answers.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465057"/>
            <a:ext cx="498294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- Stop when it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7240" y="5465057"/>
            <a:ext cx="68181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69072" y="5465057"/>
            <a:ext cx="27939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precise.</a:t>
            </a:r>
          </a:p>
        </p:txBody>
      </p:sp>
      <p:sp>
        <p:nvSpPr>
          <p:cNvPr id="16" name="TextBox 1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17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The Interrogation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Answer plainly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No hedging, no tool names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Let it push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Expect the follow-up to hurt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Restate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Ask Claude to write it back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18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Before and After the Interrogation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After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7363916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An AI thing for resumes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Recruiters miss skill gaps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555845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Who for? Unclear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For 200 intern applicants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6634916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Done when? Unclear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Flagged in one pass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19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Signs It Is Now Precise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stranger can restate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You know who is stuck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You can name a wrong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Two people would agree it is solved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20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The Scoping Test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Scoping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Three gates a problem passes before you commit.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22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The Three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Measurable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You can say whether it worked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Data available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You have it, today, in hand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Three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Finishable by Friday noon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23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Gate 1 · Measurable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State up front what would prove it worked.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24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Vague Metric, Measurable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29348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Vague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9322" y="1499616"/>
            <a:ext cx="617355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23A6B"/>
                </a:solidFill>
                <a:latin typeface="Arial"/>
              </a:rPr>
              <a:t>Measurable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10015676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486723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Better resumes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9322" y="2401823"/>
            <a:ext cx="789267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Flags 8 of 10 known gaps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467461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Faster reviews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9322" y="3310127"/>
            <a:ext cx="789267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Under 30 seconds per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440709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Higher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9322" y="4218431"/>
            <a:ext cx="789267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Two reviewers agree it passes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379245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More useful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9322" y="5126735"/>
            <a:ext cx="7440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Used unprompted twice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25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Gate 2 ·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It exists, you may use it, you have it today.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26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Where Data Plans Die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Access pending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Someone still has to approve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Wrong shape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Exists, but not in usable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Too sensitive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Real records you cannot touch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27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Gate 3 · Three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whole path working, not one part polished.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28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Three Days Buys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551" y="2776728"/>
            <a:ext cx="5466278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One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End to end and 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40307" y="2776728"/>
            <a:ext cx="5196006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0A2240"/>
                </a:solidFill>
                <a:latin typeface="Arial"/>
              </a:rPr>
              <a:t>One 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4620" y="396544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Polished but alone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5B6B82"/>
                </a:solidFill>
                <a:latin typeface="Arial"/>
              </a:rPr>
              <a:t>VS</a:t>
            </a:r>
          </a:p>
        </p:txBody>
      </p:sp>
      <p:sp>
        <p:nvSpPr>
          <p:cNvPr id="8" name="TextBox 7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29</a:t>
            </a:fld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Three Candidate Ideas, Three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77866" y="1499616"/>
            <a:ext cx="3255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Resumes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4408" y="1499616"/>
            <a:ext cx="24484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0A2240"/>
                </a:solidFill>
                <a:latin typeface="Arial"/>
              </a:rPr>
              <a:t>Grader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01823"/>
            <a:ext cx="3984406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Measurable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68570" y="2401823"/>
            <a:ext cx="1073659" cy="518159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8380" y="2401823"/>
            <a:ext cx="13740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Yes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5872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Yes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12895"/>
            <a:ext cx="32537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Data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9248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02496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3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9248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Yes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2496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0A2240"/>
                </a:solidFill>
                <a:latin typeface="Arial"/>
              </a:rPr>
              <a:t>No</a:t>
            </a:r>
          </a:p>
        </p:txBody>
      </p:sp>
      <p:sp>
        <p:nvSpPr>
          <p:cNvPr id="20" name="TextBox 19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30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819923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The opposite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Making Claude argue your problem is the wrong one.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7348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Make Claude Argue Against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744015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Our problem statement: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56103"/>
            <a:ext cx="370778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"&lt;paste it&gt;"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92421"/>
            <a:ext cx="348547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Argue this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1322" y="3392421"/>
            <a:ext cx="68181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3154" y="3392421"/>
            <a:ext cx="693987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the WRONG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10580"/>
            <a:ext cx="98913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586C0"/>
                </a:solidFill>
                <a:latin typeface="Arial"/>
              </a:rPr>
              <a:t>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1107" y="3910580"/>
            <a:ext cx="5713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a three-day build.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946898"/>
            <a:ext cx="851628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Three strongest objections,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65057"/>
            <a:ext cx="897608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hardest first. No alternatives.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32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Running the Opposition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Read all 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Do not answer while reading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Rank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Which would actually sink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Fix or accept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Narrow it, or note the risk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33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When the Objection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Narrow the users, not the ambition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Shrink the data, keep the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Stub the hard step for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Change problems only if a gate fails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34</a:t>
            </a:fld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Cut Scope, Not Ambition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user type, not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input format, not 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clean path, no edge cases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35</a:t>
            </a:fld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The Team's Shared Brain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36</a:t>
            </a:fld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84120"/>
            <a:ext cx="128016" cy="188976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8412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Claude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76428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 shared workspace holding instructions and context.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37</a:t>
            </a:fld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Chat Versus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5B6B82"/>
                </a:solidFill>
                <a:latin typeface="Arial"/>
              </a:rPr>
              <a:t>A chat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072CE"/>
                </a:solidFill>
                <a:latin typeface="Arial"/>
              </a:rPr>
              <a:t>A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709606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Context dies at the tab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617410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person holds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763244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Re-explained every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Context persists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whole team shares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Explained once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38</a:t>
            </a:fld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a Project Holds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Instructions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Standing rules for every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Uploaded docs and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One place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Everyone works from it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39</a:t>
            </a:fld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Stand One Up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Create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Name it for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Instruct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Paste the 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23A6B"/>
                </a:solidFill>
                <a:latin typeface="Arial"/>
              </a:rPr>
              <a:t>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Add every teammate today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40</a:t>
            </a:fld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Project Instructions Template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33164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759499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&lt;the precise statement&gt;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77"/>
            <a:ext cx="640349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Success looks like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44236"/>
            <a:ext cx="859387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&lt;the measurable outcome&gt;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80554"/>
            <a:ext cx="467629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Out of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98713"/>
            <a:ext cx="461827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&lt;what we cut,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29322" y="4998713"/>
            <a:ext cx="133558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49762" y="4998713"/>
            <a:ext cx="20068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why&gt;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41</a:t>
            </a:fld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to Upload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Sample data, even if faked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interrogation transcript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objections you accepted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42</a:t>
            </a:fld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Not to Upload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Real personal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Anything under an 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Credentials or API keys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43</a:t>
            </a:fld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Team Conventions Worth Setting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One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Project over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4518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Log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Decisions land in 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Shared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Everyone reads it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0A2240"/>
                </a:solidFill>
                <a:latin typeface="Arial"/>
              </a:rPr>
              <a:t>Update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Change it when scope does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44</a:t>
            </a:fld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Project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Instructions written once, never updated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Uploads nobody has actually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One member still working in chat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45</a:t>
            </a:fld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Done With This Session When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statement passes three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strongest objection is answered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The Project exists and is shared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46</a:t>
            </a:fld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What You Leave With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65448"/>
            <a:ext cx="517455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Precise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3965448"/>
            <a:ext cx="44458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Gates passed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5848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072CE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58480" y="396544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Shared Project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47</a:t>
            </a:fld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640979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0072CE"/>
                </a:solidFill>
                <a:latin typeface="Arial"/>
              </a:rPr>
              <a:t>Next: Mapping the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Break the problem into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Draw it as a Claude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0A2240"/>
                </a:solidFill>
                <a:latin typeface="Arial"/>
              </a:rPr>
              <a:t>Name what each step needs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48</a:t>
            </a:fld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926080"/>
            <a:ext cx="128016" cy="100584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92608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0A2240"/>
                </a:solidFill>
                <a:latin typeface="Arial"/>
              </a:rPr>
              <a:t>Can a stranger restate it?</a:t>
            </a:r>
          </a:p>
        </p:txBody>
      </p:sp>
      <p:sp>
        <p:nvSpPr>
          <p:cNvPr id="4" name="TextBox 3"/>
          <p:cNvSpPr/>
          <p:nvPr>
            <p:ph type="sldNum" idx="12"/>
          </p:nvPr>
        </p:nvSpPr>
        <p:spPr>
          <a:xfrm>
            <a:off x="11186160" y="6035040"/>
            <a:ext cx="54864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r"/>
            <a:fld id="{4B0E1F8A-6C1D-4E2A-9F3B-7A5C8D2E1F60}" type="slidenum">
              <a:rPr sz="1600" b="0" i="0">
                <a:solidFill>
                  <a:srgbClr val="5B6B82"/>
                </a:solidFill>
                <a:latin typeface="Arial"/>
              </a:rPr>
              <a:t>49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