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session 1.1, From Vague to Precise. Over the next thirty-five minutes we turn whatever you arrived with into a problem statement sharp enough to build against.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Thirty-five minutes, and you leave with exactly one thing: a single precise problem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things this session. We separate problem statements from solution statements, get Claude to interrogate a vague ask, run the three-gate scoping test, and stand up your Claude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So: what are you building? Answer it in one sentence, out loud, before we go any further.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 are two ways to answer that. “An AI thing for resumes” is the vague one. “Flags gaps in two hundred files” is the precise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moves to get from one to the other: separate the problem from the solution, let Claude interrogate the ask, run it through the scoping test, then commit it to your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First, the distinction everything else rests on: a problem is not a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problem statement is the mismatch between reality and expectation — a gap between what happens today and what should happen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solution statement is something you plan to build, and it quietly assumes the diagnosis is already settled.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how to tell them apart. A problem describes a gap, admits several fixes, and names who suffers. A solution describes a build, assumes one fix, and names a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real asks on the left and the problem underneath each one on the right. “Build a RAG chatbot” means staff cannot find answers; “use an agent” means review takes four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Starting from the solution costs you four things: you cannot tell if it worked, the tool choice is locked before you understand the problem, scope creeps with no boundary, and feedback arrives too late to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tells that what you wrote is a solution. A tool is named. Only one fix fits. And nobody appears in it as a person who is stuck.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fastest test in the room: if it names a tool, it is not a problem statement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Interrogation means handing Claude your vague ask and having it attack that ask until what is left is precise.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things make it actually interrogate rather than agree: give it the adversarial role, forbid it from proposing solutions, demand one question at a time, and make it refuse to move on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prompt. A skeptical product lead, your idea in quotes, and four rules: one question at a time, never propose a solution, reject vague answers, stop when it is precise.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loop is three steps. Answer plainly, with no hedging and no tool names. Let it push, and expect the follow-up to hurt. Then ask Claude to restate your problem back to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what one interrogation does. “An AI thing for resumes”, with no idea who it is for or when it is done, becomes: recruiters miss skill gaps, for two hundred intern applicants, flagged in one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know it is precise when a stranger can restate it, you know who is stuck, you can name a wrong answer, and two people would agree on whether it is solved.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Second: a precise problem still has to be the right size. That is what the scoping test is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scoping test is three gates your problem passes through before you commit 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 gates are a measurable outcome, so you can say whether it worked; data available today, in hand; and three days, meaning finishable by Friday noon.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Gate one is measurable. Before you build anything, state what would prove it worked.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Vague on the left, measurable on the right. “Better resumes” becomes “flags eight of ten known gaps”; “faster reviews” becomes “under thirty seconds per file”.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Gate two is data, and it has three parts: it exists, you are allowed to use it, and you have it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plans die in three places. Access is still pending approval. The data exists but is in the wrong shape. Or it is real records too sensitive to touch.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Gate three is three days, and what it means is the whole path working rather than one part polished.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days buys you one of two things: one path, end to end and rough, or one part, polished and alone. Take the rough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candidate ideas against the three gates. Resumes passes all three. Policy fails on data today. Grader fails on measurable and on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opposite case means having Claude argue that your problem is the wrong one to pick.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that prompt. Paste your statement, then ask for the three strongest objections to it as a three-day build, hardest first, with no alternatives offered.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steps. Read all three objections without answering. Rank them by which would actually sink you. Then either fix the problem or accept the risk knowingly.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an objection lands, narrow the users rather than the ambition, shrink the data but keep the path, and stub the hard step for now. Change problems only if a gate actually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Cutting scope means one user type instead of four, one input format instead of any, and one clean path with no edge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Third and last: getting all of this out of your head and into something the team shares.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Claude Project is a shared workspace that holds your instructions and your context in one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difference from a chat is this. In a chat, context dies with the tab, one person holds it, and you re-explain it every time. In a Project, context persists, the whole team shares it, and you explain it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Project holds three things: instructions, which are standing rules for every chat; context, meaning your uploaded documents and data; and one place everybody works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steps, right now. Create it and name it for the problem. Paste your problem statement into the instructions. Then add every teammate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template for those instructions: the problem, what success looks like, and what is out of scope along with why you cut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Upload three things: sample data even if it is faked, the interrogation transcript, and the objections you accepted.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upload real personal records, anything under an NDA, or credentials and API 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conventions worth agreeing now: the Project is the single source, decisions get logged in writing, everyone reads it first, and it gets updated whenever scope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ways Projects go stale: instructions written once and never updated, uploads nobody has actually read, and one team member still working in a private chat.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are done with this session when your statement passes all three gates, the strongest objection has an answer, and the Project exists and is shared.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leave with one precise problem, three gates passed, and one shared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session we break that problem into steps, draw it as a Claude Artifact, and name what each step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914400" y="2971800"/>
            <a:ext cx="1127760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Quarterly Business Review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Icon Text Row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What Drives Us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Excellence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2109215"/>
            <a:ext cx="117348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High standards in every deliverable we ship.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3011424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Integrity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621023"/>
            <a:ext cx="1133344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Transparent and honest in all we do.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4523232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Innovation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57200" y="5132831"/>
            <a:ext cx="117348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Investing in ideas that shape tomorrow.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Stat Call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By the Numbers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77672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127%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3965448"/>
            <a:ext cx="504805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Revenue Target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307840" y="277672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94%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307840" y="3965448"/>
            <a:ext cx="479167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Retention Rate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8158480" y="2776728"/>
            <a:ext cx="40335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48 NPS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8158480" y="3965448"/>
            <a:ext cx="403352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Net Promoter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omparison Column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Side-by-Side Evaluation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5558115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Legacy Platform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Modern Stack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395727"/>
            <a:ext cx="651887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Deploy time: 4 hours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6233160" y="2395727"/>
            <a:ext cx="5903892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Deploy time: 8 min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3517391"/>
            <a:ext cx="55016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Manual scaling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6233160" y="3517391"/>
            <a:ext cx="55016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Auto-scales fast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4639055"/>
            <a:ext cx="6940888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On-premise; high cost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233160" y="4639055"/>
            <a:ext cx="59588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Cloud-native; low cost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imelin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Key Milestones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0072CE"/>
                </a:solidFill>
                <a:latin typeface="Arial"/>
              </a:rPr>
              <a:t>Q1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2154936"/>
            <a:ext cx="394325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Foundation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Cloud platform migration done.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334518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0072CE"/>
                </a:solidFill>
                <a:latin typeface="Arial"/>
              </a:rPr>
              <a:t>Q2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3345180" y="2154936"/>
            <a:ext cx="398305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API Launch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34518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REST API live with 99.99% SLA.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623316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0072CE"/>
                </a:solidFill>
                <a:latin typeface="Arial"/>
              </a:rPr>
              <a:t>Q3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233160" y="2154936"/>
            <a:ext cx="26136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AI Beta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623316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AI features shipped to 500 partners.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912114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0072CE"/>
                </a:solidFill>
                <a:latin typeface="Arial"/>
              </a:rPr>
              <a:t>Q4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9121140" y="2154936"/>
            <a:ext cx="30708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Scale Out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912114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APAC regions live; global coverage.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Image Half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Built in the Field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6233160" y="1499616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Built with customers.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6233160" y="2383536"/>
            <a:ext cx="5501640" cy="112776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60% faster; 50% fewer tickets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Section Divi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1783080"/>
            <a:ext cx="128016" cy="201168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178308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996696" y="3063240"/>
            <a:ext cx="107381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Where We Stand Today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What We Will Cover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457200" y="1280160"/>
            <a:ext cx="11277600" cy="64008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161848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1371600" y="161848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Performance against targets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250179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1371600" y="250179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Customer and market signals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57200" y="338510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03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1371600" y="338510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Operational health and risks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57200" y="426841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04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1371600" y="426841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Roadmap for next quarter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457200" y="515172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05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1371600" y="515172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Decisions we need today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Big Numb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body" idx="1"/>
          </p:nvPr>
        </p:nvSpPr>
        <p:spPr>
          <a:xfrm>
            <a:off x="457200" y="2025396"/>
            <a:ext cx="11277600" cy="16916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10500" b="1" i="0">
                <a:solidFill>
                  <a:srgbClr val="0072CE"/>
                </a:solidFill>
                <a:latin typeface="Arial"/>
              </a:rPr>
              <a:t>3.2M</a:t>
            </a:r>
          </a:p>
        </p:txBody>
      </p:sp>
      <p:sp>
        <p:nvSpPr>
          <p:cNvPr id="6" name="Rectangle 5"/>
          <p:cNvSpPr/>
          <p:nvPr>
            <p:ph type="body" idx="2"/>
          </p:nvPr>
        </p:nvSpPr>
        <p:spPr>
          <a:xfrm>
            <a:off x="5547360" y="3771900"/>
            <a:ext cx="1097280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457200" y="4101084"/>
            <a:ext cx="11277600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0" i="0">
                <a:solidFill>
                  <a:srgbClr val="0A2240"/>
                </a:solidFill>
                <a:latin typeface="Arial"/>
              </a:rPr>
              <a:t>Active customers worldwide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Pull Quo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2621280"/>
            <a:ext cx="128016" cy="161544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2621280"/>
            <a:ext cx="111953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A2240"/>
                </a:solidFill>
                <a:latin typeface="Arial"/>
              </a:rPr>
              <a:t>"We buy outcomes, not tools."</a:t>
            </a:r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996696" y="362712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- VP of Engineering, enterprise customer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Defini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2484120"/>
            <a:ext cx="128016" cy="188976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2484120"/>
            <a:ext cx="111953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Net Revenue Retention</a:t>
            </a:r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996696" y="376428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Revenue kept from existing customers.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Ques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2926080"/>
            <a:ext cx="128016" cy="100584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2926080"/>
            <a:ext cx="111953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A2240"/>
                </a:solidFill>
                <a:latin typeface="Arial"/>
              </a:rPr>
              <a:t>What if we trusted users?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Bullet Lis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46804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What Changed This Quarter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39572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Activation time dropped by half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337108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Support tickets fell sharply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4346447"/>
            <a:ext cx="117348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Expansion revenue outpaced new sales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ode Block">
    <p:bg>
      <p:bgPr>
        <a:solidFill>
          <a:srgbClr val="0C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>
            <p:ph type="body" idx="2"/>
          </p:nvPr>
        </p:nvSpPr>
        <p:spPr>
          <a:xfrm>
            <a:off x="713232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>
            <p:ph type="body" idx="3"/>
          </p:nvPr>
        </p:nvSpPr>
        <p:spPr>
          <a:xfrm>
            <a:off x="969264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4"/>
          </p:nvPr>
        </p:nvSpPr>
        <p:spPr>
          <a:xfrm>
            <a:off x="457200" y="923544"/>
            <a:ext cx="1127760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  <a:latin typeface="Arial"/>
              </a:rPr>
              <a:t>hello.py</a:t>
            </a:r>
          </a:p>
        </p:txBody>
      </p:sp>
      <p:sp>
        <p:nvSpPr>
          <p:cNvPr id="9" name="TextBox 8"/>
          <p:cNvSpPr/>
          <p:nvPr>
            <p:ph type="body" idx="5"/>
          </p:nvPr>
        </p:nvSpPr>
        <p:spPr>
          <a:xfrm>
            <a:off x="457200" y="1837944"/>
            <a:ext cx="785137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# The classic, end to end</a:t>
            </a:r>
          </a:p>
        </p:txBody>
      </p:sp>
      <p:sp>
        <p:nvSpPr>
          <p:cNvPr id="10" name="TextBox 9"/>
          <p:cNvSpPr/>
          <p:nvPr>
            <p:ph type="body" idx="6"/>
          </p:nvPr>
        </p:nvSpPr>
        <p:spPr>
          <a:xfrm>
            <a:off x="457200" y="2356103"/>
            <a:ext cx="114329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def</a:t>
            </a:r>
          </a:p>
        </p:txBody>
      </p:sp>
      <p:sp>
        <p:nvSpPr>
          <p:cNvPr id="11" name="TextBox 10"/>
          <p:cNvSpPr/>
          <p:nvPr>
            <p:ph type="body" idx="7"/>
          </p:nvPr>
        </p:nvSpPr>
        <p:spPr>
          <a:xfrm>
            <a:off x="1057461" y="2356103"/>
            <a:ext cx="252438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main():</a:t>
            </a:r>
          </a:p>
        </p:txBody>
      </p:sp>
      <p:sp>
        <p:nvSpPr>
          <p:cNvPr id="12" name="TextBox 11"/>
          <p:cNvSpPr/>
          <p:nvPr>
            <p:ph type="body" idx="8"/>
          </p:nvPr>
        </p:nvSpPr>
        <p:spPr>
          <a:xfrm>
            <a:off x="457200" y="2874262"/>
            <a:ext cx="704647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   print("Hello, world!")</a:t>
            </a:r>
          </a:p>
        </p:txBody>
      </p:sp>
      <p:sp>
        <p:nvSpPr>
          <p:cNvPr id="13" name="TextBox 12"/>
          <p:cNvSpPr/>
          <p:nvPr>
            <p:ph type="body" idx="9"/>
          </p:nvPr>
        </p:nvSpPr>
        <p:spPr>
          <a:xfrm>
            <a:off x="457200" y="3910580"/>
            <a:ext cx="214048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main()</a:t>
            </a:r>
          </a:p>
        </p:txBody>
      </p:sp>
      <p:sp>
        <p:nvSpPr>
          <p:cNvPr id="14" name="TextBox 13"/>
          <p:cNvSpPr/>
          <p:nvPr>
            <p:ph type="body" idx="13"/>
          </p:nvPr>
        </p:nvSpPr>
        <p:spPr>
          <a:xfrm>
            <a:off x="457200" y="4946898"/>
            <a:ext cx="56711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$</a:t>
            </a:r>
          </a:p>
        </p:txBody>
      </p:sp>
      <p:sp>
        <p:nvSpPr>
          <p:cNvPr id="15" name="TextBox 14"/>
          <p:cNvSpPr/>
          <p:nvPr>
            <p:ph type="body" idx="14"/>
          </p:nvPr>
        </p:nvSpPr>
        <p:spPr>
          <a:xfrm>
            <a:off x="697347" y="4946898"/>
            <a:ext cx="502241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python hello.py</a:t>
            </a:r>
          </a:p>
        </p:txBody>
      </p:sp>
      <p:sp>
        <p:nvSpPr>
          <p:cNvPr id="16" name="TextBox 15"/>
          <p:cNvSpPr/>
          <p:nvPr>
            <p:ph type="body" idx="15"/>
          </p:nvPr>
        </p:nvSpPr>
        <p:spPr>
          <a:xfrm>
            <a:off x="457200" y="5465057"/>
            <a:ext cx="398406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Hello, world!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File Tre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Final folder shape</a:t>
            </a:r>
          </a:p>
        </p:txBody>
      </p:sp>
      <p:sp>
        <p:nvSpPr>
          <p:cNvPr id="6" name="Rounded Rectangle 5"/>
          <p:cNvSpPr/>
          <p:nvPr>
            <p:ph type="body" idx="1"/>
          </p:nvPr>
        </p:nvSpPr>
        <p:spPr>
          <a:xfrm>
            <a:off x="457200" y="1499616"/>
            <a:ext cx="11277600" cy="4261104"/>
          </a:xfrm>
          <a:prstGeom prst="roundRect">
            <a:avLst>
              <a:gd name="adj" fmla="val 3004"/>
            </a:avLst>
          </a:prstGeom>
          <a:solidFill>
            <a:srgbClr val="0A22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822960" y="1819656"/>
            <a:ext cx="6206708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1" i="0">
                <a:solidFill>
                  <a:srgbClr val="0072CE"/>
                </a:solidFill>
                <a:latin typeface="Courier New"/>
              </a:rPr>
              <a:t>simple-eda-project/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822960" y="221589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0072CE"/>
                </a:solidFill>
                <a:latin typeface="Courier New"/>
              </a:rPr>
              <a:t>├─ 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1417417" y="2215896"/>
            <a:ext cx="1451054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1" i="0">
                <a:solidFill>
                  <a:srgbClr val="0072CE"/>
                </a:solidFill>
                <a:latin typeface="Courier New"/>
              </a:rPr>
              <a:t>src/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822960" y="2612136"/>
            <a:ext cx="2085140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0072CE"/>
                </a:solidFill>
                <a:latin typeface="Courier New"/>
              </a:rPr>
              <a:t>│  └─ 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2011873" y="2612136"/>
            <a:ext cx="3670360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1" i="0">
                <a:solidFill>
                  <a:srgbClr val="0072CE"/>
                </a:solidFill>
                <a:latin typeface="Courier New"/>
              </a:rPr>
              <a:t>simple_eda/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822960" y="3008376"/>
            <a:ext cx="3036272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0072CE"/>
                </a:solidFill>
                <a:latin typeface="Courier New"/>
              </a:rPr>
              <a:t>│     ├─ 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2606330" y="3008376"/>
            <a:ext cx="3670360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ourier New"/>
              </a:rPr>
              <a:t>__init__.py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822960" y="3404616"/>
            <a:ext cx="3036272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0072CE"/>
                </a:solidFill>
                <a:latin typeface="Courier New"/>
              </a:rPr>
              <a:t>│     └─ 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2606330" y="3404616"/>
            <a:ext cx="2402185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ourier New"/>
              </a:rPr>
              <a:t>core.py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822960" y="380085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0072CE"/>
                </a:solidFill>
                <a:latin typeface="Courier New"/>
              </a:rPr>
              <a:t>├─ 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1417417" y="3800856"/>
            <a:ext cx="3036272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ourier New"/>
              </a:rPr>
              <a:t>README.md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822960" y="419709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0072CE"/>
                </a:solidFill>
                <a:latin typeface="Courier New"/>
              </a:rPr>
              <a:t>├─ </a:t>
            </a:r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1417417" y="4197096"/>
            <a:ext cx="4621489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ourier New"/>
              </a:rPr>
              <a:t>pyproject.toml</a:t>
            </a:r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822960" y="459333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0072CE"/>
                </a:solidFill>
                <a:latin typeface="Courier New"/>
              </a:rPr>
              <a:t>└─ 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1417417" y="4593336"/>
            <a:ext cx="2402185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ourier New"/>
              </a:rPr>
              <a:t>LICENSE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Numbered Step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Three Steps to Onboard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1461983" y="1499616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Connect your data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1461983" y="2185416"/>
            <a:ext cx="107300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Link a source in minutes with a guided wizard.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011424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1461983" y="3011424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Pick a template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1461983" y="3697224"/>
            <a:ext cx="107300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Start from a proven layout, then tailor it.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4523232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1461983" y="4523232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Share the result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1461983" y="5209032"/>
            <a:ext cx="107300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Publish to your team and gather feedback fast.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wo Panel Lis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Onboarding, Reworked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Before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457200" y="2176271"/>
            <a:ext cx="1367718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After</a:t>
            </a:r>
          </a:p>
        </p:txBody>
      </p:sp>
      <p:sp>
        <p:nvSpPr>
          <p:cNvPr id="9" name="Rectangle 8"/>
          <p:cNvSpPr/>
          <p:nvPr>
            <p:ph type="body" idx="4"/>
          </p:nvPr>
        </p:nvSpPr>
        <p:spPr>
          <a:xfrm>
            <a:off x="6233160" y="2176271"/>
            <a:ext cx="1007604" cy="54864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2395727"/>
            <a:ext cx="694257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Manual account setup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57200" y="3608831"/>
            <a:ext cx="7594321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Three-day approval wait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4821935"/>
            <a:ext cx="590423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Email-only support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233160" y="2395727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One-click provisioning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6233160" y="3608831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Same-day approval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6233160" y="4821935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In-product live chat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his vs Tha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Cloud or On-Prem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776728"/>
            <a:ext cx="479298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0A2240"/>
                </a:solidFill>
                <a:latin typeface="Arial"/>
              </a:rPr>
              <a:t>3 wks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0" y="3965448"/>
            <a:ext cx="570738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Cloud time-to-launch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6941820" y="2776728"/>
            <a:ext cx="479298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0A2240"/>
                </a:solidFill>
                <a:latin typeface="Arial"/>
              </a:rPr>
              <a:t>6 mo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6484620" y="3965448"/>
            <a:ext cx="570738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On-prem time-to-launch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5435323" y="3310127"/>
            <a:ext cx="132135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0A2240"/>
                </a:solidFill>
                <a:latin typeface="Arial"/>
              </a:rPr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Key Metrics This Quarter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0072CE"/>
                </a:solidFill>
                <a:latin typeface="Arial"/>
              </a:rPr>
              <a:t>98.7%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1708912" y="2484120"/>
            <a:ext cx="1072896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593848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Uptime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30784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0072CE"/>
                </a:solidFill>
                <a:latin typeface="Arial"/>
              </a:rPr>
              <a:t>1,240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5559552" y="2484120"/>
            <a:ext cx="1072896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834934" y="2593848"/>
            <a:ext cx="4522132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New accounts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815848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0072CE"/>
                </a:solidFill>
                <a:latin typeface="Arial"/>
              </a:rPr>
              <a:t>4.6/5</a:t>
            </a:r>
          </a:p>
        </p:txBody>
      </p:sp>
      <p:sp>
        <p:nvSpPr>
          <p:cNvPr id="13" name="Rectangle 12"/>
          <p:cNvSpPr/>
          <p:nvPr>
            <p:ph type="body" idx="8"/>
          </p:nvPr>
        </p:nvSpPr>
        <p:spPr>
          <a:xfrm>
            <a:off x="9410192" y="2484120"/>
            <a:ext cx="1072896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7701280" y="2593848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Support rating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457200" y="4056888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0072CE"/>
                </a:solidFill>
                <a:latin typeface="Arial"/>
              </a:rPr>
              <a:t>$2.1M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1708912" y="4751832"/>
            <a:ext cx="1072896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0" y="4861560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Net new revenue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4307840" y="4056888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0072CE"/>
                </a:solidFill>
                <a:latin typeface="Arial"/>
              </a:rPr>
              <a:t>12 days</a:t>
            </a:r>
          </a:p>
        </p:txBody>
      </p:sp>
      <p:sp>
        <p:nvSpPr>
          <p:cNvPr id="19" name="Rectangle 18"/>
          <p:cNvSpPr/>
          <p:nvPr>
            <p:ph type="body" idx="17"/>
          </p:nvPr>
        </p:nvSpPr>
        <p:spPr>
          <a:xfrm>
            <a:off x="5559552" y="4751832"/>
            <a:ext cx="1072896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3943896" y="4861560"/>
            <a:ext cx="4304208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Time to value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8158480" y="4056888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0072CE"/>
                </a:solidFill>
                <a:latin typeface="Arial"/>
              </a:rPr>
              <a:t>31%</a:t>
            </a:r>
          </a:p>
        </p:txBody>
      </p:sp>
      <p:sp>
        <p:nvSpPr>
          <p:cNvPr id="22" name="Rectangle 21"/>
          <p:cNvSpPr/>
          <p:nvPr>
            <p:ph type="body" idx="20"/>
          </p:nvPr>
        </p:nvSpPr>
        <p:spPr>
          <a:xfrm>
            <a:off x="9410192" y="4751832"/>
            <a:ext cx="1072896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/>
          <p:nvPr>
            <p:ph type="body" idx="21"/>
          </p:nvPr>
        </p:nvSpPr>
        <p:spPr>
          <a:xfrm>
            <a:off x="7701280" y="4861560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Expansion rate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hart With Ins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Monthly Active Teams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3680394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0072CE"/>
                </a:solidFill>
                <a:latin typeface="Arial"/>
              </a:rPr>
              <a:t>120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680085" y="4335714"/>
            <a:ext cx="1040129" cy="769686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5379720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0A2240"/>
                </a:solidFill>
                <a:latin typeface="Arial"/>
              </a:rPr>
              <a:t>Jan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2217420" y="3295551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0072CE"/>
                </a:solidFill>
                <a:latin typeface="Arial"/>
              </a:rPr>
              <a:t>180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2440305" y="3950871"/>
            <a:ext cx="1040129" cy="1154529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2217420" y="5379720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0A2240"/>
                </a:solidFill>
                <a:latin typeface="Arial"/>
              </a:rPr>
              <a:t>Feb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3977640" y="2590005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0072CE"/>
                </a:solidFill>
                <a:latin typeface="Arial"/>
              </a:rPr>
              <a:t>290</a:t>
            </a:r>
          </a:p>
        </p:txBody>
      </p:sp>
      <p:sp>
        <p:nvSpPr>
          <p:cNvPr id="13" name="Rectangle 12"/>
          <p:cNvSpPr/>
          <p:nvPr>
            <p:ph type="body" idx="8"/>
          </p:nvPr>
        </p:nvSpPr>
        <p:spPr>
          <a:xfrm>
            <a:off x="4200525" y="3245325"/>
            <a:ext cx="1040129" cy="186007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3977640" y="5379720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0A2240"/>
                </a:solidFill>
                <a:latin typeface="Arial"/>
              </a:rPr>
              <a:t>Mar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5737860" y="1499616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0072CE"/>
                </a:solidFill>
                <a:latin typeface="Arial"/>
              </a:rPr>
              <a:t>460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5960745" y="2154936"/>
            <a:ext cx="1040129" cy="29504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5737860" y="5379720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0A2240"/>
                </a:solidFill>
                <a:latin typeface="Arial"/>
              </a:rPr>
              <a:t>Apr</a:t>
            </a:r>
          </a:p>
        </p:txBody>
      </p:sp>
      <p:sp>
        <p:nvSpPr>
          <p:cNvPr id="18" name="Rectangle 17"/>
          <p:cNvSpPr/>
          <p:nvPr>
            <p:ph type="body" idx="16"/>
          </p:nvPr>
        </p:nvSpPr>
        <p:spPr>
          <a:xfrm>
            <a:off x="7498080" y="3325368"/>
            <a:ext cx="128016" cy="6096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8037576" y="3325368"/>
            <a:ext cx="415442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Activations 4x.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Pricing Tiers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233373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Plan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3339579" y="1499616"/>
            <a:ext cx="223822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Seats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6126448" y="1499616"/>
            <a:ext cx="202232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Price</a:t>
            </a:r>
          </a:p>
        </p:txBody>
      </p:sp>
      <p:sp>
        <p:nvSpPr>
          <p:cNvPr id="9" name="Rectangle 8"/>
          <p:cNvSpPr/>
          <p:nvPr>
            <p:ph type="body" idx="4"/>
          </p:nvPr>
        </p:nvSpPr>
        <p:spPr>
          <a:xfrm>
            <a:off x="457200" y="2072639"/>
            <a:ext cx="7691577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2401823"/>
            <a:ext cx="233373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Starter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339579" y="2401823"/>
            <a:ext cx="241036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Up to 5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6126448" y="2401823"/>
            <a:ext cx="202232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$0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57200" y="3310127"/>
            <a:ext cx="233373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Team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3339579" y="3310127"/>
            <a:ext cx="2794595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Up to 50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6126448" y="3310127"/>
            <a:ext cx="283339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$12/seat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457200" y="4218431"/>
            <a:ext cx="298620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Business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3339579" y="4218431"/>
            <a:ext cx="317883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Up to 250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6126448" y="4218431"/>
            <a:ext cx="283339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$20/seat</a:t>
            </a:r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457200" y="5126735"/>
            <a:ext cx="333164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Enterprise</a:t>
            </a:r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3339579" y="5126735"/>
            <a:ext cx="306244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Unlimited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6126448" y="5126735"/>
            <a:ext cx="2563177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Custom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Metric 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Performance vs Last Year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33476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0072CE"/>
                </a:solidFill>
                <a:latin typeface="Arial"/>
              </a:rPr>
              <a:t>$8.4M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3523488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Revenue</a:t>
            </a:r>
          </a:p>
        </p:txBody>
      </p:sp>
      <p:sp>
        <p:nvSpPr>
          <p:cNvPr id="8" name="Rectangle 7"/>
          <p:cNvSpPr/>
          <p:nvPr>
            <p:ph type="body" idx="3"/>
          </p:nvPr>
        </p:nvSpPr>
        <p:spPr>
          <a:xfrm>
            <a:off x="1522569" y="4407408"/>
            <a:ext cx="1445581" cy="518159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1260802" y="4407408"/>
            <a:ext cx="196911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+24%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307840" y="233476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0072CE"/>
                </a:solidFill>
                <a:latin typeface="Arial"/>
              </a:rPr>
              <a:t>2.1%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834934" y="3523488"/>
            <a:ext cx="4522132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Monthly churn</a:t>
            </a:r>
          </a:p>
        </p:txBody>
      </p:sp>
      <p:sp>
        <p:nvSpPr>
          <p:cNvPr id="12" name="Rectangle 11"/>
          <p:cNvSpPr/>
          <p:nvPr>
            <p:ph type="body" idx="7"/>
          </p:nvPr>
        </p:nvSpPr>
        <p:spPr>
          <a:xfrm>
            <a:off x="5175547" y="4407408"/>
            <a:ext cx="1840906" cy="518159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795183" y="4407408"/>
            <a:ext cx="260163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-0.8 pts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8158480" y="233476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0072CE"/>
                </a:solidFill>
                <a:latin typeface="Arial"/>
              </a:rPr>
              <a:t>63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7701280" y="3523488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Promoter score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9427731" y="4407408"/>
            <a:ext cx="1037817" cy="518159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9288294" y="4407408"/>
            <a:ext cx="131669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+11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Process Step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Onboarding Flow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01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457200" y="2194560"/>
            <a:ext cx="593303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414016"/>
            <a:ext cx="271565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Sign up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Create an account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334518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02</a:t>
            </a:r>
          </a:p>
        </p:txBody>
      </p:sp>
      <p:sp>
        <p:nvSpPr>
          <p:cNvPr id="11" name="Rectangle 10"/>
          <p:cNvSpPr/>
          <p:nvPr>
            <p:ph type="body" idx="6"/>
          </p:nvPr>
        </p:nvSpPr>
        <p:spPr>
          <a:xfrm>
            <a:off x="3345180" y="2194560"/>
            <a:ext cx="593303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3345180" y="2414016"/>
            <a:ext cx="29464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Connect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334518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Link your data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623316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03</a:t>
            </a:r>
          </a:p>
        </p:txBody>
      </p:sp>
      <p:sp>
        <p:nvSpPr>
          <p:cNvPr id="15" name="Rectangle 14"/>
          <p:cNvSpPr/>
          <p:nvPr>
            <p:ph type="body" idx="13"/>
          </p:nvPr>
        </p:nvSpPr>
        <p:spPr>
          <a:xfrm>
            <a:off x="6233160" y="2194560"/>
            <a:ext cx="593303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6233160" y="2414016"/>
            <a:ext cx="344499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Configure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623316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Pick your metrics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912114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04</a:t>
            </a:r>
          </a:p>
        </p:txBody>
      </p:sp>
      <p:sp>
        <p:nvSpPr>
          <p:cNvPr id="19" name="Rectangle 18"/>
          <p:cNvSpPr/>
          <p:nvPr>
            <p:ph type="body" idx="17"/>
          </p:nvPr>
        </p:nvSpPr>
        <p:spPr>
          <a:xfrm>
            <a:off x="9121140" y="2194560"/>
            <a:ext cx="593303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9121140" y="2414016"/>
            <a:ext cx="263941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Launch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912114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Go live in minutes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Roadma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2026 Plan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457200" y="1499616"/>
            <a:ext cx="3576320" cy="621791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1499616"/>
            <a:ext cx="357632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395727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Ship API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279647"/>
            <a:ext cx="3831928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Beta launch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4307840" y="1499616"/>
            <a:ext cx="3576320" cy="621791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307840" y="1499616"/>
            <a:ext cx="357632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307840" y="2395727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Mobile app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307840" y="3279647"/>
            <a:ext cx="3793132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Integrations</a:t>
            </a:r>
          </a:p>
        </p:txBody>
      </p:sp>
      <p:sp>
        <p:nvSpPr>
          <p:cNvPr id="14" name="Rectangle 13"/>
          <p:cNvSpPr/>
          <p:nvPr>
            <p:ph type="body" idx="9"/>
          </p:nvPr>
        </p:nvSpPr>
        <p:spPr>
          <a:xfrm>
            <a:off x="8158480" y="1499616"/>
            <a:ext cx="3576320" cy="621791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8158480" y="1499616"/>
            <a:ext cx="357632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8158480" y="2395727"/>
            <a:ext cx="40335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Enterprise tier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8158480" y="3279647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SSO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Sales Pipeline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457200" y="1499616"/>
            <a:ext cx="11277600" cy="859536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1499616"/>
            <a:ext cx="1127760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Visitors · 50,000</a:t>
            </a:r>
          </a:p>
        </p:txBody>
      </p:sp>
      <p:sp>
        <p:nvSpPr>
          <p:cNvPr id="8" name="Rectangle 7"/>
          <p:cNvSpPr/>
          <p:nvPr>
            <p:ph type="body" idx="3"/>
          </p:nvPr>
        </p:nvSpPr>
        <p:spPr>
          <a:xfrm>
            <a:off x="1490980" y="2633472"/>
            <a:ext cx="9210040" cy="859536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1490980" y="2633472"/>
            <a:ext cx="921004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Signups · 8,000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2524760" y="3767328"/>
            <a:ext cx="7142480" cy="859536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2524760" y="3767328"/>
            <a:ext cx="714248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Trials · 2,400</a:t>
            </a:r>
          </a:p>
        </p:txBody>
      </p:sp>
      <p:sp>
        <p:nvSpPr>
          <p:cNvPr id="12" name="Rectangle 11"/>
          <p:cNvSpPr/>
          <p:nvPr>
            <p:ph type="body" idx="7"/>
          </p:nvPr>
        </p:nvSpPr>
        <p:spPr>
          <a:xfrm>
            <a:off x="3558540" y="4901184"/>
            <a:ext cx="5074919" cy="859536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3558540" y="4901184"/>
            <a:ext cx="5558452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Customers · 600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Nested Circl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Job Search Funnel (2021)</a:t>
            </a:r>
          </a:p>
        </p:txBody>
      </p:sp>
      <p:sp>
        <p:nvSpPr>
          <p:cNvPr id="6" name="Oval 5"/>
          <p:cNvSpPr/>
          <p:nvPr>
            <p:ph type="body" idx="1"/>
          </p:nvPr>
        </p:nvSpPr>
        <p:spPr>
          <a:xfrm>
            <a:off x="3645408" y="1499616"/>
            <a:ext cx="4901184" cy="4901184"/>
          </a:xfrm>
          <a:prstGeom prst="ellipse">
            <a:avLst/>
          </a:prstGeom>
          <a:solidFill>
            <a:srgbClr val="0A22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>
            <p:ph type="body" idx="2"/>
          </p:nvPr>
        </p:nvSpPr>
        <p:spPr>
          <a:xfrm>
            <a:off x="4462272" y="3133344"/>
            <a:ext cx="3267456" cy="3267456"/>
          </a:xfrm>
          <a:prstGeom prst="ellipse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>
            <p:ph type="body" idx="3"/>
          </p:nvPr>
        </p:nvSpPr>
        <p:spPr>
          <a:xfrm>
            <a:off x="5279136" y="4767072"/>
            <a:ext cx="1633728" cy="1633728"/>
          </a:xfrm>
          <a:prstGeom prst="ellipse">
            <a:avLst/>
          </a:prstGeom>
          <a:solidFill>
            <a:srgbClr val="0A22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7329" y="1645920"/>
            <a:ext cx="3037342" cy="762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  <a:latin typeface="Arial"/>
              </a:rPr>
              <a:t>&gt;700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3594080" y="2316480"/>
            <a:ext cx="5003840" cy="6705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  <a:latin typeface="Arial"/>
              </a:rPr>
              <a:t>Applications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840583" y="3401568"/>
            <a:ext cx="251083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358104" y="3950208"/>
            <a:ext cx="3475792" cy="5486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Arial"/>
              </a:rPr>
              <a:t>Interviews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5296524" y="5157216"/>
            <a:ext cx="159895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1.5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5235159" y="5583935"/>
            <a:ext cx="1721682" cy="4267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rial"/>
              </a:rPr>
              <a:t>Offers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Hierarchy of Needs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3840480" y="1499616"/>
            <a:ext cx="4511040" cy="859536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3840480" y="1499616"/>
            <a:ext cx="451104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Vision</a:t>
            </a:r>
          </a:p>
        </p:txBody>
      </p:sp>
      <p:sp>
        <p:nvSpPr>
          <p:cNvPr id="8" name="Rectangle 7"/>
          <p:cNvSpPr/>
          <p:nvPr>
            <p:ph type="body" idx="3"/>
          </p:nvPr>
        </p:nvSpPr>
        <p:spPr>
          <a:xfrm>
            <a:off x="2712720" y="2633472"/>
            <a:ext cx="6766560" cy="859536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2712720" y="2633472"/>
            <a:ext cx="676656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Strategy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1584960" y="3767328"/>
            <a:ext cx="9022080" cy="859536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1584960" y="3767328"/>
            <a:ext cx="902208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Goals</a:t>
            </a:r>
          </a:p>
        </p:txBody>
      </p:sp>
      <p:sp>
        <p:nvSpPr>
          <p:cNvPr id="12" name="Rectangle 11"/>
          <p:cNvSpPr/>
          <p:nvPr>
            <p:ph type="body" idx="7"/>
          </p:nvPr>
        </p:nvSpPr>
        <p:spPr>
          <a:xfrm>
            <a:off x="457200" y="4901184"/>
            <a:ext cx="11277600" cy="859536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57200" y="4901184"/>
            <a:ext cx="1127760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Tactics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SWO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SWOT Analysis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Strengths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457200" y="2176271"/>
            <a:ext cx="2015207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395727"/>
            <a:ext cx="7863523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Strong brand, loyal users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Weaknesses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6233160" y="2176271"/>
            <a:ext cx="2584686" cy="54864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6233160" y="2395727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Thin margins, small team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3767328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Opportunities</a:t>
            </a:r>
          </a:p>
        </p:txBody>
      </p:sp>
      <p:sp>
        <p:nvSpPr>
          <p:cNvPr id="13" name="Rectangle 12"/>
          <p:cNvSpPr/>
          <p:nvPr>
            <p:ph type="body" idx="8"/>
          </p:nvPr>
        </p:nvSpPr>
        <p:spPr>
          <a:xfrm>
            <a:off x="457200" y="4443983"/>
            <a:ext cx="2830525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457200" y="4663439"/>
            <a:ext cx="8015326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New markets via partners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6233160" y="3767328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Threats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6233160" y="4443983"/>
            <a:ext cx="1559793" cy="54864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6233160" y="4663439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New entrants cut prices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omparison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Evaluation Matrix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3280182" y="1499616"/>
            <a:ext cx="365043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0A2240"/>
                </a:solidFill>
                <a:latin typeface="Arial"/>
              </a:rPr>
              <a:t>Platform A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5973987" y="1499616"/>
            <a:ext cx="367607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0A2240"/>
                </a:solidFill>
                <a:latin typeface="Arial"/>
              </a:rPr>
              <a:t>Platform B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8845296" y="1499616"/>
            <a:ext cx="334670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0A2240"/>
                </a:solidFill>
                <a:latin typeface="Arial"/>
              </a:rPr>
              <a:t>Platform C</a:t>
            </a:r>
          </a:p>
        </p:txBody>
      </p:sp>
      <p:sp>
        <p:nvSpPr>
          <p:cNvPr id="9" name="Rectangle 8"/>
          <p:cNvSpPr/>
          <p:nvPr>
            <p:ph type="body" idx="4"/>
          </p:nvPr>
        </p:nvSpPr>
        <p:spPr>
          <a:xfrm>
            <a:off x="457200" y="2072639"/>
            <a:ext cx="11277600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2401823"/>
            <a:ext cx="3157728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Security</a:t>
            </a:r>
          </a:p>
        </p:txBody>
      </p:sp>
      <p:sp>
        <p:nvSpPr>
          <p:cNvPr id="11" name="Rectangle 10"/>
          <p:cNvSpPr/>
          <p:nvPr>
            <p:ph type="body" idx="6"/>
          </p:nvPr>
        </p:nvSpPr>
        <p:spPr>
          <a:xfrm>
            <a:off x="4245247" y="2401823"/>
            <a:ext cx="1720305" cy="518159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3901063" y="2401823"/>
            <a:ext cx="240867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Strong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491979" y="2401823"/>
            <a:ext cx="264009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Medium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9302496" y="2401823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Strong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457200" y="3612895"/>
            <a:ext cx="327902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Workflow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3785355" y="3612895"/>
            <a:ext cx="264009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Medium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6595872" y="3612895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Strong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9198603" y="3612895"/>
            <a:ext cx="264009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Medium</a:t>
            </a:r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457200" y="4823967"/>
            <a:ext cx="3157728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Support</a:t>
            </a:r>
          </a:p>
        </p:txBody>
      </p:sp>
      <p:sp>
        <p:nvSpPr>
          <p:cNvPr id="20" name="Rectangle 19"/>
          <p:cNvSpPr/>
          <p:nvPr>
            <p:ph type="body" idx="18"/>
          </p:nvPr>
        </p:nvSpPr>
        <p:spPr>
          <a:xfrm>
            <a:off x="4245247" y="4823967"/>
            <a:ext cx="1720305" cy="518159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3901063" y="4823967"/>
            <a:ext cx="240867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Strong</a:t>
            </a:r>
          </a:p>
        </p:txBody>
      </p:sp>
      <p:sp>
        <p:nvSpPr>
          <p:cNvPr id="22" name="TextBox 21"/>
          <p:cNvSpPr/>
          <p:nvPr>
            <p:ph type="body" idx="20"/>
          </p:nvPr>
        </p:nvSpPr>
        <p:spPr>
          <a:xfrm>
            <a:off x="6595872" y="4823967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Strong</a:t>
            </a:r>
          </a:p>
        </p:txBody>
      </p:sp>
      <p:sp>
        <p:nvSpPr>
          <p:cNvPr id="23" name="TextBox 22"/>
          <p:cNvSpPr/>
          <p:nvPr>
            <p:ph type="body" idx="21"/>
          </p:nvPr>
        </p:nvSpPr>
        <p:spPr>
          <a:xfrm>
            <a:off x="9198603" y="4823967"/>
            <a:ext cx="264009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Medium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38.xml"/><Relationship Id="rId40" Type="http://schemas.openxmlformats.org/officeDocument/2006/relationships/slideLayout" Target="../slideLayouts/slideLayout39.xml"/><Relationship Id="rId41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712" r:id="rId13"/>
    <p:sldLayoutId id="2147483713" r:id="rId14"/>
    <p:sldLayoutId id="2147483714" r:id="rId15"/>
    <p:sldLayoutId id="2147483715" r:id="rId16"/>
    <p:sldLayoutId id="2147483716" r:id="rId17"/>
    <p:sldLayoutId id="2147483717" r:id="rId18"/>
    <p:sldLayoutId id="2147483718" r:id="rId19"/>
    <p:sldLayoutId id="2147483719" r:id="rId20"/>
    <p:sldLayoutId id="2147483720" r:id="rId21"/>
    <p:sldLayoutId id="2147483721" r:id="rId22"/>
    <p:sldLayoutId id="2147483722" r:id="rId23"/>
    <p:sldLayoutId id="2147483723" r:id="rId24"/>
    <p:sldLayoutId id="2147483724" r:id="rId25"/>
    <p:sldLayoutId id="2147483725" r:id="rId26"/>
    <p:sldLayoutId id="2147483726" r:id="rId27"/>
    <p:sldLayoutId id="2147483727" r:id="rId28"/>
    <p:sldLayoutId id="2147483728" r:id="rId29"/>
    <p:sldLayoutId id="2147483729" r:id="rId30"/>
    <p:sldLayoutId id="2147483730" r:id="rId31"/>
    <p:sldLayoutId id="2147483731" r:id="rId32"/>
    <p:sldLayoutId id="2147483732" r:id="rId33"/>
    <p:sldLayoutId id="2147483733" r:id="rId34"/>
    <p:sldLayoutId id="2147483734" r:id="rId35"/>
    <p:sldLayoutId id="2147483735" r:id="rId36"/>
    <p:sldLayoutId id="2147483736" r:id="rId37"/>
    <p:sldLayoutId id="2147483737" r:id="rId38"/>
    <p:sldLayoutId id="2147483738" r:id="rId39"/>
    <p:sldLayoutId id="2147483739" r:id="rId40"/>
    <p:sldLayoutId id="2147483740" r:id="rId4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75560"/>
            <a:ext cx="1127760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From Vague to Precise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64280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Immersion Week SF · Day 1 · Session 1.1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583436"/>
            <a:ext cx="11277600" cy="16916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10500" b="1" i="0">
                <a:solidFill>
                  <a:srgbClr val="0072CE"/>
                </a:solidFill>
                <a:latin typeface="Arial"/>
              </a:rPr>
              <a:t>35</a:t>
            </a:r>
          </a:p>
        </p:txBody>
      </p:sp>
      <p:sp>
        <p:nvSpPr>
          <p:cNvPr id="3" name="Rectangle 2"/>
          <p:cNvSpPr/>
          <p:nvPr/>
        </p:nvSpPr>
        <p:spPr>
          <a:xfrm>
            <a:off x="5547360" y="3329940"/>
            <a:ext cx="1097280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9124"/>
            <a:ext cx="11277600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0" i="0">
                <a:solidFill>
                  <a:srgbClr val="0A2240"/>
                </a:solidFill>
                <a:latin typeface="Arial"/>
              </a:rPr>
              <a:t>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664964"/>
            <a:ext cx="1219200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You leave with one precise problem statement</a:t>
            </a:r>
          </a:p>
        </p:txBody>
      </p:sp>
      <p:sp>
        <p:nvSpPr>
          <p:cNvPr id="6" name="TextBox 5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What This Session Covers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600" cy="64008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1848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18488"/>
            <a:ext cx="108204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Problem statements versus solution statements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22626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722626"/>
            <a:ext cx="108204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Making Claude interrogate a vague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26764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826764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The three-gate scoping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30902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930902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Standing up your Claude Project</a:t>
            </a:r>
          </a:p>
        </p:txBody>
      </p:sp>
      <p:sp>
        <p:nvSpPr>
          <p:cNvPr id="12" name="TextBox 11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926080"/>
            <a:ext cx="128016" cy="100584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926080"/>
            <a:ext cx="111953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A2240"/>
                </a:solidFill>
                <a:latin typeface="Arial"/>
              </a:rPr>
              <a:t>What are you building?</a:t>
            </a:r>
          </a:p>
        </p:txBody>
      </p:sp>
      <p:sp>
        <p:nvSpPr>
          <p:cNvPr id="4" name="TextBox 3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Two Ways to Answer That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76728"/>
            <a:ext cx="479298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0A2240"/>
                </a:solidFill>
                <a:latin typeface="Arial"/>
              </a:rPr>
              <a:t>Vague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965448"/>
            <a:ext cx="570738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An AI thing for resumes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1820" y="2776728"/>
            <a:ext cx="479298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0A2240"/>
                </a:solidFill>
                <a:latin typeface="Arial"/>
              </a:rPr>
              <a:t>Precise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4620" y="3965448"/>
            <a:ext cx="570738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Flags gaps in 200 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35323" y="3310127"/>
            <a:ext cx="132135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0A2240"/>
                </a:solidFill>
                <a:latin typeface="Arial"/>
              </a:rPr>
              <a:t>VS</a:t>
            </a:r>
          </a:p>
        </p:txBody>
      </p:sp>
      <p:sp>
        <p:nvSpPr>
          <p:cNvPr id="8" name="TextBox 7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How We Get There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94560"/>
            <a:ext cx="593303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14016"/>
            <a:ext cx="310157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Separate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Problem apart from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4518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3345180" y="2194560"/>
            <a:ext cx="593303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45180" y="2414016"/>
            <a:ext cx="379144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Interrogate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518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Let Claude attack the 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16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160" y="2194560"/>
            <a:ext cx="593303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160" y="2414016"/>
            <a:ext cx="26136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16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Run the three-gate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114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21140" y="2194560"/>
            <a:ext cx="593303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21140" y="2414016"/>
            <a:ext cx="275445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Commit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114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Write it into the Project</a:t>
            </a:r>
          </a:p>
        </p:txBody>
      </p:sp>
      <p:sp>
        <p:nvSpPr>
          <p:cNvPr id="19" name="TextBox 18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783080"/>
            <a:ext cx="128016" cy="201168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178308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063240"/>
            <a:ext cx="107381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Problem, Not Solution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484120"/>
            <a:ext cx="128016" cy="188976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484120"/>
            <a:ext cx="11158656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76428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 gap between what happens and what should.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484120"/>
            <a:ext cx="128016" cy="188976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484120"/>
            <a:ext cx="11156275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Solution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76428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 thing you plan to build, assuming the diagnosis.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How to Tell Them Apart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76271"/>
            <a:ext cx="1727622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3160" y="2176271"/>
            <a:ext cx="1726778" cy="54864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95727"/>
            <a:ext cx="55016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Describes a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08831"/>
            <a:ext cx="632591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Admits several fixes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21935"/>
            <a:ext cx="608336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Names who suffers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160" y="2395727"/>
            <a:ext cx="55016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Describes a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160" y="3608831"/>
            <a:ext cx="55016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Assumes one 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160" y="4821935"/>
            <a:ext cx="55016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Names a tool</a:t>
            </a:r>
          </a:p>
        </p:txBody>
      </p:sp>
      <p:sp>
        <p:nvSpPr>
          <p:cNvPr id="13" name="TextBox 12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7348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What They Said, What They Meant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498024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Said (solution)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83944" y="1499616"/>
            <a:ext cx="555642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Meant (problem)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72639"/>
            <a:ext cx="10233052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401823"/>
            <a:ext cx="644263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Build a RAG chatbot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83944" y="2401823"/>
            <a:ext cx="690805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Staff cannot find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10127"/>
            <a:ext cx="5751412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Fine-tune a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83944" y="3310127"/>
            <a:ext cx="690805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Output misses our 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18431"/>
            <a:ext cx="590557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Make a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83944" y="4218431"/>
            <a:ext cx="690805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Nobody sees the numbers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26735"/>
            <a:ext cx="429273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Use an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83944" y="5126735"/>
            <a:ext cx="690805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Review takes four hours</a:t>
            </a:r>
          </a:p>
        </p:txBody>
      </p:sp>
      <p:sp>
        <p:nvSpPr>
          <p:cNvPr id="14" name="TextBox 13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Why Solution-First Hurts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08050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You cannot tell if it worked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8340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The tool choice is already locked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5876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Scope creeps with no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3412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Feedback arrives too late to use</a:t>
            </a:r>
          </a:p>
        </p:txBody>
      </p:sp>
      <p:sp>
        <p:nvSpPr>
          <p:cNvPr id="7" name="TextBox 6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12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7348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Three Tells You Wrote a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A tool is named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9215"/>
            <a:ext cx="112776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RAG, agent, fine-tune,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1424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Only one fix 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21023"/>
            <a:ext cx="112776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No alternative is even thinkable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23232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No one is in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32831"/>
            <a:ext cx="112776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Nobody is described as stuck</a:t>
            </a:r>
          </a:p>
        </p:txBody>
      </p:sp>
      <p:sp>
        <p:nvSpPr>
          <p:cNvPr id="9" name="TextBox 8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13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621280"/>
            <a:ext cx="128016" cy="161544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621280"/>
            <a:ext cx="111953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A2240"/>
                </a:solidFill>
                <a:latin typeface="Arial"/>
              </a:rPr>
              <a:t>"Names a tool? Not a problem yet."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627120"/>
            <a:ext cx="107381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- The fastest test in the room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14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484120"/>
            <a:ext cx="128016" cy="188976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48412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Interrogation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76428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Making Claude attack a vague ask until it is precise.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15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7348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What Makes Claude Interrogate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08050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Give it the adversarial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8340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Forbid it from proposing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5876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Demand one question at a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3412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Make it refuse to move on early</a:t>
            </a:r>
          </a:p>
        </p:txBody>
      </p:sp>
      <p:sp>
        <p:nvSpPr>
          <p:cNvPr id="7" name="TextBox 6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16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C1A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9264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23544"/>
            <a:ext cx="1127760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  <a:latin typeface="Arial"/>
              </a:rPr>
              <a:t>The Interrogation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37944"/>
            <a:ext cx="101817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You are a skeptical product lead.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56103"/>
            <a:ext cx="1058082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My idea: "an AI thing for resumes"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92421"/>
            <a:ext cx="21411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Rules: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10580"/>
            <a:ext cx="962884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 - Ask ONE question at a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28739"/>
            <a:ext cx="886172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 - Never propose a solution.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46898"/>
            <a:ext cx="797788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 - Reject vague answers.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65057"/>
            <a:ext cx="498294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 - Stop when it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7240" y="5465057"/>
            <a:ext cx="68181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9072" y="5465057"/>
            <a:ext cx="279392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precise.</a:t>
            </a:r>
          </a:p>
        </p:txBody>
      </p:sp>
      <p:sp>
        <p:nvSpPr>
          <p:cNvPr id="15" name="TextBox 1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17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The Interrogation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1983" y="1499616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Answer plainly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1983" y="2185416"/>
            <a:ext cx="102728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No hedging, no tool names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1424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1983" y="3011424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Let it push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1983" y="3697224"/>
            <a:ext cx="102728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Expect the follow-up to hurt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23232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1983" y="4523232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Restate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1983" y="5209032"/>
            <a:ext cx="102728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Ask Claude to write it back</a:t>
            </a:r>
          </a:p>
        </p:txBody>
      </p:sp>
      <p:sp>
        <p:nvSpPr>
          <p:cNvPr id="12" name="TextBox 11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18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7348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Before and After the Interrogation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Before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7"/>
            <a:ext cx="7363916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An AI thing for resumes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3160" y="2395727"/>
            <a:ext cx="59588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Recruiters miss skill gaps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17391"/>
            <a:ext cx="5558452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Who for? Unclear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3160" y="3517391"/>
            <a:ext cx="59588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For 200 intern applicants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39055"/>
            <a:ext cx="6634916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Done when? Unclear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160" y="4639055"/>
            <a:ext cx="59588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Flagged in one pass</a:t>
            </a:r>
          </a:p>
        </p:txBody>
      </p:sp>
      <p:sp>
        <p:nvSpPr>
          <p:cNvPr id="11" name="TextBox 10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19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Signs It Is Now Precise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08050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 stranger can restate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8340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You know who is stuck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5876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You can name a wrong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3412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Two people would agree it is solved</a:t>
            </a:r>
          </a:p>
        </p:txBody>
      </p:sp>
      <p:sp>
        <p:nvSpPr>
          <p:cNvPr id="7" name="TextBox 6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20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783080"/>
            <a:ext cx="128016" cy="201168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178308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063240"/>
            <a:ext cx="107381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The Scoping Test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21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484120"/>
            <a:ext cx="128016" cy="188976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48412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Scoping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76428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Three gates a problem passes before you commit.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22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The Three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Measurable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9215"/>
            <a:ext cx="112776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You can say whether it worked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1424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Data available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21023"/>
            <a:ext cx="112776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You have it, today, in hand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23232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Three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32831"/>
            <a:ext cx="112776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Finishable by Friday noon</a:t>
            </a:r>
          </a:p>
        </p:txBody>
      </p:sp>
      <p:sp>
        <p:nvSpPr>
          <p:cNvPr id="9" name="TextBox 8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23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484120"/>
            <a:ext cx="128016" cy="188976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484120"/>
            <a:ext cx="111953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Gate 1 · Measurable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76428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State up front what would prove it worked.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24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7348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Vague Metric, Measurable Metric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329348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Vague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9322" y="1499616"/>
            <a:ext cx="617355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Measurable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72639"/>
            <a:ext cx="10015676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401823"/>
            <a:ext cx="4867235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Better resumes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9322" y="2401823"/>
            <a:ext cx="7892678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Flags 8 of 10 known gaps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10127"/>
            <a:ext cx="4674612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Faster reviews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9322" y="3310127"/>
            <a:ext cx="7892678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Under 30 seconds per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18431"/>
            <a:ext cx="440709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Higher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9322" y="4218431"/>
            <a:ext cx="7892678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Two reviewers agree it passes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26735"/>
            <a:ext cx="3792457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More useful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9322" y="5126735"/>
            <a:ext cx="744083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Used unprompted twice</a:t>
            </a:r>
          </a:p>
        </p:txBody>
      </p:sp>
      <p:sp>
        <p:nvSpPr>
          <p:cNvPr id="14" name="TextBox 13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25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484120"/>
            <a:ext cx="128016" cy="188976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48412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Gate 2 ·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76428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It exists, you may use it, you have it today.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26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Where Data Plans Die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Access pending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9215"/>
            <a:ext cx="112776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Someone still has to approve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1424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Wrong shape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21023"/>
            <a:ext cx="112776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Exists, but not in usable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23232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Too sensitive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32831"/>
            <a:ext cx="112776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Real records you cannot touch</a:t>
            </a:r>
          </a:p>
        </p:txBody>
      </p:sp>
      <p:sp>
        <p:nvSpPr>
          <p:cNvPr id="9" name="TextBox 8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27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484120"/>
            <a:ext cx="128016" cy="188976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484120"/>
            <a:ext cx="111953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Gate 3 · Three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76428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The whole path working, not one part polished.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28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What Three Days Buys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551" y="2776728"/>
            <a:ext cx="5466278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0A2240"/>
                </a:solidFill>
                <a:latin typeface="Arial"/>
              </a:rPr>
              <a:t>One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965448"/>
            <a:ext cx="570738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End to end and 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40307" y="2776728"/>
            <a:ext cx="5196006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0A2240"/>
                </a:solidFill>
                <a:latin typeface="Arial"/>
              </a:rPr>
              <a:t>One 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4620" y="3965448"/>
            <a:ext cx="570738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Polished but alone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35323" y="3310127"/>
            <a:ext cx="132135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0A2240"/>
                </a:solidFill>
                <a:latin typeface="Arial"/>
              </a:rPr>
              <a:t>VS</a:t>
            </a:r>
          </a:p>
        </p:txBody>
      </p:sp>
      <p:sp>
        <p:nvSpPr>
          <p:cNvPr id="8" name="TextBox 7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29</a:t>
            </a:fld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7348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Three Candidate Ideas, Three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7866" y="1499616"/>
            <a:ext cx="325506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0A2240"/>
                </a:solidFill>
                <a:latin typeface="Arial"/>
              </a:rPr>
              <a:t>Resumes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95872" y="1499616"/>
            <a:ext cx="243230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0A2240"/>
                </a:solidFill>
                <a:latin typeface="Arial"/>
              </a:rPr>
              <a:t>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4408" y="1499616"/>
            <a:ext cx="244848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0A2240"/>
                </a:solidFill>
                <a:latin typeface="Arial"/>
              </a:rPr>
              <a:t>Grader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72639"/>
            <a:ext cx="11277600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401823"/>
            <a:ext cx="3984406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Measurable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68570" y="2401823"/>
            <a:ext cx="1073659" cy="518159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18380" y="2401823"/>
            <a:ext cx="137403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Yes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5872" y="2401823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02496" y="2401823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12895"/>
            <a:ext cx="325372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Data 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9248" y="3612895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Yes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5872" y="3612895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02496" y="3612895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Yes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23967"/>
            <a:ext cx="3157728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3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9248" y="4823967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5872" y="4823967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Yes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2496" y="4823967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No</a:t>
            </a:r>
          </a:p>
        </p:txBody>
      </p:sp>
      <p:sp>
        <p:nvSpPr>
          <p:cNvPr id="20" name="TextBox 19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30</a:t>
            </a:fld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484120"/>
            <a:ext cx="128016" cy="188976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484120"/>
            <a:ext cx="10819923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The opposite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76428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Making Claude argue your problem is the wrong one.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31</a:t>
            </a:fld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C1A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9264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23544"/>
            <a:ext cx="1173480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  <a:latin typeface="Arial"/>
              </a:rPr>
              <a:t>Make Claude Argue Against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37944"/>
            <a:ext cx="744015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Our problem statement: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56103"/>
            <a:ext cx="370778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"&lt;paste it&gt;"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92421"/>
            <a:ext cx="348547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Argue this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21322" y="3392421"/>
            <a:ext cx="68181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3154" y="3392421"/>
            <a:ext cx="693987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the WRONG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10580"/>
            <a:ext cx="98913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1107" y="3910580"/>
            <a:ext cx="571329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a three-day build.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946898"/>
            <a:ext cx="851628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Three strongest objections,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465057"/>
            <a:ext cx="897608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hardest first. No alternatives.</a:t>
            </a:r>
          </a:p>
        </p:txBody>
      </p:sp>
      <p:sp>
        <p:nvSpPr>
          <p:cNvPr id="15" name="TextBox 1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32</a:t>
            </a:fld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Running the Opposition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1983" y="1499616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Read all three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1983" y="2185416"/>
            <a:ext cx="102728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Do not answer while reading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1424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1983" y="3011424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Rank them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1983" y="3697224"/>
            <a:ext cx="102728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Which would actually sink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23232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1983" y="4523232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Fix or accept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1983" y="5209032"/>
            <a:ext cx="102728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Narrow it, or note the risk</a:t>
            </a:r>
          </a:p>
        </p:txBody>
      </p:sp>
      <p:sp>
        <p:nvSpPr>
          <p:cNvPr id="12" name="TextBox 11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33</a:t>
            </a:fld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When the Objection 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08050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Narrow the users, not the ambition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8340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Shrink the data, keep the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5876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Stub the hard step for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3412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Change problems only if a gate fails</a:t>
            </a:r>
          </a:p>
        </p:txBody>
      </p:sp>
      <p:sp>
        <p:nvSpPr>
          <p:cNvPr id="7" name="TextBox 6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34</a:t>
            </a:fld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Cut Scope, Not Ambition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9572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One user type, not four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7108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One input format, not 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4644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One clean path, no edge cases</a:t>
            </a:r>
          </a:p>
        </p:txBody>
      </p:sp>
      <p:sp>
        <p:nvSpPr>
          <p:cNvPr id="6" name="TextBox 5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35</a:t>
            </a:fld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783080"/>
            <a:ext cx="128016" cy="201168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178308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063240"/>
            <a:ext cx="107381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The Team's Shared Brain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36</a:t>
            </a:fld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484120"/>
            <a:ext cx="128016" cy="188976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48412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Claude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76428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 shared workspace holding instructions and context.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37</a:t>
            </a:fld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Chat Versus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A chat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76271"/>
            <a:ext cx="1303623" cy="54864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A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3160" y="2176271"/>
            <a:ext cx="1879637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95727"/>
            <a:ext cx="7096065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Context dies at the tab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08831"/>
            <a:ext cx="6174105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One person holds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21935"/>
            <a:ext cx="7632441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Re-explained every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160" y="2395727"/>
            <a:ext cx="55016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Context persists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160" y="3608831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The whole team shares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160" y="4821935"/>
            <a:ext cx="55016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Explained once</a:t>
            </a:r>
          </a:p>
        </p:txBody>
      </p:sp>
      <p:sp>
        <p:nvSpPr>
          <p:cNvPr id="13" name="TextBox 12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38</a:t>
            </a:fld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What a Project Holds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Instructions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9215"/>
            <a:ext cx="112776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Standing rules for every chat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1424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21023"/>
            <a:ext cx="112776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Uploaded docs and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23232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One place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32831"/>
            <a:ext cx="112776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Everyone works from it</a:t>
            </a:r>
          </a:p>
        </p:txBody>
      </p:sp>
      <p:sp>
        <p:nvSpPr>
          <p:cNvPr id="9" name="TextBox 8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39</a:t>
            </a:fld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Stand One Up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1983" y="1499616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Create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1983" y="2185416"/>
            <a:ext cx="102728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Name it for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1424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1983" y="3011424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Instruct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1983" y="3697224"/>
            <a:ext cx="102728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Paste the 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23232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1983" y="4523232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Share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1983" y="5209032"/>
            <a:ext cx="102728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Add every teammate today</a:t>
            </a:r>
          </a:p>
        </p:txBody>
      </p:sp>
      <p:sp>
        <p:nvSpPr>
          <p:cNvPr id="12" name="TextBox 11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40</a:t>
            </a:fld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C1A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  <a:latin typeface="Arial"/>
              </a:rPr>
              <a:t>Project Instructions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33164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#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89759"/>
            <a:ext cx="759499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&lt;the precise statement&gt;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77"/>
            <a:ext cx="640349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# Success looks 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44236"/>
            <a:ext cx="859387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&lt;the measurable outcome&gt;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54"/>
            <a:ext cx="467629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# Out of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98713"/>
            <a:ext cx="461827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&lt;what we cut,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29322" y="4998713"/>
            <a:ext cx="133558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49762" y="4998713"/>
            <a:ext cx="200689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why&gt;</a:t>
            </a:r>
          </a:p>
        </p:txBody>
      </p:sp>
      <p:sp>
        <p:nvSpPr>
          <p:cNvPr id="11" name="TextBox 10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41</a:t>
            </a:fld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What to Upload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9572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Sample data, even if faked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7108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The interrogation transcript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4644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The objections you accepted</a:t>
            </a:r>
          </a:p>
        </p:txBody>
      </p:sp>
      <p:sp>
        <p:nvSpPr>
          <p:cNvPr id="6" name="TextBox 5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42</a:t>
            </a:fld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What Not to Upload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9572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Real personal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7108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Anything under an 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4644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Credentials or API keys</a:t>
            </a:r>
          </a:p>
        </p:txBody>
      </p:sp>
      <p:sp>
        <p:nvSpPr>
          <p:cNvPr id="6" name="TextBox 5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43</a:t>
            </a:fld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7348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Team Conventions Worth Setting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398238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Convention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6289" y="1499616"/>
            <a:ext cx="56949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What it means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72639"/>
            <a:ext cx="8984037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401823"/>
            <a:ext cx="3754337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One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6289" y="2401823"/>
            <a:ext cx="5694948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Project over chat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10127"/>
            <a:ext cx="274044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Log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6289" y="3310127"/>
            <a:ext cx="7593985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Decisions land in writing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18431"/>
            <a:ext cx="274044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Shared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6289" y="4218431"/>
            <a:ext cx="6863972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Everyone reads it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26735"/>
            <a:ext cx="274044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6289" y="5126735"/>
            <a:ext cx="8445711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Change it when scope does</a:t>
            </a:r>
          </a:p>
        </p:txBody>
      </p:sp>
      <p:sp>
        <p:nvSpPr>
          <p:cNvPr id="14" name="TextBox 13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44</a:t>
            </a:fld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Project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95729"/>
            <a:ext cx="117348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Instructions written once, never updated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7108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Uploads nobody has actually 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4644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One member still working in chat</a:t>
            </a:r>
          </a:p>
        </p:txBody>
      </p:sp>
      <p:sp>
        <p:nvSpPr>
          <p:cNvPr id="6" name="TextBox 5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45</a:t>
            </a:fld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7348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Done With This Session When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9572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The statement passes three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7108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The strongest objection is answered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4644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The Project exists and is shared</a:t>
            </a:r>
          </a:p>
        </p:txBody>
      </p:sp>
      <p:sp>
        <p:nvSpPr>
          <p:cNvPr id="6" name="TextBox 5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46</a:t>
            </a:fld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What You Leave With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7672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65448"/>
            <a:ext cx="517455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Precise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07840" y="277672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07840" y="3965448"/>
            <a:ext cx="444589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Gates passed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58480" y="277672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8480" y="3965448"/>
            <a:ext cx="403352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Shared Project</a:t>
            </a:r>
          </a:p>
        </p:txBody>
      </p:sp>
      <p:sp>
        <p:nvSpPr>
          <p:cNvPr id="9" name="TextBox 8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47</a:t>
            </a:fld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640979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Next: Mapping the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9572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Break the problem into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7108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Draw it as a Claude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4644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Name what each step needs</a:t>
            </a:r>
          </a:p>
        </p:txBody>
      </p:sp>
      <p:sp>
        <p:nvSpPr>
          <p:cNvPr id="6" name="TextBox 5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48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