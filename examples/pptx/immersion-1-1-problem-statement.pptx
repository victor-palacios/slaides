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session. Do not explain the agenda yet. Say the one sentence that frames the whole three days: everything you build this week rests on the problem statement you write in the next 35 minutes. A weak statement costs you Day 2 and Day 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clock and the deliverable in the same breath. This is not a lecture about problem statements; it is a working session that produces one. Name the artifact now so nobody treats the next half hour as background reading.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syllabus objectives, plus the interrogation technique that connects them. Point out that items two and three are things they will actually do at their laptops, not watch.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cold and take two or three answers out loud. Expect tool names and vague ambitions. Do not correct anyone yet — you are collecting the raw material you will diagnose three slides from now. Let the vagueness sit.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two answers side by side. The left is what people said. The right is what the same idea looks like after this session. Everything between here and the break is the machinery that gets you from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 of the session in four moves. Tell them the last step is where the statement stops being a conversation and becomes a durable artifact the whole team works from. Return to this slide if the room loses the thread.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The single most common failure in a three-day build is starting from a solution nobody validated. Ten minutes here saves a wasted Day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last clause. The test of a problem statement is that a reader could propose three different solutions to it. If only one solution fits, you have smuggled the answer into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bad thing — just premature. The danger is that it feels like progress. Naming a tool gives the team the sensation of having decided something while the actual problem is still unexamined.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quick diagnostics. The fastest one to use live is the middle row: ask how many different ways this could be solved. If the answer is one, they wrote a solution.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left column to the right column out loud. Ask the room to do row four before you reveal it. The pattern: strip the tool, then ask who is stuck and on what.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item is the one that bites during Immersion Week. If they commit to a tool on Day 1, Day 2 becomes fighting that tool rather than solving the problem. Keep the tool decision for session 2.1.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them thirty seconds to run these three tells against their own sentence from the opening question. Most rooms find that two of three fire. That discomfort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portable version of the last slide. Repeat it when teams drift back to tool talk in later sessions. It is deliberately blunt because it has to survive being remembered on Day 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Reframe what Claude is for here. Most people use it to generate. In this session they use it to subtract — to strip ambiguity. That is a different prompt and a different posture.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instructions are what turn a helpful assistant into a useful interrogator. The third matters most: a wall of ten questions gets skimmed, one question gets answered.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paste this and change only the idea line. Point at the last rule: it gives Claude a termination condition, which is what stops the exchange from wandering. Give the room three minutes to run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loop while they work. Step three is the one people skip — having Claude restate the problem in its own words is how you catch that it understood something different from what you meant.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transformation, not a tidy invention. Note that the right column is barely longer than the left — precision is not verbosity. It is the same length sentence carrying far more constraint.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is the strongest test and the one to leave them with. If two teammates would disagree about whether the problem is solved, the statement is still ambiguous.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A precise problem can still be the wrong problem for this week. The scoping test is what separates precise from feasible.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all three are pass or fail, not scores. A problem that fails one gate is out, no matter how exciting. Teams will want to negotiate. Do not let them negotiate 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them in this order every time — measurability first, because it is the gate people most often think they pass and do not. Tell the room you will take each one in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advance is the load-bearing phrase. Deciding after the fact what counts as success is how a demo gets talked into looking successful. Write the number down before you build.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 column is deliberately modest. Small and checkable beats grand and unfalsifiable. Ask them which row is hardest to write for their own idea — usually the quality 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separate conditions and teams fail different ones. Before lunch today is deliberately aggressive: data you will get access to next week does not exist for the purposes of this week.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failure mode the fix is the same: synthesise or substitute now rather than wait. Twenty made-up records you control beat two thousand you are still waiting 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reframes what achievable means. The failure is not being too ambitious overall; it is being too ambitious about depth on one step while the rest of the path never gets built.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them hard toward the left. Day 2 is explicitly the happy path, Day 3 is hardening. A beautiful fragment has nothing to harden and nothing to demo on Friday.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first idea clears all three. Walk the second: it is a good problem that fails on data today, which is a scheduling failure, not a quality one. Advise parking it rather than abandoning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objective two's second half. The purpose is not to change their minds; it is to surface the strongest objection while it is still cheap to act on. Better now than from a peer team on Day 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Hardest first matters — otherwise the strongest objection arrives third and gets skimmed. No alternatives keeps Claude from rescuing them with a new idea before they have absorbed the criticism.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prevents defensiveness. Step three is the real decision: most objections are answered by narrowing scope rather than by changing problems altogether.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line is the guardrail. Teams love to switch ideas when criticised. Switching is only justified by an actual gate failure, not by discomfort.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them the sentence to say to each other on Day 2 when scope grows: is this on the one path? Everything else is a Day 3 conversation at the earliest.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The statement they just wrote is worthless if it lives in one person's chat history. This section makes it the team's.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words to stress: persistent and shared. A chat is neither. Everything that matters this week goes in the Project so that the fifth teammate gets the same context as the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row is the one that saves real hours this week. Ask how many have re-pasted the same background into a fresh chat three times. Most hands go up.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these to the syllabus wording exactly: instructions, uploaded context, one place everyone works from. Say that the first is the one teams under-invest 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this live, not later — five minutes at the laptops. Naming it for the problem rather than the team is deliberate: it keeps the problem in front of them every time they open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out-of-scope section is the one teams omit and the one that pays off. Once cut scope is written down, Claude will push back when a teammate quietly reintroduces it on Day 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middle item surprises people. The transcript records why the problem is worded this way, which stops the team relitigating settled decisions midweek.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 and firm. Substitute synthetic data for anything sensitive — gate two already told them synthetic is acceptable, so there is no excuse to take the risk.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small habits that separate teams who finish from teams who thrash. Ask each team to pick the one they are worst at and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are silent failures — nothing breaks, the team just drifts apart. Suggest a sixty-second Project check at the start of each day.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exit criteria. Read them slowly and ask teams to self-assess. Anyone missing the third can fix it in ninety seconds before the break.</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concrete output of 35 minutes. If a team cannot show all three, they are not ready for 1.2 — flag it now rather than discovering it during the workflow mapping.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bridge into session 1.2 at ten o'clock. Make the dependency explicit: the workflow map is built directly on the problem statement they just wrote, so a weak statement produces a weak map.</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test, not on a summary. If the answer is no, that team spends the break fixing it. Hold the slide up while people pack up — it is the sentence you want them carrying into Day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123A6B"/>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A2240"/>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A2240"/>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A2240"/>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A2240"/>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0363200" y="6035040"/>
            <a:ext cx="137160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123A6B"/>
                </a:solidFill>
                <a:latin typeface="Arial"/>
              </a:rPr>
              <a:t>From Vague to Precise</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1 · Session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35</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0" y="4664964"/>
            <a:ext cx="12192000" cy="609600"/>
          </a:xfrm>
          <a:prstGeom prst="rect">
            <a:avLst/>
          </a:prstGeom>
          <a:noFill/>
        </p:spPr>
        <p:txBody>
          <a:bodyPr wrap="none" lIns="0" rIns="0">
            <a:noAutofit/>
          </a:bodyPr>
          <a:lstStyle/>
          <a:p>
            <a:pPr algn="ctr"/>
            <a:r>
              <a:rPr sz="3400" b="0" i="0">
                <a:solidFill>
                  <a:srgbClr val="5B6B82"/>
                </a:solidFill>
                <a:latin typeface="Arial"/>
              </a:rPr>
              <a:t>You leave with one precise problem statement</a:t>
            </a:r>
          </a:p>
        </p:txBody>
      </p:sp>
      <p:sp>
        <p:nvSpPr>
          <p:cNvPr id="6" name="TextBox 5"/>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A2240"/>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820400" cy="518159"/>
          </a:xfrm>
          <a:prstGeom prst="rect">
            <a:avLst/>
          </a:prstGeom>
          <a:noFill/>
        </p:spPr>
        <p:txBody>
          <a:bodyPr wrap="none" lIns="0" rIns="0">
            <a:noAutofit/>
          </a:bodyPr>
          <a:lstStyle/>
          <a:p>
            <a:pPr algn="l"/>
            <a:r>
              <a:rPr sz="3400" b="0" i="0">
                <a:solidFill>
                  <a:srgbClr val="0A2240"/>
                </a:solidFill>
                <a:latin typeface="Arial"/>
              </a:rPr>
              <a:t>Problem statements versus solution statements</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820400" cy="518159"/>
          </a:xfrm>
          <a:prstGeom prst="rect">
            <a:avLst/>
          </a:prstGeom>
          <a:noFill/>
        </p:spPr>
        <p:txBody>
          <a:bodyPr wrap="none" lIns="0" rIns="0">
            <a:noAutofit/>
          </a:bodyPr>
          <a:lstStyle/>
          <a:p>
            <a:pPr algn="l"/>
            <a:r>
              <a:rPr sz="3400" b="0" i="0">
                <a:solidFill>
                  <a:srgbClr val="0A2240"/>
                </a:solidFill>
                <a:latin typeface="Arial"/>
              </a:rPr>
              <a:t>Making Claude interrogate a vague ask</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The three-gate scoping test</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Standing up your Claude Project</a:t>
            </a:r>
          </a:p>
        </p:txBody>
      </p:sp>
      <p:sp>
        <p:nvSpPr>
          <p:cNvPr id="12" name="TextBox 11"/>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are you building?</a:t>
            </a:r>
          </a:p>
        </p:txBody>
      </p:sp>
      <p:sp>
        <p:nvSpPr>
          <p:cNvPr id="4" name="TextBox 3"/>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Two Ways to Answer That</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Vague</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An AI thing for resumes</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Precise</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Flags gaps in 200 files</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3101577" cy="518159"/>
          </a:xfrm>
          <a:prstGeom prst="rect">
            <a:avLst/>
          </a:prstGeom>
          <a:noFill/>
        </p:spPr>
        <p:txBody>
          <a:bodyPr wrap="none" lIns="0" rIns="0">
            <a:noAutofit/>
          </a:bodyPr>
          <a:lstStyle/>
          <a:p>
            <a:pPr algn="l"/>
            <a:r>
              <a:rPr sz="3400" b="1" i="0">
                <a:solidFill>
                  <a:srgbClr val="123A6B"/>
                </a:solidFill>
                <a:latin typeface="Arial"/>
              </a:rPr>
              <a:t>Separate</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Problem apart from solution</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3791446" cy="518159"/>
          </a:xfrm>
          <a:prstGeom prst="rect">
            <a:avLst/>
          </a:prstGeom>
          <a:noFill/>
        </p:spPr>
        <p:txBody>
          <a:bodyPr wrap="none" lIns="0" rIns="0">
            <a:noAutofit/>
          </a:bodyPr>
          <a:lstStyle/>
          <a:p>
            <a:pPr algn="l"/>
            <a:r>
              <a:rPr sz="3400" b="1" i="0">
                <a:solidFill>
                  <a:srgbClr val="123A6B"/>
                </a:solidFill>
                <a:latin typeface="Arial"/>
              </a:rPr>
              <a:t>Interrogate</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Let Claude attack the ask</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Scope</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Run the three-gate test</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754451" cy="518159"/>
          </a:xfrm>
          <a:prstGeom prst="rect">
            <a:avLst/>
          </a:prstGeom>
          <a:noFill/>
        </p:spPr>
        <p:txBody>
          <a:bodyPr wrap="none" lIns="0" rIns="0">
            <a:noAutofit/>
          </a:bodyPr>
          <a:lstStyle/>
          <a:p>
            <a:pPr algn="l"/>
            <a:r>
              <a:rPr sz="3400" b="1" i="0">
                <a:solidFill>
                  <a:srgbClr val="123A6B"/>
                </a:solidFill>
                <a:latin typeface="Arial"/>
              </a:rPr>
              <a:t>Commit</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Write it into the Project</a:t>
            </a:r>
          </a:p>
        </p:txBody>
      </p:sp>
      <p:sp>
        <p:nvSpPr>
          <p:cNvPr id="19" name="TextBox 18"/>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A2240"/>
                </a:solidFill>
                <a:latin typeface="Arial"/>
              </a:rPr>
              <a:t>Problem, Not Solution</a:t>
            </a:r>
          </a:p>
        </p:txBody>
      </p:sp>
      <p:sp>
        <p:nvSpPr>
          <p:cNvPr id="5" name="TextBox 4"/>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1158656" cy="1005840"/>
          </a:xfrm>
          <a:prstGeom prst="rect">
            <a:avLst/>
          </a:prstGeom>
          <a:noFill/>
        </p:spPr>
        <p:txBody>
          <a:bodyPr wrap="none" lIns="0" rIns="0">
            <a:noAutofit/>
          </a:bodyPr>
          <a:lstStyle/>
          <a:p>
            <a:pPr algn="l"/>
            <a:r>
              <a:rPr sz="6000" b="1" i="0">
                <a:solidFill>
                  <a:srgbClr val="0072CE"/>
                </a:solidFill>
                <a:latin typeface="Arial"/>
              </a:rPr>
              <a:t>Problem statement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gap between what happens and what should.</a:t>
            </a:r>
          </a:p>
        </p:txBody>
      </p:sp>
      <p:sp>
        <p:nvSpPr>
          <p:cNvPr id="5" name="TextBox 4"/>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1156275" cy="1005840"/>
          </a:xfrm>
          <a:prstGeom prst="rect">
            <a:avLst/>
          </a:prstGeom>
          <a:noFill/>
        </p:spPr>
        <p:txBody>
          <a:bodyPr wrap="none" lIns="0" rIns="0">
            <a:noAutofit/>
          </a:bodyPr>
          <a:lstStyle/>
          <a:p>
            <a:pPr algn="l"/>
            <a:r>
              <a:rPr sz="6000" b="1" i="0">
                <a:solidFill>
                  <a:srgbClr val="0072CE"/>
                </a:solidFill>
                <a:latin typeface="Arial"/>
              </a:rPr>
              <a:t>Solution statement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thing you plan to build, assuming the diagnosis.</a:t>
            </a:r>
          </a:p>
        </p:txBody>
      </p:sp>
      <p:sp>
        <p:nvSpPr>
          <p:cNvPr id="5" name="TextBox 4"/>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How to Tell Them Apart</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Problem</a:t>
            </a:r>
          </a:p>
        </p:txBody>
      </p:sp>
      <p:sp>
        <p:nvSpPr>
          <p:cNvPr id="4" name="Rectangle 3"/>
          <p:cNvSpPr/>
          <p:nvPr/>
        </p:nvSpPr>
        <p:spPr>
          <a:xfrm>
            <a:off x="54864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Solution</a:t>
            </a:r>
          </a:p>
        </p:txBody>
      </p:sp>
      <p:sp>
        <p:nvSpPr>
          <p:cNvPr id="6" name="Rectangle 5"/>
          <p:cNvSpPr/>
          <p:nvPr/>
        </p:nvSpPr>
        <p:spPr>
          <a:xfrm>
            <a:off x="632460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501640" cy="609600"/>
          </a:xfrm>
          <a:prstGeom prst="rect">
            <a:avLst/>
          </a:prstGeom>
          <a:noFill/>
        </p:spPr>
        <p:txBody>
          <a:bodyPr wrap="none" lIns="0" rIns="0">
            <a:noAutofit/>
          </a:bodyPr>
          <a:lstStyle/>
          <a:p>
            <a:pPr algn="l"/>
            <a:r>
              <a:rPr sz="3400" b="0" i="0">
                <a:solidFill>
                  <a:srgbClr val="0A2240"/>
                </a:solidFill>
                <a:latin typeface="Arial"/>
              </a:rPr>
              <a:t>Describes a gap</a:t>
            </a:r>
          </a:p>
        </p:txBody>
      </p:sp>
      <p:sp>
        <p:nvSpPr>
          <p:cNvPr id="8" name="TextBox 7"/>
          <p:cNvSpPr txBox="1"/>
          <p:nvPr/>
        </p:nvSpPr>
        <p:spPr>
          <a:xfrm>
            <a:off x="457200" y="3608831"/>
            <a:ext cx="6325910" cy="609600"/>
          </a:xfrm>
          <a:prstGeom prst="rect">
            <a:avLst/>
          </a:prstGeom>
          <a:noFill/>
        </p:spPr>
        <p:txBody>
          <a:bodyPr wrap="none" lIns="0" rIns="0">
            <a:noAutofit/>
          </a:bodyPr>
          <a:lstStyle/>
          <a:p>
            <a:pPr algn="l"/>
            <a:r>
              <a:rPr sz="3400" b="0" i="0">
                <a:solidFill>
                  <a:srgbClr val="0A2240"/>
                </a:solidFill>
                <a:latin typeface="Arial"/>
              </a:rPr>
              <a:t>Admits several fixes</a:t>
            </a:r>
          </a:p>
        </p:txBody>
      </p:sp>
      <p:sp>
        <p:nvSpPr>
          <p:cNvPr id="9" name="TextBox 8"/>
          <p:cNvSpPr txBox="1"/>
          <p:nvPr/>
        </p:nvSpPr>
        <p:spPr>
          <a:xfrm>
            <a:off x="457200" y="4821935"/>
            <a:ext cx="6083360" cy="609600"/>
          </a:xfrm>
          <a:prstGeom prst="rect">
            <a:avLst/>
          </a:prstGeom>
          <a:noFill/>
        </p:spPr>
        <p:txBody>
          <a:bodyPr wrap="none" lIns="0" rIns="0">
            <a:noAutofit/>
          </a:bodyPr>
          <a:lstStyle/>
          <a:p>
            <a:pPr algn="l"/>
            <a:r>
              <a:rPr sz="3400" b="0" i="0">
                <a:solidFill>
                  <a:srgbClr val="0A2240"/>
                </a:solidFill>
                <a:latin typeface="Arial"/>
              </a:rPr>
              <a:t>Names who suffers</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Describes a build</a:t>
            </a:r>
          </a:p>
        </p:txBody>
      </p:sp>
      <p:sp>
        <p:nvSpPr>
          <p:cNvPr id="11" name="TextBox 10"/>
          <p:cNvSpPr txBox="1"/>
          <p:nvPr/>
        </p:nvSpPr>
        <p:spPr>
          <a:xfrm>
            <a:off x="6233160" y="3608831"/>
            <a:ext cx="5501640" cy="609600"/>
          </a:xfrm>
          <a:prstGeom prst="rect">
            <a:avLst/>
          </a:prstGeom>
          <a:noFill/>
        </p:spPr>
        <p:txBody>
          <a:bodyPr wrap="none" lIns="0" rIns="0">
            <a:noAutofit/>
          </a:bodyPr>
          <a:lstStyle/>
          <a:p>
            <a:pPr algn="l"/>
            <a:r>
              <a:rPr sz="3400" b="0" i="0">
                <a:solidFill>
                  <a:srgbClr val="0A2240"/>
                </a:solidFill>
                <a:latin typeface="Arial"/>
              </a:rPr>
              <a:t>Assumes one fix</a:t>
            </a:r>
          </a:p>
        </p:txBody>
      </p:sp>
      <p:sp>
        <p:nvSpPr>
          <p:cNvPr id="12" name="TextBox 11"/>
          <p:cNvSpPr txBox="1"/>
          <p:nvPr/>
        </p:nvSpPr>
        <p:spPr>
          <a:xfrm>
            <a:off x="6233160" y="4821935"/>
            <a:ext cx="5501640" cy="609600"/>
          </a:xfrm>
          <a:prstGeom prst="rect">
            <a:avLst/>
          </a:prstGeom>
          <a:noFill/>
        </p:spPr>
        <p:txBody>
          <a:bodyPr wrap="none" lIns="0" rIns="0">
            <a:noAutofit/>
          </a:bodyPr>
          <a:lstStyle/>
          <a:p>
            <a:pPr algn="l"/>
            <a:r>
              <a:rPr sz="3400" b="0" i="0">
                <a:solidFill>
                  <a:srgbClr val="0A2240"/>
                </a:solidFill>
                <a:latin typeface="Arial"/>
              </a:rPr>
              <a:t>Names a tool</a:t>
            </a:r>
          </a:p>
        </p:txBody>
      </p:sp>
      <p:sp>
        <p:nvSpPr>
          <p:cNvPr id="13" name="TextBox 12"/>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123A6B"/>
                </a:solidFill>
                <a:latin typeface="Arial"/>
              </a:rPr>
              <a:t>What They Said, What They Meant</a:t>
            </a:r>
          </a:p>
        </p:txBody>
      </p:sp>
      <p:sp>
        <p:nvSpPr>
          <p:cNvPr id="3" name="TextBox 2"/>
          <p:cNvSpPr txBox="1"/>
          <p:nvPr/>
        </p:nvSpPr>
        <p:spPr>
          <a:xfrm>
            <a:off x="457200" y="1499616"/>
            <a:ext cx="4980244" cy="518159"/>
          </a:xfrm>
          <a:prstGeom prst="rect">
            <a:avLst/>
          </a:prstGeom>
          <a:noFill/>
        </p:spPr>
        <p:txBody>
          <a:bodyPr wrap="none" lIns="0" rIns="0">
            <a:noAutofit/>
          </a:bodyPr>
          <a:lstStyle/>
          <a:p>
            <a:pPr algn="l"/>
            <a:r>
              <a:rPr sz="3400" b="1" i="0">
                <a:solidFill>
                  <a:srgbClr val="123A6B"/>
                </a:solidFill>
                <a:latin typeface="Arial"/>
              </a:rPr>
              <a:t>Said (solution)</a:t>
            </a:r>
          </a:p>
        </p:txBody>
      </p:sp>
      <p:sp>
        <p:nvSpPr>
          <p:cNvPr id="4" name="TextBox 3"/>
          <p:cNvSpPr txBox="1"/>
          <p:nvPr/>
        </p:nvSpPr>
        <p:spPr>
          <a:xfrm>
            <a:off x="5283944" y="1499616"/>
            <a:ext cx="5556428" cy="518159"/>
          </a:xfrm>
          <a:prstGeom prst="rect">
            <a:avLst/>
          </a:prstGeom>
          <a:noFill/>
        </p:spPr>
        <p:txBody>
          <a:bodyPr wrap="none" lIns="0" rIns="0">
            <a:noAutofit/>
          </a:bodyPr>
          <a:lstStyle/>
          <a:p>
            <a:pPr algn="l"/>
            <a:r>
              <a:rPr sz="3400" b="1" i="0">
                <a:solidFill>
                  <a:srgbClr val="123A6B"/>
                </a:solidFill>
                <a:latin typeface="Arial"/>
              </a:rPr>
              <a:t>Meant (problem)</a:t>
            </a:r>
          </a:p>
        </p:txBody>
      </p:sp>
      <p:sp>
        <p:nvSpPr>
          <p:cNvPr id="5" name="Rectangle 4"/>
          <p:cNvSpPr/>
          <p:nvPr/>
        </p:nvSpPr>
        <p:spPr>
          <a:xfrm>
            <a:off x="457200" y="2072639"/>
            <a:ext cx="1023305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6442630" cy="633984"/>
          </a:xfrm>
          <a:prstGeom prst="rect">
            <a:avLst/>
          </a:prstGeom>
          <a:noFill/>
        </p:spPr>
        <p:txBody>
          <a:bodyPr wrap="none" lIns="0" rIns="0">
            <a:noAutofit/>
          </a:bodyPr>
          <a:lstStyle/>
          <a:p>
            <a:pPr algn="l"/>
            <a:r>
              <a:rPr sz="3400" b="0" i="0">
                <a:solidFill>
                  <a:srgbClr val="0A2240"/>
                </a:solidFill>
                <a:latin typeface="Arial"/>
              </a:rPr>
              <a:t>Build a RAG chatbot</a:t>
            </a:r>
          </a:p>
        </p:txBody>
      </p:sp>
      <p:sp>
        <p:nvSpPr>
          <p:cNvPr id="7" name="TextBox 6"/>
          <p:cNvSpPr txBox="1"/>
          <p:nvPr/>
        </p:nvSpPr>
        <p:spPr>
          <a:xfrm>
            <a:off x="5283944" y="2401823"/>
            <a:ext cx="6908056" cy="633984"/>
          </a:xfrm>
          <a:prstGeom prst="rect">
            <a:avLst/>
          </a:prstGeom>
          <a:noFill/>
        </p:spPr>
        <p:txBody>
          <a:bodyPr wrap="none" lIns="0" rIns="0">
            <a:noAutofit/>
          </a:bodyPr>
          <a:lstStyle/>
          <a:p>
            <a:pPr algn="l"/>
            <a:r>
              <a:rPr sz="3400" b="0" i="0">
                <a:solidFill>
                  <a:srgbClr val="0A2240"/>
                </a:solidFill>
                <a:latin typeface="Arial"/>
              </a:rPr>
              <a:t>Staff cannot find answers</a:t>
            </a:r>
          </a:p>
        </p:txBody>
      </p:sp>
      <p:sp>
        <p:nvSpPr>
          <p:cNvPr id="8" name="TextBox 7"/>
          <p:cNvSpPr txBox="1"/>
          <p:nvPr/>
        </p:nvSpPr>
        <p:spPr>
          <a:xfrm>
            <a:off x="457200" y="3310127"/>
            <a:ext cx="5751412" cy="633984"/>
          </a:xfrm>
          <a:prstGeom prst="rect">
            <a:avLst/>
          </a:prstGeom>
          <a:noFill/>
        </p:spPr>
        <p:txBody>
          <a:bodyPr wrap="none" lIns="0" rIns="0">
            <a:noAutofit/>
          </a:bodyPr>
          <a:lstStyle/>
          <a:p>
            <a:pPr algn="l"/>
            <a:r>
              <a:rPr sz="3400" b="0" i="0">
                <a:solidFill>
                  <a:srgbClr val="0A2240"/>
                </a:solidFill>
                <a:latin typeface="Arial"/>
              </a:rPr>
              <a:t>Fine-tune a model</a:t>
            </a:r>
          </a:p>
        </p:txBody>
      </p:sp>
      <p:sp>
        <p:nvSpPr>
          <p:cNvPr id="9" name="TextBox 8"/>
          <p:cNvSpPr txBox="1"/>
          <p:nvPr/>
        </p:nvSpPr>
        <p:spPr>
          <a:xfrm>
            <a:off x="5283944" y="3310127"/>
            <a:ext cx="6908056" cy="633984"/>
          </a:xfrm>
          <a:prstGeom prst="rect">
            <a:avLst/>
          </a:prstGeom>
          <a:noFill/>
        </p:spPr>
        <p:txBody>
          <a:bodyPr wrap="none" lIns="0" rIns="0">
            <a:noAutofit/>
          </a:bodyPr>
          <a:lstStyle/>
          <a:p>
            <a:pPr algn="l"/>
            <a:r>
              <a:rPr sz="3400" b="0" i="0">
                <a:solidFill>
                  <a:srgbClr val="0A2240"/>
                </a:solidFill>
                <a:latin typeface="Arial"/>
              </a:rPr>
              <a:t>Output misses our tone</a:t>
            </a:r>
          </a:p>
        </p:txBody>
      </p:sp>
      <p:sp>
        <p:nvSpPr>
          <p:cNvPr id="10" name="TextBox 9"/>
          <p:cNvSpPr txBox="1"/>
          <p:nvPr/>
        </p:nvSpPr>
        <p:spPr>
          <a:xfrm>
            <a:off x="457200" y="4218431"/>
            <a:ext cx="5905579" cy="633984"/>
          </a:xfrm>
          <a:prstGeom prst="rect">
            <a:avLst/>
          </a:prstGeom>
          <a:noFill/>
        </p:spPr>
        <p:txBody>
          <a:bodyPr wrap="none" lIns="0" rIns="0">
            <a:noAutofit/>
          </a:bodyPr>
          <a:lstStyle/>
          <a:p>
            <a:pPr algn="l"/>
            <a:r>
              <a:rPr sz="3400" b="0" i="0">
                <a:solidFill>
                  <a:srgbClr val="0A2240"/>
                </a:solidFill>
                <a:latin typeface="Arial"/>
              </a:rPr>
              <a:t>Make a dashboard</a:t>
            </a:r>
          </a:p>
        </p:txBody>
      </p:sp>
      <p:sp>
        <p:nvSpPr>
          <p:cNvPr id="11" name="TextBox 10"/>
          <p:cNvSpPr txBox="1"/>
          <p:nvPr/>
        </p:nvSpPr>
        <p:spPr>
          <a:xfrm>
            <a:off x="5283944" y="4218431"/>
            <a:ext cx="6908056" cy="633984"/>
          </a:xfrm>
          <a:prstGeom prst="rect">
            <a:avLst/>
          </a:prstGeom>
          <a:noFill/>
        </p:spPr>
        <p:txBody>
          <a:bodyPr wrap="none" lIns="0" rIns="0">
            <a:noAutofit/>
          </a:bodyPr>
          <a:lstStyle/>
          <a:p>
            <a:pPr algn="l"/>
            <a:r>
              <a:rPr sz="3400" b="0" i="0">
                <a:solidFill>
                  <a:srgbClr val="0A2240"/>
                </a:solidFill>
                <a:latin typeface="Arial"/>
              </a:rPr>
              <a:t>Nobody sees the numbers</a:t>
            </a:r>
          </a:p>
        </p:txBody>
      </p:sp>
      <p:sp>
        <p:nvSpPr>
          <p:cNvPr id="12" name="TextBox 11"/>
          <p:cNvSpPr txBox="1"/>
          <p:nvPr/>
        </p:nvSpPr>
        <p:spPr>
          <a:xfrm>
            <a:off x="457200" y="5126735"/>
            <a:ext cx="4292739" cy="633984"/>
          </a:xfrm>
          <a:prstGeom prst="rect">
            <a:avLst/>
          </a:prstGeom>
          <a:noFill/>
        </p:spPr>
        <p:txBody>
          <a:bodyPr wrap="none" lIns="0" rIns="0">
            <a:noAutofit/>
          </a:bodyPr>
          <a:lstStyle/>
          <a:p>
            <a:pPr algn="l"/>
            <a:r>
              <a:rPr sz="3400" b="0" i="0">
                <a:solidFill>
                  <a:srgbClr val="0A2240"/>
                </a:solidFill>
                <a:latin typeface="Arial"/>
              </a:rPr>
              <a:t>Use an agent</a:t>
            </a:r>
          </a:p>
        </p:txBody>
      </p:sp>
      <p:sp>
        <p:nvSpPr>
          <p:cNvPr id="13" name="TextBox 12"/>
          <p:cNvSpPr txBox="1"/>
          <p:nvPr/>
        </p:nvSpPr>
        <p:spPr>
          <a:xfrm>
            <a:off x="5283944" y="5126735"/>
            <a:ext cx="6908056" cy="633984"/>
          </a:xfrm>
          <a:prstGeom prst="rect">
            <a:avLst/>
          </a:prstGeom>
          <a:noFill/>
        </p:spPr>
        <p:txBody>
          <a:bodyPr wrap="none" lIns="0" rIns="0">
            <a:noAutofit/>
          </a:bodyPr>
          <a:lstStyle/>
          <a:p>
            <a:pPr algn="l"/>
            <a:r>
              <a:rPr sz="3400" b="0" i="0">
                <a:solidFill>
                  <a:srgbClr val="0A2240"/>
                </a:solidFill>
                <a:latin typeface="Arial"/>
              </a:rPr>
              <a:t>Review takes four hours</a:t>
            </a:r>
          </a:p>
        </p:txBody>
      </p:sp>
      <p:sp>
        <p:nvSpPr>
          <p:cNvPr id="14" name="TextBox 13"/>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A2240"/>
                </a:solidFill>
                <a:latin typeface="Arial"/>
              </a:rPr>
              <a:t>Why Solution-First Hurts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You cannot tell if it worked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tool choice is already locked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Scope creeps with no boundary</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Feedback arrives too late to use</a:t>
            </a:r>
          </a:p>
        </p:txBody>
      </p:sp>
      <p:sp>
        <p:nvSpPr>
          <p:cNvPr id="7" name="TextBox 6"/>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123A6B"/>
                </a:solidFill>
                <a:latin typeface="Arial"/>
              </a:rPr>
              <a:t>Three Tells You Wrote a Solution</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A tool is named</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RAG, agent, fine-tune, dashboard</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Only one fix fits</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No alternative is even thinkable</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No one is in it</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Nobody is described as stuck</a:t>
            </a:r>
          </a:p>
        </p:txBody>
      </p:sp>
      <p:sp>
        <p:nvSpPr>
          <p:cNvPr id="9" name="TextBox 8"/>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"Names a tool? Not a problem yet."</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fastest test in the room</a:t>
            </a:r>
          </a:p>
        </p:txBody>
      </p:sp>
      <p:sp>
        <p:nvSpPr>
          <p:cNvPr id="5" name="TextBox 4"/>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Interrogation</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Making Claude attack a vague ask until it is precise.</a:t>
            </a:r>
          </a:p>
        </p:txBody>
      </p:sp>
      <p:sp>
        <p:nvSpPr>
          <p:cNvPr id="5" name="TextBox 4"/>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A2240"/>
                </a:solidFill>
                <a:latin typeface="Arial"/>
              </a:rPr>
              <a:t>What Makes Claude Interrogate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Give it the adversarial role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Forbid it from proposing solutions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Demand one question at a time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Make it refuse to move on early</a:t>
            </a:r>
          </a:p>
        </p:txBody>
      </p:sp>
      <p:sp>
        <p:nvSpPr>
          <p:cNvPr id="7" name="TextBox 6"/>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The Interrogation Prompt</a:t>
            </a:r>
          </a:p>
        </p:txBody>
      </p:sp>
      <p:sp>
        <p:nvSpPr>
          <p:cNvPr id="6" name="TextBox 5"/>
          <p:cNvSpPr txBox="1"/>
          <p:nvPr/>
        </p:nvSpPr>
        <p:spPr>
          <a:xfrm>
            <a:off x="457200" y="1837944"/>
            <a:ext cx="10181748" cy="518159"/>
          </a:xfrm>
          <a:prstGeom prst="rect">
            <a:avLst/>
          </a:prstGeom>
          <a:noFill/>
        </p:spPr>
        <p:txBody>
          <a:bodyPr wrap="none" lIns="0" rIns="0">
            <a:noAutofit/>
          </a:bodyPr>
          <a:lstStyle/>
          <a:p>
            <a:pPr algn="l"/>
            <a:r>
              <a:rPr sz="3400" b="0" i="0">
                <a:solidFill>
                  <a:srgbClr val="D4D4D4"/>
                </a:solidFill>
                <a:latin typeface="Arial"/>
              </a:rPr>
              <a:t>You are a skeptical product lead.</a:t>
            </a:r>
          </a:p>
        </p:txBody>
      </p:sp>
      <p:sp>
        <p:nvSpPr>
          <p:cNvPr id="7" name="TextBox 6"/>
          <p:cNvSpPr txBox="1"/>
          <p:nvPr/>
        </p:nvSpPr>
        <p:spPr>
          <a:xfrm>
            <a:off x="457200" y="2356103"/>
            <a:ext cx="2985868" cy="518159"/>
          </a:xfrm>
          <a:prstGeom prst="rect">
            <a:avLst/>
          </a:prstGeom>
          <a:noFill/>
        </p:spPr>
        <p:txBody>
          <a:bodyPr wrap="none" lIns="0" rIns="0">
            <a:noAutofit/>
          </a:bodyPr>
          <a:lstStyle/>
          <a:p>
            <a:pPr algn="l"/>
            <a:r>
              <a:rPr sz="3400" b="0" i="0">
                <a:solidFill>
                  <a:srgbClr val="D4D4D4"/>
                </a:solidFill>
                <a:latin typeface="Arial"/>
              </a:rPr>
              <a:t>My idea: </a:t>
            </a:r>
          </a:p>
        </p:txBody>
      </p:sp>
      <p:sp>
        <p:nvSpPr>
          <p:cNvPr id="8" name="TextBox 7"/>
          <p:cNvSpPr txBox="1"/>
          <p:nvPr/>
        </p:nvSpPr>
        <p:spPr>
          <a:xfrm>
            <a:off x="2209068" y="2356103"/>
            <a:ext cx="7777836" cy="518159"/>
          </a:xfrm>
          <a:prstGeom prst="rect">
            <a:avLst/>
          </a:prstGeom>
          <a:noFill/>
        </p:spPr>
        <p:txBody>
          <a:bodyPr wrap="none" lIns="0" rIns="0">
            <a:noAutofit/>
          </a:bodyPr>
          <a:lstStyle/>
          <a:p>
            <a:pPr algn="l"/>
            <a:r>
              <a:rPr sz="3400" b="0" i="0">
                <a:solidFill>
                  <a:srgbClr val="CE9178"/>
                </a:solidFill>
                <a:latin typeface="Arial"/>
              </a:rPr>
              <a:t>"an AI thing for resumes"</a:t>
            </a:r>
          </a:p>
        </p:txBody>
      </p:sp>
      <p:sp>
        <p:nvSpPr>
          <p:cNvPr id="9" name="TextBox 8"/>
          <p:cNvSpPr txBox="1"/>
          <p:nvPr/>
        </p:nvSpPr>
        <p:spPr>
          <a:xfrm>
            <a:off x="457200" y="3392421"/>
            <a:ext cx="2141160" cy="518159"/>
          </a:xfrm>
          <a:prstGeom prst="rect">
            <a:avLst/>
          </a:prstGeom>
          <a:noFill/>
        </p:spPr>
        <p:txBody>
          <a:bodyPr wrap="none" lIns="0" rIns="0">
            <a:noAutofit/>
          </a:bodyPr>
          <a:lstStyle/>
          <a:p>
            <a:pPr algn="l"/>
            <a:r>
              <a:rPr sz="3400" b="0" i="0">
                <a:solidFill>
                  <a:srgbClr val="D4D4D4"/>
                </a:solidFill>
                <a:latin typeface="Arial"/>
              </a:rPr>
              <a:t>Rules:</a:t>
            </a:r>
          </a:p>
        </p:txBody>
      </p:sp>
      <p:sp>
        <p:nvSpPr>
          <p:cNvPr id="10" name="TextBox 9"/>
          <p:cNvSpPr txBox="1"/>
          <p:nvPr/>
        </p:nvSpPr>
        <p:spPr>
          <a:xfrm>
            <a:off x="457200" y="3910580"/>
            <a:ext cx="9628841" cy="518159"/>
          </a:xfrm>
          <a:prstGeom prst="rect">
            <a:avLst/>
          </a:prstGeom>
          <a:noFill/>
        </p:spPr>
        <p:txBody>
          <a:bodyPr wrap="none" lIns="0" rIns="0">
            <a:noAutofit/>
          </a:bodyPr>
          <a:lstStyle/>
          <a:p>
            <a:pPr algn="l"/>
            <a:r>
              <a:rPr sz="3400" b="0" i="0">
                <a:solidFill>
                  <a:srgbClr val="D4D4D4"/>
                </a:solidFill>
                <a:latin typeface="Arial"/>
              </a:rPr>
              <a:t>  - Ask ONE question at a time.</a:t>
            </a:r>
          </a:p>
        </p:txBody>
      </p:sp>
      <p:sp>
        <p:nvSpPr>
          <p:cNvPr id="11" name="TextBox 10"/>
          <p:cNvSpPr txBox="1"/>
          <p:nvPr/>
        </p:nvSpPr>
        <p:spPr>
          <a:xfrm>
            <a:off x="457200" y="4428739"/>
            <a:ext cx="8861723" cy="518159"/>
          </a:xfrm>
          <a:prstGeom prst="rect">
            <a:avLst/>
          </a:prstGeom>
          <a:noFill/>
        </p:spPr>
        <p:txBody>
          <a:bodyPr wrap="none" lIns="0" rIns="0">
            <a:noAutofit/>
          </a:bodyPr>
          <a:lstStyle/>
          <a:p>
            <a:pPr algn="l"/>
            <a:r>
              <a:rPr sz="3400" b="0" i="0">
                <a:solidFill>
                  <a:srgbClr val="D4D4D4"/>
                </a:solidFill>
                <a:latin typeface="Arial"/>
              </a:rPr>
              <a:t>  - Never propose a solution.</a:t>
            </a:r>
          </a:p>
        </p:txBody>
      </p:sp>
      <p:sp>
        <p:nvSpPr>
          <p:cNvPr id="12" name="TextBox 11"/>
          <p:cNvSpPr txBox="1"/>
          <p:nvPr/>
        </p:nvSpPr>
        <p:spPr>
          <a:xfrm>
            <a:off x="457200" y="4946898"/>
            <a:ext cx="7977881" cy="518159"/>
          </a:xfrm>
          <a:prstGeom prst="rect">
            <a:avLst/>
          </a:prstGeom>
          <a:noFill/>
        </p:spPr>
        <p:txBody>
          <a:bodyPr wrap="none" lIns="0" rIns="0">
            <a:noAutofit/>
          </a:bodyPr>
          <a:lstStyle/>
          <a:p>
            <a:pPr algn="l"/>
            <a:r>
              <a:rPr sz="3400" b="0" i="0">
                <a:solidFill>
                  <a:srgbClr val="D4D4D4"/>
                </a:solidFill>
                <a:latin typeface="Arial"/>
              </a:rPr>
              <a:t>  - Reject vague answers.</a:t>
            </a:r>
          </a:p>
        </p:txBody>
      </p:sp>
      <p:sp>
        <p:nvSpPr>
          <p:cNvPr id="13" name="TextBox 12"/>
          <p:cNvSpPr txBox="1"/>
          <p:nvPr/>
        </p:nvSpPr>
        <p:spPr>
          <a:xfrm>
            <a:off x="457200" y="5465057"/>
            <a:ext cx="4982944" cy="518159"/>
          </a:xfrm>
          <a:prstGeom prst="rect">
            <a:avLst/>
          </a:prstGeom>
          <a:noFill/>
        </p:spPr>
        <p:txBody>
          <a:bodyPr wrap="none" lIns="0" rIns="0">
            <a:noAutofit/>
          </a:bodyPr>
          <a:lstStyle/>
          <a:p>
            <a:pPr algn="l"/>
            <a:r>
              <a:rPr sz="3400" b="0" i="0">
                <a:solidFill>
                  <a:srgbClr val="D4D4D4"/>
                </a:solidFill>
                <a:latin typeface="Arial"/>
              </a:rPr>
              <a:t>  - Stop when it </a:t>
            </a:r>
          </a:p>
        </p:txBody>
      </p:sp>
      <p:sp>
        <p:nvSpPr>
          <p:cNvPr id="14" name="TextBox 13"/>
          <p:cNvSpPr txBox="1"/>
          <p:nvPr/>
        </p:nvSpPr>
        <p:spPr>
          <a:xfrm>
            <a:off x="3457240" y="5465057"/>
            <a:ext cx="681811" cy="518159"/>
          </a:xfrm>
          <a:prstGeom prst="rect">
            <a:avLst/>
          </a:prstGeom>
          <a:noFill/>
        </p:spPr>
        <p:txBody>
          <a:bodyPr wrap="none" lIns="0" rIns="0">
            <a:noAutofit/>
          </a:bodyPr>
          <a:lstStyle/>
          <a:p>
            <a:pPr algn="l"/>
            <a:r>
              <a:rPr sz="3400" b="0" i="0">
                <a:solidFill>
                  <a:srgbClr val="569CD6"/>
                </a:solidFill>
                <a:latin typeface="Arial"/>
              </a:rPr>
              <a:t>is</a:t>
            </a:r>
          </a:p>
        </p:txBody>
      </p:sp>
      <p:sp>
        <p:nvSpPr>
          <p:cNvPr id="15" name="TextBox 14"/>
          <p:cNvSpPr txBox="1"/>
          <p:nvPr/>
        </p:nvSpPr>
        <p:spPr>
          <a:xfrm>
            <a:off x="3769072" y="5465057"/>
            <a:ext cx="2793920" cy="518159"/>
          </a:xfrm>
          <a:prstGeom prst="rect">
            <a:avLst/>
          </a:prstGeom>
          <a:noFill/>
        </p:spPr>
        <p:txBody>
          <a:bodyPr wrap="none" lIns="0" rIns="0">
            <a:noAutofit/>
          </a:bodyPr>
          <a:lstStyle/>
          <a:p>
            <a:pPr algn="l"/>
            <a:r>
              <a:rPr sz="3400" b="0" i="0">
                <a:solidFill>
                  <a:srgbClr val="D4D4D4"/>
                </a:solidFill>
                <a:latin typeface="Arial"/>
              </a:rPr>
              <a:t> precise.</a:t>
            </a:r>
          </a:p>
        </p:txBody>
      </p:sp>
      <p:sp>
        <p:nvSpPr>
          <p:cNvPr id="16" name="TextBox 15"/>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A2240"/>
                </a:solidFill>
                <a:latin typeface="Arial"/>
              </a:rPr>
              <a:t>The Interrogation Loop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Answer plainly</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No hedging, no tool names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Let it push</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Expect the follow-up to hurt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Restate</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Ask Claude to write it back</a:t>
            </a:r>
          </a:p>
        </p:txBody>
      </p:sp>
      <p:sp>
        <p:nvSpPr>
          <p:cNvPr id="12" name="TextBox 11"/>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123A6B"/>
                </a:solidFill>
                <a:latin typeface="Arial"/>
              </a:rPr>
              <a:t>Before and After the Interrogation</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After</a:t>
            </a:r>
          </a:p>
        </p:txBody>
      </p:sp>
      <p:sp>
        <p:nvSpPr>
          <p:cNvPr id="5" name="TextBox 4"/>
          <p:cNvSpPr txBox="1"/>
          <p:nvPr/>
        </p:nvSpPr>
        <p:spPr>
          <a:xfrm>
            <a:off x="457200" y="2395727"/>
            <a:ext cx="7363916" cy="847344"/>
          </a:xfrm>
          <a:prstGeom prst="rect">
            <a:avLst/>
          </a:prstGeom>
          <a:noFill/>
        </p:spPr>
        <p:txBody>
          <a:bodyPr wrap="none" lIns="0" rIns="0">
            <a:noAutofit/>
          </a:bodyPr>
          <a:lstStyle/>
          <a:p>
            <a:pPr algn="l"/>
            <a:r>
              <a:rPr sz="3400" b="0" i="0">
                <a:solidFill>
                  <a:srgbClr val="0A2240"/>
                </a:solidFill>
                <a:latin typeface="Arial"/>
              </a:rPr>
              <a:t>An AI thing for resumes</a:t>
            </a:r>
          </a:p>
        </p:txBody>
      </p:sp>
      <p:sp>
        <p:nvSpPr>
          <p:cNvPr id="6" name="TextBox 5"/>
          <p:cNvSpPr txBox="1"/>
          <p:nvPr/>
        </p:nvSpPr>
        <p:spPr>
          <a:xfrm>
            <a:off x="6233160" y="2395727"/>
            <a:ext cx="5958840" cy="847344"/>
          </a:xfrm>
          <a:prstGeom prst="rect">
            <a:avLst/>
          </a:prstGeom>
          <a:noFill/>
        </p:spPr>
        <p:txBody>
          <a:bodyPr wrap="none" lIns="0" rIns="0">
            <a:noAutofit/>
          </a:bodyPr>
          <a:lstStyle/>
          <a:p>
            <a:pPr algn="l"/>
            <a:r>
              <a:rPr sz="3400" b="0" i="0">
                <a:solidFill>
                  <a:srgbClr val="0A2240"/>
                </a:solidFill>
                <a:latin typeface="Arial"/>
              </a:rPr>
              <a:t>Recruiters miss skill gaps</a:t>
            </a:r>
          </a:p>
        </p:txBody>
      </p:sp>
      <p:sp>
        <p:nvSpPr>
          <p:cNvPr id="7" name="TextBox 6"/>
          <p:cNvSpPr txBox="1"/>
          <p:nvPr/>
        </p:nvSpPr>
        <p:spPr>
          <a:xfrm>
            <a:off x="457200" y="3517391"/>
            <a:ext cx="5558452" cy="847344"/>
          </a:xfrm>
          <a:prstGeom prst="rect">
            <a:avLst/>
          </a:prstGeom>
          <a:noFill/>
        </p:spPr>
        <p:txBody>
          <a:bodyPr wrap="none" lIns="0" rIns="0">
            <a:noAutofit/>
          </a:bodyPr>
          <a:lstStyle/>
          <a:p>
            <a:pPr algn="l"/>
            <a:r>
              <a:rPr sz="3400" b="0" i="0">
                <a:solidFill>
                  <a:srgbClr val="0A2240"/>
                </a:solidFill>
                <a:latin typeface="Arial"/>
              </a:rPr>
              <a:t>Who for? Unclear</a:t>
            </a:r>
          </a:p>
        </p:txBody>
      </p:sp>
      <p:sp>
        <p:nvSpPr>
          <p:cNvPr id="8" name="TextBox 7"/>
          <p:cNvSpPr txBox="1"/>
          <p:nvPr/>
        </p:nvSpPr>
        <p:spPr>
          <a:xfrm>
            <a:off x="6233160" y="3517391"/>
            <a:ext cx="5958840" cy="847344"/>
          </a:xfrm>
          <a:prstGeom prst="rect">
            <a:avLst/>
          </a:prstGeom>
          <a:noFill/>
        </p:spPr>
        <p:txBody>
          <a:bodyPr wrap="none" lIns="0" rIns="0">
            <a:noAutofit/>
          </a:bodyPr>
          <a:lstStyle/>
          <a:p>
            <a:pPr algn="l"/>
            <a:r>
              <a:rPr sz="3400" b="0" i="0">
                <a:solidFill>
                  <a:srgbClr val="0A2240"/>
                </a:solidFill>
                <a:latin typeface="Arial"/>
              </a:rPr>
              <a:t>For 200 intern applicants</a:t>
            </a:r>
          </a:p>
        </p:txBody>
      </p:sp>
      <p:sp>
        <p:nvSpPr>
          <p:cNvPr id="9" name="TextBox 8"/>
          <p:cNvSpPr txBox="1"/>
          <p:nvPr/>
        </p:nvSpPr>
        <p:spPr>
          <a:xfrm>
            <a:off x="457200" y="4639055"/>
            <a:ext cx="6634916" cy="847344"/>
          </a:xfrm>
          <a:prstGeom prst="rect">
            <a:avLst/>
          </a:prstGeom>
          <a:noFill/>
        </p:spPr>
        <p:txBody>
          <a:bodyPr wrap="none" lIns="0" rIns="0">
            <a:noAutofit/>
          </a:bodyPr>
          <a:lstStyle/>
          <a:p>
            <a:pPr algn="l"/>
            <a:r>
              <a:rPr sz="3400" b="0" i="0">
                <a:solidFill>
                  <a:srgbClr val="0A2240"/>
                </a:solidFill>
                <a:latin typeface="Arial"/>
              </a:rPr>
              <a:t>Done when? Unclear</a:t>
            </a:r>
          </a:p>
        </p:txBody>
      </p:sp>
      <p:sp>
        <p:nvSpPr>
          <p:cNvPr id="10" name="TextBox 9"/>
          <p:cNvSpPr txBox="1"/>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Flagged in one pass</a:t>
            </a:r>
          </a:p>
        </p:txBody>
      </p:sp>
      <p:sp>
        <p:nvSpPr>
          <p:cNvPr id="11" name="TextBox 10"/>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A2240"/>
                </a:solidFill>
                <a:latin typeface="Arial"/>
              </a:rPr>
              <a:t>Signs It Is Now Precise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stranger can restate it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You know who is stuck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can name a wrong answer</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Two people would agree it is solved</a:t>
            </a:r>
          </a:p>
        </p:txBody>
      </p:sp>
      <p:sp>
        <p:nvSpPr>
          <p:cNvPr id="7" name="TextBox 6"/>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A2240"/>
                </a:solidFill>
                <a:latin typeface="Arial"/>
              </a:rPr>
              <a:t>The Scoping Test</a:t>
            </a:r>
          </a:p>
        </p:txBody>
      </p:sp>
      <p:sp>
        <p:nvSpPr>
          <p:cNvPr id="5" name="TextBox 4"/>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Scoping test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Three gates a problem passes before you commit.</a:t>
            </a:r>
          </a:p>
        </p:txBody>
      </p:sp>
      <p:sp>
        <p:nvSpPr>
          <p:cNvPr id="5" name="TextBox 4"/>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The Three Gates</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Measurable outcome</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You can say whether it worked</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Data available</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You have it, today, in hand</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Three days</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Finishable by Friday noon</a:t>
            </a:r>
          </a:p>
        </p:txBody>
      </p:sp>
      <p:sp>
        <p:nvSpPr>
          <p:cNvPr id="9" name="TextBox 8"/>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1195304" cy="1005840"/>
          </a:xfrm>
          <a:prstGeom prst="rect">
            <a:avLst/>
          </a:prstGeom>
          <a:noFill/>
        </p:spPr>
        <p:txBody>
          <a:bodyPr wrap="none" lIns="0" rIns="0">
            <a:noAutofit/>
          </a:bodyPr>
          <a:lstStyle/>
          <a:p>
            <a:pPr algn="l"/>
            <a:r>
              <a:rPr sz="6000" b="1" i="0">
                <a:solidFill>
                  <a:srgbClr val="0072CE"/>
                </a:solidFill>
                <a:latin typeface="Arial"/>
              </a:rPr>
              <a:t>Gate 1 · Measurable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State up front what would prove it worked.</a:t>
            </a:r>
          </a:p>
        </p:txBody>
      </p:sp>
      <p:sp>
        <p:nvSpPr>
          <p:cNvPr id="5" name="TextBox 4"/>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123A6B"/>
                </a:solidFill>
                <a:latin typeface="Arial"/>
              </a:rPr>
              <a:t>Vague Metric, Measurable Metric</a:t>
            </a:r>
          </a:p>
        </p:txBody>
      </p:sp>
      <p:sp>
        <p:nvSpPr>
          <p:cNvPr id="3" name="TextBox 2"/>
          <p:cNvSpPr txBox="1"/>
          <p:nvPr/>
        </p:nvSpPr>
        <p:spPr>
          <a:xfrm>
            <a:off x="457200" y="1499616"/>
            <a:ext cx="3293482" cy="518159"/>
          </a:xfrm>
          <a:prstGeom prst="rect">
            <a:avLst/>
          </a:prstGeom>
          <a:noFill/>
        </p:spPr>
        <p:txBody>
          <a:bodyPr wrap="none" lIns="0" rIns="0">
            <a:noAutofit/>
          </a:bodyPr>
          <a:lstStyle/>
          <a:p>
            <a:pPr algn="l"/>
            <a:r>
              <a:rPr sz="3400" b="1" i="0">
                <a:solidFill>
                  <a:srgbClr val="123A6B"/>
                </a:solidFill>
                <a:latin typeface="Arial"/>
              </a:rPr>
              <a:t>Vague</a:t>
            </a:r>
          </a:p>
        </p:txBody>
      </p:sp>
      <p:sp>
        <p:nvSpPr>
          <p:cNvPr id="4" name="TextBox 3"/>
          <p:cNvSpPr txBox="1"/>
          <p:nvPr/>
        </p:nvSpPr>
        <p:spPr>
          <a:xfrm>
            <a:off x="4299322" y="1499616"/>
            <a:ext cx="6173554" cy="518159"/>
          </a:xfrm>
          <a:prstGeom prst="rect">
            <a:avLst/>
          </a:prstGeom>
          <a:noFill/>
        </p:spPr>
        <p:txBody>
          <a:bodyPr wrap="none" lIns="0" rIns="0">
            <a:noAutofit/>
          </a:bodyPr>
          <a:lstStyle/>
          <a:p>
            <a:pPr algn="l"/>
            <a:r>
              <a:rPr sz="3400" b="1" i="0">
                <a:solidFill>
                  <a:srgbClr val="123A6B"/>
                </a:solidFill>
                <a:latin typeface="Arial"/>
              </a:rPr>
              <a:t>Measurable</a:t>
            </a:r>
          </a:p>
        </p:txBody>
      </p:sp>
      <p:sp>
        <p:nvSpPr>
          <p:cNvPr id="5" name="Rectangle 4"/>
          <p:cNvSpPr/>
          <p:nvPr/>
        </p:nvSpPr>
        <p:spPr>
          <a:xfrm>
            <a:off x="457200" y="2072639"/>
            <a:ext cx="10015676"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4867235" cy="633984"/>
          </a:xfrm>
          <a:prstGeom prst="rect">
            <a:avLst/>
          </a:prstGeom>
          <a:noFill/>
        </p:spPr>
        <p:txBody>
          <a:bodyPr wrap="none" lIns="0" rIns="0">
            <a:noAutofit/>
          </a:bodyPr>
          <a:lstStyle/>
          <a:p>
            <a:pPr algn="l"/>
            <a:r>
              <a:rPr sz="3400" b="0" i="0">
                <a:solidFill>
                  <a:srgbClr val="0A2240"/>
                </a:solidFill>
                <a:latin typeface="Arial"/>
              </a:rPr>
              <a:t>Better resumes</a:t>
            </a:r>
          </a:p>
        </p:txBody>
      </p:sp>
      <p:sp>
        <p:nvSpPr>
          <p:cNvPr id="7" name="TextBox 6"/>
          <p:cNvSpPr txBox="1"/>
          <p:nvPr/>
        </p:nvSpPr>
        <p:spPr>
          <a:xfrm>
            <a:off x="4299322" y="2401823"/>
            <a:ext cx="7892678" cy="633984"/>
          </a:xfrm>
          <a:prstGeom prst="rect">
            <a:avLst/>
          </a:prstGeom>
          <a:noFill/>
        </p:spPr>
        <p:txBody>
          <a:bodyPr wrap="none" lIns="0" rIns="0">
            <a:noAutofit/>
          </a:bodyPr>
          <a:lstStyle/>
          <a:p>
            <a:pPr algn="l"/>
            <a:r>
              <a:rPr sz="3400" b="0" i="0">
                <a:solidFill>
                  <a:srgbClr val="0A2240"/>
                </a:solidFill>
                <a:latin typeface="Arial"/>
              </a:rPr>
              <a:t>Flags 8 of 10 known gaps</a:t>
            </a:r>
          </a:p>
        </p:txBody>
      </p:sp>
      <p:sp>
        <p:nvSpPr>
          <p:cNvPr id="8" name="TextBox 7"/>
          <p:cNvSpPr txBox="1"/>
          <p:nvPr/>
        </p:nvSpPr>
        <p:spPr>
          <a:xfrm>
            <a:off x="457200" y="3310127"/>
            <a:ext cx="4674612" cy="633984"/>
          </a:xfrm>
          <a:prstGeom prst="rect">
            <a:avLst/>
          </a:prstGeom>
          <a:noFill/>
        </p:spPr>
        <p:txBody>
          <a:bodyPr wrap="none" lIns="0" rIns="0">
            <a:noAutofit/>
          </a:bodyPr>
          <a:lstStyle/>
          <a:p>
            <a:pPr algn="l"/>
            <a:r>
              <a:rPr sz="3400" b="0" i="0">
                <a:solidFill>
                  <a:srgbClr val="0A2240"/>
                </a:solidFill>
                <a:latin typeface="Arial"/>
              </a:rPr>
              <a:t>Faster reviews</a:t>
            </a:r>
          </a:p>
        </p:txBody>
      </p:sp>
      <p:sp>
        <p:nvSpPr>
          <p:cNvPr id="9" name="TextBox 8"/>
          <p:cNvSpPr txBox="1"/>
          <p:nvPr/>
        </p:nvSpPr>
        <p:spPr>
          <a:xfrm>
            <a:off x="4299322" y="3310127"/>
            <a:ext cx="7892678" cy="633984"/>
          </a:xfrm>
          <a:prstGeom prst="rect">
            <a:avLst/>
          </a:prstGeom>
          <a:noFill/>
        </p:spPr>
        <p:txBody>
          <a:bodyPr wrap="none" lIns="0" rIns="0">
            <a:noAutofit/>
          </a:bodyPr>
          <a:lstStyle/>
          <a:p>
            <a:pPr algn="l"/>
            <a:r>
              <a:rPr sz="3400" b="0" i="0">
                <a:solidFill>
                  <a:srgbClr val="0A2240"/>
                </a:solidFill>
                <a:latin typeface="Arial"/>
              </a:rPr>
              <a:t>Under 30 seconds per file</a:t>
            </a:r>
          </a:p>
        </p:txBody>
      </p:sp>
      <p:sp>
        <p:nvSpPr>
          <p:cNvPr id="10" name="TextBox 9"/>
          <p:cNvSpPr txBox="1"/>
          <p:nvPr/>
        </p:nvSpPr>
        <p:spPr>
          <a:xfrm>
            <a:off x="457200" y="4218431"/>
            <a:ext cx="4407099" cy="633984"/>
          </a:xfrm>
          <a:prstGeom prst="rect">
            <a:avLst/>
          </a:prstGeom>
          <a:noFill/>
        </p:spPr>
        <p:txBody>
          <a:bodyPr wrap="none" lIns="0" rIns="0">
            <a:noAutofit/>
          </a:bodyPr>
          <a:lstStyle/>
          <a:p>
            <a:pPr algn="l"/>
            <a:r>
              <a:rPr sz="3400" b="0" i="0">
                <a:solidFill>
                  <a:srgbClr val="0A2240"/>
                </a:solidFill>
                <a:latin typeface="Arial"/>
              </a:rPr>
              <a:t>Higher quality</a:t>
            </a:r>
          </a:p>
        </p:txBody>
      </p:sp>
      <p:sp>
        <p:nvSpPr>
          <p:cNvPr id="11" name="TextBox 10"/>
          <p:cNvSpPr txBox="1"/>
          <p:nvPr/>
        </p:nvSpPr>
        <p:spPr>
          <a:xfrm>
            <a:off x="4299322" y="4218431"/>
            <a:ext cx="7892678" cy="633984"/>
          </a:xfrm>
          <a:prstGeom prst="rect">
            <a:avLst/>
          </a:prstGeom>
          <a:noFill/>
        </p:spPr>
        <p:txBody>
          <a:bodyPr wrap="none" lIns="0" rIns="0">
            <a:noAutofit/>
          </a:bodyPr>
          <a:lstStyle/>
          <a:p>
            <a:pPr algn="l"/>
            <a:r>
              <a:rPr sz="3400" b="0" i="0">
                <a:solidFill>
                  <a:srgbClr val="0A2240"/>
                </a:solidFill>
                <a:latin typeface="Arial"/>
              </a:rPr>
              <a:t>Two reviewers agree it passes</a:t>
            </a:r>
          </a:p>
        </p:txBody>
      </p:sp>
      <p:sp>
        <p:nvSpPr>
          <p:cNvPr id="12" name="TextBox 11"/>
          <p:cNvSpPr txBox="1"/>
          <p:nvPr/>
        </p:nvSpPr>
        <p:spPr>
          <a:xfrm>
            <a:off x="457200" y="5126735"/>
            <a:ext cx="3792457" cy="633984"/>
          </a:xfrm>
          <a:prstGeom prst="rect">
            <a:avLst/>
          </a:prstGeom>
          <a:noFill/>
        </p:spPr>
        <p:txBody>
          <a:bodyPr wrap="none" lIns="0" rIns="0">
            <a:noAutofit/>
          </a:bodyPr>
          <a:lstStyle/>
          <a:p>
            <a:pPr algn="l"/>
            <a:r>
              <a:rPr sz="3400" b="0" i="0">
                <a:solidFill>
                  <a:srgbClr val="0A2240"/>
                </a:solidFill>
                <a:latin typeface="Arial"/>
              </a:rPr>
              <a:t>More useful</a:t>
            </a:r>
          </a:p>
        </p:txBody>
      </p:sp>
      <p:sp>
        <p:nvSpPr>
          <p:cNvPr id="13" name="TextBox 12"/>
          <p:cNvSpPr txBox="1"/>
          <p:nvPr/>
        </p:nvSpPr>
        <p:spPr>
          <a:xfrm>
            <a:off x="4299322" y="5126735"/>
            <a:ext cx="7440830" cy="633984"/>
          </a:xfrm>
          <a:prstGeom prst="rect">
            <a:avLst/>
          </a:prstGeom>
          <a:noFill/>
        </p:spPr>
        <p:txBody>
          <a:bodyPr wrap="none" lIns="0" rIns="0">
            <a:noAutofit/>
          </a:bodyPr>
          <a:lstStyle/>
          <a:p>
            <a:pPr algn="l"/>
            <a:r>
              <a:rPr sz="3400" b="0" i="0">
                <a:solidFill>
                  <a:srgbClr val="0A2240"/>
                </a:solidFill>
                <a:latin typeface="Arial"/>
              </a:rPr>
              <a:t>Used unprompted twice</a:t>
            </a:r>
          </a:p>
        </p:txBody>
      </p:sp>
      <p:sp>
        <p:nvSpPr>
          <p:cNvPr id="14" name="TextBox 13"/>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Gate 2 · Data</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It exists, you may use it, you have it today.</a:t>
            </a:r>
          </a:p>
        </p:txBody>
      </p:sp>
      <p:sp>
        <p:nvSpPr>
          <p:cNvPr id="5" name="TextBox 4"/>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Where Data Plans Die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Access pending</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Someone still has to approve it</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Wrong shape</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Exists, but not in usable form</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Too sensitive</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Real records you cannot touch</a:t>
            </a:r>
          </a:p>
        </p:txBody>
      </p:sp>
      <p:sp>
        <p:nvSpPr>
          <p:cNvPr id="9" name="TextBox 8"/>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1195304" cy="1005840"/>
          </a:xfrm>
          <a:prstGeom prst="rect">
            <a:avLst/>
          </a:prstGeom>
          <a:noFill/>
        </p:spPr>
        <p:txBody>
          <a:bodyPr wrap="none" lIns="0" rIns="0">
            <a:noAutofit/>
          </a:bodyPr>
          <a:lstStyle/>
          <a:p>
            <a:pPr algn="l"/>
            <a:r>
              <a:rPr sz="6000" b="1" i="0">
                <a:solidFill>
                  <a:srgbClr val="0072CE"/>
                </a:solidFill>
                <a:latin typeface="Arial"/>
              </a:rPr>
              <a:t>Gate 3 · Three days</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whole path working, not one part polished.</a:t>
            </a:r>
          </a:p>
        </p:txBody>
      </p:sp>
      <p:sp>
        <p:nvSpPr>
          <p:cNvPr id="5" name="TextBox 4"/>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What Three Days Buys</a:t>
            </a:r>
          </a:p>
        </p:txBody>
      </p:sp>
      <p:sp>
        <p:nvSpPr>
          <p:cNvPr id="3" name="TextBox 2"/>
          <p:cNvSpPr txBox="1"/>
          <p:nvPr/>
        </p:nvSpPr>
        <p:spPr>
          <a:xfrm>
            <a:off x="120551" y="2776728"/>
            <a:ext cx="5466278" cy="914400"/>
          </a:xfrm>
          <a:prstGeom prst="rect">
            <a:avLst/>
          </a:prstGeom>
          <a:noFill/>
        </p:spPr>
        <p:txBody>
          <a:bodyPr wrap="none" lIns="0" rIns="0">
            <a:noAutofit/>
          </a:bodyPr>
          <a:lstStyle/>
          <a:p>
            <a:pPr algn="ctr"/>
            <a:r>
              <a:rPr sz="6000" b="1" i="0">
                <a:solidFill>
                  <a:srgbClr val="0A2240"/>
                </a:solidFill>
                <a:latin typeface="Arial"/>
              </a:rPr>
              <a:t>One path</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End to end and rough</a:t>
            </a:r>
          </a:p>
        </p:txBody>
      </p:sp>
      <p:sp>
        <p:nvSpPr>
          <p:cNvPr id="5" name="TextBox 4"/>
          <p:cNvSpPr txBox="1"/>
          <p:nvPr/>
        </p:nvSpPr>
        <p:spPr>
          <a:xfrm>
            <a:off x="6740307" y="2776728"/>
            <a:ext cx="5196006" cy="914400"/>
          </a:xfrm>
          <a:prstGeom prst="rect">
            <a:avLst/>
          </a:prstGeom>
          <a:noFill/>
        </p:spPr>
        <p:txBody>
          <a:bodyPr wrap="none" lIns="0" rIns="0">
            <a:noAutofit/>
          </a:bodyPr>
          <a:lstStyle/>
          <a:p>
            <a:pPr algn="ctr"/>
            <a:r>
              <a:rPr sz="6000" b="1" i="0">
                <a:solidFill>
                  <a:srgbClr val="0A2240"/>
                </a:solidFill>
                <a:latin typeface="Arial"/>
              </a:rPr>
              <a:t>One part</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Polished but alone</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123A6B"/>
                </a:solidFill>
                <a:latin typeface="Arial"/>
              </a:rPr>
              <a:t>Three Candidate Ideas, Three Gates</a:t>
            </a:r>
          </a:p>
        </p:txBody>
      </p:sp>
      <p:sp>
        <p:nvSpPr>
          <p:cNvPr id="3" name="TextBox 2"/>
          <p:cNvSpPr txBox="1"/>
          <p:nvPr/>
        </p:nvSpPr>
        <p:spPr>
          <a:xfrm>
            <a:off x="3477866" y="1499616"/>
            <a:ext cx="3255068" cy="518159"/>
          </a:xfrm>
          <a:prstGeom prst="rect">
            <a:avLst/>
          </a:prstGeom>
          <a:noFill/>
        </p:spPr>
        <p:txBody>
          <a:bodyPr wrap="none" lIns="0" rIns="0">
            <a:noAutofit/>
          </a:bodyPr>
          <a:lstStyle/>
          <a:p>
            <a:pPr algn="ctr"/>
            <a:r>
              <a:rPr sz="3400" b="1" i="0">
                <a:solidFill>
                  <a:srgbClr val="0A2240"/>
                </a:solidFill>
                <a:latin typeface="Arial"/>
              </a:rPr>
              <a:t>Resumes</a:t>
            </a:r>
          </a:p>
        </p:txBody>
      </p:sp>
      <p:sp>
        <p:nvSpPr>
          <p:cNvPr id="4" name="TextBox 3"/>
          <p:cNvSpPr txBox="1"/>
          <p:nvPr/>
        </p:nvSpPr>
        <p:spPr>
          <a:xfrm>
            <a:off x="6595872" y="1499616"/>
            <a:ext cx="2432304" cy="518159"/>
          </a:xfrm>
          <a:prstGeom prst="rect">
            <a:avLst/>
          </a:prstGeom>
          <a:noFill/>
        </p:spPr>
        <p:txBody>
          <a:bodyPr wrap="none" lIns="0" rIns="0">
            <a:noAutofit/>
          </a:bodyPr>
          <a:lstStyle/>
          <a:p>
            <a:pPr algn="ctr"/>
            <a:r>
              <a:rPr sz="3400" b="1" i="0">
                <a:solidFill>
                  <a:srgbClr val="0A2240"/>
                </a:solidFill>
                <a:latin typeface="Arial"/>
              </a:rPr>
              <a:t>Policy</a:t>
            </a:r>
          </a:p>
        </p:txBody>
      </p:sp>
      <p:sp>
        <p:nvSpPr>
          <p:cNvPr id="5" name="TextBox 4"/>
          <p:cNvSpPr txBox="1"/>
          <p:nvPr/>
        </p:nvSpPr>
        <p:spPr>
          <a:xfrm>
            <a:off x="9294408" y="1499616"/>
            <a:ext cx="2448480" cy="518159"/>
          </a:xfrm>
          <a:prstGeom prst="rect">
            <a:avLst/>
          </a:prstGeom>
          <a:noFill/>
        </p:spPr>
        <p:txBody>
          <a:bodyPr wrap="none" lIns="0" rIns="0">
            <a:noAutofit/>
          </a:bodyPr>
          <a:lstStyle/>
          <a:p>
            <a:pPr algn="ctr"/>
            <a:r>
              <a:rPr sz="3400" b="1" i="0">
                <a:solidFill>
                  <a:srgbClr val="0A2240"/>
                </a:solidFill>
                <a:latin typeface="Arial"/>
              </a:rPr>
              <a:t>Grader</a:t>
            </a:r>
          </a:p>
        </p:txBody>
      </p:sp>
      <p:sp>
        <p:nvSpPr>
          <p:cNvPr id="6" name="Rectangle 5"/>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401823"/>
            <a:ext cx="3984406" cy="936752"/>
          </a:xfrm>
          <a:prstGeom prst="rect">
            <a:avLst/>
          </a:prstGeom>
          <a:noFill/>
        </p:spPr>
        <p:txBody>
          <a:bodyPr wrap="none" lIns="0" rIns="0">
            <a:noAutofit/>
          </a:bodyPr>
          <a:lstStyle/>
          <a:p>
            <a:pPr algn="l"/>
            <a:r>
              <a:rPr sz="3400" b="1" i="0">
                <a:solidFill>
                  <a:srgbClr val="0A2240"/>
                </a:solidFill>
                <a:latin typeface="Arial"/>
              </a:rPr>
              <a:t>Measurable</a:t>
            </a:r>
          </a:p>
        </p:txBody>
      </p:sp>
      <p:sp>
        <p:nvSpPr>
          <p:cNvPr id="8" name="Rectangle 7"/>
          <p:cNvSpPr/>
          <p:nvPr/>
        </p:nvSpPr>
        <p:spPr>
          <a:xfrm>
            <a:off x="4568570" y="2401823"/>
            <a:ext cx="1073659"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8380" y="2401823"/>
            <a:ext cx="1374039" cy="518159"/>
          </a:xfrm>
          <a:prstGeom prst="rect">
            <a:avLst/>
          </a:prstGeom>
          <a:noFill/>
        </p:spPr>
        <p:txBody>
          <a:bodyPr wrap="none" lIns="0" rIns="0">
            <a:noAutofit/>
          </a:bodyPr>
          <a:lstStyle/>
          <a:p>
            <a:pPr algn="ctr"/>
            <a:r>
              <a:rPr sz="3400" b="1" i="0">
                <a:solidFill>
                  <a:srgbClr val="FFFFFF"/>
                </a:solidFill>
                <a:latin typeface="Arial"/>
              </a:rPr>
              <a:t>Yes</a:t>
            </a:r>
          </a:p>
        </p:txBody>
      </p:sp>
      <p:sp>
        <p:nvSpPr>
          <p:cNvPr id="10" name="TextBox 9"/>
          <p:cNvSpPr txBox="1"/>
          <p:nvPr/>
        </p:nvSpPr>
        <p:spPr>
          <a:xfrm>
            <a:off x="6595872" y="2401823"/>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1" name="TextBox 10"/>
          <p:cNvSpPr txBox="1"/>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2" name="TextBox 11"/>
          <p:cNvSpPr txBox="1"/>
          <p:nvPr/>
        </p:nvSpPr>
        <p:spPr>
          <a:xfrm>
            <a:off x="457200" y="3612895"/>
            <a:ext cx="3253720" cy="936752"/>
          </a:xfrm>
          <a:prstGeom prst="rect">
            <a:avLst/>
          </a:prstGeom>
          <a:noFill/>
        </p:spPr>
        <p:txBody>
          <a:bodyPr wrap="none" lIns="0" rIns="0">
            <a:noAutofit/>
          </a:bodyPr>
          <a:lstStyle/>
          <a:p>
            <a:pPr algn="l"/>
            <a:r>
              <a:rPr sz="3400" b="1" i="0">
                <a:solidFill>
                  <a:srgbClr val="0A2240"/>
                </a:solidFill>
                <a:latin typeface="Arial"/>
              </a:rPr>
              <a:t>Data now</a:t>
            </a:r>
          </a:p>
        </p:txBody>
      </p:sp>
      <p:sp>
        <p:nvSpPr>
          <p:cNvPr id="13" name="TextBox 12"/>
          <p:cNvSpPr txBox="1"/>
          <p:nvPr/>
        </p:nvSpPr>
        <p:spPr>
          <a:xfrm>
            <a:off x="3889248" y="3612895"/>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4" name="TextBox 13"/>
          <p:cNvSpPr txBox="1"/>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15" name="TextBox 14"/>
          <p:cNvSpPr txBox="1"/>
          <p:nvPr/>
        </p:nvSpPr>
        <p:spPr>
          <a:xfrm>
            <a:off x="9302496" y="3612895"/>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6" name="TextBox 15"/>
          <p:cNvSpPr txBox="1"/>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3 days</a:t>
            </a:r>
          </a:p>
        </p:txBody>
      </p:sp>
      <p:sp>
        <p:nvSpPr>
          <p:cNvPr id="17" name="TextBox 16"/>
          <p:cNvSpPr txBox="1"/>
          <p:nvPr/>
        </p:nvSpPr>
        <p:spPr>
          <a:xfrm>
            <a:off x="3889248" y="4823967"/>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18" name="TextBox 17"/>
          <p:cNvSpPr txBox="1"/>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9" name="TextBox 18"/>
          <p:cNvSpPr txBox="1"/>
          <p:nvPr/>
        </p:nvSpPr>
        <p:spPr>
          <a:xfrm>
            <a:off x="9302496" y="4823967"/>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20" name="TextBox 19"/>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819923" cy="1005840"/>
          </a:xfrm>
          <a:prstGeom prst="rect">
            <a:avLst/>
          </a:prstGeom>
          <a:noFill/>
        </p:spPr>
        <p:txBody>
          <a:bodyPr wrap="none" lIns="0" rIns="0">
            <a:noAutofit/>
          </a:bodyPr>
          <a:lstStyle/>
          <a:p>
            <a:pPr algn="l"/>
            <a:r>
              <a:rPr sz="6000" b="1" i="0">
                <a:solidFill>
                  <a:srgbClr val="0072CE"/>
                </a:solidFill>
                <a:latin typeface="Arial"/>
              </a:rPr>
              <a:t>The opposite case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Making Claude argue your problem is the wrong one.</a:t>
            </a:r>
          </a:p>
        </p:txBody>
      </p:sp>
      <p:sp>
        <p:nvSpPr>
          <p:cNvPr id="5" name="TextBox 4"/>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734800" cy="640080"/>
          </a:xfrm>
          <a:prstGeom prst="rect">
            <a:avLst/>
          </a:prstGeom>
          <a:noFill/>
        </p:spPr>
        <p:txBody>
          <a:bodyPr wrap="none" lIns="0" rIns="0">
            <a:noAutofit/>
          </a:bodyPr>
          <a:lstStyle/>
          <a:p>
            <a:pPr algn="l"/>
            <a:r>
              <a:rPr sz="4200" b="0" i="0">
                <a:solidFill>
                  <a:srgbClr val="D4D4D4"/>
                </a:solidFill>
                <a:latin typeface="Arial"/>
              </a:rPr>
              <a:t>Make Claude Argue Against You</a:t>
            </a:r>
          </a:p>
        </p:txBody>
      </p:sp>
      <p:sp>
        <p:nvSpPr>
          <p:cNvPr id="6" name="TextBox 5"/>
          <p:cNvSpPr txBox="1"/>
          <p:nvPr/>
        </p:nvSpPr>
        <p:spPr>
          <a:xfrm>
            <a:off x="457200" y="1837944"/>
            <a:ext cx="7440156" cy="518159"/>
          </a:xfrm>
          <a:prstGeom prst="rect">
            <a:avLst/>
          </a:prstGeom>
          <a:noFill/>
        </p:spPr>
        <p:txBody>
          <a:bodyPr wrap="none" lIns="0" rIns="0">
            <a:noAutofit/>
          </a:bodyPr>
          <a:lstStyle/>
          <a:p>
            <a:pPr algn="l"/>
            <a:r>
              <a:rPr sz="3400" b="0" i="0">
                <a:solidFill>
                  <a:srgbClr val="D4D4D4"/>
                </a:solidFill>
                <a:latin typeface="Arial"/>
              </a:rPr>
              <a:t>Our problem statement:</a:t>
            </a:r>
          </a:p>
        </p:txBody>
      </p:sp>
      <p:sp>
        <p:nvSpPr>
          <p:cNvPr id="7" name="TextBox 6"/>
          <p:cNvSpPr txBox="1"/>
          <p:nvPr/>
        </p:nvSpPr>
        <p:spPr>
          <a:xfrm>
            <a:off x="457200" y="2356103"/>
            <a:ext cx="3707785" cy="518159"/>
          </a:xfrm>
          <a:prstGeom prst="rect">
            <a:avLst/>
          </a:prstGeom>
          <a:noFill/>
        </p:spPr>
        <p:txBody>
          <a:bodyPr wrap="none" lIns="0" rIns="0">
            <a:noAutofit/>
          </a:bodyPr>
          <a:lstStyle/>
          <a:p>
            <a:pPr algn="l"/>
            <a:r>
              <a:rPr sz="3400" b="0" i="0">
                <a:solidFill>
                  <a:srgbClr val="CE9178"/>
                </a:solidFill>
                <a:latin typeface="Arial"/>
              </a:rPr>
              <a:t>"&lt;paste it&gt;"</a:t>
            </a:r>
          </a:p>
        </p:txBody>
      </p:sp>
      <p:sp>
        <p:nvSpPr>
          <p:cNvPr id="8" name="TextBox 7"/>
          <p:cNvSpPr txBox="1"/>
          <p:nvPr/>
        </p:nvSpPr>
        <p:spPr>
          <a:xfrm>
            <a:off x="457200" y="3392421"/>
            <a:ext cx="3485475" cy="518159"/>
          </a:xfrm>
          <a:prstGeom prst="rect">
            <a:avLst/>
          </a:prstGeom>
          <a:noFill/>
        </p:spPr>
        <p:txBody>
          <a:bodyPr wrap="none" lIns="0" rIns="0">
            <a:noAutofit/>
          </a:bodyPr>
          <a:lstStyle/>
          <a:p>
            <a:pPr algn="l"/>
            <a:r>
              <a:rPr sz="3400" b="0" i="0">
                <a:solidFill>
                  <a:srgbClr val="D4D4D4"/>
                </a:solidFill>
                <a:latin typeface="Arial"/>
              </a:rPr>
              <a:t>Argue this </a:t>
            </a:r>
          </a:p>
        </p:txBody>
      </p:sp>
      <p:sp>
        <p:nvSpPr>
          <p:cNvPr id="9" name="TextBox 8"/>
          <p:cNvSpPr txBox="1"/>
          <p:nvPr/>
        </p:nvSpPr>
        <p:spPr>
          <a:xfrm>
            <a:off x="2521322" y="3392421"/>
            <a:ext cx="681811" cy="518159"/>
          </a:xfrm>
          <a:prstGeom prst="rect">
            <a:avLst/>
          </a:prstGeom>
          <a:noFill/>
        </p:spPr>
        <p:txBody>
          <a:bodyPr wrap="none" lIns="0" rIns="0">
            <a:noAutofit/>
          </a:bodyPr>
          <a:lstStyle/>
          <a:p>
            <a:pPr algn="l"/>
            <a:r>
              <a:rPr sz="3400" b="0" i="0">
                <a:solidFill>
                  <a:srgbClr val="569CD6"/>
                </a:solidFill>
                <a:latin typeface="Arial"/>
              </a:rPr>
              <a:t>is</a:t>
            </a:r>
          </a:p>
        </p:txBody>
      </p:sp>
      <p:sp>
        <p:nvSpPr>
          <p:cNvPr id="10" name="TextBox 9"/>
          <p:cNvSpPr txBox="1"/>
          <p:nvPr/>
        </p:nvSpPr>
        <p:spPr>
          <a:xfrm>
            <a:off x="2833154" y="3392421"/>
            <a:ext cx="6939875" cy="518159"/>
          </a:xfrm>
          <a:prstGeom prst="rect">
            <a:avLst/>
          </a:prstGeom>
          <a:noFill/>
        </p:spPr>
        <p:txBody>
          <a:bodyPr wrap="none" lIns="0" rIns="0">
            <a:noAutofit/>
          </a:bodyPr>
          <a:lstStyle/>
          <a:p>
            <a:pPr algn="l"/>
            <a:r>
              <a:rPr sz="3400" b="0" i="0">
                <a:solidFill>
                  <a:srgbClr val="D4D4D4"/>
                </a:solidFill>
                <a:latin typeface="Arial"/>
              </a:rPr>
              <a:t> the WRONG problem</a:t>
            </a:r>
          </a:p>
        </p:txBody>
      </p:sp>
      <p:sp>
        <p:nvSpPr>
          <p:cNvPr id="11" name="TextBox 10"/>
          <p:cNvSpPr txBox="1"/>
          <p:nvPr/>
        </p:nvSpPr>
        <p:spPr>
          <a:xfrm>
            <a:off x="457200" y="3910580"/>
            <a:ext cx="989131" cy="518159"/>
          </a:xfrm>
          <a:prstGeom prst="rect">
            <a:avLst/>
          </a:prstGeom>
          <a:noFill/>
        </p:spPr>
        <p:txBody>
          <a:bodyPr wrap="none" lIns="0" rIns="0">
            <a:noAutofit/>
          </a:bodyPr>
          <a:lstStyle/>
          <a:p>
            <a:pPr algn="l"/>
            <a:r>
              <a:rPr sz="3400" b="0" i="0">
                <a:solidFill>
                  <a:srgbClr val="C586C0"/>
                </a:solidFill>
                <a:latin typeface="Arial"/>
              </a:rPr>
              <a:t>for</a:t>
            </a:r>
          </a:p>
        </p:txBody>
      </p:sp>
      <p:sp>
        <p:nvSpPr>
          <p:cNvPr id="12" name="TextBox 11"/>
          <p:cNvSpPr txBox="1"/>
          <p:nvPr/>
        </p:nvSpPr>
        <p:spPr>
          <a:xfrm>
            <a:off x="961107" y="3910580"/>
            <a:ext cx="5713292" cy="518159"/>
          </a:xfrm>
          <a:prstGeom prst="rect">
            <a:avLst/>
          </a:prstGeom>
          <a:noFill/>
        </p:spPr>
        <p:txBody>
          <a:bodyPr wrap="none" lIns="0" rIns="0">
            <a:noAutofit/>
          </a:bodyPr>
          <a:lstStyle/>
          <a:p>
            <a:pPr algn="l"/>
            <a:r>
              <a:rPr sz="3400" b="0" i="0">
                <a:solidFill>
                  <a:srgbClr val="D4D4D4"/>
                </a:solidFill>
                <a:latin typeface="Arial"/>
              </a:rPr>
              <a:t> a three-day build.</a:t>
            </a:r>
          </a:p>
        </p:txBody>
      </p:sp>
      <p:sp>
        <p:nvSpPr>
          <p:cNvPr id="13" name="TextBox 12"/>
          <p:cNvSpPr txBox="1"/>
          <p:nvPr/>
        </p:nvSpPr>
        <p:spPr>
          <a:xfrm>
            <a:off x="457200" y="4946898"/>
            <a:ext cx="8516283" cy="518159"/>
          </a:xfrm>
          <a:prstGeom prst="rect">
            <a:avLst/>
          </a:prstGeom>
          <a:noFill/>
        </p:spPr>
        <p:txBody>
          <a:bodyPr wrap="none" lIns="0" rIns="0">
            <a:noAutofit/>
          </a:bodyPr>
          <a:lstStyle/>
          <a:p>
            <a:pPr algn="l"/>
            <a:r>
              <a:rPr sz="3400" b="0" i="0">
                <a:solidFill>
                  <a:srgbClr val="D4D4D4"/>
                </a:solidFill>
                <a:latin typeface="Arial"/>
              </a:rPr>
              <a:t>Three strongest objections,</a:t>
            </a:r>
          </a:p>
        </p:txBody>
      </p:sp>
      <p:sp>
        <p:nvSpPr>
          <p:cNvPr id="14" name="TextBox 13"/>
          <p:cNvSpPr txBox="1"/>
          <p:nvPr/>
        </p:nvSpPr>
        <p:spPr>
          <a:xfrm>
            <a:off x="457200" y="5465057"/>
            <a:ext cx="8976081" cy="518159"/>
          </a:xfrm>
          <a:prstGeom prst="rect">
            <a:avLst/>
          </a:prstGeom>
          <a:noFill/>
        </p:spPr>
        <p:txBody>
          <a:bodyPr wrap="none" lIns="0" rIns="0">
            <a:noAutofit/>
          </a:bodyPr>
          <a:lstStyle/>
          <a:p>
            <a:pPr algn="l"/>
            <a:r>
              <a:rPr sz="3400" b="0" i="0">
                <a:solidFill>
                  <a:srgbClr val="D4D4D4"/>
                </a:solidFill>
                <a:latin typeface="Arial"/>
              </a:rPr>
              <a:t>hardest first. No alternatives.</a:t>
            </a:r>
          </a:p>
        </p:txBody>
      </p:sp>
      <p:sp>
        <p:nvSpPr>
          <p:cNvPr id="15" name="TextBox 14"/>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A2240"/>
                </a:solidFill>
                <a:latin typeface="Arial"/>
              </a:rPr>
              <a:t>Running the Opposition</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Read all three</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Do not answer while reading</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Rank them</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Which would actually sink you</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Fix or accept</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Narrow it, or note the risk</a:t>
            </a:r>
          </a:p>
        </p:txBody>
      </p:sp>
      <p:sp>
        <p:nvSpPr>
          <p:cNvPr id="12" name="TextBox 11"/>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A2240"/>
                </a:solidFill>
                <a:latin typeface="Arial"/>
              </a:rPr>
              <a:t>When the Objection Wins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Narrow the users, not the ambition</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Shrink the data, keep the path</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Stub the hard step for now</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Change problems only if a gate fails</a:t>
            </a:r>
          </a:p>
        </p:txBody>
      </p:sp>
      <p:sp>
        <p:nvSpPr>
          <p:cNvPr id="7" name="TextBox 6"/>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A2240"/>
                </a:solidFill>
                <a:latin typeface="Arial"/>
              </a:rPr>
              <a:t>Cut Scope, Not Ambition</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One user type, not four</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One input format, not any</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One clean path, no edge cases</a:t>
            </a:r>
          </a:p>
        </p:txBody>
      </p:sp>
      <p:sp>
        <p:nvSpPr>
          <p:cNvPr id="6" name="TextBox 5"/>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A2240"/>
                </a:solidFill>
                <a:latin typeface="Arial"/>
              </a:rPr>
              <a:t>The Team's Shared Brain</a:t>
            </a:r>
          </a:p>
        </p:txBody>
      </p:sp>
      <p:sp>
        <p:nvSpPr>
          <p:cNvPr id="5" name="TextBox 4"/>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Project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shared workspace holding instructions and context.</a:t>
            </a:r>
          </a:p>
        </p:txBody>
      </p:sp>
      <p:sp>
        <p:nvSpPr>
          <p:cNvPr id="5" name="TextBox 4"/>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Chat Versus Project</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A chat</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A Project</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7096065" cy="609600"/>
          </a:xfrm>
          <a:prstGeom prst="rect">
            <a:avLst/>
          </a:prstGeom>
          <a:noFill/>
        </p:spPr>
        <p:txBody>
          <a:bodyPr wrap="none" lIns="0" rIns="0">
            <a:noAutofit/>
          </a:bodyPr>
          <a:lstStyle/>
          <a:p>
            <a:pPr algn="l"/>
            <a:r>
              <a:rPr sz="3400" b="0" i="0">
                <a:solidFill>
                  <a:srgbClr val="0A2240"/>
                </a:solidFill>
                <a:latin typeface="Arial"/>
              </a:rPr>
              <a:t>Context dies at the tab</a:t>
            </a:r>
          </a:p>
        </p:txBody>
      </p:sp>
      <p:sp>
        <p:nvSpPr>
          <p:cNvPr id="8" name="TextBox 7"/>
          <p:cNvSpPr txBox="1"/>
          <p:nvPr/>
        </p:nvSpPr>
        <p:spPr>
          <a:xfrm>
            <a:off x="457200" y="3608831"/>
            <a:ext cx="6174105" cy="609600"/>
          </a:xfrm>
          <a:prstGeom prst="rect">
            <a:avLst/>
          </a:prstGeom>
          <a:noFill/>
        </p:spPr>
        <p:txBody>
          <a:bodyPr wrap="none" lIns="0" rIns="0">
            <a:noAutofit/>
          </a:bodyPr>
          <a:lstStyle/>
          <a:p>
            <a:pPr algn="l"/>
            <a:r>
              <a:rPr sz="3400" b="0" i="0">
                <a:solidFill>
                  <a:srgbClr val="0A2240"/>
                </a:solidFill>
                <a:latin typeface="Arial"/>
              </a:rPr>
              <a:t>One person holds it</a:t>
            </a:r>
          </a:p>
        </p:txBody>
      </p:sp>
      <p:sp>
        <p:nvSpPr>
          <p:cNvPr id="9" name="TextBox 8"/>
          <p:cNvSpPr txBox="1"/>
          <p:nvPr/>
        </p:nvSpPr>
        <p:spPr>
          <a:xfrm>
            <a:off x="457200" y="4821935"/>
            <a:ext cx="7632441" cy="609600"/>
          </a:xfrm>
          <a:prstGeom prst="rect">
            <a:avLst/>
          </a:prstGeom>
          <a:noFill/>
        </p:spPr>
        <p:txBody>
          <a:bodyPr wrap="none" lIns="0" rIns="0">
            <a:noAutofit/>
          </a:bodyPr>
          <a:lstStyle/>
          <a:p>
            <a:pPr algn="l"/>
            <a:r>
              <a:rPr sz="3400" b="0" i="0">
                <a:solidFill>
                  <a:srgbClr val="0A2240"/>
                </a:solidFill>
                <a:latin typeface="Arial"/>
              </a:rPr>
              <a:t>Re-explained every time</a:t>
            </a:r>
          </a:p>
        </p:txBody>
      </p:sp>
      <p:sp>
        <p:nvSpPr>
          <p:cNvPr id="10" name="TextBox 9"/>
          <p:cNvSpPr txBox="1"/>
          <p:nvPr/>
        </p:nvSpPr>
        <p:spPr>
          <a:xfrm>
            <a:off x="6233160" y="2395727"/>
            <a:ext cx="5501640" cy="609600"/>
          </a:xfrm>
          <a:prstGeom prst="rect">
            <a:avLst/>
          </a:prstGeom>
          <a:noFill/>
        </p:spPr>
        <p:txBody>
          <a:bodyPr wrap="none" lIns="0" rIns="0">
            <a:noAutofit/>
          </a:bodyPr>
          <a:lstStyle/>
          <a:p>
            <a:pPr algn="l"/>
            <a:r>
              <a:rPr sz="3400" b="0" i="0">
                <a:solidFill>
                  <a:srgbClr val="0A2240"/>
                </a:solidFill>
                <a:latin typeface="Arial"/>
              </a:rPr>
              <a:t>Context persists</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The whole team shares it</a:t>
            </a:r>
          </a:p>
        </p:txBody>
      </p:sp>
      <p:sp>
        <p:nvSpPr>
          <p:cNvPr id="12" name="TextBox 11"/>
          <p:cNvSpPr txBox="1"/>
          <p:nvPr/>
        </p:nvSpPr>
        <p:spPr>
          <a:xfrm>
            <a:off x="6233160" y="4821935"/>
            <a:ext cx="5501640" cy="609600"/>
          </a:xfrm>
          <a:prstGeom prst="rect">
            <a:avLst/>
          </a:prstGeom>
          <a:noFill/>
        </p:spPr>
        <p:txBody>
          <a:bodyPr wrap="none" lIns="0" rIns="0">
            <a:noAutofit/>
          </a:bodyPr>
          <a:lstStyle/>
          <a:p>
            <a:pPr algn="l"/>
            <a:r>
              <a:rPr sz="3400" b="0" i="0">
                <a:solidFill>
                  <a:srgbClr val="0A2240"/>
                </a:solidFill>
                <a:latin typeface="Arial"/>
              </a:rPr>
              <a:t>Explained once</a:t>
            </a:r>
          </a:p>
        </p:txBody>
      </p:sp>
      <p:sp>
        <p:nvSpPr>
          <p:cNvPr id="13" name="TextBox 12"/>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What a Project Holds</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Instructions</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Standing rules for every chat</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Context</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Uploaded docs and data</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One place</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Everyone works from it</a:t>
            </a:r>
          </a:p>
        </p:txBody>
      </p:sp>
      <p:sp>
        <p:nvSpPr>
          <p:cNvPr id="9" name="TextBox 8"/>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A2240"/>
                </a:solidFill>
                <a:latin typeface="Arial"/>
              </a:rPr>
              <a:t>Stand One Up Now</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Create</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Name it for the problem</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Instruct</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Paste the problem statement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Add every teammate today</a:t>
            </a:r>
          </a:p>
        </p:txBody>
      </p:sp>
      <p:sp>
        <p:nvSpPr>
          <p:cNvPr id="12" name="TextBox 11"/>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TextBox 1"/>
          <p:cNvSpPr txBox="1"/>
          <p:nvPr/>
        </p:nvSpPr>
        <p:spPr>
          <a:xfrm>
            <a:off x="457200" y="457200"/>
            <a:ext cx="11277600" cy="640080"/>
          </a:xfrm>
          <a:prstGeom prst="rect">
            <a:avLst/>
          </a:prstGeom>
          <a:noFill/>
        </p:spPr>
        <p:txBody>
          <a:bodyPr wrap="none" lIns="0" rIns="0">
            <a:noAutofit/>
          </a:bodyPr>
          <a:lstStyle/>
          <a:p>
            <a:pPr algn="l"/>
            <a:r>
              <a:rPr sz="4200" b="0" i="0">
                <a:solidFill>
                  <a:srgbClr val="D4D4D4"/>
                </a:solidFill>
                <a:latin typeface="Arial"/>
              </a:rPr>
              <a:t>Project Instructions Template</a:t>
            </a:r>
          </a:p>
        </p:txBody>
      </p:sp>
      <p:sp>
        <p:nvSpPr>
          <p:cNvPr id="3" name="TextBox 2"/>
          <p:cNvSpPr txBox="1"/>
          <p:nvPr/>
        </p:nvSpPr>
        <p:spPr>
          <a:xfrm>
            <a:off x="457200" y="1371600"/>
            <a:ext cx="3331646" cy="518159"/>
          </a:xfrm>
          <a:prstGeom prst="rect">
            <a:avLst/>
          </a:prstGeom>
          <a:noFill/>
        </p:spPr>
        <p:txBody>
          <a:bodyPr wrap="none" lIns="0" rIns="0">
            <a:noAutofit/>
          </a:bodyPr>
          <a:lstStyle/>
          <a:p>
            <a:pPr algn="l"/>
            <a:r>
              <a:rPr sz="3400" b="0" i="0">
                <a:solidFill>
                  <a:srgbClr val="6A9955"/>
                </a:solidFill>
                <a:latin typeface="Arial"/>
              </a:rPr>
              <a:t># Problem</a:t>
            </a:r>
          </a:p>
        </p:txBody>
      </p:sp>
      <p:sp>
        <p:nvSpPr>
          <p:cNvPr id="4" name="TextBox 3"/>
          <p:cNvSpPr txBox="1"/>
          <p:nvPr/>
        </p:nvSpPr>
        <p:spPr>
          <a:xfrm>
            <a:off x="457200" y="1889759"/>
            <a:ext cx="7594996" cy="518159"/>
          </a:xfrm>
          <a:prstGeom prst="rect">
            <a:avLst/>
          </a:prstGeom>
          <a:noFill/>
        </p:spPr>
        <p:txBody>
          <a:bodyPr wrap="none" lIns="0" rIns="0">
            <a:noAutofit/>
          </a:bodyPr>
          <a:lstStyle/>
          <a:p>
            <a:pPr algn="l"/>
            <a:r>
              <a:rPr sz="3400" b="0" i="0">
                <a:solidFill>
                  <a:srgbClr val="D4D4D4"/>
                </a:solidFill>
                <a:latin typeface="Arial"/>
              </a:rPr>
              <a:t>&lt;the precise statement&gt;</a:t>
            </a:r>
          </a:p>
        </p:txBody>
      </p:sp>
      <p:sp>
        <p:nvSpPr>
          <p:cNvPr id="5" name="TextBox 4"/>
          <p:cNvSpPr txBox="1"/>
          <p:nvPr/>
        </p:nvSpPr>
        <p:spPr>
          <a:xfrm>
            <a:off x="457200" y="2926077"/>
            <a:ext cx="6403499" cy="518159"/>
          </a:xfrm>
          <a:prstGeom prst="rect">
            <a:avLst/>
          </a:prstGeom>
          <a:noFill/>
        </p:spPr>
        <p:txBody>
          <a:bodyPr wrap="none" lIns="0" rIns="0">
            <a:noAutofit/>
          </a:bodyPr>
          <a:lstStyle/>
          <a:p>
            <a:pPr algn="l"/>
            <a:r>
              <a:rPr sz="3400" b="0" i="0">
                <a:solidFill>
                  <a:srgbClr val="6A9955"/>
                </a:solidFill>
                <a:latin typeface="Arial"/>
              </a:rPr>
              <a:t># Success looks like</a:t>
            </a:r>
          </a:p>
        </p:txBody>
      </p:sp>
      <p:sp>
        <p:nvSpPr>
          <p:cNvPr id="6" name="TextBox 5"/>
          <p:cNvSpPr txBox="1"/>
          <p:nvPr/>
        </p:nvSpPr>
        <p:spPr>
          <a:xfrm>
            <a:off x="457200" y="3444236"/>
            <a:ext cx="8593872" cy="518159"/>
          </a:xfrm>
          <a:prstGeom prst="rect">
            <a:avLst/>
          </a:prstGeom>
          <a:noFill/>
        </p:spPr>
        <p:txBody>
          <a:bodyPr wrap="none" lIns="0" rIns="0">
            <a:noAutofit/>
          </a:bodyPr>
          <a:lstStyle/>
          <a:p>
            <a:pPr algn="l"/>
            <a:r>
              <a:rPr sz="3400" b="0" i="0">
                <a:solidFill>
                  <a:srgbClr val="D4D4D4"/>
                </a:solidFill>
                <a:latin typeface="Arial"/>
              </a:rPr>
              <a:t>&lt;the measurable outcome&gt;</a:t>
            </a:r>
          </a:p>
        </p:txBody>
      </p:sp>
      <p:sp>
        <p:nvSpPr>
          <p:cNvPr id="7" name="TextBox 6"/>
          <p:cNvSpPr txBox="1"/>
          <p:nvPr/>
        </p:nvSpPr>
        <p:spPr>
          <a:xfrm>
            <a:off x="457200" y="4480554"/>
            <a:ext cx="4676299" cy="518159"/>
          </a:xfrm>
          <a:prstGeom prst="rect">
            <a:avLst/>
          </a:prstGeom>
          <a:noFill/>
        </p:spPr>
        <p:txBody>
          <a:bodyPr wrap="none" lIns="0" rIns="0">
            <a:noAutofit/>
          </a:bodyPr>
          <a:lstStyle/>
          <a:p>
            <a:pPr algn="l"/>
            <a:r>
              <a:rPr sz="3400" b="0" i="0">
                <a:solidFill>
                  <a:srgbClr val="6A9955"/>
                </a:solidFill>
                <a:latin typeface="Arial"/>
              </a:rPr>
              <a:t># Out of scope</a:t>
            </a:r>
          </a:p>
        </p:txBody>
      </p:sp>
      <p:sp>
        <p:nvSpPr>
          <p:cNvPr id="8" name="TextBox 7"/>
          <p:cNvSpPr txBox="1"/>
          <p:nvPr/>
        </p:nvSpPr>
        <p:spPr>
          <a:xfrm>
            <a:off x="457200" y="4998713"/>
            <a:ext cx="4618275" cy="518159"/>
          </a:xfrm>
          <a:prstGeom prst="rect">
            <a:avLst/>
          </a:prstGeom>
          <a:noFill/>
        </p:spPr>
        <p:txBody>
          <a:bodyPr wrap="none" lIns="0" rIns="0">
            <a:noAutofit/>
          </a:bodyPr>
          <a:lstStyle/>
          <a:p>
            <a:pPr algn="l"/>
            <a:r>
              <a:rPr sz="3400" b="0" i="0">
                <a:solidFill>
                  <a:srgbClr val="D4D4D4"/>
                </a:solidFill>
                <a:latin typeface="Arial"/>
              </a:rPr>
              <a:t>&lt;what we cut, </a:t>
            </a:r>
          </a:p>
        </p:txBody>
      </p:sp>
      <p:sp>
        <p:nvSpPr>
          <p:cNvPr id="9" name="TextBox 8"/>
          <p:cNvSpPr txBox="1"/>
          <p:nvPr/>
        </p:nvSpPr>
        <p:spPr>
          <a:xfrm>
            <a:off x="3229322" y="4998713"/>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0" name="TextBox 9"/>
          <p:cNvSpPr txBox="1"/>
          <p:nvPr/>
        </p:nvSpPr>
        <p:spPr>
          <a:xfrm>
            <a:off x="3949762" y="4998713"/>
            <a:ext cx="2006897" cy="518159"/>
          </a:xfrm>
          <a:prstGeom prst="rect">
            <a:avLst/>
          </a:prstGeom>
          <a:noFill/>
        </p:spPr>
        <p:txBody>
          <a:bodyPr wrap="none" lIns="0" rIns="0">
            <a:noAutofit/>
          </a:bodyPr>
          <a:lstStyle/>
          <a:p>
            <a:pPr algn="l"/>
            <a:r>
              <a:rPr sz="3400" b="0" i="0">
                <a:solidFill>
                  <a:srgbClr val="D4D4D4"/>
                </a:solidFill>
                <a:latin typeface="Arial"/>
              </a:rPr>
              <a:t> why&gt;</a:t>
            </a:r>
          </a:p>
        </p:txBody>
      </p:sp>
      <p:sp>
        <p:nvSpPr>
          <p:cNvPr id="11" name="TextBox 10"/>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A2240"/>
                </a:solidFill>
                <a:latin typeface="Arial"/>
              </a:rPr>
              <a:t>What to Upload</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Sample data, even if faked</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The interrogation transcript</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The objections you accepted</a:t>
            </a:r>
          </a:p>
        </p:txBody>
      </p:sp>
      <p:sp>
        <p:nvSpPr>
          <p:cNvPr id="6" name="TextBox 5"/>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A2240"/>
                </a:solidFill>
                <a:latin typeface="Arial"/>
              </a:rPr>
              <a:t>What Not to Upload</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Real personal records</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Anything under an NDA</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Credentials or API keys</a:t>
            </a:r>
          </a:p>
        </p:txBody>
      </p:sp>
      <p:sp>
        <p:nvSpPr>
          <p:cNvPr id="6" name="TextBox 5"/>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123A6B"/>
                </a:solidFill>
                <a:latin typeface="Arial"/>
              </a:rPr>
              <a:t>Team Conventions Worth Setting</a:t>
            </a:r>
          </a:p>
        </p:txBody>
      </p:sp>
      <p:sp>
        <p:nvSpPr>
          <p:cNvPr id="3" name="TextBox 2"/>
          <p:cNvSpPr txBox="1"/>
          <p:nvPr/>
        </p:nvSpPr>
        <p:spPr>
          <a:xfrm>
            <a:off x="457200" y="1499616"/>
            <a:ext cx="3984068" cy="518159"/>
          </a:xfrm>
          <a:prstGeom prst="rect">
            <a:avLst/>
          </a:prstGeom>
          <a:noFill/>
        </p:spPr>
        <p:txBody>
          <a:bodyPr wrap="none" lIns="0" rIns="0">
            <a:noAutofit/>
          </a:bodyPr>
          <a:lstStyle/>
          <a:p>
            <a:pPr algn="l"/>
            <a:r>
              <a:rPr sz="3400" b="1" i="0">
                <a:solidFill>
                  <a:srgbClr val="0A2240"/>
                </a:solidFill>
                <a:latin typeface="Arial"/>
              </a:rPr>
              <a:t>One source</a:t>
            </a:r>
          </a:p>
        </p:txBody>
      </p:sp>
      <p:sp>
        <p:nvSpPr>
          <p:cNvPr id="4" name="TextBox 3"/>
          <p:cNvSpPr txBox="1"/>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Project over chat</a:t>
            </a:r>
          </a:p>
        </p:txBody>
      </p:sp>
      <p:sp>
        <p:nvSpPr>
          <p:cNvPr id="5" name="TextBox 4"/>
          <p:cNvSpPr txBox="1"/>
          <p:nvPr/>
        </p:nvSpPr>
        <p:spPr>
          <a:xfrm>
            <a:off x="3345180" y="1499616"/>
            <a:ext cx="2613660" cy="518159"/>
          </a:xfrm>
          <a:prstGeom prst="rect">
            <a:avLst/>
          </a:prstGeom>
          <a:noFill/>
        </p:spPr>
        <p:txBody>
          <a:bodyPr wrap="none" lIns="0" rIns="0">
            <a:noAutofit/>
          </a:bodyPr>
          <a:lstStyle/>
          <a:p>
            <a:pPr algn="l"/>
            <a:r>
              <a:rPr sz="3400" b="1" i="0">
                <a:solidFill>
                  <a:srgbClr val="0A2240"/>
                </a:solidFill>
                <a:latin typeface="Arial"/>
              </a:rPr>
              <a:t>Log it</a:t>
            </a:r>
          </a:p>
        </p:txBody>
      </p:sp>
      <p:sp>
        <p:nvSpPr>
          <p:cNvPr id="6" name="TextBox 5"/>
          <p:cNvSpPr txBox="1"/>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Decisions land in writing</a:t>
            </a:r>
          </a:p>
        </p:txBody>
      </p:sp>
      <p:sp>
        <p:nvSpPr>
          <p:cNvPr id="7" name="TextBox 6"/>
          <p:cNvSpPr txBox="1"/>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Shared</a:t>
            </a:r>
          </a:p>
        </p:txBody>
      </p:sp>
      <p:sp>
        <p:nvSpPr>
          <p:cNvPr id="8" name="TextBox 7"/>
          <p:cNvSpPr txBox="1"/>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Everyone reads it first</a:t>
            </a:r>
          </a:p>
        </p:txBody>
      </p:sp>
      <p:sp>
        <p:nvSpPr>
          <p:cNvPr id="9" name="TextBox 8"/>
          <p:cNvSpPr txBox="1"/>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Update</a:t>
            </a:r>
          </a:p>
        </p:txBody>
      </p:sp>
      <p:sp>
        <p:nvSpPr>
          <p:cNvPr id="10" name="TextBox 9"/>
          <p:cNvSpPr txBox="1"/>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Change it when scope does</a:t>
            </a:r>
          </a:p>
        </p:txBody>
      </p:sp>
      <p:sp>
        <p:nvSpPr>
          <p:cNvPr id="11" name="TextBox 10"/>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A2240"/>
                </a:solidFill>
                <a:latin typeface="Arial"/>
              </a:rPr>
              <a:t>Project Pitfalls</a:t>
            </a:r>
          </a:p>
        </p:txBody>
      </p:sp>
      <p:sp>
        <p:nvSpPr>
          <p:cNvPr id="3" name="TextBox 2"/>
          <p:cNvSpPr txBox="1"/>
          <p:nvPr/>
        </p:nvSpPr>
        <p:spPr>
          <a:xfrm>
            <a:off x="457200" y="2395729"/>
            <a:ext cx="11734800" cy="518159"/>
          </a:xfrm>
          <a:prstGeom prst="rect">
            <a:avLst/>
          </a:prstGeom>
          <a:noFill/>
        </p:spPr>
        <p:txBody>
          <a:bodyPr wrap="none" lIns="0" rIns="0">
            <a:noAutofit/>
          </a:bodyPr>
          <a:lstStyle/>
          <a:p>
            <a:pPr algn="l"/>
            <a:r>
              <a:rPr sz="3400" b="0" i="0">
                <a:solidFill>
                  <a:srgbClr val="0A2240"/>
                </a:solidFill>
                <a:latin typeface="Arial"/>
              </a:rPr>
              <a:t>Instructions written once, never updated</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Uploads nobody has actually read</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One member still working in chat</a:t>
            </a:r>
          </a:p>
        </p:txBody>
      </p:sp>
      <p:sp>
        <p:nvSpPr>
          <p:cNvPr id="6" name="TextBox 5"/>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A2240"/>
                </a:solidFill>
                <a:latin typeface="Arial"/>
              </a:rPr>
              <a:t>Done With This Session When</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The statement passes three gates</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The strongest objection is answered</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The Project exists and is shared</a:t>
            </a:r>
          </a:p>
        </p:txBody>
      </p:sp>
      <p:sp>
        <p:nvSpPr>
          <p:cNvPr id="6" name="TextBox 5"/>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123A6B"/>
                </a:solidFill>
                <a:latin typeface="Arial"/>
              </a:rPr>
              <a:t>What You Leave With</a:t>
            </a:r>
          </a:p>
        </p:txBody>
      </p:sp>
      <p:sp>
        <p:nvSpPr>
          <p:cNvPr id="3" name="TextBox 2"/>
          <p:cNvSpPr txBo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a:t>
            </a:r>
          </a:p>
        </p:txBody>
      </p:sp>
      <p:sp>
        <p:nvSpPr>
          <p:cNvPr id="4" name="TextBox 3"/>
          <p:cNvSpPr txBox="1"/>
          <p:nvPr/>
        </p:nvSpPr>
        <p:spPr>
          <a:xfrm>
            <a:off x="457200" y="3965448"/>
            <a:ext cx="5174555" cy="518159"/>
          </a:xfrm>
          <a:prstGeom prst="rect">
            <a:avLst/>
          </a:prstGeom>
          <a:noFill/>
        </p:spPr>
        <p:txBody>
          <a:bodyPr wrap="none" lIns="0" rIns="0">
            <a:noAutofit/>
          </a:bodyPr>
          <a:lstStyle/>
          <a:p>
            <a:pPr algn="l"/>
            <a:r>
              <a:rPr sz="3400" b="0" i="0">
                <a:solidFill>
                  <a:srgbClr val="0A2240"/>
                </a:solidFill>
                <a:latin typeface="Arial"/>
              </a:rPr>
              <a:t>Precise problem</a:t>
            </a:r>
          </a:p>
        </p:txBody>
      </p:sp>
      <p:sp>
        <p:nvSpPr>
          <p:cNvPr id="5" name="TextBox 4"/>
          <p:cNvSpPr txBox="1"/>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3</a:t>
            </a:r>
          </a:p>
        </p:txBody>
      </p:sp>
      <p:sp>
        <p:nvSpPr>
          <p:cNvPr id="6" name="TextBox 5"/>
          <p:cNvSpPr txBox="1"/>
          <p:nvPr/>
        </p:nvSpPr>
        <p:spPr>
          <a:xfrm>
            <a:off x="4307840" y="3965448"/>
            <a:ext cx="4445892" cy="518159"/>
          </a:xfrm>
          <a:prstGeom prst="rect">
            <a:avLst/>
          </a:prstGeom>
          <a:noFill/>
        </p:spPr>
        <p:txBody>
          <a:bodyPr wrap="none" lIns="0" rIns="0">
            <a:noAutofit/>
          </a:bodyPr>
          <a:lstStyle/>
          <a:p>
            <a:pPr algn="l"/>
            <a:r>
              <a:rPr sz="3400" b="0" i="0">
                <a:solidFill>
                  <a:srgbClr val="0A2240"/>
                </a:solidFill>
                <a:latin typeface="Arial"/>
              </a:rPr>
              <a:t>Gates passed</a:t>
            </a:r>
          </a:p>
        </p:txBody>
      </p:sp>
      <p:sp>
        <p:nvSpPr>
          <p:cNvPr id="7" name="TextBox 6"/>
          <p:cNvSpPr txBox="1"/>
          <p:nvPr/>
        </p:nvSpPr>
        <p:spPr>
          <a:xfrm>
            <a:off x="8158480" y="2776728"/>
            <a:ext cx="3576320" cy="914400"/>
          </a:xfrm>
          <a:prstGeom prst="rect">
            <a:avLst/>
          </a:prstGeom>
          <a:noFill/>
        </p:spPr>
        <p:txBody>
          <a:bodyPr wrap="none" lIns="0" rIns="0">
            <a:noAutofit/>
          </a:bodyPr>
          <a:lstStyle/>
          <a:p>
            <a:pPr algn="l"/>
            <a:r>
              <a:rPr sz="6000" b="1" i="0">
                <a:solidFill>
                  <a:srgbClr val="0072CE"/>
                </a:solidFill>
                <a:latin typeface="Arial"/>
              </a:rPr>
              <a:t>1</a:t>
            </a:r>
          </a:p>
        </p:txBody>
      </p:sp>
      <p:sp>
        <p:nvSpPr>
          <p:cNvPr id="8" name="TextBox 7"/>
          <p:cNvSpPr txBox="1"/>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Shared Project</a:t>
            </a:r>
          </a:p>
        </p:txBody>
      </p:sp>
      <p:sp>
        <p:nvSpPr>
          <p:cNvPr id="9" name="TextBox 8"/>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640979" cy="768096"/>
          </a:xfrm>
          <a:prstGeom prst="rect">
            <a:avLst/>
          </a:prstGeom>
          <a:noFill/>
        </p:spPr>
        <p:txBody>
          <a:bodyPr wrap="none" lIns="0" rIns="0">
            <a:noAutofit/>
          </a:bodyPr>
          <a:lstStyle/>
          <a:p>
            <a:pPr algn="l"/>
            <a:r>
              <a:rPr sz="4200" b="1" i="0">
                <a:solidFill>
                  <a:srgbClr val="0A2240"/>
                </a:solidFill>
                <a:latin typeface="Arial"/>
              </a:rPr>
              <a:t>Next: Mapping the Workflow</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Break the problem into steps</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Draw it as a Claude Artifact</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Name what each step needs</a:t>
            </a:r>
          </a:p>
        </p:txBody>
      </p:sp>
      <p:sp>
        <p:nvSpPr>
          <p:cNvPr id="6" name="TextBox 5"/>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Can a stranger restate it?</a:t>
            </a:r>
          </a:p>
        </p:txBody>
      </p:sp>
      <p:sp>
        <p:nvSpPr>
          <p:cNvPr id="4" name="TextBox 3"/>
          <p:cNvSpPr/>
          <p:nvPr>
            <p:ph type="sldNum" idx="12"/>
          </p:nvPr>
        </p:nvSpPr>
        <p:spPr>
          <a:xfrm>
            <a:off x="10363200" y="6035040"/>
            <a:ext cx="1371600" cy="365760"/>
          </a:xfrm>
          <a:prstGeom prst="rect">
            <a:avLst/>
          </a:prstGeom>
          <a:noFill/>
        </p:spPr>
        <p:txBody>
          <a:bodyPr wrap="none" lIns="0" rIns="0">
            <a:noAutofit/>
          </a:bodyPr>
          <a:lstStyle/>
          <a:p>
            <a:pPr algn="l"/>
            <a:fld id="{4B0E1F8A-6C1D-4E2A-9F3B-7A5C8D2E1F60}" type="slidenum">
              <a:rPr sz="1600" b="0" i="0">
                <a:solidFill>
                  <a:srgbClr val="5B6B82"/>
                </a:solidFill>
                <a:latin typeface="Arial"/>
              </a:rPr>
              <a:t>49</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