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entry-level tour of Supabase: what it is, how we set up a database in it with Claude, and how to keep that database safe.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 that remembers anything — a login, a saved list, an uploaded photo — has to keep that information somewhere. That somewhere is what this deck is about.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backend is the part of an app you never see: the place where data is stored and the rules about who may touch it are enforced.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Supabase's own homepage. It starts from a Postgres database and adds the other things an app needs, all inside one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pieces matter to start with: a database holding tables of your data, auth for who is signed in, storage for files people upload, and an API that your web page uses to ask for any of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database is a set of organised tables that your app can read from and write 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table in Supabase's own editor. Each row is one record, each column is one field such as a name or an email, and you can think of it as a spreadsheet that enforces rules.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Sign-in comes built in. Email and password, or signing in with Google, GitHub and others, without you writing any login code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is the language a database speaks. You use it to build tables and to ask questions of the data inside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Supabase's own guide offers two ways to make a table: click through the Table Editor, or write it in SQL, which is the tab open here. We will write SQL.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Clicks leave no record, but SQL is written down, so you can run it again on a fresh project. It can be saved in git as a migration, Claude can write it for you to review, and it can use every Postgres type, not just the ones the Table Editor offers.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first table in SQL: a numbered id, the note itself, and the time it was made. The last two lines switch on row level security, which we come to in a moment.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Supabase publishes an MCP server that connects Claude Code to your project, so Claude can write and run that SQL for you. Supabase's own advice is to keep manual approval on and review each step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Supabase's own documentation, and the red box is its warning: a table without row level security can be read and written by anyone who can reach it. That is why our first table switched it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settings make it concrete. With security off, a visitor gets every row. Switched on with no policy, they get nothing. Switched on with an owner policy, each person sees only their own rows.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Starting costs nothing. The free plan includes a five hundred megabyte database and up to fifty thousand monthly active users, which is far more than a class project needs.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example: the ninth_circuit project keeps its court opinions in Supabase — thousands of them, fetched daily — along with a yes-or-no for whether each concerns asylum and the case details pulled out of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screenshot was captured on the twenty-first of October 2026 from the pages listed here, and each slide's Source link opens the exact page.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first session takes three steps. Connect Claude Code to Supabase with a single claude mcp add command, describe the table you need in plain words so Claude writes the SQL, then read that SQL before you approve it — and check that row level security is switched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0072CE"/>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958840" cy="609600"/>
          </a:xfrm>
          <a:prstGeom prst="rect">
            <a:avLst/>
          </a:prstGeom>
          <a:noFill/>
        </p:spPr>
        <p:txBody>
          <a:bodyPr wrap="none" lIns="0" rIns="0">
            <a:noAutofit/>
          </a:bodyPr>
          <a:lstStyle/>
          <a:p>
            <a:pPr algn="l"/>
            <a:r>
              <a:rPr sz="3400" b="0" i="0">
                <a:solidFill>
                  <a:srgbClr val="0A2240"/>
                </a:solidFill>
                <a:latin typeface="Arial"/>
              </a:rPr>
              <a:t>Built with customers.</a:t>
            </a:r>
          </a:p>
        </p:txBody>
      </p:sp>
      <p:sp>
        <p:nvSpPr>
          <p:cNvPr id="7" name="TextBox 6"/>
          <p:cNvSpPr/>
          <p:nvPr>
            <p:ph type="body" idx="2"/>
          </p:nvPr>
        </p:nvSpPr>
        <p:spPr>
          <a:xfrm>
            <a:off x="6233160" y="2383536"/>
            <a:ext cx="5501640" cy="1127760"/>
          </a:xfrm>
          <a:prstGeom prst="rect">
            <a:avLst/>
          </a:prstGeom>
          <a:noFill/>
        </p:spPr>
        <p:txBody>
          <a:bodyPr wrap="square" lIns="0" rIns="0">
            <a:noAutofit/>
          </a:bodyPr>
          <a:lstStyle/>
          <a:p>
            <a:pPr algn="l"/>
            <a:r>
              <a:rPr sz="3400" b="0" i="0">
                <a:solidFill>
                  <a:srgbClr val="0A2240"/>
                </a:solidFill>
                <a:latin typeface="Arial"/>
              </a:rPr>
              <a:t>60% faster;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621280"/>
            <a:ext cx="128016" cy="16154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"We buy outcomes, not tools."</a:t>
            </a:r>
          </a:p>
        </p:txBody>
      </p:sp>
      <p:sp>
        <p:nvSpPr>
          <p:cNvPr id="7" name="TextBox 6"/>
          <p:cNvSpPr/>
          <p:nvPr>
            <p:ph type="body" idx="3"/>
          </p:nvPr>
        </p:nvSpPr>
        <p:spPr>
          <a:xfrm>
            <a:off x="996696" y="3627120"/>
            <a:ext cx="11195304" cy="609600"/>
          </a:xfrm>
          <a:prstGeom prst="rect">
            <a:avLst/>
          </a:prstGeom>
          <a:noFill/>
        </p:spPr>
        <p:txBody>
          <a:bodyPr wrap="none" lIns="0" rIns="0">
            <a:noAutofit/>
          </a:bodyPr>
          <a:lstStyle/>
          <a:p>
            <a:pPr algn="l"/>
            <a:r>
              <a:rPr sz="3400" b="0" i="0">
                <a:solidFill>
                  <a:srgbClr val="0A2240"/>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484120"/>
            <a:ext cx="128016" cy="188976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48412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Revenue kept from existing customers.</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926080"/>
            <a:ext cx="128016" cy="10058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if we trusted users?</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FFFF"/>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FFFF"/>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FFFFF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FFFFFF"/>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FFFFFF"/>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2524382" cy="518159"/>
          </a:xfrm>
          <a:prstGeom prst="rect">
            <a:avLst/>
          </a:prstGeom>
          <a:noFill/>
        </p:spPr>
        <p:txBody>
          <a:bodyPr wrap="none" lIns="0" rIns="0">
            <a:noAutofit/>
          </a:bodyPr>
          <a:lstStyle/>
          <a:p>
            <a:pPr algn="l"/>
            <a:r>
              <a:rPr sz="3400" b="0" i="0">
                <a:solidFill>
                  <a:srgbClr val="FFFFFF"/>
                </a:solidFill>
                <a:latin typeface="Arial"/>
              </a:rPr>
              <a:t> main():</a:t>
            </a:r>
          </a:p>
        </p:txBody>
      </p:sp>
      <p:sp>
        <p:nvSpPr>
          <p:cNvPr id="12" name="TextBox 11"/>
          <p:cNvSpPr/>
          <p:nvPr>
            <p:ph type="body" idx="8"/>
          </p:nvPr>
        </p:nvSpPr>
        <p:spPr>
          <a:xfrm>
            <a:off x="457200" y="2874262"/>
            <a:ext cx="7046475" cy="518159"/>
          </a:xfrm>
          <a:prstGeom prst="rect">
            <a:avLst/>
          </a:prstGeom>
          <a:noFill/>
        </p:spPr>
        <p:txBody>
          <a:bodyPr wrap="none" lIns="0" rIns="0">
            <a:noAutofit/>
          </a:bodyPr>
          <a:lstStyle/>
          <a:p>
            <a:pPr algn="l"/>
            <a:r>
              <a:rPr sz="3400" b="0" i="0">
                <a:solidFill>
                  <a:srgbClr val="FFFFFF"/>
                </a:solidFill>
                <a:latin typeface="Arial"/>
              </a:rPr>
              <a:t>    print("Hello, world!")</a:t>
            </a:r>
          </a:p>
        </p:txBody>
      </p:sp>
      <p:sp>
        <p:nvSpPr>
          <p:cNvPr id="13" name="TextBox 12"/>
          <p:cNvSpPr/>
          <p:nvPr>
            <p:ph type="body" idx="9"/>
          </p:nvPr>
        </p:nvSpPr>
        <p:spPr>
          <a:xfrm>
            <a:off x="457200" y="3910580"/>
            <a:ext cx="2140486" cy="518159"/>
          </a:xfrm>
          <a:prstGeom prst="rect">
            <a:avLst/>
          </a:prstGeom>
          <a:noFill/>
        </p:spPr>
        <p:txBody>
          <a:bodyPr wrap="none" lIns="0" rIns="0">
            <a:noAutofit/>
          </a:bodyPr>
          <a:lstStyle/>
          <a:p>
            <a:pPr algn="l"/>
            <a:r>
              <a:rPr sz="3400" b="0" i="0">
                <a:solidFill>
                  <a:srgbClr val="FFFFFF"/>
                </a:solidFill>
                <a:latin typeface="Arial"/>
              </a:rPr>
              <a:t>main()</a:t>
            </a:r>
          </a:p>
        </p:txBody>
      </p:sp>
      <p:sp>
        <p:nvSpPr>
          <p:cNvPr id="14" name="TextBox 13"/>
          <p:cNvSpPr/>
          <p:nvPr>
            <p:ph type="body" idx="13"/>
          </p:nvPr>
        </p:nvSpPr>
        <p:spPr>
          <a:xfrm>
            <a:off x="457200" y="4946898"/>
            <a:ext cx="567115" cy="518159"/>
          </a:xfrm>
          <a:prstGeom prst="rect">
            <a:avLst/>
          </a:prstGeom>
          <a:noFill/>
        </p:spPr>
        <p:txBody>
          <a:bodyPr wrap="none" lIns="0" rIns="0">
            <a:noAutofit/>
          </a:bodyPr>
          <a:lstStyle/>
          <a:p>
            <a:pPr algn="l"/>
            <a:r>
              <a:rPr sz="3400" b="0" i="0">
                <a:solidFill>
                  <a:srgbClr val="569CD6"/>
                </a:solidFill>
                <a:latin typeface="Arial"/>
              </a:rPr>
              <a:t>$</a:t>
            </a:r>
          </a:p>
        </p:txBody>
      </p:sp>
      <p:sp>
        <p:nvSpPr>
          <p:cNvPr id="15" name="TextBox 14"/>
          <p:cNvSpPr/>
          <p:nvPr>
            <p:ph type="body" idx="14"/>
          </p:nvPr>
        </p:nvSpPr>
        <p:spPr>
          <a:xfrm>
            <a:off x="697347" y="4946898"/>
            <a:ext cx="5022412" cy="518159"/>
          </a:xfrm>
          <a:prstGeom prst="rect">
            <a:avLst/>
          </a:prstGeom>
          <a:noFill/>
        </p:spPr>
        <p:txBody>
          <a:bodyPr wrap="none" lIns="0" rIns="0">
            <a:noAutofit/>
          </a:bodyPr>
          <a:lstStyle/>
          <a:p>
            <a:pPr algn="l"/>
            <a:r>
              <a:rPr sz="3400" b="0" i="0">
                <a:solidFill>
                  <a:srgbClr val="FFFFFF"/>
                </a:solidFill>
                <a:latin typeface="Arial"/>
              </a:rPr>
              <a:t> python hello.py</a:t>
            </a:r>
          </a:p>
        </p:txBody>
      </p:sp>
      <p:sp>
        <p:nvSpPr>
          <p:cNvPr id="16" name="TextBox 15"/>
          <p:cNvSpPr/>
          <p:nvPr>
            <p:ph type="body" idx="15"/>
          </p:nvPr>
        </p:nvSpPr>
        <p:spPr>
          <a:xfrm>
            <a:off x="457200" y="5465057"/>
            <a:ext cx="3984068" cy="518159"/>
          </a:xfrm>
          <a:prstGeom prst="rect">
            <a:avLst/>
          </a:prstGeom>
          <a:noFill/>
        </p:spPr>
        <p:txBody>
          <a:bodyPr wrap="none" lIns="0" rIns="0">
            <a:noAutofit/>
          </a:bodyPr>
          <a:lstStyle/>
          <a:p>
            <a:pPr algn="l"/>
            <a:r>
              <a:rPr sz="3400" b="0" i="0">
                <a:solidFill>
                  <a:srgbClr val="FFFFFF"/>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A2240"/>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0072CE"/>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0072CE"/>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0072CE"/>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0072CE"/>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0072CE"/>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0072CE"/>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FFFFFF"/>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0072CE"/>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FFFFFF"/>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0072CE"/>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FFFFFF"/>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0072CE"/>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FFFFFF"/>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0072CE"/>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FFFFFF"/>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0072CE"/>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0072CE"/>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0072CE"/>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Before</a:t>
            </a:r>
          </a:p>
        </p:txBody>
      </p:sp>
      <p:sp>
        <p:nvSpPr>
          <p:cNvPr id="7" name="Rectangle 6"/>
          <p:cNvSpPr/>
          <p:nvPr>
            <p:ph type="body" idx="2"/>
          </p:nvPr>
        </p:nvSpPr>
        <p:spPr>
          <a:xfrm>
            <a:off x="457200" y="2176271"/>
            <a:ext cx="1367718"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0A2240"/>
                </a:solidFill>
                <a:latin typeface="Arial"/>
              </a:rPr>
              <a:t>After</a:t>
            </a:r>
          </a:p>
        </p:txBody>
      </p:sp>
      <p:sp>
        <p:nvSpPr>
          <p:cNvPr id="9" name="Rectangle 8"/>
          <p:cNvSpPr/>
          <p:nvPr>
            <p:ph type="body" idx="4"/>
          </p:nvPr>
        </p:nvSpPr>
        <p:spPr>
          <a:xfrm>
            <a:off x="6233160" y="2176271"/>
            <a:ext cx="1007604" cy="54864"/>
          </a:xfrm>
          <a:prstGeom prst="rect">
            <a:avLst/>
          </a:prstGeom>
          <a:solidFill>
            <a:srgbClr val="0A2240"/>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0A2240"/>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405688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75183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3943896" y="4861560"/>
            <a:ext cx="4304208" cy="609600"/>
          </a:xfrm>
          <a:prstGeom prst="rect">
            <a:avLst/>
          </a:prstGeom>
          <a:noFill/>
        </p:spPr>
        <p:txBody>
          <a:bodyPr wrap="none" lIns="0" rIns="0">
            <a:noAutofit/>
          </a:bodyPr>
          <a:lstStyle/>
          <a:p>
            <a:pPr algn="ctr"/>
            <a:r>
              <a:rPr sz="3400" b="0" i="0">
                <a:solidFill>
                  <a:srgbClr val="0A2240"/>
                </a:solidFill>
                <a:latin typeface="Arial"/>
              </a:rPr>
              <a:t>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0A2240"/>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0A2240"/>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0A2240"/>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0A2240"/>
                </a:solidFill>
                <a:latin typeface="Arial"/>
              </a:rPr>
              <a:t>Apr</a:t>
            </a:r>
          </a:p>
        </p:txBody>
      </p:sp>
      <p:sp>
        <p:nvSpPr>
          <p:cNvPr id="18" name="Rectangle 17"/>
          <p:cNvSpPr/>
          <p:nvPr>
            <p:ph type="body" idx="16"/>
          </p:nvPr>
        </p:nvSpPr>
        <p:spPr>
          <a:xfrm>
            <a:off x="7498080" y="3325368"/>
            <a:ext cx="128016" cy="60960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3325368"/>
            <a:ext cx="4154424" cy="609600"/>
          </a:xfrm>
          <a:prstGeom prst="rect">
            <a:avLst/>
          </a:prstGeom>
          <a:noFill/>
        </p:spPr>
        <p:txBody>
          <a:bodyPr wrap="none" lIns="0" rIns="0">
            <a:noAutofit/>
          </a:bodyPr>
          <a:lstStyle/>
          <a:p>
            <a:pPr algn="l"/>
            <a:r>
              <a:rPr sz="3400" b="1" i="0">
                <a:solidFill>
                  <a:srgbClr val="0A2240"/>
                </a:solidFill>
                <a:latin typeface="Arial"/>
              </a:rPr>
              <a:t>Activations 4x.</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0072CE"/>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0072CE"/>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0072CE"/>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33476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523488"/>
            <a:ext cx="3576320" cy="609600"/>
          </a:xfrm>
          <a:prstGeom prst="rect">
            <a:avLst/>
          </a:prstGeom>
          <a:noFill/>
        </p:spPr>
        <p:txBody>
          <a:bodyPr wrap="none" lIns="0" rIns="0">
            <a:noAutofit/>
          </a:bodyPr>
          <a:lstStyle/>
          <a:p>
            <a:pPr algn="ctr"/>
            <a:r>
              <a:rPr sz="3400" b="0" i="0">
                <a:solidFill>
                  <a:srgbClr val="0A2240"/>
                </a:solidFill>
                <a:latin typeface="Arial"/>
              </a:rPr>
              <a:t>Revenue</a:t>
            </a:r>
          </a:p>
        </p:txBody>
      </p:sp>
      <p:sp>
        <p:nvSpPr>
          <p:cNvPr id="8" name="Rectangle 7"/>
          <p:cNvSpPr/>
          <p:nvPr>
            <p:ph type="body" idx="3"/>
          </p:nvPr>
        </p:nvSpPr>
        <p:spPr>
          <a:xfrm>
            <a:off x="1522569" y="440740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40740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33476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523488"/>
            <a:ext cx="4522132" cy="60960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40740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40740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33476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7701280" y="3523488"/>
            <a:ext cx="4490720" cy="609600"/>
          </a:xfrm>
          <a:prstGeom prst="rect">
            <a:avLst/>
          </a:prstGeom>
          <a:noFill/>
        </p:spPr>
        <p:txBody>
          <a:bodyPr wrap="none" lIns="0" rIns="0">
            <a:noAutofit/>
          </a:bodyPr>
          <a:lstStyle/>
          <a:p>
            <a:pPr algn="ctr"/>
            <a:r>
              <a:rPr sz="3400" b="0" i="0">
                <a:solidFill>
                  <a:srgbClr val="0A2240"/>
                </a:solidFill>
                <a:latin typeface="Arial"/>
              </a:rPr>
              <a:t>Promoter score</a:t>
            </a:r>
          </a:p>
        </p:txBody>
      </p:sp>
      <p:sp>
        <p:nvSpPr>
          <p:cNvPr id="16" name="Rectangle 15"/>
          <p:cNvSpPr/>
          <p:nvPr>
            <p:ph type="body" idx="14"/>
          </p:nvPr>
        </p:nvSpPr>
        <p:spPr>
          <a:xfrm>
            <a:off x="9427731" y="440740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40740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7" name="Rectangle 6"/>
          <p:cNvSpPr/>
          <p:nvPr>
            <p:ph type="body" idx="2"/>
          </p:nvPr>
        </p:nvSpPr>
        <p:spPr>
          <a:xfrm>
            <a:off x="457200" y="2194560"/>
            <a:ext cx="593303"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0072CE"/>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11" name="Rectangle 10"/>
          <p:cNvSpPr/>
          <p:nvPr>
            <p:ph type="body" idx="6"/>
          </p:nvPr>
        </p:nvSpPr>
        <p:spPr>
          <a:xfrm>
            <a:off x="3345180" y="2194560"/>
            <a:ext cx="593303" cy="54864"/>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0072CE"/>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5" name="Rectangle 14"/>
          <p:cNvSpPr/>
          <p:nvPr>
            <p:ph type="body" idx="13"/>
          </p:nvPr>
        </p:nvSpPr>
        <p:spPr>
          <a:xfrm>
            <a:off x="6233160" y="2194560"/>
            <a:ext cx="593303" cy="54864"/>
          </a:xfrm>
          <a:prstGeom prst="rect">
            <a:avLst/>
          </a:prstGeom>
          <a:solidFill>
            <a:srgbClr val="0072CE"/>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0072CE"/>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0072CE"/>
                </a:solidFill>
                <a:latin typeface="Arial"/>
              </a:rPr>
              <a:t>04</a:t>
            </a:r>
          </a:p>
        </p:txBody>
      </p:sp>
      <p:sp>
        <p:nvSpPr>
          <p:cNvPr id="19" name="Rectangle 18"/>
          <p:cNvSpPr/>
          <p:nvPr>
            <p:ph type="body" idx="17"/>
          </p:nvPr>
        </p:nvSpPr>
        <p:spPr>
          <a:xfrm>
            <a:off x="9121140" y="2194560"/>
            <a:ext cx="593303"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0072CE"/>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0A2240"/>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0A2240"/>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2015207"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7863523" cy="609600"/>
          </a:xfrm>
          <a:prstGeom prst="rect">
            <a:avLst/>
          </a:prstGeom>
          <a:noFill/>
        </p:spPr>
        <p:txBody>
          <a:bodyPr wrap="none" lIns="0" rIns="0">
            <a:noAutofit/>
          </a:bodyPr>
          <a:lstStyle/>
          <a:p>
            <a:pPr algn="l"/>
            <a:r>
              <a:rPr sz="3400" b="0" i="0">
                <a:solidFill>
                  <a:srgbClr val="0A2240"/>
                </a:solidFill>
                <a:latin typeface="Arial"/>
              </a:rPr>
              <a:t>Strong brand,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0A2240"/>
                </a:solidFill>
                <a:latin typeface="Arial"/>
              </a:rPr>
              <a:t>Weaknesses</a:t>
            </a:r>
          </a:p>
        </p:txBody>
      </p:sp>
      <p:sp>
        <p:nvSpPr>
          <p:cNvPr id="10" name="Rectangle 9"/>
          <p:cNvSpPr/>
          <p:nvPr>
            <p:ph type="body" idx="5"/>
          </p:nvPr>
        </p:nvSpPr>
        <p:spPr>
          <a:xfrm>
            <a:off x="6233160" y="2176271"/>
            <a:ext cx="2584686" cy="54864"/>
          </a:xfrm>
          <a:prstGeom prst="rect">
            <a:avLst/>
          </a:prstGeom>
          <a:solidFill>
            <a:srgbClr val="0A2240"/>
          </a:solidFill>
          <a:ln>
            <a:noFill/>
          </a:ln>
          <a:effectLst/>
        </p:spPr>
        <p:txBody>
          <a:bodyPr rtlCol="0" anchor="ctr"/>
          <a:lstStyle/>
          <a:p>
            <a:pPr algn="ctr"/>
          </a:p>
        </p:txBody>
      </p:sp>
      <p:sp>
        <p:nvSpPr>
          <p:cNvPr id="11" name="TextBox 10"/>
          <p:cNvSpPr/>
          <p:nvPr>
            <p:ph type="body" idx="6"/>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Thin margins,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2830525"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8015326" cy="609600"/>
          </a:xfrm>
          <a:prstGeom prst="rect">
            <a:avLst/>
          </a:prstGeom>
          <a:noFill/>
        </p:spPr>
        <p:txBody>
          <a:bodyPr wrap="none" lIns="0" rIns="0">
            <a:noAutofit/>
          </a:bodyPr>
          <a:lstStyle/>
          <a:p>
            <a:pPr algn="l"/>
            <a:r>
              <a:rPr sz="3400" b="0" i="0">
                <a:solidFill>
                  <a:srgbClr val="0A2240"/>
                </a:solidFill>
                <a:latin typeface="Arial"/>
              </a:rPr>
              <a:t>New markets via partners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0A2240"/>
                </a:solidFill>
                <a:latin typeface="Arial"/>
              </a:rPr>
              <a:t>Threats</a:t>
            </a:r>
          </a:p>
        </p:txBody>
      </p:sp>
      <p:sp>
        <p:nvSpPr>
          <p:cNvPr id="16" name="Rectangle 15"/>
          <p:cNvSpPr/>
          <p:nvPr>
            <p:ph type="body" idx="14"/>
          </p:nvPr>
        </p:nvSpPr>
        <p:spPr>
          <a:xfrm>
            <a:off x="6233160" y="4443983"/>
            <a:ext cx="1559793" cy="54864"/>
          </a:xfrm>
          <a:prstGeom prst="rect">
            <a:avLst/>
          </a:prstGeom>
          <a:solidFill>
            <a:srgbClr val="0A2240"/>
          </a:solidFill>
          <a:ln>
            <a:noFill/>
          </a:ln>
          <a:effectLst/>
        </p:spPr>
        <p:txBody>
          <a:bodyPr rtlCol="0" anchor="ctr"/>
          <a:lstStyle/>
          <a:p>
            <a:pPr algn="ctr"/>
          </a:p>
        </p:txBody>
      </p:sp>
      <p:sp>
        <p:nvSpPr>
          <p:cNvPr id="17" name="TextBox 16"/>
          <p:cNvSpPr/>
          <p:nvPr>
            <p:ph type="body" idx="15"/>
          </p:nvPr>
        </p:nvSpPr>
        <p:spPr>
          <a:xfrm>
            <a:off x="6233160" y="4663439"/>
            <a:ext cx="5958840" cy="609600"/>
          </a:xfrm>
          <a:prstGeom prst="rect">
            <a:avLst/>
          </a:prstGeom>
          <a:noFill/>
        </p:spPr>
        <p:txBody>
          <a:bodyPr wrap="none" lIns="0" rIns="0">
            <a:noAutofit/>
          </a:bodyPr>
          <a:lstStyle/>
          <a:p>
            <a:pPr algn="l"/>
            <a:r>
              <a:rPr sz="3400" b="0" i="0">
                <a:solidFill>
                  <a:srgbClr val="0A2240"/>
                </a:solidFill>
                <a:latin typeface="Arial"/>
              </a:rPr>
              <a:t>New entrants cut prices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hyperlink" Target="https://supabase.com/"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2.png"/><Relationship Id="rId3" Type="http://schemas.openxmlformats.org/officeDocument/2006/relationships/hyperlink" Target="https://supabase.com/database"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3.png"/><Relationship Id="rId3" Type="http://schemas.openxmlformats.org/officeDocument/2006/relationships/hyperlink" Target="https://supabase.com/auth"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4.png"/><Relationship Id="rId3" Type="http://schemas.openxmlformats.org/officeDocument/2006/relationships/hyperlink" Target="https://supabase.com/docs/guides/database/tables"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5.png"/><Relationship Id="rId3" Type="http://schemas.openxmlformats.org/officeDocument/2006/relationships/hyperlink" Target="https://supabase.com/docs/guides/getting-started/mcp"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6.png"/><Relationship Id="rId3" Type="http://schemas.openxmlformats.org/officeDocument/2006/relationships/hyperlink" Target="https://supabase.com/docs/guides/database/postgres/row-level-securit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7.png"/><Relationship Id="rId3" Type="http://schemas.openxmlformats.org/officeDocument/2006/relationships/hyperlink" Target="https://supabase.com/pricing"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What Is Supabase?</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An entry-level tour, with real screenshots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Where does your data live?</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Backend</a:t>
            </a:r>
          </a:p>
        </p:txBody>
      </p:sp>
      <p:sp>
        <p:nvSpPr>
          <p:cNvPr id="4" name="TextBox 3"/>
          <p:cNvSpPr txBox="1"/>
          <p:nvPr/>
        </p:nvSpPr>
        <p:spPr>
          <a:xfrm>
            <a:off x="996696" y="3764280"/>
            <a:ext cx="10738104" cy="609600"/>
          </a:xfrm>
          <a:prstGeom prst="rect">
            <a:avLst/>
          </a:prstGeom>
          <a:noFill/>
        </p:spPr>
        <p:txBody>
          <a:bodyPr wrap="none" lIns="0" rIns="0">
            <a:noAutofit/>
          </a:bodyPr>
          <a:lstStyle/>
          <a:p>
            <a:pPr algn="l"/>
            <a:r>
              <a:rPr sz="3400" b="0" i="0">
                <a:solidFill>
                  <a:srgbClr val="0A2240"/>
                </a:solidFill>
                <a:latin typeface="Arial"/>
              </a:rPr>
              <a:t>The part of an app you never see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How Supabase Describes Itself</a:t>
            </a:r>
          </a:p>
        </p:txBody>
      </p:sp>
      <p:pic>
        <p:nvPicPr>
          <p:cNvPr id="3" name="Picture 2" descr="home.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6980356" cy="609600"/>
          </a:xfrm>
          <a:prstGeom prst="rect">
            <a:avLst/>
          </a:prstGeom>
          <a:noFill/>
        </p:spPr>
        <p:txBody>
          <a:bodyPr wrap="none" lIns="0" rIns="0">
            <a:noAutofit/>
          </a:bodyPr>
          <a:lstStyle/>
          <a:p>
            <a:pPr algn="l"/>
            <a:r>
              <a:rPr sz="3400" b="0" i="0">
                <a:solidFill>
                  <a:srgbClr val="0A2240"/>
                </a:solidFill>
                <a:latin typeface="Arial"/>
              </a:rPr>
              <a:t>It starts as a database</a:t>
            </a:r>
          </a:p>
        </p:txBody>
      </p:sp>
      <p:sp>
        <p:nvSpPr>
          <p:cNvPr id="5" name="TextBox 4"/>
          <p:cNvSpPr txBox="1"/>
          <p:nvPr/>
        </p:nvSpPr>
        <p:spPr>
          <a:xfrm>
            <a:off x="457200" y="2383536"/>
            <a:ext cx="8517969" cy="609600"/>
          </a:xfrm>
          <a:prstGeom prst="rect">
            <a:avLst/>
          </a:prstGeom>
          <a:noFill/>
        </p:spPr>
        <p:txBody>
          <a:bodyPr wrap="none" lIns="0" rIns="0">
            <a:noAutofit/>
          </a:bodyPr>
          <a:lstStyle/>
          <a:p>
            <a:pPr algn="l"/>
            <a:r>
              <a:rPr sz="3400" b="0" i="0">
                <a:solidFill>
                  <a:srgbClr val="0A2240"/>
                </a:solidFill>
                <a:latin typeface="Arial"/>
              </a:rPr>
              <a:t>Then adds what apps need</a:t>
            </a:r>
          </a:p>
        </p:txBody>
      </p:sp>
      <p:sp>
        <p:nvSpPr>
          <p:cNvPr id="6" name="TextBox 5"/>
          <p:cNvSpPr txBox="1"/>
          <p:nvPr/>
        </p:nvSpPr>
        <p:spPr>
          <a:xfrm>
            <a:off x="457200" y="3267456"/>
            <a:ext cx="5501640" cy="609600"/>
          </a:xfrm>
          <a:prstGeom prst="rect">
            <a:avLst/>
          </a:prstGeom>
          <a:noFill/>
        </p:spPr>
        <p:txBody>
          <a:bodyPr wrap="none" lIns="0" rIns="0">
            <a:noAutofit/>
          </a:bodyPr>
          <a:lstStyle/>
          <a:p>
            <a:pPr algn="l"/>
            <a:r>
              <a:rPr sz="3400" b="0" i="0">
                <a:solidFill>
                  <a:srgbClr val="0A2240"/>
                </a:solidFill>
                <a:latin typeface="Arial"/>
              </a:rPr>
              <a:t>All in one project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4</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Four Main Pieces</a:t>
            </a:r>
          </a:p>
        </p:txBody>
      </p:sp>
      <p:sp>
        <p:nvSpPr>
          <p:cNvPr id="3" name="TextBox 2"/>
          <p:cNvSpPr txBox="1"/>
          <p:nvPr/>
        </p:nvSpPr>
        <p:spPr>
          <a:xfrm>
            <a:off x="457200" y="1499616"/>
            <a:ext cx="2214193" cy="518159"/>
          </a:xfrm>
          <a:prstGeom prst="rect">
            <a:avLst/>
          </a:prstGeom>
          <a:noFill/>
        </p:spPr>
        <p:txBody>
          <a:bodyPr wrap="none" lIns="0" rIns="0">
            <a:noAutofit/>
          </a:bodyPr>
          <a:lstStyle/>
          <a:p>
            <a:pPr algn="l"/>
            <a:r>
              <a:rPr sz="3400" b="1" i="0">
                <a:solidFill>
                  <a:srgbClr val="0072CE"/>
                </a:solidFill>
                <a:latin typeface="Arial"/>
              </a:rPr>
              <a:t>Piece</a:t>
            </a:r>
          </a:p>
        </p:txBody>
      </p:sp>
      <p:sp>
        <p:nvSpPr>
          <p:cNvPr id="4" name="TextBox 3"/>
          <p:cNvSpPr txBox="1"/>
          <p:nvPr/>
        </p:nvSpPr>
        <p:spPr>
          <a:xfrm>
            <a:off x="3220033" y="1499616"/>
            <a:ext cx="4289702" cy="518159"/>
          </a:xfrm>
          <a:prstGeom prst="rect">
            <a:avLst/>
          </a:prstGeom>
          <a:noFill/>
        </p:spPr>
        <p:txBody>
          <a:bodyPr wrap="none" lIns="0" rIns="0">
            <a:noAutofit/>
          </a:bodyPr>
          <a:lstStyle/>
          <a:p>
            <a:pPr algn="l"/>
            <a:r>
              <a:rPr sz="3400" b="1" i="0">
                <a:solidFill>
                  <a:srgbClr val="0072CE"/>
                </a:solidFill>
                <a:latin typeface="Arial"/>
              </a:rPr>
              <a:t>What it does</a:t>
            </a:r>
          </a:p>
        </p:txBody>
      </p:sp>
      <p:sp>
        <p:nvSpPr>
          <p:cNvPr id="5" name="Rectangle 4"/>
          <p:cNvSpPr/>
          <p:nvPr/>
        </p:nvSpPr>
        <p:spPr>
          <a:xfrm>
            <a:off x="457200" y="2072639"/>
            <a:ext cx="7040726"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140372" cy="633984"/>
          </a:xfrm>
          <a:prstGeom prst="rect">
            <a:avLst/>
          </a:prstGeom>
          <a:noFill/>
        </p:spPr>
        <p:txBody>
          <a:bodyPr wrap="none" lIns="0" rIns="0">
            <a:noAutofit/>
          </a:bodyPr>
          <a:lstStyle/>
          <a:p>
            <a:pPr algn="l"/>
            <a:r>
              <a:rPr sz="3400" b="0" i="0">
                <a:solidFill>
                  <a:srgbClr val="0A2240"/>
                </a:solidFill>
                <a:latin typeface="Arial"/>
              </a:rPr>
              <a:t>Database</a:t>
            </a:r>
          </a:p>
        </p:txBody>
      </p:sp>
      <p:sp>
        <p:nvSpPr>
          <p:cNvPr id="7" name="TextBox 6"/>
          <p:cNvSpPr txBox="1"/>
          <p:nvPr/>
        </p:nvSpPr>
        <p:spPr>
          <a:xfrm>
            <a:off x="3220033" y="2401823"/>
            <a:ext cx="6020612" cy="633984"/>
          </a:xfrm>
          <a:prstGeom prst="rect">
            <a:avLst/>
          </a:prstGeom>
          <a:noFill/>
        </p:spPr>
        <p:txBody>
          <a:bodyPr wrap="none" lIns="0" rIns="0">
            <a:noAutofit/>
          </a:bodyPr>
          <a:lstStyle/>
          <a:p>
            <a:pPr algn="l"/>
            <a:r>
              <a:rPr sz="3400" b="0" i="0">
                <a:solidFill>
                  <a:srgbClr val="0A2240"/>
                </a:solidFill>
                <a:latin typeface="Arial"/>
              </a:rPr>
              <a:t>Tables of your data</a:t>
            </a:r>
          </a:p>
        </p:txBody>
      </p:sp>
      <p:sp>
        <p:nvSpPr>
          <p:cNvPr id="8" name="TextBox 7"/>
          <p:cNvSpPr txBox="1"/>
          <p:nvPr/>
        </p:nvSpPr>
        <p:spPr>
          <a:xfrm>
            <a:off x="457200" y="3310127"/>
            <a:ext cx="2214193" cy="633984"/>
          </a:xfrm>
          <a:prstGeom prst="rect">
            <a:avLst/>
          </a:prstGeom>
          <a:noFill/>
        </p:spPr>
        <p:txBody>
          <a:bodyPr wrap="none" lIns="0" rIns="0">
            <a:noAutofit/>
          </a:bodyPr>
          <a:lstStyle/>
          <a:p>
            <a:pPr algn="l"/>
            <a:r>
              <a:rPr sz="3400" b="0" i="0">
                <a:solidFill>
                  <a:srgbClr val="0A2240"/>
                </a:solidFill>
                <a:latin typeface="Arial"/>
              </a:rPr>
              <a:t>Auth</a:t>
            </a:r>
          </a:p>
        </p:txBody>
      </p:sp>
      <p:sp>
        <p:nvSpPr>
          <p:cNvPr id="9" name="TextBox 8"/>
          <p:cNvSpPr txBox="1"/>
          <p:nvPr/>
        </p:nvSpPr>
        <p:spPr>
          <a:xfrm>
            <a:off x="3220033" y="3310127"/>
            <a:ext cx="5251806" cy="633984"/>
          </a:xfrm>
          <a:prstGeom prst="rect">
            <a:avLst/>
          </a:prstGeom>
          <a:noFill/>
        </p:spPr>
        <p:txBody>
          <a:bodyPr wrap="none" lIns="0" rIns="0">
            <a:noAutofit/>
          </a:bodyPr>
          <a:lstStyle/>
          <a:p>
            <a:pPr algn="l"/>
            <a:r>
              <a:rPr sz="3400" b="0" i="0">
                <a:solidFill>
                  <a:srgbClr val="0A2240"/>
                </a:solidFill>
                <a:latin typeface="Arial"/>
              </a:rPr>
              <a:t>Who is signed in</a:t>
            </a:r>
          </a:p>
        </p:txBody>
      </p:sp>
      <p:sp>
        <p:nvSpPr>
          <p:cNvPr id="10" name="TextBox 9"/>
          <p:cNvSpPr txBox="1"/>
          <p:nvPr/>
        </p:nvSpPr>
        <p:spPr>
          <a:xfrm>
            <a:off x="457200" y="4218431"/>
            <a:ext cx="2602646" cy="633984"/>
          </a:xfrm>
          <a:prstGeom prst="rect">
            <a:avLst/>
          </a:prstGeom>
          <a:noFill/>
        </p:spPr>
        <p:txBody>
          <a:bodyPr wrap="none" lIns="0" rIns="0">
            <a:noAutofit/>
          </a:bodyPr>
          <a:lstStyle/>
          <a:p>
            <a:pPr algn="l"/>
            <a:r>
              <a:rPr sz="3400" b="0" i="0">
                <a:solidFill>
                  <a:srgbClr val="0A2240"/>
                </a:solidFill>
                <a:latin typeface="Arial"/>
              </a:rPr>
              <a:t>Storage</a:t>
            </a:r>
          </a:p>
        </p:txBody>
      </p:sp>
      <p:sp>
        <p:nvSpPr>
          <p:cNvPr id="11" name="TextBox 10"/>
          <p:cNvSpPr txBox="1"/>
          <p:nvPr/>
        </p:nvSpPr>
        <p:spPr>
          <a:xfrm>
            <a:off x="3220033" y="4218431"/>
            <a:ext cx="6174779" cy="633984"/>
          </a:xfrm>
          <a:prstGeom prst="rect">
            <a:avLst/>
          </a:prstGeom>
          <a:noFill/>
        </p:spPr>
        <p:txBody>
          <a:bodyPr wrap="none" lIns="0" rIns="0">
            <a:noAutofit/>
          </a:bodyPr>
          <a:lstStyle/>
          <a:p>
            <a:pPr algn="l"/>
            <a:r>
              <a:rPr sz="3400" b="0" i="0">
                <a:solidFill>
                  <a:srgbClr val="0A2240"/>
                </a:solidFill>
                <a:latin typeface="Arial"/>
              </a:rPr>
              <a:t>Files people upload</a:t>
            </a:r>
          </a:p>
        </p:txBody>
      </p:sp>
      <p:sp>
        <p:nvSpPr>
          <p:cNvPr id="12" name="TextBox 11"/>
          <p:cNvSpPr txBox="1"/>
          <p:nvPr/>
        </p:nvSpPr>
        <p:spPr>
          <a:xfrm>
            <a:off x="457200" y="5126735"/>
            <a:ext cx="2214193" cy="633984"/>
          </a:xfrm>
          <a:prstGeom prst="rect">
            <a:avLst/>
          </a:prstGeom>
          <a:noFill/>
        </p:spPr>
        <p:txBody>
          <a:bodyPr wrap="none" lIns="0" rIns="0">
            <a:noAutofit/>
          </a:bodyPr>
          <a:lstStyle/>
          <a:p>
            <a:pPr algn="l"/>
            <a:r>
              <a:rPr sz="3400" b="0" i="0">
                <a:solidFill>
                  <a:srgbClr val="0A2240"/>
                </a:solidFill>
                <a:latin typeface="Arial"/>
              </a:rPr>
              <a:t>API</a:t>
            </a:r>
          </a:p>
        </p:txBody>
      </p:sp>
      <p:sp>
        <p:nvSpPr>
          <p:cNvPr id="13" name="TextBox 12"/>
          <p:cNvSpPr txBox="1"/>
          <p:nvPr/>
        </p:nvSpPr>
        <p:spPr>
          <a:xfrm>
            <a:off x="3220033" y="5126735"/>
            <a:ext cx="6442292" cy="633984"/>
          </a:xfrm>
          <a:prstGeom prst="rect">
            <a:avLst/>
          </a:prstGeom>
          <a:noFill/>
        </p:spPr>
        <p:txBody>
          <a:bodyPr wrap="none" lIns="0" rIns="0">
            <a:noAutofit/>
          </a:bodyPr>
          <a:lstStyle/>
          <a:p>
            <a:pPr algn="l"/>
            <a:r>
              <a:rPr sz="3400" b="0" i="0">
                <a:solidFill>
                  <a:srgbClr val="0A2240"/>
                </a:solidFill>
                <a:latin typeface="Arial"/>
              </a:rPr>
              <a:t>How your page asks</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Database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Organised tables your app can read and write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 Table, Concretely</a:t>
            </a:r>
          </a:p>
        </p:txBody>
      </p:sp>
      <p:pic>
        <p:nvPicPr>
          <p:cNvPr id="3" name="Picture 2" descr="database.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7248545" cy="609600"/>
          </a:xfrm>
          <a:prstGeom prst="rect">
            <a:avLst/>
          </a:prstGeom>
          <a:noFill/>
        </p:spPr>
        <p:txBody>
          <a:bodyPr wrap="none" lIns="0" rIns="0">
            <a:noAutofit/>
          </a:bodyPr>
          <a:lstStyle/>
          <a:p>
            <a:pPr algn="l"/>
            <a:r>
              <a:rPr sz="3400" b="0" i="0">
                <a:solidFill>
                  <a:srgbClr val="0A2240"/>
                </a:solidFill>
                <a:latin typeface="Arial"/>
              </a:rPr>
              <a:t>Each row is one record</a:t>
            </a:r>
          </a:p>
        </p:txBody>
      </p:sp>
      <p:sp>
        <p:nvSpPr>
          <p:cNvPr id="5" name="TextBox 4"/>
          <p:cNvSpPr txBox="1"/>
          <p:nvPr/>
        </p:nvSpPr>
        <p:spPr>
          <a:xfrm>
            <a:off x="457200" y="2383536"/>
            <a:ext cx="6903105" cy="609600"/>
          </a:xfrm>
          <a:prstGeom prst="rect">
            <a:avLst/>
          </a:prstGeom>
          <a:noFill/>
        </p:spPr>
        <p:txBody>
          <a:bodyPr wrap="none" lIns="0" rIns="0">
            <a:noAutofit/>
          </a:bodyPr>
          <a:lstStyle/>
          <a:p>
            <a:pPr algn="l"/>
            <a:r>
              <a:rPr sz="3400" b="0" i="0">
                <a:solidFill>
                  <a:srgbClr val="0A2240"/>
                </a:solidFill>
                <a:latin typeface="Arial"/>
              </a:rPr>
              <a:t>Each column is a field</a:t>
            </a:r>
          </a:p>
        </p:txBody>
      </p:sp>
      <p:sp>
        <p:nvSpPr>
          <p:cNvPr id="6" name="TextBox 5"/>
          <p:cNvSpPr txBox="1"/>
          <p:nvPr/>
        </p:nvSpPr>
        <p:spPr>
          <a:xfrm>
            <a:off x="457200" y="3267456"/>
            <a:ext cx="7710030" cy="609600"/>
          </a:xfrm>
          <a:prstGeom prst="rect">
            <a:avLst/>
          </a:prstGeom>
          <a:noFill/>
        </p:spPr>
        <p:txBody>
          <a:bodyPr wrap="none" lIns="0" rIns="0">
            <a:noAutofit/>
          </a:bodyPr>
          <a:lstStyle/>
          <a:p>
            <a:pPr algn="l"/>
            <a:r>
              <a:rPr sz="3400" b="0" i="0">
                <a:solidFill>
                  <a:srgbClr val="0A2240"/>
                </a:solidFill>
                <a:latin typeface="Arial"/>
              </a:rPr>
              <a:t>A spreadsheet with rules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7</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Sign-In, Built In</a:t>
            </a:r>
          </a:p>
        </p:txBody>
      </p:sp>
      <p:pic>
        <p:nvPicPr>
          <p:cNvPr id="3" name="Picture 2" descr="auth.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6403836" cy="609600"/>
          </a:xfrm>
          <a:prstGeom prst="rect">
            <a:avLst/>
          </a:prstGeom>
          <a:noFill/>
        </p:spPr>
        <p:txBody>
          <a:bodyPr wrap="none" lIns="0" rIns="0">
            <a:noAutofit/>
          </a:bodyPr>
          <a:lstStyle/>
          <a:p>
            <a:pPr algn="l"/>
            <a:r>
              <a:rPr sz="3400" b="0" i="0">
                <a:solidFill>
                  <a:srgbClr val="0A2240"/>
                </a:solidFill>
                <a:latin typeface="Arial"/>
              </a:rPr>
              <a:t>Email and password</a:t>
            </a:r>
          </a:p>
        </p:txBody>
      </p:sp>
      <p:sp>
        <p:nvSpPr>
          <p:cNvPr id="5" name="TextBox 4"/>
          <p:cNvSpPr txBox="1"/>
          <p:nvPr/>
        </p:nvSpPr>
        <p:spPr>
          <a:xfrm>
            <a:off x="457200" y="2383536"/>
            <a:ext cx="7248881" cy="609600"/>
          </a:xfrm>
          <a:prstGeom prst="rect">
            <a:avLst/>
          </a:prstGeom>
          <a:noFill/>
        </p:spPr>
        <p:txBody>
          <a:bodyPr wrap="none" lIns="0" rIns="0">
            <a:noAutofit/>
          </a:bodyPr>
          <a:lstStyle/>
          <a:p>
            <a:pPr algn="l"/>
            <a:r>
              <a:rPr sz="3400" b="0" i="0">
                <a:solidFill>
                  <a:srgbClr val="0A2240"/>
                </a:solidFill>
                <a:latin typeface="Arial"/>
              </a:rPr>
              <a:t>Google, GitHub, others</a:t>
            </a:r>
          </a:p>
        </p:txBody>
      </p:sp>
      <p:sp>
        <p:nvSpPr>
          <p:cNvPr id="6" name="TextBox 5"/>
          <p:cNvSpPr txBox="1"/>
          <p:nvPr/>
        </p:nvSpPr>
        <p:spPr>
          <a:xfrm>
            <a:off x="457200" y="3267456"/>
            <a:ext cx="6826528" cy="609600"/>
          </a:xfrm>
          <a:prstGeom prst="rect">
            <a:avLst/>
          </a:prstGeom>
          <a:noFill/>
        </p:spPr>
        <p:txBody>
          <a:bodyPr wrap="none" lIns="0" rIns="0">
            <a:noAutofit/>
          </a:bodyPr>
          <a:lstStyle/>
          <a:p>
            <a:pPr algn="l"/>
            <a:r>
              <a:rPr sz="3400" b="0" i="0">
                <a:solidFill>
                  <a:srgbClr val="0A2240"/>
                </a:solidFill>
                <a:latin typeface="Arial"/>
              </a:rPr>
              <a:t>No login code to write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8</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SQL</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language for building and asking a database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Make a Table</a:t>
            </a:r>
          </a:p>
        </p:txBody>
      </p:sp>
      <p:pic>
        <p:nvPicPr>
          <p:cNvPr id="3" name="Picture 2" descr="sql-tab.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7389555" cy="609600"/>
          </a:xfrm>
          <a:prstGeom prst="rect">
            <a:avLst/>
          </a:prstGeom>
          <a:noFill/>
        </p:spPr>
        <p:txBody>
          <a:bodyPr wrap="none" lIns="0" rIns="0">
            <a:noAutofit/>
          </a:bodyPr>
          <a:lstStyle/>
          <a:p>
            <a:pPr algn="l"/>
            <a:r>
              <a:rPr sz="3400" b="0" i="0">
                <a:solidFill>
                  <a:srgbClr val="0A2240"/>
                </a:solidFill>
                <a:latin typeface="Arial"/>
              </a:rPr>
              <a:t>Click in the Table Editor</a:t>
            </a:r>
          </a:p>
        </p:txBody>
      </p:sp>
      <p:sp>
        <p:nvSpPr>
          <p:cNvPr id="5" name="TextBox 4"/>
          <p:cNvSpPr txBox="1"/>
          <p:nvPr/>
        </p:nvSpPr>
        <p:spPr>
          <a:xfrm>
            <a:off x="457200" y="2383536"/>
            <a:ext cx="5501640" cy="609600"/>
          </a:xfrm>
          <a:prstGeom prst="rect">
            <a:avLst/>
          </a:prstGeom>
          <a:noFill/>
        </p:spPr>
        <p:txBody>
          <a:bodyPr wrap="none" lIns="0" rIns="0">
            <a:noAutofit/>
          </a:bodyPr>
          <a:lstStyle/>
          <a:p>
            <a:pPr algn="l"/>
            <a:r>
              <a:rPr sz="3400" b="0" i="0">
                <a:solidFill>
                  <a:srgbClr val="0A2240"/>
                </a:solidFill>
                <a:latin typeface="Arial"/>
              </a:rPr>
              <a:t>Or write it in SQL</a:t>
            </a:r>
          </a:p>
        </p:txBody>
      </p:sp>
      <p:sp>
        <p:nvSpPr>
          <p:cNvPr id="6" name="TextBox 5"/>
          <p:cNvSpPr txBox="1"/>
          <p:nvPr/>
        </p:nvSpPr>
        <p:spPr>
          <a:xfrm>
            <a:off x="457200" y="3267456"/>
            <a:ext cx="5583078" cy="609600"/>
          </a:xfrm>
          <a:prstGeom prst="rect">
            <a:avLst/>
          </a:prstGeom>
          <a:noFill/>
        </p:spPr>
        <p:txBody>
          <a:bodyPr wrap="none" lIns="0" rIns="0">
            <a:noAutofit/>
          </a:bodyPr>
          <a:lstStyle/>
          <a:p>
            <a:pPr algn="l"/>
            <a:r>
              <a:rPr sz="3400" b="0" i="0">
                <a:solidFill>
                  <a:srgbClr val="0A2240"/>
                </a:solidFill>
                <a:latin typeface="Arial"/>
              </a:rPr>
              <a:t>We will write SQL</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10</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We Use SQL</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It is written down, so it repeats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can live in git as a migration</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Claude writes it, you review it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reaches every Postgres type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FFFFFF"/>
                </a:solidFill>
                <a:latin typeface="Arial"/>
              </a:rPr>
              <a:t>A first table, in SQL</a:t>
            </a:r>
          </a:p>
        </p:txBody>
      </p:sp>
      <p:sp>
        <p:nvSpPr>
          <p:cNvPr id="6" name="TextBox 5"/>
          <p:cNvSpPr txBox="1"/>
          <p:nvPr/>
        </p:nvSpPr>
        <p:spPr>
          <a:xfrm>
            <a:off x="457200" y="1837944"/>
            <a:ext cx="6097190" cy="518159"/>
          </a:xfrm>
          <a:prstGeom prst="rect">
            <a:avLst/>
          </a:prstGeom>
          <a:noFill/>
        </p:spPr>
        <p:txBody>
          <a:bodyPr wrap="none" lIns="0" rIns="0">
            <a:noAutofit/>
          </a:bodyPr>
          <a:lstStyle/>
          <a:p>
            <a:pPr algn="l"/>
            <a:r>
              <a:rPr sz="3400" b="0" i="0">
                <a:solidFill>
                  <a:srgbClr val="FFFFFF"/>
                </a:solidFill>
                <a:latin typeface="Arial"/>
              </a:rPr>
              <a:t>create table notes (</a:t>
            </a:r>
          </a:p>
        </p:txBody>
      </p:sp>
      <p:sp>
        <p:nvSpPr>
          <p:cNvPr id="7" name="TextBox 6"/>
          <p:cNvSpPr txBox="1"/>
          <p:nvPr/>
        </p:nvSpPr>
        <p:spPr>
          <a:xfrm>
            <a:off x="457200" y="2356103"/>
            <a:ext cx="9439592" cy="518159"/>
          </a:xfrm>
          <a:prstGeom prst="rect">
            <a:avLst/>
          </a:prstGeom>
          <a:noFill/>
        </p:spPr>
        <p:txBody>
          <a:bodyPr wrap="none" lIns="0" rIns="0">
            <a:noAutofit/>
          </a:bodyPr>
          <a:lstStyle/>
          <a:p>
            <a:pPr algn="l"/>
            <a:r>
              <a:rPr sz="3400" b="0" i="0">
                <a:solidFill>
                  <a:srgbClr val="FFFFFF"/>
                </a:solidFill>
                <a:latin typeface="Arial"/>
              </a:rPr>
              <a:t>  id bigint generated by default</a:t>
            </a:r>
          </a:p>
        </p:txBody>
      </p:sp>
      <p:sp>
        <p:nvSpPr>
          <p:cNvPr id="8" name="TextBox 7"/>
          <p:cNvSpPr txBox="1"/>
          <p:nvPr/>
        </p:nvSpPr>
        <p:spPr>
          <a:xfrm>
            <a:off x="457200" y="2874262"/>
            <a:ext cx="662751" cy="518159"/>
          </a:xfrm>
          <a:prstGeom prst="rect">
            <a:avLst/>
          </a:prstGeom>
          <a:noFill/>
        </p:spPr>
        <p:txBody>
          <a:bodyPr wrap="none" lIns="0" rIns="0">
            <a:noAutofit/>
          </a:bodyPr>
          <a:lstStyle/>
          <a:p>
            <a:pPr algn="l"/>
            <a:r>
              <a:rPr sz="3400" b="0" i="0">
                <a:solidFill>
                  <a:srgbClr val="FFFFFF"/>
                </a:solidFill>
                <a:latin typeface="Arial"/>
              </a:rPr>
              <a:t>    </a:t>
            </a:r>
          </a:p>
        </p:txBody>
      </p:sp>
      <p:sp>
        <p:nvSpPr>
          <p:cNvPr id="9" name="TextBox 8"/>
          <p:cNvSpPr txBox="1"/>
          <p:nvPr/>
        </p:nvSpPr>
        <p:spPr>
          <a:xfrm>
            <a:off x="937071" y="2874262"/>
            <a:ext cx="912555" cy="518159"/>
          </a:xfrm>
          <a:prstGeom prst="rect">
            <a:avLst/>
          </a:prstGeom>
          <a:noFill/>
        </p:spPr>
        <p:txBody>
          <a:bodyPr wrap="none" lIns="0" rIns="0">
            <a:noAutofit/>
          </a:bodyPr>
          <a:lstStyle/>
          <a:p>
            <a:pPr algn="l"/>
            <a:r>
              <a:rPr sz="3400" b="0" i="0">
                <a:solidFill>
                  <a:srgbClr val="569CD6"/>
                </a:solidFill>
                <a:latin typeface="Arial"/>
              </a:rPr>
              <a:t>as</a:t>
            </a:r>
          </a:p>
        </p:txBody>
      </p:sp>
      <p:sp>
        <p:nvSpPr>
          <p:cNvPr id="10" name="TextBox 9"/>
          <p:cNvSpPr txBox="1"/>
          <p:nvPr/>
        </p:nvSpPr>
        <p:spPr>
          <a:xfrm>
            <a:off x="1393118" y="2874262"/>
            <a:ext cx="6466582" cy="518159"/>
          </a:xfrm>
          <a:prstGeom prst="rect">
            <a:avLst/>
          </a:prstGeom>
          <a:noFill/>
        </p:spPr>
        <p:txBody>
          <a:bodyPr wrap="none" lIns="0" rIns="0">
            <a:noAutofit/>
          </a:bodyPr>
          <a:lstStyle/>
          <a:p>
            <a:pPr algn="l"/>
            <a:r>
              <a:rPr sz="3400" b="0" i="0">
                <a:solidFill>
                  <a:srgbClr val="FFFFFF"/>
                </a:solidFill>
                <a:latin typeface="Arial"/>
              </a:rPr>
              <a:t> identity primary key,</a:t>
            </a:r>
          </a:p>
        </p:txBody>
      </p:sp>
      <p:sp>
        <p:nvSpPr>
          <p:cNvPr id="11" name="TextBox 10"/>
          <p:cNvSpPr txBox="1"/>
          <p:nvPr/>
        </p:nvSpPr>
        <p:spPr>
          <a:xfrm>
            <a:off x="457200" y="3392421"/>
            <a:ext cx="3562390" cy="518159"/>
          </a:xfrm>
          <a:prstGeom prst="rect">
            <a:avLst/>
          </a:prstGeom>
          <a:noFill/>
        </p:spPr>
        <p:txBody>
          <a:bodyPr wrap="none" lIns="0" rIns="0">
            <a:noAutofit/>
          </a:bodyPr>
          <a:lstStyle/>
          <a:p>
            <a:pPr algn="l"/>
            <a:r>
              <a:rPr sz="3400" b="0" i="0">
                <a:solidFill>
                  <a:srgbClr val="FFFFFF"/>
                </a:solidFill>
                <a:latin typeface="Arial"/>
              </a:rPr>
              <a:t>  body text </a:t>
            </a:r>
          </a:p>
        </p:txBody>
      </p:sp>
      <p:sp>
        <p:nvSpPr>
          <p:cNvPr id="12" name="TextBox 11"/>
          <p:cNvSpPr txBox="1"/>
          <p:nvPr/>
        </p:nvSpPr>
        <p:spPr>
          <a:xfrm>
            <a:off x="2569394" y="3392421"/>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3" name="TextBox 12"/>
          <p:cNvSpPr txBox="1"/>
          <p:nvPr/>
        </p:nvSpPr>
        <p:spPr>
          <a:xfrm>
            <a:off x="3169655" y="3392421"/>
            <a:ext cx="1642228" cy="518159"/>
          </a:xfrm>
          <a:prstGeom prst="rect">
            <a:avLst/>
          </a:prstGeom>
          <a:noFill/>
        </p:spPr>
        <p:txBody>
          <a:bodyPr wrap="none" lIns="0" rIns="0">
            <a:noAutofit/>
          </a:bodyPr>
          <a:lstStyle/>
          <a:p>
            <a:pPr algn="l"/>
            <a:r>
              <a:rPr sz="3400" b="0" i="0">
                <a:solidFill>
                  <a:srgbClr val="FFFFFF"/>
                </a:solidFill>
                <a:latin typeface="Arial"/>
              </a:rPr>
              <a:t> null,</a:t>
            </a:r>
          </a:p>
        </p:txBody>
      </p:sp>
      <p:sp>
        <p:nvSpPr>
          <p:cNvPr id="14" name="TextBox 13"/>
          <p:cNvSpPr txBox="1"/>
          <p:nvPr/>
        </p:nvSpPr>
        <p:spPr>
          <a:xfrm>
            <a:off x="457200" y="3910580"/>
            <a:ext cx="11734800" cy="518159"/>
          </a:xfrm>
          <a:prstGeom prst="rect">
            <a:avLst/>
          </a:prstGeom>
          <a:noFill/>
        </p:spPr>
        <p:txBody>
          <a:bodyPr wrap="none" lIns="0" rIns="0">
            <a:noAutofit/>
          </a:bodyPr>
          <a:lstStyle/>
          <a:p>
            <a:pPr algn="l"/>
            <a:r>
              <a:rPr sz="3400" b="0" i="0">
                <a:solidFill>
                  <a:srgbClr val="FFFFFF"/>
                </a:solidFill>
                <a:latin typeface="Arial"/>
              </a:rPr>
              <a:t>  created_at timestamptz default now()</a:t>
            </a:r>
          </a:p>
        </p:txBody>
      </p:sp>
      <p:sp>
        <p:nvSpPr>
          <p:cNvPr id="15" name="TextBox 14"/>
          <p:cNvSpPr txBox="1"/>
          <p:nvPr/>
        </p:nvSpPr>
        <p:spPr>
          <a:xfrm>
            <a:off x="457200" y="4428739"/>
            <a:ext cx="604897" cy="518159"/>
          </a:xfrm>
          <a:prstGeom prst="rect">
            <a:avLst/>
          </a:prstGeom>
          <a:noFill/>
        </p:spPr>
        <p:txBody>
          <a:bodyPr wrap="none" lIns="0" rIns="0">
            <a:noAutofit/>
          </a:bodyPr>
          <a:lstStyle/>
          <a:p>
            <a:pPr algn="l"/>
            <a:r>
              <a:rPr sz="3400" b="0" i="0">
                <a:solidFill>
                  <a:srgbClr val="FFFFFF"/>
                </a:solidFill>
                <a:latin typeface="Arial"/>
              </a:rPr>
              <a:t>);</a:t>
            </a:r>
          </a:p>
        </p:txBody>
      </p:sp>
      <p:sp>
        <p:nvSpPr>
          <p:cNvPr id="16" name="TextBox 15"/>
          <p:cNvSpPr txBox="1"/>
          <p:nvPr/>
        </p:nvSpPr>
        <p:spPr>
          <a:xfrm>
            <a:off x="457200" y="4946898"/>
            <a:ext cx="5098990" cy="518159"/>
          </a:xfrm>
          <a:prstGeom prst="rect">
            <a:avLst/>
          </a:prstGeom>
          <a:noFill/>
        </p:spPr>
        <p:txBody>
          <a:bodyPr wrap="none" lIns="0" rIns="0">
            <a:noAutofit/>
          </a:bodyPr>
          <a:lstStyle/>
          <a:p>
            <a:pPr algn="l"/>
            <a:r>
              <a:rPr sz="3400" b="0" i="0">
                <a:solidFill>
                  <a:srgbClr val="FFFFFF"/>
                </a:solidFill>
                <a:latin typeface="Arial"/>
              </a:rPr>
              <a:t>alter table notes</a:t>
            </a:r>
          </a:p>
        </p:txBody>
      </p:sp>
      <p:sp>
        <p:nvSpPr>
          <p:cNvPr id="17" name="TextBox 16"/>
          <p:cNvSpPr txBox="1"/>
          <p:nvPr/>
        </p:nvSpPr>
        <p:spPr>
          <a:xfrm>
            <a:off x="457200" y="5465057"/>
            <a:ext cx="8323659" cy="518159"/>
          </a:xfrm>
          <a:prstGeom prst="rect">
            <a:avLst/>
          </a:prstGeom>
          <a:noFill/>
        </p:spPr>
        <p:txBody>
          <a:bodyPr wrap="none" lIns="0" rIns="0">
            <a:noAutofit/>
          </a:bodyPr>
          <a:lstStyle/>
          <a:p>
            <a:pPr algn="l"/>
            <a:r>
              <a:rPr sz="3400" b="0" i="0">
                <a:solidFill>
                  <a:srgbClr val="FFFFFF"/>
                </a:solidFill>
                <a:latin typeface="Arial"/>
              </a:rPr>
              <a:t>  enable row level security;</a:t>
            </a:r>
          </a:p>
        </p:txBody>
      </p:sp>
      <p:sp>
        <p:nvSpPr>
          <p:cNvPr id="18" name="TextBox 1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Claude Can Build It</a:t>
            </a:r>
          </a:p>
        </p:txBody>
      </p:sp>
      <p:pic>
        <p:nvPicPr>
          <p:cNvPr id="3" name="Picture 2" descr="mcp-setup.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7598033" cy="609600"/>
          </a:xfrm>
          <a:prstGeom prst="rect">
            <a:avLst/>
          </a:prstGeom>
          <a:noFill/>
        </p:spPr>
        <p:txBody>
          <a:bodyPr wrap="none" lIns="0" rIns="0">
            <a:noAutofit/>
          </a:bodyPr>
          <a:lstStyle/>
          <a:p>
            <a:pPr algn="l"/>
            <a:r>
              <a:rPr sz="3400" b="0" i="0">
                <a:solidFill>
                  <a:srgbClr val="0A2240"/>
                </a:solidFill>
                <a:latin typeface="Arial"/>
              </a:rPr>
              <a:t>Supabase's MCP server</a:t>
            </a:r>
          </a:p>
        </p:txBody>
      </p:sp>
      <p:sp>
        <p:nvSpPr>
          <p:cNvPr id="5" name="TextBox 4"/>
          <p:cNvSpPr txBox="1"/>
          <p:nvPr/>
        </p:nvSpPr>
        <p:spPr>
          <a:xfrm>
            <a:off x="457200" y="2383536"/>
            <a:ext cx="6634916" cy="609600"/>
          </a:xfrm>
          <a:prstGeom prst="rect">
            <a:avLst/>
          </a:prstGeom>
          <a:noFill/>
        </p:spPr>
        <p:txBody>
          <a:bodyPr wrap="none" lIns="0" rIns="0">
            <a:noAutofit/>
          </a:bodyPr>
          <a:lstStyle/>
          <a:p>
            <a:pPr algn="l"/>
            <a:r>
              <a:rPr sz="3400" b="0" i="0">
                <a:solidFill>
                  <a:srgbClr val="0A2240"/>
                </a:solidFill>
                <a:latin typeface="Arial"/>
              </a:rPr>
              <a:t>Claude runs the SQL</a:t>
            </a:r>
          </a:p>
        </p:txBody>
      </p:sp>
      <p:sp>
        <p:nvSpPr>
          <p:cNvPr id="6" name="TextBox 5"/>
          <p:cNvSpPr txBox="1"/>
          <p:nvPr/>
        </p:nvSpPr>
        <p:spPr>
          <a:xfrm>
            <a:off x="457200" y="3267456"/>
            <a:ext cx="7248881" cy="609600"/>
          </a:xfrm>
          <a:prstGeom prst="rect">
            <a:avLst/>
          </a:prstGeom>
          <a:noFill/>
        </p:spPr>
        <p:txBody>
          <a:bodyPr wrap="none" lIns="0" rIns="0">
            <a:noAutofit/>
          </a:bodyPr>
          <a:lstStyle/>
          <a:p>
            <a:pPr algn="l"/>
            <a:r>
              <a:rPr sz="3400" b="0" i="0">
                <a:solidFill>
                  <a:srgbClr val="0A2240"/>
                </a:solidFill>
                <a:latin typeface="Arial"/>
              </a:rPr>
              <a:t>Approve each step first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13</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Rule That Protects It</a:t>
            </a:r>
          </a:p>
        </p:txBody>
      </p:sp>
      <p:pic>
        <p:nvPicPr>
          <p:cNvPr id="3" name="Picture 2" descr="rls.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8028483" cy="609600"/>
          </a:xfrm>
          <a:prstGeom prst="rect">
            <a:avLst/>
          </a:prstGeom>
          <a:noFill/>
        </p:spPr>
        <p:txBody>
          <a:bodyPr wrap="none" lIns="0" rIns="0">
            <a:noAutofit/>
          </a:bodyPr>
          <a:lstStyle/>
          <a:p>
            <a:pPr algn="l"/>
            <a:r>
              <a:rPr sz="3400" b="0" i="0">
                <a:solidFill>
                  <a:srgbClr val="0A2240"/>
                </a:solidFill>
                <a:latin typeface="Arial"/>
              </a:rPr>
              <a:t>Turn on row level security</a:t>
            </a:r>
          </a:p>
        </p:txBody>
      </p:sp>
      <p:sp>
        <p:nvSpPr>
          <p:cNvPr id="5" name="TextBox 4"/>
          <p:cNvSpPr txBox="1"/>
          <p:nvPr/>
        </p:nvSpPr>
        <p:spPr>
          <a:xfrm>
            <a:off x="457200" y="2383536"/>
            <a:ext cx="7210761" cy="609600"/>
          </a:xfrm>
          <a:prstGeom prst="rect">
            <a:avLst/>
          </a:prstGeom>
          <a:noFill/>
        </p:spPr>
        <p:txBody>
          <a:bodyPr wrap="none" lIns="0" rIns="0">
            <a:noAutofit/>
          </a:bodyPr>
          <a:lstStyle/>
          <a:p>
            <a:pPr algn="l"/>
            <a:r>
              <a:rPr sz="3400" b="0" i="0">
                <a:solidFill>
                  <a:srgbClr val="0A2240"/>
                </a:solidFill>
                <a:latin typeface="Arial"/>
              </a:rPr>
              <a:t>Without it, data is open</a:t>
            </a:r>
          </a:p>
        </p:txBody>
      </p:sp>
      <p:sp>
        <p:nvSpPr>
          <p:cNvPr id="6" name="TextBox 5"/>
          <p:cNvSpPr txBox="1"/>
          <p:nvPr/>
        </p:nvSpPr>
        <p:spPr>
          <a:xfrm>
            <a:off x="457200" y="3267456"/>
            <a:ext cx="8247756" cy="609600"/>
          </a:xfrm>
          <a:prstGeom prst="rect">
            <a:avLst/>
          </a:prstGeom>
          <a:noFill/>
        </p:spPr>
        <p:txBody>
          <a:bodyPr wrap="none" lIns="0" rIns="0">
            <a:noAutofit/>
          </a:bodyPr>
          <a:lstStyle/>
          <a:p>
            <a:pPr algn="l"/>
            <a:r>
              <a:rPr sz="3400" b="0" i="0">
                <a:solidFill>
                  <a:srgbClr val="0A2240"/>
                </a:solidFill>
                <a:latin typeface="Arial"/>
              </a:rPr>
              <a:t>Supabase warns you itself</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14</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Row Level Security, by Example</a:t>
            </a:r>
          </a:p>
        </p:txBody>
      </p:sp>
      <p:sp>
        <p:nvSpPr>
          <p:cNvPr id="3" name="TextBox 2"/>
          <p:cNvSpPr txBox="1"/>
          <p:nvPr/>
        </p:nvSpPr>
        <p:spPr>
          <a:xfrm>
            <a:off x="457200" y="1499616"/>
            <a:ext cx="3773775" cy="518159"/>
          </a:xfrm>
          <a:prstGeom prst="rect">
            <a:avLst/>
          </a:prstGeom>
          <a:noFill/>
        </p:spPr>
        <p:txBody>
          <a:bodyPr wrap="none" lIns="0" rIns="0">
            <a:noAutofit/>
          </a:bodyPr>
          <a:lstStyle/>
          <a:p>
            <a:pPr algn="l"/>
            <a:r>
              <a:rPr sz="3400" b="1" i="0">
                <a:solidFill>
                  <a:srgbClr val="0072CE"/>
                </a:solidFill>
                <a:latin typeface="Arial"/>
              </a:rPr>
              <a:t>Setting</a:t>
            </a:r>
          </a:p>
        </p:txBody>
      </p:sp>
      <p:sp>
        <p:nvSpPr>
          <p:cNvPr id="4" name="TextBox 3"/>
          <p:cNvSpPr txBox="1"/>
          <p:nvPr/>
        </p:nvSpPr>
        <p:spPr>
          <a:xfrm>
            <a:off x="4779615" y="1499616"/>
            <a:ext cx="6325235" cy="518159"/>
          </a:xfrm>
          <a:prstGeom prst="rect">
            <a:avLst/>
          </a:prstGeom>
          <a:noFill/>
        </p:spPr>
        <p:txBody>
          <a:bodyPr wrap="none" lIns="0" rIns="0">
            <a:noAutofit/>
          </a:bodyPr>
          <a:lstStyle/>
          <a:p>
            <a:pPr algn="l"/>
            <a:r>
              <a:rPr sz="3400" b="1" i="0">
                <a:solidFill>
                  <a:srgbClr val="0072CE"/>
                </a:solidFill>
                <a:latin typeface="Arial"/>
              </a:rPr>
              <a:t>What a visitor gets</a:t>
            </a:r>
          </a:p>
        </p:txBody>
      </p:sp>
      <p:sp>
        <p:nvSpPr>
          <p:cNvPr id="5" name="Rectangle 4"/>
          <p:cNvSpPr/>
          <p:nvPr/>
        </p:nvSpPr>
        <p:spPr>
          <a:xfrm>
            <a:off x="457200" y="2072639"/>
            <a:ext cx="9560051"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773775" cy="936752"/>
          </a:xfrm>
          <a:prstGeom prst="rect">
            <a:avLst/>
          </a:prstGeom>
          <a:noFill/>
        </p:spPr>
        <p:txBody>
          <a:bodyPr wrap="none" lIns="0" rIns="0">
            <a:noAutofit/>
          </a:bodyPr>
          <a:lstStyle/>
          <a:p>
            <a:pPr algn="l"/>
            <a:r>
              <a:rPr sz="3400" b="0" i="0">
                <a:solidFill>
                  <a:srgbClr val="0A2240"/>
                </a:solidFill>
                <a:latin typeface="Arial"/>
              </a:rPr>
              <a:t>Security off</a:t>
            </a:r>
          </a:p>
        </p:txBody>
      </p:sp>
      <p:sp>
        <p:nvSpPr>
          <p:cNvPr id="7" name="TextBox 6"/>
          <p:cNvSpPr txBox="1"/>
          <p:nvPr/>
        </p:nvSpPr>
        <p:spPr>
          <a:xfrm>
            <a:off x="4779615" y="2401823"/>
            <a:ext cx="7412385" cy="936752"/>
          </a:xfrm>
          <a:prstGeom prst="rect">
            <a:avLst/>
          </a:prstGeom>
          <a:noFill/>
        </p:spPr>
        <p:txBody>
          <a:bodyPr wrap="none" lIns="0" rIns="0">
            <a:noAutofit/>
          </a:bodyPr>
          <a:lstStyle/>
          <a:p>
            <a:pPr algn="l"/>
            <a:r>
              <a:rPr sz="3400" b="0" i="0">
                <a:solidFill>
                  <a:srgbClr val="0A2240"/>
                </a:solidFill>
                <a:latin typeface="Arial"/>
              </a:rPr>
              <a:t>Every row, read and write</a:t>
            </a:r>
          </a:p>
        </p:txBody>
      </p:sp>
      <p:sp>
        <p:nvSpPr>
          <p:cNvPr id="8" name="TextBox 7"/>
          <p:cNvSpPr txBox="1"/>
          <p:nvPr/>
        </p:nvSpPr>
        <p:spPr>
          <a:xfrm>
            <a:off x="457200" y="3612895"/>
            <a:ext cx="5635704" cy="936752"/>
          </a:xfrm>
          <a:prstGeom prst="rect">
            <a:avLst/>
          </a:prstGeom>
          <a:noFill/>
        </p:spPr>
        <p:txBody>
          <a:bodyPr wrap="none" lIns="0" rIns="0">
            <a:noAutofit/>
          </a:bodyPr>
          <a:lstStyle/>
          <a:p>
            <a:pPr algn="l"/>
            <a:r>
              <a:rPr sz="3400" b="0" i="0">
                <a:solidFill>
                  <a:srgbClr val="0A2240"/>
                </a:solidFill>
                <a:latin typeface="Arial"/>
              </a:rPr>
              <a:t>On, with no policy</a:t>
            </a:r>
          </a:p>
        </p:txBody>
      </p:sp>
      <p:sp>
        <p:nvSpPr>
          <p:cNvPr id="9" name="TextBox 8"/>
          <p:cNvSpPr txBox="1"/>
          <p:nvPr/>
        </p:nvSpPr>
        <p:spPr>
          <a:xfrm>
            <a:off x="4779615" y="3612895"/>
            <a:ext cx="5237636" cy="936752"/>
          </a:xfrm>
          <a:prstGeom prst="rect">
            <a:avLst/>
          </a:prstGeom>
          <a:noFill/>
        </p:spPr>
        <p:txBody>
          <a:bodyPr wrap="none" lIns="0" rIns="0">
            <a:noAutofit/>
          </a:bodyPr>
          <a:lstStyle/>
          <a:p>
            <a:pPr algn="l"/>
            <a:r>
              <a:rPr sz="3400" b="0" i="0">
                <a:solidFill>
                  <a:srgbClr val="0A2240"/>
                </a:solidFill>
                <a:latin typeface="Arial"/>
              </a:rPr>
              <a:t>Nothing at all</a:t>
            </a:r>
          </a:p>
        </p:txBody>
      </p:sp>
      <p:sp>
        <p:nvSpPr>
          <p:cNvPr id="10" name="TextBox 9"/>
          <p:cNvSpPr txBox="1"/>
          <p:nvPr/>
        </p:nvSpPr>
        <p:spPr>
          <a:xfrm>
            <a:off x="457200" y="4823967"/>
            <a:ext cx="5328384" cy="936752"/>
          </a:xfrm>
          <a:prstGeom prst="rect">
            <a:avLst/>
          </a:prstGeom>
          <a:noFill/>
        </p:spPr>
        <p:txBody>
          <a:bodyPr wrap="none" lIns="0" rIns="0">
            <a:noAutofit/>
          </a:bodyPr>
          <a:lstStyle/>
          <a:p>
            <a:pPr algn="l"/>
            <a:r>
              <a:rPr sz="3400" b="0" i="0">
                <a:solidFill>
                  <a:srgbClr val="0A2240"/>
                </a:solidFill>
                <a:latin typeface="Arial"/>
              </a:rPr>
              <a:t>On, owner policy</a:t>
            </a:r>
          </a:p>
        </p:txBody>
      </p:sp>
      <p:sp>
        <p:nvSpPr>
          <p:cNvPr id="11" name="TextBox 10"/>
          <p:cNvSpPr txBox="1"/>
          <p:nvPr/>
        </p:nvSpPr>
        <p:spPr>
          <a:xfrm>
            <a:off x="4779615" y="4823967"/>
            <a:ext cx="6249332" cy="936752"/>
          </a:xfrm>
          <a:prstGeom prst="rect">
            <a:avLst/>
          </a:prstGeom>
          <a:noFill/>
        </p:spPr>
        <p:txBody>
          <a:bodyPr wrap="none" lIns="0" rIns="0">
            <a:noAutofit/>
          </a:bodyPr>
          <a:lstStyle/>
          <a:p>
            <a:pPr algn="l"/>
            <a:r>
              <a:rPr sz="3400" b="0" i="0">
                <a:solidFill>
                  <a:srgbClr val="0A2240"/>
                </a:solidFill>
                <a:latin typeface="Arial"/>
              </a:rPr>
              <a:t>Only their own rows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It Costs to Start</a:t>
            </a:r>
          </a:p>
        </p:txBody>
      </p:sp>
      <p:pic>
        <p:nvPicPr>
          <p:cNvPr id="3" name="Picture 2" descr="pricing.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5501640" cy="609600"/>
          </a:xfrm>
          <a:prstGeom prst="rect">
            <a:avLst/>
          </a:prstGeom>
          <a:noFill/>
        </p:spPr>
        <p:txBody>
          <a:bodyPr wrap="none" lIns="0" rIns="0">
            <a:noAutofit/>
          </a:bodyPr>
          <a:lstStyle/>
          <a:p>
            <a:pPr algn="l"/>
            <a:r>
              <a:rPr sz="3400" b="0" i="0">
                <a:solidFill>
                  <a:srgbClr val="0A2240"/>
                </a:solidFill>
                <a:latin typeface="Arial"/>
              </a:rPr>
              <a:t>Free to begin</a:t>
            </a:r>
          </a:p>
        </p:txBody>
      </p:sp>
      <p:sp>
        <p:nvSpPr>
          <p:cNvPr id="5" name="TextBox 4"/>
          <p:cNvSpPr txBox="1"/>
          <p:nvPr/>
        </p:nvSpPr>
        <p:spPr>
          <a:xfrm>
            <a:off x="457200" y="2383536"/>
            <a:ext cx="6366728" cy="609600"/>
          </a:xfrm>
          <a:prstGeom prst="rect">
            <a:avLst/>
          </a:prstGeom>
          <a:noFill/>
        </p:spPr>
        <p:txBody>
          <a:bodyPr wrap="none" lIns="0" rIns="0">
            <a:noAutofit/>
          </a:bodyPr>
          <a:lstStyle/>
          <a:p>
            <a:pPr algn="l"/>
            <a:r>
              <a:rPr sz="3400" b="0" i="0">
                <a:solidFill>
                  <a:srgbClr val="0A2240"/>
                </a:solidFill>
                <a:latin typeface="Arial"/>
              </a:rPr>
              <a:t>500 MB of database</a:t>
            </a:r>
          </a:p>
        </p:txBody>
      </p:sp>
      <p:sp>
        <p:nvSpPr>
          <p:cNvPr id="6" name="TextBox 5"/>
          <p:cNvSpPr txBox="1"/>
          <p:nvPr/>
        </p:nvSpPr>
        <p:spPr>
          <a:xfrm>
            <a:off x="457200" y="3267456"/>
            <a:ext cx="6865659" cy="609600"/>
          </a:xfrm>
          <a:prstGeom prst="rect">
            <a:avLst/>
          </a:prstGeom>
          <a:noFill/>
        </p:spPr>
        <p:txBody>
          <a:bodyPr wrap="none" lIns="0" rIns="0">
            <a:noAutofit/>
          </a:bodyPr>
          <a:lstStyle/>
          <a:p>
            <a:pPr algn="l"/>
            <a:r>
              <a:rPr sz="3400" b="0" i="0">
                <a:solidFill>
                  <a:srgbClr val="0A2240"/>
                </a:solidFill>
                <a:latin typeface="Arial"/>
              </a:rPr>
              <a:t>50,000 users a month</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16</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 Real Project That Uses It</a:t>
            </a:r>
          </a:p>
        </p:txBody>
      </p:sp>
      <p:sp>
        <p:nvSpPr>
          <p:cNvPr id="3" name="TextBox 2"/>
          <p:cNvSpPr txBox="1"/>
          <p:nvPr/>
        </p:nvSpPr>
        <p:spPr>
          <a:xfrm>
            <a:off x="457200" y="1499616"/>
            <a:ext cx="4750851" cy="518159"/>
          </a:xfrm>
          <a:prstGeom prst="rect">
            <a:avLst/>
          </a:prstGeom>
          <a:noFill/>
        </p:spPr>
        <p:txBody>
          <a:bodyPr wrap="none" lIns="0" rIns="0">
            <a:noAutofit/>
          </a:bodyPr>
          <a:lstStyle/>
          <a:p>
            <a:pPr algn="l"/>
            <a:r>
              <a:rPr sz="3400" b="1" i="0">
                <a:solidFill>
                  <a:srgbClr val="0072CE"/>
                </a:solidFill>
                <a:latin typeface="Arial"/>
              </a:rPr>
              <a:t>What it stores</a:t>
            </a:r>
          </a:p>
        </p:txBody>
      </p:sp>
      <p:sp>
        <p:nvSpPr>
          <p:cNvPr id="4" name="TextBox 3"/>
          <p:cNvSpPr txBox="1"/>
          <p:nvPr/>
        </p:nvSpPr>
        <p:spPr>
          <a:xfrm>
            <a:off x="4971690" y="1499616"/>
            <a:ext cx="5166583" cy="518159"/>
          </a:xfrm>
          <a:prstGeom prst="rect">
            <a:avLst/>
          </a:prstGeom>
          <a:noFill/>
        </p:spPr>
        <p:txBody>
          <a:bodyPr wrap="none" lIns="0" rIns="0">
            <a:noAutofit/>
          </a:bodyPr>
          <a:lstStyle/>
          <a:p>
            <a:pPr algn="l"/>
            <a:r>
              <a:rPr sz="3400" b="1" i="0">
                <a:solidFill>
                  <a:srgbClr val="0072CE"/>
                </a:solidFill>
                <a:latin typeface="Arial"/>
              </a:rPr>
              <a:t>Example</a:t>
            </a:r>
          </a:p>
        </p:txBody>
      </p:sp>
      <p:sp>
        <p:nvSpPr>
          <p:cNvPr id="5" name="Rectangle 4"/>
          <p:cNvSpPr/>
          <p:nvPr/>
        </p:nvSpPr>
        <p:spPr>
          <a:xfrm>
            <a:off x="457200" y="2072639"/>
            <a:ext cx="9681073"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637841" cy="936752"/>
          </a:xfrm>
          <a:prstGeom prst="rect">
            <a:avLst/>
          </a:prstGeom>
          <a:noFill/>
        </p:spPr>
        <p:txBody>
          <a:bodyPr wrap="none" lIns="0" rIns="0">
            <a:noAutofit/>
          </a:bodyPr>
          <a:lstStyle/>
          <a:p>
            <a:pPr algn="l"/>
            <a:r>
              <a:rPr sz="3400" b="0" i="0">
                <a:solidFill>
                  <a:srgbClr val="0A2240"/>
                </a:solidFill>
                <a:latin typeface="Arial"/>
              </a:rPr>
              <a:t>Court opinions</a:t>
            </a:r>
          </a:p>
        </p:txBody>
      </p:sp>
      <p:sp>
        <p:nvSpPr>
          <p:cNvPr id="7" name="TextBox 6"/>
          <p:cNvSpPr txBox="1"/>
          <p:nvPr/>
        </p:nvSpPr>
        <p:spPr>
          <a:xfrm>
            <a:off x="4971690" y="2401823"/>
            <a:ext cx="7220310" cy="936752"/>
          </a:xfrm>
          <a:prstGeom prst="rect">
            <a:avLst/>
          </a:prstGeom>
          <a:noFill/>
        </p:spPr>
        <p:txBody>
          <a:bodyPr wrap="none" lIns="0" rIns="0">
            <a:noAutofit/>
          </a:bodyPr>
          <a:lstStyle/>
          <a:p>
            <a:pPr algn="l"/>
            <a:r>
              <a:rPr sz="3400" b="0" i="0">
                <a:solidFill>
                  <a:srgbClr val="0A2240"/>
                </a:solidFill>
                <a:latin typeface="Arial"/>
              </a:rPr>
              <a:t>Thousands, fetched daily</a:t>
            </a:r>
          </a:p>
        </p:txBody>
      </p:sp>
      <p:sp>
        <p:nvSpPr>
          <p:cNvPr id="8" name="TextBox 7"/>
          <p:cNvSpPr txBox="1"/>
          <p:nvPr/>
        </p:nvSpPr>
        <p:spPr>
          <a:xfrm>
            <a:off x="457200" y="3612895"/>
            <a:ext cx="5943024" cy="936752"/>
          </a:xfrm>
          <a:prstGeom prst="rect">
            <a:avLst/>
          </a:prstGeom>
          <a:noFill/>
        </p:spPr>
        <p:txBody>
          <a:bodyPr wrap="none" lIns="0" rIns="0">
            <a:noAutofit/>
          </a:bodyPr>
          <a:lstStyle/>
          <a:p>
            <a:pPr algn="l"/>
            <a:r>
              <a:rPr sz="3400" b="0" i="0">
                <a:solidFill>
                  <a:srgbClr val="0A2240"/>
                </a:solidFill>
                <a:latin typeface="Arial"/>
              </a:rPr>
              <a:t>Is it about asylum?</a:t>
            </a:r>
          </a:p>
        </p:txBody>
      </p:sp>
      <p:sp>
        <p:nvSpPr>
          <p:cNvPr id="9" name="TextBox 8"/>
          <p:cNvSpPr txBox="1"/>
          <p:nvPr/>
        </p:nvSpPr>
        <p:spPr>
          <a:xfrm>
            <a:off x="4971690" y="3612895"/>
            <a:ext cx="5905579" cy="936752"/>
          </a:xfrm>
          <a:prstGeom prst="rect">
            <a:avLst/>
          </a:prstGeom>
          <a:noFill/>
        </p:spPr>
        <p:txBody>
          <a:bodyPr wrap="none" lIns="0" rIns="0">
            <a:noAutofit/>
          </a:bodyPr>
          <a:lstStyle/>
          <a:p>
            <a:pPr algn="l"/>
            <a:r>
              <a:rPr sz="3400" b="0" i="0">
                <a:solidFill>
                  <a:srgbClr val="0A2240"/>
                </a:solidFill>
                <a:latin typeface="Arial"/>
              </a:rPr>
              <a:t>A yes or a no each</a:t>
            </a:r>
          </a:p>
        </p:txBody>
      </p:sp>
      <p:sp>
        <p:nvSpPr>
          <p:cNvPr id="10" name="TextBox 9"/>
          <p:cNvSpPr txBox="1"/>
          <p:nvPr/>
        </p:nvSpPr>
        <p:spPr>
          <a:xfrm>
            <a:off x="457200" y="4823967"/>
            <a:ext cx="3984744" cy="936752"/>
          </a:xfrm>
          <a:prstGeom prst="rect">
            <a:avLst/>
          </a:prstGeom>
          <a:noFill/>
        </p:spPr>
        <p:txBody>
          <a:bodyPr wrap="none" lIns="0" rIns="0">
            <a:noAutofit/>
          </a:bodyPr>
          <a:lstStyle/>
          <a:p>
            <a:pPr algn="l"/>
            <a:r>
              <a:rPr sz="3400" b="0" i="0">
                <a:solidFill>
                  <a:srgbClr val="0A2240"/>
                </a:solidFill>
                <a:latin typeface="Arial"/>
              </a:rPr>
              <a:t>Case details</a:t>
            </a:r>
          </a:p>
        </p:txBody>
      </p:sp>
      <p:sp>
        <p:nvSpPr>
          <p:cNvPr id="11" name="TextBox 10"/>
          <p:cNvSpPr txBox="1"/>
          <p:nvPr/>
        </p:nvSpPr>
        <p:spPr>
          <a:xfrm>
            <a:off x="4971690" y="4823967"/>
            <a:ext cx="7220310" cy="936752"/>
          </a:xfrm>
          <a:prstGeom prst="rect">
            <a:avLst/>
          </a:prstGeom>
          <a:noFill/>
        </p:spPr>
        <p:txBody>
          <a:bodyPr wrap="none" lIns="0" rIns="0">
            <a:noAutofit/>
          </a:bodyPr>
          <a:lstStyle/>
          <a:p>
            <a:pPr algn="l"/>
            <a:r>
              <a:rPr sz="3400" b="0" i="0">
                <a:solidFill>
                  <a:srgbClr val="0A2240"/>
                </a:solidFill>
                <a:latin typeface="Arial"/>
              </a:rPr>
              <a:t>Country, outcome, more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Screenshots, Captured 21 Oct 2026</a:t>
            </a:r>
          </a:p>
        </p:txBody>
      </p:sp>
      <p:sp>
        <p:nvSpPr>
          <p:cNvPr id="3" name="TextBox 2"/>
          <p:cNvSpPr txBox="1"/>
          <p:nvPr/>
        </p:nvSpPr>
        <p:spPr>
          <a:xfrm>
            <a:off x="457200" y="1499616"/>
            <a:ext cx="5333779" cy="518159"/>
          </a:xfrm>
          <a:prstGeom prst="rect">
            <a:avLst/>
          </a:prstGeom>
          <a:noFill/>
        </p:spPr>
        <p:txBody>
          <a:bodyPr wrap="none" lIns="0" rIns="0">
            <a:noAutofit/>
          </a:bodyPr>
          <a:lstStyle/>
          <a:p>
            <a:pPr algn="l"/>
            <a:r>
              <a:rPr sz="3400" b="1" i="0">
                <a:solidFill>
                  <a:srgbClr val="0072CE"/>
                </a:solidFill>
                <a:latin typeface="Arial"/>
              </a:rPr>
              <a:t>Screenshot</a:t>
            </a:r>
          </a:p>
        </p:txBody>
      </p:sp>
      <p:sp>
        <p:nvSpPr>
          <p:cNvPr id="4" name="TextBox 3"/>
          <p:cNvSpPr txBox="1"/>
          <p:nvPr/>
        </p:nvSpPr>
        <p:spPr>
          <a:xfrm>
            <a:off x="6339619" y="1499616"/>
            <a:ext cx="4942462" cy="518159"/>
          </a:xfrm>
          <a:prstGeom prst="rect">
            <a:avLst/>
          </a:prstGeom>
          <a:noFill/>
        </p:spPr>
        <p:txBody>
          <a:bodyPr wrap="none" lIns="0" rIns="0">
            <a:noAutofit/>
          </a:bodyPr>
          <a:lstStyle/>
          <a:p>
            <a:pPr algn="l"/>
            <a:r>
              <a:rPr sz="3400" b="1" i="0">
                <a:solidFill>
                  <a:srgbClr val="0072CE"/>
                </a:solidFill>
                <a:latin typeface="Arial"/>
              </a:rPr>
              <a:t>Captured from</a:t>
            </a:r>
          </a:p>
        </p:txBody>
      </p:sp>
      <p:sp>
        <p:nvSpPr>
          <p:cNvPr id="5" name="Rectangle 4"/>
          <p:cNvSpPr/>
          <p:nvPr/>
        </p:nvSpPr>
        <p:spPr>
          <a:xfrm>
            <a:off x="457200" y="2072639"/>
            <a:ext cx="1044853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8055808" cy="452323"/>
          </a:xfrm>
          <a:prstGeom prst="rect">
            <a:avLst/>
          </a:prstGeom>
          <a:noFill/>
        </p:spPr>
        <p:txBody>
          <a:bodyPr wrap="none" lIns="0" rIns="0">
            <a:noAutofit/>
          </a:bodyPr>
          <a:lstStyle/>
          <a:p>
            <a:pPr algn="l"/>
            <a:r>
              <a:rPr sz="3400" b="0" i="0">
                <a:solidFill>
                  <a:srgbClr val="0A2240"/>
                </a:solidFill>
                <a:latin typeface="Arial"/>
              </a:rPr>
              <a:t>Homepage, editor, sign-in</a:t>
            </a:r>
          </a:p>
        </p:txBody>
      </p:sp>
      <p:sp>
        <p:nvSpPr>
          <p:cNvPr id="7" name="TextBox 6"/>
          <p:cNvSpPr txBox="1"/>
          <p:nvPr/>
        </p:nvSpPr>
        <p:spPr>
          <a:xfrm>
            <a:off x="6339619" y="2401823"/>
            <a:ext cx="4676299" cy="452323"/>
          </a:xfrm>
          <a:prstGeom prst="rect">
            <a:avLst/>
          </a:prstGeom>
          <a:noFill/>
        </p:spPr>
        <p:txBody>
          <a:bodyPr wrap="none" lIns="0" rIns="0">
            <a:noAutofit/>
          </a:bodyPr>
          <a:lstStyle/>
          <a:p>
            <a:pPr algn="l"/>
            <a:r>
              <a:rPr sz="3400" b="0" i="0">
                <a:solidFill>
                  <a:srgbClr val="0A2240"/>
                </a:solidFill>
                <a:latin typeface="Arial"/>
              </a:rPr>
              <a:t>supabase.com</a:t>
            </a:r>
          </a:p>
        </p:txBody>
      </p:sp>
      <p:sp>
        <p:nvSpPr>
          <p:cNvPr id="8" name="TextBox 7"/>
          <p:cNvSpPr txBox="1"/>
          <p:nvPr/>
        </p:nvSpPr>
        <p:spPr>
          <a:xfrm>
            <a:off x="457200" y="3128466"/>
            <a:ext cx="8131710" cy="452323"/>
          </a:xfrm>
          <a:prstGeom prst="rect">
            <a:avLst/>
          </a:prstGeom>
          <a:noFill/>
        </p:spPr>
        <p:txBody>
          <a:bodyPr wrap="none" lIns="0" rIns="0">
            <a:noAutofit/>
          </a:bodyPr>
          <a:lstStyle/>
          <a:p>
            <a:pPr algn="l"/>
            <a:r>
              <a:rPr sz="3400" b="0" i="0">
                <a:solidFill>
                  <a:srgbClr val="0A2240"/>
                </a:solidFill>
                <a:latin typeface="Arial"/>
              </a:rPr>
              <a:t>Two ways to make a table</a:t>
            </a:r>
          </a:p>
        </p:txBody>
      </p:sp>
      <p:sp>
        <p:nvSpPr>
          <p:cNvPr id="9" name="TextBox 8"/>
          <p:cNvSpPr txBox="1"/>
          <p:nvPr/>
        </p:nvSpPr>
        <p:spPr>
          <a:xfrm>
            <a:off x="6339619" y="3128466"/>
            <a:ext cx="5852381" cy="452323"/>
          </a:xfrm>
          <a:prstGeom prst="rect">
            <a:avLst/>
          </a:prstGeom>
          <a:noFill/>
        </p:spPr>
        <p:txBody>
          <a:bodyPr wrap="none" lIns="0" rIns="0">
            <a:noAutofit/>
          </a:bodyPr>
          <a:lstStyle/>
          <a:p>
            <a:pPr algn="l"/>
            <a:r>
              <a:rPr sz="3400" b="0" i="0">
                <a:solidFill>
                  <a:srgbClr val="0A2240"/>
                </a:solidFill>
                <a:latin typeface="Arial"/>
              </a:rPr>
              <a:t>supabase.com/docs</a:t>
            </a:r>
          </a:p>
        </p:txBody>
      </p:sp>
      <p:sp>
        <p:nvSpPr>
          <p:cNvPr id="10" name="TextBox 9"/>
          <p:cNvSpPr txBox="1"/>
          <p:nvPr/>
        </p:nvSpPr>
        <p:spPr>
          <a:xfrm>
            <a:off x="457200" y="3855109"/>
            <a:ext cx="7313652" cy="452323"/>
          </a:xfrm>
          <a:prstGeom prst="rect">
            <a:avLst/>
          </a:prstGeom>
          <a:noFill/>
        </p:spPr>
        <p:txBody>
          <a:bodyPr wrap="none" lIns="0" rIns="0">
            <a:noAutofit/>
          </a:bodyPr>
          <a:lstStyle/>
          <a:p>
            <a:pPr algn="l"/>
            <a:r>
              <a:rPr sz="3400" b="0" i="0">
                <a:solidFill>
                  <a:srgbClr val="0A2240"/>
                </a:solidFill>
                <a:latin typeface="Arial"/>
              </a:rPr>
              <a:t>Claude and MCP setup</a:t>
            </a:r>
          </a:p>
        </p:txBody>
      </p:sp>
      <p:sp>
        <p:nvSpPr>
          <p:cNvPr id="11" name="TextBox 10"/>
          <p:cNvSpPr txBox="1"/>
          <p:nvPr/>
        </p:nvSpPr>
        <p:spPr>
          <a:xfrm>
            <a:off x="6339619" y="3855109"/>
            <a:ext cx="5852381" cy="452323"/>
          </a:xfrm>
          <a:prstGeom prst="rect">
            <a:avLst/>
          </a:prstGeom>
          <a:noFill/>
        </p:spPr>
        <p:txBody>
          <a:bodyPr wrap="none" lIns="0" rIns="0">
            <a:noAutofit/>
          </a:bodyPr>
          <a:lstStyle/>
          <a:p>
            <a:pPr algn="l"/>
            <a:r>
              <a:rPr sz="3400" b="0" i="0">
                <a:solidFill>
                  <a:srgbClr val="0A2240"/>
                </a:solidFill>
                <a:latin typeface="Arial"/>
              </a:rPr>
              <a:t>supabase.com/docs</a:t>
            </a:r>
          </a:p>
        </p:txBody>
      </p:sp>
      <p:sp>
        <p:nvSpPr>
          <p:cNvPr id="12" name="TextBox 11"/>
          <p:cNvSpPr txBox="1"/>
          <p:nvPr/>
        </p:nvSpPr>
        <p:spPr>
          <a:xfrm>
            <a:off x="457200" y="4581752"/>
            <a:ext cx="5333779" cy="452323"/>
          </a:xfrm>
          <a:prstGeom prst="rect">
            <a:avLst/>
          </a:prstGeom>
          <a:noFill/>
        </p:spPr>
        <p:txBody>
          <a:bodyPr wrap="none" lIns="0" rIns="0">
            <a:noAutofit/>
          </a:bodyPr>
          <a:lstStyle/>
          <a:p>
            <a:pPr algn="l"/>
            <a:r>
              <a:rPr sz="3400" b="0" i="0">
                <a:solidFill>
                  <a:srgbClr val="0A2240"/>
                </a:solidFill>
                <a:latin typeface="Arial"/>
              </a:rPr>
              <a:t>Security warning</a:t>
            </a:r>
          </a:p>
        </p:txBody>
      </p:sp>
      <p:sp>
        <p:nvSpPr>
          <p:cNvPr id="13" name="TextBox 12"/>
          <p:cNvSpPr txBox="1"/>
          <p:nvPr/>
        </p:nvSpPr>
        <p:spPr>
          <a:xfrm>
            <a:off x="6339619" y="4581752"/>
            <a:ext cx="5852381" cy="452323"/>
          </a:xfrm>
          <a:prstGeom prst="rect">
            <a:avLst/>
          </a:prstGeom>
          <a:noFill/>
        </p:spPr>
        <p:txBody>
          <a:bodyPr wrap="none" lIns="0" rIns="0">
            <a:noAutofit/>
          </a:bodyPr>
          <a:lstStyle/>
          <a:p>
            <a:pPr algn="l"/>
            <a:r>
              <a:rPr sz="3400" b="0" i="0">
                <a:solidFill>
                  <a:srgbClr val="0A2240"/>
                </a:solidFill>
                <a:latin typeface="Arial"/>
              </a:rPr>
              <a:t>supabase.com/docs</a:t>
            </a:r>
          </a:p>
        </p:txBody>
      </p:sp>
      <p:sp>
        <p:nvSpPr>
          <p:cNvPr id="14" name="TextBox 13"/>
          <p:cNvSpPr txBox="1"/>
          <p:nvPr/>
        </p:nvSpPr>
        <p:spPr>
          <a:xfrm>
            <a:off x="457200" y="5308395"/>
            <a:ext cx="5333779" cy="452323"/>
          </a:xfrm>
          <a:prstGeom prst="rect">
            <a:avLst/>
          </a:prstGeom>
          <a:noFill/>
        </p:spPr>
        <p:txBody>
          <a:bodyPr wrap="none" lIns="0" rIns="0">
            <a:noAutofit/>
          </a:bodyPr>
          <a:lstStyle/>
          <a:p>
            <a:pPr algn="l"/>
            <a:r>
              <a:rPr sz="3400" b="0" i="0">
                <a:solidFill>
                  <a:srgbClr val="0A2240"/>
                </a:solidFill>
                <a:latin typeface="Arial"/>
              </a:rPr>
              <a:t>Pricing</a:t>
            </a:r>
          </a:p>
        </p:txBody>
      </p:sp>
      <p:sp>
        <p:nvSpPr>
          <p:cNvPr id="15" name="TextBox 14"/>
          <p:cNvSpPr txBox="1"/>
          <p:nvPr/>
        </p:nvSpPr>
        <p:spPr>
          <a:xfrm>
            <a:off x="6339619" y="5308395"/>
            <a:ext cx="5852381" cy="452323"/>
          </a:xfrm>
          <a:prstGeom prst="rect">
            <a:avLst/>
          </a:prstGeom>
          <a:noFill/>
        </p:spPr>
        <p:txBody>
          <a:bodyPr wrap="none" lIns="0" rIns="0">
            <a:noAutofit/>
          </a:bodyPr>
          <a:lstStyle/>
          <a:p>
            <a:pPr algn="l"/>
            <a:r>
              <a:rPr sz="3400" b="0" i="0">
                <a:solidFill>
                  <a:srgbClr val="0A2240"/>
                </a:solidFill>
                <a:latin typeface="Arial"/>
              </a:rPr>
              <a:t>supabase.com/pricing</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Your First Session With Claude</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4" name="TextBox 3"/>
          <p:cNvSpPr txBox="1"/>
          <p:nvPr/>
        </p:nvSpPr>
        <p:spPr>
          <a:xfrm>
            <a:off x="1461983" y="1499616"/>
            <a:ext cx="10730017" cy="640080"/>
          </a:xfrm>
          <a:prstGeom prst="rect">
            <a:avLst/>
          </a:prstGeom>
          <a:noFill/>
        </p:spPr>
        <p:txBody>
          <a:bodyPr wrap="none" lIns="0" rIns="0">
            <a:noAutofit/>
          </a:bodyPr>
          <a:lstStyle/>
          <a:p>
            <a:pPr algn="l"/>
            <a:r>
              <a:rPr sz="4200" b="1" i="0">
                <a:solidFill>
                  <a:srgbClr val="0072CE"/>
                </a:solidFill>
                <a:latin typeface="Arial"/>
              </a:rPr>
              <a:t>Connect Claude to Supabase</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One claude mcp add command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7" name="TextBox 6"/>
          <p:cNvSpPr txBox="1"/>
          <p:nvPr/>
        </p:nvSpPr>
        <p:spPr>
          <a:xfrm>
            <a:off x="1461983" y="3011424"/>
            <a:ext cx="10730017" cy="640080"/>
          </a:xfrm>
          <a:prstGeom prst="rect">
            <a:avLst/>
          </a:prstGeom>
          <a:noFill/>
        </p:spPr>
        <p:txBody>
          <a:bodyPr wrap="none" lIns="0" rIns="0">
            <a:noAutofit/>
          </a:bodyPr>
          <a:lstStyle/>
          <a:p>
            <a:pPr algn="l"/>
            <a:r>
              <a:rPr sz="4200" b="1" i="0">
                <a:solidFill>
                  <a:srgbClr val="0072CE"/>
                </a:solidFill>
                <a:latin typeface="Arial"/>
              </a:rPr>
              <a:t>Describe the table you need</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In plain words; Claude writes the SQL</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0072CE"/>
                </a:solidFill>
                <a:latin typeface="Arial"/>
              </a:rPr>
              <a:t>Read it, then approve it</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Check that RLS is switched on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19</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