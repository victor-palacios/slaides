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entry-level tour of Supabase: what it is, what its pieces do, and how a real project uses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app that remembers anything — a login, a saved list, an uploaded photo — has to keep that information somewhere. That somewhere is what this deck is about.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backend is the part of an app you never see: the place where data is stored and the rules about who may touch it are enforced.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Supabase's own homepage. It starts from a Postgres database and adds the other things an app needs, all inside one project.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pieces matter to start with: a database holding tables of your data, auth for who is signed in, storage for files people upload, and an API that your web page uses to ask for any of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database is a set of organised tables that your app can read from and write 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table in Supabase's own editor. Each row is one record, each column is one field such as a name or an email, and you can think of it as a spreadsheet that enforces rules.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Almost everything an app does with a table is one of four things: add a row, find rows, change a row, or delete 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Sign-in comes built in. Email and password, or signing in with Google, GitHub and others, without you writing any login code yourself.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is for files rather than rows: profile photos, uploaded PDFs, and anything too big to sit in a table — protected by the same kind of access rules as your data.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API is the way your web page talks to the database over the internet, asking for rows or sending new ones.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a service like this you would build and run a server yourself. With Supabase you set up a project and the server side is handled for you.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Supabase's own documentation, and the red box is its warning: a table without row level security can be read and written by anyone who can reach it. Turning it on is the one setting you must not skip.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settings make it concrete. With security off, a visitor gets every row. Switched on with no policy, they get nothing. Switched on with an owner policy, each person sees only their own rows.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Starting costs nothing. The free plan on the pricing page includes a five hundred megabyte database and up to fifty thousand monthly active users, which is far more than a class project needs.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real example: the ninth_circuit project keeps its court opinions in Supabase — thousands of them, fetched daily — along with a yes-or-no for whether each concerns asylum and the case details pulled out of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try it: make an account on the free plan, create a project, which gives you a database straight away, then make one table and add a row by hand.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screenshot in this deck was captured on the twenty-first of October 2026 from the pages listed here, and each slide's Source link opens the exact page.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for your own project: what should it remember? That answer is your first table.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lidekit · Title Slid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914400" y="2971800"/>
            <a:ext cx="11277600" cy="914400"/>
          </a:xfrm>
          <a:prstGeom prst="rect">
            <a:avLst/>
          </a:prstGeom>
          <a:noFill/>
        </p:spPr>
        <p:txBody>
          <a:bodyPr wrap="none" lIns="0" rIns="0">
            <a:noAutofit/>
          </a:bodyPr>
          <a:lstStyle/>
          <a:p>
            <a:pPr algn="l"/>
            <a:r>
              <a:rPr sz="6000" b="1" i="0">
                <a:solidFill>
                  <a:srgbClr val="0072CE"/>
                </a:solidFill>
                <a:latin typeface="Arial"/>
              </a:rPr>
              <a:t>Quarterly Business Review</a:t>
            </a:r>
          </a:p>
        </p:txBody>
      </p:sp>
    </p:spTree>
    <p:extLst>
      <p:ext uri="{BB962C8B-B14F-4D97-AF65-F5344CB8AC3E}">
        <p14:creationId xmlns:p14="http://schemas.microsoft.com/office/powerpoint/2010/main" val="1212999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slidekit · Icon Text Row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Drives Us</a:t>
            </a:r>
          </a:p>
        </p:txBody>
      </p:sp>
      <p:sp>
        <p:nvSpPr>
          <p:cNvPr id="6" name="TextBox 5"/>
          <p:cNvSpPr/>
          <p:nvPr>
            <p:ph type="body" id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Excellence</a:t>
            </a:r>
          </a:p>
        </p:txBody>
      </p:sp>
      <p:sp>
        <p:nvSpPr>
          <p:cNvPr id="7" name="TextBox 6"/>
          <p:cNvSpPr/>
          <p:nvPr>
            <p:ph type="body" idx="2"/>
          </p:nvPr>
        </p:nvSpPr>
        <p:spPr>
          <a:xfrm>
            <a:off x="457200" y="2109215"/>
            <a:ext cx="11734800" cy="627889"/>
          </a:xfrm>
          <a:prstGeom prst="rect">
            <a:avLst/>
          </a:prstGeom>
          <a:noFill/>
        </p:spPr>
        <p:txBody>
          <a:bodyPr wrap="none" lIns="0" rIns="0">
            <a:noAutofit/>
          </a:bodyPr>
          <a:lstStyle/>
          <a:p>
            <a:pPr algn="l"/>
            <a:r>
              <a:rPr sz="3400" b="0" i="0">
                <a:solidFill>
                  <a:srgbClr val="0A2240"/>
                </a:solidFill>
                <a:latin typeface="Arial"/>
              </a:rPr>
              <a:t>High standards in every deliverable we ship.</a:t>
            </a:r>
          </a:p>
        </p:txBody>
      </p:sp>
      <p:sp>
        <p:nvSpPr>
          <p:cNvPr id="8" name="TextBox 7"/>
          <p:cNvSpPr/>
          <p:nvPr>
            <p:ph type="body" idx="3"/>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Integrity</a:t>
            </a:r>
          </a:p>
        </p:txBody>
      </p:sp>
      <p:sp>
        <p:nvSpPr>
          <p:cNvPr id="9" name="TextBox 8"/>
          <p:cNvSpPr/>
          <p:nvPr>
            <p:ph type="body" idx="4"/>
          </p:nvPr>
        </p:nvSpPr>
        <p:spPr>
          <a:xfrm>
            <a:off x="457200" y="3621023"/>
            <a:ext cx="11333440" cy="627889"/>
          </a:xfrm>
          <a:prstGeom prst="rect">
            <a:avLst/>
          </a:prstGeom>
          <a:noFill/>
        </p:spPr>
        <p:txBody>
          <a:bodyPr wrap="none" lIns="0" rIns="0">
            <a:noAutofit/>
          </a:bodyPr>
          <a:lstStyle/>
          <a:p>
            <a:pPr algn="l"/>
            <a:r>
              <a:rPr sz="3400" b="0" i="0">
                <a:solidFill>
                  <a:srgbClr val="0A2240"/>
                </a:solidFill>
                <a:latin typeface="Arial"/>
              </a:rPr>
              <a:t>Transparent and honest in all we do.</a:t>
            </a:r>
          </a:p>
        </p:txBody>
      </p:sp>
      <p:sp>
        <p:nvSpPr>
          <p:cNvPr id="10" name="TextBox 9"/>
          <p:cNvSpPr/>
          <p:nvPr>
            <p:ph type="body" idx="5"/>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Innovation</a:t>
            </a:r>
          </a:p>
        </p:txBody>
      </p:sp>
      <p:sp>
        <p:nvSpPr>
          <p:cNvPr id="11" name="TextBox 10"/>
          <p:cNvSpPr/>
          <p:nvPr>
            <p:ph type="body" idx="6"/>
          </p:nvPr>
        </p:nvSpPr>
        <p:spPr>
          <a:xfrm>
            <a:off x="457200" y="5132831"/>
            <a:ext cx="11734800" cy="627889"/>
          </a:xfrm>
          <a:prstGeom prst="rect">
            <a:avLst/>
          </a:prstGeom>
          <a:noFill/>
        </p:spPr>
        <p:txBody>
          <a:bodyPr wrap="none" lIns="0" rIns="0">
            <a:noAutofit/>
          </a:bodyPr>
          <a:lstStyle/>
          <a:p>
            <a:pPr algn="l"/>
            <a:r>
              <a:rPr sz="3400" b="0" i="0">
                <a:solidFill>
                  <a:srgbClr val="0A2240"/>
                </a:solidFill>
                <a:latin typeface="Arial"/>
              </a:rPr>
              <a:t>Investing in ideas that shape tomorrow.</a:t>
            </a:r>
          </a:p>
        </p:txBody>
      </p:sp>
    </p:spTree>
    <p:extLst>
      <p:ext uri="{BB962C8B-B14F-4D97-AF65-F5344CB8AC3E}">
        <p14:creationId xmlns:p14="http://schemas.microsoft.com/office/powerpoint/2010/main" val="1212999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slidekit · Stat Callou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By the Numbers</a:t>
            </a:r>
          </a:p>
        </p:txBody>
      </p:sp>
      <p:sp>
        <p:nvSpPr>
          <p:cNvPr id="6" name="TextBox 5"/>
          <p:cNvSpPr/>
          <p:nvPr>
            <p:ph type="body" idx="1"/>
          </p:nvPr>
        </p:nvSpPr>
        <p:spPr>
          <a:xfrm>
            <a:off x="457200" y="2776728"/>
            <a:ext cx="3576320" cy="914400"/>
          </a:xfrm>
          <a:prstGeom prst="rect">
            <a:avLst/>
          </a:prstGeom>
          <a:noFill/>
        </p:spPr>
        <p:txBody>
          <a:bodyPr wrap="none" lIns="0" rIns="0">
            <a:noAutofit/>
          </a:bodyPr>
          <a:lstStyle/>
          <a:p>
            <a:pPr algn="l"/>
            <a:r>
              <a:rPr sz="6000" b="1" i="0">
                <a:solidFill>
                  <a:srgbClr val="0072CE"/>
                </a:solidFill>
                <a:latin typeface="Arial"/>
              </a:rPr>
              <a:t>127%</a:t>
            </a:r>
          </a:p>
        </p:txBody>
      </p:sp>
      <p:sp>
        <p:nvSpPr>
          <p:cNvPr id="7" name="TextBox 6"/>
          <p:cNvSpPr/>
          <p:nvPr>
            <p:ph type="body" idx="2"/>
          </p:nvPr>
        </p:nvSpPr>
        <p:spPr>
          <a:xfrm>
            <a:off x="457200" y="3965448"/>
            <a:ext cx="5048051" cy="518159"/>
          </a:xfrm>
          <a:prstGeom prst="rect">
            <a:avLst/>
          </a:prstGeom>
          <a:noFill/>
        </p:spPr>
        <p:txBody>
          <a:bodyPr wrap="none" lIns="0" rIns="0">
            <a:noAutofit/>
          </a:bodyPr>
          <a:lstStyle/>
          <a:p>
            <a:pPr algn="l"/>
            <a:r>
              <a:rPr sz="3400" b="0" i="0">
                <a:solidFill>
                  <a:srgbClr val="0A2240"/>
                </a:solidFill>
                <a:latin typeface="Arial"/>
              </a:rPr>
              <a:t>Revenue Target</a:t>
            </a:r>
          </a:p>
        </p:txBody>
      </p:sp>
      <p:sp>
        <p:nvSpPr>
          <p:cNvPr id="8" name="TextBox 7"/>
          <p:cNvSpPr/>
          <p:nvPr>
            <p:ph type="body" idx="3"/>
          </p:nvPr>
        </p:nvSpPr>
        <p:spPr>
          <a:xfrm>
            <a:off x="4307840" y="2776728"/>
            <a:ext cx="3576320" cy="914400"/>
          </a:xfrm>
          <a:prstGeom prst="rect">
            <a:avLst/>
          </a:prstGeom>
          <a:noFill/>
        </p:spPr>
        <p:txBody>
          <a:bodyPr wrap="none" lIns="0" rIns="0">
            <a:noAutofit/>
          </a:bodyPr>
          <a:lstStyle/>
          <a:p>
            <a:pPr algn="l"/>
            <a:r>
              <a:rPr sz="6000" b="1" i="0">
                <a:solidFill>
                  <a:srgbClr val="0072CE"/>
                </a:solidFill>
                <a:latin typeface="Arial"/>
              </a:rPr>
              <a:t>94%</a:t>
            </a:r>
          </a:p>
        </p:txBody>
      </p:sp>
      <p:sp>
        <p:nvSpPr>
          <p:cNvPr id="9" name="TextBox 8"/>
          <p:cNvSpPr/>
          <p:nvPr>
            <p:ph type="body" idx="4"/>
          </p:nvPr>
        </p:nvSpPr>
        <p:spPr>
          <a:xfrm>
            <a:off x="4307840" y="3965448"/>
            <a:ext cx="4791670" cy="518159"/>
          </a:xfrm>
          <a:prstGeom prst="rect">
            <a:avLst/>
          </a:prstGeom>
          <a:noFill/>
        </p:spPr>
        <p:txBody>
          <a:bodyPr wrap="none" lIns="0" rIns="0">
            <a:noAutofit/>
          </a:bodyPr>
          <a:lstStyle/>
          <a:p>
            <a:pPr algn="l"/>
            <a:r>
              <a:rPr sz="3400" b="0" i="0">
                <a:solidFill>
                  <a:srgbClr val="0A2240"/>
                </a:solidFill>
                <a:latin typeface="Arial"/>
              </a:rPr>
              <a:t>Retention Rate</a:t>
            </a:r>
          </a:p>
        </p:txBody>
      </p:sp>
      <p:sp>
        <p:nvSpPr>
          <p:cNvPr id="10" name="TextBox 9"/>
          <p:cNvSpPr/>
          <p:nvPr>
            <p:ph type="body" idx="5"/>
          </p:nvPr>
        </p:nvSpPr>
        <p:spPr>
          <a:xfrm>
            <a:off x="8158480" y="2776728"/>
            <a:ext cx="4033520" cy="914400"/>
          </a:xfrm>
          <a:prstGeom prst="rect">
            <a:avLst/>
          </a:prstGeom>
          <a:noFill/>
        </p:spPr>
        <p:txBody>
          <a:bodyPr wrap="none" lIns="0" rIns="0">
            <a:noAutofit/>
          </a:bodyPr>
          <a:lstStyle/>
          <a:p>
            <a:pPr algn="l"/>
            <a:r>
              <a:rPr sz="6000" b="1" i="0">
                <a:solidFill>
                  <a:srgbClr val="0072CE"/>
                </a:solidFill>
                <a:latin typeface="Arial"/>
              </a:rPr>
              <a:t>48 NPS</a:t>
            </a:r>
          </a:p>
        </p:txBody>
      </p:sp>
      <p:sp>
        <p:nvSpPr>
          <p:cNvPr id="11" name="TextBox 10"/>
          <p:cNvSpPr/>
          <p:nvPr>
            <p:ph type="body" idx="6"/>
          </p:nvPr>
        </p:nvSpPr>
        <p:spPr>
          <a:xfrm>
            <a:off x="8158480" y="3965448"/>
            <a:ext cx="4033520" cy="518159"/>
          </a:xfrm>
          <a:prstGeom prst="rect">
            <a:avLst/>
          </a:prstGeom>
          <a:noFill/>
        </p:spPr>
        <p:txBody>
          <a:bodyPr wrap="none" lIns="0" rIns="0">
            <a:noAutofit/>
          </a:bodyPr>
          <a:lstStyle/>
          <a:p>
            <a:pPr algn="l"/>
            <a:r>
              <a:rPr sz="3400" b="0" i="0">
                <a:solidFill>
                  <a:srgbClr val="0A2240"/>
                </a:solidFill>
                <a:latin typeface="Arial"/>
              </a:rPr>
              <a:t>Net Promoter</a:t>
            </a:r>
          </a:p>
        </p:txBody>
      </p:sp>
    </p:spTree>
    <p:extLst>
      <p:ext uri="{BB962C8B-B14F-4D97-AF65-F5344CB8AC3E}">
        <p14:creationId xmlns:p14="http://schemas.microsoft.com/office/powerpoint/2010/main" val="1212999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slidekit · Comparison Column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Side-by-Side Evaluation</a:t>
            </a:r>
          </a:p>
        </p:txBody>
      </p:sp>
      <p:sp>
        <p:nvSpPr>
          <p:cNvPr id="6" name="TextBox 5"/>
          <p:cNvSpPr/>
          <p:nvPr>
            <p:ph type="body" idx="1"/>
          </p:nvPr>
        </p:nvSpPr>
        <p:spPr>
          <a:xfrm>
            <a:off x="457200" y="1499616"/>
            <a:ext cx="5558115" cy="621791"/>
          </a:xfrm>
          <a:prstGeom prst="rect">
            <a:avLst/>
          </a:prstGeom>
          <a:noFill/>
        </p:spPr>
        <p:txBody>
          <a:bodyPr wrap="none" lIns="0" rIns="0">
            <a:noAutofit/>
          </a:bodyPr>
          <a:lstStyle/>
          <a:p>
            <a:pPr algn="l"/>
            <a:r>
              <a:rPr sz="3400" b="1" i="0">
                <a:solidFill>
                  <a:srgbClr val="0072CE"/>
                </a:solidFill>
                <a:latin typeface="Arial"/>
              </a:rPr>
              <a:t>Legacy Platform</a:t>
            </a:r>
          </a:p>
        </p:txBody>
      </p:sp>
      <p:sp>
        <p:nvSpPr>
          <p:cNvPr id="7" name="TextBox 6"/>
          <p:cNvSpPr/>
          <p:nvPr>
            <p:ph type="body" idx="2"/>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Modern Stack</a:t>
            </a:r>
          </a:p>
        </p:txBody>
      </p:sp>
      <p:sp>
        <p:nvSpPr>
          <p:cNvPr id="8" name="TextBox 7"/>
          <p:cNvSpPr/>
          <p:nvPr>
            <p:ph type="body" idx="3"/>
          </p:nvPr>
        </p:nvSpPr>
        <p:spPr>
          <a:xfrm>
            <a:off x="457200" y="2395727"/>
            <a:ext cx="6518870" cy="847344"/>
          </a:xfrm>
          <a:prstGeom prst="rect">
            <a:avLst/>
          </a:prstGeom>
          <a:noFill/>
        </p:spPr>
        <p:txBody>
          <a:bodyPr wrap="none" lIns="0" rIns="0">
            <a:noAutofit/>
          </a:bodyPr>
          <a:lstStyle/>
          <a:p>
            <a:pPr algn="l"/>
            <a:r>
              <a:rPr sz="3400" b="0" i="0">
                <a:solidFill>
                  <a:srgbClr val="0A2240"/>
                </a:solidFill>
                <a:latin typeface="Arial"/>
              </a:rPr>
              <a:t>Deploy time: 4 hours</a:t>
            </a:r>
          </a:p>
        </p:txBody>
      </p:sp>
      <p:sp>
        <p:nvSpPr>
          <p:cNvPr id="9" name="TextBox 8"/>
          <p:cNvSpPr/>
          <p:nvPr>
            <p:ph type="body" idx="4"/>
          </p:nvPr>
        </p:nvSpPr>
        <p:spPr>
          <a:xfrm>
            <a:off x="6233160" y="2395727"/>
            <a:ext cx="5903892" cy="847344"/>
          </a:xfrm>
          <a:prstGeom prst="rect">
            <a:avLst/>
          </a:prstGeom>
          <a:noFill/>
        </p:spPr>
        <p:txBody>
          <a:bodyPr wrap="none" lIns="0" rIns="0">
            <a:noAutofit/>
          </a:bodyPr>
          <a:lstStyle/>
          <a:p>
            <a:pPr algn="l"/>
            <a:r>
              <a:rPr sz="3400" b="0" i="0">
                <a:solidFill>
                  <a:srgbClr val="0A2240"/>
                </a:solidFill>
                <a:latin typeface="Arial"/>
              </a:rPr>
              <a:t>Deploy time: 8 min</a:t>
            </a:r>
          </a:p>
        </p:txBody>
      </p:sp>
      <p:sp>
        <p:nvSpPr>
          <p:cNvPr id="10" name="TextBox 9"/>
          <p:cNvSpPr/>
          <p:nvPr>
            <p:ph type="body" idx="5"/>
          </p:nvPr>
        </p:nvSpPr>
        <p:spPr>
          <a:xfrm>
            <a:off x="457200" y="3517391"/>
            <a:ext cx="5501640" cy="847344"/>
          </a:xfrm>
          <a:prstGeom prst="rect">
            <a:avLst/>
          </a:prstGeom>
          <a:noFill/>
        </p:spPr>
        <p:txBody>
          <a:bodyPr wrap="none" lIns="0" rIns="0">
            <a:noAutofit/>
          </a:bodyPr>
          <a:lstStyle/>
          <a:p>
            <a:pPr algn="l"/>
            <a:r>
              <a:rPr sz="3400" b="0" i="0">
                <a:solidFill>
                  <a:srgbClr val="0A2240"/>
                </a:solidFill>
                <a:latin typeface="Arial"/>
              </a:rPr>
              <a:t>Manual scaling</a:t>
            </a:r>
          </a:p>
        </p:txBody>
      </p:sp>
      <p:sp>
        <p:nvSpPr>
          <p:cNvPr id="11" name="TextBox 10"/>
          <p:cNvSpPr/>
          <p:nvPr>
            <p:ph type="body" idx="6"/>
          </p:nvPr>
        </p:nvSpPr>
        <p:spPr>
          <a:xfrm>
            <a:off x="6233160" y="3517391"/>
            <a:ext cx="5501640" cy="847344"/>
          </a:xfrm>
          <a:prstGeom prst="rect">
            <a:avLst/>
          </a:prstGeom>
          <a:noFill/>
        </p:spPr>
        <p:txBody>
          <a:bodyPr wrap="none" lIns="0" rIns="0">
            <a:noAutofit/>
          </a:bodyPr>
          <a:lstStyle/>
          <a:p>
            <a:pPr algn="l"/>
            <a:r>
              <a:rPr sz="3400" b="0" i="0">
                <a:solidFill>
                  <a:srgbClr val="0A2240"/>
                </a:solidFill>
                <a:latin typeface="Arial"/>
              </a:rPr>
              <a:t>Auto-scales fast</a:t>
            </a:r>
          </a:p>
        </p:txBody>
      </p:sp>
      <p:sp>
        <p:nvSpPr>
          <p:cNvPr id="12" name="TextBox 11"/>
          <p:cNvSpPr/>
          <p:nvPr>
            <p:ph type="body" idx="7"/>
          </p:nvPr>
        </p:nvSpPr>
        <p:spPr>
          <a:xfrm>
            <a:off x="457200" y="4639055"/>
            <a:ext cx="6940888" cy="847344"/>
          </a:xfrm>
          <a:prstGeom prst="rect">
            <a:avLst/>
          </a:prstGeom>
          <a:noFill/>
        </p:spPr>
        <p:txBody>
          <a:bodyPr wrap="none" lIns="0" rIns="0">
            <a:noAutofit/>
          </a:bodyPr>
          <a:lstStyle/>
          <a:p>
            <a:pPr algn="l"/>
            <a:r>
              <a:rPr sz="3400" b="0" i="0">
                <a:solidFill>
                  <a:srgbClr val="0A2240"/>
                </a:solidFill>
                <a:latin typeface="Arial"/>
              </a:rPr>
              <a:t>On-premise; high cost</a:t>
            </a:r>
          </a:p>
        </p:txBody>
      </p:sp>
      <p:sp>
        <p:nvSpPr>
          <p:cNvPr id="13" name="TextBox 12"/>
          <p:cNvSpPr/>
          <p:nvPr>
            <p:ph type="body" idx="8"/>
          </p:nvPr>
        </p:nvSpPr>
        <p:spPr>
          <a:xfrm>
            <a:off x="6233160" y="4639055"/>
            <a:ext cx="5958840" cy="847344"/>
          </a:xfrm>
          <a:prstGeom prst="rect">
            <a:avLst/>
          </a:prstGeom>
          <a:noFill/>
        </p:spPr>
        <p:txBody>
          <a:bodyPr wrap="none" lIns="0" rIns="0">
            <a:noAutofit/>
          </a:bodyPr>
          <a:lstStyle/>
          <a:p>
            <a:pPr algn="l"/>
            <a:r>
              <a:rPr sz="3400" b="0" i="0">
                <a:solidFill>
                  <a:srgbClr val="0A2240"/>
                </a:solidFill>
                <a:latin typeface="Arial"/>
              </a:rPr>
              <a:t>Cloud-native; low cost</a:t>
            </a:r>
          </a:p>
        </p:txBody>
      </p:sp>
    </p:spTree>
    <p:extLst>
      <p:ext uri="{BB962C8B-B14F-4D97-AF65-F5344CB8AC3E}">
        <p14:creationId xmlns:p14="http://schemas.microsoft.com/office/powerpoint/2010/main" val="1212999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slidekit · Timelin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Key Milestones</a:t>
            </a:r>
          </a:p>
        </p:txBody>
      </p:sp>
      <p:sp>
        <p:nvSpPr>
          <p:cNvPr id="6" name="TextBox 5"/>
          <p:cNvSpPr/>
          <p:nvPr>
            <p:ph type="body" idx="1"/>
          </p:nvPr>
        </p:nvSpPr>
        <p:spPr>
          <a:xfrm>
            <a:off x="457200" y="1499616"/>
            <a:ext cx="2613660" cy="381000"/>
          </a:xfrm>
          <a:prstGeom prst="rect">
            <a:avLst/>
          </a:prstGeom>
          <a:noFill/>
        </p:spPr>
        <p:txBody>
          <a:bodyPr wrap="none" lIns="0" rIns="0">
            <a:noAutofit/>
          </a:bodyPr>
          <a:lstStyle/>
          <a:p>
            <a:pPr algn="l"/>
            <a:r>
              <a:rPr sz="2500" b="1" i="0">
                <a:solidFill>
                  <a:srgbClr val="0072CE"/>
                </a:solidFill>
                <a:latin typeface="Arial"/>
              </a:rPr>
              <a:t>Q1</a:t>
            </a:r>
          </a:p>
        </p:txBody>
      </p:sp>
      <p:sp>
        <p:nvSpPr>
          <p:cNvPr id="7" name="TextBox 6"/>
          <p:cNvSpPr/>
          <p:nvPr>
            <p:ph type="body" idx="2"/>
          </p:nvPr>
        </p:nvSpPr>
        <p:spPr>
          <a:xfrm>
            <a:off x="457200" y="2154936"/>
            <a:ext cx="3943251" cy="518159"/>
          </a:xfrm>
          <a:prstGeom prst="rect">
            <a:avLst/>
          </a:prstGeom>
          <a:noFill/>
        </p:spPr>
        <p:txBody>
          <a:bodyPr wrap="none" lIns="0" rIns="0">
            <a:noAutofit/>
          </a:bodyPr>
          <a:lstStyle/>
          <a:p>
            <a:pPr algn="l"/>
            <a:r>
              <a:rPr sz="3400" b="1" i="0">
                <a:solidFill>
                  <a:srgbClr val="0A2240"/>
                </a:solidFill>
                <a:latin typeface="Arial"/>
              </a:rPr>
              <a:t>Foundation</a:t>
            </a:r>
          </a:p>
        </p:txBody>
      </p:sp>
      <p:sp>
        <p:nvSpPr>
          <p:cNvPr id="8" name="TextBox 7"/>
          <p:cNvSpPr/>
          <p:nvPr>
            <p:ph type="body" idx="3"/>
          </p:nvPr>
        </p:nvSpPr>
        <p:spPr>
          <a:xfrm>
            <a:off x="457200" y="2947415"/>
            <a:ext cx="2613660" cy="2813305"/>
          </a:xfrm>
          <a:prstGeom prst="rect">
            <a:avLst/>
          </a:prstGeom>
          <a:noFill/>
        </p:spPr>
        <p:txBody>
          <a:bodyPr wrap="square" lIns="0" rIns="0">
            <a:noAutofit/>
          </a:bodyPr>
          <a:lstStyle/>
          <a:p>
            <a:pPr algn="l"/>
            <a:r>
              <a:rPr sz="3400" b="0" i="0">
                <a:solidFill>
                  <a:srgbClr val="0A2240"/>
                </a:solidFill>
                <a:latin typeface="Arial"/>
              </a:rPr>
              <a:t>Cloud platform migration done.</a:t>
            </a:r>
          </a:p>
        </p:txBody>
      </p:sp>
      <p:sp>
        <p:nvSpPr>
          <p:cNvPr id="9" name="TextBox 8"/>
          <p:cNvSpPr/>
          <p:nvPr>
            <p:ph type="body" idx="4"/>
          </p:nvPr>
        </p:nvSpPr>
        <p:spPr>
          <a:xfrm>
            <a:off x="3345180" y="1499616"/>
            <a:ext cx="2613660" cy="381000"/>
          </a:xfrm>
          <a:prstGeom prst="rect">
            <a:avLst/>
          </a:prstGeom>
          <a:noFill/>
        </p:spPr>
        <p:txBody>
          <a:bodyPr wrap="none" lIns="0" rIns="0">
            <a:noAutofit/>
          </a:bodyPr>
          <a:lstStyle/>
          <a:p>
            <a:pPr algn="l"/>
            <a:r>
              <a:rPr sz="2500" b="1" i="0">
                <a:solidFill>
                  <a:srgbClr val="0072CE"/>
                </a:solidFill>
                <a:latin typeface="Arial"/>
              </a:rPr>
              <a:t>Q2</a:t>
            </a:r>
          </a:p>
        </p:txBody>
      </p:sp>
      <p:sp>
        <p:nvSpPr>
          <p:cNvPr id="10" name="TextBox 9"/>
          <p:cNvSpPr/>
          <p:nvPr>
            <p:ph type="body" idx="5"/>
          </p:nvPr>
        </p:nvSpPr>
        <p:spPr>
          <a:xfrm>
            <a:off x="3345180" y="2154936"/>
            <a:ext cx="3983057" cy="518159"/>
          </a:xfrm>
          <a:prstGeom prst="rect">
            <a:avLst/>
          </a:prstGeom>
          <a:noFill/>
        </p:spPr>
        <p:txBody>
          <a:bodyPr wrap="none" lIns="0" rIns="0">
            <a:noAutofit/>
          </a:bodyPr>
          <a:lstStyle/>
          <a:p>
            <a:pPr algn="l"/>
            <a:r>
              <a:rPr sz="3400" b="1" i="0">
                <a:solidFill>
                  <a:srgbClr val="0A2240"/>
                </a:solidFill>
                <a:latin typeface="Arial"/>
              </a:rPr>
              <a:t>API Launch</a:t>
            </a:r>
          </a:p>
        </p:txBody>
      </p:sp>
      <p:sp>
        <p:nvSpPr>
          <p:cNvPr id="11" name="TextBox 10"/>
          <p:cNvSpPr/>
          <p:nvPr>
            <p:ph type="body" idx="6"/>
          </p:nvPr>
        </p:nvSpPr>
        <p:spPr>
          <a:xfrm>
            <a:off x="3345180" y="2947415"/>
            <a:ext cx="2613660" cy="2813305"/>
          </a:xfrm>
          <a:prstGeom prst="rect">
            <a:avLst/>
          </a:prstGeom>
          <a:noFill/>
        </p:spPr>
        <p:txBody>
          <a:bodyPr wrap="square" lIns="0" rIns="0">
            <a:noAutofit/>
          </a:bodyPr>
          <a:lstStyle/>
          <a:p>
            <a:pPr algn="l"/>
            <a:r>
              <a:rPr sz="3400" b="0" i="0">
                <a:solidFill>
                  <a:srgbClr val="0A2240"/>
                </a:solidFill>
                <a:latin typeface="Arial"/>
              </a:rPr>
              <a:t>REST API live with 99.99% SLA.</a:t>
            </a:r>
          </a:p>
        </p:txBody>
      </p:sp>
      <p:sp>
        <p:nvSpPr>
          <p:cNvPr id="12" name="TextBox 11"/>
          <p:cNvSpPr/>
          <p:nvPr>
            <p:ph type="body" idx="7"/>
          </p:nvPr>
        </p:nvSpPr>
        <p:spPr>
          <a:xfrm>
            <a:off x="6233160" y="1499616"/>
            <a:ext cx="2613660" cy="381000"/>
          </a:xfrm>
          <a:prstGeom prst="rect">
            <a:avLst/>
          </a:prstGeom>
          <a:noFill/>
        </p:spPr>
        <p:txBody>
          <a:bodyPr wrap="none" lIns="0" rIns="0">
            <a:noAutofit/>
          </a:bodyPr>
          <a:lstStyle/>
          <a:p>
            <a:pPr algn="l"/>
            <a:r>
              <a:rPr sz="2500" b="1" i="0">
                <a:solidFill>
                  <a:srgbClr val="0072CE"/>
                </a:solidFill>
                <a:latin typeface="Arial"/>
              </a:rPr>
              <a:t>Q3</a:t>
            </a:r>
          </a:p>
        </p:txBody>
      </p:sp>
      <p:sp>
        <p:nvSpPr>
          <p:cNvPr id="13" name="TextBox 12"/>
          <p:cNvSpPr/>
          <p:nvPr>
            <p:ph type="body" idx="8"/>
          </p:nvPr>
        </p:nvSpPr>
        <p:spPr>
          <a:xfrm>
            <a:off x="6233160" y="2154936"/>
            <a:ext cx="2613660" cy="518159"/>
          </a:xfrm>
          <a:prstGeom prst="rect">
            <a:avLst/>
          </a:prstGeom>
          <a:noFill/>
        </p:spPr>
        <p:txBody>
          <a:bodyPr wrap="none" lIns="0" rIns="0">
            <a:noAutofit/>
          </a:bodyPr>
          <a:lstStyle/>
          <a:p>
            <a:pPr algn="l"/>
            <a:r>
              <a:rPr sz="3400" b="1" i="0">
                <a:solidFill>
                  <a:srgbClr val="0A2240"/>
                </a:solidFill>
                <a:latin typeface="Arial"/>
              </a:rPr>
              <a:t>AI Beta</a:t>
            </a:r>
          </a:p>
        </p:txBody>
      </p:sp>
      <p:sp>
        <p:nvSpPr>
          <p:cNvPr id="14" name="TextBox 13"/>
          <p:cNvSpPr/>
          <p:nvPr>
            <p:ph type="body" idx="9"/>
          </p:nvPr>
        </p:nvSpPr>
        <p:spPr>
          <a:xfrm>
            <a:off x="6233160" y="2947415"/>
            <a:ext cx="2613660" cy="2813305"/>
          </a:xfrm>
          <a:prstGeom prst="rect">
            <a:avLst/>
          </a:prstGeom>
          <a:noFill/>
        </p:spPr>
        <p:txBody>
          <a:bodyPr wrap="square" lIns="0" rIns="0">
            <a:noAutofit/>
          </a:bodyPr>
          <a:lstStyle/>
          <a:p>
            <a:pPr algn="l"/>
            <a:r>
              <a:rPr sz="3400" b="0" i="0">
                <a:solidFill>
                  <a:srgbClr val="0A2240"/>
                </a:solidFill>
                <a:latin typeface="Arial"/>
              </a:rPr>
              <a:t>AI features shipped to 500 partners.</a:t>
            </a:r>
          </a:p>
        </p:txBody>
      </p:sp>
      <p:sp>
        <p:nvSpPr>
          <p:cNvPr id="15" name="TextBox 14"/>
          <p:cNvSpPr/>
          <p:nvPr>
            <p:ph type="body" idx="13"/>
          </p:nvPr>
        </p:nvSpPr>
        <p:spPr>
          <a:xfrm>
            <a:off x="9121140" y="1499616"/>
            <a:ext cx="2613660" cy="381000"/>
          </a:xfrm>
          <a:prstGeom prst="rect">
            <a:avLst/>
          </a:prstGeom>
          <a:noFill/>
        </p:spPr>
        <p:txBody>
          <a:bodyPr wrap="none" lIns="0" rIns="0">
            <a:noAutofit/>
          </a:bodyPr>
          <a:lstStyle/>
          <a:p>
            <a:pPr algn="l"/>
            <a:r>
              <a:rPr sz="2500" b="1" i="0">
                <a:solidFill>
                  <a:srgbClr val="0072CE"/>
                </a:solidFill>
                <a:latin typeface="Arial"/>
              </a:rPr>
              <a:t>Q4</a:t>
            </a:r>
          </a:p>
        </p:txBody>
      </p:sp>
      <p:sp>
        <p:nvSpPr>
          <p:cNvPr id="16" name="TextBox 15"/>
          <p:cNvSpPr/>
          <p:nvPr>
            <p:ph type="body" idx="14"/>
          </p:nvPr>
        </p:nvSpPr>
        <p:spPr>
          <a:xfrm>
            <a:off x="9121140" y="2154936"/>
            <a:ext cx="3070860" cy="518159"/>
          </a:xfrm>
          <a:prstGeom prst="rect">
            <a:avLst/>
          </a:prstGeom>
          <a:noFill/>
        </p:spPr>
        <p:txBody>
          <a:bodyPr wrap="none" lIns="0" rIns="0">
            <a:noAutofit/>
          </a:bodyPr>
          <a:lstStyle/>
          <a:p>
            <a:pPr algn="l"/>
            <a:r>
              <a:rPr sz="3400" b="1" i="0">
                <a:solidFill>
                  <a:srgbClr val="0A2240"/>
                </a:solidFill>
                <a:latin typeface="Arial"/>
              </a:rPr>
              <a:t>Scale Out</a:t>
            </a:r>
          </a:p>
        </p:txBody>
      </p:sp>
      <p:sp>
        <p:nvSpPr>
          <p:cNvPr id="17" name="TextBox 16"/>
          <p:cNvSpPr/>
          <p:nvPr>
            <p:ph type="body" idx="15"/>
          </p:nvPr>
        </p:nvSpPr>
        <p:spPr>
          <a:xfrm>
            <a:off x="9121140" y="2947415"/>
            <a:ext cx="2613660" cy="2813305"/>
          </a:xfrm>
          <a:prstGeom prst="rect">
            <a:avLst/>
          </a:prstGeom>
          <a:noFill/>
        </p:spPr>
        <p:txBody>
          <a:bodyPr wrap="square" lIns="0" rIns="0">
            <a:noAutofit/>
          </a:bodyPr>
          <a:lstStyle/>
          <a:p>
            <a:pPr algn="l"/>
            <a:r>
              <a:rPr sz="3400" b="0" i="0">
                <a:solidFill>
                  <a:srgbClr val="0A2240"/>
                </a:solidFill>
                <a:latin typeface="Arial"/>
              </a:rPr>
              <a:t>APAC regions live; global coverage.</a:t>
            </a:r>
          </a:p>
        </p:txBody>
      </p:sp>
    </p:spTree>
    <p:extLst>
      <p:ext uri="{BB962C8B-B14F-4D97-AF65-F5344CB8AC3E}">
        <p14:creationId xmlns:p14="http://schemas.microsoft.com/office/powerpoint/2010/main" val="12129998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lidekit · Image Half Blee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Built in the Field</a:t>
            </a:r>
          </a:p>
        </p:txBody>
      </p:sp>
      <p:sp>
        <p:nvSpPr>
          <p:cNvPr id="6" name="TextBox 5"/>
          <p:cNvSpPr/>
          <p:nvPr>
            <p:ph type="body" idx="1"/>
          </p:nvPr>
        </p:nvSpPr>
        <p:spPr>
          <a:xfrm>
            <a:off x="6233160" y="1499616"/>
            <a:ext cx="5501640" cy="1127760"/>
          </a:xfrm>
          <a:prstGeom prst="rect">
            <a:avLst/>
          </a:prstGeom>
          <a:noFill/>
        </p:spPr>
        <p:txBody>
          <a:bodyPr wrap="square" lIns="0" rIns="0">
            <a:noAutofit/>
          </a:bodyPr>
          <a:lstStyle/>
          <a:p>
            <a:pPr algn="l"/>
            <a:r>
              <a:rPr sz="3400" b="0" i="0">
                <a:solidFill>
                  <a:srgbClr val="0A2240"/>
                </a:solidFill>
                <a:latin typeface="Arial"/>
              </a:rPr>
              <a:t>Built with customers, not just for them.</a:t>
            </a:r>
          </a:p>
        </p:txBody>
      </p:sp>
      <p:sp>
        <p:nvSpPr>
          <p:cNvPr id="7" name="TextBox 6"/>
          <p:cNvSpPr/>
          <p:nvPr>
            <p:ph type="body" idx="2"/>
          </p:nvPr>
        </p:nvSpPr>
        <p:spPr>
          <a:xfrm>
            <a:off x="6233160" y="2901696"/>
            <a:ext cx="5501640" cy="1127760"/>
          </a:xfrm>
          <a:prstGeom prst="rect">
            <a:avLst/>
          </a:prstGeom>
          <a:noFill/>
        </p:spPr>
        <p:txBody>
          <a:bodyPr wrap="square" lIns="0" rIns="0">
            <a:noAutofit/>
          </a:bodyPr>
          <a:lstStyle/>
          <a:p>
            <a:pPr algn="l"/>
            <a:r>
              <a:rPr sz="3400" b="0" i="0">
                <a:solidFill>
                  <a:srgbClr val="0A2240"/>
                </a:solidFill>
                <a:latin typeface="Arial"/>
              </a:rPr>
              <a:t>60% faster rollout; 50% fewer tickets.</a:t>
            </a:r>
          </a:p>
        </p:txBody>
      </p:sp>
    </p:spTree>
    <p:extLst>
      <p:ext uri="{BB962C8B-B14F-4D97-AF65-F5344CB8AC3E}">
        <p14:creationId xmlns:p14="http://schemas.microsoft.com/office/powerpoint/2010/main" val="12129998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slidekit · Card Gr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We Offer</a:t>
            </a:r>
          </a:p>
        </p:txBody>
      </p:sp>
      <p:sp>
        <p:nvSpPr>
          <p:cNvPr id="6" name="TextBox 5"/>
          <p:cNvSpPr/>
          <p:nvPr>
            <p:ph type="body" idx="1"/>
          </p:nvPr>
        </p:nvSpPr>
        <p:spPr>
          <a:xfrm>
            <a:off x="457200" y="1499616"/>
            <a:ext cx="2831366" cy="518159"/>
          </a:xfrm>
          <a:prstGeom prst="rect">
            <a:avLst/>
          </a:prstGeom>
          <a:noFill/>
        </p:spPr>
        <p:txBody>
          <a:bodyPr wrap="none" lIns="0" rIns="0">
            <a:noAutofit/>
          </a:bodyPr>
          <a:lstStyle/>
          <a:p>
            <a:pPr algn="l"/>
            <a:r>
              <a:rPr sz="3400" b="1" i="0">
                <a:solidFill>
                  <a:srgbClr val="0A2240"/>
                </a:solidFill>
                <a:latin typeface="Arial"/>
              </a:rPr>
              <a:t>Insights</a:t>
            </a:r>
          </a:p>
        </p:txBody>
      </p:sp>
      <p:sp>
        <p:nvSpPr>
          <p:cNvPr id="7" name="TextBox 6"/>
          <p:cNvSpPr/>
          <p:nvPr>
            <p:ph type="body" idx="2"/>
          </p:nvPr>
        </p:nvSpPr>
        <p:spPr>
          <a:xfrm>
            <a:off x="457200" y="2154935"/>
            <a:ext cx="2613660" cy="3605785"/>
          </a:xfrm>
          <a:prstGeom prst="rect">
            <a:avLst/>
          </a:prstGeom>
          <a:noFill/>
        </p:spPr>
        <p:txBody>
          <a:bodyPr wrap="square" lIns="0" rIns="0">
            <a:noAutofit/>
          </a:bodyPr>
          <a:lstStyle/>
          <a:p>
            <a:pPr algn="l"/>
            <a:r>
              <a:rPr sz="3400" b="0" i="0">
                <a:solidFill>
                  <a:srgbClr val="0A2240"/>
                </a:solidFill>
                <a:latin typeface="Arial"/>
              </a:rPr>
              <a:t>Live data and AI analytics.</a:t>
            </a:r>
          </a:p>
        </p:txBody>
      </p:sp>
      <p:sp>
        <p:nvSpPr>
          <p:cNvPr id="8" name="TextBox 7"/>
          <p:cNvSpPr/>
          <p:nvPr>
            <p:ph type="body" idx="3"/>
          </p:nvPr>
        </p:nvSpPr>
        <p:spPr>
          <a:xfrm>
            <a:off x="3345180" y="1499616"/>
            <a:ext cx="2909292" cy="518159"/>
          </a:xfrm>
          <a:prstGeom prst="rect">
            <a:avLst/>
          </a:prstGeom>
          <a:noFill/>
        </p:spPr>
        <p:txBody>
          <a:bodyPr wrap="none" lIns="0" rIns="0">
            <a:noAutofit/>
          </a:bodyPr>
          <a:lstStyle/>
          <a:p>
            <a:pPr algn="l"/>
            <a:r>
              <a:rPr sz="3400" b="1" i="0">
                <a:solidFill>
                  <a:srgbClr val="0A2240"/>
                </a:solidFill>
                <a:latin typeface="Arial"/>
              </a:rPr>
              <a:t>Security</a:t>
            </a:r>
          </a:p>
        </p:txBody>
      </p:sp>
      <p:sp>
        <p:nvSpPr>
          <p:cNvPr id="9" name="TextBox 8"/>
          <p:cNvSpPr/>
          <p:nvPr>
            <p:ph type="body" idx="4"/>
          </p:nvPr>
        </p:nvSpPr>
        <p:spPr>
          <a:xfrm>
            <a:off x="3345180" y="2154935"/>
            <a:ext cx="2613660" cy="3605785"/>
          </a:xfrm>
          <a:prstGeom prst="rect">
            <a:avLst/>
          </a:prstGeom>
          <a:noFill/>
        </p:spPr>
        <p:txBody>
          <a:bodyPr wrap="square" lIns="0" rIns="0">
            <a:noAutofit/>
          </a:bodyPr>
          <a:lstStyle/>
          <a:p>
            <a:pPr algn="l"/>
            <a:r>
              <a:rPr sz="3400" b="0" i="0">
                <a:solidFill>
                  <a:srgbClr val="0A2240"/>
                </a:solidFill>
                <a:latin typeface="Arial"/>
              </a:rPr>
              <a:t>Zero-trust, SOC 2 ready.</a:t>
            </a:r>
          </a:p>
        </p:txBody>
      </p:sp>
      <p:sp>
        <p:nvSpPr>
          <p:cNvPr id="10" name="TextBox 9"/>
          <p:cNvSpPr/>
          <p:nvPr>
            <p:ph type="body" idx="5"/>
          </p:nvPr>
        </p:nvSpPr>
        <p:spPr>
          <a:xfrm>
            <a:off x="6233160" y="1499616"/>
            <a:ext cx="2613660" cy="518159"/>
          </a:xfrm>
          <a:prstGeom prst="rect">
            <a:avLst/>
          </a:prstGeom>
          <a:noFill/>
        </p:spPr>
        <p:txBody>
          <a:bodyPr wrap="none" lIns="0" rIns="0">
            <a:noAutofit/>
          </a:bodyPr>
          <a:lstStyle/>
          <a:p>
            <a:pPr algn="l"/>
            <a:r>
              <a:rPr sz="3400" b="1" i="0">
                <a:solidFill>
                  <a:srgbClr val="0A2240"/>
                </a:solidFill>
                <a:latin typeface="Arial"/>
              </a:rPr>
              <a:t>Speed</a:t>
            </a:r>
          </a:p>
        </p:txBody>
      </p:sp>
      <p:sp>
        <p:nvSpPr>
          <p:cNvPr id="11" name="TextBox 10"/>
          <p:cNvSpPr/>
          <p:nvPr>
            <p:ph type="body" idx="6"/>
          </p:nvPr>
        </p:nvSpPr>
        <p:spPr>
          <a:xfrm>
            <a:off x="6233160" y="2154935"/>
            <a:ext cx="2613660" cy="3605785"/>
          </a:xfrm>
          <a:prstGeom prst="rect">
            <a:avLst/>
          </a:prstGeom>
          <a:noFill/>
        </p:spPr>
        <p:txBody>
          <a:bodyPr wrap="square" lIns="0" rIns="0">
            <a:noAutofit/>
          </a:bodyPr>
          <a:lstStyle/>
          <a:p>
            <a:pPr algn="l"/>
            <a:r>
              <a:rPr sz="3400" b="0" i="0">
                <a:solidFill>
                  <a:srgbClr val="0A2240"/>
                </a:solidFill>
                <a:latin typeface="Arial"/>
              </a:rPr>
              <a:t>Sub-100ms p99 latency.</a:t>
            </a:r>
          </a:p>
        </p:txBody>
      </p:sp>
      <p:sp>
        <p:nvSpPr>
          <p:cNvPr id="12" name="TextBox 11"/>
          <p:cNvSpPr/>
          <p:nvPr>
            <p:ph type="body" idx="7"/>
          </p:nvPr>
        </p:nvSpPr>
        <p:spPr>
          <a:xfrm>
            <a:off x="9121140" y="1499616"/>
            <a:ext cx="2613660" cy="518159"/>
          </a:xfrm>
          <a:prstGeom prst="rect">
            <a:avLst/>
          </a:prstGeom>
          <a:noFill/>
        </p:spPr>
        <p:txBody>
          <a:bodyPr wrap="none" lIns="0" rIns="0">
            <a:noAutofit/>
          </a:bodyPr>
          <a:lstStyle/>
          <a:p>
            <a:pPr algn="l"/>
            <a:r>
              <a:rPr sz="3400" b="1" i="0">
                <a:solidFill>
                  <a:srgbClr val="0A2240"/>
                </a:solidFill>
                <a:latin typeface="Arial"/>
              </a:rPr>
              <a:t>APIs</a:t>
            </a:r>
          </a:p>
        </p:txBody>
      </p:sp>
      <p:sp>
        <p:nvSpPr>
          <p:cNvPr id="13" name="TextBox 12"/>
          <p:cNvSpPr/>
          <p:nvPr>
            <p:ph type="body" idx="8"/>
          </p:nvPr>
        </p:nvSpPr>
        <p:spPr>
          <a:xfrm>
            <a:off x="9121140" y="2154935"/>
            <a:ext cx="2613660" cy="3605785"/>
          </a:xfrm>
          <a:prstGeom prst="rect">
            <a:avLst/>
          </a:prstGeom>
          <a:noFill/>
        </p:spPr>
        <p:txBody>
          <a:bodyPr wrap="square" lIns="0" rIns="0">
            <a:noAutofit/>
          </a:bodyPr>
          <a:lstStyle/>
          <a:p>
            <a:pPr algn="l"/>
            <a:r>
              <a:rPr sz="3400" b="0" i="0">
                <a:solidFill>
                  <a:srgbClr val="0A2240"/>
                </a:solidFill>
                <a:latin typeface="Arial"/>
              </a:rPr>
              <a:t>300+ open connectors.</a:t>
            </a:r>
          </a:p>
        </p:txBody>
      </p:sp>
    </p:spTree>
    <p:extLst>
      <p:ext uri="{BB962C8B-B14F-4D97-AF65-F5344CB8AC3E}">
        <p14:creationId xmlns:p14="http://schemas.microsoft.com/office/powerpoint/2010/main" val="12129998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slidekit · Section Divider">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1783080"/>
            <a:ext cx="128016" cy="201168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01</a:t>
            </a:r>
          </a:p>
        </p:txBody>
      </p:sp>
      <p:sp>
        <p:nvSpPr>
          <p:cNvPr id="7" name="TextBox 6"/>
          <p:cNvSpPr/>
          <p:nvPr>
            <p:ph type="body" idx="3"/>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Where We Stand Today</a:t>
            </a:r>
          </a:p>
        </p:txBody>
      </p:sp>
    </p:spTree>
    <p:extLst>
      <p:ext uri="{BB962C8B-B14F-4D97-AF65-F5344CB8AC3E}">
        <p14:creationId xmlns:p14="http://schemas.microsoft.com/office/powerpoint/2010/main" val="12129998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lidekit · Agenda">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We Will Cover</a:t>
            </a:r>
          </a:p>
        </p:txBody>
      </p:sp>
      <p:sp>
        <p:nvSpPr>
          <p:cNvPr id="6" name="Rectangle 5"/>
          <p:cNvSpPr/>
          <p:nvPr>
            <p:ph type="body" idx="1"/>
          </p:nvPr>
        </p:nvSpPr>
        <p:spPr>
          <a:xfrm>
            <a:off x="457200" y="1280160"/>
            <a:ext cx="11277600" cy="64008"/>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618488"/>
            <a:ext cx="951348" cy="518159"/>
          </a:xfrm>
          <a:prstGeom prst="rect">
            <a:avLst/>
          </a:prstGeom>
          <a:noFill/>
        </p:spPr>
        <p:txBody>
          <a:bodyPr wrap="none" lIns="0" rIns="0">
            <a:noAutofit/>
          </a:bodyPr>
          <a:lstStyle/>
          <a:p>
            <a:pPr algn="l"/>
            <a:r>
              <a:rPr sz="3400" b="1" i="0">
                <a:solidFill>
                  <a:srgbClr val="0072CE"/>
                </a:solidFill>
                <a:latin typeface="Arial"/>
              </a:rPr>
              <a:t>01</a:t>
            </a:r>
          </a:p>
        </p:txBody>
      </p:sp>
      <p:sp>
        <p:nvSpPr>
          <p:cNvPr id="8" name="TextBox 7"/>
          <p:cNvSpPr/>
          <p:nvPr>
            <p:ph type="body" idx="3"/>
          </p:nvPr>
        </p:nvSpPr>
        <p:spPr>
          <a:xfrm>
            <a:off x="1371600" y="1618488"/>
            <a:ext cx="10363200" cy="518159"/>
          </a:xfrm>
          <a:prstGeom prst="rect">
            <a:avLst/>
          </a:prstGeom>
          <a:noFill/>
        </p:spPr>
        <p:txBody>
          <a:bodyPr wrap="none" lIns="0" rIns="0">
            <a:noAutofit/>
          </a:bodyPr>
          <a:lstStyle/>
          <a:p>
            <a:pPr algn="l"/>
            <a:r>
              <a:rPr sz="3400" b="0" i="0">
                <a:solidFill>
                  <a:srgbClr val="0A2240"/>
                </a:solidFill>
                <a:latin typeface="Arial"/>
              </a:rPr>
              <a:t>Performance against targets</a:t>
            </a:r>
          </a:p>
        </p:txBody>
      </p:sp>
      <p:sp>
        <p:nvSpPr>
          <p:cNvPr id="9" name="TextBox 8"/>
          <p:cNvSpPr/>
          <p:nvPr>
            <p:ph type="body" idx="4"/>
          </p:nvPr>
        </p:nvSpPr>
        <p:spPr>
          <a:xfrm>
            <a:off x="457200" y="2501798"/>
            <a:ext cx="951348" cy="518159"/>
          </a:xfrm>
          <a:prstGeom prst="rect">
            <a:avLst/>
          </a:prstGeom>
          <a:noFill/>
        </p:spPr>
        <p:txBody>
          <a:bodyPr wrap="none" lIns="0" rIns="0">
            <a:noAutofit/>
          </a:bodyPr>
          <a:lstStyle/>
          <a:p>
            <a:pPr algn="l"/>
            <a:r>
              <a:rPr sz="3400" b="1" i="0">
                <a:solidFill>
                  <a:srgbClr val="0072CE"/>
                </a:solidFill>
                <a:latin typeface="Arial"/>
              </a:rPr>
              <a:t>02</a:t>
            </a:r>
          </a:p>
        </p:txBody>
      </p:sp>
      <p:sp>
        <p:nvSpPr>
          <p:cNvPr id="10" name="TextBox 9"/>
          <p:cNvSpPr/>
          <p:nvPr>
            <p:ph type="body" idx="5"/>
          </p:nvPr>
        </p:nvSpPr>
        <p:spPr>
          <a:xfrm>
            <a:off x="1371600" y="2501798"/>
            <a:ext cx="10363200" cy="518159"/>
          </a:xfrm>
          <a:prstGeom prst="rect">
            <a:avLst/>
          </a:prstGeom>
          <a:noFill/>
        </p:spPr>
        <p:txBody>
          <a:bodyPr wrap="none" lIns="0" rIns="0">
            <a:noAutofit/>
          </a:bodyPr>
          <a:lstStyle/>
          <a:p>
            <a:pPr algn="l"/>
            <a:r>
              <a:rPr sz="3400" b="0" i="0">
                <a:solidFill>
                  <a:srgbClr val="0A2240"/>
                </a:solidFill>
                <a:latin typeface="Arial"/>
              </a:rPr>
              <a:t>Customer and market signals</a:t>
            </a:r>
          </a:p>
        </p:txBody>
      </p:sp>
      <p:sp>
        <p:nvSpPr>
          <p:cNvPr id="11" name="TextBox 10"/>
          <p:cNvSpPr/>
          <p:nvPr>
            <p:ph type="body" idx="6"/>
          </p:nvPr>
        </p:nvSpPr>
        <p:spPr>
          <a:xfrm>
            <a:off x="457200" y="3385108"/>
            <a:ext cx="951348" cy="518159"/>
          </a:xfrm>
          <a:prstGeom prst="rect">
            <a:avLst/>
          </a:prstGeom>
          <a:noFill/>
        </p:spPr>
        <p:txBody>
          <a:bodyPr wrap="none" lIns="0" rIns="0">
            <a:noAutofit/>
          </a:bodyPr>
          <a:lstStyle/>
          <a:p>
            <a:pPr algn="l"/>
            <a:r>
              <a:rPr sz="3400" b="1" i="0">
                <a:solidFill>
                  <a:srgbClr val="0072CE"/>
                </a:solidFill>
                <a:latin typeface="Arial"/>
              </a:rPr>
              <a:t>03</a:t>
            </a:r>
          </a:p>
        </p:txBody>
      </p:sp>
      <p:sp>
        <p:nvSpPr>
          <p:cNvPr id="12" name="TextBox 11"/>
          <p:cNvSpPr/>
          <p:nvPr>
            <p:ph type="body" idx="7"/>
          </p:nvPr>
        </p:nvSpPr>
        <p:spPr>
          <a:xfrm>
            <a:off x="1371600" y="3385108"/>
            <a:ext cx="10363200" cy="518159"/>
          </a:xfrm>
          <a:prstGeom prst="rect">
            <a:avLst/>
          </a:prstGeom>
          <a:noFill/>
        </p:spPr>
        <p:txBody>
          <a:bodyPr wrap="none" lIns="0" rIns="0">
            <a:noAutofit/>
          </a:bodyPr>
          <a:lstStyle/>
          <a:p>
            <a:pPr algn="l"/>
            <a:r>
              <a:rPr sz="3400" b="0" i="0">
                <a:solidFill>
                  <a:srgbClr val="0A2240"/>
                </a:solidFill>
                <a:latin typeface="Arial"/>
              </a:rPr>
              <a:t>Operational health and risks</a:t>
            </a:r>
          </a:p>
        </p:txBody>
      </p:sp>
      <p:sp>
        <p:nvSpPr>
          <p:cNvPr id="13" name="TextBox 12"/>
          <p:cNvSpPr/>
          <p:nvPr>
            <p:ph type="body" idx="8"/>
          </p:nvPr>
        </p:nvSpPr>
        <p:spPr>
          <a:xfrm>
            <a:off x="457200" y="4268418"/>
            <a:ext cx="951348" cy="518159"/>
          </a:xfrm>
          <a:prstGeom prst="rect">
            <a:avLst/>
          </a:prstGeom>
          <a:noFill/>
        </p:spPr>
        <p:txBody>
          <a:bodyPr wrap="none" lIns="0" rIns="0">
            <a:noAutofit/>
          </a:bodyPr>
          <a:lstStyle/>
          <a:p>
            <a:pPr algn="l"/>
            <a:r>
              <a:rPr sz="3400" b="1" i="0">
                <a:solidFill>
                  <a:srgbClr val="0072CE"/>
                </a:solidFill>
                <a:latin typeface="Arial"/>
              </a:rPr>
              <a:t>04</a:t>
            </a:r>
          </a:p>
        </p:txBody>
      </p:sp>
      <p:sp>
        <p:nvSpPr>
          <p:cNvPr id="14" name="TextBox 13"/>
          <p:cNvSpPr/>
          <p:nvPr>
            <p:ph type="body" idx="9"/>
          </p:nvPr>
        </p:nvSpPr>
        <p:spPr>
          <a:xfrm>
            <a:off x="1371600" y="4268418"/>
            <a:ext cx="10363200" cy="518159"/>
          </a:xfrm>
          <a:prstGeom prst="rect">
            <a:avLst/>
          </a:prstGeom>
          <a:noFill/>
        </p:spPr>
        <p:txBody>
          <a:bodyPr wrap="none" lIns="0" rIns="0">
            <a:noAutofit/>
          </a:bodyPr>
          <a:lstStyle/>
          <a:p>
            <a:pPr algn="l"/>
            <a:r>
              <a:rPr sz="3400" b="0" i="0">
                <a:solidFill>
                  <a:srgbClr val="0A2240"/>
                </a:solidFill>
                <a:latin typeface="Arial"/>
              </a:rPr>
              <a:t>Roadmap for next quarter</a:t>
            </a:r>
          </a:p>
        </p:txBody>
      </p:sp>
      <p:sp>
        <p:nvSpPr>
          <p:cNvPr id="15" name="TextBox 14"/>
          <p:cNvSpPr/>
          <p:nvPr>
            <p:ph type="body" idx="13"/>
          </p:nvPr>
        </p:nvSpPr>
        <p:spPr>
          <a:xfrm>
            <a:off x="457200" y="5151728"/>
            <a:ext cx="951348" cy="518159"/>
          </a:xfrm>
          <a:prstGeom prst="rect">
            <a:avLst/>
          </a:prstGeom>
          <a:noFill/>
        </p:spPr>
        <p:txBody>
          <a:bodyPr wrap="none" lIns="0" rIns="0">
            <a:noAutofit/>
          </a:bodyPr>
          <a:lstStyle/>
          <a:p>
            <a:pPr algn="l"/>
            <a:r>
              <a:rPr sz="3400" b="1" i="0">
                <a:solidFill>
                  <a:srgbClr val="0072CE"/>
                </a:solidFill>
                <a:latin typeface="Arial"/>
              </a:rPr>
              <a:t>05</a:t>
            </a:r>
          </a:p>
        </p:txBody>
      </p:sp>
      <p:sp>
        <p:nvSpPr>
          <p:cNvPr id="16" name="TextBox 15"/>
          <p:cNvSpPr/>
          <p:nvPr>
            <p:ph type="body" idx="14"/>
          </p:nvPr>
        </p:nvSpPr>
        <p:spPr>
          <a:xfrm>
            <a:off x="1371600" y="5151728"/>
            <a:ext cx="10363200" cy="518159"/>
          </a:xfrm>
          <a:prstGeom prst="rect">
            <a:avLst/>
          </a:prstGeom>
          <a:noFill/>
        </p:spPr>
        <p:txBody>
          <a:bodyPr wrap="none" lIns="0" rIns="0">
            <a:noAutofit/>
          </a:bodyPr>
          <a:lstStyle/>
          <a:p>
            <a:pPr algn="l"/>
            <a:r>
              <a:rPr sz="3400" b="0" i="0">
                <a:solidFill>
                  <a:srgbClr val="0A2240"/>
                </a:solidFill>
                <a:latin typeface="Arial"/>
              </a:rPr>
              <a:t>Decisions we need today</a:t>
            </a:r>
          </a:p>
        </p:txBody>
      </p:sp>
    </p:spTree>
    <p:extLst>
      <p:ext uri="{BB962C8B-B14F-4D97-AF65-F5344CB8AC3E}">
        <p14:creationId xmlns:p14="http://schemas.microsoft.com/office/powerpoint/2010/main" val="12129998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lidekit · Big Number">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body" idx="1"/>
          </p:nvPr>
        </p:nvSpPr>
        <p:spPr>
          <a:xfrm>
            <a:off x="457200" y="2025396"/>
            <a:ext cx="11277600" cy="1691640"/>
          </a:xfrm>
          <a:prstGeom prst="rect">
            <a:avLst/>
          </a:prstGeom>
          <a:noFill/>
        </p:spPr>
        <p:txBody>
          <a:bodyPr wrap="none" lIns="0" rIns="0">
            <a:noAutofit/>
          </a:bodyPr>
          <a:lstStyle/>
          <a:p>
            <a:pPr algn="ctr"/>
            <a:r>
              <a:rPr sz="10500" b="1" i="0">
                <a:solidFill>
                  <a:srgbClr val="0072CE"/>
                </a:solidFill>
                <a:latin typeface="Arial"/>
              </a:rPr>
              <a:t>3.2M</a:t>
            </a:r>
          </a:p>
        </p:txBody>
      </p:sp>
      <p:sp>
        <p:nvSpPr>
          <p:cNvPr id="6" name="Rectangle 5"/>
          <p:cNvSpPr/>
          <p:nvPr>
            <p:ph type="body" idx="2"/>
          </p:nvPr>
        </p:nvSpPr>
        <p:spPr>
          <a:xfrm>
            <a:off x="5547360" y="3771900"/>
            <a:ext cx="1097280" cy="54864"/>
          </a:xfrm>
          <a:prstGeom prst="rect">
            <a:avLst/>
          </a:prstGeom>
          <a:solidFill>
            <a:srgbClr val="0072CE"/>
          </a:solidFill>
          <a:ln>
            <a:noFill/>
          </a:ln>
          <a:effectLst/>
        </p:spPr>
        <p:txBody>
          <a:bodyPr rtlCol="0" anchor="ctr"/>
          <a:lstStyle/>
          <a:p>
            <a:pPr algn="ctr"/>
          </a:p>
        </p:txBody>
      </p:sp>
      <p:sp>
        <p:nvSpPr>
          <p:cNvPr id="7" name="TextBox 6"/>
          <p:cNvSpPr/>
          <p:nvPr>
            <p:ph type="body" idx="3"/>
          </p:nvPr>
        </p:nvSpPr>
        <p:spPr>
          <a:xfrm>
            <a:off x="457200" y="4101084"/>
            <a:ext cx="11277600" cy="731520"/>
          </a:xfrm>
          <a:prstGeom prst="rect">
            <a:avLst/>
          </a:prstGeom>
          <a:noFill/>
        </p:spPr>
        <p:txBody>
          <a:bodyPr wrap="none" lIns="0" rIns="0">
            <a:noAutofit/>
          </a:bodyPr>
          <a:lstStyle/>
          <a:p>
            <a:pPr algn="ctr"/>
            <a:r>
              <a:rPr sz="4200" b="0" i="0">
                <a:solidFill>
                  <a:srgbClr val="0A2240"/>
                </a:solidFill>
                <a:latin typeface="Arial"/>
              </a:rPr>
              <a:t>Active customers worldwide</a:t>
            </a:r>
          </a:p>
        </p:txBody>
      </p:sp>
    </p:spTree>
    <p:extLst>
      <p:ext uri="{BB962C8B-B14F-4D97-AF65-F5344CB8AC3E}">
        <p14:creationId xmlns:p14="http://schemas.microsoft.com/office/powerpoint/2010/main" val="12129998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lidekit · Pull Quot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301240"/>
            <a:ext cx="128016" cy="225552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301240"/>
            <a:ext cx="10738104" cy="1371600"/>
          </a:xfrm>
          <a:prstGeom prst="rect">
            <a:avLst/>
          </a:prstGeom>
          <a:noFill/>
        </p:spPr>
        <p:txBody>
          <a:bodyPr wrap="square" lIns="0" rIns="0">
            <a:noAutofit/>
          </a:bodyPr>
          <a:lstStyle/>
          <a:p>
            <a:pPr algn="l"/>
            <a:r>
              <a:rPr sz="4200" b="1" i="0">
                <a:solidFill>
                  <a:srgbClr val="0A2240"/>
                </a:solidFill>
                <a:latin typeface="Arial"/>
              </a:rPr>
              <a:t>"We stopped buying tools and started buying outcomes."</a:t>
            </a:r>
          </a:p>
        </p:txBody>
      </p:sp>
      <p:sp>
        <p:nvSpPr>
          <p:cNvPr id="7" name="TextBox 6"/>
          <p:cNvSpPr/>
          <p:nvPr>
            <p:ph type="body" idx="3"/>
          </p:nvPr>
        </p:nvSpPr>
        <p:spPr>
          <a:xfrm>
            <a:off x="996696" y="3947160"/>
            <a:ext cx="11195304" cy="609600"/>
          </a:xfrm>
          <a:prstGeom prst="rect">
            <a:avLst/>
          </a:prstGeom>
          <a:noFill/>
        </p:spPr>
        <p:txBody>
          <a:bodyPr wrap="none" lIns="0" rIns="0">
            <a:noAutofit/>
          </a:bodyPr>
          <a:lstStyle/>
          <a:p>
            <a:pPr algn="l"/>
            <a:r>
              <a:rPr sz="3400" b="0" i="0">
                <a:solidFill>
                  <a:srgbClr val="5B6B82"/>
                </a:solidFill>
                <a:latin typeface="Arial"/>
              </a:rPr>
              <a:t>- VP of Engineering, enterprise customer</a:t>
            </a:r>
          </a:p>
        </p:txBody>
      </p:sp>
    </p:spTree>
    <p:extLst>
      <p:ext uri="{BB962C8B-B14F-4D97-AF65-F5344CB8AC3E}">
        <p14:creationId xmlns:p14="http://schemas.microsoft.com/office/powerpoint/2010/main" val="12129998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lidekit · Definiti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1965960"/>
            <a:ext cx="128016" cy="292608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1965960"/>
            <a:ext cx="11195304" cy="1005840"/>
          </a:xfrm>
          <a:prstGeom prst="rect">
            <a:avLst/>
          </a:prstGeom>
          <a:noFill/>
        </p:spPr>
        <p:txBody>
          <a:bodyPr wrap="none" lIns="0" rIns="0">
            <a:noAutofit/>
          </a:bodyPr>
          <a:lstStyle/>
          <a:p>
            <a:pPr algn="l"/>
            <a:r>
              <a:rPr sz="6000" b="1" i="0">
                <a:solidFill>
                  <a:srgbClr val="0072CE"/>
                </a:solidFill>
                <a:latin typeface="Arial"/>
              </a:rPr>
              <a:t>Net Revenue Retention</a:t>
            </a:r>
          </a:p>
        </p:txBody>
      </p:sp>
      <p:sp>
        <p:nvSpPr>
          <p:cNvPr id="7" name="TextBox 6"/>
          <p:cNvSpPr/>
          <p:nvPr>
            <p:ph type="body" idx="3"/>
          </p:nvPr>
        </p:nvSpPr>
        <p:spPr>
          <a:xfrm>
            <a:off x="996696" y="3246120"/>
            <a:ext cx="10738104" cy="1645920"/>
          </a:xfrm>
          <a:prstGeom prst="rect">
            <a:avLst/>
          </a:prstGeom>
          <a:noFill/>
        </p:spPr>
        <p:txBody>
          <a:bodyPr wrap="square" lIns="0" rIns="0">
            <a:noAutofit/>
          </a:bodyPr>
          <a:lstStyle/>
          <a:p>
            <a:pPr algn="l"/>
            <a:r>
              <a:rPr sz="3400" b="0" i="0">
                <a:solidFill>
                  <a:srgbClr val="0A2240"/>
                </a:solidFill>
                <a:latin typeface="Arial"/>
              </a:rPr>
              <a:t>The percentage of recurring revenue retained from existing customers over a period, including expansion and after churn.</a:t>
            </a:r>
          </a:p>
        </p:txBody>
      </p:sp>
    </p:spTree>
    <p:extLst>
      <p:ext uri="{BB962C8B-B14F-4D97-AF65-F5344CB8AC3E}">
        <p14:creationId xmlns:p14="http://schemas.microsoft.com/office/powerpoint/2010/main" val="12129998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slidekit · Questi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011680"/>
            <a:ext cx="128016" cy="283464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011680"/>
            <a:ext cx="10738104" cy="2834640"/>
          </a:xfrm>
          <a:prstGeom prst="rect">
            <a:avLst/>
          </a:prstGeom>
          <a:noFill/>
        </p:spPr>
        <p:txBody>
          <a:bodyPr wrap="square" lIns="0" rIns="0">
            <a:noAutofit/>
          </a:bodyPr>
          <a:lstStyle/>
          <a:p>
            <a:pPr algn="l"/>
            <a:r>
              <a:rPr sz="6000" b="1" i="0">
                <a:solidFill>
                  <a:srgbClr val="0A2240"/>
                </a:solidFill>
                <a:latin typeface="Arial"/>
              </a:rPr>
              <a:t>What would we build if we trusted our customers completely?</a:t>
            </a:r>
          </a:p>
        </p:txBody>
      </p:sp>
    </p:spTree>
    <p:extLst>
      <p:ext uri="{BB962C8B-B14F-4D97-AF65-F5344CB8AC3E}">
        <p14:creationId xmlns:p14="http://schemas.microsoft.com/office/powerpoint/2010/main" val="12129998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slidekit · Bullet Lis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468040" cy="768096"/>
          </a:xfrm>
          <a:prstGeom prst="rect">
            <a:avLst/>
          </a:prstGeom>
          <a:noFill/>
        </p:spPr>
        <p:txBody>
          <a:bodyPr wrap="none" lIns="0" rIns="0">
            <a:noAutofit/>
          </a:bodyPr>
          <a:lstStyle/>
          <a:p>
            <a:pPr algn="l"/>
            <a:r>
              <a:rPr sz="4200" b="1" i="0">
                <a:solidFill>
                  <a:srgbClr val="0072CE"/>
                </a:solidFill>
                <a:latin typeface="Arial"/>
              </a:rPr>
              <a:t>What Changed This Quarter</a:t>
            </a:r>
          </a:p>
        </p:txBody>
      </p:sp>
      <p:sp>
        <p:nvSpPr>
          <p:cNvPr id="6" name="TextBox 5"/>
          <p:cNvSpPr/>
          <p:nvPr>
            <p:ph type="body" id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Activation time dropped by half</a:t>
            </a:r>
          </a:p>
        </p:txBody>
      </p:sp>
      <p:sp>
        <p:nvSpPr>
          <p:cNvPr id="7" name="TextBox 6"/>
          <p:cNvSpPr/>
          <p:nvPr>
            <p:ph type="body" idx="2"/>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Support tickets fell sharply</a:t>
            </a:r>
          </a:p>
        </p:txBody>
      </p:sp>
      <p:sp>
        <p:nvSpPr>
          <p:cNvPr id="8" name="TextBox 7"/>
          <p:cNvSpPr/>
          <p:nvPr>
            <p:ph type="body" idx="3"/>
          </p:nvPr>
        </p:nvSpPr>
        <p:spPr>
          <a:xfrm>
            <a:off x="457200" y="4346447"/>
            <a:ext cx="11734800" cy="518159"/>
          </a:xfrm>
          <a:prstGeom prst="rect">
            <a:avLst/>
          </a:prstGeom>
          <a:noFill/>
        </p:spPr>
        <p:txBody>
          <a:bodyPr wrap="none" lIns="0" rIns="0">
            <a:noAutofit/>
          </a:bodyPr>
          <a:lstStyle/>
          <a:p>
            <a:pPr algn="l"/>
            <a:r>
              <a:rPr sz="3400" b="0" i="0">
                <a:solidFill>
                  <a:srgbClr val="0A2240"/>
                </a:solidFill>
                <a:latin typeface="Arial"/>
              </a:rPr>
              <a:t>Expansion revenue outpaced new sales</a:t>
            </a:r>
          </a:p>
        </p:txBody>
      </p:sp>
    </p:spTree>
    <p:extLst>
      <p:ext uri="{BB962C8B-B14F-4D97-AF65-F5344CB8AC3E}">
        <p14:creationId xmlns:p14="http://schemas.microsoft.com/office/powerpoint/2010/main" val="12129998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slidekit · Code Block">
    <p:bg>
      <p:bgPr>
        <a:solidFill>
          <a:srgbClr val="0C1A1C"/>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457200"/>
            <a:ext cx="146304" cy="146304"/>
          </a:xfrm>
          <a:prstGeom prst="rect">
            <a:avLst/>
          </a:prstGeom>
          <a:solidFill>
            <a:srgbClr val="FF5F56"/>
          </a:solidFill>
          <a:ln>
            <a:noFill/>
          </a:ln>
          <a:effectLst/>
        </p:spPr>
        <p:txBody>
          <a:bodyPr rtlCol="0" anchor="ctr"/>
          <a:lstStyle/>
          <a:p>
            <a:pPr algn="ctr"/>
          </a:p>
        </p:txBody>
      </p:sp>
      <p:sp>
        <p:nvSpPr>
          <p:cNvPr id="6" name="Rectangle 5"/>
          <p:cNvSpPr/>
          <p:nvPr>
            <p:ph type="body" idx="2"/>
          </p:nvPr>
        </p:nvSpPr>
        <p:spPr>
          <a:xfrm>
            <a:off x="713232" y="457200"/>
            <a:ext cx="146304" cy="146304"/>
          </a:xfrm>
          <a:prstGeom prst="rect">
            <a:avLst/>
          </a:prstGeom>
          <a:solidFill>
            <a:srgbClr val="FFBD2E"/>
          </a:solidFill>
          <a:ln>
            <a:noFill/>
          </a:ln>
          <a:effectLst/>
        </p:spPr>
        <p:txBody>
          <a:bodyPr rtlCol="0" anchor="ctr"/>
          <a:lstStyle/>
          <a:p>
            <a:pPr algn="ctr"/>
          </a:p>
        </p:txBody>
      </p:sp>
      <p:sp>
        <p:nvSpPr>
          <p:cNvPr id="7" name="Rectangle 6"/>
          <p:cNvSpPr/>
          <p:nvPr>
            <p:ph type="body" idx="3"/>
          </p:nvPr>
        </p:nvSpPr>
        <p:spPr>
          <a:xfrm>
            <a:off x="969264" y="457200"/>
            <a:ext cx="146304" cy="146304"/>
          </a:xfrm>
          <a:prstGeom prst="rect">
            <a:avLst/>
          </a:prstGeom>
          <a:solidFill>
            <a:srgbClr val="27C93F"/>
          </a:solidFill>
          <a:ln>
            <a:noFill/>
          </a:ln>
          <a:effectLst/>
        </p:spPr>
        <p:txBody>
          <a:bodyPr rtlCol="0" anchor="ctr"/>
          <a:lstStyle/>
          <a:p>
            <a:pPr algn="ctr"/>
          </a:p>
        </p:txBody>
      </p:sp>
      <p:sp>
        <p:nvSpPr>
          <p:cNvPr id="8" name="TextBox 7"/>
          <p:cNvSpPr/>
          <p:nvPr>
            <p:ph type="body" idx="4"/>
          </p:nvPr>
        </p:nvSpPr>
        <p:spPr>
          <a:xfrm>
            <a:off x="457200" y="923544"/>
            <a:ext cx="11277600" cy="640080"/>
          </a:xfrm>
          <a:prstGeom prst="rect">
            <a:avLst/>
          </a:prstGeom>
          <a:noFill/>
        </p:spPr>
        <p:txBody>
          <a:bodyPr wrap="none" lIns="0" rIns="0">
            <a:noAutofit/>
          </a:bodyPr>
          <a:lstStyle/>
          <a:p>
            <a:pPr algn="l"/>
            <a:r>
              <a:rPr sz="4200" b="0" i="0">
                <a:solidFill>
                  <a:srgbClr val="D4D4D4"/>
                </a:solidFill>
                <a:latin typeface="Arial"/>
              </a:rPr>
              <a:t>hello.py</a:t>
            </a:r>
          </a:p>
        </p:txBody>
      </p:sp>
      <p:sp>
        <p:nvSpPr>
          <p:cNvPr id="9" name="TextBox 8"/>
          <p:cNvSpPr/>
          <p:nvPr>
            <p:ph type="body" idx="5"/>
          </p:nvPr>
        </p:nvSpPr>
        <p:spPr>
          <a:xfrm>
            <a:off x="457200" y="1837944"/>
            <a:ext cx="7851377" cy="518159"/>
          </a:xfrm>
          <a:prstGeom prst="rect">
            <a:avLst/>
          </a:prstGeom>
          <a:noFill/>
        </p:spPr>
        <p:txBody>
          <a:bodyPr wrap="none" lIns="0" rIns="0">
            <a:noAutofit/>
          </a:bodyPr>
          <a:lstStyle/>
          <a:p>
            <a:pPr algn="l"/>
            <a:r>
              <a:rPr sz="3400" b="0" i="0">
                <a:solidFill>
                  <a:srgbClr val="6A9955"/>
                </a:solidFill>
                <a:latin typeface="Arial"/>
              </a:rPr>
              <a:t># The classic, end to end</a:t>
            </a:r>
          </a:p>
        </p:txBody>
      </p:sp>
      <p:sp>
        <p:nvSpPr>
          <p:cNvPr id="10" name="TextBox 9"/>
          <p:cNvSpPr/>
          <p:nvPr>
            <p:ph type="body" idx="6"/>
          </p:nvPr>
        </p:nvSpPr>
        <p:spPr>
          <a:xfrm>
            <a:off x="457200" y="2356103"/>
            <a:ext cx="1143297" cy="518159"/>
          </a:xfrm>
          <a:prstGeom prst="rect">
            <a:avLst/>
          </a:prstGeom>
          <a:noFill/>
        </p:spPr>
        <p:txBody>
          <a:bodyPr wrap="none" lIns="0" rIns="0">
            <a:noAutofit/>
          </a:bodyPr>
          <a:lstStyle/>
          <a:p>
            <a:pPr algn="l"/>
            <a:r>
              <a:rPr sz="3400" b="0" i="0">
                <a:solidFill>
                  <a:srgbClr val="569CD6"/>
                </a:solidFill>
                <a:latin typeface="Arial"/>
              </a:rPr>
              <a:t>def</a:t>
            </a:r>
          </a:p>
        </p:txBody>
      </p:sp>
      <p:sp>
        <p:nvSpPr>
          <p:cNvPr id="11" name="TextBox 10"/>
          <p:cNvSpPr/>
          <p:nvPr>
            <p:ph type="body" idx="7"/>
          </p:nvPr>
        </p:nvSpPr>
        <p:spPr>
          <a:xfrm>
            <a:off x="1057461" y="2356103"/>
            <a:ext cx="302848" cy="518159"/>
          </a:xfrm>
          <a:prstGeom prst="rect">
            <a:avLst/>
          </a:prstGeom>
          <a:noFill/>
        </p:spPr>
        <p:txBody>
          <a:bodyPr wrap="none" lIns="0" rIns="0">
            <a:noAutofit/>
          </a:bodyPr>
          <a:lstStyle/>
          <a:p>
            <a:pPr algn="l"/>
            <a:r>
              <a:rPr sz="3400" b="0" i="0">
                <a:solidFill>
                  <a:srgbClr val="D4D4D4"/>
                </a:solidFill>
                <a:latin typeface="Arial"/>
              </a:rPr>
              <a:t> </a:t>
            </a:r>
          </a:p>
        </p:txBody>
      </p:sp>
      <p:sp>
        <p:nvSpPr>
          <p:cNvPr id="12" name="TextBox 11"/>
          <p:cNvSpPr/>
          <p:nvPr>
            <p:ph type="body" idx="8"/>
          </p:nvPr>
        </p:nvSpPr>
        <p:spPr>
          <a:xfrm>
            <a:off x="1177429" y="2356103"/>
            <a:ext cx="1680348" cy="518159"/>
          </a:xfrm>
          <a:prstGeom prst="rect">
            <a:avLst/>
          </a:prstGeom>
          <a:noFill/>
        </p:spPr>
        <p:txBody>
          <a:bodyPr wrap="none" lIns="0" rIns="0">
            <a:noAutofit/>
          </a:bodyPr>
          <a:lstStyle/>
          <a:p>
            <a:pPr algn="l"/>
            <a:r>
              <a:rPr sz="3400" b="0" i="0">
                <a:solidFill>
                  <a:srgbClr val="DCDCAA"/>
                </a:solidFill>
                <a:latin typeface="Arial"/>
              </a:rPr>
              <a:t>main</a:t>
            </a:r>
          </a:p>
        </p:txBody>
      </p:sp>
      <p:sp>
        <p:nvSpPr>
          <p:cNvPr id="13" name="TextBox 12"/>
          <p:cNvSpPr/>
          <p:nvPr>
            <p:ph type="body" idx="9"/>
          </p:nvPr>
        </p:nvSpPr>
        <p:spPr>
          <a:xfrm>
            <a:off x="2113347" y="2356103"/>
            <a:ext cx="834964" cy="518159"/>
          </a:xfrm>
          <a:prstGeom prst="rect">
            <a:avLst/>
          </a:prstGeom>
          <a:noFill/>
        </p:spPr>
        <p:txBody>
          <a:bodyPr wrap="none" lIns="0" rIns="0">
            <a:noAutofit/>
          </a:bodyPr>
          <a:lstStyle/>
          <a:p>
            <a:pPr algn="l"/>
            <a:r>
              <a:rPr sz="3400" b="0" i="0">
                <a:solidFill>
                  <a:srgbClr val="D4D4D4"/>
                </a:solidFill>
                <a:latin typeface="Arial"/>
              </a:rPr>
              <a:t>():</a:t>
            </a:r>
          </a:p>
        </p:txBody>
      </p:sp>
      <p:sp>
        <p:nvSpPr>
          <p:cNvPr id="14" name="TextBox 13"/>
          <p:cNvSpPr/>
          <p:nvPr>
            <p:ph type="body" idx="13"/>
          </p:nvPr>
        </p:nvSpPr>
        <p:spPr>
          <a:xfrm>
            <a:off x="457200" y="2874262"/>
            <a:ext cx="662751" cy="518159"/>
          </a:xfrm>
          <a:prstGeom prst="rect">
            <a:avLst/>
          </a:prstGeom>
          <a:noFill/>
        </p:spPr>
        <p:txBody>
          <a:bodyPr wrap="none" lIns="0" rIns="0">
            <a:noAutofit/>
          </a:bodyPr>
          <a:lstStyle/>
          <a:p>
            <a:pPr algn="l"/>
            <a:r>
              <a:rPr sz="3400" b="0" i="0">
                <a:solidFill>
                  <a:srgbClr val="D4D4D4"/>
                </a:solidFill>
                <a:latin typeface="Arial"/>
              </a:rPr>
              <a:t>    </a:t>
            </a:r>
          </a:p>
        </p:txBody>
      </p:sp>
      <p:sp>
        <p:nvSpPr>
          <p:cNvPr id="15" name="TextBox 14"/>
          <p:cNvSpPr/>
          <p:nvPr>
            <p:ph type="body" idx="14"/>
          </p:nvPr>
        </p:nvSpPr>
        <p:spPr>
          <a:xfrm>
            <a:off x="937071" y="2874262"/>
            <a:ext cx="1526857" cy="518159"/>
          </a:xfrm>
          <a:prstGeom prst="rect">
            <a:avLst/>
          </a:prstGeom>
          <a:noFill/>
        </p:spPr>
        <p:txBody>
          <a:bodyPr wrap="none" lIns="0" rIns="0">
            <a:noAutofit/>
          </a:bodyPr>
          <a:lstStyle/>
          <a:p>
            <a:pPr algn="l"/>
            <a:r>
              <a:rPr sz="3400" b="0" i="0">
                <a:solidFill>
                  <a:srgbClr val="DCDCAA"/>
                </a:solidFill>
                <a:latin typeface="Arial"/>
              </a:rPr>
              <a:t>print</a:t>
            </a:r>
          </a:p>
        </p:txBody>
      </p:sp>
      <p:sp>
        <p:nvSpPr>
          <p:cNvPr id="16" name="TextBox 15"/>
          <p:cNvSpPr/>
          <p:nvPr>
            <p:ph type="body" idx="15"/>
          </p:nvPr>
        </p:nvSpPr>
        <p:spPr>
          <a:xfrm>
            <a:off x="1777057" y="2874262"/>
            <a:ext cx="412948" cy="518159"/>
          </a:xfrm>
          <a:prstGeom prst="rect">
            <a:avLst/>
          </a:prstGeom>
          <a:noFill/>
        </p:spPr>
        <p:txBody>
          <a:bodyPr wrap="none" lIns="0" rIns="0">
            <a:noAutofit/>
          </a:bodyPr>
          <a:lstStyle/>
          <a:p>
            <a:pPr algn="l"/>
            <a:r>
              <a:rPr sz="3400" b="0" i="0">
                <a:solidFill>
                  <a:srgbClr val="D4D4D4"/>
                </a:solidFill>
                <a:latin typeface="Arial"/>
              </a:rPr>
              <a:t>(</a:t>
            </a:r>
          </a:p>
        </p:txBody>
      </p:sp>
      <p:sp>
        <p:nvSpPr>
          <p:cNvPr id="17" name="TextBox 16"/>
          <p:cNvSpPr/>
          <p:nvPr>
            <p:ph type="body" idx="16"/>
          </p:nvPr>
        </p:nvSpPr>
        <p:spPr>
          <a:xfrm>
            <a:off x="1920850" y="2874262"/>
            <a:ext cx="4474566" cy="518159"/>
          </a:xfrm>
          <a:prstGeom prst="rect">
            <a:avLst/>
          </a:prstGeom>
          <a:noFill/>
        </p:spPr>
        <p:txBody>
          <a:bodyPr wrap="none" lIns="0" rIns="0">
            <a:noAutofit/>
          </a:bodyPr>
          <a:lstStyle/>
          <a:p>
            <a:pPr algn="l"/>
            <a:r>
              <a:rPr sz="3400" b="0" i="0">
                <a:solidFill>
                  <a:srgbClr val="CE9178"/>
                </a:solidFill>
                <a:latin typeface="Arial"/>
              </a:rPr>
              <a:t>"Hello, world!"</a:t>
            </a:r>
          </a:p>
        </p:txBody>
      </p:sp>
      <p:sp>
        <p:nvSpPr>
          <p:cNvPr id="18" name="TextBox 17"/>
          <p:cNvSpPr/>
          <p:nvPr>
            <p:ph type="body" idx="17"/>
          </p:nvPr>
        </p:nvSpPr>
        <p:spPr>
          <a:xfrm>
            <a:off x="4603155" y="2874262"/>
            <a:ext cx="412948" cy="518159"/>
          </a:xfrm>
          <a:prstGeom prst="rect">
            <a:avLst/>
          </a:prstGeom>
          <a:noFill/>
        </p:spPr>
        <p:txBody>
          <a:bodyPr wrap="none" lIns="0" rIns="0">
            <a:noAutofit/>
          </a:bodyPr>
          <a:lstStyle/>
          <a:p>
            <a:pPr algn="l"/>
            <a:r>
              <a:rPr sz="3400" b="0" i="0">
                <a:solidFill>
                  <a:srgbClr val="D4D4D4"/>
                </a:solidFill>
                <a:latin typeface="Arial"/>
              </a:rPr>
              <a:t>)</a:t>
            </a:r>
          </a:p>
        </p:txBody>
      </p:sp>
      <p:sp>
        <p:nvSpPr>
          <p:cNvPr id="19" name="TextBox 18"/>
          <p:cNvSpPr/>
          <p:nvPr>
            <p:ph type="body" idx="18"/>
          </p:nvPr>
        </p:nvSpPr>
        <p:spPr>
          <a:xfrm>
            <a:off x="457200" y="3910580"/>
            <a:ext cx="1680348" cy="518159"/>
          </a:xfrm>
          <a:prstGeom prst="rect">
            <a:avLst/>
          </a:prstGeom>
          <a:noFill/>
        </p:spPr>
        <p:txBody>
          <a:bodyPr wrap="none" lIns="0" rIns="0">
            <a:noAutofit/>
          </a:bodyPr>
          <a:lstStyle/>
          <a:p>
            <a:pPr algn="l"/>
            <a:r>
              <a:rPr sz="3400" b="0" i="0">
                <a:solidFill>
                  <a:srgbClr val="DCDCAA"/>
                </a:solidFill>
                <a:latin typeface="Arial"/>
              </a:rPr>
              <a:t>main</a:t>
            </a:r>
          </a:p>
        </p:txBody>
      </p:sp>
      <p:sp>
        <p:nvSpPr>
          <p:cNvPr id="20" name="TextBox 19"/>
          <p:cNvSpPr/>
          <p:nvPr>
            <p:ph type="body" idx="19"/>
          </p:nvPr>
        </p:nvSpPr>
        <p:spPr>
          <a:xfrm>
            <a:off x="1393118" y="3910580"/>
            <a:ext cx="643017" cy="518159"/>
          </a:xfrm>
          <a:prstGeom prst="rect">
            <a:avLst/>
          </a:prstGeom>
          <a:noFill/>
        </p:spPr>
        <p:txBody>
          <a:bodyPr wrap="none" lIns="0" rIns="0">
            <a:noAutofit/>
          </a:bodyPr>
          <a:lstStyle/>
          <a:p>
            <a:pPr algn="l"/>
            <a:r>
              <a:rPr sz="3400" b="0" i="0">
                <a:solidFill>
                  <a:srgbClr val="D4D4D4"/>
                </a:solidFill>
                <a:latin typeface="Arial"/>
              </a:rPr>
              <a:t>()</a:t>
            </a:r>
          </a:p>
        </p:txBody>
      </p:sp>
      <p:sp>
        <p:nvSpPr>
          <p:cNvPr id="21" name="TextBox 20"/>
          <p:cNvSpPr/>
          <p:nvPr>
            <p:ph type="body" idx="20"/>
          </p:nvPr>
        </p:nvSpPr>
        <p:spPr>
          <a:xfrm>
            <a:off x="457200" y="4946898"/>
            <a:ext cx="567115" cy="518159"/>
          </a:xfrm>
          <a:prstGeom prst="rect">
            <a:avLst/>
          </a:prstGeom>
          <a:noFill/>
        </p:spPr>
        <p:txBody>
          <a:bodyPr wrap="none" lIns="0" rIns="0">
            <a:noAutofit/>
          </a:bodyPr>
          <a:lstStyle/>
          <a:p>
            <a:pPr algn="l"/>
            <a:r>
              <a:rPr sz="3400" b="0" i="0">
                <a:solidFill>
                  <a:srgbClr val="4EC9B0"/>
                </a:solidFill>
                <a:latin typeface="Arial"/>
              </a:rPr>
              <a:t>$</a:t>
            </a:r>
          </a:p>
        </p:txBody>
      </p:sp>
      <p:sp>
        <p:nvSpPr>
          <p:cNvPr id="22" name="TextBox 21"/>
          <p:cNvSpPr/>
          <p:nvPr>
            <p:ph type="body" idx="21"/>
          </p:nvPr>
        </p:nvSpPr>
        <p:spPr>
          <a:xfrm>
            <a:off x="697347" y="4946898"/>
            <a:ext cx="5022412" cy="518159"/>
          </a:xfrm>
          <a:prstGeom prst="rect">
            <a:avLst/>
          </a:prstGeom>
          <a:noFill/>
        </p:spPr>
        <p:txBody>
          <a:bodyPr wrap="none" lIns="0" rIns="0">
            <a:noAutofit/>
          </a:bodyPr>
          <a:lstStyle/>
          <a:p>
            <a:pPr algn="l"/>
            <a:r>
              <a:rPr sz="3400" b="0" i="0">
                <a:solidFill>
                  <a:srgbClr val="D4D4D4"/>
                </a:solidFill>
                <a:latin typeface="Arial"/>
              </a:rPr>
              <a:t> python hello.py</a:t>
            </a:r>
          </a:p>
        </p:txBody>
      </p:sp>
      <p:sp>
        <p:nvSpPr>
          <p:cNvPr id="23" name="TextBox 22"/>
          <p:cNvSpPr/>
          <p:nvPr>
            <p:ph type="body" idx="22"/>
          </p:nvPr>
        </p:nvSpPr>
        <p:spPr>
          <a:xfrm>
            <a:off x="457200" y="5465057"/>
            <a:ext cx="3984068" cy="518159"/>
          </a:xfrm>
          <a:prstGeom prst="rect">
            <a:avLst/>
          </a:prstGeom>
          <a:noFill/>
        </p:spPr>
        <p:txBody>
          <a:bodyPr wrap="none" lIns="0" rIns="0">
            <a:noAutofit/>
          </a:bodyPr>
          <a:lstStyle/>
          <a:p>
            <a:pPr algn="l"/>
            <a:r>
              <a:rPr sz="3400" b="0" i="0">
                <a:solidFill>
                  <a:srgbClr val="D4D4D4"/>
                </a:solidFill>
                <a:latin typeface="Arial"/>
              </a:rPr>
              <a:t>Hello, world!</a:t>
            </a:r>
          </a:p>
        </p:txBody>
      </p:sp>
    </p:spTree>
    <p:extLst>
      <p:ext uri="{BB962C8B-B14F-4D97-AF65-F5344CB8AC3E}">
        <p14:creationId xmlns:p14="http://schemas.microsoft.com/office/powerpoint/2010/main" val="12129998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slidekit · File Tre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Final folder shape</a:t>
            </a:r>
          </a:p>
        </p:txBody>
      </p:sp>
      <p:sp>
        <p:nvSpPr>
          <p:cNvPr id="6" name="Rounded Rectangle 5"/>
          <p:cNvSpPr/>
          <p:nvPr>
            <p:ph type="body" idx="1"/>
          </p:nvPr>
        </p:nvSpPr>
        <p:spPr>
          <a:xfrm>
            <a:off x="457200" y="1499616"/>
            <a:ext cx="11277600" cy="4261104"/>
          </a:xfrm>
          <a:prstGeom prst="roundRect">
            <a:avLst>
              <a:gd name="adj" fmla="val 3004"/>
            </a:avLst>
          </a:prstGeom>
          <a:solidFill>
            <a:srgbClr val="0C1A1C"/>
          </a:solidFill>
          <a:ln>
            <a:noFill/>
          </a:ln>
          <a:effectLst/>
        </p:spPr>
        <p:txBody>
          <a:bodyPr rtlCol="0" anchor="ctr"/>
          <a:lstStyle/>
          <a:p>
            <a:pPr algn="ctr"/>
          </a:p>
        </p:txBody>
      </p:sp>
      <p:sp>
        <p:nvSpPr>
          <p:cNvPr id="7" name="TextBox 6"/>
          <p:cNvSpPr/>
          <p:nvPr>
            <p:ph type="body" idx="2"/>
          </p:nvPr>
        </p:nvSpPr>
        <p:spPr>
          <a:xfrm>
            <a:off x="822960" y="1819656"/>
            <a:ext cx="6206708" cy="396240"/>
          </a:xfrm>
          <a:prstGeom prst="rect">
            <a:avLst/>
          </a:prstGeom>
          <a:noFill/>
        </p:spPr>
        <p:txBody>
          <a:bodyPr wrap="none" lIns="0" rIns="0">
            <a:noAutofit/>
          </a:bodyPr>
          <a:lstStyle/>
          <a:p>
            <a:pPr algn="l"/>
            <a:r>
              <a:rPr sz="2600" b="1" i="0">
                <a:solidFill>
                  <a:srgbClr val="569CD6"/>
                </a:solidFill>
                <a:latin typeface="Courier New"/>
              </a:rPr>
              <a:t>simple-eda-project/</a:t>
            </a:r>
          </a:p>
        </p:txBody>
      </p:sp>
      <p:sp>
        <p:nvSpPr>
          <p:cNvPr id="8" name="TextBox 7"/>
          <p:cNvSpPr/>
          <p:nvPr>
            <p:ph type="body" idx="3"/>
          </p:nvPr>
        </p:nvSpPr>
        <p:spPr>
          <a:xfrm>
            <a:off x="822960" y="2215896"/>
            <a:ext cx="1134011" cy="396240"/>
          </a:xfrm>
          <a:prstGeom prst="rect">
            <a:avLst/>
          </a:prstGeom>
          <a:noFill/>
        </p:spPr>
        <p:txBody>
          <a:bodyPr wrap="none" lIns="0" rIns="0">
            <a:noAutofit/>
          </a:bodyPr>
          <a:lstStyle/>
          <a:p>
            <a:pPr algn="l"/>
            <a:r>
              <a:rPr sz="2600" b="0" i="0">
                <a:solidFill>
                  <a:srgbClr val="55707A"/>
                </a:solidFill>
                <a:latin typeface="Courier New"/>
              </a:rPr>
              <a:t>├─ </a:t>
            </a:r>
          </a:p>
        </p:txBody>
      </p:sp>
      <p:sp>
        <p:nvSpPr>
          <p:cNvPr id="9" name="TextBox 8"/>
          <p:cNvSpPr/>
          <p:nvPr>
            <p:ph type="body" idx="4"/>
          </p:nvPr>
        </p:nvSpPr>
        <p:spPr>
          <a:xfrm>
            <a:off x="1417417" y="2215896"/>
            <a:ext cx="1451054" cy="396240"/>
          </a:xfrm>
          <a:prstGeom prst="rect">
            <a:avLst/>
          </a:prstGeom>
          <a:noFill/>
        </p:spPr>
        <p:txBody>
          <a:bodyPr wrap="none" lIns="0" rIns="0">
            <a:noAutofit/>
          </a:bodyPr>
          <a:lstStyle/>
          <a:p>
            <a:pPr algn="l"/>
            <a:r>
              <a:rPr sz="2600" b="1" i="0">
                <a:solidFill>
                  <a:srgbClr val="569CD6"/>
                </a:solidFill>
                <a:latin typeface="Courier New"/>
              </a:rPr>
              <a:t>src/</a:t>
            </a:r>
          </a:p>
        </p:txBody>
      </p:sp>
      <p:sp>
        <p:nvSpPr>
          <p:cNvPr id="10" name="TextBox 9"/>
          <p:cNvSpPr/>
          <p:nvPr>
            <p:ph type="body" idx="5"/>
          </p:nvPr>
        </p:nvSpPr>
        <p:spPr>
          <a:xfrm>
            <a:off x="822960" y="2612136"/>
            <a:ext cx="2085140" cy="396240"/>
          </a:xfrm>
          <a:prstGeom prst="rect">
            <a:avLst/>
          </a:prstGeom>
          <a:noFill/>
        </p:spPr>
        <p:txBody>
          <a:bodyPr wrap="none" lIns="0" rIns="0">
            <a:noAutofit/>
          </a:bodyPr>
          <a:lstStyle/>
          <a:p>
            <a:pPr algn="l"/>
            <a:r>
              <a:rPr sz="2600" b="0" i="0">
                <a:solidFill>
                  <a:srgbClr val="55707A"/>
                </a:solidFill>
                <a:latin typeface="Courier New"/>
              </a:rPr>
              <a:t>│  └─ </a:t>
            </a:r>
          </a:p>
        </p:txBody>
      </p:sp>
      <p:sp>
        <p:nvSpPr>
          <p:cNvPr id="11" name="TextBox 10"/>
          <p:cNvSpPr/>
          <p:nvPr>
            <p:ph type="body" idx="6"/>
          </p:nvPr>
        </p:nvSpPr>
        <p:spPr>
          <a:xfrm>
            <a:off x="2011873" y="2612136"/>
            <a:ext cx="3670360" cy="396240"/>
          </a:xfrm>
          <a:prstGeom prst="rect">
            <a:avLst/>
          </a:prstGeom>
          <a:noFill/>
        </p:spPr>
        <p:txBody>
          <a:bodyPr wrap="none" lIns="0" rIns="0">
            <a:noAutofit/>
          </a:bodyPr>
          <a:lstStyle/>
          <a:p>
            <a:pPr algn="l"/>
            <a:r>
              <a:rPr sz="2600" b="1" i="0">
                <a:solidFill>
                  <a:srgbClr val="569CD6"/>
                </a:solidFill>
                <a:latin typeface="Courier New"/>
              </a:rPr>
              <a:t>simple_eda/</a:t>
            </a:r>
          </a:p>
        </p:txBody>
      </p:sp>
      <p:sp>
        <p:nvSpPr>
          <p:cNvPr id="12" name="TextBox 11"/>
          <p:cNvSpPr/>
          <p:nvPr>
            <p:ph type="body" idx="7"/>
          </p:nvPr>
        </p:nvSpPr>
        <p:spPr>
          <a:xfrm>
            <a:off x="822960" y="3008376"/>
            <a:ext cx="3036272" cy="396240"/>
          </a:xfrm>
          <a:prstGeom prst="rect">
            <a:avLst/>
          </a:prstGeom>
          <a:noFill/>
        </p:spPr>
        <p:txBody>
          <a:bodyPr wrap="none" lIns="0" rIns="0">
            <a:noAutofit/>
          </a:bodyPr>
          <a:lstStyle/>
          <a:p>
            <a:pPr algn="l"/>
            <a:r>
              <a:rPr sz="2600" b="0" i="0">
                <a:solidFill>
                  <a:srgbClr val="55707A"/>
                </a:solidFill>
                <a:latin typeface="Courier New"/>
              </a:rPr>
              <a:t>│     ├─ </a:t>
            </a:r>
          </a:p>
        </p:txBody>
      </p:sp>
      <p:sp>
        <p:nvSpPr>
          <p:cNvPr id="13" name="TextBox 12"/>
          <p:cNvSpPr/>
          <p:nvPr>
            <p:ph type="body" idx="8"/>
          </p:nvPr>
        </p:nvSpPr>
        <p:spPr>
          <a:xfrm>
            <a:off x="2606330" y="3008376"/>
            <a:ext cx="3670360" cy="396240"/>
          </a:xfrm>
          <a:prstGeom prst="rect">
            <a:avLst/>
          </a:prstGeom>
          <a:noFill/>
        </p:spPr>
        <p:txBody>
          <a:bodyPr wrap="none" lIns="0" rIns="0">
            <a:noAutofit/>
          </a:bodyPr>
          <a:lstStyle/>
          <a:p>
            <a:pPr algn="l"/>
            <a:r>
              <a:rPr sz="2600" b="0" i="0">
                <a:solidFill>
                  <a:srgbClr val="D4D4D4"/>
                </a:solidFill>
                <a:latin typeface="Courier New"/>
              </a:rPr>
              <a:t>__init__.py</a:t>
            </a:r>
          </a:p>
        </p:txBody>
      </p:sp>
      <p:sp>
        <p:nvSpPr>
          <p:cNvPr id="14" name="TextBox 13"/>
          <p:cNvSpPr/>
          <p:nvPr>
            <p:ph type="body" idx="9"/>
          </p:nvPr>
        </p:nvSpPr>
        <p:spPr>
          <a:xfrm>
            <a:off x="822960" y="3404616"/>
            <a:ext cx="3036272" cy="396240"/>
          </a:xfrm>
          <a:prstGeom prst="rect">
            <a:avLst/>
          </a:prstGeom>
          <a:noFill/>
        </p:spPr>
        <p:txBody>
          <a:bodyPr wrap="none" lIns="0" rIns="0">
            <a:noAutofit/>
          </a:bodyPr>
          <a:lstStyle/>
          <a:p>
            <a:pPr algn="l"/>
            <a:r>
              <a:rPr sz="2600" b="0" i="0">
                <a:solidFill>
                  <a:srgbClr val="55707A"/>
                </a:solidFill>
                <a:latin typeface="Courier New"/>
              </a:rPr>
              <a:t>│     └─ </a:t>
            </a:r>
          </a:p>
        </p:txBody>
      </p:sp>
      <p:sp>
        <p:nvSpPr>
          <p:cNvPr id="15" name="TextBox 14"/>
          <p:cNvSpPr/>
          <p:nvPr>
            <p:ph type="body" idx="13"/>
          </p:nvPr>
        </p:nvSpPr>
        <p:spPr>
          <a:xfrm>
            <a:off x="2606330" y="3404616"/>
            <a:ext cx="2402185" cy="396240"/>
          </a:xfrm>
          <a:prstGeom prst="rect">
            <a:avLst/>
          </a:prstGeom>
          <a:noFill/>
        </p:spPr>
        <p:txBody>
          <a:bodyPr wrap="none" lIns="0" rIns="0">
            <a:noAutofit/>
          </a:bodyPr>
          <a:lstStyle/>
          <a:p>
            <a:pPr algn="l"/>
            <a:r>
              <a:rPr sz="2600" b="0" i="0">
                <a:solidFill>
                  <a:srgbClr val="D4D4D4"/>
                </a:solidFill>
                <a:latin typeface="Courier New"/>
              </a:rPr>
              <a:t>core.py</a:t>
            </a:r>
          </a:p>
        </p:txBody>
      </p:sp>
      <p:sp>
        <p:nvSpPr>
          <p:cNvPr id="16" name="TextBox 15"/>
          <p:cNvSpPr/>
          <p:nvPr>
            <p:ph type="body" idx="14"/>
          </p:nvPr>
        </p:nvSpPr>
        <p:spPr>
          <a:xfrm>
            <a:off x="822960" y="3800856"/>
            <a:ext cx="1134011" cy="396240"/>
          </a:xfrm>
          <a:prstGeom prst="rect">
            <a:avLst/>
          </a:prstGeom>
          <a:noFill/>
        </p:spPr>
        <p:txBody>
          <a:bodyPr wrap="none" lIns="0" rIns="0">
            <a:noAutofit/>
          </a:bodyPr>
          <a:lstStyle/>
          <a:p>
            <a:pPr algn="l"/>
            <a:r>
              <a:rPr sz="2600" b="0" i="0">
                <a:solidFill>
                  <a:srgbClr val="55707A"/>
                </a:solidFill>
                <a:latin typeface="Courier New"/>
              </a:rPr>
              <a:t>├─ </a:t>
            </a:r>
          </a:p>
        </p:txBody>
      </p:sp>
      <p:sp>
        <p:nvSpPr>
          <p:cNvPr id="17" name="TextBox 16"/>
          <p:cNvSpPr/>
          <p:nvPr>
            <p:ph type="body" idx="15"/>
          </p:nvPr>
        </p:nvSpPr>
        <p:spPr>
          <a:xfrm>
            <a:off x="1417417" y="3800856"/>
            <a:ext cx="3036272" cy="396240"/>
          </a:xfrm>
          <a:prstGeom prst="rect">
            <a:avLst/>
          </a:prstGeom>
          <a:noFill/>
        </p:spPr>
        <p:txBody>
          <a:bodyPr wrap="none" lIns="0" rIns="0">
            <a:noAutofit/>
          </a:bodyPr>
          <a:lstStyle/>
          <a:p>
            <a:pPr algn="l"/>
            <a:r>
              <a:rPr sz="2600" b="0" i="0">
                <a:solidFill>
                  <a:srgbClr val="D4D4D4"/>
                </a:solidFill>
                <a:latin typeface="Courier New"/>
              </a:rPr>
              <a:t>README.md</a:t>
            </a:r>
          </a:p>
        </p:txBody>
      </p:sp>
      <p:sp>
        <p:nvSpPr>
          <p:cNvPr id="18" name="TextBox 17"/>
          <p:cNvSpPr/>
          <p:nvPr>
            <p:ph type="body" idx="16"/>
          </p:nvPr>
        </p:nvSpPr>
        <p:spPr>
          <a:xfrm>
            <a:off x="822960" y="4197096"/>
            <a:ext cx="1134011" cy="396240"/>
          </a:xfrm>
          <a:prstGeom prst="rect">
            <a:avLst/>
          </a:prstGeom>
          <a:noFill/>
        </p:spPr>
        <p:txBody>
          <a:bodyPr wrap="none" lIns="0" rIns="0">
            <a:noAutofit/>
          </a:bodyPr>
          <a:lstStyle/>
          <a:p>
            <a:pPr algn="l"/>
            <a:r>
              <a:rPr sz="2600" b="0" i="0">
                <a:solidFill>
                  <a:srgbClr val="55707A"/>
                </a:solidFill>
                <a:latin typeface="Courier New"/>
              </a:rPr>
              <a:t>├─ </a:t>
            </a:r>
          </a:p>
        </p:txBody>
      </p:sp>
      <p:sp>
        <p:nvSpPr>
          <p:cNvPr id="19" name="TextBox 18"/>
          <p:cNvSpPr/>
          <p:nvPr>
            <p:ph type="body" idx="17"/>
          </p:nvPr>
        </p:nvSpPr>
        <p:spPr>
          <a:xfrm>
            <a:off x="1417417" y="4197096"/>
            <a:ext cx="4621489" cy="396240"/>
          </a:xfrm>
          <a:prstGeom prst="rect">
            <a:avLst/>
          </a:prstGeom>
          <a:noFill/>
        </p:spPr>
        <p:txBody>
          <a:bodyPr wrap="none" lIns="0" rIns="0">
            <a:noAutofit/>
          </a:bodyPr>
          <a:lstStyle/>
          <a:p>
            <a:pPr algn="l"/>
            <a:r>
              <a:rPr sz="2600" b="0" i="0">
                <a:solidFill>
                  <a:srgbClr val="D4D4D4"/>
                </a:solidFill>
                <a:latin typeface="Courier New"/>
              </a:rPr>
              <a:t>pyproject.toml</a:t>
            </a:r>
          </a:p>
        </p:txBody>
      </p:sp>
      <p:sp>
        <p:nvSpPr>
          <p:cNvPr id="20" name="TextBox 19"/>
          <p:cNvSpPr/>
          <p:nvPr>
            <p:ph type="body" idx="18"/>
          </p:nvPr>
        </p:nvSpPr>
        <p:spPr>
          <a:xfrm>
            <a:off x="822960" y="4593336"/>
            <a:ext cx="1134011" cy="396240"/>
          </a:xfrm>
          <a:prstGeom prst="rect">
            <a:avLst/>
          </a:prstGeom>
          <a:noFill/>
        </p:spPr>
        <p:txBody>
          <a:bodyPr wrap="none" lIns="0" rIns="0">
            <a:noAutofit/>
          </a:bodyPr>
          <a:lstStyle/>
          <a:p>
            <a:pPr algn="l"/>
            <a:r>
              <a:rPr sz="2600" b="0" i="0">
                <a:solidFill>
                  <a:srgbClr val="55707A"/>
                </a:solidFill>
                <a:latin typeface="Courier New"/>
              </a:rPr>
              <a:t>└─ </a:t>
            </a:r>
          </a:p>
        </p:txBody>
      </p:sp>
      <p:sp>
        <p:nvSpPr>
          <p:cNvPr id="21" name="TextBox 20"/>
          <p:cNvSpPr/>
          <p:nvPr>
            <p:ph type="body" idx="19"/>
          </p:nvPr>
        </p:nvSpPr>
        <p:spPr>
          <a:xfrm>
            <a:off x="1417417" y="4593336"/>
            <a:ext cx="2402185" cy="396240"/>
          </a:xfrm>
          <a:prstGeom prst="rect">
            <a:avLst/>
          </a:prstGeom>
          <a:noFill/>
        </p:spPr>
        <p:txBody>
          <a:bodyPr wrap="none" lIns="0" rIns="0">
            <a:noAutofit/>
          </a:bodyPr>
          <a:lstStyle/>
          <a:p>
            <a:pPr algn="l"/>
            <a:r>
              <a:rPr sz="2600" b="0" i="0">
                <a:solidFill>
                  <a:srgbClr val="D4D4D4"/>
                </a:solidFill>
                <a:latin typeface="Courier New"/>
              </a:rPr>
              <a:t>LICENSE</a:t>
            </a:r>
          </a:p>
        </p:txBody>
      </p:sp>
    </p:spTree>
    <p:extLst>
      <p:ext uri="{BB962C8B-B14F-4D97-AF65-F5344CB8AC3E}">
        <p14:creationId xmlns:p14="http://schemas.microsoft.com/office/powerpoint/2010/main" val="12129998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slidekit · Numbered Step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Three Steps to Onboard</a:t>
            </a:r>
          </a:p>
        </p:txBody>
      </p:sp>
      <p:sp>
        <p:nvSpPr>
          <p:cNvPr id="6" name="TextBox 5"/>
          <p:cNvSpPr/>
          <p:nvPr>
            <p:ph type="body" id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7" name="TextBox 6"/>
          <p:cNvSpPr/>
          <p:nvPr>
            <p:ph type="body" idx="2"/>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Connect your data</a:t>
            </a:r>
          </a:p>
        </p:txBody>
      </p:sp>
      <p:sp>
        <p:nvSpPr>
          <p:cNvPr id="8" name="TextBox 7"/>
          <p:cNvSpPr/>
          <p:nvPr>
            <p:ph type="body" idx="3"/>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Link a source in minutes with a guided wizard.</a:t>
            </a:r>
          </a:p>
        </p:txBody>
      </p:sp>
      <p:sp>
        <p:nvSpPr>
          <p:cNvPr id="9" name="TextBox 8"/>
          <p:cNvSpPr/>
          <p:nvPr>
            <p:ph type="body" idx="4"/>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10" name="TextBox 9"/>
          <p:cNvSpPr/>
          <p:nvPr>
            <p:ph type="body" idx="5"/>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Pick a template</a:t>
            </a:r>
          </a:p>
        </p:txBody>
      </p:sp>
      <p:sp>
        <p:nvSpPr>
          <p:cNvPr id="11" name="TextBox 10"/>
          <p:cNvSpPr/>
          <p:nvPr>
            <p:ph type="body" idx="6"/>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Start from a proven layout, then tailor it.</a:t>
            </a:r>
          </a:p>
        </p:txBody>
      </p:sp>
      <p:sp>
        <p:nvSpPr>
          <p:cNvPr id="12" name="TextBox 11"/>
          <p:cNvSpPr/>
          <p:nvPr>
            <p:ph type="body" idx="7"/>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3" name="TextBox 12"/>
          <p:cNvSpPr/>
          <p:nvPr>
            <p:ph type="body" idx="8"/>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Share the result</a:t>
            </a:r>
          </a:p>
        </p:txBody>
      </p:sp>
      <p:sp>
        <p:nvSpPr>
          <p:cNvPr id="14" name="TextBox 13"/>
          <p:cNvSpPr/>
          <p:nvPr>
            <p:ph type="body" idx="9"/>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Publish to your team and gather feedback fast.</a:t>
            </a:r>
          </a:p>
        </p:txBody>
      </p:sp>
    </p:spTree>
    <p:extLst>
      <p:ext uri="{BB962C8B-B14F-4D97-AF65-F5344CB8AC3E}">
        <p14:creationId xmlns:p14="http://schemas.microsoft.com/office/powerpoint/2010/main" val="12129998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slidekit · Two Panel Lis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Onboarding, Reworked</a:t>
            </a:r>
          </a:p>
        </p:txBody>
      </p:sp>
      <p:sp>
        <p:nvSpPr>
          <p:cNvPr id="6" name="TextBox 5"/>
          <p:cNvSpPr/>
          <p:nvPr>
            <p:ph type="body" id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Before</a:t>
            </a:r>
          </a:p>
        </p:txBody>
      </p:sp>
      <p:sp>
        <p:nvSpPr>
          <p:cNvPr id="7" name="Rectangle 6"/>
          <p:cNvSpPr/>
          <p:nvPr>
            <p:ph type="body" idx="2"/>
          </p:nvPr>
        </p:nvSpPr>
        <p:spPr>
          <a:xfrm>
            <a:off x="548640" y="2176271"/>
            <a:ext cx="1650492"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6233160" y="1499616"/>
            <a:ext cx="5501640" cy="621791"/>
          </a:xfrm>
          <a:prstGeom prst="rect">
            <a:avLst/>
          </a:prstGeom>
          <a:noFill/>
        </p:spPr>
        <p:txBody>
          <a:bodyPr wrap="none" lIns="0" rIns="0">
            <a:noAutofit/>
          </a:bodyPr>
          <a:lstStyle/>
          <a:p>
            <a:pPr algn="l"/>
            <a:r>
              <a:rPr sz="3400" b="1" i="0">
                <a:solidFill>
                  <a:srgbClr val="5B6B82"/>
                </a:solidFill>
                <a:latin typeface="Arial"/>
              </a:rPr>
              <a:t>After</a:t>
            </a:r>
          </a:p>
        </p:txBody>
      </p:sp>
      <p:sp>
        <p:nvSpPr>
          <p:cNvPr id="9" name="Rectangle 8"/>
          <p:cNvSpPr/>
          <p:nvPr>
            <p:ph type="body" idx="4"/>
          </p:nvPr>
        </p:nvSpPr>
        <p:spPr>
          <a:xfrm>
            <a:off x="6324600" y="2176271"/>
            <a:ext cx="1650492" cy="54864"/>
          </a:xfrm>
          <a:prstGeom prst="rect">
            <a:avLst/>
          </a:prstGeom>
          <a:solidFill>
            <a:srgbClr val="5B6B82"/>
          </a:solidFill>
          <a:ln>
            <a:noFill/>
          </a:ln>
          <a:effectLst/>
        </p:spPr>
        <p:txBody>
          <a:bodyPr rtlCol="0" anchor="ctr"/>
          <a:lstStyle/>
          <a:p>
            <a:pPr algn="ctr"/>
          </a:p>
        </p:txBody>
      </p:sp>
      <p:sp>
        <p:nvSpPr>
          <p:cNvPr id="10" name="TextBox 9"/>
          <p:cNvSpPr/>
          <p:nvPr>
            <p:ph type="body" idx="5"/>
          </p:nvPr>
        </p:nvSpPr>
        <p:spPr>
          <a:xfrm>
            <a:off x="457200" y="2395727"/>
            <a:ext cx="6942574" cy="609600"/>
          </a:xfrm>
          <a:prstGeom prst="rect">
            <a:avLst/>
          </a:prstGeom>
          <a:noFill/>
        </p:spPr>
        <p:txBody>
          <a:bodyPr wrap="none" lIns="0" rIns="0">
            <a:noAutofit/>
          </a:bodyPr>
          <a:lstStyle/>
          <a:p>
            <a:pPr algn="l"/>
            <a:r>
              <a:rPr sz="3400" b="0" i="0">
                <a:solidFill>
                  <a:srgbClr val="0A2240"/>
                </a:solidFill>
                <a:latin typeface="Arial"/>
              </a:rPr>
              <a:t>Manual account setup</a:t>
            </a:r>
          </a:p>
        </p:txBody>
      </p:sp>
      <p:sp>
        <p:nvSpPr>
          <p:cNvPr id="11" name="TextBox 10"/>
          <p:cNvSpPr/>
          <p:nvPr>
            <p:ph type="body" idx="6"/>
          </p:nvPr>
        </p:nvSpPr>
        <p:spPr>
          <a:xfrm>
            <a:off x="457200" y="3608831"/>
            <a:ext cx="7594321" cy="609600"/>
          </a:xfrm>
          <a:prstGeom prst="rect">
            <a:avLst/>
          </a:prstGeom>
          <a:noFill/>
        </p:spPr>
        <p:txBody>
          <a:bodyPr wrap="none" lIns="0" rIns="0">
            <a:noAutofit/>
          </a:bodyPr>
          <a:lstStyle/>
          <a:p>
            <a:pPr algn="l"/>
            <a:r>
              <a:rPr sz="3400" b="0" i="0">
                <a:solidFill>
                  <a:srgbClr val="0A2240"/>
                </a:solidFill>
                <a:latin typeface="Arial"/>
              </a:rPr>
              <a:t>Three-day approval wait</a:t>
            </a:r>
          </a:p>
        </p:txBody>
      </p:sp>
      <p:sp>
        <p:nvSpPr>
          <p:cNvPr id="12" name="TextBox 11"/>
          <p:cNvSpPr/>
          <p:nvPr>
            <p:ph type="body" idx="7"/>
          </p:nvPr>
        </p:nvSpPr>
        <p:spPr>
          <a:xfrm>
            <a:off x="457200" y="4821935"/>
            <a:ext cx="5904230" cy="609600"/>
          </a:xfrm>
          <a:prstGeom prst="rect">
            <a:avLst/>
          </a:prstGeom>
          <a:noFill/>
        </p:spPr>
        <p:txBody>
          <a:bodyPr wrap="none" lIns="0" rIns="0">
            <a:noAutofit/>
          </a:bodyPr>
          <a:lstStyle/>
          <a:p>
            <a:pPr algn="l"/>
            <a:r>
              <a:rPr sz="3400" b="0" i="0">
                <a:solidFill>
                  <a:srgbClr val="0A2240"/>
                </a:solidFill>
                <a:latin typeface="Arial"/>
              </a:rPr>
              <a:t>Email-only support</a:t>
            </a:r>
          </a:p>
        </p:txBody>
      </p:sp>
      <p:sp>
        <p:nvSpPr>
          <p:cNvPr id="13" name="TextBox 12"/>
          <p:cNvSpPr/>
          <p:nvPr>
            <p:ph type="body" idx="8"/>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One-click provisioning</a:t>
            </a:r>
          </a:p>
        </p:txBody>
      </p:sp>
      <p:sp>
        <p:nvSpPr>
          <p:cNvPr id="14" name="TextBox 13"/>
          <p:cNvSpPr/>
          <p:nvPr>
            <p:ph type="body" idx="9"/>
          </p:nvPr>
        </p:nvSpPr>
        <p:spPr>
          <a:xfrm>
            <a:off x="6233160" y="3608831"/>
            <a:ext cx="5958840" cy="609600"/>
          </a:xfrm>
          <a:prstGeom prst="rect">
            <a:avLst/>
          </a:prstGeom>
          <a:noFill/>
        </p:spPr>
        <p:txBody>
          <a:bodyPr wrap="none" lIns="0" rIns="0">
            <a:noAutofit/>
          </a:bodyPr>
          <a:lstStyle/>
          <a:p>
            <a:pPr algn="l"/>
            <a:r>
              <a:rPr sz="3400" b="0" i="0">
                <a:solidFill>
                  <a:srgbClr val="0A2240"/>
                </a:solidFill>
                <a:latin typeface="Arial"/>
              </a:rPr>
              <a:t>Same-day approval</a:t>
            </a:r>
          </a:p>
        </p:txBody>
      </p:sp>
      <p:sp>
        <p:nvSpPr>
          <p:cNvPr id="15" name="TextBox 14"/>
          <p:cNvSpPr/>
          <p:nvPr>
            <p:ph type="body" idx="13"/>
          </p:nvPr>
        </p:nvSpPr>
        <p:spPr>
          <a:xfrm>
            <a:off x="6233160" y="4821935"/>
            <a:ext cx="5958840" cy="609600"/>
          </a:xfrm>
          <a:prstGeom prst="rect">
            <a:avLst/>
          </a:prstGeom>
          <a:noFill/>
        </p:spPr>
        <p:txBody>
          <a:bodyPr wrap="none" lIns="0" rIns="0">
            <a:noAutofit/>
          </a:bodyPr>
          <a:lstStyle/>
          <a:p>
            <a:pPr algn="l"/>
            <a:r>
              <a:rPr sz="3400" b="0" i="0">
                <a:solidFill>
                  <a:srgbClr val="0A2240"/>
                </a:solidFill>
                <a:latin typeface="Arial"/>
              </a:rPr>
              <a:t>In-product live chat</a:t>
            </a:r>
          </a:p>
        </p:txBody>
      </p:sp>
    </p:spTree>
    <p:extLst>
      <p:ext uri="{BB962C8B-B14F-4D97-AF65-F5344CB8AC3E}">
        <p14:creationId xmlns:p14="http://schemas.microsoft.com/office/powerpoint/2010/main" val="12129998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slidekit · This vs Tha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Cloud or On-Prem</a:t>
            </a:r>
          </a:p>
        </p:txBody>
      </p:sp>
      <p:sp>
        <p:nvSpPr>
          <p:cNvPr id="6" name="TextBox 5"/>
          <p:cNvSpPr/>
          <p:nvPr>
            <p:ph type="body" id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3 wks</a:t>
            </a:r>
          </a:p>
        </p:txBody>
      </p:sp>
      <p:sp>
        <p:nvSpPr>
          <p:cNvPr id="7" name="TextBox 6"/>
          <p:cNvSpPr/>
          <p:nvPr>
            <p:ph type="body" idx="2"/>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Cloud time-to-launch</a:t>
            </a:r>
          </a:p>
        </p:txBody>
      </p:sp>
      <p:sp>
        <p:nvSpPr>
          <p:cNvPr id="8" name="TextBox 7"/>
          <p:cNvSpPr/>
          <p:nvPr>
            <p:ph type="body" idx="3"/>
          </p:nvPr>
        </p:nvSpPr>
        <p:spPr>
          <a:xfrm>
            <a:off x="6941820" y="2776728"/>
            <a:ext cx="4792980" cy="914400"/>
          </a:xfrm>
          <a:prstGeom prst="rect">
            <a:avLst/>
          </a:prstGeom>
          <a:noFill/>
        </p:spPr>
        <p:txBody>
          <a:bodyPr wrap="none" lIns="0" rIns="0">
            <a:noAutofit/>
          </a:bodyPr>
          <a:lstStyle/>
          <a:p>
            <a:pPr algn="ctr"/>
            <a:r>
              <a:rPr sz="6000" b="1" i="0">
                <a:solidFill>
                  <a:srgbClr val="0A2240"/>
                </a:solidFill>
                <a:latin typeface="Arial"/>
              </a:rPr>
              <a:t>6 mo</a:t>
            </a:r>
          </a:p>
        </p:txBody>
      </p:sp>
      <p:sp>
        <p:nvSpPr>
          <p:cNvPr id="9" name="TextBox 8"/>
          <p:cNvSpPr/>
          <p:nvPr>
            <p:ph type="body" idx="4"/>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On-prem time-to-launch</a:t>
            </a:r>
          </a:p>
        </p:txBody>
      </p:sp>
      <p:sp>
        <p:nvSpPr>
          <p:cNvPr id="10" name="TextBox 9"/>
          <p:cNvSpPr/>
          <p:nvPr>
            <p:ph type="body" idx="5"/>
          </p:nvPr>
        </p:nvSpPr>
        <p:spPr>
          <a:xfrm>
            <a:off x="5435323" y="3310127"/>
            <a:ext cx="1321354" cy="640080"/>
          </a:xfrm>
          <a:prstGeom prst="rect">
            <a:avLst/>
          </a:prstGeom>
          <a:noFill/>
        </p:spPr>
        <p:txBody>
          <a:bodyPr wrap="none" lIns="0" rIns="0">
            <a:noAutofit/>
          </a:bodyPr>
          <a:lstStyle/>
          <a:p>
            <a:pPr algn="ctr"/>
            <a:r>
              <a:rPr sz="4200" b="1" i="0">
                <a:solidFill>
                  <a:srgbClr val="5B6B82"/>
                </a:solidFill>
                <a:latin typeface="Arial"/>
              </a:rPr>
              <a:t>VS</a:t>
            </a:r>
          </a:p>
        </p:txBody>
      </p:sp>
    </p:spTree>
    <p:extLst>
      <p:ext uri="{BB962C8B-B14F-4D97-AF65-F5344CB8AC3E}">
        <p14:creationId xmlns:p14="http://schemas.microsoft.com/office/powerpoint/2010/main" val="12129998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slidekit · KPI Gr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Key Metrics This Quarter</a:t>
            </a:r>
          </a:p>
        </p:txBody>
      </p:sp>
      <p:sp>
        <p:nvSpPr>
          <p:cNvPr id="6" name="TextBox 5"/>
          <p:cNvSpPr/>
          <p:nvPr>
            <p:ph type="body" idx="1"/>
          </p:nvPr>
        </p:nvSpPr>
        <p:spPr>
          <a:xfrm>
            <a:off x="457200" y="1789176"/>
            <a:ext cx="3576320" cy="640080"/>
          </a:xfrm>
          <a:prstGeom prst="rect">
            <a:avLst/>
          </a:prstGeom>
          <a:noFill/>
        </p:spPr>
        <p:txBody>
          <a:bodyPr wrap="none" lIns="0" rIns="0">
            <a:noAutofit/>
          </a:bodyPr>
          <a:lstStyle/>
          <a:p>
            <a:pPr algn="ctr"/>
            <a:r>
              <a:rPr sz="4200" b="1" i="0">
                <a:solidFill>
                  <a:srgbClr val="0072CE"/>
                </a:solidFill>
                <a:latin typeface="Arial"/>
              </a:rPr>
              <a:t>98.7%</a:t>
            </a:r>
          </a:p>
        </p:txBody>
      </p:sp>
      <p:sp>
        <p:nvSpPr>
          <p:cNvPr id="7" name="Rectangle 6"/>
          <p:cNvSpPr/>
          <p:nvPr>
            <p:ph type="body" idx="2"/>
          </p:nvPr>
        </p:nvSpPr>
        <p:spPr>
          <a:xfrm>
            <a:off x="1708912" y="2484120"/>
            <a:ext cx="1072896"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593848"/>
            <a:ext cx="3576320" cy="609600"/>
          </a:xfrm>
          <a:prstGeom prst="rect">
            <a:avLst/>
          </a:prstGeom>
          <a:noFill/>
        </p:spPr>
        <p:txBody>
          <a:bodyPr wrap="none" lIns="0" rIns="0">
            <a:noAutofit/>
          </a:bodyPr>
          <a:lstStyle/>
          <a:p>
            <a:pPr algn="ctr"/>
            <a:r>
              <a:rPr sz="3400" b="0" i="0">
                <a:solidFill>
                  <a:srgbClr val="0A2240"/>
                </a:solidFill>
                <a:latin typeface="Arial"/>
              </a:rPr>
              <a:t>Uptime</a:t>
            </a:r>
          </a:p>
        </p:txBody>
      </p:sp>
      <p:sp>
        <p:nvSpPr>
          <p:cNvPr id="9" name="TextBox 8"/>
          <p:cNvSpPr/>
          <p:nvPr>
            <p:ph type="body" idx="4"/>
          </p:nvPr>
        </p:nvSpPr>
        <p:spPr>
          <a:xfrm>
            <a:off x="4307840" y="1789176"/>
            <a:ext cx="3576320" cy="640080"/>
          </a:xfrm>
          <a:prstGeom prst="rect">
            <a:avLst/>
          </a:prstGeom>
          <a:noFill/>
        </p:spPr>
        <p:txBody>
          <a:bodyPr wrap="none" lIns="0" rIns="0">
            <a:noAutofit/>
          </a:bodyPr>
          <a:lstStyle/>
          <a:p>
            <a:pPr algn="ctr"/>
            <a:r>
              <a:rPr sz="4200" b="1" i="0">
                <a:solidFill>
                  <a:srgbClr val="0072CE"/>
                </a:solidFill>
                <a:latin typeface="Arial"/>
              </a:rPr>
              <a:t>1,240</a:t>
            </a:r>
          </a:p>
        </p:txBody>
      </p:sp>
      <p:sp>
        <p:nvSpPr>
          <p:cNvPr id="10" name="Rectangle 9"/>
          <p:cNvSpPr/>
          <p:nvPr>
            <p:ph type="body" idx="5"/>
          </p:nvPr>
        </p:nvSpPr>
        <p:spPr>
          <a:xfrm>
            <a:off x="5559552" y="2484120"/>
            <a:ext cx="1072896" cy="54864"/>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3834934" y="2593848"/>
            <a:ext cx="4522132" cy="609600"/>
          </a:xfrm>
          <a:prstGeom prst="rect">
            <a:avLst/>
          </a:prstGeom>
          <a:noFill/>
        </p:spPr>
        <p:txBody>
          <a:bodyPr wrap="none" lIns="0" rIns="0">
            <a:noAutofit/>
          </a:bodyPr>
          <a:lstStyle/>
          <a:p>
            <a:pPr algn="ctr"/>
            <a:r>
              <a:rPr sz="3400" b="0" i="0">
                <a:solidFill>
                  <a:srgbClr val="0A2240"/>
                </a:solidFill>
                <a:latin typeface="Arial"/>
              </a:rPr>
              <a:t>New accounts</a:t>
            </a:r>
          </a:p>
        </p:txBody>
      </p:sp>
      <p:sp>
        <p:nvSpPr>
          <p:cNvPr id="12" name="TextBox 11"/>
          <p:cNvSpPr/>
          <p:nvPr>
            <p:ph type="body" idx="7"/>
          </p:nvPr>
        </p:nvSpPr>
        <p:spPr>
          <a:xfrm>
            <a:off x="8158480" y="1789176"/>
            <a:ext cx="3576320" cy="640080"/>
          </a:xfrm>
          <a:prstGeom prst="rect">
            <a:avLst/>
          </a:prstGeom>
          <a:noFill/>
        </p:spPr>
        <p:txBody>
          <a:bodyPr wrap="none" lIns="0" rIns="0">
            <a:noAutofit/>
          </a:bodyPr>
          <a:lstStyle/>
          <a:p>
            <a:pPr algn="ctr"/>
            <a:r>
              <a:rPr sz="4200" b="1" i="0">
                <a:solidFill>
                  <a:srgbClr val="0072CE"/>
                </a:solidFill>
                <a:latin typeface="Arial"/>
              </a:rPr>
              <a:t>4.6/5</a:t>
            </a:r>
          </a:p>
        </p:txBody>
      </p:sp>
      <p:sp>
        <p:nvSpPr>
          <p:cNvPr id="13" name="Rectangle 12"/>
          <p:cNvSpPr/>
          <p:nvPr>
            <p:ph type="body" idx="8"/>
          </p:nvPr>
        </p:nvSpPr>
        <p:spPr>
          <a:xfrm>
            <a:off x="9410192" y="2484120"/>
            <a:ext cx="1072896" cy="54864"/>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7701280" y="2593848"/>
            <a:ext cx="4490720" cy="609600"/>
          </a:xfrm>
          <a:prstGeom prst="rect">
            <a:avLst/>
          </a:prstGeom>
          <a:noFill/>
        </p:spPr>
        <p:txBody>
          <a:bodyPr wrap="none" lIns="0" rIns="0">
            <a:noAutofit/>
          </a:bodyPr>
          <a:lstStyle/>
          <a:p>
            <a:pPr algn="ctr"/>
            <a:r>
              <a:rPr sz="3400" b="0" i="0">
                <a:solidFill>
                  <a:srgbClr val="0A2240"/>
                </a:solidFill>
                <a:latin typeface="Arial"/>
              </a:rPr>
              <a:t>Support rating</a:t>
            </a:r>
          </a:p>
        </p:txBody>
      </p:sp>
      <p:sp>
        <p:nvSpPr>
          <p:cNvPr id="15" name="TextBox 14"/>
          <p:cNvSpPr/>
          <p:nvPr>
            <p:ph type="body" idx="13"/>
          </p:nvPr>
        </p:nvSpPr>
        <p:spPr>
          <a:xfrm>
            <a:off x="457200" y="4056888"/>
            <a:ext cx="3576320" cy="640080"/>
          </a:xfrm>
          <a:prstGeom prst="rect">
            <a:avLst/>
          </a:prstGeom>
          <a:noFill/>
        </p:spPr>
        <p:txBody>
          <a:bodyPr wrap="none" lIns="0" rIns="0">
            <a:noAutofit/>
          </a:bodyPr>
          <a:lstStyle/>
          <a:p>
            <a:pPr algn="ctr"/>
            <a:r>
              <a:rPr sz="4200" b="1" i="0">
                <a:solidFill>
                  <a:srgbClr val="0072CE"/>
                </a:solidFill>
                <a:latin typeface="Arial"/>
              </a:rPr>
              <a:t>$2.1M</a:t>
            </a:r>
          </a:p>
        </p:txBody>
      </p:sp>
      <p:sp>
        <p:nvSpPr>
          <p:cNvPr id="16" name="Rectangle 15"/>
          <p:cNvSpPr/>
          <p:nvPr>
            <p:ph type="body" idx="14"/>
          </p:nvPr>
        </p:nvSpPr>
        <p:spPr>
          <a:xfrm>
            <a:off x="1708912" y="4751832"/>
            <a:ext cx="1072896" cy="54864"/>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0" y="4861560"/>
            <a:ext cx="4490720" cy="609600"/>
          </a:xfrm>
          <a:prstGeom prst="rect">
            <a:avLst/>
          </a:prstGeom>
          <a:noFill/>
        </p:spPr>
        <p:txBody>
          <a:bodyPr wrap="none" lIns="0" rIns="0">
            <a:noAutofit/>
          </a:bodyPr>
          <a:lstStyle/>
          <a:p>
            <a:pPr algn="ctr"/>
            <a:r>
              <a:rPr sz="3400" b="0" i="0">
                <a:solidFill>
                  <a:srgbClr val="0A2240"/>
                </a:solidFill>
                <a:latin typeface="Arial"/>
              </a:rPr>
              <a:t>Net new revenue</a:t>
            </a:r>
          </a:p>
        </p:txBody>
      </p:sp>
      <p:sp>
        <p:nvSpPr>
          <p:cNvPr id="18" name="TextBox 17"/>
          <p:cNvSpPr/>
          <p:nvPr>
            <p:ph type="body" idx="16"/>
          </p:nvPr>
        </p:nvSpPr>
        <p:spPr>
          <a:xfrm>
            <a:off x="4307840" y="3797808"/>
            <a:ext cx="3576320" cy="640080"/>
          </a:xfrm>
          <a:prstGeom prst="rect">
            <a:avLst/>
          </a:prstGeom>
          <a:noFill/>
        </p:spPr>
        <p:txBody>
          <a:bodyPr wrap="none" lIns="0" rIns="0">
            <a:noAutofit/>
          </a:bodyPr>
          <a:lstStyle/>
          <a:p>
            <a:pPr algn="ctr"/>
            <a:r>
              <a:rPr sz="4200" b="1" i="0">
                <a:solidFill>
                  <a:srgbClr val="0072CE"/>
                </a:solidFill>
                <a:latin typeface="Arial"/>
              </a:rPr>
              <a:t>12 days</a:t>
            </a:r>
          </a:p>
        </p:txBody>
      </p:sp>
      <p:sp>
        <p:nvSpPr>
          <p:cNvPr id="19" name="Rectangle 18"/>
          <p:cNvSpPr/>
          <p:nvPr>
            <p:ph type="body" idx="17"/>
          </p:nvPr>
        </p:nvSpPr>
        <p:spPr>
          <a:xfrm>
            <a:off x="5559552" y="4492752"/>
            <a:ext cx="1072896" cy="54864"/>
          </a:xfrm>
          <a:prstGeom prst="rect">
            <a:avLst/>
          </a:prstGeom>
          <a:solidFill>
            <a:srgbClr val="0072CE"/>
          </a:solidFill>
          <a:ln>
            <a:noFill/>
          </a:ln>
          <a:effectLst/>
        </p:spPr>
        <p:txBody>
          <a:bodyPr rtlCol="0" anchor="ctr"/>
          <a:lstStyle/>
          <a:p>
            <a:pPr algn="ctr"/>
          </a:p>
        </p:txBody>
      </p:sp>
      <p:sp>
        <p:nvSpPr>
          <p:cNvPr id="20" name="TextBox 19"/>
          <p:cNvSpPr/>
          <p:nvPr>
            <p:ph type="body" idx="18"/>
          </p:nvPr>
        </p:nvSpPr>
        <p:spPr>
          <a:xfrm>
            <a:off x="4307840" y="4602480"/>
            <a:ext cx="3576320" cy="1127760"/>
          </a:xfrm>
          <a:prstGeom prst="rect">
            <a:avLst/>
          </a:prstGeom>
          <a:noFill/>
        </p:spPr>
        <p:txBody>
          <a:bodyPr wrap="square" lIns="0" rIns="0">
            <a:noAutofit/>
          </a:bodyPr>
          <a:lstStyle/>
          <a:p>
            <a:pPr algn="ctr"/>
            <a:r>
              <a:rPr sz="3400" b="0" i="0">
                <a:solidFill>
                  <a:srgbClr val="0A2240"/>
                </a:solidFill>
                <a:latin typeface="Arial"/>
              </a:rPr>
              <a:t>Avg. time to value</a:t>
            </a:r>
          </a:p>
        </p:txBody>
      </p:sp>
      <p:sp>
        <p:nvSpPr>
          <p:cNvPr id="21" name="TextBox 20"/>
          <p:cNvSpPr/>
          <p:nvPr>
            <p:ph type="body" idx="19"/>
          </p:nvPr>
        </p:nvSpPr>
        <p:spPr>
          <a:xfrm>
            <a:off x="8158480" y="4056888"/>
            <a:ext cx="3576320" cy="640080"/>
          </a:xfrm>
          <a:prstGeom prst="rect">
            <a:avLst/>
          </a:prstGeom>
          <a:noFill/>
        </p:spPr>
        <p:txBody>
          <a:bodyPr wrap="none" lIns="0" rIns="0">
            <a:noAutofit/>
          </a:bodyPr>
          <a:lstStyle/>
          <a:p>
            <a:pPr algn="ctr"/>
            <a:r>
              <a:rPr sz="4200" b="1" i="0">
                <a:solidFill>
                  <a:srgbClr val="0072CE"/>
                </a:solidFill>
                <a:latin typeface="Arial"/>
              </a:rPr>
              <a:t>31%</a:t>
            </a:r>
          </a:p>
        </p:txBody>
      </p:sp>
      <p:sp>
        <p:nvSpPr>
          <p:cNvPr id="22" name="Rectangle 21"/>
          <p:cNvSpPr/>
          <p:nvPr>
            <p:ph type="body" idx="20"/>
          </p:nvPr>
        </p:nvSpPr>
        <p:spPr>
          <a:xfrm>
            <a:off x="9410192" y="4751832"/>
            <a:ext cx="1072896" cy="54864"/>
          </a:xfrm>
          <a:prstGeom prst="rect">
            <a:avLst/>
          </a:prstGeom>
          <a:solidFill>
            <a:srgbClr val="0072CE"/>
          </a:solidFill>
          <a:ln>
            <a:noFill/>
          </a:ln>
          <a:effectLst/>
        </p:spPr>
        <p:txBody>
          <a:bodyPr rtlCol="0" anchor="ctr"/>
          <a:lstStyle/>
          <a:p>
            <a:pPr algn="ctr"/>
          </a:p>
        </p:txBody>
      </p:sp>
      <p:sp>
        <p:nvSpPr>
          <p:cNvPr id="23" name="TextBox 22"/>
          <p:cNvSpPr/>
          <p:nvPr>
            <p:ph type="body" idx="21"/>
          </p:nvPr>
        </p:nvSpPr>
        <p:spPr>
          <a:xfrm>
            <a:off x="7701280" y="4861560"/>
            <a:ext cx="4490720" cy="609600"/>
          </a:xfrm>
          <a:prstGeom prst="rect">
            <a:avLst/>
          </a:prstGeom>
          <a:noFill/>
        </p:spPr>
        <p:txBody>
          <a:bodyPr wrap="none" lIns="0" rIns="0">
            <a:noAutofit/>
          </a:bodyPr>
          <a:lstStyle/>
          <a:p>
            <a:pPr algn="ctr"/>
            <a:r>
              <a:rPr sz="3400" b="0" i="0">
                <a:solidFill>
                  <a:srgbClr val="0A2240"/>
                </a:solidFill>
                <a:latin typeface="Arial"/>
              </a:rPr>
              <a:t>Expansion rate</a:t>
            </a:r>
          </a:p>
        </p:txBody>
      </p:sp>
    </p:spTree>
    <p:extLst>
      <p:ext uri="{BB962C8B-B14F-4D97-AF65-F5344CB8AC3E}">
        <p14:creationId xmlns:p14="http://schemas.microsoft.com/office/powerpoint/2010/main" val="12129998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slidekit · Chart With Insigh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Monthly Active Teams</a:t>
            </a:r>
          </a:p>
        </p:txBody>
      </p:sp>
      <p:sp>
        <p:nvSpPr>
          <p:cNvPr id="6" name="TextBox 5"/>
          <p:cNvSpPr/>
          <p:nvPr>
            <p:ph type="body" idx="1"/>
          </p:nvPr>
        </p:nvSpPr>
        <p:spPr>
          <a:xfrm>
            <a:off x="457200" y="3680394"/>
            <a:ext cx="1485900" cy="381000"/>
          </a:xfrm>
          <a:prstGeom prst="rect">
            <a:avLst/>
          </a:prstGeom>
          <a:noFill/>
        </p:spPr>
        <p:txBody>
          <a:bodyPr wrap="none" lIns="0" rIns="0">
            <a:noAutofit/>
          </a:bodyPr>
          <a:lstStyle/>
          <a:p>
            <a:pPr algn="l"/>
            <a:r>
              <a:rPr sz="2500" b="1" i="0">
                <a:solidFill>
                  <a:srgbClr val="0072CE"/>
                </a:solidFill>
                <a:latin typeface="Arial"/>
              </a:rPr>
              <a:t>120</a:t>
            </a:r>
          </a:p>
        </p:txBody>
      </p:sp>
      <p:sp>
        <p:nvSpPr>
          <p:cNvPr id="7" name="Rectangle 6"/>
          <p:cNvSpPr/>
          <p:nvPr>
            <p:ph type="body" idx="2"/>
          </p:nvPr>
        </p:nvSpPr>
        <p:spPr>
          <a:xfrm>
            <a:off x="680085" y="4335714"/>
            <a:ext cx="1040129" cy="769686"/>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5379720"/>
            <a:ext cx="1485900" cy="381000"/>
          </a:xfrm>
          <a:prstGeom prst="rect">
            <a:avLst/>
          </a:prstGeom>
          <a:noFill/>
        </p:spPr>
        <p:txBody>
          <a:bodyPr wrap="none" lIns="0" rIns="0">
            <a:noAutofit/>
          </a:bodyPr>
          <a:lstStyle/>
          <a:p>
            <a:pPr algn="l"/>
            <a:r>
              <a:rPr sz="2500" b="0" i="0">
                <a:solidFill>
                  <a:srgbClr val="5B6B82"/>
                </a:solidFill>
                <a:latin typeface="Arial"/>
              </a:rPr>
              <a:t>Jan</a:t>
            </a:r>
          </a:p>
        </p:txBody>
      </p:sp>
      <p:sp>
        <p:nvSpPr>
          <p:cNvPr id="9" name="TextBox 8"/>
          <p:cNvSpPr/>
          <p:nvPr>
            <p:ph type="body" idx="4"/>
          </p:nvPr>
        </p:nvSpPr>
        <p:spPr>
          <a:xfrm>
            <a:off x="2217420" y="3295551"/>
            <a:ext cx="1485900" cy="381000"/>
          </a:xfrm>
          <a:prstGeom prst="rect">
            <a:avLst/>
          </a:prstGeom>
          <a:noFill/>
        </p:spPr>
        <p:txBody>
          <a:bodyPr wrap="none" lIns="0" rIns="0">
            <a:noAutofit/>
          </a:bodyPr>
          <a:lstStyle/>
          <a:p>
            <a:pPr algn="l"/>
            <a:r>
              <a:rPr sz="2500" b="1" i="0">
                <a:solidFill>
                  <a:srgbClr val="0072CE"/>
                </a:solidFill>
                <a:latin typeface="Arial"/>
              </a:rPr>
              <a:t>180</a:t>
            </a:r>
          </a:p>
        </p:txBody>
      </p:sp>
      <p:sp>
        <p:nvSpPr>
          <p:cNvPr id="10" name="Rectangle 9"/>
          <p:cNvSpPr/>
          <p:nvPr>
            <p:ph type="body" idx="5"/>
          </p:nvPr>
        </p:nvSpPr>
        <p:spPr>
          <a:xfrm>
            <a:off x="2440305" y="3950871"/>
            <a:ext cx="1040129" cy="1154529"/>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2217420" y="5379720"/>
            <a:ext cx="1485900" cy="381000"/>
          </a:xfrm>
          <a:prstGeom prst="rect">
            <a:avLst/>
          </a:prstGeom>
          <a:noFill/>
        </p:spPr>
        <p:txBody>
          <a:bodyPr wrap="none" lIns="0" rIns="0">
            <a:noAutofit/>
          </a:bodyPr>
          <a:lstStyle/>
          <a:p>
            <a:pPr algn="l"/>
            <a:r>
              <a:rPr sz="2500" b="0" i="0">
                <a:solidFill>
                  <a:srgbClr val="5B6B82"/>
                </a:solidFill>
                <a:latin typeface="Arial"/>
              </a:rPr>
              <a:t>Feb</a:t>
            </a:r>
          </a:p>
        </p:txBody>
      </p:sp>
      <p:sp>
        <p:nvSpPr>
          <p:cNvPr id="12" name="TextBox 11"/>
          <p:cNvSpPr/>
          <p:nvPr>
            <p:ph type="body" idx="7"/>
          </p:nvPr>
        </p:nvSpPr>
        <p:spPr>
          <a:xfrm>
            <a:off x="3977640" y="2590005"/>
            <a:ext cx="1485900" cy="381000"/>
          </a:xfrm>
          <a:prstGeom prst="rect">
            <a:avLst/>
          </a:prstGeom>
          <a:noFill/>
        </p:spPr>
        <p:txBody>
          <a:bodyPr wrap="none" lIns="0" rIns="0">
            <a:noAutofit/>
          </a:bodyPr>
          <a:lstStyle/>
          <a:p>
            <a:pPr algn="l"/>
            <a:r>
              <a:rPr sz="2500" b="1" i="0">
                <a:solidFill>
                  <a:srgbClr val="0072CE"/>
                </a:solidFill>
                <a:latin typeface="Arial"/>
              </a:rPr>
              <a:t>290</a:t>
            </a:r>
          </a:p>
        </p:txBody>
      </p:sp>
      <p:sp>
        <p:nvSpPr>
          <p:cNvPr id="13" name="Rectangle 12"/>
          <p:cNvSpPr/>
          <p:nvPr>
            <p:ph type="body" idx="8"/>
          </p:nvPr>
        </p:nvSpPr>
        <p:spPr>
          <a:xfrm>
            <a:off x="4200525" y="3245325"/>
            <a:ext cx="1040129" cy="1860075"/>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3977640" y="5379720"/>
            <a:ext cx="1485900" cy="381000"/>
          </a:xfrm>
          <a:prstGeom prst="rect">
            <a:avLst/>
          </a:prstGeom>
          <a:noFill/>
        </p:spPr>
        <p:txBody>
          <a:bodyPr wrap="none" lIns="0" rIns="0">
            <a:noAutofit/>
          </a:bodyPr>
          <a:lstStyle/>
          <a:p>
            <a:pPr algn="l"/>
            <a:r>
              <a:rPr sz="2500" b="0" i="0">
                <a:solidFill>
                  <a:srgbClr val="5B6B82"/>
                </a:solidFill>
                <a:latin typeface="Arial"/>
              </a:rPr>
              <a:t>Mar</a:t>
            </a:r>
          </a:p>
        </p:txBody>
      </p:sp>
      <p:sp>
        <p:nvSpPr>
          <p:cNvPr id="15" name="TextBox 14"/>
          <p:cNvSpPr/>
          <p:nvPr>
            <p:ph type="body" idx="13"/>
          </p:nvPr>
        </p:nvSpPr>
        <p:spPr>
          <a:xfrm>
            <a:off x="5737860" y="1499616"/>
            <a:ext cx="1485900" cy="381000"/>
          </a:xfrm>
          <a:prstGeom prst="rect">
            <a:avLst/>
          </a:prstGeom>
          <a:noFill/>
        </p:spPr>
        <p:txBody>
          <a:bodyPr wrap="none" lIns="0" rIns="0">
            <a:noAutofit/>
          </a:bodyPr>
          <a:lstStyle/>
          <a:p>
            <a:pPr algn="l"/>
            <a:r>
              <a:rPr sz="2500" b="1" i="0">
                <a:solidFill>
                  <a:srgbClr val="0072CE"/>
                </a:solidFill>
                <a:latin typeface="Arial"/>
              </a:rPr>
              <a:t>460</a:t>
            </a:r>
          </a:p>
        </p:txBody>
      </p:sp>
      <p:sp>
        <p:nvSpPr>
          <p:cNvPr id="16" name="Rectangle 15"/>
          <p:cNvSpPr/>
          <p:nvPr>
            <p:ph type="body" idx="14"/>
          </p:nvPr>
        </p:nvSpPr>
        <p:spPr>
          <a:xfrm>
            <a:off x="5960745" y="2154936"/>
            <a:ext cx="1040129" cy="2950464"/>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5737860" y="5379720"/>
            <a:ext cx="1485900" cy="381000"/>
          </a:xfrm>
          <a:prstGeom prst="rect">
            <a:avLst/>
          </a:prstGeom>
          <a:noFill/>
        </p:spPr>
        <p:txBody>
          <a:bodyPr wrap="none" lIns="0" rIns="0">
            <a:noAutofit/>
          </a:bodyPr>
          <a:lstStyle/>
          <a:p>
            <a:pPr algn="l"/>
            <a:r>
              <a:rPr sz="2500" b="0" i="0">
                <a:solidFill>
                  <a:srgbClr val="5B6B82"/>
                </a:solidFill>
                <a:latin typeface="Arial"/>
              </a:rPr>
              <a:t>Apr</a:t>
            </a:r>
          </a:p>
        </p:txBody>
      </p:sp>
      <p:sp>
        <p:nvSpPr>
          <p:cNvPr id="18" name="Rectangle 17"/>
          <p:cNvSpPr/>
          <p:nvPr>
            <p:ph type="body" idx="16"/>
          </p:nvPr>
        </p:nvSpPr>
        <p:spPr>
          <a:xfrm>
            <a:off x="7498080" y="1770888"/>
            <a:ext cx="128016" cy="3718560"/>
          </a:xfrm>
          <a:prstGeom prst="rect">
            <a:avLst/>
          </a:prstGeom>
          <a:solidFill>
            <a:srgbClr val="0072CE"/>
          </a:solidFill>
          <a:ln>
            <a:noFill/>
          </a:ln>
          <a:effectLst/>
        </p:spPr>
        <p:txBody>
          <a:bodyPr rtlCol="0" anchor="ctr"/>
          <a:lstStyle/>
          <a:p>
            <a:pPr algn="ctr"/>
          </a:p>
        </p:txBody>
      </p:sp>
      <p:sp>
        <p:nvSpPr>
          <p:cNvPr id="19" name="TextBox 18"/>
          <p:cNvSpPr/>
          <p:nvPr>
            <p:ph type="body" idx="17"/>
          </p:nvPr>
        </p:nvSpPr>
        <p:spPr>
          <a:xfrm>
            <a:off x="8037576" y="1770888"/>
            <a:ext cx="3697224" cy="3718560"/>
          </a:xfrm>
          <a:prstGeom prst="rect">
            <a:avLst/>
          </a:prstGeom>
          <a:noFill/>
        </p:spPr>
        <p:txBody>
          <a:bodyPr wrap="square" lIns="0" rIns="0">
            <a:noAutofit/>
          </a:bodyPr>
          <a:lstStyle/>
          <a:p>
            <a:pPr algn="l"/>
            <a:r>
              <a:rPr sz="3400" b="1" i="0">
                <a:solidFill>
                  <a:srgbClr val="0A2240"/>
                </a:solidFill>
                <a:latin typeface="Arial"/>
              </a:rPr>
              <a:t>Activations nearly quadrupled once self-serve onboarding shipped in February.</a:t>
            </a:r>
          </a:p>
        </p:txBody>
      </p:sp>
    </p:spTree>
    <p:extLst>
      <p:ext uri="{BB962C8B-B14F-4D97-AF65-F5344CB8AC3E}">
        <p14:creationId xmlns:p14="http://schemas.microsoft.com/office/powerpoint/2010/main" val="12129998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lidekit · Tabl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Pricing Tiers</a:t>
            </a:r>
          </a:p>
        </p:txBody>
      </p:sp>
      <p:sp>
        <p:nvSpPr>
          <p:cNvPr id="6" name="TextBox 5"/>
          <p:cNvSpPr/>
          <p:nvPr>
            <p:ph type="body" idx="1"/>
          </p:nvPr>
        </p:nvSpPr>
        <p:spPr>
          <a:xfrm>
            <a:off x="457200" y="1499616"/>
            <a:ext cx="2333739" cy="518159"/>
          </a:xfrm>
          <a:prstGeom prst="rect">
            <a:avLst/>
          </a:prstGeom>
          <a:noFill/>
        </p:spPr>
        <p:txBody>
          <a:bodyPr wrap="none" lIns="0" rIns="0">
            <a:noAutofit/>
          </a:bodyPr>
          <a:lstStyle/>
          <a:p>
            <a:pPr algn="l"/>
            <a:r>
              <a:rPr sz="3400" b="1" i="0">
                <a:solidFill>
                  <a:srgbClr val="0072CE"/>
                </a:solidFill>
                <a:latin typeface="Arial"/>
              </a:rPr>
              <a:t>Plan</a:t>
            </a:r>
          </a:p>
        </p:txBody>
      </p:sp>
      <p:sp>
        <p:nvSpPr>
          <p:cNvPr id="7" name="TextBox 6"/>
          <p:cNvSpPr/>
          <p:nvPr>
            <p:ph type="body" idx="2"/>
          </p:nvPr>
        </p:nvSpPr>
        <p:spPr>
          <a:xfrm>
            <a:off x="3339579" y="1499616"/>
            <a:ext cx="2238229" cy="518159"/>
          </a:xfrm>
          <a:prstGeom prst="rect">
            <a:avLst/>
          </a:prstGeom>
          <a:noFill/>
        </p:spPr>
        <p:txBody>
          <a:bodyPr wrap="none" lIns="0" rIns="0">
            <a:noAutofit/>
          </a:bodyPr>
          <a:lstStyle/>
          <a:p>
            <a:pPr algn="l"/>
            <a:r>
              <a:rPr sz="3400" b="1" i="0">
                <a:solidFill>
                  <a:srgbClr val="0072CE"/>
                </a:solidFill>
                <a:latin typeface="Arial"/>
              </a:rPr>
              <a:t>Seats</a:t>
            </a:r>
          </a:p>
        </p:txBody>
      </p:sp>
      <p:sp>
        <p:nvSpPr>
          <p:cNvPr id="8" name="TextBox 7"/>
          <p:cNvSpPr/>
          <p:nvPr>
            <p:ph type="body" idx="3"/>
          </p:nvPr>
        </p:nvSpPr>
        <p:spPr>
          <a:xfrm>
            <a:off x="6126448" y="1499616"/>
            <a:ext cx="2022329" cy="518159"/>
          </a:xfrm>
          <a:prstGeom prst="rect">
            <a:avLst/>
          </a:prstGeom>
          <a:noFill/>
        </p:spPr>
        <p:txBody>
          <a:bodyPr wrap="none" lIns="0" rIns="0">
            <a:noAutofit/>
          </a:bodyPr>
          <a:lstStyle/>
          <a:p>
            <a:pPr algn="l"/>
            <a:r>
              <a:rPr sz="3400" b="1" i="0">
                <a:solidFill>
                  <a:srgbClr val="0072CE"/>
                </a:solidFill>
                <a:latin typeface="Arial"/>
              </a:rPr>
              <a:t>Price</a:t>
            </a:r>
          </a:p>
        </p:txBody>
      </p:sp>
      <p:sp>
        <p:nvSpPr>
          <p:cNvPr id="9" name="Rectangle 8"/>
          <p:cNvSpPr/>
          <p:nvPr>
            <p:ph type="body" idx="4"/>
          </p:nvPr>
        </p:nvSpPr>
        <p:spPr>
          <a:xfrm>
            <a:off x="457200" y="2072639"/>
            <a:ext cx="7691577" cy="54864"/>
          </a:xfrm>
          <a:prstGeom prst="rect">
            <a:avLst/>
          </a:prstGeom>
          <a:solidFill>
            <a:srgbClr val="0072CE"/>
          </a:solidFill>
          <a:ln>
            <a:noFill/>
          </a:ln>
          <a:effectLst/>
        </p:spPr>
        <p:txBody>
          <a:bodyPr rtlCol="0" anchor="ctr"/>
          <a:lstStyle/>
          <a:p>
            <a:pPr algn="ctr"/>
          </a:p>
        </p:txBody>
      </p:sp>
      <p:sp>
        <p:nvSpPr>
          <p:cNvPr id="10" name="TextBox 9"/>
          <p:cNvSpPr/>
          <p:nvPr>
            <p:ph type="body" idx="5"/>
          </p:nvPr>
        </p:nvSpPr>
        <p:spPr>
          <a:xfrm>
            <a:off x="457200" y="2401823"/>
            <a:ext cx="2333739" cy="633984"/>
          </a:xfrm>
          <a:prstGeom prst="rect">
            <a:avLst/>
          </a:prstGeom>
          <a:noFill/>
        </p:spPr>
        <p:txBody>
          <a:bodyPr wrap="none" lIns="0" rIns="0">
            <a:noAutofit/>
          </a:bodyPr>
          <a:lstStyle/>
          <a:p>
            <a:pPr algn="l"/>
            <a:r>
              <a:rPr sz="3400" b="0" i="0">
                <a:solidFill>
                  <a:srgbClr val="0A2240"/>
                </a:solidFill>
                <a:latin typeface="Arial"/>
              </a:rPr>
              <a:t>Starter</a:t>
            </a:r>
          </a:p>
        </p:txBody>
      </p:sp>
      <p:sp>
        <p:nvSpPr>
          <p:cNvPr id="11" name="TextBox 10"/>
          <p:cNvSpPr/>
          <p:nvPr>
            <p:ph type="body" idx="6"/>
          </p:nvPr>
        </p:nvSpPr>
        <p:spPr>
          <a:xfrm>
            <a:off x="3339579" y="2401823"/>
            <a:ext cx="2410360" cy="633984"/>
          </a:xfrm>
          <a:prstGeom prst="rect">
            <a:avLst/>
          </a:prstGeom>
          <a:noFill/>
        </p:spPr>
        <p:txBody>
          <a:bodyPr wrap="none" lIns="0" rIns="0">
            <a:noAutofit/>
          </a:bodyPr>
          <a:lstStyle/>
          <a:p>
            <a:pPr algn="l"/>
            <a:r>
              <a:rPr sz="3400" b="0" i="0">
                <a:solidFill>
                  <a:srgbClr val="0A2240"/>
                </a:solidFill>
                <a:latin typeface="Arial"/>
              </a:rPr>
              <a:t>Up to 5</a:t>
            </a:r>
          </a:p>
        </p:txBody>
      </p:sp>
      <p:sp>
        <p:nvSpPr>
          <p:cNvPr id="12" name="TextBox 11"/>
          <p:cNvSpPr/>
          <p:nvPr>
            <p:ph type="body" idx="7"/>
          </p:nvPr>
        </p:nvSpPr>
        <p:spPr>
          <a:xfrm>
            <a:off x="6126448" y="2401823"/>
            <a:ext cx="2022329" cy="633984"/>
          </a:xfrm>
          <a:prstGeom prst="rect">
            <a:avLst/>
          </a:prstGeom>
          <a:noFill/>
        </p:spPr>
        <p:txBody>
          <a:bodyPr wrap="none" lIns="0" rIns="0">
            <a:noAutofit/>
          </a:bodyPr>
          <a:lstStyle/>
          <a:p>
            <a:pPr algn="l"/>
            <a:r>
              <a:rPr sz="3400" b="0" i="0">
                <a:solidFill>
                  <a:srgbClr val="0A2240"/>
                </a:solidFill>
                <a:latin typeface="Arial"/>
              </a:rPr>
              <a:t>$0</a:t>
            </a:r>
          </a:p>
        </p:txBody>
      </p:sp>
      <p:sp>
        <p:nvSpPr>
          <p:cNvPr id="13" name="TextBox 12"/>
          <p:cNvSpPr/>
          <p:nvPr>
            <p:ph type="body" idx="8"/>
          </p:nvPr>
        </p:nvSpPr>
        <p:spPr>
          <a:xfrm>
            <a:off x="457200" y="3310127"/>
            <a:ext cx="2333739" cy="633984"/>
          </a:xfrm>
          <a:prstGeom prst="rect">
            <a:avLst/>
          </a:prstGeom>
          <a:noFill/>
        </p:spPr>
        <p:txBody>
          <a:bodyPr wrap="none" lIns="0" rIns="0">
            <a:noAutofit/>
          </a:bodyPr>
          <a:lstStyle/>
          <a:p>
            <a:pPr algn="l"/>
            <a:r>
              <a:rPr sz="3400" b="0" i="0">
                <a:solidFill>
                  <a:srgbClr val="0A2240"/>
                </a:solidFill>
                <a:latin typeface="Arial"/>
              </a:rPr>
              <a:t>Team</a:t>
            </a:r>
          </a:p>
        </p:txBody>
      </p:sp>
      <p:sp>
        <p:nvSpPr>
          <p:cNvPr id="14" name="TextBox 13"/>
          <p:cNvSpPr/>
          <p:nvPr>
            <p:ph type="body" idx="9"/>
          </p:nvPr>
        </p:nvSpPr>
        <p:spPr>
          <a:xfrm>
            <a:off x="3339579" y="3310127"/>
            <a:ext cx="2794595" cy="633984"/>
          </a:xfrm>
          <a:prstGeom prst="rect">
            <a:avLst/>
          </a:prstGeom>
          <a:noFill/>
        </p:spPr>
        <p:txBody>
          <a:bodyPr wrap="none" lIns="0" rIns="0">
            <a:noAutofit/>
          </a:bodyPr>
          <a:lstStyle/>
          <a:p>
            <a:pPr algn="l"/>
            <a:r>
              <a:rPr sz="3400" b="0" i="0">
                <a:solidFill>
                  <a:srgbClr val="0A2240"/>
                </a:solidFill>
                <a:latin typeface="Arial"/>
              </a:rPr>
              <a:t>Up to 50</a:t>
            </a:r>
          </a:p>
        </p:txBody>
      </p:sp>
      <p:sp>
        <p:nvSpPr>
          <p:cNvPr id="15" name="TextBox 14"/>
          <p:cNvSpPr/>
          <p:nvPr>
            <p:ph type="body" idx="13"/>
          </p:nvPr>
        </p:nvSpPr>
        <p:spPr>
          <a:xfrm>
            <a:off x="6126448" y="3310127"/>
            <a:ext cx="2833390" cy="633984"/>
          </a:xfrm>
          <a:prstGeom prst="rect">
            <a:avLst/>
          </a:prstGeom>
          <a:noFill/>
        </p:spPr>
        <p:txBody>
          <a:bodyPr wrap="none" lIns="0" rIns="0">
            <a:noAutofit/>
          </a:bodyPr>
          <a:lstStyle/>
          <a:p>
            <a:pPr algn="l"/>
            <a:r>
              <a:rPr sz="3400" b="0" i="0">
                <a:solidFill>
                  <a:srgbClr val="0A2240"/>
                </a:solidFill>
                <a:latin typeface="Arial"/>
              </a:rPr>
              <a:t>$12/seat</a:t>
            </a:r>
          </a:p>
        </p:txBody>
      </p:sp>
      <p:sp>
        <p:nvSpPr>
          <p:cNvPr id="16" name="TextBox 15"/>
          <p:cNvSpPr/>
          <p:nvPr>
            <p:ph type="body" idx="14"/>
          </p:nvPr>
        </p:nvSpPr>
        <p:spPr>
          <a:xfrm>
            <a:off x="457200" y="4218431"/>
            <a:ext cx="2986206" cy="633984"/>
          </a:xfrm>
          <a:prstGeom prst="rect">
            <a:avLst/>
          </a:prstGeom>
          <a:noFill/>
        </p:spPr>
        <p:txBody>
          <a:bodyPr wrap="none" lIns="0" rIns="0">
            <a:noAutofit/>
          </a:bodyPr>
          <a:lstStyle/>
          <a:p>
            <a:pPr algn="l"/>
            <a:r>
              <a:rPr sz="3400" b="0" i="0">
                <a:solidFill>
                  <a:srgbClr val="0A2240"/>
                </a:solidFill>
                <a:latin typeface="Arial"/>
              </a:rPr>
              <a:t>Business</a:t>
            </a:r>
          </a:p>
        </p:txBody>
      </p:sp>
      <p:sp>
        <p:nvSpPr>
          <p:cNvPr id="17" name="TextBox 16"/>
          <p:cNvSpPr/>
          <p:nvPr>
            <p:ph type="body" idx="15"/>
          </p:nvPr>
        </p:nvSpPr>
        <p:spPr>
          <a:xfrm>
            <a:off x="3339579" y="4218431"/>
            <a:ext cx="3178830" cy="633984"/>
          </a:xfrm>
          <a:prstGeom prst="rect">
            <a:avLst/>
          </a:prstGeom>
          <a:noFill/>
        </p:spPr>
        <p:txBody>
          <a:bodyPr wrap="none" lIns="0" rIns="0">
            <a:noAutofit/>
          </a:bodyPr>
          <a:lstStyle/>
          <a:p>
            <a:pPr algn="l"/>
            <a:r>
              <a:rPr sz="3400" b="0" i="0">
                <a:solidFill>
                  <a:srgbClr val="0A2240"/>
                </a:solidFill>
                <a:latin typeface="Arial"/>
              </a:rPr>
              <a:t>Up to 250</a:t>
            </a:r>
          </a:p>
        </p:txBody>
      </p:sp>
      <p:sp>
        <p:nvSpPr>
          <p:cNvPr id="18" name="TextBox 17"/>
          <p:cNvSpPr/>
          <p:nvPr>
            <p:ph type="body" idx="16"/>
          </p:nvPr>
        </p:nvSpPr>
        <p:spPr>
          <a:xfrm>
            <a:off x="6126448" y="4218431"/>
            <a:ext cx="2833390" cy="633984"/>
          </a:xfrm>
          <a:prstGeom prst="rect">
            <a:avLst/>
          </a:prstGeom>
          <a:noFill/>
        </p:spPr>
        <p:txBody>
          <a:bodyPr wrap="none" lIns="0" rIns="0">
            <a:noAutofit/>
          </a:bodyPr>
          <a:lstStyle/>
          <a:p>
            <a:pPr algn="l"/>
            <a:r>
              <a:rPr sz="3400" b="0" i="0">
                <a:solidFill>
                  <a:srgbClr val="0A2240"/>
                </a:solidFill>
                <a:latin typeface="Arial"/>
              </a:rPr>
              <a:t>$20/seat</a:t>
            </a:r>
          </a:p>
        </p:txBody>
      </p:sp>
      <p:sp>
        <p:nvSpPr>
          <p:cNvPr id="19" name="TextBox 18"/>
          <p:cNvSpPr/>
          <p:nvPr>
            <p:ph type="body" idx="17"/>
          </p:nvPr>
        </p:nvSpPr>
        <p:spPr>
          <a:xfrm>
            <a:off x="457200" y="5126735"/>
            <a:ext cx="3331646" cy="633984"/>
          </a:xfrm>
          <a:prstGeom prst="rect">
            <a:avLst/>
          </a:prstGeom>
          <a:noFill/>
        </p:spPr>
        <p:txBody>
          <a:bodyPr wrap="none" lIns="0" rIns="0">
            <a:noAutofit/>
          </a:bodyPr>
          <a:lstStyle/>
          <a:p>
            <a:pPr algn="l"/>
            <a:r>
              <a:rPr sz="3400" b="0" i="0">
                <a:solidFill>
                  <a:srgbClr val="0A2240"/>
                </a:solidFill>
                <a:latin typeface="Arial"/>
              </a:rPr>
              <a:t>Enterprise</a:t>
            </a:r>
          </a:p>
        </p:txBody>
      </p:sp>
      <p:sp>
        <p:nvSpPr>
          <p:cNvPr id="20" name="TextBox 19"/>
          <p:cNvSpPr/>
          <p:nvPr>
            <p:ph type="body" idx="18"/>
          </p:nvPr>
        </p:nvSpPr>
        <p:spPr>
          <a:xfrm>
            <a:off x="3339579" y="5126735"/>
            <a:ext cx="3062446" cy="633984"/>
          </a:xfrm>
          <a:prstGeom prst="rect">
            <a:avLst/>
          </a:prstGeom>
          <a:noFill/>
        </p:spPr>
        <p:txBody>
          <a:bodyPr wrap="none" lIns="0" rIns="0">
            <a:noAutofit/>
          </a:bodyPr>
          <a:lstStyle/>
          <a:p>
            <a:pPr algn="l"/>
            <a:r>
              <a:rPr sz="3400" b="0" i="0">
                <a:solidFill>
                  <a:srgbClr val="0A2240"/>
                </a:solidFill>
                <a:latin typeface="Arial"/>
              </a:rPr>
              <a:t>Unlimited</a:t>
            </a:r>
          </a:p>
        </p:txBody>
      </p:sp>
      <p:sp>
        <p:nvSpPr>
          <p:cNvPr id="21" name="TextBox 20"/>
          <p:cNvSpPr/>
          <p:nvPr>
            <p:ph type="body" idx="19"/>
          </p:nvPr>
        </p:nvSpPr>
        <p:spPr>
          <a:xfrm>
            <a:off x="6126448" y="5126735"/>
            <a:ext cx="2563177" cy="633984"/>
          </a:xfrm>
          <a:prstGeom prst="rect">
            <a:avLst/>
          </a:prstGeom>
          <a:noFill/>
        </p:spPr>
        <p:txBody>
          <a:bodyPr wrap="none" lIns="0" rIns="0">
            <a:noAutofit/>
          </a:bodyPr>
          <a:lstStyle/>
          <a:p>
            <a:pPr algn="l"/>
            <a:r>
              <a:rPr sz="3400" b="0" i="0">
                <a:solidFill>
                  <a:srgbClr val="0A2240"/>
                </a:solidFill>
                <a:latin typeface="Arial"/>
              </a:rPr>
              <a:t>Custom</a:t>
            </a:r>
          </a:p>
        </p:txBody>
      </p:sp>
    </p:spTree>
    <p:extLst>
      <p:ext uri="{BB962C8B-B14F-4D97-AF65-F5344CB8AC3E}">
        <p14:creationId xmlns:p14="http://schemas.microsoft.com/office/powerpoint/2010/main" val="12129998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lidekit · Metric Comparis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Performance vs Last Year</a:t>
            </a:r>
          </a:p>
        </p:txBody>
      </p:sp>
      <p:sp>
        <p:nvSpPr>
          <p:cNvPr id="6" name="TextBox 5"/>
          <p:cNvSpPr/>
          <p:nvPr>
            <p:ph type="body" idx="1"/>
          </p:nvPr>
        </p:nvSpPr>
        <p:spPr>
          <a:xfrm>
            <a:off x="457200" y="2075688"/>
            <a:ext cx="3576320" cy="914400"/>
          </a:xfrm>
          <a:prstGeom prst="rect">
            <a:avLst/>
          </a:prstGeom>
          <a:noFill/>
        </p:spPr>
        <p:txBody>
          <a:bodyPr wrap="none" lIns="0" rIns="0">
            <a:noAutofit/>
          </a:bodyPr>
          <a:lstStyle/>
          <a:p>
            <a:pPr algn="ctr"/>
            <a:r>
              <a:rPr sz="6000" b="1" i="0">
                <a:solidFill>
                  <a:srgbClr val="0072CE"/>
                </a:solidFill>
                <a:latin typeface="Arial"/>
              </a:rPr>
              <a:t>$8.4M</a:t>
            </a:r>
          </a:p>
        </p:txBody>
      </p:sp>
      <p:sp>
        <p:nvSpPr>
          <p:cNvPr id="7" name="TextBox 6"/>
          <p:cNvSpPr/>
          <p:nvPr>
            <p:ph type="body" idx="2"/>
          </p:nvPr>
        </p:nvSpPr>
        <p:spPr>
          <a:xfrm>
            <a:off x="457200" y="3264408"/>
            <a:ext cx="3576320" cy="1127760"/>
          </a:xfrm>
          <a:prstGeom prst="rect">
            <a:avLst/>
          </a:prstGeom>
          <a:noFill/>
        </p:spPr>
        <p:txBody>
          <a:bodyPr wrap="square" lIns="0" rIns="0">
            <a:noAutofit/>
          </a:bodyPr>
          <a:lstStyle/>
          <a:p>
            <a:pPr algn="ctr"/>
            <a:r>
              <a:rPr sz="3400" b="0" i="0">
                <a:solidFill>
                  <a:srgbClr val="0A2240"/>
                </a:solidFill>
                <a:latin typeface="Arial"/>
              </a:rPr>
              <a:t>Annual recurring revenue</a:t>
            </a:r>
          </a:p>
        </p:txBody>
      </p:sp>
      <p:sp>
        <p:nvSpPr>
          <p:cNvPr id="8" name="Rectangle 7"/>
          <p:cNvSpPr/>
          <p:nvPr>
            <p:ph type="body" idx="3"/>
          </p:nvPr>
        </p:nvSpPr>
        <p:spPr>
          <a:xfrm>
            <a:off x="1522569" y="4666488"/>
            <a:ext cx="1445581" cy="518159"/>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1260802" y="4666488"/>
            <a:ext cx="1969115" cy="518159"/>
          </a:xfrm>
          <a:prstGeom prst="rect">
            <a:avLst/>
          </a:prstGeom>
          <a:noFill/>
        </p:spPr>
        <p:txBody>
          <a:bodyPr wrap="none" lIns="0" rIns="0">
            <a:noAutofit/>
          </a:bodyPr>
          <a:lstStyle/>
          <a:p>
            <a:pPr algn="ctr"/>
            <a:r>
              <a:rPr sz="3400" b="1" i="0">
                <a:solidFill>
                  <a:srgbClr val="FFFFFF"/>
                </a:solidFill>
                <a:latin typeface="Arial"/>
              </a:rPr>
              <a:t>+24%</a:t>
            </a:r>
          </a:p>
        </p:txBody>
      </p:sp>
      <p:sp>
        <p:nvSpPr>
          <p:cNvPr id="10" name="TextBox 9"/>
          <p:cNvSpPr/>
          <p:nvPr>
            <p:ph type="body" idx="5"/>
          </p:nvPr>
        </p:nvSpPr>
        <p:spPr>
          <a:xfrm>
            <a:off x="4307840" y="2075688"/>
            <a:ext cx="3576320" cy="914400"/>
          </a:xfrm>
          <a:prstGeom prst="rect">
            <a:avLst/>
          </a:prstGeom>
          <a:noFill/>
        </p:spPr>
        <p:txBody>
          <a:bodyPr wrap="none" lIns="0" rIns="0">
            <a:noAutofit/>
          </a:bodyPr>
          <a:lstStyle/>
          <a:p>
            <a:pPr algn="ctr"/>
            <a:r>
              <a:rPr sz="6000" b="1" i="0">
                <a:solidFill>
                  <a:srgbClr val="0072CE"/>
                </a:solidFill>
                <a:latin typeface="Arial"/>
              </a:rPr>
              <a:t>2.1%</a:t>
            </a:r>
          </a:p>
        </p:txBody>
      </p:sp>
      <p:sp>
        <p:nvSpPr>
          <p:cNvPr id="11" name="TextBox 10"/>
          <p:cNvSpPr/>
          <p:nvPr>
            <p:ph type="body" idx="6"/>
          </p:nvPr>
        </p:nvSpPr>
        <p:spPr>
          <a:xfrm>
            <a:off x="3834934" y="3264408"/>
            <a:ext cx="4522132" cy="1127760"/>
          </a:xfrm>
          <a:prstGeom prst="rect">
            <a:avLst/>
          </a:prstGeom>
          <a:noFill/>
        </p:spPr>
        <p:txBody>
          <a:bodyPr wrap="none" lIns="0" rIns="0">
            <a:noAutofit/>
          </a:bodyPr>
          <a:lstStyle/>
          <a:p>
            <a:pPr algn="ctr"/>
            <a:r>
              <a:rPr sz="3400" b="0" i="0">
                <a:solidFill>
                  <a:srgbClr val="0A2240"/>
                </a:solidFill>
                <a:latin typeface="Arial"/>
              </a:rPr>
              <a:t>Monthly churn</a:t>
            </a:r>
          </a:p>
        </p:txBody>
      </p:sp>
      <p:sp>
        <p:nvSpPr>
          <p:cNvPr id="12" name="Rectangle 11"/>
          <p:cNvSpPr/>
          <p:nvPr>
            <p:ph type="body" idx="7"/>
          </p:nvPr>
        </p:nvSpPr>
        <p:spPr>
          <a:xfrm>
            <a:off x="5175547" y="4666488"/>
            <a:ext cx="1840906" cy="518159"/>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4795183" y="4666488"/>
            <a:ext cx="2601634" cy="518159"/>
          </a:xfrm>
          <a:prstGeom prst="rect">
            <a:avLst/>
          </a:prstGeom>
          <a:noFill/>
        </p:spPr>
        <p:txBody>
          <a:bodyPr wrap="none" lIns="0" rIns="0">
            <a:noAutofit/>
          </a:bodyPr>
          <a:lstStyle/>
          <a:p>
            <a:pPr algn="ctr"/>
            <a:r>
              <a:rPr sz="3400" b="1" i="0">
                <a:solidFill>
                  <a:srgbClr val="FFFFFF"/>
                </a:solidFill>
                <a:latin typeface="Arial"/>
              </a:rPr>
              <a:t>-0.8 pts</a:t>
            </a:r>
          </a:p>
        </p:txBody>
      </p:sp>
      <p:sp>
        <p:nvSpPr>
          <p:cNvPr id="14" name="TextBox 13"/>
          <p:cNvSpPr/>
          <p:nvPr>
            <p:ph type="body" idx="9"/>
          </p:nvPr>
        </p:nvSpPr>
        <p:spPr>
          <a:xfrm>
            <a:off x="8158480" y="2075688"/>
            <a:ext cx="3576320" cy="914400"/>
          </a:xfrm>
          <a:prstGeom prst="rect">
            <a:avLst/>
          </a:prstGeom>
          <a:noFill/>
        </p:spPr>
        <p:txBody>
          <a:bodyPr wrap="none" lIns="0" rIns="0">
            <a:noAutofit/>
          </a:bodyPr>
          <a:lstStyle/>
          <a:p>
            <a:pPr algn="ctr"/>
            <a:r>
              <a:rPr sz="6000" b="1" i="0">
                <a:solidFill>
                  <a:srgbClr val="0072CE"/>
                </a:solidFill>
                <a:latin typeface="Arial"/>
              </a:rPr>
              <a:t>63</a:t>
            </a:r>
          </a:p>
        </p:txBody>
      </p:sp>
      <p:sp>
        <p:nvSpPr>
          <p:cNvPr id="15" name="TextBox 14"/>
          <p:cNvSpPr/>
          <p:nvPr>
            <p:ph type="body" idx="13"/>
          </p:nvPr>
        </p:nvSpPr>
        <p:spPr>
          <a:xfrm>
            <a:off x="8158480" y="3264408"/>
            <a:ext cx="3576320" cy="1127760"/>
          </a:xfrm>
          <a:prstGeom prst="rect">
            <a:avLst/>
          </a:prstGeom>
          <a:noFill/>
        </p:spPr>
        <p:txBody>
          <a:bodyPr wrap="square" lIns="0" rIns="0">
            <a:noAutofit/>
          </a:bodyPr>
          <a:lstStyle/>
          <a:p>
            <a:pPr algn="ctr"/>
            <a:r>
              <a:rPr sz="3400" b="0" i="0">
                <a:solidFill>
                  <a:srgbClr val="0A2240"/>
                </a:solidFill>
                <a:latin typeface="Arial"/>
              </a:rPr>
              <a:t>Net promoter score</a:t>
            </a:r>
          </a:p>
        </p:txBody>
      </p:sp>
      <p:sp>
        <p:nvSpPr>
          <p:cNvPr id="16" name="Rectangle 15"/>
          <p:cNvSpPr/>
          <p:nvPr>
            <p:ph type="body" idx="14"/>
          </p:nvPr>
        </p:nvSpPr>
        <p:spPr>
          <a:xfrm>
            <a:off x="9427731" y="4666488"/>
            <a:ext cx="1037817" cy="518159"/>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9288294" y="4666488"/>
            <a:ext cx="1316691" cy="518159"/>
          </a:xfrm>
          <a:prstGeom prst="rect">
            <a:avLst/>
          </a:prstGeom>
          <a:noFill/>
        </p:spPr>
        <p:txBody>
          <a:bodyPr wrap="none" lIns="0" rIns="0">
            <a:noAutofit/>
          </a:bodyPr>
          <a:lstStyle/>
          <a:p>
            <a:pPr algn="ctr"/>
            <a:r>
              <a:rPr sz="3400" b="1" i="0">
                <a:solidFill>
                  <a:srgbClr val="FFFFFF"/>
                </a:solidFill>
                <a:latin typeface="Arial"/>
              </a:rPr>
              <a:t>+11</a:t>
            </a:r>
          </a:p>
        </p:txBody>
      </p:sp>
    </p:spTree>
    <p:extLst>
      <p:ext uri="{BB962C8B-B14F-4D97-AF65-F5344CB8AC3E}">
        <p14:creationId xmlns:p14="http://schemas.microsoft.com/office/powerpoint/2010/main" val="12129998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slidekit · Process Step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Onboarding Flow</a:t>
            </a:r>
          </a:p>
        </p:txBody>
      </p:sp>
      <p:sp>
        <p:nvSpPr>
          <p:cNvPr id="6" name="TextBox 5"/>
          <p:cNvSpPr/>
          <p:nvPr>
            <p:ph type="body" idx="1"/>
          </p:nvPr>
        </p:nvSpPr>
        <p:spPr>
          <a:xfrm>
            <a:off x="457200" y="1499616"/>
            <a:ext cx="2613660"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7" name="Rectangle 6"/>
          <p:cNvSpPr/>
          <p:nvPr>
            <p:ph type="body" idx="2"/>
          </p:nvPr>
        </p:nvSpPr>
        <p:spPr>
          <a:xfrm>
            <a:off x="457200" y="2194560"/>
            <a:ext cx="784098"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414016"/>
            <a:ext cx="2715657" cy="518159"/>
          </a:xfrm>
          <a:prstGeom prst="rect">
            <a:avLst/>
          </a:prstGeom>
          <a:noFill/>
        </p:spPr>
        <p:txBody>
          <a:bodyPr wrap="none" lIns="0" rIns="0">
            <a:noAutofit/>
          </a:bodyPr>
          <a:lstStyle/>
          <a:p>
            <a:pPr algn="l"/>
            <a:r>
              <a:rPr sz="3400" b="1" i="0">
                <a:solidFill>
                  <a:srgbClr val="0072CE"/>
                </a:solidFill>
                <a:latin typeface="Arial"/>
              </a:rPr>
              <a:t>Sign up</a:t>
            </a:r>
          </a:p>
        </p:txBody>
      </p:sp>
      <p:sp>
        <p:nvSpPr>
          <p:cNvPr id="9" name="TextBox 8"/>
          <p:cNvSpPr/>
          <p:nvPr>
            <p:ph type="body" idx="4"/>
          </p:nvPr>
        </p:nvSpPr>
        <p:spPr>
          <a:xfrm>
            <a:off x="457200" y="3041903"/>
            <a:ext cx="2613660" cy="2718817"/>
          </a:xfrm>
          <a:prstGeom prst="rect">
            <a:avLst/>
          </a:prstGeom>
          <a:noFill/>
        </p:spPr>
        <p:txBody>
          <a:bodyPr wrap="square" lIns="0" rIns="0">
            <a:noAutofit/>
          </a:bodyPr>
          <a:lstStyle/>
          <a:p>
            <a:pPr algn="l"/>
            <a:r>
              <a:rPr sz="3400" b="0" i="0">
                <a:solidFill>
                  <a:srgbClr val="0A2240"/>
                </a:solidFill>
                <a:latin typeface="Arial"/>
              </a:rPr>
              <a:t>Create an account</a:t>
            </a:r>
          </a:p>
        </p:txBody>
      </p:sp>
      <p:sp>
        <p:nvSpPr>
          <p:cNvPr id="10" name="TextBox 9"/>
          <p:cNvSpPr/>
          <p:nvPr>
            <p:ph type="body" idx="5"/>
          </p:nvPr>
        </p:nvSpPr>
        <p:spPr>
          <a:xfrm>
            <a:off x="3345180" y="1499616"/>
            <a:ext cx="2613660"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11" name="Rectangle 10"/>
          <p:cNvSpPr/>
          <p:nvPr>
            <p:ph type="body" idx="6"/>
          </p:nvPr>
        </p:nvSpPr>
        <p:spPr>
          <a:xfrm>
            <a:off x="3345180" y="2194560"/>
            <a:ext cx="784098" cy="54864"/>
          </a:xfrm>
          <a:prstGeom prst="rect">
            <a:avLst/>
          </a:prstGeom>
          <a:solidFill>
            <a:srgbClr val="0072CE"/>
          </a:solidFill>
          <a:ln>
            <a:noFill/>
          </a:ln>
          <a:effectLst/>
        </p:spPr>
        <p:txBody>
          <a:bodyPr rtlCol="0" anchor="ctr"/>
          <a:lstStyle/>
          <a:p>
            <a:pPr algn="ctr"/>
          </a:p>
        </p:txBody>
      </p:sp>
      <p:sp>
        <p:nvSpPr>
          <p:cNvPr id="12" name="TextBox 11"/>
          <p:cNvSpPr/>
          <p:nvPr>
            <p:ph type="body" idx="7"/>
          </p:nvPr>
        </p:nvSpPr>
        <p:spPr>
          <a:xfrm>
            <a:off x="3345180" y="2414016"/>
            <a:ext cx="2946400" cy="518159"/>
          </a:xfrm>
          <a:prstGeom prst="rect">
            <a:avLst/>
          </a:prstGeom>
          <a:noFill/>
        </p:spPr>
        <p:txBody>
          <a:bodyPr wrap="none" lIns="0" rIns="0">
            <a:noAutofit/>
          </a:bodyPr>
          <a:lstStyle/>
          <a:p>
            <a:pPr algn="l"/>
            <a:r>
              <a:rPr sz="3400" b="1" i="0">
                <a:solidFill>
                  <a:srgbClr val="0072CE"/>
                </a:solidFill>
                <a:latin typeface="Arial"/>
              </a:rPr>
              <a:t>Connect</a:t>
            </a:r>
          </a:p>
        </p:txBody>
      </p:sp>
      <p:sp>
        <p:nvSpPr>
          <p:cNvPr id="13" name="TextBox 12"/>
          <p:cNvSpPr/>
          <p:nvPr>
            <p:ph type="body" idx="8"/>
          </p:nvPr>
        </p:nvSpPr>
        <p:spPr>
          <a:xfrm>
            <a:off x="3345180" y="3041903"/>
            <a:ext cx="2613660" cy="2718817"/>
          </a:xfrm>
          <a:prstGeom prst="rect">
            <a:avLst/>
          </a:prstGeom>
          <a:noFill/>
        </p:spPr>
        <p:txBody>
          <a:bodyPr wrap="square" lIns="0" rIns="0">
            <a:noAutofit/>
          </a:bodyPr>
          <a:lstStyle/>
          <a:p>
            <a:pPr algn="l"/>
            <a:r>
              <a:rPr sz="3400" b="0" i="0">
                <a:solidFill>
                  <a:srgbClr val="0A2240"/>
                </a:solidFill>
                <a:latin typeface="Arial"/>
              </a:rPr>
              <a:t>Link your data</a:t>
            </a:r>
          </a:p>
        </p:txBody>
      </p:sp>
      <p:sp>
        <p:nvSpPr>
          <p:cNvPr id="14" name="TextBox 13"/>
          <p:cNvSpPr/>
          <p:nvPr>
            <p:ph type="body" idx="9"/>
          </p:nvPr>
        </p:nvSpPr>
        <p:spPr>
          <a:xfrm>
            <a:off x="6233160" y="1499616"/>
            <a:ext cx="2613660"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5" name="Rectangle 14"/>
          <p:cNvSpPr/>
          <p:nvPr>
            <p:ph type="body" idx="13"/>
          </p:nvPr>
        </p:nvSpPr>
        <p:spPr>
          <a:xfrm>
            <a:off x="6233160" y="2194560"/>
            <a:ext cx="784098" cy="54864"/>
          </a:xfrm>
          <a:prstGeom prst="rect">
            <a:avLst/>
          </a:prstGeom>
          <a:solidFill>
            <a:srgbClr val="0072CE"/>
          </a:solidFill>
          <a:ln>
            <a:noFill/>
          </a:ln>
          <a:effectLst/>
        </p:spPr>
        <p:txBody>
          <a:bodyPr rtlCol="0" anchor="ctr"/>
          <a:lstStyle/>
          <a:p>
            <a:pPr algn="ctr"/>
          </a:p>
        </p:txBody>
      </p:sp>
      <p:sp>
        <p:nvSpPr>
          <p:cNvPr id="16" name="TextBox 15"/>
          <p:cNvSpPr/>
          <p:nvPr>
            <p:ph type="body" idx="14"/>
          </p:nvPr>
        </p:nvSpPr>
        <p:spPr>
          <a:xfrm>
            <a:off x="6233160" y="2414016"/>
            <a:ext cx="3444993" cy="518159"/>
          </a:xfrm>
          <a:prstGeom prst="rect">
            <a:avLst/>
          </a:prstGeom>
          <a:noFill/>
        </p:spPr>
        <p:txBody>
          <a:bodyPr wrap="none" lIns="0" rIns="0">
            <a:noAutofit/>
          </a:bodyPr>
          <a:lstStyle/>
          <a:p>
            <a:pPr algn="l"/>
            <a:r>
              <a:rPr sz="3400" b="1" i="0">
                <a:solidFill>
                  <a:srgbClr val="0072CE"/>
                </a:solidFill>
                <a:latin typeface="Arial"/>
              </a:rPr>
              <a:t>Configure</a:t>
            </a:r>
          </a:p>
        </p:txBody>
      </p:sp>
      <p:sp>
        <p:nvSpPr>
          <p:cNvPr id="17" name="TextBox 16"/>
          <p:cNvSpPr/>
          <p:nvPr>
            <p:ph type="body" idx="15"/>
          </p:nvPr>
        </p:nvSpPr>
        <p:spPr>
          <a:xfrm>
            <a:off x="6233160" y="3041903"/>
            <a:ext cx="2613660" cy="2718817"/>
          </a:xfrm>
          <a:prstGeom prst="rect">
            <a:avLst/>
          </a:prstGeom>
          <a:noFill/>
        </p:spPr>
        <p:txBody>
          <a:bodyPr wrap="square" lIns="0" rIns="0">
            <a:noAutofit/>
          </a:bodyPr>
          <a:lstStyle/>
          <a:p>
            <a:pPr algn="l"/>
            <a:r>
              <a:rPr sz="3400" b="0" i="0">
                <a:solidFill>
                  <a:srgbClr val="0A2240"/>
                </a:solidFill>
                <a:latin typeface="Arial"/>
              </a:rPr>
              <a:t>Pick your metrics</a:t>
            </a:r>
          </a:p>
        </p:txBody>
      </p:sp>
      <p:sp>
        <p:nvSpPr>
          <p:cNvPr id="18" name="TextBox 17"/>
          <p:cNvSpPr/>
          <p:nvPr>
            <p:ph type="body" idx="16"/>
          </p:nvPr>
        </p:nvSpPr>
        <p:spPr>
          <a:xfrm>
            <a:off x="9121140" y="1499616"/>
            <a:ext cx="2613660" cy="640080"/>
          </a:xfrm>
          <a:prstGeom prst="rect">
            <a:avLst/>
          </a:prstGeom>
          <a:noFill/>
        </p:spPr>
        <p:txBody>
          <a:bodyPr wrap="none" lIns="0" rIns="0">
            <a:noAutofit/>
          </a:bodyPr>
          <a:lstStyle/>
          <a:p>
            <a:pPr algn="l"/>
            <a:r>
              <a:rPr sz="4200" b="1" i="0">
                <a:solidFill>
                  <a:srgbClr val="0072CE"/>
                </a:solidFill>
                <a:latin typeface="Arial"/>
              </a:rPr>
              <a:t>04</a:t>
            </a:r>
          </a:p>
        </p:txBody>
      </p:sp>
      <p:sp>
        <p:nvSpPr>
          <p:cNvPr id="19" name="Rectangle 18"/>
          <p:cNvSpPr/>
          <p:nvPr>
            <p:ph type="body" idx="17"/>
          </p:nvPr>
        </p:nvSpPr>
        <p:spPr>
          <a:xfrm>
            <a:off x="9121140" y="2194560"/>
            <a:ext cx="784098" cy="54864"/>
          </a:xfrm>
          <a:prstGeom prst="rect">
            <a:avLst/>
          </a:prstGeom>
          <a:solidFill>
            <a:srgbClr val="0072CE"/>
          </a:solidFill>
          <a:ln>
            <a:noFill/>
          </a:ln>
          <a:effectLst/>
        </p:spPr>
        <p:txBody>
          <a:bodyPr rtlCol="0" anchor="ctr"/>
          <a:lstStyle/>
          <a:p>
            <a:pPr algn="ctr"/>
          </a:p>
        </p:txBody>
      </p:sp>
      <p:sp>
        <p:nvSpPr>
          <p:cNvPr id="20" name="TextBox 19"/>
          <p:cNvSpPr/>
          <p:nvPr>
            <p:ph type="body" idx="18"/>
          </p:nvPr>
        </p:nvSpPr>
        <p:spPr>
          <a:xfrm>
            <a:off x="9121140" y="2414016"/>
            <a:ext cx="2639417" cy="518159"/>
          </a:xfrm>
          <a:prstGeom prst="rect">
            <a:avLst/>
          </a:prstGeom>
          <a:noFill/>
        </p:spPr>
        <p:txBody>
          <a:bodyPr wrap="none" lIns="0" rIns="0">
            <a:noAutofit/>
          </a:bodyPr>
          <a:lstStyle/>
          <a:p>
            <a:pPr algn="l"/>
            <a:r>
              <a:rPr sz="3400" b="1" i="0">
                <a:solidFill>
                  <a:srgbClr val="0072CE"/>
                </a:solidFill>
                <a:latin typeface="Arial"/>
              </a:rPr>
              <a:t>Launch</a:t>
            </a:r>
          </a:p>
        </p:txBody>
      </p:sp>
      <p:sp>
        <p:nvSpPr>
          <p:cNvPr id="21" name="TextBox 20"/>
          <p:cNvSpPr/>
          <p:nvPr>
            <p:ph type="body" idx="19"/>
          </p:nvPr>
        </p:nvSpPr>
        <p:spPr>
          <a:xfrm>
            <a:off x="9121140" y="3041903"/>
            <a:ext cx="2613660" cy="2718817"/>
          </a:xfrm>
          <a:prstGeom prst="rect">
            <a:avLst/>
          </a:prstGeom>
          <a:noFill/>
        </p:spPr>
        <p:txBody>
          <a:bodyPr wrap="square" lIns="0" rIns="0">
            <a:noAutofit/>
          </a:bodyPr>
          <a:lstStyle/>
          <a:p>
            <a:pPr algn="l"/>
            <a:r>
              <a:rPr sz="3400" b="0" i="0">
                <a:solidFill>
                  <a:srgbClr val="0A2240"/>
                </a:solidFill>
                <a:latin typeface="Arial"/>
              </a:rPr>
              <a:t>Go live in minutes</a:t>
            </a:r>
          </a:p>
        </p:txBody>
      </p:sp>
    </p:spTree>
    <p:extLst>
      <p:ext uri="{BB962C8B-B14F-4D97-AF65-F5344CB8AC3E}">
        <p14:creationId xmlns:p14="http://schemas.microsoft.com/office/powerpoint/2010/main" val="12129998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slidekit · Roadmap">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2026 Plan</a:t>
            </a:r>
          </a:p>
        </p:txBody>
      </p:sp>
      <p:sp>
        <p:nvSpPr>
          <p:cNvPr id="6" name="Rectangle 5"/>
          <p:cNvSpPr/>
          <p:nvPr>
            <p:ph type="body" idx="1"/>
          </p:nvPr>
        </p:nvSpPr>
        <p:spPr>
          <a:xfrm>
            <a:off x="457200" y="1499616"/>
            <a:ext cx="3576320" cy="621791"/>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499616"/>
            <a:ext cx="3576320" cy="621791"/>
          </a:xfrm>
          <a:prstGeom prst="rect">
            <a:avLst/>
          </a:prstGeom>
          <a:noFill/>
        </p:spPr>
        <p:txBody>
          <a:bodyPr wrap="none" lIns="0" rIns="0">
            <a:noAutofit/>
          </a:bodyPr>
          <a:lstStyle/>
          <a:p>
            <a:pPr algn="l"/>
            <a:r>
              <a:rPr sz="3400" b="1" i="0">
                <a:solidFill>
                  <a:srgbClr val="FFFFFF"/>
                </a:solidFill>
                <a:latin typeface="Arial"/>
              </a:rPr>
              <a:t>Q1</a:t>
            </a:r>
          </a:p>
        </p:txBody>
      </p:sp>
      <p:sp>
        <p:nvSpPr>
          <p:cNvPr id="8" name="TextBox 7"/>
          <p:cNvSpPr/>
          <p:nvPr>
            <p:ph type="body" idx="3"/>
          </p:nvPr>
        </p:nvSpPr>
        <p:spPr>
          <a:xfrm>
            <a:off x="457200" y="2395727"/>
            <a:ext cx="3576320" cy="609600"/>
          </a:xfrm>
          <a:prstGeom prst="rect">
            <a:avLst/>
          </a:prstGeom>
          <a:noFill/>
        </p:spPr>
        <p:txBody>
          <a:bodyPr wrap="none" lIns="0" rIns="0">
            <a:noAutofit/>
          </a:bodyPr>
          <a:lstStyle/>
          <a:p>
            <a:pPr algn="l"/>
            <a:r>
              <a:rPr sz="3400" b="0" i="0">
                <a:solidFill>
                  <a:srgbClr val="0A2240"/>
                </a:solidFill>
                <a:latin typeface="Arial"/>
              </a:rPr>
              <a:t>Ship API</a:t>
            </a:r>
          </a:p>
        </p:txBody>
      </p:sp>
      <p:sp>
        <p:nvSpPr>
          <p:cNvPr id="9" name="TextBox 8"/>
          <p:cNvSpPr/>
          <p:nvPr>
            <p:ph type="body" idx="4"/>
          </p:nvPr>
        </p:nvSpPr>
        <p:spPr>
          <a:xfrm>
            <a:off x="457200" y="3279647"/>
            <a:ext cx="3831928" cy="609600"/>
          </a:xfrm>
          <a:prstGeom prst="rect">
            <a:avLst/>
          </a:prstGeom>
          <a:noFill/>
        </p:spPr>
        <p:txBody>
          <a:bodyPr wrap="none" lIns="0" rIns="0">
            <a:noAutofit/>
          </a:bodyPr>
          <a:lstStyle/>
          <a:p>
            <a:pPr algn="l"/>
            <a:r>
              <a:rPr sz="3400" b="0" i="0">
                <a:solidFill>
                  <a:srgbClr val="0A2240"/>
                </a:solidFill>
                <a:latin typeface="Arial"/>
              </a:rPr>
              <a:t>Beta launch</a:t>
            </a:r>
          </a:p>
        </p:txBody>
      </p:sp>
      <p:sp>
        <p:nvSpPr>
          <p:cNvPr id="10" name="Rectangle 9"/>
          <p:cNvSpPr/>
          <p:nvPr>
            <p:ph type="body" idx="5"/>
          </p:nvPr>
        </p:nvSpPr>
        <p:spPr>
          <a:xfrm>
            <a:off x="4307840" y="1499616"/>
            <a:ext cx="3576320" cy="621791"/>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4307840" y="1499616"/>
            <a:ext cx="3576320" cy="621791"/>
          </a:xfrm>
          <a:prstGeom prst="rect">
            <a:avLst/>
          </a:prstGeom>
          <a:noFill/>
        </p:spPr>
        <p:txBody>
          <a:bodyPr wrap="none" lIns="0" rIns="0">
            <a:noAutofit/>
          </a:bodyPr>
          <a:lstStyle/>
          <a:p>
            <a:pPr algn="l"/>
            <a:r>
              <a:rPr sz="3400" b="1" i="0">
                <a:solidFill>
                  <a:srgbClr val="FFFFFF"/>
                </a:solidFill>
                <a:latin typeface="Arial"/>
              </a:rPr>
              <a:t>Q2</a:t>
            </a:r>
          </a:p>
        </p:txBody>
      </p:sp>
      <p:sp>
        <p:nvSpPr>
          <p:cNvPr id="12" name="TextBox 11"/>
          <p:cNvSpPr/>
          <p:nvPr>
            <p:ph type="body" idx="7"/>
          </p:nvPr>
        </p:nvSpPr>
        <p:spPr>
          <a:xfrm>
            <a:off x="4307840" y="2395727"/>
            <a:ext cx="3576320" cy="609600"/>
          </a:xfrm>
          <a:prstGeom prst="rect">
            <a:avLst/>
          </a:prstGeom>
          <a:noFill/>
        </p:spPr>
        <p:txBody>
          <a:bodyPr wrap="none" lIns="0" rIns="0">
            <a:noAutofit/>
          </a:bodyPr>
          <a:lstStyle/>
          <a:p>
            <a:pPr algn="l"/>
            <a:r>
              <a:rPr sz="3400" b="0" i="0">
                <a:solidFill>
                  <a:srgbClr val="0A2240"/>
                </a:solidFill>
                <a:latin typeface="Arial"/>
              </a:rPr>
              <a:t>Mobile app</a:t>
            </a:r>
          </a:p>
        </p:txBody>
      </p:sp>
      <p:sp>
        <p:nvSpPr>
          <p:cNvPr id="13" name="TextBox 12"/>
          <p:cNvSpPr/>
          <p:nvPr>
            <p:ph type="body" idx="8"/>
          </p:nvPr>
        </p:nvSpPr>
        <p:spPr>
          <a:xfrm>
            <a:off x="4307840" y="3279647"/>
            <a:ext cx="3793132" cy="609600"/>
          </a:xfrm>
          <a:prstGeom prst="rect">
            <a:avLst/>
          </a:prstGeom>
          <a:noFill/>
        </p:spPr>
        <p:txBody>
          <a:bodyPr wrap="none" lIns="0" rIns="0">
            <a:noAutofit/>
          </a:bodyPr>
          <a:lstStyle/>
          <a:p>
            <a:pPr algn="l"/>
            <a:r>
              <a:rPr sz="3400" b="0" i="0">
                <a:solidFill>
                  <a:srgbClr val="0A2240"/>
                </a:solidFill>
                <a:latin typeface="Arial"/>
              </a:rPr>
              <a:t>Integrations</a:t>
            </a:r>
          </a:p>
        </p:txBody>
      </p:sp>
      <p:sp>
        <p:nvSpPr>
          <p:cNvPr id="14" name="Rectangle 13"/>
          <p:cNvSpPr/>
          <p:nvPr>
            <p:ph type="body" idx="9"/>
          </p:nvPr>
        </p:nvSpPr>
        <p:spPr>
          <a:xfrm>
            <a:off x="8158480" y="1499616"/>
            <a:ext cx="3576320" cy="621791"/>
          </a:xfrm>
          <a:prstGeom prst="rect">
            <a:avLst/>
          </a:prstGeom>
          <a:solidFill>
            <a:srgbClr val="0072CE"/>
          </a:solidFill>
          <a:ln>
            <a:noFill/>
          </a:ln>
          <a:effectLst/>
        </p:spPr>
        <p:txBody>
          <a:bodyPr rtlCol="0" anchor="ctr"/>
          <a:lstStyle/>
          <a:p>
            <a:pPr algn="ctr"/>
          </a:p>
        </p:txBody>
      </p:sp>
      <p:sp>
        <p:nvSpPr>
          <p:cNvPr id="15" name="TextBox 14"/>
          <p:cNvSpPr/>
          <p:nvPr>
            <p:ph type="body" idx="13"/>
          </p:nvPr>
        </p:nvSpPr>
        <p:spPr>
          <a:xfrm>
            <a:off x="8158480" y="1499616"/>
            <a:ext cx="3576320" cy="621791"/>
          </a:xfrm>
          <a:prstGeom prst="rect">
            <a:avLst/>
          </a:prstGeom>
          <a:noFill/>
        </p:spPr>
        <p:txBody>
          <a:bodyPr wrap="none" lIns="0" rIns="0">
            <a:noAutofit/>
          </a:bodyPr>
          <a:lstStyle/>
          <a:p>
            <a:pPr algn="l"/>
            <a:r>
              <a:rPr sz="3400" b="1" i="0">
                <a:solidFill>
                  <a:srgbClr val="FFFFFF"/>
                </a:solidFill>
                <a:latin typeface="Arial"/>
              </a:rPr>
              <a:t>Q3</a:t>
            </a:r>
          </a:p>
        </p:txBody>
      </p:sp>
      <p:sp>
        <p:nvSpPr>
          <p:cNvPr id="16" name="TextBox 15"/>
          <p:cNvSpPr/>
          <p:nvPr>
            <p:ph type="body" idx="14"/>
          </p:nvPr>
        </p:nvSpPr>
        <p:spPr>
          <a:xfrm>
            <a:off x="8158480" y="2395727"/>
            <a:ext cx="4033520" cy="609600"/>
          </a:xfrm>
          <a:prstGeom prst="rect">
            <a:avLst/>
          </a:prstGeom>
          <a:noFill/>
        </p:spPr>
        <p:txBody>
          <a:bodyPr wrap="none" lIns="0" rIns="0">
            <a:noAutofit/>
          </a:bodyPr>
          <a:lstStyle/>
          <a:p>
            <a:pPr algn="l"/>
            <a:r>
              <a:rPr sz="3400" b="0" i="0">
                <a:solidFill>
                  <a:srgbClr val="0A2240"/>
                </a:solidFill>
                <a:latin typeface="Arial"/>
              </a:rPr>
              <a:t>Enterprise tier</a:t>
            </a:r>
          </a:p>
        </p:txBody>
      </p:sp>
      <p:sp>
        <p:nvSpPr>
          <p:cNvPr id="17" name="TextBox 16"/>
          <p:cNvSpPr/>
          <p:nvPr>
            <p:ph type="body" idx="15"/>
          </p:nvPr>
        </p:nvSpPr>
        <p:spPr>
          <a:xfrm>
            <a:off x="8158480" y="3279647"/>
            <a:ext cx="3576320" cy="609600"/>
          </a:xfrm>
          <a:prstGeom prst="rect">
            <a:avLst/>
          </a:prstGeom>
          <a:noFill/>
        </p:spPr>
        <p:txBody>
          <a:bodyPr wrap="none" lIns="0" rIns="0">
            <a:noAutofit/>
          </a:bodyPr>
          <a:lstStyle/>
          <a:p>
            <a:pPr algn="l"/>
            <a:r>
              <a:rPr sz="3400" b="0" i="0">
                <a:solidFill>
                  <a:srgbClr val="0A2240"/>
                </a:solidFill>
                <a:latin typeface="Arial"/>
              </a:rPr>
              <a:t>SSO</a:t>
            </a:r>
          </a:p>
        </p:txBody>
      </p:sp>
    </p:spTree>
    <p:extLst>
      <p:ext uri="{BB962C8B-B14F-4D97-AF65-F5344CB8AC3E}">
        <p14:creationId xmlns:p14="http://schemas.microsoft.com/office/powerpoint/2010/main" val="12129998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slidekit · Funnel">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Sales Pipeline</a:t>
            </a:r>
          </a:p>
        </p:txBody>
      </p:sp>
      <p:sp>
        <p:nvSpPr>
          <p:cNvPr id="6" name="Rectangle 5"/>
          <p:cNvSpPr/>
          <p:nvPr>
            <p:ph type="body" idx="1"/>
          </p:nvPr>
        </p:nvSpPr>
        <p:spPr>
          <a:xfrm>
            <a:off x="457200" y="1499616"/>
            <a:ext cx="11277600" cy="859536"/>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499616"/>
            <a:ext cx="11277600" cy="859536"/>
          </a:xfrm>
          <a:prstGeom prst="rect">
            <a:avLst/>
          </a:prstGeom>
          <a:noFill/>
        </p:spPr>
        <p:txBody>
          <a:bodyPr wrap="none" lIns="0" rIns="0">
            <a:noAutofit/>
          </a:bodyPr>
          <a:lstStyle/>
          <a:p>
            <a:pPr algn="l"/>
            <a:r>
              <a:rPr sz="3400" b="1" i="0">
                <a:solidFill>
                  <a:srgbClr val="FFFFFF"/>
                </a:solidFill>
                <a:latin typeface="Arial"/>
              </a:rPr>
              <a:t>Visitors · 50,000</a:t>
            </a:r>
          </a:p>
        </p:txBody>
      </p:sp>
      <p:sp>
        <p:nvSpPr>
          <p:cNvPr id="8" name="Rectangle 7"/>
          <p:cNvSpPr/>
          <p:nvPr>
            <p:ph type="body" idx="3"/>
          </p:nvPr>
        </p:nvSpPr>
        <p:spPr>
          <a:xfrm>
            <a:off x="1490980" y="2633472"/>
            <a:ext cx="9210040" cy="859536"/>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1490980" y="2633472"/>
            <a:ext cx="9210040" cy="859536"/>
          </a:xfrm>
          <a:prstGeom prst="rect">
            <a:avLst/>
          </a:prstGeom>
          <a:noFill/>
        </p:spPr>
        <p:txBody>
          <a:bodyPr wrap="none" lIns="0" rIns="0">
            <a:noAutofit/>
          </a:bodyPr>
          <a:lstStyle/>
          <a:p>
            <a:pPr algn="l"/>
            <a:r>
              <a:rPr sz="3400" b="1" i="0">
                <a:solidFill>
                  <a:srgbClr val="FFFFFF"/>
                </a:solidFill>
                <a:latin typeface="Arial"/>
              </a:rPr>
              <a:t>Signups · 8,000</a:t>
            </a:r>
          </a:p>
        </p:txBody>
      </p:sp>
      <p:sp>
        <p:nvSpPr>
          <p:cNvPr id="10" name="Rectangle 9"/>
          <p:cNvSpPr/>
          <p:nvPr>
            <p:ph type="body" idx="5"/>
          </p:nvPr>
        </p:nvSpPr>
        <p:spPr>
          <a:xfrm>
            <a:off x="2524760" y="3767328"/>
            <a:ext cx="7142480" cy="859536"/>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2524760" y="3767328"/>
            <a:ext cx="7142480" cy="859536"/>
          </a:xfrm>
          <a:prstGeom prst="rect">
            <a:avLst/>
          </a:prstGeom>
          <a:noFill/>
        </p:spPr>
        <p:txBody>
          <a:bodyPr wrap="none" lIns="0" rIns="0">
            <a:noAutofit/>
          </a:bodyPr>
          <a:lstStyle/>
          <a:p>
            <a:pPr algn="l"/>
            <a:r>
              <a:rPr sz="3400" b="1" i="0">
                <a:solidFill>
                  <a:srgbClr val="FFFFFF"/>
                </a:solidFill>
                <a:latin typeface="Arial"/>
              </a:rPr>
              <a:t>Trials · 2,400</a:t>
            </a:r>
          </a:p>
        </p:txBody>
      </p:sp>
      <p:sp>
        <p:nvSpPr>
          <p:cNvPr id="12" name="Rectangle 11"/>
          <p:cNvSpPr/>
          <p:nvPr>
            <p:ph type="body" idx="7"/>
          </p:nvPr>
        </p:nvSpPr>
        <p:spPr>
          <a:xfrm>
            <a:off x="3558540" y="4901184"/>
            <a:ext cx="5074919" cy="859536"/>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3558540" y="4901184"/>
            <a:ext cx="5558452" cy="859536"/>
          </a:xfrm>
          <a:prstGeom prst="rect">
            <a:avLst/>
          </a:prstGeom>
          <a:noFill/>
        </p:spPr>
        <p:txBody>
          <a:bodyPr wrap="none" lIns="0" rIns="0">
            <a:noAutofit/>
          </a:bodyPr>
          <a:lstStyle/>
          <a:p>
            <a:pPr algn="l"/>
            <a:r>
              <a:rPr sz="3400" b="1" i="0">
                <a:solidFill>
                  <a:srgbClr val="FFFFFF"/>
                </a:solidFill>
                <a:latin typeface="Arial"/>
              </a:rPr>
              <a:t>Customers · 600</a:t>
            </a:r>
          </a:p>
        </p:txBody>
      </p:sp>
    </p:spTree>
    <p:extLst>
      <p:ext uri="{BB962C8B-B14F-4D97-AF65-F5344CB8AC3E}">
        <p14:creationId xmlns:p14="http://schemas.microsoft.com/office/powerpoint/2010/main" val="121299981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slidekit · Nested Circle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Job Search Funnel (2021)</a:t>
            </a:r>
          </a:p>
        </p:txBody>
      </p:sp>
      <p:sp>
        <p:nvSpPr>
          <p:cNvPr id="6" name="Oval 5"/>
          <p:cNvSpPr/>
          <p:nvPr>
            <p:ph type="body" idx="1"/>
          </p:nvPr>
        </p:nvSpPr>
        <p:spPr>
          <a:xfrm>
            <a:off x="3645408" y="1499616"/>
            <a:ext cx="4901184" cy="4901184"/>
          </a:xfrm>
          <a:prstGeom prst="ellipse">
            <a:avLst/>
          </a:prstGeom>
          <a:solidFill>
            <a:srgbClr val="5B6B82"/>
          </a:solidFill>
          <a:ln>
            <a:noFill/>
          </a:ln>
          <a:effectLst/>
        </p:spPr>
        <p:txBody>
          <a:bodyPr rtlCol="0" anchor="ctr"/>
          <a:lstStyle/>
          <a:p>
            <a:pPr algn="ctr"/>
          </a:p>
        </p:txBody>
      </p:sp>
      <p:sp>
        <p:nvSpPr>
          <p:cNvPr id="7" name="Oval 6"/>
          <p:cNvSpPr/>
          <p:nvPr>
            <p:ph type="body" idx="2"/>
          </p:nvPr>
        </p:nvSpPr>
        <p:spPr>
          <a:xfrm>
            <a:off x="4462272" y="3133344"/>
            <a:ext cx="3267456" cy="3267456"/>
          </a:xfrm>
          <a:prstGeom prst="ellipse">
            <a:avLst/>
          </a:prstGeom>
          <a:solidFill>
            <a:srgbClr val="0072CE"/>
          </a:solidFill>
          <a:ln>
            <a:noFill/>
          </a:ln>
          <a:effectLst/>
        </p:spPr>
        <p:txBody>
          <a:bodyPr rtlCol="0" anchor="ctr"/>
          <a:lstStyle/>
          <a:p>
            <a:pPr algn="ctr"/>
          </a:p>
        </p:txBody>
      </p:sp>
      <p:sp>
        <p:nvSpPr>
          <p:cNvPr id="8" name="Oval 7"/>
          <p:cNvSpPr/>
          <p:nvPr>
            <p:ph type="body" idx="3"/>
          </p:nvPr>
        </p:nvSpPr>
        <p:spPr>
          <a:xfrm>
            <a:off x="5279136" y="4767072"/>
            <a:ext cx="1633728" cy="1633728"/>
          </a:xfrm>
          <a:prstGeom prst="ellipse">
            <a:avLst/>
          </a:prstGeom>
          <a:solidFill>
            <a:srgbClr val="0072CE"/>
          </a:solidFill>
          <a:ln>
            <a:noFill/>
          </a:ln>
          <a:effectLst/>
        </p:spPr>
        <p:txBody>
          <a:bodyPr rtlCol="0" anchor="ctr"/>
          <a:lstStyle/>
          <a:p>
            <a:pPr algn="ctr"/>
          </a:p>
        </p:txBody>
      </p:sp>
      <p:sp>
        <p:nvSpPr>
          <p:cNvPr id="9" name="TextBox 8"/>
          <p:cNvSpPr/>
          <p:nvPr>
            <p:ph type="body" idx="4"/>
          </p:nvPr>
        </p:nvSpPr>
        <p:spPr>
          <a:xfrm>
            <a:off x="4577329" y="1645920"/>
            <a:ext cx="3037342" cy="762000"/>
          </a:xfrm>
          <a:prstGeom prst="rect">
            <a:avLst/>
          </a:prstGeom>
          <a:noFill/>
        </p:spPr>
        <p:txBody>
          <a:bodyPr wrap="none" lIns="0" rIns="0">
            <a:noAutofit/>
          </a:bodyPr>
          <a:lstStyle/>
          <a:p>
            <a:pPr algn="ctr"/>
            <a:r>
              <a:rPr sz="5000" b="1" i="0">
                <a:solidFill>
                  <a:srgbClr val="FFFFFF"/>
                </a:solidFill>
                <a:latin typeface="Arial"/>
              </a:rPr>
              <a:t>&gt;700</a:t>
            </a:r>
          </a:p>
        </p:txBody>
      </p:sp>
      <p:sp>
        <p:nvSpPr>
          <p:cNvPr id="10" name="TextBox 9"/>
          <p:cNvSpPr/>
          <p:nvPr>
            <p:ph type="body" idx="5"/>
          </p:nvPr>
        </p:nvSpPr>
        <p:spPr>
          <a:xfrm>
            <a:off x="3594080" y="2316480"/>
            <a:ext cx="5003840" cy="670560"/>
          </a:xfrm>
          <a:prstGeom prst="rect">
            <a:avLst/>
          </a:prstGeom>
          <a:noFill/>
        </p:spPr>
        <p:txBody>
          <a:bodyPr wrap="none" lIns="0" rIns="0">
            <a:noAutofit/>
          </a:bodyPr>
          <a:lstStyle/>
          <a:p>
            <a:pPr algn="ctr"/>
            <a:r>
              <a:rPr sz="4400" b="0" i="0">
                <a:solidFill>
                  <a:srgbClr val="FFFFFF"/>
                </a:solidFill>
                <a:latin typeface="Arial"/>
              </a:rPr>
              <a:t>Applications</a:t>
            </a:r>
          </a:p>
        </p:txBody>
      </p:sp>
      <p:sp>
        <p:nvSpPr>
          <p:cNvPr id="11" name="TextBox 10"/>
          <p:cNvSpPr/>
          <p:nvPr>
            <p:ph type="body" idx="6"/>
          </p:nvPr>
        </p:nvSpPr>
        <p:spPr>
          <a:xfrm>
            <a:off x="4840583" y="3401568"/>
            <a:ext cx="2510834" cy="640080"/>
          </a:xfrm>
          <a:prstGeom prst="rect">
            <a:avLst/>
          </a:prstGeom>
          <a:noFill/>
        </p:spPr>
        <p:txBody>
          <a:bodyPr wrap="none" lIns="0" rIns="0">
            <a:noAutofit/>
          </a:bodyPr>
          <a:lstStyle/>
          <a:p>
            <a:pPr algn="ctr"/>
            <a:r>
              <a:rPr sz="4200" b="1" i="0">
                <a:solidFill>
                  <a:srgbClr val="FFFFFF"/>
                </a:solidFill>
                <a:latin typeface="Arial"/>
              </a:rPr>
              <a:t>6</a:t>
            </a:r>
          </a:p>
        </p:txBody>
      </p:sp>
      <p:sp>
        <p:nvSpPr>
          <p:cNvPr id="12" name="TextBox 11"/>
          <p:cNvSpPr/>
          <p:nvPr>
            <p:ph type="body" idx="7"/>
          </p:nvPr>
        </p:nvSpPr>
        <p:spPr>
          <a:xfrm>
            <a:off x="4358104" y="3950208"/>
            <a:ext cx="3475792" cy="548640"/>
          </a:xfrm>
          <a:prstGeom prst="rect">
            <a:avLst/>
          </a:prstGeom>
          <a:noFill/>
        </p:spPr>
        <p:txBody>
          <a:bodyPr wrap="none" lIns="0" rIns="0">
            <a:noAutofit/>
          </a:bodyPr>
          <a:lstStyle/>
          <a:p>
            <a:pPr algn="ctr"/>
            <a:r>
              <a:rPr sz="3600" b="0" i="0">
                <a:solidFill>
                  <a:srgbClr val="FFFFFF"/>
                </a:solidFill>
                <a:latin typeface="Arial"/>
              </a:rPr>
              <a:t>Interviews</a:t>
            </a:r>
          </a:p>
        </p:txBody>
      </p:sp>
      <p:sp>
        <p:nvSpPr>
          <p:cNvPr id="13" name="TextBox 12"/>
          <p:cNvSpPr/>
          <p:nvPr>
            <p:ph type="body" idx="8"/>
          </p:nvPr>
        </p:nvSpPr>
        <p:spPr>
          <a:xfrm>
            <a:off x="5296524" y="5157216"/>
            <a:ext cx="1598952" cy="518159"/>
          </a:xfrm>
          <a:prstGeom prst="rect">
            <a:avLst/>
          </a:prstGeom>
          <a:noFill/>
        </p:spPr>
        <p:txBody>
          <a:bodyPr wrap="none" lIns="0" rIns="0">
            <a:noAutofit/>
          </a:bodyPr>
          <a:lstStyle/>
          <a:p>
            <a:pPr algn="ctr"/>
            <a:r>
              <a:rPr sz="3400" b="1" i="0">
                <a:solidFill>
                  <a:srgbClr val="FFFFFF"/>
                </a:solidFill>
                <a:latin typeface="Arial"/>
              </a:rPr>
              <a:t>1.5</a:t>
            </a:r>
          </a:p>
        </p:txBody>
      </p:sp>
      <p:sp>
        <p:nvSpPr>
          <p:cNvPr id="14" name="TextBox 13"/>
          <p:cNvSpPr/>
          <p:nvPr>
            <p:ph type="body" idx="9"/>
          </p:nvPr>
        </p:nvSpPr>
        <p:spPr>
          <a:xfrm>
            <a:off x="5235159" y="5583935"/>
            <a:ext cx="1721682" cy="426720"/>
          </a:xfrm>
          <a:prstGeom prst="rect">
            <a:avLst/>
          </a:prstGeom>
          <a:noFill/>
        </p:spPr>
        <p:txBody>
          <a:bodyPr wrap="none" lIns="0" rIns="0">
            <a:noAutofit/>
          </a:bodyPr>
          <a:lstStyle/>
          <a:p>
            <a:pPr algn="ctr"/>
            <a:r>
              <a:rPr sz="2800" b="0" i="0">
                <a:solidFill>
                  <a:srgbClr val="FFFFFF"/>
                </a:solidFill>
                <a:latin typeface="Arial"/>
              </a:rPr>
              <a:t>Offers</a:t>
            </a:r>
          </a:p>
        </p:txBody>
      </p:sp>
    </p:spTree>
    <p:extLst>
      <p:ext uri="{BB962C8B-B14F-4D97-AF65-F5344CB8AC3E}">
        <p14:creationId xmlns:p14="http://schemas.microsoft.com/office/powerpoint/2010/main" val="12129998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slidekit · Pyram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Hierarchy of Needs</a:t>
            </a:r>
          </a:p>
        </p:txBody>
      </p:sp>
      <p:sp>
        <p:nvSpPr>
          <p:cNvPr id="6" name="Rectangle 5"/>
          <p:cNvSpPr/>
          <p:nvPr>
            <p:ph type="body" idx="1"/>
          </p:nvPr>
        </p:nvSpPr>
        <p:spPr>
          <a:xfrm>
            <a:off x="3840480" y="1499616"/>
            <a:ext cx="4511040" cy="859536"/>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3840480" y="1499616"/>
            <a:ext cx="4511040" cy="859536"/>
          </a:xfrm>
          <a:prstGeom prst="rect">
            <a:avLst/>
          </a:prstGeom>
          <a:noFill/>
        </p:spPr>
        <p:txBody>
          <a:bodyPr wrap="none" lIns="0" rIns="0">
            <a:noAutofit/>
          </a:bodyPr>
          <a:lstStyle/>
          <a:p>
            <a:pPr algn="l"/>
            <a:r>
              <a:rPr sz="3400" b="1" i="0">
                <a:solidFill>
                  <a:srgbClr val="FFFFFF"/>
                </a:solidFill>
                <a:latin typeface="Arial"/>
              </a:rPr>
              <a:t>Vision</a:t>
            </a:r>
          </a:p>
        </p:txBody>
      </p:sp>
      <p:sp>
        <p:nvSpPr>
          <p:cNvPr id="8" name="Rectangle 7"/>
          <p:cNvSpPr/>
          <p:nvPr>
            <p:ph type="body" idx="3"/>
          </p:nvPr>
        </p:nvSpPr>
        <p:spPr>
          <a:xfrm>
            <a:off x="2712720" y="2633472"/>
            <a:ext cx="6766560" cy="859536"/>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2712720" y="2633472"/>
            <a:ext cx="6766560" cy="859536"/>
          </a:xfrm>
          <a:prstGeom prst="rect">
            <a:avLst/>
          </a:prstGeom>
          <a:noFill/>
        </p:spPr>
        <p:txBody>
          <a:bodyPr wrap="none" lIns="0" rIns="0">
            <a:noAutofit/>
          </a:bodyPr>
          <a:lstStyle/>
          <a:p>
            <a:pPr algn="l"/>
            <a:r>
              <a:rPr sz="3400" b="1" i="0">
                <a:solidFill>
                  <a:srgbClr val="FFFFFF"/>
                </a:solidFill>
                <a:latin typeface="Arial"/>
              </a:rPr>
              <a:t>Strategy</a:t>
            </a:r>
          </a:p>
        </p:txBody>
      </p:sp>
      <p:sp>
        <p:nvSpPr>
          <p:cNvPr id="10" name="Rectangle 9"/>
          <p:cNvSpPr/>
          <p:nvPr>
            <p:ph type="body" idx="5"/>
          </p:nvPr>
        </p:nvSpPr>
        <p:spPr>
          <a:xfrm>
            <a:off x="1584960" y="3767328"/>
            <a:ext cx="9022080" cy="859536"/>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1584960" y="3767328"/>
            <a:ext cx="9022080" cy="859536"/>
          </a:xfrm>
          <a:prstGeom prst="rect">
            <a:avLst/>
          </a:prstGeom>
          <a:noFill/>
        </p:spPr>
        <p:txBody>
          <a:bodyPr wrap="none" lIns="0" rIns="0">
            <a:noAutofit/>
          </a:bodyPr>
          <a:lstStyle/>
          <a:p>
            <a:pPr algn="l"/>
            <a:r>
              <a:rPr sz="3400" b="1" i="0">
                <a:solidFill>
                  <a:srgbClr val="FFFFFF"/>
                </a:solidFill>
                <a:latin typeface="Arial"/>
              </a:rPr>
              <a:t>Goals</a:t>
            </a:r>
          </a:p>
        </p:txBody>
      </p:sp>
      <p:sp>
        <p:nvSpPr>
          <p:cNvPr id="12" name="Rectangle 11"/>
          <p:cNvSpPr/>
          <p:nvPr>
            <p:ph type="body" idx="7"/>
          </p:nvPr>
        </p:nvSpPr>
        <p:spPr>
          <a:xfrm>
            <a:off x="457200" y="4901184"/>
            <a:ext cx="11277600" cy="859536"/>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457200" y="4901184"/>
            <a:ext cx="11277600" cy="859536"/>
          </a:xfrm>
          <a:prstGeom prst="rect">
            <a:avLst/>
          </a:prstGeom>
          <a:noFill/>
        </p:spPr>
        <p:txBody>
          <a:bodyPr wrap="none" lIns="0" rIns="0">
            <a:noAutofit/>
          </a:bodyPr>
          <a:lstStyle/>
          <a:p>
            <a:pPr algn="l"/>
            <a:r>
              <a:rPr sz="3400" b="1" i="0">
                <a:solidFill>
                  <a:srgbClr val="FFFFFF"/>
                </a:solidFill>
                <a:latin typeface="Arial"/>
              </a:rPr>
              <a:t>Tactics</a:t>
            </a:r>
          </a:p>
        </p:txBody>
      </p:sp>
    </p:spTree>
    <p:extLst>
      <p:ext uri="{BB962C8B-B14F-4D97-AF65-F5344CB8AC3E}">
        <p14:creationId xmlns:p14="http://schemas.microsoft.com/office/powerpoint/2010/main" val="12129998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slidekit · SWO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SWOT Analysis</a:t>
            </a:r>
          </a:p>
        </p:txBody>
      </p:sp>
      <p:sp>
        <p:nvSpPr>
          <p:cNvPr id="6" name="TextBox 5"/>
          <p:cNvSpPr/>
          <p:nvPr>
            <p:ph type="body" id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Strengths</a:t>
            </a:r>
          </a:p>
        </p:txBody>
      </p:sp>
      <p:sp>
        <p:nvSpPr>
          <p:cNvPr id="7" name="Rectangle 6"/>
          <p:cNvSpPr/>
          <p:nvPr>
            <p:ph type="body" idx="2"/>
          </p:nvPr>
        </p:nvSpPr>
        <p:spPr>
          <a:xfrm>
            <a:off x="457200" y="2176271"/>
            <a:ext cx="1650492"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395727"/>
            <a:ext cx="5501640" cy="1097281"/>
          </a:xfrm>
          <a:prstGeom prst="rect">
            <a:avLst/>
          </a:prstGeom>
          <a:noFill/>
        </p:spPr>
        <p:txBody>
          <a:bodyPr wrap="square" lIns="0" rIns="0">
            <a:noAutofit/>
          </a:bodyPr>
          <a:lstStyle/>
          <a:p>
            <a:pPr algn="l"/>
            <a:r>
              <a:rPr sz="3400" b="0" i="0">
                <a:solidFill>
                  <a:srgbClr val="0A2240"/>
                </a:solidFill>
                <a:latin typeface="Arial"/>
              </a:rPr>
              <a:t>A strong brand with loyal users</a:t>
            </a:r>
          </a:p>
        </p:txBody>
      </p:sp>
      <p:sp>
        <p:nvSpPr>
          <p:cNvPr id="9" name="TextBox 8"/>
          <p:cNvSpPr/>
          <p:nvPr>
            <p:ph type="body" idx="4"/>
          </p:nvPr>
        </p:nvSpPr>
        <p:spPr>
          <a:xfrm>
            <a:off x="6233160" y="1499616"/>
            <a:ext cx="5501640" cy="621791"/>
          </a:xfrm>
          <a:prstGeom prst="rect">
            <a:avLst/>
          </a:prstGeom>
          <a:noFill/>
        </p:spPr>
        <p:txBody>
          <a:bodyPr wrap="none" lIns="0" rIns="0">
            <a:noAutofit/>
          </a:bodyPr>
          <a:lstStyle/>
          <a:p>
            <a:pPr algn="l"/>
            <a:r>
              <a:rPr sz="3400" b="1" i="0">
                <a:solidFill>
                  <a:srgbClr val="5B6B82"/>
                </a:solidFill>
                <a:latin typeface="Arial"/>
              </a:rPr>
              <a:t>Weaknesses</a:t>
            </a:r>
          </a:p>
        </p:txBody>
      </p:sp>
      <p:sp>
        <p:nvSpPr>
          <p:cNvPr id="10" name="Rectangle 9"/>
          <p:cNvSpPr/>
          <p:nvPr>
            <p:ph type="body" idx="5"/>
          </p:nvPr>
        </p:nvSpPr>
        <p:spPr>
          <a:xfrm>
            <a:off x="6233160" y="2176271"/>
            <a:ext cx="1650492" cy="54864"/>
          </a:xfrm>
          <a:prstGeom prst="rect">
            <a:avLst/>
          </a:prstGeom>
          <a:solidFill>
            <a:srgbClr val="5B6B82"/>
          </a:solidFill>
          <a:ln>
            <a:noFill/>
          </a:ln>
          <a:effectLst/>
        </p:spPr>
        <p:txBody>
          <a:bodyPr rtlCol="0" anchor="ctr"/>
          <a:lstStyle/>
          <a:p>
            <a:pPr algn="ctr"/>
          </a:p>
        </p:txBody>
      </p:sp>
      <p:sp>
        <p:nvSpPr>
          <p:cNvPr id="11" name="TextBox 10"/>
          <p:cNvSpPr/>
          <p:nvPr>
            <p:ph type="body" idx="6"/>
          </p:nvPr>
        </p:nvSpPr>
        <p:spPr>
          <a:xfrm>
            <a:off x="6233160" y="2395727"/>
            <a:ext cx="5501640" cy="1097281"/>
          </a:xfrm>
          <a:prstGeom prst="rect">
            <a:avLst/>
          </a:prstGeom>
          <a:noFill/>
        </p:spPr>
        <p:txBody>
          <a:bodyPr wrap="square" lIns="0" rIns="0">
            <a:noAutofit/>
          </a:bodyPr>
          <a:lstStyle/>
          <a:p>
            <a:pPr algn="l"/>
            <a:r>
              <a:rPr sz="3400" b="0" i="0">
                <a:solidFill>
                  <a:srgbClr val="0A2240"/>
                </a:solidFill>
                <a:latin typeface="Arial"/>
              </a:rPr>
              <a:t>Thin margins and a small team</a:t>
            </a:r>
          </a:p>
        </p:txBody>
      </p:sp>
      <p:sp>
        <p:nvSpPr>
          <p:cNvPr id="12" name="TextBox 11"/>
          <p:cNvSpPr/>
          <p:nvPr>
            <p:ph type="body" idx="7"/>
          </p:nvPr>
        </p:nvSpPr>
        <p:spPr>
          <a:xfrm>
            <a:off x="457200" y="3767328"/>
            <a:ext cx="5501640" cy="621791"/>
          </a:xfrm>
          <a:prstGeom prst="rect">
            <a:avLst/>
          </a:prstGeom>
          <a:noFill/>
        </p:spPr>
        <p:txBody>
          <a:bodyPr wrap="none" lIns="0" rIns="0">
            <a:noAutofit/>
          </a:bodyPr>
          <a:lstStyle/>
          <a:p>
            <a:pPr algn="l"/>
            <a:r>
              <a:rPr sz="3400" b="1" i="0">
                <a:solidFill>
                  <a:srgbClr val="0072CE"/>
                </a:solidFill>
                <a:latin typeface="Arial"/>
              </a:rPr>
              <a:t>Opportunities</a:t>
            </a:r>
          </a:p>
        </p:txBody>
      </p:sp>
      <p:sp>
        <p:nvSpPr>
          <p:cNvPr id="13" name="Rectangle 12"/>
          <p:cNvSpPr/>
          <p:nvPr>
            <p:ph type="body" idx="8"/>
          </p:nvPr>
        </p:nvSpPr>
        <p:spPr>
          <a:xfrm>
            <a:off x="457200" y="4443983"/>
            <a:ext cx="1650492" cy="54864"/>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457200" y="4663439"/>
            <a:ext cx="5501640" cy="1097281"/>
          </a:xfrm>
          <a:prstGeom prst="rect">
            <a:avLst/>
          </a:prstGeom>
          <a:noFill/>
        </p:spPr>
        <p:txBody>
          <a:bodyPr wrap="square" lIns="0" rIns="0">
            <a:noAutofit/>
          </a:bodyPr>
          <a:lstStyle/>
          <a:p>
            <a:pPr algn="l"/>
            <a:r>
              <a:rPr sz="3400" b="0" i="0">
                <a:solidFill>
                  <a:srgbClr val="0A2240"/>
                </a:solidFill>
                <a:latin typeface="Arial"/>
              </a:rPr>
              <a:t>New markets through partnerships</a:t>
            </a:r>
          </a:p>
        </p:txBody>
      </p:sp>
      <p:sp>
        <p:nvSpPr>
          <p:cNvPr id="15" name="TextBox 14"/>
          <p:cNvSpPr/>
          <p:nvPr>
            <p:ph type="body" idx="13"/>
          </p:nvPr>
        </p:nvSpPr>
        <p:spPr>
          <a:xfrm>
            <a:off x="6233160" y="3767328"/>
            <a:ext cx="5501640" cy="621791"/>
          </a:xfrm>
          <a:prstGeom prst="rect">
            <a:avLst/>
          </a:prstGeom>
          <a:noFill/>
        </p:spPr>
        <p:txBody>
          <a:bodyPr wrap="none" lIns="0" rIns="0">
            <a:noAutofit/>
          </a:bodyPr>
          <a:lstStyle/>
          <a:p>
            <a:pPr algn="l"/>
            <a:r>
              <a:rPr sz="3400" b="1" i="0">
                <a:solidFill>
                  <a:srgbClr val="5B6B82"/>
                </a:solidFill>
                <a:latin typeface="Arial"/>
              </a:rPr>
              <a:t>Threats</a:t>
            </a:r>
          </a:p>
        </p:txBody>
      </p:sp>
      <p:sp>
        <p:nvSpPr>
          <p:cNvPr id="16" name="Rectangle 15"/>
          <p:cNvSpPr/>
          <p:nvPr>
            <p:ph type="body" idx="14"/>
          </p:nvPr>
        </p:nvSpPr>
        <p:spPr>
          <a:xfrm>
            <a:off x="6233160" y="4443983"/>
            <a:ext cx="1650492" cy="54864"/>
          </a:xfrm>
          <a:prstGeom prst="rect">
            <a:avLst/>
          </a:prstGeom>
          <a:solidFill>
            <a:srgbClr val="5B6B82"/>
          </a:solidFill>
          <a:ln>
            <a:noFill/>
          </a:ln>
          <a:effectLst/>
        </p:spPr>
        <p:txBody>
          <a:bodyPr rtlCol="0" anchor="ctr"/>
          <a:lstStyle/>
          <a:p>
            <a:pPr algn="ctr"/>
          </a:p>
        </p:txBody>
      </p:sp>
      <p:sp>
        <p:nvSpPr>
          <p:cNvPr id="17" name="TextBox 16"/>
          <p:cNvSpPr/>
          <p:nvPr>
            <p:ph type="body" idx="15"/>
          </p:nvPr>
        </p:nvSpPr>
        <p:spPr>
          <a:xfrm>
            <a:off x="6233160" y="4663439"/>
            <a:ext cx="5501640" cy="1097281"/>
          </a:xfrm>
          <a:prstGeom prst="rect">
            <a:avLst/>
          </a:prstGeom>
          <a:noFill/>
        </p:spPr>
        <p:txBody>
          <a:bodyPr wrap="square" lIns="0" rIns="0">
            <a:noAutofit/>
          </a:bodyPr>
          <a:lstStyle/>
          <a:p>
            <a:pPr algn="l"/>
            <a:r>
              <a:rPr sz="3400" b="0" i="0">
                <a:solidFill>
                  <a:srgbClr val="0A2240"/>
                </a:solidFill>
                <a:latin typeface="Arial"/>
              </a:rPr>
              <a:t>New entrants driving price pressure</a:t>
            </a:r>
          </a:p>
        </p:txBody>
      </p:sp>
    </p:spTree>
    <p:extLst>
      <p:ext uri="{BB962C8B-B14F-4D97-AF65-F5344CB8AC3E}">
        <p14:creationId xmlns:p14="http://schemas.microsoft.com/office/powerpoint/2010/main" val="121299981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slidekit · Comparison Matrix">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Evaluation Matrix</a:t>
            </a:r>
          </a:p>
        </p:txBody>
      </p:sp>
      <p:sp>
        <p:nvSpPr>
          <p:cNvPr id="6" name="TextBox 5"/>
          <p:cNvSpPr/>
          <p:nvPr>
            <p:ph type="body" idx="1"/>
          </p:nvPr>
        </p:nvSpPr>
        <p:spPr>
          <a:xfrm>
            <a:off x="3280182" y="1499616"/>
            <a:ext cx="3650436" cy="518159"/>
          </a:xfrm>
          <a:prstGeom prst="rect">
            <a:avLst/>
          </a:prstGeom>
          <a:noFill/>
        </p:spPr>
        <p:txBody>
          <a:bodyPr wrap="none" lIns="0" rIns="0">
            <a:noAutofit/>
          </a:bodyPr>
          <a:lstStyle/>
          <a:p>
            <a:pPr algn="ctr"/>
            <a:r>
              <a:rPr sz="3400" b="1" i="0">
                <a:solidFill>
                  <a:srgbClr val="0A2240"/>
                </a:solidFill>
                <a:latin typeface="Arial"/>
              </a:rPr>
              <a:t>Platform A</a:t>
            </a:r>
          </a:p>
        </p:txBody>
      </p:sp>
      <p:sp>
        <p:nvSpPr>
          <p:cNvPr id="7" name="TextBox 6"/>
          <p:cNvSpPr/>
          <p:nvPr>
            <p:ph type="body" idx="2"/>
          </p:nvPr>
        </p:nvSpPr>
        <p:spPr>
          <a:xfrm>
            <a:off x="5973987" y="1499616"/>
            <a:ext cx="3676074" cy="518159"/>
          </a:xfrm>
          <a:prstGeom prst="rect">
            <a:avLst/>
          </a:prstGeom>
          <a:noFill/>
        </p:spPr>
        <p:txBody>
          <a:bodyPr wrap="none" lIns="0" rIns="0">
            <a:noAutofit/>
          </a:bodyPr>
          <a:lstStyle/>
          <a:p>
            <a:pPr algn="ctr"/>
            <a:r>
              <a:rPr sz="3400" b="1" i="0">
                <a:solidFill>
                  <a:srgbClr val="0A2240"/>
                </a:solidFill>
                <a:latin typeface="Arial"/>
              </a:rPr>
              <a:t>Platform B</a:t>
            </a:r>
          </a:p>
        </p:txBody>
      </p:sp>
      <p:sp>
        <p:nvSpPr>
          <p:cNvPr id="8" name="TextBox 7"/>
          <p:cNvSpPr/>
          <p:nvPr>
            <p:ph type="body" idx="3"/>
          </p:nvPr>
        </p:nvSpPr>
        <p:spPr>
          <a:xfrm>
            <a:off x="8845296" y="1499616"/>
            <a:ext cx="3346704" cy="518159"/>
          </a:xfrm>
          <a:prstGeom prst="rect">
            <a:avLst/>
          </a:prstGeom>
          <a:noFill/>
        </p:spPr>
        <p:txBody>
          <a:bodyPr wrap="none" lIns="0" rIns="0">
            <a:noAutofit/>
          </a:bodyPr>
          <a:lstStyle/>
          <a:p>
            <a:pPr algn="ctr"/>
            <a:r>
              <a:rPr sz="3400" b="1" i="0">
                <a:solidFill>
                  <a:srgbClr val="0A2240"/>
                </a:solidFill>
                <a:latin typeface="Arial"/>
              </a:rPr>
              <a:t>Platform C</a:t>
            </a:r>
          </a:p>
        </p:txBody>
      </p:sp>
      <p:sp>
        <p:nvSpPr>
          <p:cNvPr id="9" name="Rectangle 8"/>
          <p:cNvSpPr/>
          <p:nvPr>
            <p:ph type="body" idx="4"/>
          </p:nvPr>
        </p:nvSpPr>
        <p:spPr>
          <a:xfrm>
            <a:off x="457200" y="2072639"/>
            <a:ext cx="11277600" cy="54864"/>
          </a:xfrm>
          <a:prstGeom prst="rect">
            <a:avLst/>
          </a:prstGeom>
          <a:solidFill>
            <a:srgbClr val="0072CE"/>
          </a:solidFill>
          <a:ln>
            <a:noFill/>
          </a:ln>
          <a:effectLst/>
        </p:spPr>
        <p:txBody>
          <a:bodyPr rtlCol="0" anchor="ctr"/>
          <a:lstStyle/>
          <a:p>
            <a:pPr algn="ctr"/>
          </a:p>
        </p:txBody>
      </p:sp>
      <p:sp>
        <p:nvSpPr>
          <p:cNvPr id="10" name="TextBox 9"/>
          <p:cNvSpPr/>
          <p:nvPr>
            <p:ph type="body" idx="5"/>
          </p:nvPr>
        </p:nvSpPr>
        <p:spPr>
          <a:xfrm>
            <a:off x="457200" y="2401823"/>
            <a:ext cx="3157728" cy="936752"/>
          </a:xfrm>
          <a:prstGeom prst="rect">
            <a:avLst/>
          </a:prstGeom>
          <a:noFill/>
        </p:spPr>
        <p:txBody>
          <a:bodyPr wrap="none" lIns="0" rIns="0">
            <a:noAutofit/>
          </a:bodyPr>
          <a:lstStyle/>
          <a:p>
            <a:pPr algn="l"/>
            <a:r>
              <a:rPr sz="3400" b="1" i="0">
                <a:solidFill>
                  <a:srgbClr val="0A2240"/>
                </a:solidFill>
                <a:latin typeface="Arial"/>
              </a:rPr>
              <a:t>Security</a:t>
            </a:r>
          </a:p>
        </p:txBody>
      </p:sp>
      <p:sp>
        <p:nvSpPr>
          <p:cNvPr id="11" name="Rectangle 10"/>
          <p:cNvSpPr/>
          <p:nvPr>
            <p:ph type="body" idx="6"/>
          </p:nvPr>
        </p:nvSpPr>
        <p:spPr>
          <a:xfrm>
            <a:off x="4245247" y="2401823"/>
            <a:ext cx="1720305" cy="518159"/>
          </a:xfrm>
          <a:prstGeom prst="rect">
            <a:avLst/>
          </a:prstGeom>
          <a:solidFill>
            <a:srgbClr val="0072CE"/>
          </a:solidFill>
          <a:ln>
            <a:noFill/>
          </a:ln>
          <a:effectLst/>
        </p:spPr>
        <p:txBody>
          <a:bodyPr rtlCol="0" anchor="ctr"/>
          <a:lstStyle/>
          <a:p>
            <a:pPr algn="ctr"/>
          </a:p>
        </p:txBody>
      </p:sp>
      <p:sp>
        <p:nvSpPr>
          <p:cNvPr id="12" name="TextBox 11"/>
          <p:cNvSpPr/>
          <p:nvPr>
            <p:ph type="body" idx="7"/>
          </p:nvPr>
        </p:nvSpPr>
        <p:spPr>
          <a:xfrm>
            <a:off x="3901063" y="2401823"/>
            <a:ext cx="2408673" cy="518159"/>
          </a:xfrm>
          <a:prstGeom prst="rect">
            <a:avLst/>
          </a:prstGeom>
          <a:noFill/>
        </p:spPr>
        <p:txBody>
          <a:bodyPr wrap="none" lIns="0" rIns="0">
            <a:noAutofit/>
          </a:bodyPr>
          <a:lstStyle/>
          <a:p>
            <a:pPr algn="ctr"/>
            <a:r>
              <a:rPr sz="3400" b="1" i="0">
                <a:solidFill>
                  <a:srgbClr val="FFFFFF"/>
                </a:solidFill>
                <a:latin typeface="Arial"/>
              </a:rPr>
              <a:t>Strong</a:t>
            </a:r>
          </a:p>
        </p:txBody>
      </p:sp>
      <p:sp>
        <p:nvSpPr>
          <p:cNvPr id="13" name="TextBox 12"/>
          <p:cNvSpPr/>
          <p:nvPr>
            <p:ph type="body" idx="8"/>
          </p:nvPr>
        </p:nvSpPr>
        <p:spPr>
          <a:xfrm>
            <a:off x="6491979" y="2401823"/>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4" name="TextBox 13"/>
          <p:cNvSpPr/>
          <p:nvPr>
            <p:ph type="body" idx="9"/>
          </p:nvPr>
        </p:nvSpPr>
        <p:spPr>
          <a:xfrm>
            <a:off x="9302496" y="2401823"/>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15" name="TextBox 14"/>
          <p:cNvSpPr/>
          <p:nvPr>
            <p:ph type="body" idx="13"/>
          </p:nvPr>
        </p:nvSpPr>
        <p:spPr>
          <a:xfrm>
            <a:off x="457200" y="3612895"/>
            <a:ext cx="3279020" cy="936752"/>
          </a:xfrm>
          <a:prstGeom prst="rect">
            <a:avLst/>
          </a:prstGeom>
          <a:noFill/>
        </p:spPr>
        <p:txBody>
          <a:bodyPr wrap="none" lIns="0" rIns="0">
            <a:noAutofit/>
          </a:bodyPr>
          <a:lstStyle/>
          <a:p>
            <a:pPr algn="l"/>
            <a:r>
              <a:rPr sz="3400" b="1" i="0">
                <a:solidFill>
                  <a:srgbClr val="0A2240"/>
                </a:solidFill>
                <a:latin typeface="Arial"/>
              </a:rPr>
              <a:t>Workflow</a:t>
            </a:r>
          </a:p>
        </p:txBody>
      </p:sp>
      <p:sp>
        <p:nvSpPr>
          <p:cNvPr id="16" name="TextBox 15"/>
          <p:cNvSpPr/>
          <p:nvPr>
            <p:ph type="body" idx="14"/>
          </p:nvPr>
        </p:nvSpPr>
        <p:spPr>
          <a:xfrm>
            <a:off x="3785355" y="3612895"/>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7" name="TextBox 16"/>
          <p:cNvSpPr/>
          <p:nvPr>
            <p:ph type="body" idx="15"/>
          </p:nvPr>
        </p:nvSpPr>
        <p:spPr>
          <a:xfrm>
            <a:off x="6595872" y="3612895"/>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18" name="TextBox 17"/>
          <p:cNvSpPr/>
          <p:nvPr>
            <p:ph type="body" idx="16"/>
          </p:nvPr>
        </p:nvSpPr>
        <p:spPr>
          <a:xfrm>
            <a:off x="9198603" y="3612895"/>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9" name="TextBox 18"/>
          <p:cNvSpPr/>
          <p:nvPr>
            <p:ph type="body" idx="17"/>
          </p:nvPr>
        </p:nvSpPr>
        <p:spPr>
          <a:xfrm>
            <a:off x="457200" y="4823967"/>
            <a:ext cx="3157728" cy="936752"/>
          </a:xfrm>
          <a:prstGeom prst="rect">
            <a:avLst/>
          </a:prstGeom>
          <a:noFill/>
        </p:spPr>
        <p:txBody>
          <a:bodyPr wrap="none" lIns="0" rIns="0">
            <a:noAutofit/>
          </a:bodyPr>
          <a:lstStyle/>
          <a:p>
            <a:pPr algn="l"/>
            <a:r>
              <a:rPr sz="3400" b="1" i="0">
                <a:solidFill>
                  <a:srgbClr val="0A2240"/>
                </a:solidFill>
                <a:latin typeface="Arial"/>
              </a:rPr>
              <a:t>Support</a:t>
            </a:r>
          </a:p>
        </p:txBody>
      </p:sp>
      <p:sp>
        <p:nvSpPr>
          <p:cNvPr id="20" name="Rectangle 19"/>
          <p:cNvSpPr/>
          <p:nvPr>
            <p:ph type="body" idx="18"/>
          </p:nvPr>
        </p:nvSpPr>
        <p:spPr>
          <a:xfrm>
            <a:off x="4245247" y="4823967"/>
            <a:ext cx="1720305" cy="518159"/>
          </a:xfrm>
          <a:prstGeom prst="rect">
            <a:avLst/>
          </a:prstGeom>
          <a:solidFill>
            <a:srgbClr val="0072CE"/>
          </a:solidFill>
          <a:ln>
            <a:noFill/>
          </a:ln>
          <a:effectLst/>
        </p:spPr>
        <p:txBody>
          <a:bodyPr rtlCol="0" anchor="ctr"/>
          <a:lstStyle/>
          <a:p>
            <a:pPr algn="ctr"/>
          </a:p>
        </p:txBody>
      </p:sp>
      <p:sp>
        <p:nvSpPr>
          <p:cNvPr id="21" name="TextBox 20"/>
          <p:cNvSpPr/>
          <p:nvPr>
            <p:ph type="body" idx="19"/>
          </p:nvPr>
        </p:nvSpPr>
        <p:spPr>
          <a:xfrm>
            <a:off x="3901063" y="4823967"/>
            <a:ext cx="2408673" cy="518159"/>
          </a:xfrm>
          <a:prstGeom prst="rect">
            <a:avLst/>
          </a:prstGeom>
          <a:noFill/>
        </p:spPr>
        <p:txBody>
          <a:bodyPr wrap="none" lIns="0" rIns="0">
            <a:noAutofit/>
          </a:bodyPr>
          <a:lstStyle/>
          <a:p>
            <a:pPr algn="ctr"/>
            <a:r>
              <a:rPr sz="3400" b="1" i="0">
                <a:solidFill>
                  <a:srgbClr val="FFFFFF"/>
                </a:solidFill>
                <a:latin typeface="Arial"/>
              </a:rPr>
              <a:t>Strong</a:t>
            </a:r>
          </a:p>
        </p:txBody>
      </p:sp>
      <p:sp>
        <p:nvSpPr>
          <p:cNvPr id="22" name="TextBox 21"/>
          <p:cNvSpPr/>
          <p:nvPr>
            <p:ph type="body" idx="20"/>
          </p:nvPr>
        </p:nvSpPr>
        <p:spPr>
          <a:xfrm>
            <a:off x="6595872" y="4823967"/>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23" name="TextBox 22"/>
          <p:cNvSpPr/>
          <p:nvPr>
            <p:ph type="body" idx="21"/>
          </p:nvPr>
        </p:nvSpPr>
        <p:spPr>
          <a:xfrm>
            <a:off x="9198603" y="4823967"/>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12" r:id="rId13"/>
    <p:sldLayoutId id="2147483713" r:id="rId14"/>
    <p:sldLayoutId id="2147483714" r:id="rId15"/>
    <p:sldLayoutId id="2147483715" r:id="rId16"/>
    <p:sldLayoutId id="2147483716" r:id="rId17"/>
    <p:sldLayoutId id="2147483717" r:id="rId18"/>
    <p:sldLayoutId id="2147483718" r:id="rId19"/>
    <p:sldLayoutId id="2147483719" r:id="rId20"/>
    <p:sldLayoutId id="2147483720" r:id="rId21"/>
    <p:sldLayoutId id="2147483721" r:id="rId22"/>
    <p:sldLayoutId id="2147483722" r:id="rId23"/>
    <p:sldLayoutId id="2147483723" r:id="rId24"/>
    <p:sldLayoutId id="2147483724" r:id="rId25"/>
    <p:sldLayoutId id="2147483725" r:id="rId26"/>
    <p:sldLayoutId id="2147483726" r:id="rId27"/>
    <p:sldLayoutId id="2147483727" r:id="rId28"/>
    <p:sldLayoutId id="2147483728" r:id="rId29"/>
    <p:sldLayoutId id="2147483729" r:id="rId30"/>
    <p:sldLayoutId id="2147483730" r:id="rId31"/>
    <p:sldLayoutId id="2147483731" r:id="rId32"/>
    <p:sldLayoutId id="2147483732" r:id="rId33"/>
    <p:sldLayoutId id="2147483733" r:id="rId34"/>
    <p:sldLayoutId id="2147483734" r:id="rId35"/>
    <p:sldLayoutId id="2147483735" r:id="rId36"/>
    <p:sldLayoutId id="2147483736" r:id="rId37"/>
    <p:sldLayoutId id="2147483737" r:id="rId38"/>
    <p:sldLayoutId id="2147483738" r:id="rId39"/>
    <p:sldLayoutId id="2147483739" r:id="rId40"/>
    <p:sldLayoutId id="2147483740" r:id="rId41"/>
    <p:sldLayoutId id="2147483741" r:id="rId4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png"/><Relationship Id="rId3" Type="http://schemas.openxmlformats.org/officeDocument/2006/relationships/hyperlink" Target="https://supabase.com/"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png"/><Relationship Id="rId3" Type="http://schemas.openxmlformats.org/officeDocument/2006/relationships/hyperlink" Target="https://supabase.com/database"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png"/><Relationship Id="rId3" Type="http://schemas.openxmlformats.org/officeDocument/2006/relationships/hyperlink" Target="https://supabase.com/auth"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4.png"/><Relationship Id="rId3" Type="http://schemas.openxmlformats.org/officeDocument/2006/relationships/hyperlink" Target="https://supabase.com/docs/guides/database/postgres/row-level-security"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5.png"/><Relationship Id="rId3" Type="http://schemas.openxmlformats.org/officeDocument/2006/relationships/hyperlink" Target="https://supabase.com/pricing"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914400" y="2575560"/>
            <a:ext cx="11277600" cy="914400"/>
          </a:xfrm>
          <a:prstGeom prst="rect">
            <a:avLst/>
          </a:prstGeom>
          <a:noFill/>
        </p:spPr>
        <p:txBody>
          <a:bodyPr wrap="none" lIns="0" rIns="0">
            <a:noAutofit/>
          </a:bodyPr>
          <a:lstStyle/>
          <a:p>
            <a:pPr algn="l"/>
            <a:r>
              <a:rPr sz="6000" b="1" i="0">
                <a:solidFill>
                  <a:srgbClr val="0072CE"/>
                </a:solidFill>
                <a:latin typeface="Arial"/>
              </a:rPr>
              <a:t>What Is Supabase?</a:t>
            </a:r>
          </a:p>
        </p:txBody>
      </p:sp>
      <p:sp>
        <p:nvSpPr>
          <p:cNvPr id="3" name="TextBox 2"/>
          <p:cNvSpPr txBox="1"/>
          <p:nvPr/>
        </p:nvSpPr>
        <p:spPr>
          <a:xfrm>
            <a:off x="914400" y="3764280"/>
            <a:ext cx="11277600" cy="518159"/>
          </a:xfrm>
          <a:prstGeom prst="rect">
            <a:avLst/>
          </a:prstGeom>
          <a:noFill/>
        </p:spPr>
        <p:txBody>
          <a:bodyPr wrap="none" lIns="0" rIns="0">
            <a:noAutofit/>
          </a:bodyPr>
          <a:lstStyle/>
          <a:p>
            <a:pPr algn="l"/>
            <a:r>
              <a:rPr sz="3400" b="0" i="0">
                <a:solidFill>
                  <a:srgbClr val="0A2240"/>
                </a:solidFill>
                <a:latin typeface="Arial"/>
              </a:rPr>
              <a:t>An entry-level tour, with real screenshots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Where does your data live?</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5B6B82"/>
                </a:solidFill>
                <a:latin typeface="Arial"/>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Backend</a:t>
            </a:r>
          </a:p>
        </p:txBody>
      </p:sp>
      <p:sp>
        <p:nvSpPr>
          <p:cNvPr id="4" name="TextBox 3"/>
          <p:cNvSpPr txBox="1"/>
          <p:nvPr/>
        </p:nvSpPr>
        <p:spPr>
          <a:xfrm>
            <a:off x="996696" y="3764280"/>
            <a:ext cx="10738104" cy="609600"/>
          </a:xfrm>
          <a:prstGeom prst="rect">
            <a:avLst/>
          </a:prstGeom>
          <a:noFill/>
        </p:spPr>
        <p:txBody>
          <a:bodyPr wrap="none" lIns="0" rIns="0">
            <a:noAutofit/>
          </a:bodyPr>
          <a:lstStyle/>
          <a:p>
            <a:pPr algn="l"/>
            <a:r>
              <a:rPr sz="3400" b="0" i="0">
                <a:solidFill>
                  <a:srgbClr val="0A2240"/>
                </a:solidFill>
                <a:latin typeface="Arial"/>
              </a:rPr>
              <a:t>The part of an app you never see</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5B6B82"/>
                </a:solidFill>
                <a:latin typeface="Arial"/>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How Supabase Describes Itself</a:t>
            </a:r>
          </a:p>
        </p:txBody>
      </p:sp>
      <p:pic>
        <p:nvPicPr>
          <p:cNvPr id="3" name="Picture 2" descr="home.png"/>
          <p:cNvPicPr>
            <a:picLocks noChangeAspect="1"/>
          </p:cNvPicPr>
          <p:nvPr/>
        </p:nvPicPr>
        <p:blipFill>
          <a:blip r:embed="rId2"/>
          <a:stretch>
            <a:fillRect/>
          </a:stretch>
        </p:blipFill>
        <p:spPr>
          <a:xfrm>
            <a:off x="6233160" y="1499616"/>
            <a:ext cx="5501640" cy="4261104"/>
          </a:xfrm>
          <a:prstGeom prst="rect">
            <a:avLst/>
          </a:prstGeom>
        </p:spPr>
      </p:pic>
      <p:sp>
        <p:nvSpPr>
          <p:cNvPr id="4" name="TextBox 3"/>
          <p:cNvSpPr txBox="1"/>
          <p:nvPr/>
        </p:nvSpPr>
        <p:spPr>
          <a:xfrm>
            <a:off x="457200" y="1499616"/>
            <a:ext cx="6980356" cy="609600"/>
          </a:xfrm>
          <a:prstGeom prst="rect">
            <a:avLst/>
          </a:prstGeom>
          <a:noFill/>
        </p:spPr>
        <p:txBody>
          <a:bodyPr wrap="none" lIns="0" rIns="0">
            <a:noAutofit/>
          </a:bodyPr>
          <a:lstStyle/>
          <a:p>
            <a:pPr algn="l"/>
            <a:r>
              <a:rPr sz="3400" b="0" i="0">
                <a:solidFill>
                  <a:srgbClr val="0A2240"/>
                </a:solidFill>
                <a:latin typeface="Arial"/>
              </a:rPr>
              <a:t>It starts as a database</a:t>
            </a:r>
          </a:p>
        </p:txBody>
      </p:sp>
      <p:sp>
        <p:nvSpPr>
          <p:cNvPr id="5" name="TextBox 4"/>
          <p:cNvSpPr txBox="1"/>
          <p:nvPr/>
        </p:nvSpPr>
        <p:spPr>
          <a:xfrm>
            <a:off x="457200" y="2383536"/>
            <a:ext cx="8517969" cy="609600"/>
          </a:xfrm>
          <a:prstGeom prst="rect">
            <a:avLst/>
          </a:prstGeom>
          <a:noFill/>
        </p:spPr>
        <p:txBody>
          <a:bodyPr wrap="none" lIns="0" rIns="0">
            <a:noAutofit/>
          </a:bodyPr>
          <a:lstStyle/>
          <a:p>
            <a:pPr algn="l"/>
            <a:r>
              <a:rPr sz="3400" b="0" i="0">
                <a:solidFill>
                  <a:srgbClr val="0A2240"/>
                </a:solidFill>
                <a:latin typeface="Arial"/>
              </a:rPr>
              <a:t>Then adds what apps need</a:t>
            </a:r>
          </a:p>
        </p:txBody>
      </p:sp>
      <p:sp>
        <p:nvSpPr>
          <p:cNvPr id="6" name="TextBox 5"/>
          <p:cNvSpPr txBox="1"/>
          <p:nvPr/>
        </p:nvSpPr>
        <p:spPr>
          <a:xfrm>
            <a:off x="457200" y="3267456"/>
            <a:ext cx="5501640" cy="609600"/>
          </a:xfrm>
          <a:prstGeom prst="rect">
            <a:avLst/>
          </a:prstGeom>
          <a:noFill/>
        </p:spPr>
        <p:txBody>
          <a:bodyPr wrap="none" lIns="0" rIns="0">
            <a:noAutofit/>
          </a:bodyPr>
          <a:lstStyle/>
          <a:p>
            <a:pPr algn="l"/>
            <a:r>
              <a:rPr sz="3400" b="0" i="0">
                <a:solidFill>
                  <a:srgbClr val="0A2240"/>
                </a:solidFill>
                <a:latin typeface="Arial"/>
              </a:rPr>
              <a:t>All in one project</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5B6B82"/>
                </a:solidFill>
                <a:latin typeface="Arial"/>
              </a:rPr>
              <a:t>4</a:t>
            </a:fld>
          </a:p>
        </p:txBody>
      </p:sp>
      <p:sp>
        <p:nvSpPr>
          <p:cNvPr id="8" name="TextBox 7"/>
          <p:cNvSpPr txBox="1"/>
          <p:nvPr/>
        </p:nvSpPr>
        <p:spPr>
          <a:xfrm>
            <a:off x="10085130" y="6035040"/>
            <a:ext cx="1213008" cy="365760"/>
          </a:xfrm>
          <a:prstGeom prst="rect">
            <a:avLst/>
          </a:prstGeom>
          <a:noFill/>
        </p:spPr>
        <p:txBody>
          <a:bodyPr wrap="none" lIns="0" rIns="0">
            <a:noAutofit/>
          </a:bodyPr>
          <a:lstStyle/>
          <a:p>
            <a:pPr algn="l"/>
            <a:r>
              <a:rPr sz="1600" b="0" i="0" u="sng">
                <a:solidFill>
                  <a:srgbClr val="0072CE"/>
                </a:solidFill>
                <a:latin typeface="Arial"/>
                <a:hlinkClick r:id="rId3"/>
              </a:rPr>
              <a:t>Source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Four Main Pieces</a:t>
            </a:r>
          </a:p>
        </p:txBody>
      </p:sp>
      <p:sp>
        <p:nvSpPr>
          <p:cNvPr id="3" name="TextBox 2"/>
          <p:cNvSpPr txBox="1"/>
          <p:nvPr/>
        </p:nvSpPr>
        <p:spPr>
          <a:xfrm>
            <a:off x="457200" y="1499616"/>
            <a:ext cx="3255068" cy="518159"/>
          </a:xfrm>
          <a:prstGeom prst="rect">
            <a:avLst/>
          </a:prstGeom>
          <a:noFill/>
        </p:spPr>
        <p:txBody>
          <a:bodyPr wrap="none" lIns="0" rIns="0">
            <a:noAutofit/>
          </a:bodyPr>
          <a:lstStyle/>
          <a:p>
            <a:pPr algn="l"/>
            <a:r>
              <a:rPr sz="3400" b="1" i="0">
                <a:solidFill>
                  <a:srgbClr val="0A2240"/>
                </a:solidFill>
                <a:latin typeface="Arial"/>
              </a:rPr>
              <a:t>Database</a:t>
            </a:r>
          </a:p>
        </p:txBody>
      </p:sp>
      <p:sp>
        <p:nvSpPr>
          <p:cNvPr id="4" name="TextBox 3"/>
          <p:cNvSpPr txBox="1"/>
          <p:nvPr/>
        </p:nvSpPr>
        <p:spPr>
          <a:xfrm>
            <a:off x="457200" y="2154935"/>
            <a:ext cx="2613660" cy="3605785"/>
          </a:xfrm>
          <a:prstGeom prst="rect">
            <a:avLst/>
          </a:prstGeom>
          <a:noFill/>
        </p:spPr>
        <p:txBody>
          <a:bodyPr wrap="square" lIns="0" rIns="0">
            <a:noAutofit/>
          </a:bodyPr>
          <a:lstStyle/>
          <a:p>
            <a:pPr algn="l"/>
            <a:r>
              <a:rPr sz="3400" b="0" i="0">
                <a:solidFill>
                  <a:srgbClr val="0A2240"/>
                </a:solidFill>
                <a:latin typeface="Arial"/>
              </a:rPr>
              <a:t>Tables of your data</a:t>
            </a:r>
          </a:p>
        </p:txBody>
      </p:sp>
      <p:sp>
        <p:nvSpPr>
          <p:cNvPr id="5" name="TextBox 4"/>
          <p:cNvSpPr txBox="1"/>
          <p:nvPr/>
        </p:nvSpPr>
        <p:spPr>
          <a:xfrm>
            <a:off x="3345180" y="1499616"/>
            <a:ext cx="2613660" cy="518159"/>
          </a:xfrm>
          <a:prstGeom prst="rect">
            <a:avLst/>
          </a:prstGeom>
          <a:noFill/>
        </p:spPr>
        <p:txBody>
          <a:bodyPr wrap="none" lIns="0" rIns="0">
            <a:noAutofit/>
          </a:bodyPr>
          <a:lstStyle/>
          <a:p>
            <a:pPr algn="l"/>
            <a:r>
              <a:rPr sz="3400" b="1" i="0">
                <a:solidFill>
                  <a:srgbClr val="0A2240"/>
                </a:solidFill>
                <a:latin typeface="Arial"/>
              </a:rPr>
              <a:t>Auth</a:t>
            </a:r>
          </a:p>
        </p:txBody>
      </p:sp>
      <p:sp>
        <p:nvSpPr>
          <p:cNvPr id="6" name="TextBox 5"/>
          <p:cNvSpPr txBox="1"/>
          <p:nvPr/>
        </p:nvSpPr>
        <p:spPr>
          <a:xfrm>
            <a:off x="3345180" y="2154935"/>
            <a:ext cx="2613660" cy="3605785"/>
          </a:xfrm>
          <a:prstGeom prst="rect">
            <a:avLst/>
          </a:prstGeom>
          <a:noFill/>
        </p:spPr>
        <p:txBody>
          <a:bodyPr wrap="square" lIns="0" rIns="0">
            <a:noAutofit/>
          </a:bodyPr>
          <a:lstStyle/>
          <a:p>
            <a:pPr algn="l"/>
            <a:r>
              <a:rPr sz="3400" b="0" i="0">
                <a:solidFill>
                  <a:srgbClr val="0A2240"/>
                </a:solidFill>
                <a:latin typeface="Arial"/>
              </a:rPr>
              <a:t>Who is signed in</a:t>
            </a:r>
          </a:p>
        </p:txBody>
      </p:sp>
      <p:sp>
        <p:nvSpPr>
          <p:cNvPr id="7" name="TextBox 6"/>
          <p:cNvSpPr txBox="1"/>
          <p:nvPr/>
        </p:nvSpPr>
        <p:spPr>
          <a:xfrm>
            <a:off x="6233160" y="1499616"/>
            <a:ext cx="2755126" cy="518159"/>
          </a:xfrm>
          <a:prstGeom prst="rect">
            <a:avLst/>
          </a:prstGeom>
          <a:noFill/>
        </p:spPr>
        <p:txBody>
          <a:bodyPr wrap="none" lIns="0" rIns="0">
            <a:noAutofit/>
          </a:bodyPr>
          <a:lstStyle/>
          <a:p>
            <a:pPr algn="l"/>
            <a:r>
              <a:rPr sz="3400" b="1" i="0">
                <a:solidFill>
                  <a:srgbClr val="0A2240"/>
                </a:solidFill>
                <a:latin typeface="Arial"/>
              </a:rPr>
              <a:t>Storage</a:t>
            </a:r>
          </a:p>
        </p:txBody>
      </p:sp>
      <p:sp>
        <p:nvSpPr>
          <p:cNvPr id="8" name="TextBox 7"/>
          <p:cNvSpPr txBox="1"/>
          <p:nvPr/>
        </p:nvSpPr>
        <p:spPr>
          <a:xfrm>
            <a:off x="6233160" y="2154935"/>
            <a:ext cx="2613660" cy="3605785"/>
          </a:xfrm>
          <a:prstGeom prst="rect">
            <a:avLst/>
          </a:prstGeom>
          <a:noFill/>
        </p:spPr>
        <p:txBody>
          <a:bodyPr wrap="square" lIns="0" rIns="0">
            <a:noAutofit/>
          </a:bodyPr>
          <a:lstStyle/>
          <a:p>
            <a:pPr algn="l"/>
            <a:r>
              <a:rPr sz="3400" b="0" i="0">
                <a:solidFill>
                  <a:srgbClr val="0A2240"/>
                </a:solidFill>
                <a:latin typeface="Arial"/>
              </a:rPr>
              <a:t>Files people upload</a:t>
            </a:r>
          </a:p>
        </p:txBody>
      </p:sp>
      <p:sp>
        <p:nvSpPr>
          <p:cNvPr id="9" name="TextBox 8"/>
          <p:cNvSpPr txBox="1"/>
          <p:nvPr/>
        </p:nvSpPr>
        <p:spPr>
          <a:xfrm>
            <a:off x="9121140" y="1499616"/>
            <a:ext cx="2613660" cy="518159"/>
          </a:xfrm>
          <a:prstGeom prst="rect">
            <a:avLst/>
          </a:prstGeom>
          <a:noFill/>
        </p:spPr>
        <p:txBody>
          <a:bodyPr wrap="none" lIns="0" rIns="0">
            <a:noAutofit/>
          </a:bodyPr>
          <a:lstStyle/>
          <a:p>
            <a:pPr algn="l"/>
            <a:r>
              <a:rPr sz="3400" b="1" i="0">
                <a:solidFill>
                  <a:srgbClr val="0A2240"/>
                </a:solidFill>
                <a:latin typeface="Arial"/>
              </a:rPr>
              <a:t>API</a:t>
            </a:r>
          </a:p>
        </p:txBody>
      </p:sp>
      <p:sp>
        <p:nvSpPr>
          <p:cNvPr id="10" name="TextBox 9"/>
          <p:cNvSpPr txBox="1"/>
          <p:nvPr/>
        </p:nvSpPr>
        <p:spPr>
          <a:xfrm>
            <a:off x="9121140" y="2154935"/>
            <a:ext cx="2613660" cy="3605785"/>
          </a:xfrm>
          <a:prstGeom prst="rect">
            <a:avLst/>
          </a:prstGeom>
          <a:noFill/>
        </p:spPr>
        <p:txBody>
          <a:bodyPr wrap="square" lIns="0" rIns="0">
            <a:noAutofit/>
          </a:bodyPr>
          <a:lstStyle/>
          <a:p>
            <a:pPr algn="l"/>
            <a:r>
              <a:rPr sz="3400" b="0" i="0">
                <a:solidFill>
                  <a:srgbClr val="0A2240"/>
                </a:solidFill>
                <a:latin typeface="Arial"/>
              </a:rPr>
              <a:t>How your page asks</a:t>
            </a:r>
          </a:p>
        </p:txBody>
      </p:sp>
      <p:sp>
        <p:nvSpPr>
          <p:cNvPr id="11" name="TextBox 10"/>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5B6B82"/>
                </a:solidFill>
                <a:latin typeface="Arial"/>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Database</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Organised tables your app can read and write</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5B6B82"/>
                </a:solidFill>
                <a:latin typeface="Arial"/>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A Table, Concretely</a:t>
            </a:r>
          </a:p>
        </p:txBody>
      </p:sp>
      <p:pic>
        <p:nvPicPr>
          <p:cNvPr id="3" name="Picture 2" descr="database.png"/>
          <p:cNvPicPr>
            <a:picLocks noChangeAspect="1"/>
          </p:cNvPicPr>
          <p:nvPr/>
        </p:nvPicPr>
        <p:blipFill>
          <a:blip r:embed="rId2"/>
          <a:stretch>
            <a:fillRect/>
          </a:stretch>
        </p:blipFill>
        <p:spPr>
          <a:xfrm>
            <a:off x="6233160" y="1499616"/>
            <a:ext cx="5501640" cy="4261104"/>
          </a:xfrm>
          <a:prstGeom prst="rect">
            <a:avLst/>
          </a:prstGeom>
        </p:spPr>
      </p:pic>
      <p:sp>
        <p:nvSpPr>
          <p:cNvPr id="4" name="TextBox 3"/>
          <p:cNvSpPr txBox="1"/>
          <p:nvPr/>
        </p:nvSpPr>
        <p:spPr>
          <a:xfrm>
            <a:off x="457200" y="1499616"/>
            <a:ext cx="7248545" cy="609600"/>
          </a:xfrm>
          <a:prstGeom prst="rect">
            <a:avLst/>
          </a:prstGeom>
          <a:noFill/>
        </p:spPr>
        <p:txBody>
          <a:bodyPr wrap="none" lIns="0" rIns="0">
            <a:noAutofit/>
          </a:bodyPr>
          <a:lstStyle/>
          <a:p>
            <a:pPr algn="l"/>
            <a:r>
              <a:rPr sz="3400" b="0" i="0">
                <a:solidFill>
                  <a:srgbClr val="0A2240"/>
                </a:solidFill>
                <a:latin typeface="Arial"/>
              </a:rPr>
              <a:t>Each row is one record</a:t>
            </a:r>
          </a:p>
        </p:txBody>
      </p:sp>
      <p:sp>
        <p:nvSpPr>
          <p:cNvPr id="5" name="TextBox 4"/>
          <p:cNvSpPr txBox="1"/>
          <p:nvPr/>
        </p:nvSpPr>
        <p:spPr>
          <a:xfrm>
            <a:off x="457200" y="2383536"/>
            <a:ext cx="6903105" cy="609600"/>
          </a:xfrm>
          <a:prstGeom prst="rect">
            <a:avLst/>
          </a:prstGeom>
          <a:noFill/>
        </p:spPr>
        <p:txBody>
          <a:bodyPr wrap="none" lIns="0" rIns="0">
            <a:noAutofit/>
          </a:bodyPr>
          <a:lstStyle/>
          <a:p>
            <a:pPr algn="l"/>
            <a:r>
              <a:rPr sz="3400" b="0" i="0">
                <a:solidFill>
                  <a:srgbClr val="0A2240"/>
                </a:solidFill>
                <a:latin typeface="Arial"/>
              </a:rPr>
              <a:t>Each column is a field</a:t>
            </a:r>
          </a:p>
        </p:txBody>
      </p:sp>
      <p:sp>
        <p:nvSpPr>
          <p:cNvPr id="6" name="TextBox 5"/>
          <p:cNvSpPr txBox="1"/>
          <p:nvPr/>
        </p:nvSpPr>
        <p:spPr>
          <a:xfrm>
            <a:off x="457200" y="3267456"/>
            <a:ext cx="7710030" cy="609600"/>
          </a:xfrm>
          <a:prstGeom prst="rect">
            <a:avLst/>
          </a:prstGeom>
          <a:noFill/>
        </p:spPr>
        <p:txBody>
          <a:bodyPr wrap="none" lIns="0" rIns="0">
            <a:noAutofit/>
          </a:bodyPr>
          <a:lstStyle/>
          <a:p>
            <a:pPr algn="l"/>
            <a:r>
              <a:rPr sz="3400" b="0" i="0">
                <a:solidFill>
                  <a:srgbClr val="0A2240"/>
                </a:solidFill>
                <a:latin typeface="Arial"/>
              </a:rPr>
              <a:t>A spreadsheet with rules</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5B6B82"/>
                </a:solidFill>
                <a:latin typeface="Arial"/>
              </a:rPr>
              <a:t>7</a:t>
            </a:fld>
          </a:p>
        </p:txBody>
      </p:sp>
      <p:sp>
        <p:nvSpPr>
          <p:cNvPr id="8" name="TextBox 7"/>
          <p:cNvSpPr txBox="1"/>
          <p:nvPr/>
        </p:nvSpPr>
        <p:spPr>
          <a:xfrm>
            <a:off x="10085130" y="6035040"/>
            <a:ext cx="1213008" cy="365760"/>
          </a:xfrm>
          <a:prstGeom prst="rect">
            <a:avLst/>
          </a:prstGeom>
          <a:noFill/>
        </p:spPr>
        <p:txBody>
          <a:bodyPr wrap="none" lIns="0" rIns="0">
            <a:noAutofit/>
          </a:bodyPr>
          <a:lstStyle/>
          <a:p>
            <a:pPr algn="l"/>
            <a:r>
              <a:rPr sz="1600" b="0" i="0" u="sng">
                <a:solidFill>
                  <a:srgbClr val="0072CE"/>
                </a:solidFill>
                <a:latin typeface="Arial"/>
                <a:hlinkClick r:id="rId3"/>
              </a:rPr>
              <a:t>Source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Four Things You Do to a Table</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Add a row</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Find the rows you want</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Change a row</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Delete a row</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5B6B82"/>
                </a:solidFill>
                <a:latin typeface="Arial"/>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Sign-In, Built In</a:t>
            </a:r>
          </a:p>
        </p:txBody>
      </p:sp>
      <p:pic>
        <p:nvPicPr>
          <p:cNvPr id="3" name="Picture 2" descr="auth.png"/>
          <p:cNvPicPr>
            <a:picLocks noChangeAspect="1"/>
          </p:cNvPicPr>
          <p:nvPr/>
        </p:nvPicPr>
        <p:blipFill>
          <a:blip r:embed="rId2"/>
          <a:stretch>
            <a:fillRect/>
          </a:stretch>
        </p:blipFill>
        <p:spPr>
          <a:xfrm>
            <a:off x="6233160" y="1499616"/>
            <a:ext cx="5501640" cy="4261104"/>
          </a:xfrm>
          <a:prstGeom prst="rect">
            <a:avLst/>
          </a:prstGeom>
        </p:spPr>
      </p:pic>
      <p:sp>
        <p:nvSpPr>
          <p:cNvPr id="4" name="TextBox 3"/>
          <p:cNvSpPr txBox="1"/>
          <p:nvPr/>
        </p:nvSpPr>
        <p:spPr>
          <a:xfrm>
            <a:off x="457200" y="1499616"/>
            <a:ext cx="6403836" cy="609600"/>
          </a:xfrm>
          <a:prstGeom prst="rect">
            <a:avLst/>
          </a:prstGeom>
          <a:noFill/>
        </p:spPr>
        <p:txBody>
          <a:bodyPr wrap="none" lIns="0" rIns="0">
            <a:noAutofit/>
          </a:bodyPr>
          <a:lstStyle/>
          <a:p>
            <a:pPr algn="l"/>
            <a:r>
              <a:rPr sz="3400" b="0" i="0">
                <a:solidFill>
                  <a:srgbClr val="0A2240"/>
                </a:solidFill>
                <a:latin typeface="Arial"/>
              </a:rPr>
              <a:t>Email and password</a:t>
            </a:r>
          </a:p>
        </p:txBody>
      </p:sp>
      <p:sp>
        <p:nvSpPr>
          <p:cNvPr id="5" name="TextBox 4"/>
          <p:cNvSpPr txBox="1"/>
          <p:nvPr/>
        </p:nvSpPr>
        <p:spPr>
          <a:xfrm>
            <a:off x="457200" y="2383536"/>
            <a:ext cx="7248881" cy="609600"/>
          </a:xfrm>
          <a:prstGeom prst="rect">
            <a:avLst/>
          </a:prstGeom>
          <a:noFill/>
        </p:spPr>
        <p:txBody>
          <a:bodyPr wrap="none" lIns="0" rIns="0">
            <a:noAutofit/>
          </a:bodyPr>
          <a:lstStyle/>
          <a:p>
            <a:pPr algn="l"/>
            <a:r>
              <a:rPr sz="3400" b="0" i="0">
                <a:solidFill>
                  <a:srgbClr val="0A2240"/>
                </a:solidFill>
                <a:latin typeface="Arial"/>
              </a:rPr>
              <a:t>Google, GitHub, others</a:t>
            </a:r>
          </a:p>
        </p:txBody>
      </p:sp>
      <p:sp>
        <p:nvSpPr>
          <p:cNvPr id="6" name="TextBox 5"/>
          <p:cNvSpPr txBox="1"/>
          <p:nvPr/>
        </p:nvSpPr>
        <p:spPr>
          <a:xfrm>
            <a:off x="457200" y="3267456"/>
            <a:ext cx="6826528" cy="609600"/>
          </a:xfrm>
          <a:prstGeom prst="rect">
            <a:avLst/>
          </a:prstGeom>
          <a:noFill/>
        </p:spPr>
        <p:txBody>
          <a:bodyPr wrap="none" lIns="0" rIns="0">
            <a:noAutofit/>
          </a:bodyPr>
          <a:lstStyle/>
          <a:p>
            <a:pPr algn="l"/>
            <a:r>
              <a:rPr sz="3400" b="0" i="0">
                <a:solidFill>
                  <a:srgbClr val="0A2240"/>
                </a:solidFill>
                <a:latin typeface="Arial"/>
              </a:rPr>
              <a:t>No login code to write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5B6B82"/>
                </a:solidFill>
                <a:latin typeface="Arial"/>
              </a:rPr>
              <a:t>9</a:t>
            </a:fld>
          </a:p>
        </p:txBody>
      </p:sp>
      <p:sp>
        <p:nvSpPr>
          <p:cNvPr id="8" name="TextBox 7"/>
          <p:cNvSpPr txBox="1"/>
          <p:nvPr/>
        </p:nvSpPr>
        <p:spPr>
          <a:xfrm>
            <a:off x="10085130" y="6035040"/>
            <a:ext cx="1213008" cy="365760"/>
          </a:xfrm>
          <a:prstGeom prst="rect">
            <a:avLst/>
          </a:prstGeom>
          <a:noFill/>
        </p:spPr>
        <p:txBody>
          <a:bodyPr wrap="none" lIns="0" rIns="0">
            <a:noAutofit/>
          </a:bodyPr>
          <a:lstStyle/>
          <a:p>
            <a:pPr algn="l"/>
            <a:r>
              <a:rPr sz="1600" b="0" i="0" u="sng">
                <a:solidFill>
                  <a:srgbClr val="0072CE"/>
                </a:solidFill>
                <a:latin typeface="Arial"/>
                <a:hlinkClick r:id="rId3"/>
              </a:rPr>
              <a:t>Source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Storage Is for Files</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Profile photos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Uploaded PDFs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Anything too big for a table</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Same access rules as the data</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5B6B82"/>
                </a:solidFill>
                <a:latin typeface="Arial"/>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API</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How your page talks to the database</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5B6B82"/>
                </a:solidFill>
                <a:latin typeface="Arial"/>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Why People Use It</a:t>
            </a:r>
          </a:p>
        </p:txBody>
      </p:sp>
      <p:sp>
        <p:nvSpPr>
          <p:cNvPr id="3" name="TextBox 2"/>
          <p:cNvSpPr txBo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Server</a:t>
            </a:r>
          </a:p>
        </p:txBody>
      </p:sp>
      <p:sp>
        <p:nvSpPr>
          <p:cNvPr id="4" name="TextBox 3"/>
          <p:cNvSpPr txBox="1"/>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You build and run it</a:t>
            </a:r>
          </a:p>
        </p:txBody>
      </p:sp>
      <p:sp>
        <p:nvSpPr>
          <p:cNvPr id="5" name="TextBox 4"/>
          <p:cNvSpPr txBox="1"/>
          <p:nvPr/>
        </p:nvSpPr>
        <p:spPr>
          <a:xfrm>
            <a:off x="6484620" y="2776728"/>
            <a:ext cx="5707380" cy="914400"/>
          </a:xfrm>
          <a:prstGeom prst="rect">
            <a:avLst/>
          </a:prstGeom>
          <a:noFill/>
        </p:spPr>
        <p:txBody>
          <a:bodyPr wrap="none" lIns="0" rIns="0">
            <a:noAutofit/>
          </a:bodyPr>
          <a:lstStyle/>
          <a:p>
            <a:pPr algn="ctr"/>
            <a:r>
              <a:rPr sz="6000" b="1" i="0">
                <a:solidFill>
                  <a:srgbClr val="0A2240"/>
                </a:solidFill>
                <a:latin typeface="Arial"/>
              </a:rPr>
              <a:t>Supabase</a:t>
            </a:r>
          </a:p>
        </p:txBody>
      </p:sp>
      <p:sp>
        <p:nvSpPr>
          <p:cNvPr id="6" name="TextBox 5"/>
          <p:cNvSpPr txBox="1"/>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You set up a project</a:t>
            </a:r>
          </a:p>
        </p:txBody>
      </p:sp>
      <p:sp>
        <p:nvSpPr>
          <p:cNvPr id="7" name="TextBox 6"/>
          <p:cNvSpPr txBox="1"/>
          <p:nvPr/>
        </p:nvSpPr>
        <p:spPr>
          <a:xfrm>
            <a:off x="5435323" y="3310127"/>
            <a:ext cx="1321354" cy="640080"/>
          </a:xfrm>
          <a:prstGeom prst="rect">
            <a:avLst/>
          </a:prstGeom>
          <a:noFill/>
        </p:spPr>
        <p:txBody>
          <a:bodyPr wrap="none" lIns="0" rIns="0">
            <a:noAutofit/>
          </a:bodyPr>
          <a:lstStyle/>
          <a:p>
            <a:pPr algn="ctr"/>
            <a:r>
              <a:rPr sz="4200" b="1" i="0">
                <a:solidFill>
                  <a:srgbClr val="5B6B82"/>
                </a:solidFill>
                <a:latin typeface="Arial"/>
              </a:rPr>
              <a:t>VS</a:t>
            </a:r>
          </a:p>
        </p:txBody>
      </p:sp>
      <p:sp>
        <p:nvSpPr>
          <p:cNvPr id="8" name="TextBox 7"/>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5B6B82"/>
                </a:solidFill>
                <a:latin typeface="Arial"/>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Rule That Protects It</a:t>
            </a:r>
          </a:p>
        </p:txBody>
      </p:sp>
      <p:pic>
        <p:nvPicPr>
          <p:cNvPr id="3" name="Picture 2" descr="rls.png"/>
          <p:cNvPicPr>
            <a:picLocks noChangeAspect="1"/>
          </p:cNvPicPr>
          <p:nvPr/>
        </p:nvPicPr>
        <p:blipFill>
          <a:blip r:embed="rId2"/>
          <a:stretch>
            <a:fillRect/>
          </a:stretch>
        </p:blipFill>
        <p:spPr>
          <a:xfrm>
            <a:off x="6233160" y="1499616"/>
            <a:ext cx="5501640" cy="4261104"/>
          </a:xfrm>
          <a:prstGeom prst="rect">
            <a:avLst/>
          </a:prstGeom>
        </p:spPr>
      </p:pic>
      <p:sp>
        <p:nvSpPr>
          <p:cNvPr id="4" name="TextBox 3"/>
          <p:cNvSpPr txBox="1"/>
          <p:nvPr/>
        </p:nvSpPr>
        <p:spPr>
          <a:xfrm>
            <a:off x="457200" y="1499616"/>
            <a:ext cx="8028483" cy="609600"/>
          </a:xfrm>
          <a:prstGeom prst="rect">
            <a:avLst/>
          </a:prstGeom>
          <a:noFill/>
        </p:spPr>
        <p:txBody>
          <a:bodyPr wrap="none" lIns="0" rIns="0">
            <a:noAutofit/>
          </a:bodyPr>
          <a:lstStyle/>
          <a:p>
            <a:pPr algn="l"/>
            <a:r>
              <a:rPr sz="3400" b="0" i="0">
                <a:solidFill>
                  <a:srgbClr val="0A2240"/>
                </a:solidFill>
                <a:latin typeface="Arial"/>
              </a:rPr>
              <a:t>Turn on row level security</a:t>
            </a:r>
          </a:p>
        </p:txBody>
      </p:sp>
      <p:sp>
        <p:nvSpPr>
          <p:cNvPr id="5" name="TextBox 4"/>
          <p:cNvSpPr txBox="1"/>
          <p:nvPr/>
        </p:nvSpPr>
        <p:spPr>
          <a:xfrm>
            <a:off x="457200" y="2383536"/>
            <a:ext cx="7210761" cy="609600"/>
          </a:xfrm>
          <a:prstGeom prst="rect">
            <a:avLst/>
          </a:prstGeom>
          <a:noFill/>
        </p:spPr>
        <p:txBody>
          <a:bodyPr wrap="none" lIns="0" rIns="0">
            <a:noAutofit/>
          </a:bodyPr>
          <a:lstStyle/>
          <a:p>
            <a:pPr algn="l"/>
            <a:r>
              <a:rPr sz="3400" b="0" i="0">
                <a:solidFill>
                  <a:srgbClr val="0A2240"/>
                </a:solidFill>
                <a:latin typeface="Arial"/>
              </a:rPr>
              <a:t>Without it, data is open</a:t>
            </a:r>
          </a:p>
        </p:txBody>
      </p:sp>
      <p:sp>
        <p:nvSpPr>
          <p:cNvPr id="6" name="TextBox 5"/>
          <p:cNvSpPr txBox="1"/>
          <p:nvPr/>
        </p:nvSpPr>
        <p:spPr>
          <a:xfrm>
            <a:off x="457200" y="3267456"/>
            <a:ext cx="8247756" cy="609600"/>
          </a:xfrm>
          <a:prstGeom prst="rect">
            <a:avLst/>
          </a:prstGeom>
          <a:noFill/>
        </p:spPr>
        <p:txBody>
          <a:bodyPr wrap="none" lIns="0" rIns="0">
            <a:noAutofit/>
          </a:bodyPr>
          <a:lstStyle/>
          <a:p>
            <a:pPr algn="l"/>
            <a:r>
              <a:rPr sz="3400" b="0" i="0">
                <a:solidFill>
                  <a:srgbClr val="0A2240"/>
                </a:solidFill>
                <a:latin typeface="Arial"/>
              </a:rPr>
              <a:t>Supabase warns you itself</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5B6B82"/>
                </a:solidFill>
                <a:latin typeface="Arial"/>
              </a:rPr>
              <a:t>13</a:t>
            </a:fld>
          </a:p>
        </p:txBody>
      </p:sp>
      <p:sp>
        <p:nvSpPr>
          <p:cNvPr id="8" name="TextBox 7"/>
          <p:cNvSpPr txBox="1"/>
          <p:nvPr/>
        </p:nvSpPr>
        <p:spPr>
          <a:xfrm>
            <a:off x="10085130" y="6035040"/>
            <a:ext cx="1213008" cy="365760"/>
          </a:xfrm>
          <a:prstGeom prst="rect">
            <a:avLst/>
          </a:prstGeom>
          <a:noFill/>
        </p:spPr>
        <p:txBody>
          <a:bodyPr wrap="none" lIns="0" rIns="0">
            <a:noAutofit/>
          </a:bodyPr>
          <a:lstStyle/>
          <a:p>
            <a:pPr algn="l"/>
            <a:r>
              <a:rPr sz="1600" b="0" i="0" u="sng">
                <a:solidFill>
                  <a:srgbClr val="0072CE"/>
                </a:solidFill>
                <a:latin typeface="Arial"/>
                <a:hlinkClick r:id="rId3"/>
              </a:rPr>
              <a:t>Source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Row Level Security, by Example</a:t>
            </a:r>
          </a:p>
        </p:txBody>
      </p:sp>
      <p:sp>
        <p:nvSpPr>
          <p:cNvPr id="3" name="TextBox 2"/>
          <p:cNvSpPr txBox="1"/>
          <p:nvPr/>
        </p:nvSpPr>
        <p:spPr>
          <a:xfrm>
            <a:off x="457200" y="1499616"/>
            <a:ext cx="3773775" cy="518159"/>
          </a:xfrm>
          <a:prstGeom prst="rect">
            <a:avLst/>
          </a:prstGeom>
          <a:noFill/>
        </p:spPr>
        <p:txBody>
          <a:bodyPr wrap="none" lIns="0" rIns="0">
            <a:noAutofit/>
          </a:bodyPr>
          <a:lstStyle/>
          <a:p>
            <a:pPr algn="l"/>
            <a:r>
              <a:rPr sz="3400" b="1" i="0">
                <a:solidFill>
                  <a:srgbClr val="0072CE"/>
                </a:solidFill>
                <a:latin typeface="Arial"/>
              </a:rPr>
              <a:t>Setting</a:t>
            </a:r>
          </a:p>
        </p:txBody>
      </p:sp>
      <p:sp>
        <p:nvSpPr>
          <p:cNvPr id="4" name="TextBox 3"/>
          <p:cNvSpPr txBox="1"/>
          <p:nvPr/>
        </p:nvSpPr>
        <p:spPr>
          <a:xfrm>
            <a:off x="4779615" y="1499616"/>
            <a:ext cx="6325235" cy="518159"/>
          </a:xfrm>
          <a:prstGeom prst="rect">
            <a:avLst/>
          </a:prstGeom>
          <a:noFill/>
        </p:spPr>
        <p:txBody>
          <a:bodyPr wrap="none" lIns="0" rIns="0">
            <a:noAutofit/>
          </a:bodyPr>
          <a:lstStyle/>
          <a:p>
            <a:pPr algn="l"/>
            <a:r>
              <a:rPr sz="3400" b="1" i="0">
                <a:solidFill>
                  <a:srgbClr val="0072CE"/>
                </a:solidFill>
                <a:latin typeface="Arial"/>
              </a:rPr>
              <a:t>What a visitor gets</a:t>
            </a:r>
          </a:p>
        </p:txBody>
      </p:sp>
      <p:sp>
        <p:nvSpPr>
          <p:cNvPr id="5" name="Rectangle 4"/>
          <p:cNvSpPr/>
          <p:nvPr/>
        </p:nvSpPr>
        <p:spPr>
          <a:xfrm>
            <a:off x="457200" y="2072639"/>
            <a:ext cx="9560051"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3773775" cy="936752"/>
          </a:xfrm>
          <a:prstGeom prst="rect">
            <a:avLst/>
          </a:prstGeom>
          <a:noFill/>
        </p:spPr>
        <p:txBody>
          <a:bodyPr wrap="none" lIns="0" rIns="0">
            <a:noAutofit/>
          </a:bodyPr>
          <a:lstStyle/>
          <a:p>
            <a:pPr algn="l"/>
            <a:r>
              <a:rPr sz="3400" b="0" i="0">
                <a:solidFill>
                  <a:srgbClr val="0A2240"/>
                </a:solidFill>
                <a:latin typeface="Arial"/>
              </a:rPr>
              <a:t>Security off</a:t>
            </a:r>
          </a:p>
        </p:txBody>
      </p:sp>
      <p:sp>
        <p:nvSpPr>
          <p:cNvPr id="7" name="TextBox 6"/>
          <p:cNvSpPr txBox="1"/>
          <p:nvPr/>
        </p:nvSpPr>
        <p:spPr>
          <a:xfrm>
            <a:off x="4779615" y="2401823"/>
            <a:ext cx="7412385" cy="936752"/>
          </a:xfrm>
          <a:prstGeom prst="rect">
            <a:avLst/>
          </a:prstGeom>
          <a:noFill/>
        </p:spPr>
        <p:txBody>
          <a:bodyPr wrap="none" lIns="0" rIns="0">
            <a:noAutofit/>
          </a:bodyPr>
          <a:lstStyle/>
          <a:p>
            <a:pPr algn="l"/>
            <a:r>
              <a:rPr sz="3400" b="0" i="0">
                <a:solidFill>
                  <a:srgbClr val="0A2240"/>
                </a:solidFill>
                <a:latin typeface="Arial"/>
              </a:rPr>
              <a:t>Every row, read and write</a:t>
            </a:r>
          </a:p>
        </p:txBody>
      </p:sp>
      <p:sp>
        <p:nvSpPr>
          <p:cNvPr id="8" name="TextBox 7"/>
          <p:cNvSpPr txBox="1"/>
          <p:nvPr/>
        </p:nvSpPr>
        <p:spPr>
          <a:xfrm>
            <a:off x="457200" y="3612895"/>
            <a:ext cx="5635704" cy="936752"/>
          </a:xfrm>
          <a:prstGeom prst="rect">
            <a:avLst/>
          </a:prstGeom>
          <a:noFill/>
        </p:spPr>
        <p:txBody>
          <a:bodyPr wrap="none" lIns="0" rIns="0">
            <a:noAutofit/>
          </a:bodyPr>
          <a:lstStyle/>
          <a:p>
            <a:pPr algn="l"/>
            <a:r>
              <a:rPr sz="3400" b="0" i="0">
                <a:solidFill>
                  <a:srgbClr val="0A2240"/>
                </a:solidFill>
                <a:latin typeface="Arial"/>
              </a:rPr>
              <a:t>On, with no policy</a:t>
            </a:r>
          </a:p>
        </p:txBody>
      </p:sp>
      <p:sp>
        <p:nvSpPr>
          <p:cNvPr id="9" name="TextBox 8"/>
          <p:cNvSpPr txBox="1"/>
          <p:nvPr/>
        </p:nvSpPr>
        <p:spPr>
          <a:xfrm>
            <a:off x="4779615" y="3612895"/>
            <a:ext cx="5237636" cy="936752"/>
          </a:xfrm>
          <a:prstGeom prst="rect">
            <a:avLst/>
          </a:prstGeom>
          <a:noFill/>
        </p:spPr>
        <p:txBody>
          <a:bodyPr wrap="none" lIns="0" rIns="0">
            <a:noAutofit/>
          </a:bodyPr>
          <a:lstStyle/>
          <a:p>
            <a:pPr algn="l"/>
            <a:r>
              <a:rPr sz="3400" b="0" i="0">
                <a:solidFill>
                  <a:srgbClr val="0A2240"/>
                </a:solidFill>
                <a:latin typeface="Arial"/>
              </a:rPr>
              <a:t>Nothing at all</a:t>
            </a:r>
          </a:p>
        </p:txBody>
      </p:sp>
      <p:sp>
        <p:nvSpPr>
          <p:cNvPr id="10" name="TextBox 9"/>
          <p:cNvSpPr txBox="1"/>
          <p:nvPr/>
        </p:nvSpPr>
        <p:spPr>
          <a:xfrm>
            <a:off x="457200" y="4823967"/>
            <a:ext cx="5328384" cy="936752"/>
          </a:xfrm>
          <a:prstGeom prst="rect">
            <a:avLst/>
          </a:prstGeom>
          <a:noFill/>
        </p:spPr>
        <p:txBody>
          <a:bodyPr wrap="none" lIns="0" rIns="0">
            <a:noAutofit/>
          </a:bodyPr>
          <a:lstStyle/>
          <a:p>
            <a:pPr algn="l"/>
            <a:r>
              <a:rPr sz="3400" b="0" i="0">
                <a:solidFill>
                  <a:srgbClr val="0A2240"/>
                </a:solidFill>
                <a:latin typeface="Arial"/>
              </a:rPr>
              <a:t>On, owner policy</a:t>
            </a:r>
          </a:p>
        </p:txBody>
      </p:sp>
      <p:sp>
        <p:nvSpPr>
          <p:cNvPr id="11" name="TextBox 10"/>
          <p:cNvSpPr txBox="1"/>
          <p:nvPr/>
        </p:nvSpPr>
        <p:spPr>
          <a:xfrm>
            <a:off x="4779615" y="4823967"/>
            <a:ext cx="6249332" cy="936752"/>
          </a:xfrm>
          <a:prstGeom prst="rect">
            <a:avLst/>
          </a:prstGeom>
          <a:noFill/>
        </p:spPr>
        <p:txBody>
          <a:bodyPr wrap="none" lIns="0" rIns="0">
            <a:noAutofit/>
          </a:bodyPr>
          <a:lstStyle/>
          <a:p>
            <a:pPr algn="l"/>
            <a:r>
              <a:rPr sz="3400" b="0" i="0">
                <a:solidFill>
                  <a:srgbClr val="0A2240"/>
                </a:solidFill>
                <a:latin typeface="Arial"/>
              </a:rPr>
              <a:t>Only their own rows</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5B6B82"/>
                </a:solidFill>
                <a:latin typeface="Arial"/>
              </a:rPr>
              <a:t>14</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It Costs to Start</a:t>
            </a:r>
          </a:p>
        </p:txBody>
      </p:sp>
      <p:pic>
        <p:nvPicPr>
          <p:cNvPr id="3" name="Picture 2" descr="pricing.png"/>
          <p:cNvPicPr>
            <a:picLocks noChangeAspect="1"/>
          </p:cNvPicPr>
          <p:nvPr/>
        </p:nvPicPr>
        <p:blipFill>
          <a:blip r:embed="rId2"/>
          <a:stretch>
            <a:fillRect/>
          </a:stretch>
        </p:blipFill>
        <p:spPr>
          <a:xfrm>
            <a:off x="6233160" y="1499616"/>
            <a:ext cx="5501640" cy="4261104"/>
          </a:xfrm>
          <a:prstGeom prst="rect">
            <a:avLst/>
          </a:prstGeom>
        </p:spPr>
      </p:pic>
      <p:sp>
        <p:nvSpPr>
          <p:cNvPr id="4" name="TextBox 3"/>
          <p:cNvSpPr txBox="1"/>
          <p:nvPr/>
        </p:nvSpPr>
        <p:spPr>
          <a:xfrm>
            <a:off x="457200" y="1499616"/>
            <a:ext cx="5501640" cy="609600"/>
          </a:xfrm>
          <a:prstGeom prst="rect">
            <a:avLst/>
          </a:prstGeom>
          <a:noFill/>
        </p:spPr>
        <p:txBody>
          <a:bodyPr wrap="none" lIns="0" rIns="0">
            <a:noAutofit/>
          </a:bodyPr>
          <a:lstStyle/>
          <a:p>
            <a:pPr algn="l"/>
            <a:r>
              <a:rPr sz="3400" b="0" i="0">
                <a:solidFill>
                  <a:srgbClr val="0A2240"/>
                </a:solidFill>
                <a:latin typeface="Arial"/>
              </a:rPr>
              <a:t>Free to begin</a:t>
            </a:r>
          </a:p>
        </p:txBody>
      </p:sp>
      <p:sp>
        <p:nvSpPr>
          <p:cNvPr id="5" name="TextBox 4"/>
          <p:cNvSpPr txBox="1"/>
          <p:nvPr/>
        </p:nvSpPr>
        <p:spPr>
          <a:xfrm>
            <a:off x="457200" y="2383536"/>
            <a:ext cx="6366728" cy="609600"/>
          </a:xfrm>
          <a:prstGeom prst="rect">
            <a:avLst/>
          </a:prstGeom>
          <a:noFill/>
        </p:spPr>
        <p:txBody>
          <a:bodyPr wrap="none" lIns="0" rIns="0">
            <a:noAutofit/>
          </a:bodyPr>
          <a:lstStyle/>
          <a:p>
            <a:pPr algn="l"/>
            <a:r>
              <a:rPr sz="3400" b="0" i="0">
                <a:solidFill>
                  <a:srgbClr val="0A2240"/>
                </a:solidFill>
                <a:latin typeface="Arial"/>
              </a:rPr>
              <a:t>500 MB of database</a:t>
            </a:r>
          </a:p>
        </p:txBody>
      </p:sp>
      <p:sp>
        <p:nvSpPr>
          <p:cNvPr id="6" name="TextBox 5"/>
          <p:cNvSpPr txBox="1"/>
          <p:nvPr/>
        </p:nvSpPr>
        <p:spPr>
          <a:xfrm>
            <a:off x="457200" y="3267456"/>
            <a:ext cx="6865659" cy="609600"/>
          </a:xfrm>
          <a:prstGeom prst="rect">
            <a:avLst/>
          </a:prstGeom>
          <a:noFill/>
        </p:spPr>
        <p:txBody>
          <a:bodyPr wrap="none" lIns="0" rIns="0">
            <a:noAutofit/>
          </a:bodyPr>
          <a:lstStyle/>
          <a:p>
            <a:pPr algn="l"/>
            <a:r>
              <a:rPr sz="3400" b="0" i="0">
                <a:solidFill>
                  <a:srgbClr val="0A2240"/>
                </a:solidFill>
                <a:latin typeface="Arial"/>
              </a:rPr>
              <a:t>50,000 users a month</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5B6B82"/>
                </a:solidFill>
                <a:latin typeface="Arial"/>
              </a:rPr>
              <a:t>15</a:t>
            </a:fld>
          </a:p>
        </p:txBody>
      </p:sp>
      <p:sp>
        <p:nvSpPr>
          <p:cNvPr id="8" name="TextBox 7"/>
          <p:cNvSpPr txBox="1"/>
          <p:nvPr/>
        </p:nvSpPr>
        <p:spPr>
          <a:xfrm>
            <a:off x="10085130" y="6035040"/>
            <a:ext cx="1213008" cy="365760"/>
          </a:xfrm>
          <a:prstGeom prst="rect">
            <a:avLst/>
          </a:prstGeom>
          <a:noFill/>
        </p:spPr>
        <p:txBody>
          <a:bodyPr wrap="none" lIns="0" rIns="0">
            <a:noAutofit/>
          </a:bodyPr>
          <a:lstStyle/>
          <a:p>
            <a:pPr algn="l"/>
            <a:r>
              <a:rPr sz="1600" b="0" i="0" u="sng">
                <a:solidFill>
                  <a:srgbClr val="0072CE"/>
                </a:solidFill>
                <a:latin typeface="Arial"/>
                <a:hlinkClick r:id="rId3"/>
              </a:rPr>
              <a:t>Source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A Real Project That Uses It</a:t>
            </a:r>
          </a:p>
        </p:txBody>
      </p:sp>
      <p:sp>
        <p:nvSpPr>
          <p:cNvPr id="3" name="TextBox 2"/>
          <p:cNvSpPr txBox="1"/>
          <p:nvPr/>
        </p:nvSpPr>
        <p:spPr>
          <a:xfrm>
            <a:off x="457200" y="1499616"/>
            <a:ext cx="4750851" cy="518159"/>
          </a:xfrm>
          <a:prstGeom prst="rect">
            <a:avLst/>
          </a:prstGeom>
          <a:noFill/>
        </p:spPr>
        <p:txBody>
          <a:bodyPr wrap="none" lIns="0" rIns="0">
            <a:noAutofit/>
          </a:bodyPr>
          <a:lstStyle/>
          <a:p>
            <a:pPr algn="l"/>
            <a:r>
              <a:rPr sz="3400" b="1" i="0">
                <a:solidFill>
                  <a:srgbClr val="0072CE"/>
                </a:solidFill>
                <a:latin typeface="Arial"/>
              </a:rPr>
              <a:t>What it stores</a:t>
            </a:r>
          </a:p>
        </p:txBody>
      </p:sp>
      <p:sp>
        <p:nvSpPr>
          <p:cNvPr id="4" name="TextBox 3"/>
          <p:cNvSpPr txBox="1"/>
          <p:nvPr/>
        </p:nvSpPr>
        <p:spPr>
          <a:xfrm>
            <a:off x="4971690" y="1499616"/>
            <a:ext cx="5166583" cy="518159"/>
          </a:xfrm>
          <a:prstGeom prst="rect">
            <a:avLst/>
          </a:prstGeom>
          <a:noFill/>
        </p:spPr>
        <p:txBody>
          <a:bodyPr wrap="none" lIns="0" rIns="0">
            <a:noAutofit/>
          </a:bodyPr>
          <a:lstStyle/>
          <a:p>
            <a:pPr algn="l"/>
            <a:r>
              <a:rPr sz="3400" b="1" i="0">
                <a:solidFill>
                  <a:srgbClr val="0072CE"/>
                </a:solidFill>
                <a:latin typeface="Arial"/>
              </a:rPr>
              <a:t>Example</a:t>
            </a:r>
          </a:p>
        </p:txBody>
      </p:sp>
      <p:sp>
        <p:nvSpPr>
          <p:cNvPr id="5" name="Rectangle 4"/>
          <p:cNvSpPr/>
          <p:nvPr/>
        </p:nvSpPr>
        <p:spPr>
          <a:xfrm>
            <a:off x="457200" y="2072639"/>
            <a:ext cx="968107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4637841" cy="936752"/>
          </a:xfrm>
          <a:prstGeom prst="rect">
            <a:avLst/>
          </a:prstGeom>
          <a:noFill/>
        </p:spPr>
        <p:txBody>
          <a:bodyPr wrap="none" lIns="0" rIns="0">
            <a:noAutofit/>
          </a:bodyPr>
          <a:lstStyle/>
          <a:p>
            <a:pPr algn="l"/>
            <a:r>
              <a:rPr sz="3400" b="0" i="0">
                <a:solidFill>
                  <a:srgbClr val="0A2240"/>
                </a:solidFill>
                <a:latin typeface="Arial"/>
              </a:rPr>
              <a:t>Court opinions</a:t>
            </a:r>
          </a:p>
        </p:txBody>
      </p:sp>
      <p:sp>
        <p:nvSpPr>
          <p:cNvPr id="7" name="TextBox 6"/>
          <p:cNvSpPr txBox="1"/>
          <p:nvPr/>
        </p:nvSpPr>
        <p:spPr>
          <a:xfrm>
            <a:off x="4971690" y="2401823"/>
            <a:ext cx="7220310" cy="936752"/>
          </a:xfrm>
          <a:prstGeom prst="rect">
            <a:avLst/>
          </a:prstGeom>
          <a:noFill/>
        </p:spPr>
        <p:txBody>
          <a:bodyPr wrap="none" lIns="0" rIns="0">
            <a:noAutofit/>
          </a:bodyPr>
          <a:lstStyle/>
          <a:p>
            <a:pPr algn="l"/>
            <a:r>
              <a:rPr sz="3400" b="0" i="0">
                <a:solidFill>
                  <a:srgbClr val="0A2240"/>
                </a:solidFill>
                <a:latin typeface="Arial"/>
              </a:rPr>
              <a:t>Thousands, fetched daily</a:t>
            </a:r>
          </a:p>
        </p:txBody>
      </p:sp>
      <p:sp>
        <p:nvSpPr>
          <p:cNvPr id="8" name="TextBox 7"/>
          <p:cNvSpPr txBox="1"/>
          <p:nvPr/>
        </p:nvSpPr>
        <p:spPr>
          <a:xfrm>
            <a:off x="457200" y="3612895"/>
            <a:ext cx="5943024" cy="936752"/>
          </a:xfrm>
          <a:prstGeom prst="rect">
            <a:avLst/>
          </a:prstGeom>
          <a:noFill/>
        </p:spPr>
        <p:txBody>
          <a:bodyPr wrap="none" lIns="0" rIns="0">
            <a:noAutofit/>
          </a:bodyPr>
          <a:lstStyle/>
          <a:p>
            <a:pPr algn="l"/>
            <a:r>
              <a:rPr sz="3400" b="0" i="0">
                <a:solidFill>
                  <a:srgbClr val="0A2240"/>
                </a:solidFill>
                <a:latin typeface="Arial"/>
              </a:rPr>
              <a:t>Is it about asylum?</a:t>
            </a:r>
          </a:p>
        </p:txBody>
      </p:sp>
      <p:sp>
        <p:nvSpPr>
          <p:cNvPr id="9" name="TextBox 8"/>
          <p:cNvSpPr txBox="1"/>
          <p:nvPr/>
        </p:nvSpPr>
        <p:spPr>
          <a:xfrm>
            <a:off x="4971690" y="3612895"/>
            <a:ext cx="5905579" cy="936752"/>
          </a:xfrm>
          <a:prstGeom prst="rect">
            <a:avLst/>
          </a:prstGeom>
          <a:noFill/>
        </p:spPr>
        <p:txBody>
          <a:bodyPr wrap="none" lIns="0" rIns="0">
            <a:noAutofit/>
          </a:bodyPr>
          <a:lstStyle/>
          <a:p>
            <a:pPr algn="l"/>
            <a:r>
              <a:rPr sz="3400" b="0" i="0">
                <a:solidFill>
                  <a:srgbClr val="0A2240"/>
                </a:solidFill>
                <a:latin typeface="Arial"/>
              </a:rPr>
              <a:t>A yes or a no each</a:t>
            </a:r>
          </a:p>
        </p:txBody>
      </p:sp>
      <p:sp>
        <p:nvSpPr>
          <p:cNvPr id="10" name="TextBox 9"/>
          <p:cNvSpPr txBox="1"/>
          <p:nvPr/>
        </p:nvSpPr>
        <p:spPr>
          <a:xfrm>
            <a:off x="457200" y="4823967"/>
            <a:ext cx="3984744" cy="936752"/>
          </a:xfrm>
          <a:prstGeom prst="rect">
            <a:avLst/>
          </a:prstGeom>
          <a:noFill/>
        </p:spPr>
        <p:txBody>
          <a:bodyPr wrap="none" lIns="0" rIns="0">
            <a:noAutofit/>
          </a:bodyPr>
          <a:lstStyle/>
          <a:p>
            <a:pPr algn="l"/>
            <a:r>
              <a:rPr sz="3400" b="0" i="0">
                <a:solidFill>
                  <a:srgbClr val="0A2240"/>
                </a:solidFill>
                <a:latin typeface="Arial"/>
              </a:rPr>
              <a:t>Case details</a:t>
            </a:r>
          </a:p>
        </p:txBody>
      </p:sp>
      <p:sp>
        <p:nvSpPr>
          <p:cNvPr id="11" name="TextBox 10"/>
          <p:cNvSpPr txBox="1"/>
          <p:nvPr/>
        </p:nvSpPr>
        <p:spPr>
          <a:xfrm>
            <a:off x="4971690" y="4823967"/>
            <a:ext cx="7220310" cy="936752"/>
          </a:xfrm>
          <a:prstGeom prst="rect">
            <a:avLst/>
          </a:prstGeom>
          <a:noFill/>
        </p:spPr>
        <p:txBody>
          <a:bodyPr wrap="none" lIns="0" rIns="0">
            <a:noAutofit/>
          </a:bodyPr>
          <a:lstStyle/>
          <a:p>
            <a:pPr algn="l"/>
            <a:r>
              <a:rPr sz="3400" b="0" i="0">
                <a:solidFill>
                  <a:srgbClr val="0A2240"/>
                </a:solidFill>
                <a:latin typeface="Arial"/>
              </a:rPr>
              <a:t>Country, outcome, more</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5B6B82"/>
                </a:solidFill>
                <a:latin typeface="Arial"/>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Your First Ten Minutes</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Make an account</a:t>
            </a:r>
          </a:p>
        </p:txBody>
      </p:sp>
      <p:sp>
        <p:nvSpPr>
          <p:cNvPr id="5" name="TextBox 4"/>
          <p:cNvSpPr txBox="1"/>
          <p:nvPr/>
        </p:nvSpPr>
        <p:spPr>
          <a:xfrm>
            <a:off x="1461983" y="2185416"/>
            <a:ext cx="10272817" cy="551688"/>
          </a:xfrm>
          <a:prstGeom prst="rect">
            <a:avLst/>
          </a:prstGeom>
          <a:noFill/>
        </p:spPr>
        <p:txBody>
          <a:bodyPr wrap="none" lIns="0" rIns="0">
            <a:noAutofit/>
          </a:bodyPr>
          <a:lstStyle/>
          <a:p>
            <a:pPr algn="l"/>
            <a:r>
              <a:rPr sz="3400" b="0" i="0">
                <a:solidFill>
                  <a:srgbClr val="0A2240"/>
                </a:solidFill>
                <a:latin typeface="Arial"/>
              </a:rPr>
              <a:t>The free plan is enough</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Create a project</a:t>
            </a:r>
          </a:p>
        </p:txBody>
      </p:sp>
      <p:sp>
        <p:nvSpPr>
          <p:cNvPr id="8" name="TextBox 7"/>
          <p:cNvSpPr txBox="1"/>
          <p:nvPr/>
        </p:nvSpPr>
        <p:spPr>
          <a:xfrm>
            <a:off x="1461983" y="3697224"/>
            <a:ext cx="10272817" cy="551688"/>
          </a:xfrm>
          <a:prstGeom prst="rect">
            <a:avLst/>
          </a:prstGeom>
          <a:noFill/>
        </p:spPr>
        <p:txBody>
          <a:bodyPr wrap="none" lIns="0" rIns="0">
            <a:noAutofit/>
          </a:bodyPr>
          <a:lstStyle/>
          <a:p>
            <a:pPr algn="l"/>
            <a:r>
              <a:rPr sz="3400" b="0" i="0">
                <a:solidFill>
                  <a:srgbClr val="0A2240"/>
                </a:solidFill>
                <a:latin typeface="Arial"/>
              </a:rPr>
              <a:t>You get a database right away</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Make one table</a:t>
            </a:r>
          </a:p>
        </p:txBody>
      </p:sp>
      <p:sp>
        <p:nvSpPr>
          <p:cNvPr id="11" name="TextBox 10"/>
          <p:cNvSpPr txBox="1"/>
          <p:nvPr/>
        </p:nvSpPr>
        <p:spPr>
          <a:xfrm>
            <a:off x="1461983" y="5209032"/>
            <a:ext cx="10272817" cy="551688"/>
          </a:xfrm>
          <a:prstGeom prst="rect">
            <a:avLst/>
          </a:prstGeom>
          <a:noFill/>
        </p:spPr>
        <p:txBody>
          <a:bodyPr wrap="none" lIns="0" rIns="0">
            <a:noAutofit/>
          </a:bodyPr>
          <a:lstStyle/>
          <a:p>
            <a:pPr algn="l"/>
            <a:r>
              <a:rPr sz="3400" b="0" i="0">
                <a:solidFill>
                  <a:srgbClr val="0A2240"/>
                </a:solidFill>
                <a:latin typeface="Arial"/>
              </a:rPr>
              <a:t>Then add a row by hand</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5B6B82"/>
                </a:solidFill>
                <a:latin typeface="Arial"/>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Screenshots, Captured 21 Oct 2026</a:t>
            </a:r>
          </a:p>
        </p:txBody>
      </p:sp>
      <p:sp>
        <p:nvSpPr>
          <p:cNvPr id="3" name="TextBox 2"/>
          <p:cNvSpPr txBox="1"/>
          <p:nvPr/>
        </p:nvSpPr>
        <p:spPr>
          <a:xfrm>
            <a:off x="457200" y="1499616"/>
            <a:ext cx="3945612" cy="518159"/>
          </a:xfrm>
          <a:prstGeom prst="rect">
            <a:avLst/>
          </a:prstGeom>
          <a:noFill/>
        </p:spPr>
        <p:txBody>
          <a:bodyPr wrap="none" lIns="0" rIns="0">
            <a:noAutofit/>
          </a:bodyPr>
          <a:lstStyle/>
          <a:p>
            <a:pPr algn="l"/>
            <a:r>
              <a:rPr sz="3400" b="1" i="0">
                <a:solidFill>
                  <a:srgbClr val="0072CE"/>
                </a:solidFill>
                <a:latin typeface="Arial"/>
              </a:rPr>
              <a:t>Screenshot</a:t>
            </a:r>
          </a:p>
        </p:txBody>
      </p:sp>
      <p:sp>
        <p:nvSpPr>
          <p:cNvPr id="4" name="TextBox 3"/>
          <p:cNvSpPr txBox="1"/>
          <p:nvPr/>
        </p:nvSpPr>
        <p:spPr>
          <a:xfrm>
            <a:off x="4563504" y="1499616"/>
            <a:ext cx="5070862" cy="518159"/>
          </a:xfrm>
          <a:prstGeom prst="rect">
            <a:avLst/>
          </a:prstGeom>
          <a:noFill/>
        </p:spPr>
        <p:txBody>
          <a:bodyPr wrap="none" lIns="0" rIns="0">
            <a:noAutofit/>
          </a:bodyPr>
          <a:lstStyle/>
          <a:p>
            <a:pPr algn="l"/>
            <a:r>
              <a:rPr sz="3400" b="1" i="0">
                <a:solidFill>
                  <a:srgbClr val="0072CE"/>
                </a:solidFill>
                <a:latin typeface="Arial"/>
              </a:rPr>
              <a:t>Captured from</a:t>
            </a:r>
          </a:p>
        </p:txBody>
      </p:sp>
      <p:sp>
        <p:nvSpPr>
          <p:cNvPr id="5" name="Rectangle 4"/>
          <p:cNvSpPr/>
          <p:nvPr/>
        </p:nvSpPr>
        <p:spPr>
          <a:xfrm>
            <a:off x="457200" y="2072639"/>
            <a:ext cx="9177166"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3562726" cy="452323"/>
          </a:xfrm>
          <a:prstGeom prst="rect">
            <a:avLst/>
          </a:prstGeom>
          <a:noFill/>
        </p:spPr>
        <p:txBody>
          <a:bodyPr wrap="none" lIns="0" rIns="0">
            <a:noAutofit/>
          </a:bodyPr>
          <a:lstStyle/>
          <a:p>
            <a:pPr algn="l"/>
            <a:r>
              <a:rPr sz="3400" b="0" i="0">
                <a:solidFill>
                  <a:srgbClr val="0A2240"/>
                </a:solidFill>
                <a:latin typeface="Arial"/>
              </a:rPr>
              <a:t>Homepage</a:t>
            </a:r>
          </a:p>
        </p:txBody>
      </p:sp>
      <p:sp>
        <p:nvSpPr>
          <p:cNvPr id="7" name="TextBox 6"/>
          <p:cNvSpPr txBox="1"/>
          <p:nvPr/>
        </p:nvSpPr>
        <p:spPr>
          <a:xfrm>
            <a:off x="4563504" y="2401823"/>
            <a:ext cx="5070862" cy="452323"/>
          </a:xfrm>
          <a:prstGeom prst="rect">
            <a:avLst/>
          </a:prstGeom>
          <a:noFill/>
        </p:spPr>
        <p:txBody>
          <a:bodyPr wrap="none" lIns="0" rIns="0">
            <a:noAutofit/>
          </a:bodyPr>
          <a:lstStyle/>
          <a:p>
            <a:pPr algn="l"/>
            <a:r>
              <a:rPr sz="3400" b="0" i="0">
                <a:solidFill>
                  <a:srgbClr val="0A2240"/>
                </a:solidFill>
                <a:latin typeface="Arial"/>
              </a:rPr>
              <a:t>supabase.com</a:t>
            </a:r>
          </a:p>
        </p:txBody>
      </p:sp>
      <p:sp>
        <p:nvSpPr>
          <p:cNvPr id="8" name="TextBox 7"/>
          <p:cNvSpPr txBox="1"/>
          <p:nvPr/>
        </p:nvSpPr>
        <p:spPr>
          <a:xfrm>
            <a:off x="457200" y="3128466"/>
            <a:ext cx="3754675" cy="452323"/>
          </a:xfrm>
          <a:prstGeom prst="rect">
            <a:avLst/>
          </a:prstGeom>
          <a:noFill/>
        </p:spPr>
        <p:txBody>
          <a:bodyPr wrap="none" lIns="0" rIns="0">
            <a:noAutofit/>
          </a:bodyPr>
          <a:lstStyle/>
          <a:p>
            <a:pPr algn="l"/>
            <a:r>
              <a:rPr sz="3400" b="0" i="0">
                <a:solidFill>
                  <a:srgbClr val="0A2240"/>
                </a:solidFill>
                <a:latin typeface="Arial"/>
              </a:rPr>
              <a:t>Table editor</a:t>
            </a:r>
          </a:p>
        </p:txBody>
      </p:sp>
      <p:sp>
        <p:nvSpPr>
          <p:cNvPr id="9" name="TextBox 8"/>
          <p:cNvSpPr txBox="1"/>
          <p:nvPr/>
        </p:nvSpPr>
        <p:spPr>
          <a:xfrm>
            <a:off x="4563504" y="3128466"/>
            <a:ext cx="7628496" cy="452323"/>
          </a:xfrm>
          <a:prstGeom prst="rect">
            <a:avLst/>
          </a:prstGeom>
          <a:noFill/>
        </p:spPr>
        <p:txBody>
          <a:bodyPr wrap="none" lIns="0" rIns="0">
            <a:noAutofit/>
          </a:bodyPr>
          <a:lstStyle/>
          <a:p>
            <a:pPr algn="l"/>
            <a:r>
              <a:rPr sz="3400" b="0" i="0">
                <a:solidFill>
                  <a:srgbClr val="0A2240"/>
                </a:solidFill>
                <a:latin typeface="Arial"/>
              </a:rPr>
              <a:t>supabase.com/database</a:t>
            </a:r>
          </a:p>
        </p:txBody>
      </p:sp>
      <p:sp>
        <p:nvSpPr>
          <p:cNvPr id="10" name="TextBox 9"/>
          <p:cNvSpPr txBox="1"/>
          <p:nvPr/>
        </p:nvSpPr>
        <p:spPr>
          <a:xfrm>
            <a:off x="457200" y="3855109"/>
            <a:ext cx="3557664" cy="452323"/>
          </a:xfrm>
          <a:prstGeom prst="rect">
            <a:avLst/>
          </a:prstGeom>
          <a:noFill/>
        </p:spPr>
        <p:txBody>
          <a:bodyPr wrap="none" lIns="0" rIns="0">
            <a:noAutofit/>
          </a:bodyPr>
          <a:lstStyle/>
          <a:p>
            <a:pPr algn="l"/>
            <a:r>
              <a:rPr sz="3400" b="0" i="0">
                <a:solidFill>
                  <a:srgbClr val="0A2240"/>
                </a:solidFill>
                <a:latin typeface="Arial"/>
              </a:rPr>
              <a:t>Sign-in</a:t>
            </a:r>
          </a:p>
        </p:txBody>
      </p:sp>
      <p:sp>
        <p:nvSpPr>
          <p:cNvPr id="11" name="TextBox 10"/>
          <p:cNvSpPr txBox="1"/>
          <p:nvPr/>
        </p:nvSpPr>
        <p:spPr>
          <a:xfrm>
            <a:off x="4563504" y="3855109"/>
            <a:ext cx="6212899" cy="452323"/>
          </a:xfrm>
          <a:prstGeom prst="rect">
            <a:avLst/>
          </a:prstGeom>
          <a:noFill/>
        </p:spPr>
        <p:txBody>
          <a:bodyPr wrap="none" lIns="0" rIns="0">
            <a:noAutofit/>
          </a:bodyPr>
          <a:lstStyle/>
          <a:p>
            <a:pPr algn="l"/>
            <a:r>
              <a:rPr sz="3400" b="0" i="0">
                <a:solidFill>
                  <a:srgbClr val="0A2240"/>
                </a:solidFill>
                <a:latin typeface="Arial"/>
              </a:rPr>
              <a:t>supabase.com/auth</a:t>
            </a:r>
          </a:p>
        </p:txBody>
      </p:sp>
      <p:sp>
        <p:nvSpPr>
          <p:cNvPr id="12" name="TextBox 11"/>
          <p:cNvSpPr txBox="1"/>
          <p:nvPr/>
        </p:nvSpPr>
        <p:spPr>
          <a:xfrm>
            <a:off x="457200" y="4581752"/>
            <a:ext cx="5289926" cy="452323"/>
          </a:xfrm>
          <a:prstGeom prst="rect">
            <a:avLst/>
          </a:prstGeom>
          <a:noFill/>
        </p:spPr>
        <p:txBody>
          <a:bodyPr wrap="none" lIns="0" rIns="0">
            <a:noAutofit/>
          </a:bodyPr>
          <a:lstStyle/>
          <a:p>
            <a:pPr algn="l"/>
            <a:r>
              <a:rPr sz="3400" b="0" i="0">
                <a:solidFill>
                  <a:srgbClr val="0A2240"/>
                </a:solidFill>
                <a:latin typeface="Arial"/>
              </a:rPr>
              <a:t>Security warning</a:t>
            </a:r>
          </a:p>
        </p:txBody>
      </p:sp>
      <p:sp>
        <p:nvSpPr>
          <p:cNvPr id="13" name="TextBox 12"/>
          <p:cNvSpPr txBox="1"/>
          <p:nvPr/>
        </p:nvSpPr>
        <p:spPr>
          <a:xfrm>
            <a:off x="4563504" y="4581752"/>
            <a:ext cx="6327596" cy="452323"/>
          </a:xfrm>
          <a:prstGeom prst="rect">
            <a:avLst/>
          </a:prstGeom>
          <a:noFill/>
        </p:spPr>
        <p:txBody>
          <a:bodyPr wrap="none" lIns="0" rIns="0">
            <a:noAutofit/>
          </a:bodyPr>
          <a:lstStyle/>
          <a:p>
            <a:pPr algn="l"/>
            <a:r>
              <a:rPr sz="3400" b="0" i="0">
                <a:solidFill>
                  <a:srgbClr val="0A2240"/>
                </a:solidFill>
                <a:latin typeface="Arial"/>
              </a:rPr>
              <a:t>supabase.com/docs</a:t>
            </a:r>
          </a:p>
        </p:txBody>
      </p:sp>
      <p:sp>
        <p:nvSpPr>
          <p:cNvPr id="14" name="TextBox 13"/>
          <p:cNvSpPr txBox="1"/>
          <p:nvPr/>
        </p:nvSpPr>
        <p:spPr>
          <a:xfrm>
            <a:off x="457200" y="5308395"/>
            <a:ext cx="3557664" cy="452323"/>
          </a:xfrm>
          <a:prstGeom prst="rect">
            <a:avLst/>
          </a:prstGeom>
          <a:noFill/>
        </p:spPr>
        <p:txBody>
          <a:bodyPr wrap="none" lIns="0" rIns="0">
            <a:noAutofit/>
          </a:bodyPr>
          <a:lstStyle/>
          <a:p>
            <a:pPr algn="l"/>
            <a:r>
              <a:rPr sz="3400" b="0" i="0">
                <a:solidFill>
                  <a:srgbClr val="0A2240"/>
                </a:solidFill>
                <a:latin typeface="Arial"/>
              </a:rPr>
              <a:t>Pricing</a:t>
            </a:r>
          </a:p>
        </p:txBody>
      </p:sp>
      <p:sp>
        <p:nvSpPr>
          <p:cNvPr id="15" name="TextBox 14"/>
          <p:cNvSpPr txBox="1"/>
          <p:nvPr/>
        </p:nvSpPr>
        <p:spPr>
          <a:xfrm>
            <a:off x="4563504" y="5308395"/>
            <a:ext cx="6903441" cy="452323"/>
          </a:xfrm>
          <a:prstGeom prst="rect">
            <a:avLst/>
          </a:prstGeom>
          <a:noFill/>
        </p:spPr>
        <p:txBody>
          <a:bodyPr wrap="none" lIns="0" rIns="0">
            <a:noAutofit/>
          </a:bodyPr>
          <a:lstStyle/>
          <a:p>
            <a:pPr algn="l"/>
            <a:r>
              <a:rPr sz="3400" b="0" i="0">
                <a:solidFill>
                  <a:srgbClr val="0A2240"/>
                </a:solidFill>
                <a:latin typeface="Arial"/>
              </a:rPr>
              <a:t>supabase.com/pricing</a:t>
            </a:r>
          </a:p>
        </p:txBody>
      </p:sp>
      <p:sp>
        <p:nvSpPr>
          <p:cNvPr id="16" name="TextBox 1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5B6B82"/>
                </a:solidFill>
                <a:latin typeface="Arial"/>
              </a:rPr>
              <a:t>18</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What should it remember?</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5B6B82"/>
                </a:solidFill>
                <a:latin typeface="Arial"/>
              </a:rPr>
              <a:t>19</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