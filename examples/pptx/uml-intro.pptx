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entry-level tour of UML, the Unified Modeling Language: what it is, the diagrams you will actually meet, and how to read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a system in words gets confusing fast. The question is how to draw it so that anyone reading the picture understands it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UML is a standard visual language for describing software designs, so a box or an arrow means the same thing to everyone who reads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UML is maintained by the Object Management Group. The current version is 2.5.1, and the full specification is free to read as a PDF.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UML defines fourteen diagram types in two families of seven. Structure diagrams show what a system is made of, and behaviour diagrams show what it does. Here are three common ones from each.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 diagram shows the kinds of thing in a system and how they relate to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one drawn for a real project, ninth_circuit, which reads court opinions. An asylum opinion is a kind of opinion, and it has many features pulled out of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class box reads the same way: the name at the top, its attributes — the data it holds — in the middle, and its operations, the things it can do,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ends carry the meaning. A hollow triangle means is a kind of. A filled diamond means owns completely. A hollow diamond means has, but shares. A plain line means one simply knows about the other.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sequence diagram shows who talks to whom, and in what order.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that project's daily run. Time runs downward, a solid arrow is a request, and a dashed arrow is the reply that comes back.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labelled box around some messages changes how they run. Opt means they happen only if a condition is true, alt picks one branch, loop repeats them, and par runs them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state machine diagram shows the stages that one thing moves through over its life.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one opinion's life in that project. The filled dot is where it starts, the ringed dot is where it ends, and the labels on the arrows say why it moves from one stage to the next.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diagram from the question. What is it made of calls for a class diagram, who talks to whom for a sequence diagram, what stages it can be in for a state diagram, and what a user can do for a use case diagram.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need very little to start: pen and paper works. Mermaid, which drew the diagrams in this deck, and PlantUML both turn text into diagrams, and draw.io lets you drag shapes around.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specification screenshot was captured on the twenty-first of October 2026, the list of diagram types comes from Wikipedia's UML article, and the example diagrams were drawn for this deck from the ninth_circuit README.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to explain rather than to archive everything, answer one question per diagram, leave out whatever does not matter to that question, and keep the diagram next to the code it describes.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958840" cy="609600"/>
          </a:xfrm>
          <a:prstGeom prst="rect">
            <a:avLst/>
          </a:prstGeom>
          <a:noFill/>
        </p:spPr>
        <p:txBody>
          <a:bodyPr wrap="none" lIns="0" rIns="0">
            <a:noAutofit/>
          </a:bodyPr>
          <a:lstStyle/>
          <a:p>
            <a:pPr algn="l"/>
            <a:r>
              <a:rPr sz="3400" b="0" i="0">
                <a:solidFill>
                  <a:srgbClr val="0A2240"/>
                </a:solidFill>
                <a:latin typeface="Arial"/>
              </a:rPr>
              <a:t>Built with customers.</a:t>
            </a:r>
          </a:p>
        </p:txBody>
      </p:sp>
      <p:sp>
        <p:nvSpPr>
          <p:cNvPr id="7" name="TextBox 6"/>
          <p:cNvSpPr/>
          <p:nvPr>
            <p:ph type="body" idx="2"/>
          </p:nvPr>
        </p:nvSpPr>
        <p:spPr>
          <a:xfrm>
            <a:off x="6233160" y="2383536"/>
            <a:ext cx="5501640" cy="1127760"/>
          </a:xfrm>
          <a:prstGeom prst="rect">
            <a:avLst/>
          </a:prstGeom>
          <a:noFill/>
        </p:spPr>
        <p:txBody>
          <a:bodyPr wrap="square" lIns="0" rIns="0">
            <a:noAutofit/>
          </a:bodyPr>
          <a:lstStyle/>
          <a:p>
            <a:pPr algn="l"/>
            <a:r>
              <a:rPr sz="3400" b="0" i="0">
                <a:solidFill>
                  <a:srgbClr val="0A2240"/>
                </a:solidFill>
                <a:latin typeface="Arial"/>
              </a:rPr>
              <a:t>60% faster;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621280"/>
            <a:ext cx="128016" cy="16154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"We buy outcomes, not tools."</a:t>
            </a:r>
          </a:p>
        </p:txBody>
      </p:sp>
      <p:sp>
        <p:nvSpPr>
          <p:cNvPr id="7" name="TextBox 6"/>
          <p:cNvSpPr/>
          <p:nvPr>
            <p:ph type="body" idx="3"/>
          </p:nvPr>
        </p:nvSpPr>
        <p:spPr>
          <a:xfrm>
            <a:off x="996696" y="3627120"/>
            <a:ext cx="11195304" cy="609600"/>
          </a:xfrm>
          <a:prstGeom prst="rect">
            <a:avLst/>
          </a:prstGeom>
          <a:noFill/>
        </p:spPr>
        <p:txBody>
          <a:bodyPr wrap="none" lIns="0" rIns="0">
            <a:noAutofit/>
          </a:bodyPr>
          <a:lstStyle/>
          <a:p>
            <a:pPr algn="l"/>
            <a:r>
              <a:rPr sz="3400" b="0" i="0">
                <a:solidFill>
                  <a:srgbClr val="0A2240"/>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484120"/>
            <a:ext cx="128016" cy="188976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Revenue kept from existing customers.</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926080"/>
            <a:ext cx="128016" cy="10058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if we trusted users?</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FFFF"/>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FFFF"/>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FFFFF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FFFFFF"/>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2524382" cy="518159"/>
          </a:xfrm>
          <a:prstGeom prst="rect">
            <a:avLst/>
          </a:prstGeom>
          <a:noFill/>
        </p:spPr>
        <p:txBody>
          <a:bodyPr wrap="none" lIns="0" rIns="0">
            <a:noAutofit/>
          </a:bodyPr>
          <a:lstStyle/>
          <a:p>
            <a:pPr algn="l"/>
            <a:r>
              <a:rPr sz="3400" b="0" i="0">
                <a:solidFill>
                  <a:srgbClr val="FFFFFF"/>
                </a:solidFill>
                <a:latin typeface="Arial"/>
              </a:rPr>
              <a:t> main():</a:t>
            </a:r>
          </a:p>
        </p:txBody>
      </p:sp>
      <p:sp>
        <p:nvSpPr>
          <p:cNvPr id="12" name="TextBox 11"/>
          <p:cNvSpPr/>
          <p:nvPr>
            <p:ph type="body" idx="8"/>
          </p:nvPr>
        </p:nvSpPr>
        <p:spPr>
          <a:xfrm>
            <a:off x="457200" y="2874262"/>
            <a:ext cx="7046475" cy="518159"/>
          </a:xfrm>
          <a:prstGeom prst="rect">
            <a:avLst/>
          </a:prstGeom>
          <a:noFill/>
        </p:spPr>
        <p:txBody>
          <a:bodyPr wrap="none" lIns="0" rIns="0">
            <a:noAutofit/>
          </a:bodyPr>
          <a:lstStyle/>
          <a:p>
            <a:pPr algn="l"/>
            <a:r>
              <a:rPr sz="3400" b="0" i="0">
                <a:solidFill>
                  <a:srgbClr val="FFFFFF"/>
                </a:solidFill>
                <a:latin typeface="Arial"/>
              </a:rPr>
              <a:t>    print("Hello, world!")</a:t>
            </a:r>
          </a:p>
        </p:txBody>
      </p:sp>
      <p:sp>
        <p:nvSpPr>
          <p:cNvPr id="13" name="TextBox 12"/>
          <p:cNvSpPr/>
          <p:nvPr>
            <p:ph type="body" idx="9"/>
          </p:nvPr>
        </p:nvSpPr>
        <p:spPr>
          <a:xfrm>
            <a:off x="457200" y="3910580"/>
            <a:ext cx="2140486" cy="518159"/>
          </a:xfrm>
          <a:prstGeom prst="rect">
            <a:avLst/>
          </a:prstGeom>
          <a:noFill/>
        </p:spPr>
        <p:txBody>
          <a:bodyPr wrap="none" lIns="0" rIns="0">
            <a:noAutofit/>
          </a:bodyPr>
          <a:lstStyle/>
          <a:p>
            <a:pPr algn="l"/>
            <a:r>
              <a:rPr sz="3400" b="0" i="0">
                <a:solidFill>
                  <a:srgbClr val="FFFFFF"/>
                </a:solidFill>
                <a:latin typeface="Arial"/>
              </a:rPr>
              <a:t>main()</a:t>
            </a:r>
          </a:p>
        </p:txBody>
      </p:sp>
      <p:sp>
        <p:nvSpPr>
          <p:cNvPr id="14" name="TextBox 13"/>
          <p:cNvSpPr/>
          <p:nvPr>
            <p:ph type="body" idx="13"/>
          </p:nvPr>
        </p:nvSpPr>
        <p:spPr>
          <a:xfrm>
            <a:off x="457200" y="4946898"/>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5" name="TextBox 14"/>
          <p:cNvSpPr/>
          <p:nvPr>
            <p:ph type="body" idx="14"/>
          </p:nvPr>
        </p:nvSpPr>
        <p:spPr>
          <a:xfrm>
            <a:off x="697347" y="4946898"/>
            <a:ext cx="5022412" cy="518159"/>
          </a:xfrm>
          <a:prstGeom prst="rect">
            <a:avLst/>
          </a:prstGeom>
          <a:noFill/>
        </p:spPr>
        <p:txBody>
          <a:bodyPr wrap="none" lIns="0" rIns="0">
            <a:noAutofit/>
          </a:bodyPr>
          <a:lstStyle/>
          <a:p>
            <a:pPr algn="l"/>
            <a:r>
              <a:rPr sz="3400" b="0" i="0">
                <a:solidFill>
                  <a:srgbClr val="FFFFFF"/>
                </a:solidFill>
                <a:latin typeface="Arial"/>
              </a:rPr>
              <a:t> python hello.py</a:t>
            </a:r>
          </a:p>
        </p:txBody>
      </p:sp>
      <p:sp>
        <p:nvSpPr>
          <p:cNvPr id="16" name="TextBox 15"/>
          <p:cNvSpPr/>
          <p:nvPr>
            <p:ph type="body" idx="15"/>
          </p:nvPr>
        </p:nvSpPr>
        <p:spPr>
          <a:xfrm>
            <a:off x="457200" y="5465057"/>
            <a:ext cx="3984068" cy="518159"/>
          </a:xfrm>
          <a:prstGeom prst="rect">
            <a:avLst/>
          </a:prstGeom>
          <a:noFill/>
        </p:spPr>
        <p:txBody>
          <a:bodyPr wrap="none" lIns="0" rIns="0">
            <a:noAutofit/>
          </a:bodyPr>
          <a:lstStyle/>
          <a:p>
            <a:pPr algn="l"/>
            <a:r>
              <a:rPr sz="3400" b="0" i="0">
                <a:solidFill>
                  <a:srgbClr val="FFFFFF"/>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A2240"/>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0072CE"/>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0072CE"/>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0072CE"/>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FFFFFF"/>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FFFFFF"/>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FFFFFF"/>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FFFFFF"/>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457200" y="2176271"/>
            <a:ext cx="136771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After</a:t>
            </a:r>
          </a:p>
        </p:txBody>
      </p:sp>
      <p:sp>
        <p:nvSpPr>
          <p:cNvPr id="9" name="Rectangle 8"/>
          <p:cNvSpPr/>
          <p:nvPr>
            <p:ph type="body" idx="4"/>
          </p:nvPr>
        </p:nvSpPr>
        <p:spPr>
          <a:xfrm>
            <a:off x="6233160" y="2176271"/>
            <a:ext cx="1007604" cy="54864"/>
          </a:xfrm>
          <a:prstGeom prst="rect">
            <a:avLst/>
          </a:prstGeom>
          <a:solidFill>
            <a:srgbClr val="0A2240"/>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405688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75183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3943896" y="4861560"/>
            <a:ext cx="4304208" cy="609600"/>
          </a:xfrm>
          <a:prstGeom prst="rect">
            <a:avLst/>
          </a:prstGeom>
          <a:noFill/>
        </p:spPr>
        <p:txBody>
          <a:bodyPr wrap="none" lIns="0" rIns="0">
            <a:noAutofit/>
          </a:bodyPr>
          <a:lstStyle/>
          <a:p>
            <a:pPr algn="ctr"/>
            <a:r>
              <a:rPr sz="3400" b="0" i="0">
                <a:solidFill>
                  <a:srgbClr val="0A2240"/>
                </a:solidFill>
                <a:latin typeface="Arial"/>
              </a:rPr>
              <a:t>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0A2240"/>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0A2240"/>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0A2240"/>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0A2240"/>
                </a:solidFill>
                <a:latin typeface="Arial"/>
              </a:rPr>
              <a:t>Apr</a:t>
            </a:r>
          </a:p>
        </p:txBody>
      </p:sp>
      <p:sp>
        <p:nvSpPr>
          <p:cNvPr id="18" name="Rectangle 17"/>
          <p:cNvSpPr/>
          <p:nvPr>
            <p:ph type="body" idx="16"/>
          </p:nvPr>
        </p:nvSpPr>
        <p:spPr>
          <a:xfrm>
            <a:off x="7498080" y="3325368"/>
            <a:ext cx="128016" cy="60960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3325368"/>
            <a:ext cx="4154424" cy="609600"/>
          </a:xfrm>
          <a:prstGeom prst="rect">
            <a:avLst/>
          </a:prstGeom>
          <a:noFill/>
        </p:spPr>
        <p:txBody>
          <a:bodyPr wrap="none" lIns="0" rIns="0">
            <a:noAutofit/>
          </a:bodyPr>
          <a:lstStyle/>
          <a:p>
            <a:pPr algn="l"/>
            <a:r>
              <a:rPr sz="3400" b="1" i="0">
                <a:solidFill>
                  <a:srgbClr val="0A2240"/>
                </a:solidFill>
                <a:latin typeface="Arial"/>
              </a:rPr>
              <a:t>Activations 4x.</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33476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523488"/>
            <a:ext cx="3576320" cy="609600"/>
          </a:xfrm>
          <a:prstGeom prst="rect">
            <a:avLst/>
          </a:prstGeom>
          <a:noFill/>
        </p:spPr>
        <p:txBody>
          <a:bodyPr wrap="none" lIns="0" rIns="0">
            <a:noAutofit/>
          </a:bodyPr>
          <a:lstStyle/>
          <a:p>
            <a:pPr algn="ctr"/>
            <a:r>
              <a:rPr sz="3400" b="0" i="0">
                <a:solidFill>
                  <a:srgbClr val="0A2240"/>
                </a:solidFill>
                <a:latin typeface="Arial"/>
              </a:rPr>
              <a:t>Revenue</a:t>
            </a:r>
          </a:p>
        </p:txBody>
      </p:sp>
      <p:sp>
        <p:nvSpPr>
          <p:cNvPr id="8" name="Rectangle 7"/>
          <p:cNvSpPr/>
          <p:nvPr>
            <p:ph type="body" idx="3"/>
          </p:nvPr>
        </p:nvSpPr>
        <p:spPr>
          <a:xfrm>
            <a:off x="1522569" y="440740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40740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33476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523488"/>
            <a:ext cx="4522132" cy="60960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40740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40740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33476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7701280" y="3523488"/>
            <a:ext cx="4490720" cy="609600"/>
          </a:xfrm>
          <a:prstGeom prst="rect">
            <a:avLst/>
          </a:prstGeom>
          <a:noFill/>
        </p:spPr>
        <p:txBody>
          <a:bodyPr wrap="none" lIns="0" rIns="0">
            <a:noAutofit/>
          </a:bodyPr>
          <a:lstStyle/>
          <a:p>
            <a:pPr algn="ctr"/>
            <a:r>
              <a:rPr sz="3400" b="0" i="0">
                <a:solidFill>
                  <a:srgbClr val="0A2240"/>
                </a:solidFill>
                <a:latin typeface="Arial"/>
              </a:rPr>
              <a:t>Promoter score</a:t>
            </a:r>
          </a:p>
        </p:txBody>
      </p:sp>
      <p:sp>
        <p:nvSpPr>
          <p:cNvPr id="16" name="Rectangle 15"/>
          <p:cNvSpPr/>
          <p:nvPr>
            <p:ph type="body" idx="14"/>
          </p:nvPr>
        </p:nvSpPr>
        <p:spPr>
          <a:xfrm>
            <a:off x="9427731" y="440740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40740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593303"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593303"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593303"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593303"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0A2240"/>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A2240"/>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2015207"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7863523" cy="609600"/>
          </a:xfrm>
          <a:prstGeom prst="rect">
            <a:avLst/>
          </a:prstGeom>
          <a:noFill/>
        </p:spPr>
        <p:txBody>
          <a:bodyPr wrap="none" lIns="0" rIns="0">
            <a:noAutofit/>
          </a:bodyPr>
          <a:lstStyle/>
          <a:p>
            <a:pPr algn="l"/>
            <a:r>
              <a:rPr sz="3400" b="0" i="0">
                <a:solidFill>
                  <a:srgbClr val="0A2240"/>
                </a:solidFill>
                <a:latin typeface="Arial"/>
              </a:rPr>
              <a:t>Strong brand,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Weaknesses</a:t>
            </a:r>
          </a:p>
        </p:txBody>
      </p:sp>
      <p:sp>
        <p:nvSpPr>
          <p:cNvPr id="10" name="Rectangle 9"/>
          <p:cNvSpPr/>
          <p:nvPr>
            <p:ph type="body" idx="5"/>
          </p:nvPr>
        </p:nvSpPr>
        <p:spPr>
          <a:xfrm>
            <a:off x="6233160" y="2176271"/>
            <a:ext cx="2584686" cy="54864"/>
          </a:xfrm>
          <a:prstGeom prst="rect">
            <a:avLst/>
          </a:prstGeom>
          <a:solidFill>
            <a:srgbClr val="0A2240"/>
          </a:solidFill>
          <a:ln>
            <a:noFill/>
          </a:ln>
          <a:effectLst/>
        </p:spPr>
        <p:txBody>
          <a:bodyPr rtlCol="0" anchor="ctr"/>
          <a:lstStyle/>
          <a:p>
            <a:pPr algn="ctr"/>
          </a:p>
        </p:txBody>
      </p:sp>
      <p:sp>
        <p:nvSpPr>
          <p:cNvPr id="11" name="TextBox 10"/>
          <p:cNvSpPr/>
          <p:nvPr>
            <p:ph type="body" idx="6"/>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Thin margins,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2830525"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8015326" cy="609600"/>
          </a:xfrm>
          <a:prstGeom prst="rect">
            <a:avLst/>
          </a:prstGeom>
          <a:noFill/>
        </p:spPr>
        <p:txBody>
          <a:bodyPr wrap="none" lIns="0" rIns="0">
            <a:noAutofit/>
          </a:bodyPr>
          <a:lstStyle/>
          <a:p>
            <a:pPr algn="l"/>
            <a:r>
              <a:rPr sz="3400" b="0" i="0">
                <a:solidFill>
                  <a:srgbClr val="0A2240"/>
                </a:solidFill>
                <a:latin typeface="Arial"/>
              </a:rPr>
              <a:t>New markets via partners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0A2240"/>
                </a:solidFill>
                <a:latin typeface="Arial"/>
              </a:rPr>
              <a:t>Threats</a:t>
            </a:r>
          </a:p>
        </p:txBody>
      </p:sp>
      <p:sp>
        <p:nvSpPr>
          <p:cNvPr id="16" name="Rectangle 15"/>
          <p:cNvSpPr/>
          <p:nvPr>
            <p:ph type="body" idx="14"/>
          </p:nvPr>
        </p:nvSpPr>
        <p:spPr>
          <a:xfrm>
            <a:off x="6233160" y="4443983"/>
            <a:ext cx="1559793" cy="54864"/>
          </a:xfrm>
          <a:prstGeom prst="rect">
            <a:avLst/>
          </a:prstGeom>
          <a:solidFill>
            <a:srgbClr val="0A2240"/>
          </a:solidFill>
          <a:ln>
            <a:noFill/>
          </a:ln>
          <a:effectLst/>
        </p:spPr>
        <p:txBody>
          <a:bodyPr rtlCol="0" anchor="ctr"/>
          <a:lstStyle/>
          <a:p>
            <a:pPr algn="ctr"/>
          </a:p>
        </p:txBody>
      </p:sp>
      <p:sp>
        <p:nvSpPr>
          <p:cNvPr id="17" name="TextBox 16"/>
          <p:cNvSpPr/>
          <p:nvPr>
            <p:ph type="body" idx="15"/>
          </p:nvPr>
        </p:nvSpPr>
        <p:spPr>
          <a:xfrm>
            <a:off x="6233160" y="4663439"/>
            <a:ext cx="5958840" cy="609600"/>
          </a:xfrm>
          <a:prstGeom prst="rect">
            <a:avLst/>
          </a:prstGeom>
          <a:noFill/>
        </p:spPr>
        <p:txBody>
          <a:bodyPr wrap="none" lIns="0" rIns="0">
            <a:noAutofit/>
          </a:bodyPr>
          <a:lstStyle/>
          <a:p>
            <a:pPr algn="l"/>
            <a:r>
              <a:rPr sz="3400" b="0" i="0">
                <a:solidFill>
                  <a:srgbClr val="0A2240"/>
                </a:solidFill>
                <a:latin typeface="Arial"/>
              </a:rPr>
              <a:t>New entrants cut prices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 Id="rId3" Type="http://schemas.openxmlformats.org/officeDocument/2006/relationships/hyperlink" Target="https://www.omg.org/spec/UML/"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png"/><Relationship Id="rId3" Type="http://schemas.openxmlformats.org/officeDocument/2006/relationships/hyperlink" Target="https://github.com/Victor-Palacios/ninth_circuit"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png"/><Relationship Id="rId3" Type="http://schemas.openxmlformats.org/officeDocument/2006/relationships/hyperlink" Target="https://github.com/Victor-Palacios/ninth_circuit"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png"/><Relationship Id="rId3" Type="http://schemas.openxmlformats.org/officeDocument/2006/relationships/hyperlink" Target="https://github.com/Victor-Palacios/ninth_circuit"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0363200" cy="914400"/>
          </a:xfrm>
          <a:prstGeom prst="rect">
            <a:avLst/>
          </a:prstGeom>
          <a:noFill/>
        </p:spPr>
        <p:txBody>
          <a:bodyPr wrap="none" lIns="0" rIns="0">
            <a:noAutofit/>
          </a:bodyPr>
          <a:lstStyle/>
          <a:p>
            <a:pPr algn="l"/>
            <a:r>
              <a:rPr sz="6000" b="1" i="0">
                <a:solidFill>
                  <a:srgbClr val="0072CE"/>
                </a:solidFill>
                <a:latin typeface="Arial"/>
              </a:rPr>
              <a:t>What Is UML?</a:t>
            </a:r>
          </a:p>
        </p:txBody>
      </p:sp>
      <p:sp>
        <p:nvSpPr>
          <p:cNvPr id="3" name="TextBox 2"/>
          <p:cNvSpPr txBox="1"/>
          <p:nvPr/>
        </p:nvSpPr>
        <p:spPr>
          <a:xfrm>
            <a:off x="914400" y="3764280"/>
            <a:ext cx="11165780" cy="518159"/>
          </a:xfrm>
          <a:prstGeom prst="rect">
            <a:avLst/>
          </a:prstGeom>
          <a:noFill/>
        </p:spPr>
        <p:txBody>
          <a:bodyPr wrap="none" lIns="0" rIns="0">
            <a:noAutofit/>
          </a:bodyPr>
          <a:lstStyle/>
          <a:p>
            <a:pPr algn="l"/>
            <a:r>
              <a:rPr sz="3400" b="0" i="0">
                <a:solidFill>
                  <a:srgbClr val="0A2240"/>
                </a:solidFill>
                <a:latin typeface="Arial"/>
              </a:rPr>
              <a:t>Drawing software before you build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How do you draw a design?</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UML</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 standard visual language for software designs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Official Standard</a:t>
            </a:r>
          </a:p>
        </p:txBody>
      </p:sp>
      <p:pic>
        <p:nvPicPr>
          <p:cNvPr id="3" name="Picture 2" descr="omg-spec.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7478950" cy="609600"/>
          </a:xfrm>
          <a:prstGeom prst="rect">
            <a:avLst/>
          </a:prstGeom>
          <a:noFill/>
        </p:spPr>
        <p:txBody>
          <a:bodyPr wrap="none" lIns="0" rIns="0">
            <a:noAutofit/>
          </a:bodyPr>
          <a:lstStyle/>
          <a:p>
            <a:pPr algn="l"/>
            <a:r>
              <a:rPr sz="3400" b="0" i="0">
                <a:solidFill>
                  <a:srgbClr val="0A2240"/>
                </a:solidFill>
                <a:latin typeface="Arial"/>
              </a:rPr>
              <a:t>Maintained by the OMG</a:t>
            </a:r>
          </a:p>
        </p:txBody>
      </p:sp>
      <p:sp>
        <p:nvSpPr>
          <p:cNvPr id="5" name="TextBox 4"/>
          <p:cNvSpPr txBox="1"/>
          <p:nvPr/>
        </p:nvSpPr>
        <p:spPr>
          <a:xfrm>
            <a:off x="457200" y="2383536"/>
            <a:ext cx="6634241" cy="609600"/>
          </a:xfrm>
          <a:prstGeom prst="rect">
            <a:avLst/>
          </a:prstGeom>
          <a:noFill/>
        </p:spPr>
        <p:txBody>
          <a:bodyPr wrap="none" lIns="0" rIns="0">
            <a:noAutofit/>
          </a:bodyPr>
          <a:lstStyle/>
          <a:p>
            <a:pPr algn="l"/>
            <a:r>
              <a:rPr sz="3400" b="0" i="0">
                <a:solidFill>
                  <a:srgbClr val="0A2240"/>
                </a:solidFill>
                <a:latin typeface="Arial"/>
              </a:rPr>
              <a:t>Current version 2.5.1</a:t>
            </a:r>
          </a:p>
        </p:txBody>
      </p:sp>
      <p:sp>
        <p:nvSpPr>
          <p:cNvPr id="6" name="TextBox 5"/>
          <p:cNvSpPr txBox="1"/>
          <p:nvPr/>
        </p:nvSpPr>
        <p:spPr>
          <a:xfrm>
            <a:off x="457200" y="3267456"/>
            <a:ext cx="7017801" cy="609600"/>
          </a:xfrm>
          <a:prstGeom prst="rect">
            <a:avLst/>
          </a:prstGeom>
          <a:noFill/>
        </p:spPr>
        <p:txBody>
          <a:bodyPr wrap="none" lIns="0" rIns="0">
            <a:noAutofit/>
          </a:bodyPr>
          <a:lstStyle/>
          <a:p>
            <a:pPr algn="l"/>
            <a:r>
              <a:rPr sz="3400" b="0" i="0">
                <a:solidFill>
                  <a:srgbClr val="0A2240"/>
                </a:solidFill>
                <a:latin typeface="Arial"/>
              </a:rPr>
              <a:t>Free to read as a PDF</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Fourteen Diagrams, Two Families</a:t>
            </a:r>
          </a:p>
        </p:txBody>
      </p:sp>
      <p:sp>
        <p:nvSpPr>
          <p:cNvPr id="3" name="TextBox 2"/>
          <p:cNvSpPr txBox="1"/>
          <p:nvPr/>
        </p:nvSpPr>
        <p:spPr>
          <a:xfrm>
            <a:off x="457200" y="1499616"/>
            <a:ext cx="6631880" cy="621791"/>
          </a:xfrm>
          <a:prstGeom prst="rect">
            <a:avLst/>
          </a:prstGeom>
          <a:noFill/>
        </p:spPr>
        <p:txBody>
          <a:bodyPr wrap="none" lIns="0" rIns="0">
            <a:noAutofit/>
          </a:bodyPr>
          <a:lstStyle/>
          <a:p>
            <a:pPr algn="l"/>
            <a:r>
              <a:rPr sz="3400" b="1" i="0">
                <a:solidFill>
                  <a:srgbClr val="0A2240"/>
                </a:solidFill>
                <a:latin typeface="Arial"/>
              </a:rPr>
              <a:t>Structure: what it is</a:t>
            </a:r>
          </a:p>
        </p:txBody>
      </p:sp>
      <p:sp>
        <p:nvSpPr>
          <p:cNvPr id="4" name="Rectangle 3"/>
          <p:cNvSpPr/>
          <p:nvPr/>
        </p:nvSpPr>
        <p:spPr>
          <a:xfrm>
            <a:off x="457200" y="2176271"/>
            <a:ext cx="4030625"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958840" cy="621791"/>
          </a:xfrm>
          <a:prstGeom prst="rect">
            <a:avLst/>
          </a:prstGeom>
          <a:noFill/>
        </p:spPr>
        <p:txBody>
          <a:bodyPr wrap="none" lIns="0" rIns="0">
            <a:noAutofit/>
          </a:bodyPr>
          <a:lstStyle/>
          <a:p>
            <a:pPr algn="l"/>
            <a:r>
              <a:rPr sz="3400" b="1" i="0">
                <a:solidFill>
                  <a:srgbClr val="0072CE"/>
                </a:solidFill>
                <a:latin typeface="Arial"/>
              </a:rPr>
              <a:t>Behaviour: what it does</a:t>
            </a:r>
          </a:p>
        </p:txBody>
      </p:sp>
      <p:sp>
        <p:nvSpPr>
          <p:cNvPr id="6" name="Rectangle 5"/>
          <p:cNvSpPr/>
          <p:nvPr/>
        </p:nvSpPr>
        <p:spPr>
          <a:xfrm>
            <a:off x="6233160" y="2176271"/>
            <a:ext cx="487040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5501640" cy="609600"/>
          </a:xfrm>
          <a:prstGeom prst="rect">
            <a:avLst/>
          </a:prstGeom>
          <a:noFill/>
        </p:spPr>
        <p:txBody>
          <a:bodyPr wrap="none" lIns="0" rIns="0">
            <a:noAutofit/>
          </a:bodyPr>
          <a:lstStyle/>
          <a:p>
            <a:pPr algn="l"/>
            <a:r>
              <a:rPr sz="3400" b="0" i="0">
                <a:solidFill>
                  <a:srgbClr val="0A2240"/>
                </a:solidFill>
                <a:latin typeface="Arial"/>
              </a:rPr>
              <a:t>Class</a:t>
            </a:r>
          </a:p>
        </p:txBody>
      </p:sp>
      <p:sp>
        <p:nvSpPr>
          <p:cNvPr id="8" name="TextBox 7"/>
          <p:cNvSpPr txBox="1"/>
          <p:nvPr/>
        </p:nvSpPr>
        <p:spPr>
          <a:xfrm>
            <a:off x="457200" y="3608831"/>
            <a:ext cx="5501640" cy="609600"/>
          </a:xfrm>
          <a:prstGeom prst="rect">
            <a:avLst/>
          </a:prstGeom>
          <a:noFill/>
        </p:spPr>
        <p:txBody>
          <a:bodyPr wrap="none" lIns="0" rIns="0">
            <a:noAutofit/>
          </a:bodyPr>
          <a:lstStyle/>
          <a:p>
            <a:pPr algn="l"/>
            <a:r>
              <a:rPr sz="3400" b="0" i="0">
                <a:solidFill>
                  <a:srgbClr val="0A2240"/>
                </a:solidFill>
                <a:latin typeface="Arial"/>
              </a:rPr>
              <a:t>Component</a:t>
            </a:r>
          </a:p>
        </p:txBody>
      </p:sp>
      <p:sp>
        <p:nvSpPr>
          <p:cNvPr id="9" name="TextBox 8"/>
          <p:cNvSpPr txBox="1"/>
          <p:nvPr/>
        </p:nvSpPr>
        <p:spPr>
          <a:xfrm>
            <a:off x="457200" y="4821935"/>
            <a:ext cx="5501640" cy="609600"/>
          </a:xfrm>
          <a:prstGeom prst="rect">
            <a:avLst/>
          </a:prstGeom>
          <a:noFill/>
        </p:spPr>
        <p:txBody>
          <a:bodyPr wrap="none" lIns="0" rIns="0">
            <a:noAutofit/>
          </a:bodyPr>
          <a:lstStyle/>
          <a:p>
            <a:pPr algn="l"/>
            <a:r>
              <a:rPr sz="3400" b="0" i="0">
                <a:solidFill>
                  <a:srgbClr val="0A2240"/>
                </a:solidFill>
                <a:latin typeface="Arial"/>
              </a:rPr>
              <a:t>Deployment</a:t>
            </a:r>
          </a:p>
        </p:txBody>
      </p:sp>
      <p:sp>
        <p:nvSpPr>
          <p:cNvPr id="10" name="TextBox 9"/>
          <p:cNvSpPr txBox="1"/>
          <p:nvPr/>
        </p:nvSpPr>
        <p:spPr>
          <a:xfrm>
            <a:off x="6233160" y="2395727"/>
            <a:ext cx="5501640" cy="609600"/>
          </a:xfrm>
          <a:prstGeom prst="rect">
            <a:avLst/>
          </a:prstGeom>
          <a:noFill/>
        </p:spPr>
        <p:txBody>
          <a:bodyPr wrap="none" lIns="0" rIns="0">
            <a:noAutofit/>
          </a:bodyPr>
          <a:lstStyle/>
          <a:p>
            <a:pPr algn="l"/>
            <a:r>
              <a:rPr sz="3400" b="0" i="0">
                <a:solidFill>
                  <a:srgbClr val="0A2240"/>
                </a:solidFill>
                <a:latin typeface="Arial"/>
              </a:rPr>
              <a:t>Use case</a:t>
            </a:r>
          </a:p>
        </p:txBody>
      </p:sp>
      <p:sp>
        <p:nvSpPr>
          <p:cNvPr id="11" name="TextBox 10"/>
          <p:cNvSpPr txBox="1"/>
          <p:nvPr/>
        </p:nvSpPr>
        <p:spPr>
          <a:xfrm>
            <a:off x="6233160" y="3608831"/>
            <a:ext cx="5501640" cy="609600"/>
          </a:xfrm>
          <a:prstGeom prst="rect">
            <a:avLst/>
          </a:prstGeom>
          <a:noFill/>
        </p:spPr>
        <p:txBody>
          <a:bodyPr wrap="none" lIns="0" rIns="0">
            <a:noAutofit/>
          </a:bodyPr>
          <a:lstStyle/>
          <a:p>
            <a:pPr algn="l"/>
            <a:r>
              <a:rPr sz="3400" b="0" i="0">
                <a:solidFill>
                  <a:srgbClr val="0A2240"/>
                </a:solidFill>
                <a:latin typeface="Arial"/>
              </a:rPr>
              <a:t>Sequence</a:t>
            </a:r>
          </a:p>
        </p:txBody>
      </p:sp>
      <p:sp>
        <p:nvSpPr>
          <p:cNvPr id="12" name="TextBox 11"/>
          <p:cNvSpPr txBox="1"/>
          <p:nvPr/>
        </p:nvSpPr>
        <p:spPr>
          <a:xfrm>
            <a:off x="6233160" y="4821935"/>
            <a:ext cx="5501640" cy="609600"/>
          </a:xfrm>
          <a:prstGeom prst="rect">
            <a:avLst/>
          </a:prstGeom>
          <a:noFill/>
        </p:spPr>
        <p:txBody>
          <a:bodyPr wrap="none" lIns="0" rIns="0">
            <a:noAutofit/>
          </a:bodyPr>
          <a:lstStyle/>
          <a:p>
            <a:pPr algn="l"/>
            <a:r>
              <a:rPr sz="3400" b="0" i="0">
                <a:solidFill>
                  <a:srgbClr val="0A2240"/>
                </a:solidFill>
                <a:latin typeface="Arial"/>
              </a:rPr>
              <a:t>State machine</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Class diagram</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The things in a system and how they relate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A Class Diagram, Concretely</a:t>
            </a:r>
          </a:p>
        </p:txBody>
      </p:sp>
      <p:pic>
        <p:nvPicPr>
          <p:cNvPr id="3" name="Picture 2" descr="class.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6096515" cy="609600"/>
          </a:xfrm>
          <a:prstGeom prst="rect">
            <a:avLst/>
          </a:prstGeom>
          <a:noFill/>
        </p:spPr>
        <p:txBody>
          <a:bodyPr wrap="none" lIns="0" rIns="0">
            <a:noAutofit/>
          </a:bodyPr>
          <a:lstStyle/>
          <a:p>
            <a:pPr algn="l"/>
            <a:r>
              <a:rPr sz="3400" b="0" i="0">
                <a:solidFill>
                  <a:srgbClr val="0A2240"/>
                </a:solidFill>
                <a:latin typeface="Arial"/>
              </a:rPr>
              <a:t>Each box is a class</a:t>
            </a:r>
          </a:p>
        </p:txBody>
      </p:sp>
      <p:sp>
        <p:nvSpPr>
          <p:cNvPr id="5" name="TextBox 4"/>
          <p:cNvSpPr txBox="1"/>
          <p:nvPr/>
        </p:nvSpPr>
        <p:spPr>
          <a:xfrm>
            <a:off x="457200" y="2383536"/>
            <a:ext cx="5520670" cy="609600"/>
          </a:xfrm>
          <a:prstGeom prst="rect">
            <a:avLst/>
          </a:prstGeom>
          <a:noFill/>
        </p:spPr>
        <p:txBody>
          <a:bodyPr wrap="none" lIns="0" rIns="0">
            <a:noAutofit/>
          </a:bodyPr>
          <a:lstStyle/>
          <a:p>
            <a:pPr algn="l"/>
            <a:r>
              <a:rPr sz="3400" b="0" i="0">
                <a:solidFill>
                  <a:srgbClr val="0A2240"/>
                </a:solidFill>
                <a:latin typeface="Arial"/>
              </a:rPr>
              <a:t>Each line is a link</a:t>
            </a:r>
          </a:p>
        </p:txBody>
      </p:sp>
      <p:sp>
        <p:nvSpPr>
          <p:cNvPr id="6" name="TextBox 5"/>
          <p:cNvSpPr txBox="1"/>
          <p:nvPr/>
        </p:nvSpPr>
        <p:spPr>
          <a:xfrm>
            <a:off x="457200" y="3267456"/>
            <a:ext cx="7018476" cy="609600"/>
          </a:xfrm>
          <a:prstGeom prst="rect">
            <a:avLst/>
          </a:prstGeom>
          <a:noFill/>
        </p:spPr>
        <p:txBody>
          <a:bodyPr wrap="none" lIns="0" rIns="0">
            <a:noAutofit/>
          </a:bodyPr>
          <a:lstStyle/>
          <a:p>
            <a:pPr algn="l"/>
            <a:r>
              <a:rPr sz="3400" b="0" i="0">
                <a:solidFill>
                  <a:srgbClr val="0A2240"/>
                </a:solidFill>
                <a:latin typeface="Arial"/>
              </a:rPr>
              <a:t>Modelling ninth_circuit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7</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Reading a Class Box</a:t>
            </a:r>
          </a:p>
        </p:txBody>
      </p:sp>
      <p:sp>
        <p:nvSpPr>
          <p:cNvPr id="3" name="TextBox 2"/>
          <p:cNvSpPr txBox="1"/>
          <p:nvPr/>
        </p:nvSpPr>
        <p:spPr>
          <a:xfrm>
            <a:off x="457200" y="1499616"/>
            <a:ext cx="5019377" cy="518159"/>
          </a:xfrm>
          <a:prstGeom prst="rect">
            <a:avLst/>
          </a:prstGeom>
          <a:noFill/>
        </p:spPr>
        <p:txBody>
          <a:bodyPr wrap="none" lIns="0" rIns="0">
            <a:noAutofit/>
          </a:bodyPr>
          <a:lstStyle/>
          <a:p>
            <a:pPr algn="l"/>
            <a:r>
              <a:rPr sz="3400" b="1" i="0">
                <a:solidFill>
                  <a:srgbClr val="0072CE"/>
                </a:solidFill>
                <a:latin typeface="Arial"/>
              </a:rPr>
              <a:t>Part of the box</a:t>
            </a:r>
          </a:p>
        </p:txBody>
      </p:sp>
      <p:sp>
        <p:nvSpPr>
          <p:cNvPr id="4" name="TextBox 3"/>
          <p:cNvSpPr txBox="1"/>
          <p:nvPr/>
        </p:nvSpPr>
        <p:spPr>
          <a:xfrm>
            <a:off x="4394411" y="1499616"/>
            <a:ext cx="4519433" cy="518159"/>
          </a:xfrm>
          <a:prstGeom prst="rect">
            <a:avLst/>
          </a:prstGeom>
          <a:noFill/>
        </p:spPr>
        <p:txBody>
          <a:bodyPr wrap="none" lIns="0" rIns="0">
            <a:noAutofit/>
          </a:bodyPr>
          <a:lstStyle/>
          <a:p>
            <a:pPr algn="l"/>
            <a:r>
              <a:rPr sz="3400" b="1" i="0">
                <a:solidFill>
                  <a:srgbClr val="0072CE"/>
                </a:solidFill>
                <a:latin typeface="Arial"/>
              </a:rPr>
              <a:t>What it holds</a:t>
            </a:r>
          </a:p>
        </p:txBody>
      </p:sp>
      <p:sp>
        <p:nvSpPr>
          <p:cNvPr id="5" name="Rectangle 4"/>
          <p:cNvSpPr/>
          <p:nvPr/>
        </p:nvSpPr>
        <p:spPr>
          <a:xfrm>
            <a:off x="457200" y="2072639"/>
            <a:ext cx="7350872"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388571" cy="936752"/>
          </a:xfrm>
          <a:prstGeom prst="rect">
            <a:avLst/>
          </a:prstGeom>
          <a:noFill/>
        </p:spPr>
        <p:txBody>
          <a:bodyPr wrap="none" lIns="0" rIns="0">
            <a:noAutofit/>
          </a:bodyPr>
          <a:lstStyle/>
          <a:p>
            <a:pPr algn="l"/>
            <a:r>
              <a:rPr sz="3400" b="0" i="0">
                <a:solidFill>
                  <a:srgbClr val="0A2240"/>
                </a:solidFill>
                <a:latin typeface="Arial"/>
              </a:rPr>
              <a:t>Top</a:t>
            </a:r>
          </a:p>
        </p:txBody>
      </p:sp>
      <p:sp>
        <p:nvSpPr>
          <p:cNvPr id="7" name="TextBox 6"/>
          <p:cNvSpPr txBox="1"/>
          <p:nvPr/>
        </p:nvSpPr>
        <p:spPr>
          <a:xfrm>
            <a:off x="4394411" y="2401823"/>
            <a:ext cx="5059521" cy="936752"/>
          </a:xfrm>
          <a:prstGeom prst="rect">
            <a:avLst/>
          </a:prstGeom>
          <a:noFill/>
        </p:spPr>
        <p:txBody>
          <a:bodyPr wrap="none" lIns="0" rIns="0">
            <a:noAutofit/>
          </a:bodyPr>
          <a:lstStyle/>
          <a:p>
            <a:pPr algn="l"/>
            <a:r>
              <a:rPr sz="3400" b="0" i="0">
                <a:solidFill>
                  <a:srgbClr val="0A2240"/>
                </a:solidFill>
                <a:latin typeface="Arial"/>
              </a:rPr>
              <a:t>The class name</a:t>
            </a:r>
          </a:p>
        </p:txBody>
      </p:sp>
      <p:sp>
        <p:nvSpPr>
          <p:cNvPr id="8" name="TextBox 7"/>
          <p:cNvSpPr txBox="1"/>
          <p:nvPr/>
        </p:nvSpPr>
        <p:spPr>
          <a:xfrm>
            <a:off x="457200" y="3612895"/>
            <a:ext cx="3388571" cy="936752"/>
          </a:xfrm>
          <a:prstGeom prst="rect">
            <a:avLst/>
          </a:prstGeom>
          <a:noFill/>
        </p:spPr>
        <p:txBody>
          <a:bodyPr wrap="none" lIns="0" rIns="0">
            <a:noAutofit/>
          </a:bodyPr>
          <a:lstStyle/>
          <a:p>
            <a:pPr algn="l"/>
            <a:r>
              <a:rPr sz="3400" b="0" i="0">
                <a:solidFill>
                  <a:srgbClr val="0A2240"/>
                </a:solidFill>
                <a:latin typeface="Arial"/>
              </a:rPr>
              <a:t>Middle</a:t>
            </a:r>
          </a:p>
        </p:txBody>
      </p:sp>
      <p:sp>
        <p:nvSpPr>
          <p:cNvPr id="9" name="TextBox 8"/>
          <p:cNvSpPr txBox="1"/>
          <p:nvPr/>
        </p:nvSpPr>
        <p:spPr>
          <a:xfrm>
            <a:off x="4394411" y="3612895"/>
            <a:ext cx="3945948" cy="936752"/>
          </a:xfrm>
          <a:prstGeom prst="rect">
            <a:avLst/>
          </a:prstGeom>
          <a:noFill/>
        </p:spPr>
        <p:txBody>
          <a:bodyPr wrap="none" lIns="0" rIns="0">
            <a:noAutofit/>
          </a:bodyPr>
          <a:lstStyle/>
          <a:p>
            <a:pPr algn="l"/>
            <a:r>
              <a:rPr sz="3400" b="0" i="0">
                <a:solidFill>
                  <a:srgbClr val="0A2240"/>
                </a:solidFill>
                <a:latin typeface="Arial"/>
              </a:rPr>
              <a:t>Its attributes</a:t>
            </a:r>
          </a:p>
        </p:txBody>
      </p:sp>
      <p:sp>
        <p:nvSpPr>
          <p:cNvPr id="10" name="TextBox 9"/>
          <p:cNvSpPr txBox="1"/>
          <p:nvPr/>
        </p:nvSpPr>
        <p:spPr>
          <a:xfrm>
            <a:off x="457200" y="4823967"/>
            <a:ext cx="3388571" cy="936752"/>
          </a:xfrm>
          <a:prstGeom prst="rect">
            <a:avLst/>
          </a:prstGeom>
          <a:noFill/>
        </p:spPr>
        <p:txBody>
          <a:bodyPr wrap="none" lIns="0" rIns="0">
            <a:noAutofit/>
          </a:bodyPr>
          <a:lstStyle/>
          <a:p>
            <a:pPr algn="l"/>
            <a:r>
              <a:rPr sz="3400" b="0" i="0">
                <a:solidFill>
                  <a:srgbClr val="0A2240"/>
                </a:solidFill>
                <a:latin typeface="Arial"/>
              </a:rPr>
              <a:t>Bottom</a:t>
            </a:r>
          </a:p>
        </p:txBody>
      </p:sp>
      <p:sp>
        <p:nvSpPr>
          <p:cNvPr id="11" name="TextBox 10"/>
          <p:cNvSpPr txBox="1"/>
          <p:nvPr/>
        </p:nvSpPr>
        <p:spPr>
          <a:xfrm>
            <a:off x="4394411" y="4823967"/>
            <a:ext cx="4330521" cy="936752"/>
          </a:xfrm>
          <a:prstGeom prst="rect">
            <a:avLst/>
          </a:prstGeom>
          <a:noFill/>
        </p:spPr>
        <p:txBody>
          <a:bodyPr wrap="none" lIns="0" rIns="0">
            <a:noAutofit/>
          </a:bodyPr>
          <a:lstStyle/>
          <a:p>
            <a:pPr algn="l"/>
            <a:r>
              <a:rPr sz="3400" b="0" i="0">
                <a:solidFill>
                  <a:srgbClr val="0A2240"/>
                </a:solidFill>
                <a:latin typeface="Arial"/>
              </a:rPr>
              <a:t>Its operations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376779" cy="768096"/>
          </a:xfrm>
          <a:prstGeom prst="rect">
            <a:avLst/>
          </a:prstGeom>
          <a:noFill/>
        </p:spPr>
        <p:txBody>
          <a:bodyPr wrap="none" lIns="0" rIns="0">
            <a:noAutofit/>
          </a:bodyPr>
          <a:lstStyle/>
          <a:p>
            <a:pPr algn="l"/>
            <a:r>
              <a:rPr sz="4200" b="1" i="0">
                <a:solidFill>
                  <a:srgbClr val="0072CE"/>
                </a:solidFill>
                <a:latin typeface="Arial"/>
              </a:rPr>
              <a:t>The Lines Between Classes</a:t>
            </a:r>
          </a:p>
        </p:txBody>
      </p:sp>
      <p:sp>
        <p:nvSpPr>
          <p:cNvPr id="3" name="TextBox 2"/>
          <p:cNvSpPr txBox="1"/>
          <p:nvPr/>
        </p:nvSpPr>
        <p:spPr>
          <a:xfrm>
            <a:off x="457200" y="1499616"/>
            <a:ext cx="3437907" cy="518159"/>
          </a:xfrm>
          <a:prstGeom prst="rect">
            <a:avLst/>
          </a:prstGeom>
          <a:noFill/>
        </p:spPr>
        <p:txBody>
          <a:bodyPr wrap="none" lIns="0" rIns="0">
            <a:noAutofit/>
          </a:bodyPr>
          <a:lstStyle/>
          <a:p>
            <a:pPr algn="l"/>
            <a:r>
              <a:rPr sz="3400" b="1" i="0">
                <a:solidFill>
                  <a:srgbClr val="0072CE"/>
                </a:solidFill>
                <a:latin typeface="Arial"/>
              </a:rPr>
              <a:t>Line end</a:t>
            </a:r>
          </a:p>
        </p:txBody>
      </p:sp>
      <p:sp>
        <p:nvSpPr>
          <p:cNvPr id="4" name="TextBox 3"/>
          <p:cNvSpPr txBox="1"/>
          <p:nvPr/>
        </p:nvSpPr>
        <p:spPr>
          <a:xfrm>
            <a:off x="4443747" y="1499616"/>
            <a:ext cx="4229822" cy="518159"/>
          </a:xfrm>
          <a:prstGeom prst="rect">
            <a:avLst/>
          </a:prstGeom>
          <a:noFill/>
        </p:spPr>
        <p:txBody>
          <a:bodyPr wrap="none" lIns="0" rIns="0">
            <a:noAutofit/>
          </a:bodyPr>
          <a:lstStyle/>
          <a:p>
            <a:pPr algn="l"/>
            <a:r>
              <a:rPr sz="3400" b="1" i="0">
                <a:solidFill>
                  <a:srgbClr val="0072CE"/>
                </a:solidFill>
                <a:latin typeface="Arial"/>
              </a:rPr>
              <a:t>Means</a:t>
            </a:r>
          </a:p>
        </p:txBody>
      </p:sp>
      <p:sp>
        <p:nvSpPr>
          <p:cNvPr id="5" name="Rectangle 4"/>
          <p:cNvSpPr/>
          <p:nvPr/>
        </p:nvSpPr>
        <p:spPr>
          <a:xfrm>
            <a:off x="457200" y="2072639"/>
            <a:ext cx="8216369"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4714081" cy="633984"/>
          </a:xfrm>
          <a:prstGeom prst="rect">
            <a:avLst/>
          </a:prstGeom>
          <a:noFill/>
        </p:spPr>
        <p:txBody>
          <a:bodyPr wrap="none" lIns="0" rIns="0">
            <a:noAutofit/>
          </a:bodyPr>
          <a:lstStyle/>
          <a:p>
            <a:pPr algn="l"/>
            <a:r>
              <a:rPr sz="3400" b="0" i="0">
                <a:solidFill>
                  <a:srgbClr val="0A2240"/>
                </a:solidFill>
                <a:latin typeface="Arial"/>
              </a:rPr>
              <a:t>Hollow triangle</a:t>
            </a:r>
          </a:p>
        </p:txBody>
      </p:sp>
      <p:sp>
        <p:nvSpPr>
          <p:cNvPr id="7" name="TextBox 6"/>
          <p:cNvSpPr txBox="1"/>
          <p:nvPr/>
        </p:nvSpPr>
        <p:spPr>
          <a:xfrm>
            <a:off x="4443747" y="2401823"/>
            <a:ext cx="4229822" cy="633984"/>
          </a:xfrm>
          <a:prstGeom prst="rect">
            <a:avLst/>
          </a:prstGeom>
          <a:noFill/>
        </p:spPr>
        <p:txBody>
          <a:bodyPr wrap="none" lIns="0" rIns="0">
            <a:noAutofit/>
          </a:bodyPr>
          <a:lstStyle/>
          <a:p>
            <a:pPr algn="l"/>
            <a:r>
              <a:rPr sz="3400" b="0" i="0">
                <a:solidFill>
                  <a:srgbClr val="0A2240"/>
                </a:solidFill>
                <a:latin typeface="Arial"/>
              </a:rPr>
              <a:t>Is a kind of</a:t>
            </a:r>
          </a:p>
        </p:txBody>
      </p:sp>
      <p:sp>
        <p:nvSpPr>
          <p:cNvPr id="8" name="TextBox 7"/>
          <p:cNvSpPr txBox="1"/>
          <p:nvPr/>
        </p:nvSpPr>
        <p:spPr>
          <a:xfrm>
            <a:off x="457200" y="3310127"/>
            <a:ext cx="4675961" cy="633984"/>
          </a:xfrm>
          <a:prstGeom prst="rect">
            <a:avLst/>
          </a:prstGeom>
          <a:noFill/>
        </p:spPr>
        <p:txBody>
          <a:bodyPr wrap="none" lIns="0" rIns="0">
            <a:noAutofit/>
          </a:bodyPr>
          <a:lstStyle/>
          <a:p>
            <a:pPr algn="l"/>
            <a:r>
              <a:rPr sz="3400" b="0" i="0">
                <a:solidFill>
                  <a:srgbClr val="0A2240"/>
                </a:solidFill>
                <a:latin typeface="Arial"/>
              </a:rPr>
              <a:t>Filled diamond</a:t>
            </a:r>
          </a:p>
        </p:txBody>
      </p:sp>
      <p:sp>
        <p:nvSpPr>
          <p:cNvPr id="9" name="TextBox 8"/>
          <p:cNvSpPr txBox="1"/>
          <p:nvPr/>
        </p:nvSpPr>
        <p:spPr>
          <a:xfrm>
            <a:off x="4443747" y="3310127"/>
            <a:ext cx="6365379" cy="633984"/>
          </a:xfrm>
          <a:prstGeom prst="rect">
            <a:avLst/>
          </a:prstGeom>
          <a:noFill/>
        </p:spPr>
        <p:txBody>
          <a:bodyPr wrap="none" lIns="0" rIns="0">
            <a:noAutofit/>
          </a:bodyPr>
          <a:lstStyle/>
          <a:p>
            <a:pPr algn="l"/>
            <a:r>
              <a:rPr sz="3400" b="0" i="0">
                <a:solidFill>
                  <a:srgbClr val="0A2240"/>
                </a:solidFill>
                <a:latin typeface="Arial"/>
              </a:rPr>
              <a:t>Owns, and dies with</a:t>
            </a:r>
          </a:p>
        </p:txBody>
      </p:sp>
      <p:sp>
        <p:nvSpPr>
          <p:cNvPr id="10" name="TextBox 9"/>
          <p:cNvSpPr txBox="1"/>
          <p:nvPr/>
        </p:nvSpPr>
        <p:spPr>
          <a:xfrm>
            <a:off x="457200" y="4218431"/>
            <a:ext cx="5098315" cy="633984"/>
          </a:xfrm>
          <a:prstGeom prst="rect">
            <a:avLst/>
          </a:prstGeom>
          <a:noFill/>
        </p:spPr>
        <p:txBody>
          <a:bodyPr wrap="none" lIns="0" rIns="0">
            <a:noAutofit/>
          </a:bodyPr>
          <a:lstStyle/>
          <a:p>
            <a:pPr algn="l"/>
            <a:r>
              <a:rPr sz="3400" b="0" i="0">
                <a:solidFill>
                  <a:srgbClr val="0A2240"/>
                </a:solidFill>
                <a:latin typeface="Arial"/>
              </a:rPr>
              <a:t>Hollow diamond</a:t>
            </a:r>
          </a:p>
        </p:txBody>
      </p:sp>
      <p:sp>
        <p:nvSpPr>
          <p:cNvPr id="11" name="TextBox 10"/>
          <p:cNvSpPr txBox="1"/>
          <p:nvPr/>
        </p:nvSpPr>
        <p:spPr>
          <a:xfrm>
            <a:off x="4443747" y="4218431"/>
            <a:ext cx="5021401" cy="633984"/>
          </a:xfrm>
          <a:prstGeom prst="rect">
            <a:avLst/>
          </a:prstGeom>
          <a:noFill/>
        </p:spPr>
        <p:txBody>
          <a:bodyPr wrap="none" lIns="0" rIns="0">
            <a:noAutofit/>
          </a:bodyPr>
          <a:lstStyle/>
          <a:p>
            <a:pPr algn="l"/>
            <a:r>
              <a:rPr sz="3400" b="0" i="0">
                <a:solidFill>
                  <a:srgbClr val="0A2240"/>
                </a:solidFill>
                <a:latin typeface="Arial"/>
              </a:rPr>
              <a:t>Has, but shares</a:t>
            </a:r>
          </a:p>
        </p:txBody>
      </p:sp>
      <p:sp>
        <p:nvSpPr>
          <p:cNvPr id="12" name="TextBox 11"/>
          <p:cNvSpPr txBox="1"/>
          <p:nvPr/>
        </p:nvSpPr>
        <p:spPr>
          <a:xfrm>
            <a:off x="457200" y="5126735"/>
            <a:ext cx="3437907" cy="633984"/>
          </a:xfrm>
          <a:prstGeom prst="rect">
            <a:avLst/>
          </a:prstGeom>
          <a:noFill/>
        </p:spPr>
        <p:txBody>
          <a:bodyPr wrap="none" lIns="0" rIns="0">
            <a:noAutofit/>
          </a:bodyPr>
          <a:lstStyle/>
          <a:p>
            <a:pPr algn="l"/>
            <a:r>
              <a:rPr sz="3400" b="0" i="0">
                <a:solidFill>
                  <a:srgbClr val="0A2240"/>
                </a:solidFill>
                <a:latin typeface="Arial"/>
              </a:rPr>
              <a:t>Plain line</a:t>
            </a:r>
          </a:p>
        </p:txBody>
      </p:sp>
      <p:sp>
        <p:nvSpPr>
          <p:cNvPr id="13" name="TextBox 12"/>
          <p:cNvSpPr txBox="1"/>
          <p:nvPr/>
        </p:nvSpPr>
        <p:spPr>
          <a:xfrm>
            <a:off x="4443747" y="5126735"/>
            <a:ext cx="4229822" cy="633984"/>
          </a:xfrm>
          <a:prstGeom prst="rect">
            <a:avLst/>
          </a:prstGeom>
          <a:noFill/>
        </p:spPr>
        <p:txBody>
          <a:bodyPr wrap="none" lIns="0" rIns="0">
            <a:noAutofit/>
          </a:bodyPr>
          <a:lstStyle/>
          <a:p>
            <a:pPr algn="l"/>
            <a:r>
              <a:rPr sz="3400" b="0" i="0">
                <a:solidFill>
                  <a:srgbClr val="0A2240"/>
                </a:solidFill>
                <a:latin typeface="Arial"/>
              </a:rPr>
              <a:t>Knows about</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1024115" cy="1005840"/>
          </a:xfrm>
          <a:prstGeom prst="rect">
            <a:avLst/>
          </a:prstGeom>
          <a:noFill/>
        </p:spPr>
        <p:txBody>
          <a:bodyPr wrap="none" lIns="0" rIns="0">
            <a:noAutofit/>
          </a:bodyPr>
          <a:lstStyle/>
          <a:p>
            <a:pPr algn="l"/>
            <a:r>
              <a:rPr sz="6000" b="1" i="0">
                <a:solidFill>
                  <a:srgbClr val="0072CE"/>
                </a:solidFill>
                <a:latin typeface="Arial"/>
              </a:rPr>
              <a:t>Sequence diagram</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Who talks to whom, and in what order</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A Sequence Diagram, Concretely</a:t>
            </a:r>
          </a:p>
        </p:txBody>
      </p:sp>
      <p:pic>
        <p:nvPicPr>
          <p:cNvPr id="3" name="Picture 2" descr="seq.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6569472" cy="609600"/>
          </a:xfrm>
          <a:prstGeom prst="rect">
            <a:avLst/>
          </a:prstGeom>
          <a:noFill/>
        </p:spPr>
        <p:txBody>
          <a:bodyPr wrap="none" lIns="0" rIns="0">
            <a:noAutofit/>
          </a:bodyPr>
          <a:lstStyle/>
          <a:p>
            <a:pPr algn="l"/>
            <a:r>
              <a:rPr sz="3400" b="0" i="0">
                <a:solidFill>
                  <a:srgbClr val="0A2240"/>
                </a:solidFill>
                <a:latin typeface="Arial"/>
              </a:rPr>
              <a:t>Time runs downward</a:t>
            </a:r>
          </a:p>
        </p:txBody>
      </p:sp>
      <p:sp>
        <p:nvSpPr>
          <p:cNvPr id="5" name="TextBox 4"/>
          <p:cNvSpPr txBox="1"/>
          <p:nvPr/>
        </p:nvSpPr>
        <p:spPr>
          <a:xfrm>
            <a:off x="457200" y="2383536"/>
            <a:ext cx="7017801" cy="609600"/>
          </a:xfrm>
          <a:prstGeom prst="rect">
            <a:avLst/>
          </a:prstGeom>
          <a:noFill/>
        </p:spPr>
        <p:txBody>
          <a:bodyPr wrap="none" lIns="0" rIns="0">
            <a:noAutofit/>
          </a:bodyPr>
          <a:lstStyle/>
          <a:p>
            <a:pPr algn="l"/>
            <a:r>
              <a:rPr sz="3400" b="0" i="0">
                <a:solidFill>
                  <a:srgbClr val="0A2240"/>
                </a:solidFill>
                <a:latin typeface="Arial"/>
              </a:rPr>
              <a:t>Solid arrows: requests</a:t>
            </a:r>
          </a:p>
        </p:txBody>
      </p:sp>
      <p:sp>
        <p:nvSpPr>
          <p:cNvPr id="6" name="TextBox 5"/>
          <p:cNvSpPr txBox="1"/>
          <p:nvPr/>
        </p:nvSpPr>
        <p:spPr>
          <a:xfrm>
            <a:off x="457200" y="3267456"/>
            <a:ext cx="7248208" cy="609600"/>
          </a:xfrm>
          <a:prstGeom prst="rect">
            <a:avLst/>
          </a:prstGeom>
          <a:noFill/>
        </p:spPr>
        <p:txBody>
          <a:bodyPr wrap="none" lIns="0" rIns="0">
            <a:noAutofit/>
          </a:bodyPr>
          <a:lstStyle/>
          <a:p>
            <a:pPr algn="l"/>
            <a:r>
              <a:rPr sz="3400" b="0" i="0">
                <a:solidFill>
                  <a:srgbClr val="0A2240"/>
                </a:solidFill>
                <a:latin typeface="Arial"/>
              </a:rPr>
              <a:t>Dashed arrows: replies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11</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Boxes That Change the Flow</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opt: happens only if true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alt: one branch or the other</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loop: repeats while true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par: happens at the same time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State machine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The stages one thing moves through</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628894" cy="768096"/>
          </a:xfrm>
          <a:prstGeom prst="rect">
            <a:avLst/>
          </a:prstGeom>
          <a:noFill/>
        </p:spPr>
        <p:txBody>
          <a:bodyPr wrap="none" lIns="0" rIns="0">
            <a:noAutofit/>
          </a:bodyPr>
          <a:lstStyle/>
          <a:p>
            <a:pPr algn="l"/>
            <a:r>
              <a:rPr sz="4200" b="1" i="0">
                <a:solidFill>
                  <a:srgbClr val="0072CE"/>
                </a:solidFill>
                <a:latin typeface="Arial"/>
              </a:rPr>
              <a:t>A State Diagram, Concretely</a:t>
            </a:r>
          </a:p>
        </p:txBody>
      </p:sp>
      <p:pic>
        <p:nvPicPr>
          <p:cNvPr id="3" name="Picture 2" descr="state.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5866110" cy="609600"/>
          </a:xfrm>
          <a:prstGeom prst="rect">
            <a:avLst/>
          </a:prstGeom>
          <a:noFill/>
        </p:spPr>
        <p:txBody>
          <a:bodyPr wrap="none" lIns="0" rIns="0">
            <a:noAutofit/>
          </a:bodyPr>
          <a:lstStyle/>
          <a:p>
            <a:pPr algn="l"/>
            <a:r>
              <a:rPr sz="3400" b="0" i="0">
                <a:solidFill>
                  <a:srgbClr val="0A2240"/>
                </a:solidFill>
                <a:latin typeface="Arial"/>
              </a:rPr>
              <a:t>Filled dot: the start</a:t>
            </a:r>
          </a:p>
        </p:txBody>
      </p:sp>
      <p:sp>
        <p:nvSpPr>
          <p:cNvPr id="5" name="TextBox 4"/>
          <p:cNvSpPr txBox="1"/>
          <p:nvPr/>
        </p:nvSpPr>
        <p:spPr>
          <a:xfrm>
            <a:off x="457200" y="2383536"/>
            <a:ext cx="6213574" cy="609600"/>
          </a:xfrm>
          <a:prstGeom prst="rect">
            <a:avLst/>
          </a:prstGeom>
          <a:noFill/>
        </p:spPr>
        <p:txBody>
          <a:bodyPr wrap="none" lIns="0" rIns="0">
            <a:noAutofit/>
          </a:bodyPr>
          <a:lstStyle/>
          <a:p>
            <a:pPr algn="l"/>
            <a:r>
              <a:rPr sz="3400" b="0" i="0">
                <a:solidFill>
                  <a:srgbClr val="0A2240"/>
                </a:solidFill>
                <a:latin typeface="Arial"/>
              </a:rPr>
              <a:t>Ringed dot: the end</a:t>
            </a:r>
          </a:p>
        </p:txBody>
      </p:sp>
      <p:sp>
        <p:nvSpPr>
          <p:cNvPr id="6" name="TextBox 5"/>
          <p:cNvSpPr txBox="1"/>
          <p:nvPr/>
        </p:nvSpPr>
        <p:spPr>
          <a:xfrm>
            <a:off x="457200" y="3267456"/>
            <a:ext cx="7670561" cy="609600"/>
          </a:xfrm>
          <a:prstGeom prst="rect">
            <a:avLst/>
          </a:prstGeom>
          <a:noFill/>
        </p:spPr>
        <p:txBody>
          <a:bodyPr wrap="none" lIns="0" rIns="0">
            <a:noAutofit/>
          </a:bodyPr>
          <a:lstStyle/>
          <a:p>
            <a:pPr algn="l"/>
            <a:r>
              <a:rPr sz="3400" b="0" i="0">
                <a:solidFill>
                  <a:srgbClr val="0A2240"/>
                </a:solidFill>
                <a:latin typeface="Arial"/>
              </a:rPr>
              <a:t>Labels say why it moves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14</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Which Diagram, When</a:t>
            </a:r>
          </a:p>
        </p:txBody>
      </p:sp>
      <p:sp>
        <p:nvSpPr>
          <p:cNvPr id="3" name="TextBox 2"/>
          <p:cNvSpPr txBox="1"/>
          <p:nvPr/>
        </p:nvSpPr>
        <p:spPr>
          <a:xfrm>
            <a:off x="457200" y="1499616"/>
            <a:ext cx="5635030" cy="518159"/>
          </a:xfrm>
          <a:prstGeom prst="rect">
            <a:avLst/>
          </a:prstGeom>
          <a:noFill/>
        </p:spPr>
        <p:txBody>
          <a:bodyPr wrap="none" lIns="0" rIns="0">
            <a:noAutofit/>
          </a:bodyPr>
          <a:lstStyle/>
          <a:p>
            <a:pPr algn="l"/>
            <a:r>
              <a:rPr sz="3400" b="1" i="0">
                <a:solidFill>
                  <a:srgbClr val="0072CE"/>
                </a:solidFill>
                <a:latin typeface="Arial"/>
              </a:rPr>
              <a:t>If you are asking</a:t>
            </a:r>
          </a:p>
        </p:txBody>
      </p:sp>
      <p:sp>
        <p:nvSpPr>
          <p:cNvPr id="4" name="TextBox 3"/>
          <p:cNvSpPr txBox="1"/>
          <p:nvPr/>
        </p:nvSpPr>
        <p:spPr>
          <a:xfrm>
            <a:off x="6220073" y="1499616"/>
            <a:ext cx="3990519" cy="518159"/>
          </a:xfrm>
          <a:prstGeom prst="rect">
            <a:avLst/>
          </a:prstGeom>
          <a:noFill/>
        </p:spPr>
        <p:txBody>
          <a:bodyPr wrap="none" lIns="0" rIns="0">
            <a:noAutofit/>
          </a:bodyPr>
          <a:lstStyle/>
          <a:p>
            <a:pPr algn="l"/>
            <a:r>
              <a:rPr sz="3400" b="1" i="0">
                <a:solidFill>
                  <a:srgbClr val="0072CE"/>
                </a:solidFill>
                <a:latin typeface="Arial"/>
              </a:rPr>
              <a:t>Draw a</a:t>
            </a:r>
          </a:p>
        </p:txBody>
      </p:sp>
      <p:sp>
        <p:nvSpPr>
          <p:cNvPr id="5" name="Rectangle 4"/>
          <p:cNvSpPr/>
          <p:nvPr/>
        </p:nvSpPr>
        <p:spPr>
          <a:xfrm>
            <a:off x="457200" y="2072639"/>
            <a:ext cx="9753392"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6096179" cy="633984"/>
          </a:xfrm>
          <a:prstGeom prst="rect">
            <a:avLst/>
          </a:prstGeom>
          <a:noFill/>
        </p:spPr>
        <p:txBody>
          <a:bodyPr wrap="none" lIns="0" rIns="0">
            <a:noAutofit/>
          </a:bodyPr>
          <a:lstStyle/>
          <a:p>
            <a:pPr algn="l"/>
            <a:r>
              <a:rPr sz="3400" b="0" i="0">
                <a:solidFill>
                  <a:srgbClr val="0A2240"/>
                </a:solidFill>
                <a:latin typeface="Arial"/>
              </a:rPr>
              <a:t>What is it made of?</a:t>
            </a:r>
          </a:p>
        </p:txBody>
      </p:sp>
      <p:sp>
        <p:nvSpPr>
          <p:cNvPr id="7" name="TextBox 6"/>
          <p:cNvSpPr txBox="1"/>
          <p:nvPr/>
        </p:nvSpPr>
        <p:spPr>
          <a:xfrm>
            <a:off x="6220073" y="2401823"/>
            <a:ext cx="4598372" cy="633984"/>
          </a:xfrm>
          <a:prstGeom prst="rect">
            <a:avLst/>
          </a:prstGeom>
          <a:noFill/>
        </p:spPr>
        <p:txBody>
          <a:bodyPr wrap="none" lIns="0" rIns="0">
            <a:noAutofit/>
          </a:bodyPr>
          <a:lstStyle/>
          <a:p>
            <a:pPr algn="l"/>
            <a:r>
              <a:rPr sz="3400" b="0" i="0">
                <a:solidFill>
                  <a:srgbClr val="0A2240"/>
                </a:solidFill>
                <a:latin typeface="Arial"/>
              </a:rPr>
              <a:t>Class diagram</a:t>
            </a:r>
          </a:p>
        </p:txBody>
      </p:sp>
      <p:sp>
        <p:nvSpPr>
          <p:cNvPr id="8" name="TextBox 7"/>
          <p:cNvSpPr txBox="1"/>
          <p:nvPr/>
        </p:nvSpPr>
        <p:spPr>
          <a:xfrm>
            <a:off x="457200" y="3310127"/>
            <a:ext cx="6403161" cy="633984"/>
          </a:xfrm>
          <a:prstGeom prst="rect">
            <a:avLst/>
          </a:prstGeom>
          <a:noFill/>
        </p:spPr>
        <p:txBody>
          <a:bodyPr wrap="none" lIns="0" rIns="0">
            <a:noAutofit/>
          </a:bodyPr>
          <a:lstStyle/>
          <a:p>
            <a:pPr algn="l"/>
            <a:r>
              <a:rPr sz="3400" b="0" i="0">
                <a:solidFill>
                  <a:srgbClr val="0A2240"/>
                </a:solidFill>
                <a:latin typeface="Arial"/>
              </a:rPr>
              <a:t>Who talks to whom?</a:t>
            </a:r>
          </a:p>
        </p:txBody>
      </p:sp>
      <p:sp>
        <p:nvSpPr>
          <p:cNvPr id="9" name="TextBox 8"/>
          <p:cNvSpPr txBox="1"/>
          <p:nvPr/>
        </p:nvSpPr>
        <p:spPr>
          <a:xfrm>
            <a:off x="6220073" y="3310127"/>
            <a:ext cx="5971927" cy="633984"/>
          </a:xfrm>
          <a:prstGeom prst="rect">
            <a:avLst/>
          </a:prstGeom>
          <a:noFill/>
        </p:spPr>
        <p:txBody>
          <a:bodyPr wrap="none" lIns="0" rIns="0">
            <a:noAutofit/>
          </a:bodyPr>
          <a:lstStyle/>
          <a:p>
            <a:pPr algn="l"/>
            <a:r>
              <a:rPr sz="3400" b="0" i="0">
                <a:solidFill>
                  <a:srgbClr val="0A2240"/>
                </a:solidFill>
                <a:latin typeface="Arial"/>
              </a:rPr>
              <a:t>Sequence diagram</a:t>
            </a:r>
          </a:p>
        </p:txBody>
      </p:sp>
      <p:sp>
        <p:nvSpPr>
          <p:cNvPr id="10" name="TextBox 9"/>
          <p:cNvSpPr txBox="1"/>
          <p:nvPr/>
        </p:nvSpPr>
        <p:spPr>
          <a:xfrm>
            <a:off x="457200" y="4218431"/>
            <a:ext cx="7940436" cy="633984"/>
          </a:xfrm>
          <a:prstGeom prst="rect">
            <a:avLst/>
          </a:prstGeom>
          <a:noFill/>
        </p:spPr>
        <p:txBody>
          <a:bodyPr wrap="none" lIns="0" rIns="0">
            <a:noAutofit/>
          </a:bodyPr>
          <a:lstStyle/>
          <a:p>
            <a:pPr algn="l"/>
            <a:r>
              <a:rPr sz="3400" b="0" i="0">
                <a:solidFill>
                  <a:srgbClr val="0A2240"/>
                </a:solidFill>
                <a:latin typeface="Arial"/>
              </a:rPr>
              <a:t>What stages can it be in?</a:t>
            </a:r>
          </a:p>
        </p:txBody>
      </p:sp>
      <p:sp>
        <p:nvSpPr>
          <p:cNvPr id="11" name="TextBox 10"/>
          <p:cNvSpPr txBox="1"/>
          <p:nvPr/>
        </p:nvSpPr>
        <p:spPr>
          <a:xfrm>
            <a:off x="6220073" y="4218431"/>
            <a:ext cx="4484012" cy="633984"/>
          </a:xfrm>
          <a:prstGeom prst="rect">
            <a:avLst/>
          </a:prstGeom>
          <a:noFill/>
        </p:spPr>
        <p:txBody>
          <a:bodyPr wrap="none" lIns="0" rIns="0">
            <a:noAutofit/>
          </a:bodyPr>
          <a:lstStyle/>
          <a:p>
            <a:pPr algn="l"/>
            <a:r>
              <a:rPr sz="3400" b="0" i="0">
                <a:solidFill>
                  <a:srgbClr val="0A2240"/>
                </a:solidFill>
                <a:latin typeface="Arial"/>
              </a:rPr>
              <a:t>State diagram</a:t>
            </a:r>
          </a:p>
        </p:txBody>
      </p:sp>
      <p:sp>
        <p:nvSpPr>
          <p:cNvPr id="12" name="TextBox 11"/>
          <p:cNvSpPr txBox="1"/>
          <p:nvPr/>
        </p:nvSpPr>
        <p:spPr>
          <a:xfrm>
            <a:off x="457200" y="5126735"/>
            <a:ext cx="6558001" cy="633984"/>
          </a:xfrm>
          <a:prstGeom prst="rect">
            <a:avLst/>
          </a:prstGeom>
          <a:noFill/>
        </p:spPr>
        <p:txBody>
          <a:bodyPr wrap="none" lIns="0" rIns="0">
            <a:noAutofit/>
          </a:bodyPr>
          <a:lstStyle/>
          <a:p>
            <a:pPr algn="l"/>
            <a:r>
              <a:rPr sz="3400" b="0" i="0">
                <a:solidFill>
                  <a:srgbClr val="0A2240"/>
                </a:solidFill>
                <a:latin typeface="Arial"/>
              </a:rPr>
              <a:t>What can a user do?</a:t>
            </a:r>
          </a:p>
        </p:txBody>
      </p:sp>
      <p:sp>
        <p:nvSpPr>
          <p:cNvPr id="13" name="TextBox 12"/>
          <p:cNvSpPr txBox="1"/>
          <p:nvPr/>
        </p:nvSpPr>
        <p:spPr>
          <a:xfrm>
            <a:off x="6220073" y="5126735"/>
            <a:ext cx="5750739" cy="633984"/>
          </a:xfrm>
          <a:prstGeom prst="rect">
            <a:avLst/>
          </a:prstGeom>
          <a:noFill/>
        </p:spPr>
        <p:txBody>
          <a:bodyPr wrap="none" lIns="0" rIns="0">
            <a:noAutofit/>
          </a:bodyPr>
          <a:lstStyle/>
          <a:p>
            <a:pPr algn="l"/>
            <a:r>
              <a:rPr sz="3400" b="0" i="0">
                <a:solidFill>
                  <a:srgbClr val="0A2240"/>
                </a:solidFill>
                <a:latin typeface="Arial"/>
              </a:rPr>
              <a:t>Use case diagram</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Tools for Drawing It</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Pen and paper, honestly</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Mermaid: diagrams written as text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PlantUML: also text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draw.io: drag and drop</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Sources</a:t>
            </a:r>
          </a:p>
        </p:txBody>
      </p:sp>
      <p:sp>
        <p:nvSpPr>
          <p:cNvPr id="3" name="TextBox 2"/>
          <p:cNvSpPr txBox="1"/>
          <p:nvPr/>
        </p:nvSpPr>
        <p:spPr>
          <a:xfrm>
            <a:off x="457200" y="1499616"/>
            <a:ext cx="3941815" cy="518159"/>
          </a:xfrm>
          <a:prstGeom prst="rect">
            <a:avLst/>
          </a:prstGeom>
          <a:noFill/>
        </p:spPr>
        <p:txBody>
          <a:bodyPr wrap="none" lIns="0" rIns="0">
            <a:noAutofit/>
          </a:bodyPr>
          <a:lstStyle/>
          <a:p>
            <a:pPr algn="l"/>
            <a:r>
              <a:rPr sz="3400" b="1" i="0">
                <a:solidFill>
                  <a:srgbClr val="0072CE"/>
                </a:solidFill>
                <a:latin typeface="Arial"/>
              </a:rPr>
              <a:t>Slide</a:t>
            </a:r>
          </a:p>
        </p:txBody>
      </p:sp>
      <p:sp>
        <p:nvSpPr>
          <p:cNvPr id="4" name="TextBox 3"/>
          <p:cNvSpPr txBox="1"/>
          <p:nvPr/>
        </p:nvSpPr>
        <p:spPr>
          <a:xfrm>
            <a:off x="4947655" y="1499616"/>
            <a:ext cx="4637164" cy="518159"/>
          </a:xfrm>
          <a:prstGeom prst="rect">
            <a:avLst/>
          </a:prstGeom>
          <a:noFill/>
        </p:spPr>
        <p:txBody>
          <a:bodyPr wrap="none" lIns="0" rIns="0">
            <a:noAutofit/>
          </a:bodyPr>
          <a:lstStyle/>
          <a:p>
            <a:pPr algn="l"/>
            <a:r>
              <a:rPr sz="3400" b="1" i="0">
                <a:solidFill>
                  <a:srgbClr val="0072CE"/>
                </a:solidFill>
                <a:latin typeface="Arial"/>
              </a:rPr>
              <a:t>Taken from</a:t>
            </a:r>
          </a:p>
        </p:txBody>
      </p:sp>
      <p:sp>
        <p:nvSpPr>
          <p:cNvPr id="5" name="Rectangle 4"/>
          <p:cNvSpPr/>
          <p:nvPr/>
        </p:nvSpPr>
        <p:spPr>
          <a:xfrm>
            <a:off x="457200" y="2072639"/>
            <a:ext cx="9127619"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4100115" cy="633984"/>
          </a:xfrm>
          <a:prstGeom prst="rect">
            <a:avLst/>
          </a:prstGeom>
          <a:noFill/>
        </p:spPr>
        <p:txBody>
          <a:bodyPr wrap="none" lIns="0" rIns="0">
            <a:noAutofit/>
          </a:bodyPr>
          <a:lstStyle/>
          <a:p>
            <a:pPr algn="l"/>
            <a:r>
              <a:rPr sz="3400" b="0" i="0">
                <a:solidFill>
                  <a:srgbClr val="0A2240"/>
                </a:solidFill>
                <a:latin typeface="Arial"/>
              </a:rPr>
              <a:t>Specification</a:t>
            </a:r>
          </a:p>
        </p:txBody>
      </p:sp>
      <p:sp>
        <p:nvSpPr>
          <p:cNvPr id="7" name="TextBox 6"/>
          <p:cNvSpPr txBox="1"/>
          <p:nvPr/>
        </p:nvSpPr>
        <p:spPr>
          <a:xfrm>
            <a:off x="4947655" y="2401823"/>
            <a:ext cx="6019264" cy="633984"/>
          </a:xfrm>
          <a:prstGeom prst="rect">
            <a:avLst/>
          </a:prstGeom>
          <a:noFill/>
        </p:spPr>
        <p:txBody>
          <a:bodyPr wrap="none" lIns="0" rIns="0">
            <a:noAutofit/>
          </a:bodyPr>
          <a:lstStyle/>
          <a:p>
            <a:pPr algn="l"/>
            <a:r>
              <a:rPr sz="3400" b="0" i="0">
                <a:solidFill>
                  <a:srgbClr val="0A2240"/>
                </a:solidFill>
                <a:latin typeface="Arial"/>
              </a:rPr>
              <a:t>omg.org/spec/UML</a:t>
            </a:r>
          </a:p>
        </p:txBody>
      </p:sp>
      <p:sp>
        <p:nvSpPr>
          <p:cNvPr id="8" name="TextBox 7"/>
          <p:cNvSpPr txBox="1"/>
          <p:nvPr/>
        </p:nvSpPr>
        <p:spPr>
          <a:xfrm>
            <a:off x="457200" y="3310127"/>
            <a:ext cx="5904568" cy="633984"/>
          </a:xfrm>
          <a:prstGeom prst="rect">
            <a:avLst/>
          </a:prstGeom>
          <a:noFill/>
        </p:spPr>
        <p:txBody>
          <a:bodyPr wrap="none" lIns="0" rIns="0">
            <a:noAutofit/>
          </a:bodyPr>
          <a:lstStyle/>
          <a:p>
            <a:pPr algn="l"/>
            <a:r>
              <a:rPr sz="3400" b="0" i="0">
                <a:solidFill>
                  <a:srgbClr val="0A2240"/>
                </a:solidFill>
                <a:latin typeface="Arial"/>
              </a:rPr>
              <a:t>The diagram types</a:t>
            </a:r>
          </a:p>
        </p:txBody>
      </p:sp>
      <p:sp>
        <p:nvSpPr>
          <p:cNvPr id="9" name="TextBox 8"/>
          <p:cNvSpPr txBox="1"/>
          <p:nvPr/>
        </p:nvSpPr>
        <p:spPr>
          <a:xfrm>
            <a:off x="4947655" y="3310127"/>
            <a:ext cx="5020388" cy="633984"/>
          </a:xfrm>
          <a:prstGeom prst="rect">
            <a:avLst/>
          </a:prstGeom>
          <a:noFill/>
        </p:spPr>
        <p:txBody>
          <a:bodyPr wrap="none" lIns="0" rIns="0">
            <a:noAutofit/>
          </a:bodyPr>
          <a:lstStyle/>
          <a:p>
            <a:pPr algn="l"/>
            <a:r>
              <a:rPr sz="3400" b="0" i="0">
                <a:solidFill>
                  <a:srgbClr val="0A2240"/>
                </a:solidFill>
                <a:latin typeface="Arial"/>
              </a:rPr>
              <a:t>Wikipedia, UML</a:t>
            </a:r>
          </a:p>
        </p:txBody>
      </p:sp>
      <p:sp>
        <p:nvSpPr>
          <p:cNvPr id="10" name="TextBox 9"/>
          <p:cNvSpPr txBox="1"/>
          <p:nvPr/>
        </p:nvSpPr>
        <p:spPr>
          <a:xfrm>
            <a:off x="457200" y="4218431"/>
            <a:ext cx="5904230" cy="633984"/>
          </a:xfrm>
          <a:prstGeom prst="rect">
            <a:avLst/>
          </a:prstGeom>
          <a:noFill/>
        </p:spPr>
        <p:txBody>
          <a:bodyPr wrap="none" lIns="0" rIns="0">
            <a:noAutofit/>
          </a:bodyPr>
          <a:lstStyle/>
          <a:p>
            <a:pPr algn="l"/>
            <a:r>
              <a:rPr sz="3400" b="0" i="0">
                <a:solidFill>
                  <a:srgbClr val="0A2240"/>
                </a:solidFill>
                <a:latin typeface="Arial"/>
              </a:rPr>
              <a:t>Example diagrams</a:t>
            </a:r>
          </a:p>
        </p:txBody>
      </p:sp>
      <p:sp>
        <p:nvSpPr>
          <p:cNvPr id="11" name="TextBox 10"/>
          <p:cNvSpPr txBox="1"/>
          <p:nvPr/>
        </p:nvSpPr>
        <p:spPr>
          <a:xfrm>
            <a:off x="4947655" y="4218431"/>
            <a:ext cx="6479064" cy="633984"/>
          </a:xfrm>
          <a:prstGeom prst="rect">
            <a:avLst/>
          </a:prstGeom>
          <a:noFill/>
        </p:spPr>
        <p:txBody>
          <a:bodyPr wrap="none" lIns="0" rIns="0">
            <a:noAutofit/>
          </a:bodyPr>
          <a:lstStyle/>
          <a:p>
            <a:pPr algn="l"/>
            <a:r>
              <a:rPr sz="3400" b="0" i="0">
                <a:solidFill>
                  <a:srgbClr val="0A2240"/>
                </a:solidFill>
                <a:latin typeface="Arial"/>
              </a:rPr>
              <a:t>Drawn with Mermaid</a:t>
            </a:r>
          </a:p>
        </p:txBody>
      </p:sp>
      <p:sp>
        <p:nvSpPr>
          <p:cNvPr id="12" name="TextBox 11"/>
          <p:cNvSpPr txBox="1"/>
          <p:nvPr/>
        </p:nvSpPr>
        <p:spPr>
          <a:xfrm>
            <a:off x="457200" y="5126735"/>
            <a:ext cx="5366841" cy="633984"/>
          </a:xfrm>
          <a:prstGeom prst="rect">
            <a:avLst/>
          </a:prstGeom>
          <a:noFill/>
        </p:spPr>
        <p:txBody>
          <a:bodyPr wrap="none" lIns="0" rIns="0">
            <a:noAutofit/>
          </a:bodyPr>
          <a:lstStyle/>
          <a:p>
            <a:pPr algn="l"/>
            <a:r>
              <a:rPr sz="3400" b="0" i="0">
                <a:solidFill>
                  <a:srgbClr val="0A2240"/>
                </a:solidFill>
                <a:latin typeface="Arial"/>
              </a:rPr>
              <a:t>What they model</a:t>
            </a:r>
          </a:p>
        </p:txBody>
      </p:sp>
      <p:sp>
        <p:nvSpPr>
          <p:cNvPr id="13" name="TextBox 12"/>
          <p:cNvSpPr txBox="1"/>
          <p:nvPr/>
        </p:nvSpPr>
        <p:spPr>
          <a:xfrm>
            <a:off x="4947655" y="5126735"/>
            <a:ext cx="7017126" cy="633984"/>
          </a:xfrm>
          <a:prstGeom prst="rect">
            <a:avLst/>
          </a:prstGeom>
          <a:noFill/>
        </p:spPr>
        <p:txBody>
          <a:bodyPr wrap="none" lIns="0" rIns="0">
            <a:noAutofit/>
          </a:bodyPr>
          <a:lstStyle/>
          <a:p>
            <a:pPr algn="l"/>
            <a:r>
              <a:rPr sz="3400" b="0" i="0">
                <a:solidFill>
                  <a:srgbClr val="0A2240"/>
                </a:solidFill>
                <a:latin typeface="Arial"/>
              </a:rPr>
              <a:t>ninth_circuit README</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Good Habits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Draw to explain, not to archive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One question per diagram</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Leave out what does not matter</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Keep it next to the code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18</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