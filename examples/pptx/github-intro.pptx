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an entry-level tour of GitHub: what it does, the handful of words you will hear constantly, and a real project to show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your project only lives on your laptop, losing the laptop loses the project, and nobody else can work on it with you. GitHub is the usual answer to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 is a tool that remembers every version of your files, so you can see what changed and go back to any earlier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 runs on your computer. GitHub is a website that keeps a copy of your Git project online, where other people can see it and work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repository, or repo, is one project's folder together with its complete history of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real public repository called ninth_circuit. You can see its folders and files, and in the corner, five hundred and eighty-four commits of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Across the top of every repository are the same tabs. Code holds the files, Issues holds to-dos and bug reports, Pull requests holds changes waiting for review, and Actions holds jobs that run by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commit is a saved snapshot of your files, with a short note saying what changed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that project's commit history: newest at the top, each one saying who made it, when, and why — and any one of them can be restored.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to day the loop has three steps: edit files on your computer, commit a snapshot with a note, and push it up to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branch is a separate line of work. You can try something out on it without touching the main version everyone else relies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 branch is ready, you open a pull request. It shows exactly what you changed, other people review it, and then it is merged into the main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GitHub Actions runs jobs for you on GitHub's own computers. This project's Actions tab shows one thousand four hundred and fifty-one runs, most of them on a schedule, with no laptop involved.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Actions are good for running tests on every change, a nightly job such as fetching new data, publishing a website, and backing up results — all four of which that project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GitHub Pages turns a repository into a website. It takes HTML, CSS and JavaScript files straight from your repo and gives them a public web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public repository can be read by anyone, a private one only by people you invite, and both keep their full history forever — which is why a password should never be committed to either.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try it: make a free account, create a repository with a README, then edit that README on the website, commit it, and look at the history you just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screenshot in this deck was captured on the twenty-first of October 2026 from the pages listed here, and each slide's Source link opens the exact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the last question is yours: what will you put in your first repository?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914400" y="2971800"/>
            <a:ext cx="112776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Quarterly Business Review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con Text Row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Drives Us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Excellence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09215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High standards in every deliverable we ship.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Integrity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621023"/>
            <a:ext cx="1133344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Transparent and honest in all we do.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Innovation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5132831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Investing in ideas that shape tomorrow.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By the Numbers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127%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965448"/>
            <a:ext cx="50480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Revenue Target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30784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94%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3965448"/>
            <a:ext cx="479167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Retention Rate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158480" y="2776728"/>
            <a:ext cx="40335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48 NPS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8158480" y="3965448"/>
            <a:ext cx="40335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Net Promoter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Side-by-Side Evaluation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58115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Legacy Platform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Modern Stack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651887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Deploy time: 4 hours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2395727"/>
            <a:ext cx="5903892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Deploy time: 8 min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Manual scaling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Auto-scales fast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639055"/>
            <a:ext cx="6940888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On-premise; high cost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4639055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Cloud-native; low cost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Key Milestones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54936"/>
            <a:ext cx="39432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Foundation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Cloud platform migration done.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334518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2154936"/>
            <a:ext cx="39830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API Launch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4518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REST API live with 99.99% SLA.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23316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15493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AI Beta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AI features shipped to 500 partners.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912114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9121140" y="2154936"/>
            <a:ext cx="30708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Scale Out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12114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APAC regions live; global coverage.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mage Half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Built in the Field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6233160" y="1499616"/>
            <a:ext cx="550164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Built with customers, not just for them.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2901696"/>
            <a:ext cx="550164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60% faster rollout; 50% fewer tickets.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We Offer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83136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Insights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54935"/>
            <a:ext cx="2613660" cy="360578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Live data and AI analytics.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3345180" y="1499616"/>
            <a:ext cx="290929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Security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3345180" y="2154935"/>
            <a:ext cx="2613660" cy="360578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Zero-trust, SOC 2 ready.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6233160" y="14996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Speed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2154935"/>
            <a:ext cx="2613660" cy="360578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Sub-100ms p99 latency.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9121140" y="14996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APIs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9121140" y="2154935"/>
            <a:ext cx="2613660" cy="360578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300+ open connectors.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ection 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Where We Stand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We Will Cover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280160"/>
            <a:ext cx="11277600" cy="64008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61848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371600" y="161848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Performance against targets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250179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371600" y="250179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Customer and market signals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38510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1371600" y="338510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Operational health and risks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26841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04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371600" y="426841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Roadmap for next quarter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515172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05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1371600" y="515172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Decisions we need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ig 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body" idx="1"/>
          </p:nvPr>
        </p:nvSpPr>
        <p:spPr>
          <a:xfrm>
            <a:off x="457200" y="202539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0072CE"/>
                </a:solidFill>
                <a:latin typeface="Arial"/>
              </a:rPr>
              <a:t>3.2M</a:t>
            </a:r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5547360" y="3771900"/>
            <a:ext cx="1097280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457200" y="410108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0A2240"/>
                </a:solidFill>
                <a:latin typeface="Arial"/>
              </a:rPr>
              <a:t>Active customers worldwide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ull Qu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301240"/>
            <a:ext cx="128016" cy="225552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301240"/>
            <a:ext cx="10738104" cy="13716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4200" b="1" i="0">
                <a:solidFill>
                  <a:srgbClr val="0A2240"/>
                </a:solidFill>
                <a:latin typeface="Arial"/>
              </a:rPr>
              <a:t>"We stopped buying tools and started buying outcomes."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94716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B6B82"/>
                </a:solidFill>
                <a:latin typeface="Arial"/>
              </a:rPr>
              <a:t>- VP of Engineering, enterprise customer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Defini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1965960"/>
            <a:ext cx="128016" cy="292608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196596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Net Revenue Retention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246120"/>
            <a:ext cx="10738104" cy="16459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The percentage of recurring revenue retained from existing customers over a period, including expansion and after churn.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Ques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011680"/>
            <a:ext cx="128016" cy="283464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011680"/>
            <a:ext cx="10738104" cy="283464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6000" b="1" i="0">
                <a:solidFill>
                  <a:srgbClr val="0A2240"/>
                </a:solidFill>
                <a:latin typeface="Arial"/>
              </a:rPr>
              <a:t>What would we build if we trusted our customers completely?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ullet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46804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Changed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Activation time dropped by half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Support tickets fell sharply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4346447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Expansion revenue outpaced new sales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de Block"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5F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BD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ph type="body" idx="3"/>
          </p:nvPr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27C9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4"/>
          </p:nvPr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D4D4D4"/>
                </a:solidFill>
                <a:latin typeface="Arial"/>
              </a:rPr>
              <a:t>hello.py</a:t>
            </a:r>
          </a:p>
        </p:txBody>
      </p:sp>
      <p:sp>
        <p:nvSpPr>
          <p:cNvPr id="9" name="TextBox 8"/>
          <p:cNvSpPr/>
          <p:nvPr>
            <p:ph type="body" idx="5"/>
          </p:nvPr>
        </p:nvSpPr>
        <p:spPr>
          <a:xfrm>
            <a:off x="457200" y="1837944"/>
            <a:ext cx="785137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6A9955"/>
                </a:solidFill>
                <a:latin typeface="Arial"/>
              </a:rPr>
              <a:t># The classic, end to end</a:t>
            </a:r>
          </a:p>
        </p:txBody>
      </p:sp>
      <p:sp>
        <p:nvSpPr>
          <p:cNvPr id="10" name="TextBox 9"/>
          <p:cNvSpPr/>
          <p:nvPr>
            <p:ph type="body" idx="6"/>
          </p:nvPr>
        </p:nvSpPr>
        <p:spPr>
          <a:xfrm>
            <a:off x="457200" y="2356103"/>
            <a:ext cx="11432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def</a:t>
            </a:r>
          </a:p>
        </p:txBody>
      </p:sp>
      <p:sp>
        <p:nvSpPr>
          <p:cNvPr id="11" name="TextBox 10"/>
          <p:cNvSpPr/>
          <p:nvPr>
            <p:ph type="body" idx="7"/>
          </p:nvPr>
        </p:nvSpPr>
        <p:spPr>
          <a:xfrm>
            <a:off x="1057461" y="2356103"/>
            <a:ext cx="3028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4D4D4"/>
                </a:solidFill>
                <a:latin typeface="Arial"/>
              </a:rPr>
              <a:t> </a:t>
            </a:r>
          </a:p>
        </p:txBody>
      </p:sp>
      <p:sp>
        <p:nvSpPr>
          <p:cNvPr id="12" name="TextBox 11"/>
          <p:cNvSpPr/>
          <p:nvPr>
            <p:ph type="body" idx="8"/>
          </p:nvPr>
        </p:nvSpPr>
        <p:spPr>
          <a:xfrm>
            <a:off x="1177429" y="2356103"/>
            <a:ext cx="1680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CDCAA"/>
                </a:solidFill>
                <a:latin typeface="Arial"/>
              </a:rPr>
              <a:t>main</a:t>
            </a:r>
          </a:p>
        </p:txBody>
      </p:sp>
      <p:sp>
        <p:nvSpPr>
          <p:cNvPr id="13" name="TextBox 12"/>
          <p:cNvSpPr/>
          <p:nvPr>
            <p:ph type="body" idx="9"/>
          </p:nvPr>
        </p:nvSpPr>
        <p:spPr>
          <a:xfrm>
            <a:off x="2113347" y="2356103"/>
            <a:ext cx="83496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4D4D4"/>
                </a:solidFill>
                <a:latin typeface="Arial"/>
              </a:rPr>
              <a:t>():</a:t>
            </a:r>
          </a:p>
        </p:txBody>
      </p:sp>
      <p:sp>
        <p:nvSpPr>
          <p:cNvPr id="14" name="TextBox 13"/>
          <p:cNvSpPr/>
          <p:nvPr>
            <p:ph type="body" idx="13"/>
          </p:nvPr>
        </p:nvSpPr>
        <p:spPr>
          <a:xfrm>
            <a:off x="457200" y="2874262"/>
            <a:ext cx="6627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4D4D4"/>
                </a:solidFill>
                <a:latin typeface="Arial"/>
              </a:rPr>
              <a:t>    </a:t>
            </a:r>
          </a:p>
        </p:txBody>
      </p:sp>
      <p:sp>
        <p:nvSpPr>
          <p:cNvPr id="15" name="TextBox 14"/>
          <p:cNvSpPr/>
          <p:nvPr>
            <p:ph type="body" idx="14"/>
          </p:nvPr>
        </p:nvSpPr>
        <p:spPr>
          <a:xfrm>
            <a:off x="937071" y="2874262"/>
            <a:ext cx="15268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CDCAA"/>
                </a:solidFill>
                <a:latin typeface="Arial"/>
              </a:rPr>
              <a:t>print</a:t>
            </a:r>
          </a:p>
        </p:txBody>
      </p:sp>
      <p:sp>
        <p:nvSpPr>
          <p:cNvPr id="16" name="TextBox 15"/>
          <p:cNvSpPr/>
          <p:nvPr>
            <p:ph type="body" idx="15"/>
          </p:nvPr>
        </p:nvSpPr>
        <p:spPr>
          <a:xfrm>
            <a:off x="1777057" y="2874262"/>
            <a:ext cx="4129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4D4D4"/>
                </a:solidFill>
                <a:latin typeface="Arial"/>
              </a:rPr>
              <a:t>(</a:t>
            </a:r>
          </a:p>
        </p:txBody>
      </p:sp>
      <p:sp>
        <p:nvSpPr>
          <p:cNvPr id="17" name="TextBox 16"/>
          <p:cNvSpPr/>
          <p:nvPr>
            <p:ph type="body" idx="16"/>
          </p:nvPr>
        </p:nvSpPr>
        <p:spPr>
          <a:xfrm>
            <a:off x="1920850" y="2874262"/>
            <a:ext cx="447456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CE9178"/>
                </a:solidFill>
                <a:latin typeface="Arial"/>
              </a:rPr>
              <a:t>"Hello, world!"</a:t>
            </a:r>
          </a:p>
        </p:txBody>
      </p:sp>
      <p:sp>
        <p:nvSpPr>
          <p:cNvPr id="18" name="TextBox 17"/>
          <p:cNvSpPr/>
          <p:nvPr>
            <p:ph type="body" idx="17"/>
          </p:nvPr>
        </p:nvSpPr>
        <p:spPr>
          <a:xfrm>
            <a:off x="4603155" y="2874262"/>
            <a:ext cx="4129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4D4D4"/>
                </a:solidFill>
                <a:latin typeface="Arial"/>
              </a:rPr>
              <a:t>)</a:t>
            </a:r>
          </a:p>
        </p:txBody>
      </p:sp>
      <p:sp>
        <p:nvSpPr>
          <p:cNvPr id="19" name="TextBox 18"/>
          <p:cNvSpPr/>
          <p:nvPr>
            <p:ph type="body" idx="18"/>
          </p:nvPr>
        </p:nvSpPr>
        <p:spPr>
          <a:xfrm>
            <a:off x="457200" y="3910580"/>
            <a:ext cx="1680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CDCAA"/>
                </a:solidFill>
                <a:latin typeface="Arial"/>
              </a:rPr>
              <a:t>main</a:t>
            </a:r>
          </a:p>
        </p:txBody>
      </p:sp>
      <p:sp>
        <p:nvSpPr>
          <p:cNvPr id="20" name="TextBox 19"/>
          <p:cNvSpPr/>
          <p:nvPr>
            <p:ph type="body" idx="19"/>
          </p:nvPr>
        </p:nvSpPr>
        <p:spPr>
          <a:xfrm>
            <a:off x="1393118" y="3910580"/>
            <a:ext cx="64301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4D4D4"/>
                </a:solidFill>
                <a:latin typeface="Arial"/>
              </a:rPr>
              <a:t>()</a:t>
            </a:r>
          </a:p>
        </p:txBody>
      </p:sp>
      <p:sp>
        <p:nvSpPr>
          <p:cNvPr id="21" name="TextBox 20"/>
          <p:cNvSpPr/>
          <p:nvPr>
            <p:ph type="body" idx="20"/>
          </p:nvPr>
        </p:nvSpPr>
        <p:spPr>
          <a:xfrm>
            <a:off x="457200" y="4946898"/>
            <a:ext cx="567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4EC9B0"/>
                </a:solidFill>
                <a:latin typeface="Arial"/>
              </a:rPr>
              <a:t>$</a:t>
            </a:r>
          </a:p>
        </p:txBody>
      </p:sp>
      <p:sp>
        <p:nvSpPr>
          <p:cNvPr id="22" name="TextBox 21"/>
          <p:cNvSpPr/>
          <p:nvPr>
            <p:ph type="body" idx="21"/>
          </p:nvPr>
        </p:nvSpPr>
        <p:spPr>
          <a:xfrm>
            <a:off x="697347" y="4946898"/>
            <a:ext cx="502241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4D4D4"/>
                </a:solidFill>
                <a:latin typeface="Arial"/>
              </a:rPr>
              <a:t> python hello.py</a:t>
            </a:r>
          </a:p>
        </p:txBody>
      </p:sp>
      <p:sp>
        <p:nvSpPr>
          <p:cNvPr id="23" name="TextBox 22"/>
          <p:cNvSpPr/>
          <p:nvPr>
            <p:ph type="body" idx="22"/>
          </p:nvPr>
        </p:nvSpPr>
        <p:spPr>
          <a:xfrm>
            <a:off x="457200" y="5465057"/>
            <a:ext cx="39840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D4D4D4"/>
                </a:solidFill>
                <a:latin typeface="Arial"/>
              </a:rPr>
              <a:t>Hello, world!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ile Tre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Final folder shape</a:t>
            </a:r>
          </a:p>
        </p:txBody>
      </p:sp>
      <p:sp>
        <p:nvSpPr>
          <p:cNvPr id="6" name="Rounded Rectangle 5"/>
          <p:cNvSpPr/>
          <p:nvPr>
            <p:ph type="body" idx="1"/>
          </p:nvPr>
        </p:nvSpPr>
        <p:spPr>
          <a:xfrm>
            <a:off x="457200" y="1499616"/>
            <a:ext cx="11277600" cy="4261104"/>
          </a:xfrm>
          <a:prstGeom prst="roundRect">
            <a:avLst>
              <a:gd name="adj" fmla="val 3004"/>
            </a:avLst>
          </a:prstGeom>
          <a:solidFill>
            <a:srgbClr val="0C1A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822960" y="1819656"/>
            <a:ext cx="6206708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569CD6"/>
                </a:solidFill>
                <a:latin typeface="Courier New"/>
              </a:rPr>
              <a:t>simple-eda-project/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22960" y="22158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55707A"/>
                </a:solidFill>
                <a:latin typeface="Courier New"/>
              </a:rPr>
              <a:t>├─ 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17417" y="2215896"/>
            <a:ext cx="1451054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569CD6"/>
                </a:solidFill>
                <a:latin typeface="Courier New"/>
              </a:rPr>
              <a:t>src/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22960" y="2612136"/>
            <a:ext cx="208514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55707A"/>
                </a:solidFill>
                <a:latin typeface="Courier New"/>
              </a:rPr>
              <a:t>│  └─ 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011873" y="261213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569CD6"/>
                </a:solidFill>
                <a:latin typeface="Courier New"/>
              </a:rPr>
              <a:t>simple_eda/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22960" y="300837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55707A"/>
                </a:solidFill>
                <a:latin typeface="Courier New"/>
              </a:rPr>
              <a:t>│     ├─ 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2606330" y="300837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4D4D4"/>
                </a:solidFill>
                <a:latin typeface="Courier New"/>
              </a:rPr>
              <a:t>__init__.py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22960" y="340461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55707A"/>
                </a:solidFill>
                <a:latin typeface="Courier New"/>
              </a:rPr>
              <a:t>│     └─ 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2606330" y="340461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4D4D4"/>
                </a:solidFill>
                <a:latin typeface="Courier New"/>
              </a:rPr>
              <a:t>core.py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22960" y="380085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55707A"/>
                </a:solidFill>
                <a:latin typeface="Courier New"/>
              </a:rPr>
              <a:t>├─ 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1417417" y="380085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4D4D4"/>
                </a:solidFill>
                <a:latin typeface="Courier New"/>
              </a:rPr>
              <a:t>README.md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822960" y="41970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55707A"/>
                </a:solidFill>
                <a:latin typeface="Courier New"/>
              </a:rPr>
              <a:t>├─ 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1417417" y="4197096"/>
            <a:ext cx="4621489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4D4D4"/>
                </a:solidFill>
                <a:latin typeface="Courier New"/>
              </a:rPr>
              <a:t>pyproject.toml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822960" y="459333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55707A"/>
                </a:solidFill>
                <a:latin typeface="Courier New"/>
              </a:rPr>
              <a:t>└─ 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1417417" y="459333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4D4D4"/>
                </a:solidFill>
                <a:latin typeface="Courier New"/>
              </a:rPr>
              <a:t>LICENSE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umbered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Three Steps to Onboard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Connect your data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461983" y="2185416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Link a source in minutes with a guided wizard.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Pick a template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461983" y="3697224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Start from a proven layout, then tailor it.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Share the result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461983" y="5209032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Publish to your team and gather feedback fast.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wo Panel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Onboarding, Reworked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Before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548640" y="2176271"/>
            <a:ext cx="1650492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5B6B82"/>
                </a:solidFill>
                <a:latin typeface="Arial"/>
              </a:rPr>
              <a:t>After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6324600" y="2176271"/>
            <a:ext cx="1650492" cy="54864"/>
          </a:xfrm>
          <a:prstGeom prst="rect">
            <a:avLst/>
          </a:prstGeom>
          <a:solidFill>
            <a:srgbClr val="5B6B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395727"/>
            <a:ext cx="694257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Manual account setup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608831"/>
            <a:ext cx="759432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Three-day approval wait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821935"/>
            <a:ext cx="590423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Email-only support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One-click provisioning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Same-day approval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In-product live chat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his vs Tha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Cloud or On-Prem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A2240"/>
                </a:solidFill>
                <a:latin typeface="Arial"/>
              </a:rPr>
              <a:t>3 wks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Cloud time-to-launch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94182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A2240"/>
                </a:solidFill>
                <a:latin typeface="Arial"/>
              </a:rPr>
              <a:t>6 mo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48462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On-prem time-to-launch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5435323" y="3310127"/>
            <a:ext cx="132135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5B6B82"/>
                </a:solidFill>
                <a:latin typeface="Arial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Key Metrics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98.7%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1708912" y="2484120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59384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Uptime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1,240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5559552" y="2484120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259384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New accounts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15848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4.6/5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9410192" y="2484120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7701280" y="259384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Support rating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$2.1M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1708912" y="4751832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Net new revenue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4307840" y="379780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12 days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5559552" y="4492752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4307840" y="4602480"/>
            <a:ext cx="357632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Avg. time to value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815848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31%</a:t>
            </a:r>
          </a:p>
        </p:txBody>
      </p:sp>
      <p:sp>
        <p:nvSpPr>
          <p:cNvPr id="22" name="Rectangle 21"/>
          <p:cNvSpPr/>
          <p:nvPr>
            <p:ph type="body" idx="20"/>
          </p:nvPr>
        </p:nvSpPr>
        <p:spPr>
          <a:xfrm>
            <a:off x="9410192" y="4751832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770128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Expansion rate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hart With Ins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Monthly Active Teams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3680394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120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680085" y="4335714"/>
            <a:ext cx="1040129" cy="76968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5B6B82"/>
                </a:solidFill>
                <a:latin typeface="Arial"/>
              </a:rPr>
              <a:t>Jan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217420" y="3295551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180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440305" y="3950871"/>
            <a:ext cx="1040129" cy="115452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21742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5B6B82"/>
                </a:solidFill>
                <a:latin typeface="Arial"/>
              </a:rPr>
              <a:t>Feb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77640" y="2590005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290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200525" y="3245325"/>
            <a:ext cx="1040129" cy="186007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97764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5B6B82"/>
                </a:solidFill>
                <a:latin typeface="Arial"/>
              </a:rPr>
              <a:t>Mar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5737860" y="1499616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460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5960745" y="2154936"/>
            <a:ext cx="1040129" cy="29504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573786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5B6B82"/>
                </a:solidFill>
                <a:latin typeface="Arial"/>
              </a:rPr>
              <a:t>Apr</a:t>
            </a:r>
          </a:p>
        </p:txBody>
      </p:sp>
      <p:sp>
        <p:nvSpPr>
          <p:cNvPr id="18" name="Rectangle 17"/>
          <p:cNvSpPr/>
          <p:nvPr>
            <p:ph type="body" idx="16"/>
          </p:nvPr>
        </p:nvSpPr>
        <p:spPr>
          <a:xfrm>
            <a:off x="7498080" y="1770888"/>
            <a:ext cx="128016" cy="371856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8037576" y="1770888"/>
            <a:ext cx="3697224" cy="37185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Activations nearly quadrupled once self-serve onboarding shipped in February.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Pricing Tiers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33373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Plan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339579" y="1499616"/>
            <a:ext cx="22382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Seats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126448" y="1499616"/>
            <a:ext cx="20223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Price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7691577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Starter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39579" y="2401823"/>
            <a:ext cx="241036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Up to 5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126448" y="2401823"/>
            <a:ext cx="202232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$0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3310127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Team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339579" y="3310127"/>
            <a:ext cx="279459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Up to 50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126448" y="3310127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$12/seat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457200" y="4218431"/>
            <a:ext cx="298620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Business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3339579" y="4218431"/>
            <a:ext cx="317883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Up to 250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6126448" y="4218431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$20/seat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5126735"/>
            <a:ext cx="33316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Enterprise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339579" y="5126735"/>
            <a:ext cx="30624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Unlimited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6126448" y="5126735"/>
            <a:ext cx="256317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Custom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Metric 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Performance vs Last Year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07568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072CE"/>
                </a:solidFill>
                <a:latin typeface="Arial"/>
              </a:rPr>
              <a:t>$8.4M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264408"/>
            <a:ext cx="357632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Annual recurring revenue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522569" y="4666488"/>
            <a:ext cx="1445581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260802" y="4666488"/>
            <a:ext cx="1969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+24%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307840" y="207568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072CE"/>
                </a:solidFill>
                <a:latin typeface="Arial"/>
              </a:rPr>
              <a:t>2.1%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3264408"/>
            <a:ext cx="4522132" cy="1127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Monthly churn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5175547" y="4666488"/>
            <a:ext cx="1840906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795183" y="4666488"/>
            <a:ext cx="260163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-0.8 pts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158480" y="207568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072CE"/>
                </a:solidFill>
                <a:latin typeface="Arial"/>
              </a:rPr>
              <a:t>63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8158480" y="3264408"/>
            <a:ext cx="357632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Net promoter score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9427731" y="4666488"/>
            <a:ext cx="1037817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288294" y="4666488"/>
            <a:ext cx="131669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+11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rocess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Onboarding Flow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94560"/>
            <a:ext cx="784098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414016"/>
            <a:ext cx="27156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Sign up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Create an account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3345180" y="2194560"/>
            <a:ext cx="784098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345180" y="2414016"/>
            <a:ext cx="29464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Connect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34518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Link your data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5" name="Rectangle 14"/>
          <p:cNvSpPr/>
          <p:nvPr>
            <p:ph type="body" idx="13"/>
          </p:nvPr>
        </p:nvSpPr>
        <p:spPr>
          <a:xfrm>
            <a:off x="6233160" y="2194560"/>
            <a:ext cx="784098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6233160" y="2414016"/>
            <a:ext cx="344499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Configure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Pick your metrics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2114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04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9121140" y="2194560"/>
            <a:ext cx="784098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9121140" y="2414016"/>
            <a:ext cx="263941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Launch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912114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Go live in minutes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Road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2026 Plan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Ship API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279647"/>
            <a:ext cx="383192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Beta launch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0784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Mobile app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307840" y="3279647"/>
            <a:ext cx="3793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Integrations</a:t>
            </a:r>
          </a:p>
        </p:txBody>
      </p:sp>
      <p:sp>
        <p:nvSpPr>
          <p:cNvPr id="14" name="Rectangle 13"/>
          <p:cNvSpPr/>
          <p:nvPr>
            <p:ph type="body" idx="9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158480" y="2395727"/>
            <a:ext cx="40335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Enterprise tier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8158480" y="327964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SSO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Sales Pipeline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Visitors · 50,000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Signups · 8,000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Trials · 2,400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3558540" y="4901184"/>
            <a:ext cx="5074919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558540" y="4901184"/>
            <a:ext cx="5558452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Customers · 600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ested Circ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Job Search Funnel (2021)</a:t>
            </a:r>
          </a:p>
        </p:txBody>
      </p:sp>
      <p:sp>
        <p:nvSpPr>
          <p:cNvPr id="6" name="Oval 5"/>
          <p:cNvSpPr/>
          <p:nvPr>
            <p:ph type="body" idx="1"/>
          </p:nvPr>
        </p:nvSpPr>
        <p:spPr>
          <a:xfrm>
            <a:off x="3645408" y="1499616"/>
            <a:ext cx="4901184" cy="4901184"/>
          </a:xfrm>
          <a:prstGeom prst="ellipse">
            <a:avLst/>
          </a:prstGeom>
          <a:solidFill>
            <a:srgbClr val="5B6B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>
            <p:ph type="body" idx="2"/>
          </p:nvPr>
        </p:nvSpPr>
        <p:spPr>
          <a:xfrm>
            <a:off x="4462272" y="3133344"/>
            <a:ext cx="3267456" cy="3267456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>
            <p:ph type="body" idx="3"/>
          </p:nvPr>
        </p:nvSpPr>
        <p:spPr>
          <a:xfrm>
            <a:off x="5279136" y="4767072"/>
            <a:ext cx="1633728" cy="1633728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7329" y="1645920"/>
            <a:ext cx="3037342" cy="762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Arial"/>
              </a:rPr>
              <a:t>&gt;700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594080" y="2316480"/>
            <a:ext cx="5003840" cy="6705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840583" y="3401568"/>
            <a:ext cx="251083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58104" y="3950208"/>
            <a:ext cx="3475792" cy="548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Arial"/>
              </a:rPr>
              <a:t>Interviews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5296524" y="5157216"/>
            <a:ext cx="159895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1.5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5235159" y="5583935"/>
            <a:ext cx="1721682" cy="4267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Offers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Hierarchy of Needs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Vision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Strategy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Goals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Tactics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WO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SWOT Analysis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Strengths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1650492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5501640" cy="1097281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 strong brand with loyal users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5B6B82"/>
                </a:solidFill>
                <a:latin typeface="Arial"/>
              </a:rPr>
              <a:t>Weaknesses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6233160" y="2176271"/>
            <a:ext cx="1650492" cy="54864"/>
          </a:xfrm>
          <a:prstGeom prst="rect">
            <a:avLst/>
          </a:prstGeom>
          <a:solidFill>
            <a:srgbClr val="5B6B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2395727"/>
            <a:ext cx="5501640" cy="1097281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Thin margins and a small team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Opportunities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57200" y="4443983"/>
            <a:ext cx="1650492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457200" y="4663439"/>
            <a:ext cx="5501640" cy="1097281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New markets through partnerships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5B6B82"/>
                </a:solidFill>
                <a:latin typeface="Arial"/>
              </a:rPr>
              <a:t>Threats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6233160" y="4443983"/>
            <a:ext cx="1650492" cy="54864"/>
          </a:xfrm>
          <a:prstGeom prst="rect">
            <a:avLst/>
          </a:prstGeom>
          <a:solidFill>
            <a:srgbClr val="5B6B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4663439"/>
            <a:ext cx="5501640" cy="1097281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New entrants driving price pressure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Evaluation Matrix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3280182" y="1499616"/>
            <a:ext cx="365043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A2240"/>
                </a:solidFill>
                <a:latin typeface="Arial"/>
              </a:rPr>
              <a:t>Platform A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5973987" y="1499616"/>
            <a:ext cx="367607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A2240"/>
                </a:solidFill>
                <a:latin typeface="Arial"/>
              </a:rPr>
              <a:t>Platform B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845296" y="1499616"/>
            <a:ext cx="33467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A2240"/>
                </a:solidFill>
                <a:latin typeface="Arial"/>
              </a:rPr>
              <a:t>Platform C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11277600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Security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4245247" y="2401823"/>
            <a:ext cx="1720305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01063" y="2401823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491979" y="2401823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Medium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9302496" y="2401823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Strong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3612895"/>
            <a:ext cx="327902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Workflow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3785355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Medium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595872" y="3612895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Strong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98603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Medium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4823967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Support</a:t>
            </a:r>
          </a:p>
        </p:txBody>
      </p:sp>
      <p:sp>
        <p:nvSpPr>
          <p:cNvPr id="20" name="Rectangle 19"/>
          <p:cNvSpPr/>
          <p:nvPr>
            <p:ph type="body" idx="18"/>
          </p:nvPr>
        </p:nvSpPr>
        <p:spPr>
          <a:xfrm>
            <a:off x="4245247" y="4823967"/>
            <a:ext cx="1720305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3901063" y="4823967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22" name="TextBox 21"/>
          <p:cNvSpPr/>
          <p:nvPr>
            <p:ph type="body" idx="20"/>
          </p:nvPr>
        </p:nvSpPr>
        <p:spPr>
          <a:xfrm>
            <a:off x="6595872" y="4823967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Strong</a:t>
            </a:r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9198603" y="4823967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  <p:sldLayoutId id="2147483741" r:id="rId4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Relationship Id="rId3" Type="http://schemas.openxmlformats.org/officeDocument/2006/relationships/hyperlink" Target="https://github.com/Victor-Palacios/ninth_circuit" TargetMode="Externa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png"/><Relationship Id="rId3" Type="http://schemas.openxmlformats.org/officeDocument/2006/relationships/hyperlink" Target="https://github.com/Victor-Palacios/ninth_circuit/commits" TargetMode="Externa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hyperlink" Target="https://docs.github.com/en/pull-requests/collaborating-with-pull-requests/proposing-changes-to-your-work-with-pull-requests/about-pull-requests" TargetMode="Externa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Relationship Id="rId3" Type="http://schemas.openxmlformats.org/officeDocument/2006/relationships/hyperlink" Target="https://github.com/Victor-Palacios/ninth_circuit/actions" TargetMode="Externa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png"/><Relationship Id="rId3" Type="http://schemas.openxmlformats.org/officeDocument/2006/relationships/hyperlink" Target="https://docs.github.com/en/pages/getting-started-with-github-pages/what-is-github-pages" TargetMode="Externa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75560"/>
            <a:ext cx="103632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What Is GitHub?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6428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An entry-level tour, with real screenshots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92608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A2240"/>
                </a:solidFill>
                <a:latin typeface="Arial"/>
              </a:rPr>
              <a:t>Where does your code live?</a:t>
            </a:r>
          </a:p>
        </p:txBody>
      </p:sp>
      <p:sp>
        <p:nvSpPr>
          <p:cNvPr id="4" name="TextBox 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5B6B82"/>
                </a:solidFill>
                <a:latin typeface="Arial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 tool that remembers every version of your files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5B6B82"/>
                </a:solidFill>
                <a:latin typeface="Arial"/>
              </a:rPr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Git and GitHub Are Not the Same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A2240"/>
                </a:solidFill>
                <a:latin typeface="Arial"/>
              </a:rPr>
              <a:t>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On your computer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182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A2240"/>
                </a:solidFill>
                <a:latin typeface="Arial"/>
              </a:rPr>
              <a:t>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1820" y="3965448"/>
            <a:ext cx="47929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On the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5323" y="3310127"/>
            <a:ext cx="132135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5B6B82"/>
                </a:solidFill>
                <a:latin typeface="Arial"/>
              </a:rPr>
              <a:t>VS</a:t>
            </a:r>
          </a:p>
        </p:txBody>
      </p:sp>
      <p:sp>
        <p:nvSpPr>
          <p:cNvPr id="8" name="TextBox 7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5B6B82"/>
                </a:solidFill>
                <a:latin typeface="Arial"/>
              </a:rPr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One project's folder, with its whole history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5B6B82"/>
                </a:solidFill>
                <a:latin typeface="Arial"/>
              </a:rPr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A Real Repository</a:t>
            </a:r>
          </a:p>
        </p:txBody>
      </p:sp>
      <p:pic>
        <p:nvPicPr>
          <p:cNvPr id="3" name="Picture 2" descr="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160" y="1499616"/>
            <a:ext cx="5501640" cy="42611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499616"/>
            <a:ext cx="605738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This is ninth_circuit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83536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Folders and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67456"/>
            <a:ext cx="709404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584 commits of history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5B6B82"/>
                </a:solidFill>
                <a:latin typeface="Arial"/>
              </a:rPr>
              <a:t>6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0072CE"/>
                </a:solidFill>
                <a:latin typeface="Arial"/>
                <a:hlinkClick r:id="rId3"/>
              </a:rPr>
              <a:t>Source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Where Things Are 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286189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7733" y="1499616"/>
            <a:ext cx="574196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What it holds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72639"/>
            <a:ext cx="9152498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01823"/>
            <a:ext cx="2861893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733" y="2401823"/>
            <a:ext cx="648007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The files themselves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0127"/>
            <a:ext cx="2861893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67733" y="3310127"/>
            <a:ext cx="728801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To-dos and bug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8431"/>
            <a:ext cx="417669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Pull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7733" y="4218431"/>
            <a:ext cx="832426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Changes waiting for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6735"/>
            <a:ext cx="2861893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733" y="5126735"/>
            <a:ext cx="832426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Jobs that run by themselves</a:t>
            </a:r>
          </a:p>
        </p:txBody>
      </p:sp>
      <p:sp>
        <p:nvSpPr>
          <p:cNvPr id="14" name="TextBox 1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5B6B82"/>
                </a:solidFill>
                <a:latin typeface="Arial"/>
              </a:rPr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 saved snapshot, with a note saying why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5B6B82"/>
                </a:solidFill>
                <a:latin typeface="Arial"/>
              </a:rPr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History You Can Read</a:t>
            </a:r>
          </a:p>
        </p:txBody>
      </p:sp>
      <p:pic>
        <p:nvPicPr>
          <p:cNvPr id="3" name="Picture 2" descr="com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160" y="1499616"/>
            <a:ext cx="5501640" cy="42611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499616"/>
            <a:ext cx="555946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Newest at the 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83536"/>
            <a:ext cx="659612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Who, when, and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67456"/>
            <a:ext cx="7710705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Any one can be restored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5B6B82"/>
                </a:solidFill>
                <a:latin typeface="Arial"/>
              </a:rPr>
              <a:t>9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0072CE"/>
                </a:solidFill>
                <a:latin typeface="Arial"/>
                <a:hlinkClick r:id="rId3"/>
              </a:rPr>
              <a:t>Source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The Basic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1983" y="2185416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Change files on your computer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983" y="3697224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Save a snapshot with a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1983" y="5209032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Send it up to GitHub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5B6B82"/>
                </a:solidFill>
                <a:latin typeface="Arial"/>
              </a:rPr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 separate line of work that leaves main alone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5B6B82"/>
                </a:solidFill>
                <a:latin typeface="Arial"/>
              </a:rPr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Proposing a Change</a:t>
            </a:r>
          </a:p>
        </p:txBody>
      </p:sp>
      <p:pic>
        <p:nvPicPr>
          <p:cNvPr id="3" name="Picture 2" descr="p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160" y="1499616"/>
            <a:ext cx="5501640" cy="42611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499616"/>
            <a:ext cx="7711043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Show what you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83536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Others review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67456"/>
            <a:ext cx="55203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Then it is merged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5B6B82"/>
                </a:solidFill>
                <a:latin typeface="Arial"/>
              </a:rPr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0072CE"/>
                </a:solidFill>
                <a:latin typeface="Arial"/>
                <a:hlinkClick r:id="rId3"/>
              </a:rPr>
              <a:t>Source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Work That Runs Itself</a:t>
            </a:r>
          </a:p>
        </p:txBody>
      </p:sp>
      <p:pic>
        <p:nvPicPr>
          <p:cNvPr id="3" name="Picture 2" descr="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160" y="1499616"/>
            <a:ext cx="5501640" cy="42611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499616"/>
            <a:ext cx="6136323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Jobs on a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83536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1,451 runs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67456"/>
            <a:ext cx="586712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No laptop required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5B6B82"/>
                </a:solidFill>
                <a:latin typeface="Arial"/>
              </a:rPr>
              <a:t>13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0072CE"/>
                </a:solidFill>
                <a:latin typeface="Arial"/>
                <a:hlinkClick r:id="rId3"/>
              </a:rPr>
              <a:t>Source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308854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Actions Are Good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Running your tests on every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 job every night, like fetching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Publishing a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Backing up your results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5B6B82"/>
                </a:solidFill>
                <a:latin typeface="Arial"/>
              </a:rPr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A Free Website From a Repo</a:t>
            </a:r>
          </a:p>
        </p:txBody>
      </p:sp>
      <p:pic>
        <p:nvPicPr>
          <p:cNvPr id="3" name="Picture 2" descr="p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160" y="1499616"/>
            <a:ext cx="5501640" cy="42611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499616"/>
            <a:ext cx="747726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HTML, CSS, JavaScript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83536"/>
            <a:ext cx="7056259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Served from your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67456"/>
            <a:ext cx="671183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 public web address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5B6B82"/>
                </a:solidFill>
                <a:latin typeface="Arial"/>
              </a:rPr>
              <a:t>15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0072CE"/>
                </a:solidFill>
                <a:latin typeface="Arial"/>
                <a:hlinkClick r:id="rId3"/>
              </a:rPr>
              <a:t>Source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Public or Private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Public: anyone can read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Private: only people you invite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Both keep the full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So never commit a password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5B6B82"/>
                </a:solidFill>
                <a:latin typeface="Arial"/>
              </a:rPr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Your First Ten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Make an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1983" y="2185416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It is 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Create a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983" y="3697224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Tick the box to add a README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Edit the README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1983" y="5209032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Commit it, and look at History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5B6B82"/>
                </a:solidFill>
                <a:latin typeface="Arial"/>
              </a:rPr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Screenshots, Captured 21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394561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0618" y="1499616"/>
            <a:ext cx="494878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Captured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72639"/>
            <a:ext cx="8742204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01823"/>
            <a:ext cx="3485137" cy="452323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0618" y="2401823"/>
            <a:ext cx="4948786" cy="452323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…/ninth_circuit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28466"/>
            <a:ext cx="4789308" cy="452323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Commit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0618" y="3128466"/>
            <a:ext cx="7515721" cy="452323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…/ninth_circuit/commits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55109"/>
            <a:ext cx="3244778" cy="452323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0618" y="3855109"/>
            <a:ext cx="7133172" cy="452323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…/ninth_circuit/actions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81752"/>
            <a:ext cx="4176692" cy="452323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Pull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0618" y="4581752"/>
            <a:ext cx="5213688" cy="452323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docs.github.com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8395"/>
            <a:ext cx="3244778" cy="452323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0618" y="5308395"/>
            <a:ext cx="5213688" cy="452323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docs.github.com</a:t>
            </a:r>
          </a:p>
        </p:txBody>
      </p:sp>
      <p:sp>
        <p:nvSpPr>
          <p:cNvPr id="16" name="TextBox 1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5B6B82"/>
                </a:solidFill>
                <a:latin typeface="Arial"/>
              </a:rPr>
              <a:t>18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92608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A2240"/>
                </a:solidFill>
                <a:latin typeface="Arial"/>
              </a:rPr>
              <a:t>What will you put in yours?</a:t>
            </a:r>
          </a:p>
        </p:txBody>
      </p:sp>
      <p:sp>
        <p:nvSpPr>
          <p:cNvPr id="4" name="TextBox 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5B6B82"/>
                </a:solidFill>
                <a:latin typeface="Arial"/>
              </a:rPr>
              <a:t>19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