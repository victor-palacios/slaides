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de.claude.com/docs/en/cli-reference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de.claude.com/docs/en/overview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de.claude.com/docs/en/overview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de.claude.com/docs/en/claude-code-on-the-web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de.claude.com/docs/en/desktop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de.claude.com/docs/en/web-quickstart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de.claude.com/docs/en/mobile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de.claude.com/docs/en/remote-control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anthropic.com/news/model-context-protocol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de.claude.com/docs/en/mcp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de.claude.com/docs/en/mcp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de.claude.com/docs/en/mcp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de.claude.com/docs/en/memory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de.claude.com/docs/en/memory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de.claude.com/docs/en/memory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de.claude.com/docs/en/skills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de.claude.com/docs/en/skills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anthropic.com/product/claude-cowork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anthropic.com/product/claude-cowork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upport.claude.com/en/articles/9487310-what-are-artifacts-and-how-do-i-use-them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upport.claude.com/en/articles/11817273-use-claude-s-chat-search-and-memory-to-build-on-previous-context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63200" cy="100584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Claude Code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920240"/>
            <a:ext cx="128016" cy="301752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920240"/>
            <a:ext cx="10738104" cy="10972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Claude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291840"/>
            <a:ext cx="10738104" cy="1645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 terminal-based AI agent that reads your project, writes and runs code, inspects the results, and iterates until the job is done.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Chat vs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31008"/>
            <a:ext cx="4792980" cy="100584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ctr"/>
            <a:r>
              <a:rPr sz="6600" b="1" i="0">
                <a:solidFill>
                  <a:srgbClr val="1A1A2E"/>
                </a:solidFill>
                <a:latin typeface="Arial"/>
              </a:rPr>
              <a:t>Chat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011168"/>
            <a:ext cx="479298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You ferry code around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1820" y="2731008"/>
            <a:ext cx="4792980" cy="100584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ctr"/>
            <a:r>
              <a:rPr sz="6600" b="1" i="0">
                <a:solidFill>
                  <a:srgbClr val="1A1A2E"/>
                </a:solidFill>
                <a:latin typeface="Arial"/>
              </a:rPr>
              <a:t>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1820" y="4011168"/>
            <a:ext cx="479298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It works in your repo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24500" y="3310127"/>
            <a:ext cx="1143000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ctr"/>
            <a:r>
              <a:rPr sz="4200" b="1" i="0">
                <a:solidFill>
                  <a:srgbClr val="8A8A9A"/>
                </a:solidFill>
                <a:latin typeface="Arial"/>
              </a:rPr>
              <a:t>VS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What It Can Do in Your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Explore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9215"/>
            <a:ext cx="11277600" cy="62788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Read files, schemas, and notebooks.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1424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Execute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21023"/>
            <a:ext cx="11277600" cy="62788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Run scripts, queries, and tests.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23232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Iterate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132831"/>
            <a:ext cx="11277600" cy="62788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Check outputs and fix its own errors.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46304" cy="146304"/>
          </a:xfrm>
          <a:prstGeom prst="rect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3232" y="457200"/>
            <a:ext cx="146304" cy="146304"/>
          </a:xfrm>
          <a:prstGeom prst="rect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9264" y="457200"/>
            <a:ext cx="146304" cy="146304"/>
          </a:xfrm>
          <a:prstGeom prst="rect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77600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Terminal 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37944"/>
            <a:ext cx="423027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4EC9B0"/>
                </a:solidFill>
                <a:latin typeface="Arial"/>
              </a:rPr>
              <a:t>$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7347" y="1837944"/>
            <a:ext cx="5679053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cd sales-analysis &amp;&amp; claude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874262"/>
            <a:ext cx="6434703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&gt; Profile sales.csv: nulls, dtypes,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392421"/>
            <a:ext cx="5990674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outliers. Save it to profile.md.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28739"/>
            <a:ext cx="3950799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Reading sales.csv (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25119" y="4428739"/>
            <a:ext cx="423027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B5CEA8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65265" y="4428739"/>
            <a:ext cx="2438023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.2M rows)...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946898"/>
            <a:ext cx="4934999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Running profiling script...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465057"/>
            <a:ext cx="3582462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Wrote profile.md: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56782" y="5465057"/>
            <a:ext cx="423027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B5CEA8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96928" y="5465057"/>
            <a:ext cx="1911134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findings.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Everyday Workflows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261366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54935"/>
            <a:ext cx="2613660" cy="360578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Profile new data in minutes.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45180" y="1499616"/>
            <a:ext cx="261366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Cleaning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45180" y="2154935"/>
            <a:ext cx="2613660" cy="360578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Fix types, nulls, duplicates.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33160" y="1499616"/>
            <a:ext cx="261366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Modeling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3160" y="2154935"/>
            <a:ext cx="2613660" cy="360578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Fast first baselines.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21140" y="1499616"/>
            <a:ext cx="261366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Reporting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21140" y="2154935"/>
            <a:ext cx="2613660" cy="360578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Plots and write-ups.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How It Works on a Task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2613660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194560"/>
            <a:ext cx="784098" cy="54864"/>
          </a:xfrm>
          <a:prstGeom prst="rect">
            <a:avLst/>
          </a:prstGeom>
          <a:solidFill>
            <a:srgbClr val="193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14016"/>
            <a:ext cx="261366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Explore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41903"/>
            <a:ext cx="2613660" cy="271881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Scans the data and code.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45180" y="1499616"/>
            <a:ext cx="2613660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3345180" y="2194560"/>
            <a:ext cx="784098" cy="54864"/>
          </a:xfrm>
          <a:prstGeom prst="rect">
            <a:avLst/>
          </a:prstGeom>
          <a:solidFill>
            <a:srgbClr val="193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45180" y="2414016"/>
            <a:ext cx="261366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Plan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45180" y="3041903"/>
            <a:ext cx="2613660" cy="271881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Proposes an approach.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1499616"/>
            <a:ext cx="2613660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160" y="2194560"/>
            <a:ext cx="784098" cy="54864"/>
          </a:xfrm>
          <a:prstGeom prst="rect">
            <a:avLst/>
          </a:prstGeom>
          <a:solidFill>
            <a:srgbClr val="193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3160" y="2414016"/>
            <a:ext cx="261366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Execute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160" y="3041903"/>
            <a:ext cx="2613660" cy="271881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Writes and runs the code.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1140" y="1499616"/>
            <a:ext cx="2613660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21140" y="2194560"/>
            <a:ext cx="784098" cy="54864"/>
          </a:xfrm>
          <a:prstGeom prst="rect">
            <a:avLst/>
          </a:prstGeom>
          <a:solidFill>
            <a:srgbClr val="193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21140" y="2414016"/>
            <a:ext cx="261366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Verify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21140" y="3041903"/>
            <a:ext cx="2613660" cy="271881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Checks results, then iterates.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A Typical Day, Reworked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8A8A9A"/>
                </a:solidFill>
                <a:latin typeface="Arial"/>
              </a:rPr>
              <a:t>Before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8A8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CC785C"/>
                </a:solidFill>
                <a:latin typeface="Arial"/>
              </a:rPr>
              <a:t>With Claude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395727"/>
            <a:ext cx="55016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Boilerplate pandas by hand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08831"/>
            <a:ext cx="55016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Stack Overflow detours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21935"/>
            <a:ext cx="55016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Stale notebooks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2395727"/>
            <a:ext cx="55016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Describe the outcome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3608831"/>
            <a:ext cx="55016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Errors debugged in place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4821935"/>
            <a:ext cx="55016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Committed with notes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Commands Worth Knowing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2476899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Command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82739" y="1499616"/>
            <a:ext cx="3956784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What it does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072639"/>
            <a:ext cx="6982323" cy="54864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401823"/>
            <a:ext cx="2476899" cy="6339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claude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82739" y="2401823"/>
            <a:ext cx="3956784" cy="6339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Start a session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10127"/>
            <a:ext cx="2476899" cy="6339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/init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82739" y="3310127"/>
            <a:ext cx="3956784" cy="6339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Write CLAUDE.md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18431"/>
            <a:ext cx="2476899" cy="6339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/compact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82739" y="4218431"/>
            <a:ext cx="3956784" cy="6339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Trim the context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126735"/>
            <a:ext cx="2476899" cy="6339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claude -p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2739" y="5126735"/>
            <a:ext cx="3956784" cy="6339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One-shot mode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Two Commands, Up Close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/init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9215"/>
            <a:ext cx="11277600" cy="1383793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Scans your project, writes a starter CLAUDE.md.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767328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claude -p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376927"/>
            <a:ext cx="11277600" cy="1383793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One-shot: run a prompt, print the answer, exit.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62170" y="6035040"/>
            <a:ext cx="82671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Habits That Make It Shine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908050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Keep a CLAUDE.md with data caveats.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83409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Ask for a plan before a big analysis.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58768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Have it verify outputs, not just run.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34127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Commit small, reviewable steps.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691640"/>
            <a:ext cx="128016" cy="210312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691640"/>
            <a:ext cx="10738104" cy="10972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One Claude, Many Surfaces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Same Engine, Everywhere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One engine: terminal, IDE, desktop, web.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Your CLAUDE.md and MCP servers come too.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Start on the laptop, finish on your phone.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62170" y="6035040"/>
            <a:ext cx="82671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Three Ways to Run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89248" y="1499616"/>
            <a:ext cx="2432304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ctr"/>
            <a:r>
              <a:rPr sz="3400" b="1" i="0">
                <a:solidFill>
                  <a:srgbClr val="1A1A2E"/>
                </a:solidFill>
                <a:latin typeface="Arial"/>
              </a:rPr>
              <a:t>Terminal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95872" y="1499616"/>
            <a:ext cx="2432304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ctr"/>
            <a:r>
              <a:rPr sz="3400" b="1" i="0">
                <a:solidFill>
                  <a:srgbClr val="1A1A2E"/>
                </a:solidFill>
                <a:latin typeface="Arial"/>
              </a:rPr>
              <a:t>Web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02496" y="1499616"/>
            <a:ext cx="2432304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ctr"/>
            <a:r>
              <a:rPr sz="3400" b="1" i="0">
                <a:solidFill>
                  <a:srgbClr val="1A1A2E"/>
                </a:solidFill>
                <a:latin typeface="Arial"/>
              </a:rPr>
              <a:t>Desktop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72639"/>
            <a:ext cx="11277600" cy="54864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401823"/>
            <a:ext cx="3157728" cy="154228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Runs 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89248" y="2401823"/>
            <a:ext cx="2432304" cy="15422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Your machine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5872" y="2401823"/>
            <a:ext cx="2432304" cy="154228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The cloud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02496" y="2401823"/>
            <a:ext cx="2432304" cy="15422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Your machine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218431"/>
            <a:ext cx="3157728" cy="154228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Setup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9248" y="4218431"/>
            <a:ext cx="2432304" cy="154228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Install CLI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07682" y="4218431"/>
            <a:ext cx="1408684" cy="518159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07682" y="4218431"/>
            <a:ext cx="1408684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None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02496" y="4218431"/>
            <a:ext cx="2432304" cy="154228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Install app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62170" y="6035040"/>
            <a:ext cx="82671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On the Internet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Cloud-run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9215"/>
            <a:ext cx="11277600" cy="62788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Runs at claude.ai/code on Anthropic's cloud.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1424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Isolated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21023"/>
            <a:ext cx="11277600" cy="62788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Each task gets its own sandbox VM.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23232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Persistent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132831"/>
            <a:ext cx="11277600" cy="62788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Keeps running after you close the tab.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62170" y="6035040"/>
            <a:ext cx="82671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Claude Desktop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 standalone app, no terminal needed.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Review diffs, run sessions side by side.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Schedule repeats and start cloud runs.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62170" y="6035040"/>
            <a:ext cx="82671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691640"/>
            <a:ext cx="128016" cy="210312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691640"/>
            <a:ext cx="10738104" cy="10972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Drive It From Your Phone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Connect GitHub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776183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1983" y="1499616"/>
            <a:ext cx="10272817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Sign 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1983" y="2185416"/>
            <a:ext cx="10272817" cy="55168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Open claude.ai/code and log 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11424"/>
            <a:ext cx="776183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1983" y="3011424"/>
            <a:ext cx="10272817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Link GitHub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1983" y="3697224"/>
            <a:ext cx="10272817" cy="55168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Grant access to the repos you choose.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523232"/>
            <a:ext cx="776183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1983" y="4523232"/>
            <a:ext cx="10272817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Pick a repo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1983" y="5209032"/>
            <a:ext cx="10272817" cy="55168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Claude clones it into a cloud sandbox.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62170" y="6035040"/>
            <a:ext cx="82671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Start a Task Anywhere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776183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1983" y="1499616"/>
            <a:ext cx="10272817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Describe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1983" y="2185416"/>
            <a:ext cx="10272817" cy="55168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Type the task in the Claude mobile app.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11424"/>
            <a:ext cx="776183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1983" y="3011424"/>
            <a:ext cx="10272817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Let it run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1983" y="3697224"/>
            <a:ext cx="10272817" cy="55168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Work continues in the background.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523232"/>
            <a:ext cx="776183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1983" y="4523232"/>
            <a:ext cx="10272817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1983" y="5209032"/>
            <a:ext cx="10272817" cy="55168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Approve the branch Claude pushes.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62170" y="6035040"/>
            <a:ext cx="82671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Remote Control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883409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Step away and work from your phone.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58768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Continue a live session from any browser.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62170" y="6035040"/>
            <a:ext cx="82671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46304" cy="146304"/>
          </a:xfrm>
          <a:prstGeom prst="rect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3232" y="457200"/>
            <a:ext cx="146304" cy="146304"/>
          </a:xfrm>
          <a:prstGeom prst="rect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9264" y="457200"/>
            <a:ext cx="146304" cy="146304"/>
          </a:xfrm>
          <a:prstGeom prst="rect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77600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Move Between Surfaces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37944"/>
            <a:ext cx="423027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4EC9B0"/>
                </a:solidFill>
                <a:latin typeface="Arial"/>
              </a:rPr>
              <a:t>$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7347" y="1837944"/>
            <a:ext cx="3015092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claude --cloud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56103"/>
            <a:ext cx="3254606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Runs this task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8926" y="2356103"/>
            <a:ext cx="518959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65004" y="2356103"/>
            <a:ext cx="2175317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the cloud.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392421"/>
            <a:ext cx="5475171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&gt; Pick it up later, anywhere: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910580"/>
            <a:ext cx="423027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4EC9B0"/>
                </a:solidFill>
                <a:latin typeface="Arial"/>
              </a:rPr>
              <a:t>$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7347" y="3910580"/>
            <a:ext cx="3423067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claude --teleport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946898"/>
            <a:ext cx="6470757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One session follows you across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465057"/>
            <a:ext cx="3279906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laptop, phone,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4226" y="5465057"/>
            <a:ext cx="90332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and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4666" y="5465057"/>
            <a:ext cx="193474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browser.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691640"/>
            <a:ext cx="128016" cy="210312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691640"/>
            <a:ext cx="10738104" cy="10972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MCP: Plug In Your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179320"/>
            <a:ext cx="128016" cy="249936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179320"/>
            <a:ext cx="10738104" cy="10972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MCP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550920"/>
            <a:ext cx="10738104" cy="112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An open standard that connects AI tools to your data sources and other systems.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62170" y="6035040"/>
            <a:ext cx="82671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What MCP Unlocks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Read design docs from Google Drive.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Update Jira, pull data from Slack.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Query your own database and APIs.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62170" y="6035040"/>
            <a:ext cx="82671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Without MCP vs With MCP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8A8A9A"/>
                </a:solidFill>
                <a:latin typeface="Arial"/>
              </a:rPr>
              <a:t>Without MCP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8A8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CC785C"/>
                </a:solidFill>
                <a:latin typeface="Arial"/>
              </a:rPr>
              <a:t>With MCP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395727"/>
            <a:ext cx="55016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Paste data in by hand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08831"/>
            <a:ext cx="55016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Screenshot dashboards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21935"/>
            <a:ext cx="55016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Describe your schema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2395727"/>
            <a:ext cx="55016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Claude queries the DB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3608831"/>
            <a:ext cx="55016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Reads the ticket itself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4821935"/>
            <a:ext cx="55016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Always current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2170" y="6035040"/>
            <a:ext cx="82671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Servers You Can (normally) Connect 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206976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Server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75608" y="1499616"/>
            <a:ext cx="4492107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What Claude can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072639"/>
            <a:ext cx="7110515" cy="54864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401823"/>
            <a:ext cx="2069768" cy="6339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Drive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75608" y="2401823"/>
            <a:ext cx="4492107" cy="6339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Read design docs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10127"/>
            <a:ext cx="2069768" cy="6339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Jira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75608" y="3310127"/>
            <a:ext cx="4492107" cy="6339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Update tickets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18431"/>
            <a:ext cx="2069768" cy="6339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Slack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75608" y="4218431"/>
            <a:ext cx="4492107" cy="6339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Pull conversations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126735"/>
            <a:ext cx="2069768" cy="6339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Postgres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75608" y="5126735"/>
            <a:ext cx="4492107" cy="6339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Query your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62170" y="6035040"/>
            <a:ext cx="82671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691640"/>
            <a:ext cx="128016" cy="210312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691640"/>
            <a:ext cx="10738104" cy="10972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Customize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179320"/>
            <a:ext cx="128016" cy="249936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179320"/>
            <a:ext cx="10738104" cy="10972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CLAUDE.md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550920"/>
            <a:ext cx="10738104" cy="112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 file in your project root that Claude reads at the start of every session.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62170" y="6035040"/>
            <a:ext cx="82671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What Goes in CLAUDE.md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Coding standards and libraries.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Architecture and key commands.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Review checklists and data caveats.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62170" y="6035040"/>
            <a:ext cx="82671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Example CLAUDE.md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4670817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6A9955"/>
                </a:solidFill>
                <a:latin typeface="Arial"/>
              </a:rPr>
              <a:t># sales-analysis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89759"/>
            <a:ext cx="2991056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- Use pandas,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65376" y="1889759"/>
            <a:ext cx="783141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not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65637" y="1889759"/>
            <a:ext cx="159888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polars.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407918"/>
            <a:ext cx="3374574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- Raw data lives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8894" y="2407918"/>
            <a:ext cx="518959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84972" y="2407918"/>
            <a:ext cx="1383191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data/.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926077"/>
            <a:ext cx="517367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- Never commit the CSVs.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444236"/>
            <a:ext cx="3342526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- Tests: pytest -q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962395"/>
            <a:ext cx="4494555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- Plots: matplotlib only.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CLAUDE.md Pitfalls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908050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Too long crowds the context.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83409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Stale rules Claude still obeys.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58768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Vague advice it cannot act 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34127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Secrets do not belong here.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62170" y="6035040"/>
            <a:ext cx="82671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179320"/>
            <a:ext cx="128016" cy="249936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179320"/>
            <a:ext cx="10738104" cy="10972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Skills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550920"/>
            <a:ext cx="10738104" cy="112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Reusable folders of instructions, each a SKILL.md, that Claude loads on demand.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62170" y="6035040"/>
            <a:ext cx="82671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CLAUDE.md vs Skills.md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CLAUDE.md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193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8A8A9A"/>
                </a:solidFill>
                <a:latin typeface="Arial"/>
              </a:rPr>
              <a:t>Skills.md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8A8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395727"/>
            <a:ext cx="55016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Always in context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08831"/>
            <a:ext cx="55016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Project-wide rules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21935"/>
            <a:ext cx="55016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One file at the root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2395727"/>
            <a:ext cx="55016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Loaded on demand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3608831"/>
            <a:ext cx="55016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 packaged 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4821935"/>
            <a:ext cx="55016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Shared across projects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33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2170" y="6035040"/>
            <a:ext cx="82671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691640"/>
            <a:ext cx="128016" cy="210312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691640"/>
            <a:ext cx="10738104" cy="10972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More From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179320"/>
            <a:ext cx="128016" cy="249936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179320"/>
            <a:ext cx="10738104" cy="10972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Cowork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550920"/>
            <a:ext cx="10738104" cy="112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Claude Code's agent inside Claude Desktop — for non-coding work: research, analysis, and documents.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62170" y="6035040"/>
            <a:ext cx="82671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What Cowork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Reads and edits files you choose.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Works across Slack and Google Drive.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Finishes multi-step tasks, with citations.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62170" y="6035040"/>
            <a:ext cx="82671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179320"/>
            <a:ext cx="128016" cy="249936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179320"/>
            <a:ext cx="10738104" cy="10972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550920"/>
            <a:ext cx="10738104" cy="112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Standalone content Claude builds beside the chat — code, docs, and apps you can edit and share by link.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62170" y="6035040"/>
            <a:ext cx="82671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Memory &gt; Chat 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CC785C"/>
                </a:solidFill>
                <a:latin typeface="Arial"/>
              </a:rPr>
              <a:t>Memory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8A8A9A"/>
                </a:solidFill>
                <a:latin typeface="Arial"/>
              </a:rPr>
              <a:t>Chat search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8A8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395727"/>
            <a:ext cx="55016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Learns your context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08831"/>
            <a:ext cx="55016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Persists across chats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21935"/>
            <a:ext cx="55016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Separate per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2395727"/>
            <a:ext cx="55016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Looks up old chats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3608831"/>
            <a:ext cx="55016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Only when you ask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4821935"/>
            <a:ext cx="55016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One lookup at a time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38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2170" y="6035040"/>
            <a:ext cx="82671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371600"/>
            <a:ext cx="128016" cy="411480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371600"/>
            <a:ext cx="10738104" cy="4114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6600" b="1" i="0">
                <a:solidFill>
                  <a:srgbClr val="1A1A2E"/>
                </a:solidFill>
                <a:latin typeface="Arial"/>
              </a:rPr>
              <a:t>Let's build our visualization library with Claude + GitHub, from our phones.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