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914400" y="2926080"/>
            <a:ext cx="10363200" cy="100584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Quarterly Business Review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con Text Row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What Drives Us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Excellence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09215"/>
            <a:ext cx="117348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High standards in every deliverable we ship.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Integrity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621023"/>
            <a:ext cx="1133344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Transparent and honest in all we do.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Innovation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5132831"/>
            <a:ext cx="117348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Investing in ideas that shape tomorrow.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tat Callou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By the Numbers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731008"/>
            <a:ext cx="3612952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127%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4011168"/>
            <a:ext cx="50480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Revenue Target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307840" y="2731008"/>
            <a:ext cx="3576320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94%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307840" y="4011168"/>
            <a:ext cx="479167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Retention Rate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8158480" y="2731008"/>
            <a:ext cx="4033520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48 NPS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8158480" y="4011168"/>
            <a:ext cx="40335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Net Promoter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Column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Side-by-Side Evaluation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58115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Legacy Platform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Modern Stack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651887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Deploy time: 4 hours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233160" y="2395727"/>
            <a:ext cx="5903892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Deploy time: 8 min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3517391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Manual scaling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3517391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Auto-scales fast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639055"/>
            <a:ext cx="6940888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On-premise; high cost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4639055"/>
            <a:ext cx="59588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Cloud-native; low cost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melin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Key Milestones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CC785C"/>
                </a:solidFill>
                <a:latin typeface="Arial"/>
              </a:rPr>
              <a:t>Q1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54936"/>
            <a:ext cx="39432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Foundation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Cloud platform migration done.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334518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CC785C"/>
                </a:solidFill>
                <a:latin typeface="Arial"/>
              </a:rPr>
              <a:t>Q2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345180" y="2154936"/>
            <a:ext cx="39830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API Launch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34518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REST API live with 99.99% SLA.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623316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CC785C"/>
                </a:solidFill>
                <a:latin typeface="Arial"/>
              </a:rPr>
              <a:t>Q3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215493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AI Beta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AI features shipped to 500 partners.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912114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CC785C"/>
                </a:solidFill>
                <a:latin typeface="Arial"/>
              </a:rPr>
              <a:t>Q4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9121140" y="2154936"/>
            <a:ext cx="30708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Scale Out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912114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APAC regions live; global coverage.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mage Half Blee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Built in the Field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6233160" y="1499616"/>
            <a:ext cx="550164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Built with customers, not just for them.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6233160" y="2901696"/>
            <a:ext cx="550164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60% faster rollout; 50% fewer tickets.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ard Gr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What We Offer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83136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Insights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Live data and AI analytics.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3345180" y="1499616"/>
            <a:ext cx="290929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Security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334518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Zero-trust, SOC 2 ready.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6233160" y="14996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Speed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Sub-100ms p99 latency.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9121140" y="14996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APIs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912114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300+ open connectors.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ection Divi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1691640"/>
            <a:ext cx="128016" cy="21031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1691640"/>
            <a:ext cx="10738104" cy="10972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Where We Stand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Agen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What We Will Cover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280160"/>
            <a:ext cx="11277600" cy="64008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61848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CC785C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1371600" y="161848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Performance against targets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250179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CC785C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1371600" y="250179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Customer and market signals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338510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CC785C"/>
                </a:solidFill>
                <a:latin typeface="Arial"/>
              </a:rPr>
              <a:t>03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1371600" y="338510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Operational health and risks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426841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CC785C"/>
                </a:solidFill>
                <a:latin typeface="Arial"/>
              </a:rPr>
              <a:t>04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1371600" y="426841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Roadmap for next quarter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515172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CC785C"/>
                </a:solidFill>
                <a:latin typeface="Arial"/>
              </a:rPr>
              <a:t>05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1371600" y="515172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Decisions we need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ig Numb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body" idx="1"/>
          </p:nvPr>
        </p:nvSpPr>
        <p:spPr>
          <a:xfrm>
            <a:off x="457200" y="1945386"/>
            <a:ext cx="11277600" cy="18516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11550" b="1" i="0">
                <a:solidFill>
                  <a:srgbClr val="CC785C"/>
                </a:solidFill>
                <a:latin typeface="Arial"/>
              </a:rPr>
              <a:t>3.2M</a:t>
            </a:r>
          </a:p>
        </p:txBody>
      </p:sp>
      <p:sp>
        <p:nvSpPr>
          <p:cNvPr id="6" name="Rectangle 5"/>
          <p:cNvSpPr/>
          <p:nvPr>
            <p:ph type="body" idx="2"/>
          </p:nvPr>
        </p:nvSpPr>
        <p:spPr>
          <a:xfrm>
            <a:off x="5547360" y="3851910"/>
            <a:ext cx="1097280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457200" y="4181094"/>
            <a:ext cx="11277600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0" i="0">
                <a:solidFill>
                  <a:srgbClr val="1A1A2E"/>
                </a:solidFill>
                <a:latin typeface="Arial"/>
              </a:rPr>
              <a:t>Active customers worldwide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ull Quo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2301240"/>
            <a:ext cx="128016" cy="22555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2301240"/>
            <a:ext cx="10738104" cy="1371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A1A2E"/>
                </a:solidFill>
                <a:latin typeface="Arial"/>
              </a:rPr>
              <a:t>"We stopped buying tools and started buying outcomes."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94716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8A8A9A"/>
                </a:solidFill>
                <a:latin typeface="Arial"/>
              </a:rPr>
              <a:t>- VP of Engineering, enterprise customer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Defini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1920240"/>
            <a:ext cx="128016" cy="30175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1920240"/>
            <a:ext cx="11195304" cy="10972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Net Revenue Retention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291840"/>
            <a:ext cx="10738104" cy="164592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The percentage of recurring revenue retained from existing customers over a period, including expansion and after churn.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Ques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1874520"/>
            <a:ext cx="128016" cy="310896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1874520"/>
            <a:ext cx="10738104" cy="31089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6600" b="1" i="0">
                <a:solidFill>
                  <a:srgbClr val="1A1A2E"/>
                </a:solidFill>
                <a:latin typeface="Arial"/>
              </a:rPr>
              <a:t>What would we build if we trusted our customers completely?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ullet Lis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46804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What Changed This Quarter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Activation time dropped by half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Support tickets fell sharply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4346447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Expansion revenue outpaced new sales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de Block"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>
            <p:ph type="body" idx="2"/>
          </p:nvPr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>
            <p:ph type="body" idx="3"/>
          </p:nvPr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4"/>
          </p:nvPr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hello.py</a:t>
            </a:r>
          </a:p>
        </p:txBody>
      </p:sp>
      <p:sp>
        <p:nvSpPr>
          <p:cNvPr id="9" name="TextBox 8"/>
          <p:cNvSpPr/>
          <p:nvPr>
            <p:ph type="body" idx="5"/>
          </p:nvPr>
        </p:nvSpPr>
        <p:spPr>
          <a:xfrm>
            <a:off x="457200" y="1837944"/>
            <a:ext cx="78513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The classic, end to end</a:t>
            </a:r>
          </a:p>
        </p:txBody>
      </p:sp>
      <p:sp>
        <p:nvSpPr>
          <p:cNvPr id="10" name="TextBox 9"/>
          <p:cNvSpPr/>
          <p:nvPr>
            <p:ph type="body" idx="6"/>
          </p:nvPr>
        </p:nvSpPr>
        <p:spPr>
          <a:xfrm>
            <a:off x="457200" y="2356103"/>
            <a:ext cx="11432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def</a:t>
            </a:r>
          </a:p>
        </p:txBody>
      </p:sp>
      <p:sp>
        <p:nvSpPr>
          <p:cNvPr id="11" name="TextBox 10"/>
          <p:cNvSpPr/>
          <p:nvPr>
            <p:ph type="body" idx="7"/>
          </p:nvPr>
        </p:nvSpPr>
        <p:spPr>
          <a:xfrm>
            <a:off x="1057461" y="2356103"/>
            <a:ext cx="3028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</a:t>
            </a:r>
          </a:p>
        </p:txBody>
      </p:sp>
      <p:sp>
        <p:nvSpPr>
          <p:cNvPr id="12" name="TextBox 11"/>
          <p:cNvSpPr/>
          <p:nvPr>
            <p:ph type="body" idx="8"/>
          </p:nvPr>
        </p:nvSpPr>
        <p:spPr>
          <a:xfrm>
            <a:off x="1177429" y="2356103"/>
            <a:ext cx="1680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main</a:t>
            </a:r>
          </a:p>
        </p:txBody>
      </p:sp>
      <p:sp>
        <p:nvSpPr>
          <p:cNvPr id="13" name="TextBox 12"/>
          <p:cNvSpPr/>
          <p:nvPr>
            <p:ph type="body" idx="9"/>
          </p:nvPr>
        </p:nvSpPr>
        <p:spPr>
          <a:xfrm>
            <a:off x="2113347" y="2356103"/>
            <a:ext cx="83496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():</a:t>
            </a:r>
          </a:p>
        </p:txBody>
      </p:sp>
      <p:sp>
        <p:nvSpPr>
          <p:cNvPr id="14" name="TextBox 13"/>
          <p:cNvSpPr/>
          <p:nvPr>
            <p:ph type="body" idx="13"/>
          </p:nvPr>
        </p:nvSpPr>
        <p:spPr>
          <a:xfrm>
            <a:off x="457200" y="2874262"/>
            <a:ext cx="6627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</a:t>
            </a:r>
          </a:p>
        </p:txBody>
      </p:sp>
      <p:sp>
        <p:nvSpPr>
          <p:cNvPr id="15" name="TextBox 14"/>
          <p:cNvSpPr/>
          <p:nvPr>
            <p:ph type="body" idx="14"/>
          </p:nvPr>
        </p:nvSpPr>
        <p:spPr>
          <a:xfrm>
            <a:off x="937071" y="2874262"/>
            <a:ext cx="15268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print</a:t>
            </a:r>
          </a:p>
        </p:txBody>
      </p:sp>
      <p:sp>
        <p:nvSpPr>
          <p:cNvPr id="16" name="TextBox 15"/>
          <p:cNvSpPr/>
          <p:nvPr>
            <p:ph type="body" idx="15"/>
          </p:nvPr>
        </p:nvSpPr>
        <p:spPr>
          <a:xfrm>
            <a:off x="1777057" y="2874262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</a:t>
            </a:r>
          </a:p>
        </p:txBody>
      </p:sp>
      <p:sp>
        <p:nvSpPr>
          <p:cNvPr id="17" name="TextBox 16"/>
          <p:cNvSpPr/>
          <p:nvPr>
            <p:ph type="body" idx="16"/>
          </p:nvPr>
        </p:nvSpPr>
        <p:spPr>
          <a:xfrm>
            <a:off x="1920850" y="2874262"/>
            <a:ext cx="447456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"Hello, world!"</a:t>
            </a:r>
          </a:p>
        </p:txBody>
      </p:sp>
      <p:sp>
        <p:nvSpPr>
          <p:cNvPr id="18" name="TextBox 17"/>
          <p:cNvSpPr/>
          <p:nvPr>
            <p:ph type="body" idx="17"/>
          </p:nvPr>
        </p:nvSpPr>
        <p:spPr>
          <a:xfrm>
            <a:off x="4603155" y="2874262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)</a:t>
            </a:r>
          </a:p>
        </p:txBody>
      </p:sp>
      <p:sp>
        <p:nvSpPr>
          <p:cNvPr id="19" name="TextBox 18"/>
          <p:cNvSpPr/>
          <p:nvPr>
            <p:ph type="body" idx="18"/>
          </p:nvPr>
        </p:nvSpPr>
        <p:spPr>
          <a:xfrm>
            <a:off x="457200" y="3910580"/>
            <a:ext cx="1680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main</a:t>
            </a:r>
          </a:p>
        </p:txBody>
      </p:sp>
      <p:sp>
        <p:nvSpPr>
          <p:cNvPr id="20" name="TextBox 19"/>
          <p:cNvSpPr/>
          <p:nvPr>
            <p:ph type="body" idx="19"/>
          </p:nvPr>
        </p:nvSpPr>
        <p:spPr>
          <a:xfrm>
            <a:off x="1393118" y="3910580"/>
            <a:ext cx="64301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()</a:t>
            </a:r>
          </a:p>
        </p:txBody>
      </p:sp>
      <p:sp>
        <p:nvSpPr>
          <p:cNvPr id="21" name="TextBox 20"/>
          <p:cNvSpPr/>
          <p:nvPr>
            <p:ph type="body" idx="20"/>
          </p:nvPr>
        </p:nvSpPr>
        <p:spPr>
          <a:xfrm>
            <a:off x="457200" y="4946898"/>
            <a:ext cx="567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4EC9B0"/>
                </a:solidFill>
                <a:latin typeface="Arial"/>
              </a:rPr>
              <a:t>$</a:t>
            </a:r>
          </a:p>
        </p:txBody>
      </p:sp>
      <p:sp>
        <p:nvSpPr>
          <p:cNvPr id="22" name="TextBox 21"/>
          <p:cNvSpPr/>
          <p:nvPr>
            <p:ph type="body" idx="21"/>
          </p:nvPr>
        </p:nvSpPr>
        <p:spPr>
          <a:xfrm>
            <a:off x="697347" y="4946898"/>
            <a:ext cx="502241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python hello.py</a:t>
            </a:r>
          </a:p>
        </p:txBody>
      </p:sp>
      <p:sp>
        <p:nvSpPr>
          <p:cNvPr id="23" name="TextBox 22"/>
          <p:cNvSpPr/>
          <p:nvPr>
            <p:ph type="body" idx="22"/>
          </p:nvPr>
        </p:nvSpPr>
        <p:spPr>
          <a:xfrm>
            <a:off x="457200" y="5465057"/>
            <a:ext cx="398406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Hello, world!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ile Tre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Final folder shape</a:t>
            </a:r>
          </a:p>
        </p:txBody>
      </p:sp>
      <p:sp>
        <p:nvSpPr>
          <p:cNvPr id="6" name="Rounded Rectangle 5"/>
          <p:cNvSpPr/>
          <p:nvPr>
            <p:ph type="body" idx="1"/>
          </p:nvPr>
        </p:nvSpPr>
        <p:spPr>
          <a:xfrm>
            <a:off x="457200" y="1499616"/>
            <a:ext cx="11277600" cy="4261104"/>
          </a:xfrm>
          <a:prstGeom prst="roundRect">
            <a:avLst>
              <a:gd name="adj" fmla="val 3004"/>
            </a:avLst>
          </a:prstGeom>
          <a:solidFill>
            <a:srgbClr val="0C1A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822960" y="1819656"/>
            <a:ext cx="6206708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simple-eda-project/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822960" y="221589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417417" y="2215896"/>
            <a:ext cx="1451054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src/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822960" y="2612136"/>
            <a:ext cx="208514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└─ 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011873" y="2612136"/>
            <a:ext cx="367036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simple_eda/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822960" y="300837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├─ 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2606330" y="3008376"/>
            <a:ext cx="367036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__init__.py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822960" y="340461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└─ 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2606330" y="3404616"/>
            <a:ext cx="2402185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core.py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822960" y="380085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1417417" y="380085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README.md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822960" y="419709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1417417" y="4197096"/>
            <a:ext cx="4621489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pyproject.toml</a:t>
            </a:r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822960" y="459333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└─ 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1417417" y="4593336"/>
            <a:ext cx="2402185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LICENSE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umbered 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Three Steps to Onboard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Connect your data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1461983" y="2185416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Link a source in minutes with a guided wizard.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011424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Pick a template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1461983" y="3697224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Start from a proven layout, then tailor it.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523232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03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Share the result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1461983" y="5209032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Publish to your team and gather feedback fast.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wo Panel Lis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Onboarding, Reworked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Before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Arial"/>
              </a:rPr>
              <a:t>After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395727"/>
            <a:ext cx="694257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Manual account setup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3608831"/>
            <a:ext cx="7594321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Three-day approval wait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821935"/>
            <a:ext cx="590423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Email-only support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One-click provisioning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3608831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Same-day approval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In-product live chat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his vs Tha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Cloud or On-Prem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731008"/>
            <a:ext cx="4792980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600" b="1" i="0">
                <a:solidFill>
                  <a:srgbClr val="1A1A2E"/>
                </a:solidFill>
                <a:latin typeface="Arial"/>
              </a:rPr>
              <a:t>3 wks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0" y="4011168"/>
            <a:ext cx="655732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Cloud time-to-launch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941820" y="2731008"/>
            <a:ext cx="4792980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600" b="1" i="0">
                <a:solidFill>
                  <a:srgbClr val="1A1A2E"/>
                </a:solidFill>
                <a:latin typeface="Arial"/>
              </a:rPr>
              <a:t>6 mo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5599341" y="4011168"/>
            <a:ext cx="659265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On-prem time-to-launch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5435323" y="3310127"/>
            <a:ext cx="1321355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8A8A9A"/>
                </a:solidFill>
                <a:latin typeface="Arial"/>
              </a:rPr>
              <a:t>VS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KPI Gr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Key Metrics This Quarter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CC785C"/>
                </a:solidFill>
                <a:latin typeface="Arial"/>
              </a:rPr>
              <a:t>98.7%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1708912" y="2484120"/>
            <a:ext cx="1072896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593848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Uptime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30784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CC785C"/>
                </a:solidFill>
                <a:latin typeface="Arial"/>
              </a:rPr>
              <a:t>1,240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5559552" y="2484120"/>
            <a:ext cx="1072896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834934" y="2593848"/>
            <a:ext cx="452213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New accounts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815848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CC785C"/>
                </a:solidFill>
                <a:latin typeface="Arial"/>
              </a:rPr>
              <a:t>4.6/5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9410192" y="2484120"/>
            <a:ext cx="1072896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7685236" y="2593848"/>
            <a:ext cx="450676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Support rating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405688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CC785C"/>
                </a:solidFill>
                <a:latin typeface="Arial"/>
              </a:rPr>
              <a:t>$2.1M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1708912" y="4751832"/>
            <a:ext cx="1072896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0" y="4861560"/>
            <a:ext cx="540597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Net new revenue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4307840" y="379780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CC785C"/>
                </a:solidFill>
                <a:latin typeface="Arial"/>
              </a:rPr>
              <a:t>12 days</a:t>
            </a:r>
          </a:p>
        </p:txBody>
      </p:sp>
      <p:sp>
        <p:nvSpPr>
          <p:cNvPr id="19" name="Rectangle 18"/>
          <p:cNvSpPr/>
          <p:nvPr>
            <p:ph type="body" idx="17"/>
          </p:nvPr>
        </p:nvSpPr>
        <p:spPr>
          <a:xfrm>
            <a:off x="5559552" y="4492752"/>
            <a:ext cx="1072896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4307840" y="4602480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Avg. time to value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8158480" y="405688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CC785C"/>
                </a:solidFill>
                <a:latin typeface="Arial"/>
              </a:rPr>
              <a:t>31%</a:t>
            </a:r>
          </a:p>
        </p:txBody>
      </p:sp>
      <p:sp>
        <p:nvSpPr>
          <p:cNvPr id="22" name="Rectangle 21"/>
          <p:cNvSpPr/>
          <p:nvPr>
            <p:ph type="body" idx="20"/>
          </p:nvPr>
        </p:nvSpPr>
        <p:spPr>
          <a:xfrm>
            <a:off x="9410192" y="4751832"/>
            <a:ext cx="1072896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/>
          <p:nvPr>
            <p:ph type="body" idx="21"/>
          </p:nvPr>
        </p:nvSpPr>
        <p:spPr>
          <a:xfrm>
            <a:off x="7550805" y="4861560"/>
            <a:ext cx="4641195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Expansion rate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hart With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Monthly Active Teams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3680394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CC785C"/>
                </a:solidFill>
                <a:latin typeface="Arial"/>
              </a:rPr>
              <a:t>120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680085" y="4335714"/>
            <a:ext cx="1040129" cy="769686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8A8A9A"/>
                </a:solidFill>
                <a:latin typeface="Arial"/>
              </a:rPr>
              <a:t>Jan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2217420" y="3295551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CC785C"/>
                </a:solidFill>
                <a:latin typeface="Arial"/>
              </a:rPr>
              <a:t>180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2440305" y="3950871"/>
            <a:ext cx="1040129" cy="1154529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21742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8A8A9A"/>
                </a:solidFill>
                <a:latin typeface="Arial"/>
              </a:rPr>
              <a:t>Feb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977640" y="2590005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CC785C"/>
                </a:solidFill>
                <a:latin typeface="Arial"/>
              </a:rPr>
              <a:t>290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4200525" y="3245325"/>
            <a:ext cx="1040129" cy="1860075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397764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8A8A9A"/>
                </a:solidFill>
                <a:latin typeface="Arial"/>
              </a:rPr>
              <a:t>Mar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5737860" y="1499616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CC785C"/>
                </a:solidFill>
                <a:latin typeface="Arial"/>
              </a:rPr>
              <a:t>460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5960745" y="2154936"/>
            <a:ext cx="1040129" cy="29504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573786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8A8A9A"/>
                </a:solidFill>
                <a:latin typeface="Arial"/>
              </a:rPr>
              <a:t>Apr</a:t>
            </a:r>
          </a:p>
        </p:txBody>
      </p:sp>
      <p:sp>
        <p:nvSpPr>
          <p:cNvPr id="18" name="Rectangle 17"/>
          <p:cNvSpPr/>
          <p:nvPr>
            <p:ph type="body" idx="16"/>
          </p:nvPr>
        </p:nvSpPr>
        <p:spPr>
          <a:xfrm>
            <a:off x="7498080" y="1770888"/>
            <a:ext cx="128016" cy="371856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8037576" y="1770888"/>
            <a:ext cx="3697224" cy="37185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Activations nearly quadrupled once self-serve onboarding shipped in February.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Pricing Tiers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33373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Plan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3339579" y="1499616"/>
            <a:ext cx="223822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Seats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126448" y="1499616"/>
            <a:ext cx="202232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Price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457200" y="2072639"/>
            <a:ext cx="7691577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401823"/>
            <a:ext cx="233373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Starter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339579" y="2401823"/>
            <a:ext cx="241036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Up to 5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6126448" y="2401823"/>
            <a:ext cx="202232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$0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3310127"/>
            <a:ext cx="233373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Team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3339579" y="3310127"/>
            <a:ext cx="2794595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Up to 50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126448" y="3310127"/>
            <a:ext cx="283339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$12/seat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457200" y="4218431"/>
            <a:ext cx="298620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Business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3339579" y="4218431"/>
            <a:ext cx="317883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Up to 250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6126448" y="4218431"/>
            <a:ext cx="283339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$20/seat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457200" y="5126735"/>
            <a:ext cx="333164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Enterprise</a:t>
            </a:r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3339579" y="5126735"/>
            <a:ext cx="306244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Unlimited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6126448" y="5126735"/>
            <a:ext cx="2563177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Custom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Metric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Performance vs Last Year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290235" y="2029968"/>
            <a:ext cx="3910251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600" b="1" i="0">
                <a:solidFill>
                  <a:srgbClr val="CC785C"/>
                </a:solidFill>
                <a:latin typeface="Arial"/>
              </a:rPr>
              <a:t>$8.4M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310128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Annual recurring revenue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1522569" y="4712208"/>
            <a:ext cx="1445581" cy="518159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260802" y="4712208"/>
            <a:ext cx="1969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+24%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307840" y="2029968"/>
            <a:ext cx="3576320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600" b="1" i="0">
                <a:solidFill>
                  <a:srgbClr val="CC785C"/>
                </a:solidFill>
                <a:latin typeface="Arial"/>
              </a:rPr>
              <a:t>2.1%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834934" y="3310128"/>
            <a:ext cx="4522132" cy="1127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Monthly churn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5175547" y="4712208"/>
            <a:ext cx="1840906" cy="518159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795183" y="4712208"/>
            <a:ext cx="260163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-0.8 pts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8158480" y="2029968"/>
            <a:ext cx="3576320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600" b="1" i="0">
                <a:solidFill>
                  <a:srgbClr val="CC785C"/>
                </a:solidFill>
                <a:latin typeface="Arial"/>
              </a:rPr>
              <a:t>63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8158480" y="3310128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Net promoter score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9427731" y="4712208"/>
            <a:ext cx="1037817" cy="518159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9288294" y="4712208"/>
            <a:ext cx="131669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+11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rocess 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Onboarding Flow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01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457200" y="2194560"/>
            <a:ext cx="784098" cy="54864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414016"/>
            <a:ext cx="27156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Sign up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Create an account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34518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02</a:t>
            </a:r>
          </a:p>
        </p:txBody>
      </p:sp>
      <p:sp>
        <p:nvSpPr>
          <p:cNvPr id="11" name="Rectangle 10"/>
          <p:cNvSpPr/>
          <p:nvPr>
            <p:ph type="body" idx="6"/>
          </p:nvPr>
        </p:nvSpPr>
        <p:spPr>
          <a:xfrm>
            <a:off x="3345180" y="2194560"/>
            <a:ext cx="784098" cy="54864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345180" y="2414016"/>
            <a:ext cx="29464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Connect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334518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Link your data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03</a:t>
            </a:r>
          </a:p>
        </p:txBody>
      </p:sp>
      <p:sp>
        <p:nvSpPr>
          <p:cNvPr id="15" name="Rectangle 14"/>
          <p:cNvSpPr/>
          <p:nvPr>
            <p:ph type="body" idx="13"/>
          </p:nvPr>
        </p:nvSpPr>
        <p:spPr>
          <a:xfrm>
            <a:off x="6233160" y="2194560"/>
            <a:ext cx="784098" cy="54864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6233160" y="2414016"/>
            <a:ext cx="344499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Configure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23316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Pick your metrics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912114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04</a:t>
            </a:r>
          </a:p>
        </p:txBody>
      </p:sp>
      <p:sp>
        <p:nvSpPr>
          <p:cNvPr id="19" name="Rectangle 18"/>
          <p:cNvSpPr/>
          <p:nvPr>
            <p:ph type="body" idx="17"/>
          </p:nvPr>
        </p:nvSpPr>
        <p:spPr>
          <a:xfrm>
            <a:off x="9121140" y="2194560"/>
            <a:ext cx="784098" cy="54864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9121140" y="2414016"/>
            <a:ext cx="263941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Launch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912114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Go live in minutes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Roadma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2026 Plan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499616"/>
            <a:ext cx="3576320" cy="621791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Ship API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279647"/>
            <a:ext cx="3831928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Beta launch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4307840" y="1499616"/>
            <a:ext cx="3576320" cy="621791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30784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307840" y="239572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Mobile app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307840" y="3279647"/>
            <a:ext cx="379313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Integrations</a:t>
            </a:r>
          </a:p>
        </p:txBody>
      </p:sp>
      <p:sp>
        <p:nvSpPr>
          <p:cNvPr id="14" name="Rectangle 13"/>
          <p:cNvSpPr/>
          <p:nvPr>
            <p:ph type="body" idx="9"/>
          </p:nvPr>
        </p:nvSpPr>
        <p:spPr>
          <a:xfrm>
            <a:off x="8158480" y="1499616"/>
            <a:ext cx="3576320" cy="621791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815848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Q3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8158480" y="2395727"/>
            <a:ext cx="40335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Enterprise tier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8158480" y="327964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SSO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un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Sales Pipeline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499616"/>
            <a:ext cx="11277600" cy="859536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499616"/>
            <a:ext cx="1127760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Visitors · 50,000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1490980" y="2633472"/>
            <a:ext cx="9210040" cy="859536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490980" y="2633472"/>
            <a:ext cx="921004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Signups · 8,000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2524760" y="3767328"/>
            <a:ext cx="7142480" cy="859536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524760" y="3767328"/>
            <a:ext cx="714248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Trials · 2,400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3558540" y="4901184"/>
            <a:ext cx="5074919" cy="859536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3558540" y="4901184"/>
            <a:ext cx="5558452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Customers · 600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ested Circl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Job Search Funnel (2021)</a:t>
            </a:r>
          </a:p>
        </p:txBody>
      </p:sp>
      <p:sp>
        <p:nvSpPr>
          <p:cNvPr id="6" name="Oval 5"/>
          <p:cNvSpPr/>
          <p:nvPr>
            <p:ph type="body" idx="1"/>
          </p:nvPr>
        </p:nvSpPr>
        <p:spPr>
          <a:xfrm>
            <a:off x="3645408" y="1499616"/>
            <a:ext cx="4901184" cy="4901184"/>
          </a:xfrm>
          <a:prstGeom prst="ellipse">
            <a:avLst/>
          </a:prstGeom>
          <a:solidFill>
            <a:srgbClr val="8A8A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>
            <p:ph type="body" idx="2"/>
          </p:nvPr>
        </p:nvSpPr>
        <p:spPr>
          <a:xfrm>
            <a:off x="4462272" y="3133344"/>
            <a:ext cx="3267456" cy="3267456"/>
          </a:xfrm>
          <a:prstGeom prst="ellipse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>
            <p:ph type="body" idx="3"/>
          </p:nvPr>
        </p:nvSpPr>
        <p:spPr>
          <a:xfrm>
            <a:off x="5279136" y="4767072"/>
            <a:ext cx="1633728" cy="1633728"/>
          </a:xfrm>
          <a:prstGeom prst="ellipse">
            <a:avLst/>
          </a:prstGeom>
          <a:solidFill>
            <a:srgbClr val="19323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7329" y="1645920"/>
            <a:ext cx="3037342" cy="762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5000" b="1" i="0">
                <a:solidFill>
                  <a:srgbClr val="FFFFFF"/>
                </a:solidFill>
                <a:latin typeface="Arial"/>
              </a:rPr>
              <a:t>&gt;700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594080" y="2316480"/>
            <a:ext cx="5003840" cy="6705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400" b="0" i="0">
                <a:solidFill>
                  <a:srgbClr val="FFFFFF"/>
                </a:solidFill>
                <a:latin typeface="Arial"/>
              </a:rPr>
              <a:t>Applications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840583" y="3401568"/>
            <a:ext cx="251083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358104" y="3950208"/>
            <a:ext cx="3475792" cy="5486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5296524" y="5157216"/>
            <a:ext cx="159895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1.5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5235159" y="5583935"/>
            <a:ext cx="1721683" cy="4267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Arial"/>
              </a:rPr>
              <a:t>Offers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yram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Hierarchy of Needs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3840480" y="1499616"/>
            <a:ext cx="4511040" cy="859536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3840480" y="1499616"/>
            <a:ext cx="451104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Vision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2712720" y="2633472"/>
            <a:ext cx="6766560" cy="859536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2712720" y="2633472"/>
            <a:ext cx="676656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Strategy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1584960" y="3767328"/>
            <a:ext cx="9022080" cy="859536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1584960" y="3767328"/>
            <a:ext cx="902208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Goals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457200" y="4901184"/>
            <a:ext cx="11277600" cy="859536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4901184"/>
            <a:ext cx="1127760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Tactics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WO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SWOT Analysis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CC785C"/>
                </a:solidFill>
                <a:latin typeface="Arial"/>
              </a:rPr>
              <a:t>Strengths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457200" y="2176271"/>
            <a:ext cx="1650492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 strong brand with loyal users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Arial"/>
              </a:rPr>
              <a:t>Weaknesses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6233160" y="2176271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2395727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Thin margins and a small team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3767328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CC785C"/>
                </a:solidFill>
                <a:latin typeface="Arial"/>
              </a:rPr>
              <a:t>Opportunities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457200" y="4443983"/>
            <a:ext cx="1650492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457200" y="4663439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New markets through partnerships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233160" y="3767328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Arial"/>
              </a:rPr>
              <a:t>Threats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6233160" y="4443983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233160" y="4663439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New entrants driving price pressure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Matrix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Evaluation Matrix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3280182" y="1499616"/>
            <a:ext cx="365043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1A1A2E"/>
                </a:solidFill>
                <a:latin typeface="Arial"/>
              </a:rPr>
              <a:t>Platform A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5973987" y="1499616"/>
            <a:ext cx="367607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1A1A2E"/>
                </a:solidFill>
                <a:latin typeface="Arial"/>
              </a:rPr>
              <a:t>Platform B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8680611" y="1499616"/>
            <a:ext cx="351138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1A1A2E"/>
                </a:solidFill>
                <a:latin typeface="Arial"/>
              </a:rPr>
              <a:t>Platform C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457200" y="2072639"/>
            <a:ext cx="11277600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401823"/>
            <a:ext cx="3157728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Security</a:t>
            </a:r>
          </a:p>
        </p:txBody>
      </p:sp>
      <p:sp>
        <p:nvSpPr>
          <p:cNvPr id="11" name="Rectangle 10"/>
          <p:cNvSpPr/>
          <p:nvPr>
            <p:ph type="body" idx="6"/>
          </p:nvPr>
        </p:nvSpPr>
        <p:spPr>
          <a:xfrm>
            <a:off x="4245247" y="2401823"/>
            <a:ext cx="1720305" cy="518159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901063" y="2401823"/>
            <a:ext cx="240867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Strong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491979" y="2401823"/>
            <a:ext cx="2640091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Medium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9302496" y="2401823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Strong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3612895"/>
            <a:ext cx="327902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Workflow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3785355" y="3612895"/>
            <a:ext cx="2640091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Medium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595872" y="3612895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Strong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9198603" y="3612895"/>
            <a:ext cx="2640091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Medium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457200" y="4823967"/>
            <a:ext cx="3157728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Support</a:t>
            </a:r>
          </a:p>
        </p:txBody>
      </p:sp>
      <p:sp>
        <p:nvSpPr>
          <p:cNvPr id="20" name="Rectangle 19"/>
          <p:cNvSpPr/>
          <p:nvPr>
            <p:ph type="body" idx="18"/>
          </p:nvPr>
        </p:nvSpPr>
        <p:spPr>
          <a:xfrm>
            <a:off x="4245247" y="4823967"/>
            <a:ext cx="1720305" cy="518159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3901063" y="4823967"/>
            <a:ext cx="240867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Strong</a:t>
            </a:r>
          </a:p>
        </p:txBody>
      </p:sp>
      <p:sp>
        <p:nvSpPr>
          <p:cNvPr id="22" name="TextBox 21"/>
          <p:cNvSpPr/>
          <p:nvPr>
            <p:ph type="body" idx="20"/>
          </p:nvPr>
        </p:nvSpPr>
        <p:spPr>
          <a:xfrm>
            <a:off x="6595872" y="4823967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Strong</a:t>
            </a:r>
          </a:p>
        </p:txBody>
      </p:sp>
      <p:sp>
        <p:nvSpPr>
          <p:cNvPr id="23" name="TextBox 22"/>
          <p:cNvSpPr/>
          <p:nvPr>
            <p:ph type="body" idx="21"/>
          </p:nvPr>
        </p:nvSpPr>
        <p:spPr>
          <a:xfrm>
            <a:off x="9198603" y="4823967"/>
            <a:ext cx="2640091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Medium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Relationship Id="rId37" Type="http://schemas.openxmlformats.org/officeDocument/2006/relationships/slideLayout" Target="../slideLayouts/slideLayout36.xml"/><Relationship Id="rId38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38.xml"/><Relationship Id="rId40" Type="http://schemas.openxmlformats.org/officeDocument/2006/relationships/slideLayout" Target="../slideLayouts/slideLayout39.xml"/><Relationship Id="rId41" Type="http://schemas.openxmlformats.org/officeDocument/2006/relationships/slideLayout" Target="../slideLayouts/slideLayout40.xml"/><Relationship Id="rId42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  <p:sldLayoutId id="2147483723" r:id="rId24"/>
    <p:sldLayoutId id="2147483724" r:id="rId25"/>
    <p:sldLayoutId id="2147483725" r:id="rId26"/>
    <p:sldLayoutId id="2147483726" r:id="rId27"/>
    <p:sldLayoutId id="214748372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  <p:sldLayoutId id="2147483736" r:id="rId37"/>
    <p:sldLayoutId id="2147483737" r:id="rId38"/>
    <p:sldLayoutId id="2147483738" r:id="rId39"/>
    <p:sldLayoutId id="2147483739" r:id="rId40"/>
    <p:sldLayoutId id="2147483740" r:id="rId41"/>
    <p:sldLayoutId id="2147483741" r:id="rId4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hyperlink" Target="https://code.claude.com/docs/en/cli-reference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hyperlink" Target="https://code.claude.com/docs/en/overview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hyperlink" Target="https://code.claude.com/docs/en/overview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hyperlink" Target="https://code.claude.com/docs/en/claude-code-on-the-web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hyperlink" Target="https://code.claude.com/docs/en/desktop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hyperlink" Target="https://code.claude.com/docs/en/web-quickstart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hyperlink" Target="https://code.claude.com/docs/en/mobile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hyperlink" Target="https://code.claude.com/docs/en/remote-control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hyperlink" Target="https://www.anthropic.com/news/model-context-protocol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hyperlink" Target="https://code.claude.com/docs/en/mcp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hyperlink" Target="https://code.claude.com/docs/en/mcp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hyperlink" Target="https://code.claude.com/docs/en/mcp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hyperlink" Target="https://code.claude.com/docs/en/memory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hyperlink" Target="https://code.claude.com/docs/en/memory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hyperlink" Target="https://code.claude.com/docs/en/memory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hyperlink" Target="https://code.claude.com/docs/en/skills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hyperlink" Target="https://code.claude.com/docs/en/skills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hyperlink" Target="https://www.anthropic.com/product/claude-cowork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hyperlink" Target="https://www.anthropic.com/product/claude-cowork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hyperlink" Target="https://support.claude.com/en/articles/9487310-what-are-artifacts-and-how-do-i-use-them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hyperlink" Target="https://support.claude.com/en/articles/11817273-use-claude-s-chat-search-and-memory-to-build-on-previous-context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63200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Claude Code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38400"/>
            <a:ext cx="128016" cy="198120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38400"/>
            <a:ext cx="10738104" cy="10972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Claude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81000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 terminal AI agent that writes and runs your code.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Chat vs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31008"/>
            <a:ext cx="4792980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600" b="1" i="0">
                <a:solidFill>
                  <a:srgbClr val="1A1A2E"/>
                </a:solidFill>
                <a:latin typeface="Arial"/>
              </a:rPr>
              <a:t>Chat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011168"/>
            <a:ext cx="695573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You ferry code around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1820" y="2731008"/>
            <a:ext cx="4792980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600" b="1" i="0">
                <a:solidFill>
                  <a:srgbClr val="1A1A2E"/>
                </a:solidFill>
                <a:latin typeface="Arial"/>
              </a:rPr>
              <a:t>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36730" y="4011168"/>
            <a:ext cx="605527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It works in your repo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35323" y="3310127"/>
            <a:ext cx="1321355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8A8A9A"/>
                </a:solidFill>
                <a:latin typeface="Arial"/>
              </a:rPr>
              <a:t>VS</a:t>
            </a:r>
          </a:p>
        </p:txBody>
      </p:sp>
      <p:sp>
        <p:nvSpPr>
          <p:cNvPr id="8" name="TextBox 7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What It Can Do in Your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Explore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9215"/>
            <a:ext cx="11512232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Read files, schemas, and notebooks.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Execute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21023"/>
            <a:ext cx="112776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Run scripts, queries, and tests.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Iterate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32831"/>
            <a:ext cx="11357054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Check outputs and fix its own errors.</a:t>
            </a:r>
          </a:p>
        </p:txBody>
      </p:sp>
      <p:sp>
        <p:nvSpPr>
          <p:cNvPr id="9" name="TextBox 8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Terminal 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37944"/>
            <a:ext cx="567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4EC9B0"/>
                </a:solidFill>
                <a:latin typeface="Arial"/>
              </a:rPr>
              <a:t>$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7347" y="1837944"/>
            <a:ext cx="897675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cd sales-analysis &amp;&amp; claude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874262"/>
            <a:ext cx="1018579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&gt; Profile sales.csv: nulls, dtypes,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92421"/>
            <a:ext cx="947535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outliers. Save it to profile.md.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28739"/>
            <a:ext cx="621155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Reading sales.csv (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5119" y="4428739"/>
            <a:ext cx="567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5265" y="4428739"/>
            <a:ext cx="379110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.2M rows)...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946898"/>
            <a:ext cx="778627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Running profiling script...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465057"/>
            <a:ext cx="562221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Wrote profile.md: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56782" y="5465057"/>
            <a:ext cx="567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6928" y="5465057"/>
            <a:ext cx="294808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findings.</a:t>
            </a:r>
          </a:p>
        </p:txBody>
      </p:sp>
      <p:sp>
        <p:nvSpPr>
          <p:cNvPr id="17" name="TextBox 16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Everyday Workflows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Profile new data in minutes.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45180" y="1499616"/>
            <a:ext cx="310022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Cleaning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4518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Fix types, nulls, duplicates.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3160" y="1499616"/>
            <a:ext cx="321458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Modeling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316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Fast first baselines.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21140" y="1499616"/>
            <a:ext cx="30708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Reporting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2114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Plots and write-ups.</a:t>
            </a:r>
          </a:p>
        </p:txBody>
      </p:sp>
      <p:sp>
        <p:nvSpPr>
          <p:cNvPr id="11" name="TextBox 10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How It Works on a Task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94560"/>
            <a:ext cx="784098" cy="54864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14016"/>
            <a:ext cx="271700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Explore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Scans the data and code.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4518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3345180" y="2194560"/>
            <a:ext cx="784098" cy="54864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45180" y="24140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4518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Proposes an approach.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160" y="2194560"/>
            <a:ext cx="784098" cy="54864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160" y="2414016"/>
            <a:ext cx="28327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Execute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16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Writes and runs the code.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114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21140" y="2194560"/>
            <a:ext cx="784098" cy="54864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21140" y="24140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Verify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114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Checks results, then iterates.</a:t>
            </a:r>
          </a:p>
        </p:txBody>
      </p:sp>
      <p:sp>
        <p:nvSpPr>
          <p:cNvPr id="19" name="TextBox 18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A Typical Day, Reworked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Arial"/>
              </a:rPr>
              <a:t>Before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9588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CC785C"/>
                </a:solidFill>
                <a:latin typeface="Arial"/>
              </a:rPr>
              <a:t>With Claude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8556427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Boilerplate pandas by 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732478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Stack Overflow detours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Stale notebooks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Describe the outcome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Errors debugged in place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Committed with notes</a:t>
            </a:r>
          </a:p>
        </p:txBody>
      </p:sp>
      <p:sp>
        <p:nvSpPr>
          <p:cNvPr id="13" name="TextBox 12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355942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Commands Worth Knowing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356070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Command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82739" y="1499616"/>
            <a:ext cx="428970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What it does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72639"/>
            <a:ext cx="6982323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401823"/>
            <a:ext cx="247689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82739" y="2401823"/>
            <a:ext cx="475253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Start a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10127"/>
            <a:ext cx="247689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/init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82739" y="3310127"/>
            <a:ext cx="5928518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Write CLAUDE.md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18431"/>
            <a:ext cx="2985868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/compact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82739" y="4218431"/>
            <a:ext cx="5110123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Trim the context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6735"/>
            <a:ext cx="3025001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claude -p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2739" y="5126735"/>
            <a:ext cx="4944824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One-shot mode</a:t>
            </a:r>
          </a:p>
        </p:txBody>
      </p:sp>
      <p:sp>
        <p:nvSpPr>
          <p:cNvPr id="14" name="TextBox 13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9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Two Commands, Up Close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/init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9215"/>
            <a:ext cx="11734800" cy="1383793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Scans your project, writes a starter CLAUDE.md.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76732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claude -p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76927"/>
            <a:ext cx="11734800" cy="1383793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One-shot: run a prompt, print the answer, exit.</a:t>
            </a:r>
          </a:p>
        </p:txBody>
      </p:sp>
      <p:sp>
        <p:nvSpPr>
          <p:cNvPr id="7" name="TextBox 6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10</a:t>
            </a:fld>
          </a:p>
        </p:txBody>
      </p:sp>
      <p:sp>
        <p:nvSpPr>
          <p:cNvPr id="8" name="TextBox 7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Habits That Make It Shine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08050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Keep a CLAUDE.md with data caveats.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8340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Ask for a plan before a big analysis.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5876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Have it verify outputs, not just run.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3412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Commit small, reviewable steps.</a:t>
            </a:r>
          </a:p>
        </p:txBody>
      </p:sp>
      <p:sp>
        <p:nvSpPr>
          <p:cNvPr id="7" name="TextBox 6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11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91640"/>
            <a:ext cx="128016" cy="21031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691640"/>
            <a:ext cx="10738104" cy="10972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11953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One Claude, Many Surfaces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12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Same Engine, Everywhere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One engine: terminal, IDE, desktop, web.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Your CLAUDE.md and MCP servers come too.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Start on the laptop, finish on your phone.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13</a:t>
            </a:fld>
          </a:p>
        </p:txBody>
      </p:sp>
      <p:sp>
        <p:nvSpPr>
          <p:cNvPr id="7" name="TextBox 6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Three Ways to Run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99816" y="1499616"/>
            <a:ext cx="301116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1A1A2E"/>
                </a:solidFill>
                <a:latin typeface="Arial"/>
              </a:rPr>
              <a:t>Terminal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5872" y="1499616"/>
            <a:ext cx="243230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1A1A2E"/>
                </a:solidFill>
                <a:latin typeface="Arial"/>
              </a:rPr>
              <a:t>Web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64340" y="1499616"/>
            <a:ext cx="290861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1A1A2E"/>
                </a:solidFill>
                <a:latin typeface="Arial"/>
              </a:rPr>
              <a:t>Desktop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72639"/>
            <a:ext cx="11277600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401823"/>
            <a:ext cx="3157728" cy="15422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Runs 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89248" y="2401823"/>
            <a:ext cx="2432304" cy="1542288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Your machine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03549" y="2401823"/>
            <a:ext cx="3216950" cy="15422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The cloud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02496" y="2401823"/>
            <a:ext cx="2432304" cy="1542288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Your machine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218431"/>
            <a:ext cx="3157728" cy="15422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Setup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8034" y="4218431"/>
            <a:ext cx="3254732" cy="15422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Install CLI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07682" y="4218431"/>
            <a:ext cx="1408684" cy="518159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6984" y="4218431"/>
            <a:ext cx="19100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None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52488" y="4218431"/>
            <a:ext cx="3332321" cy="15422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Install app</a:t>
            </a:r>
          </a:p>
        </p:txBody>
      </p:sp>
      <p:sp>
        <p:nvSpPr>
          <p:cNvPr id="16" name="TextBox 15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14</a:t>
            </a:fld>
          </a:p>
        </p:txBody>
      </p:sp>
      <p:sp>
        <p:nvSpPr>
          <p:cNvPr id="17" name="TextBox 16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On the Internet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Cloud-run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9215"/>
            <a:ext cx="117348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Runs at claude.ai/code on Anthropic's cloud.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Isolated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21023"/>
            <a:ext cx="11280814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Each task gets its own sandbox VM.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Persistent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32831"/>
            <a:ext cx="117348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Keeps running after you close the tab.</a:t>
            </a:r>
          </a:p>
        </p:txBody>
      </p:sp>
      <p:sp>
        <p:nvSpPr>
          <p:cNvPr id="9" name="TextBox 8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15</a:t>
            </a:fld>
          </a:p>
        </p:txBody>
      </p:sp>
      <p:sp>
        <p:nvSpPr>
          <p:cNvPr id="10" name="TextBox 9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Claude Desktop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 standalone app, no terminal needed.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Review diffs, run sessions side by side.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Schedule repeats and start cloud runs.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16</a:t>
            </a:fld>
          </a:p>
        </p:txBody>
      </p:sp>
      <p:sp>
        <p:nvSpPr>
          <p:cNvPr id="7" name="TextBox 6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91640"/>
            <a:ext cx="128016" cy="21031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691640"/>
            <a:ext cx="10738104" cy="10972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Drive It From Your Phone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17</a:t>
            </a:fld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Connect GitHub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Sign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1983" y="2185416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Open claude.ai/code and log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1424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Link GitHub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1983" y="3697224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Grant access to the repos you choose.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23232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Pick a repo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1983" y="5209032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Claude clones it into a cloud sandbox.</a:t>
            </a:r>
          </a:p>
        </p:txBody>
      </p:sp>
      <p:sp>
        <p:nvSpPr>
          <p:cNvPr id="12" name="TextBox 11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18</a:t>
            </a:fld>
          </a:p>
        </p:txBody>
      </p:sp>
      <p:sp>
        <p:nvSpPr>
          <p:cNvPr id="13" name="TextBox 12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Start a Task Anywhere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Describe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1983" y="2185416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Type the task in the Claude mobile app.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1424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Let it run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1983" y="3697224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Work continues in the background.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23232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1983" y="5209032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Approve the branch Claude pushes.</a:t>
            </a:r>
          </a:p>
        </p:txBody>
      </p:sp>
      <p:sp>
        <p:nvSpPr>
          <p:cNvPr id="12" name="TextBox 11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19</a:t>
            </a:fld>
          </a:p>
        </p:txBody>
      </p:sp>
      <p:sp>
        <p:nvSpPr>
          <p:cNvPr id="13" name="TextBox 12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Remote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883409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Step away and work from your phone.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58768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Continue a live session from any browser.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20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Move Between Surfaces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37944"/>
            <a:ext cx="567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4EC9B0"/>
                </a:solidFill>
                <a:latin typeface="Arial"/>
              </a:rPr>
              <a:t>$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7347" y="1837944"/>
            <a:ext cx="471441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claude --cloud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56103"/>
            <a:ext cx="509764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Runs this task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8926" y="2356103"/>
            <a:ext cx="72060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65004" y="2356103"/>
            <a:ext cx="337077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the cloud.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92421"/>
            <a:ext cx="865054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&gt; Pick it up later, anywhere: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910580"/>
            <a:ext cx="567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4EC9B0"/>
                </a:solidFill>
                <a:latin typeface="Arial"/>
              </a:rPr>
              <a:t>$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7347" y="3910580"/>
            <a:ext cx="536717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claude --teleport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46898"/>
            <a:ext cx="1024348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One session follows you across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465057"/>
            <a:ext cx="513812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laptop, phone,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4226" y="5465057"/>
            <a:ext cx="133558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4666" y="5465057"/>
            <a:ext cx="298586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browser.</a:t>
            </a:r>
          </a:p>
        </p:txBody>
      </p:sp>
      <p:sp>
        <p:nvSpPr>
          <p:cNvPr id="18" name="TextBox 17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21</a:t>
            </a:fld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91640"/>
            <a:ext cx="128016" cy="21031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691640"/>
            <a:ext cx="10738104" cy="10972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MCP: Plug In Your Tools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22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38400"/>
            <a:ext cx="128016" cy="198120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38400"/>
            <a:ext cx="10738104" cy="10972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81000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An open standard linking AI tools to your data.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23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What MCP Unlocks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70316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Read design docs from Google Drive.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Update Jira, pull data from Slack.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Query your own database and APIs.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24</a:t>
            </a:fld>
          </a:p>
        </p:txBody>
      </p:sp>
      <p:sp>
        <p:nvSpPr>
          <p:cNvPr id="7" name="TextBox 6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Without MCP vs With MCP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Arial"/>
              </a:rPr>
              <a:t>Without MCP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CC785C"/>
                </a:solidFill>
                <a:latin typeface="Arial"/>
              </a:rPr>
              <a:t>With MCP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686633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Paste data in by 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748030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Screenshot dashboards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7055921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Describe your schema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Claude queries the DB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Reads the ticket itself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Always current data</a:t>
            </a:r>
          </a:p>
        </p:txBody>
      </p:sp>
      <p:sp>
        <p:nvSpPr>
          <p:cNvPr id="13" name="TextBox 12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25</a:t>
            </a:fld>
          </a:p>
        </p:txBody>
      </p:sp>
      <p:sp>
        <p:nvSpPr>
          <p:cNvPr id="14" name="TextBox 13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Servers You Can (normally) Connect 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33412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Server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75608" y="1499616"/>
            <a:ext cx="678503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What Claude can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72639"/>
            <a:ext cx="7110515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401823"/>
            <a:ext cx="2069768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Drive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75608" y="2401823"/>
            <a:ext cx="571363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Read design docs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10127"/>
            <a:ext cx="2069768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Jira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75608" y="3310127"/>
            <a:ext cx="456059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Update tickets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18431"/>
            <a:ext cx="2069768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Slack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75608" y="4218431"/>
            <a:ext cx="5789532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Pull conversations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6735"/>
            <a:ext cx="2909292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Postgres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75608" y="5126735"/>
            <a:ext cx="5136772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Query your data</a:t>
            </a:r>
          </a:p>
        </p:txBody>
      </p:sp>
      <p:sp>
        <p:nvSpPr>
          <p:cNvPr id="14" name="TextBox 13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26</a:t>
            </a:fld>
          </a:p>
        </p:txBody>
      </p:sp>
      <p:sp>
        <p:nvSpPr>
          <p:cNvPr id="15" name="TextBox 14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91640"/>
            <a:ext cx="128016" cy="21031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691640"/>
            <a:ext cx="10738104" cy="10972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Customize Claude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27</a:t>
            </a:fld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38400"/>
            <a:ext cx="128016" cy="198120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38400"/>
            <a:ext cx="10738104" cy="10972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CLAUDE.md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81000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 project file Claude reads every session.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28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What Goes in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Coding standards and libraries.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Architecture and key commands.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8081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Review checklists and data caveats.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29</a:t>
            </a:fld>
          </a:p>
        </p:txBody>
      </p:sp>
      <p:sp>
        <p:nvSpPr>
          <p:cNvPr id="7" name="TextBox 6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Example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36357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sales-analysis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89759"/>
            <a:ext cx="467596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- Use pandas,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65376" y="1889759"/>
            <a:ext cx="11432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not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65637" y="1889759"/>
            <a:ext cx="24484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polars.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07918"/>
            <a:ext cx="528959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- Raw data lives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8894" y="2407918"/>
            <a:ext cx="72060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84972" y="2407918"/>
            <a:ext cx="21033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data/.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926077"/>
            <a:ext cx="816814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- Never commit the CSVs.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44236"/>
            <a:ext cx="523831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- Tests: pytest -q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962395"/>
            <a:ext cx="70815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- Plots: matplotlib only.</a:t>
            </a:r>
          </a:p>
        </p:txBody>
      </p:sp>
      <p:sp>
        <p:nvSpPr>
          <p:cNvPr id="13" name="TextBox 12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30</a:t>
            </a:fld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CLAUDE.md Pitfalls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08050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Too long crowds the context.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8340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Stale rules Claude still obeys.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5876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Vague advice it cannot act 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3412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Secrets do not belong here.</a:t>
            </a:r>
          </a:p>
        </p:txBody>
      </p:sp>
      <p:sp>
        <p:nvSpPr>
          <p:cNvPr id="7" name="TextBox 6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31</a:t>
            </a:fld>
          </a:p>
        </p:txBody>
      </p:sp>
      <p:sp>
        <p:nvSpPr>
          <p:cNvPr id="8" name="TextBox 7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38400"/>
            <a:ext cx="128016" cy="198120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38400"/>
            <a:ext cx="10738104" cy="10972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Skills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81000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Reusable instruction folders, loaded on demand.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32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CLAUDE.md vs Skills.md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CLAUDE.md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Arial"/>
              </a:rPr>
              <a:t>Skills.md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552033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Always in 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5673486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Project-wide rules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5866785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One file at the root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Loaded on demand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 packaged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Shared across projects</a:t>
            </a:r>
          </a:p>
        </p:txBody>
      </p:sp>
      <p:sp>
        <p:nvSpPr>
          <p:cNvPr id="13" name="TextBox 12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33</a:t>
            </a:fld>
          </a:p>
        </p:txBody>
      </p:sp>
      <p:sp>
        <p:nvSpPr>
          <p:cNvPr id="14" name="TextBox 13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91640"/>
            <a:ext cx="128016" cy="21031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691640"/>
            <a:ext cx="10738104" cy="10972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More From Claude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34</a:t>
            </a:fld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38400"/>
            <a:ext cx="128016" cy="198120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38400"/>
            <a:ext cx="10738104" cy="10972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Cowork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81000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Claude Code in Claude Desktop, for non-code work.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35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What Cowork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Reads and edits files you choose.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Works across Slack and Google Drive.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Finishes multi-step tasks, with citations.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36</a:t>
            </a:fld>
          </a:p>
        </p:txBody>
      </p:sp>
      <p:sp>
        <p:nvSpPr>
          <p:cNvPr id="7" name="TextBox 6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38400"/>
            <a:ext cx="128016" cy="198120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38400"/>
            <a:ext cx="10738104" cy="10972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81000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Shareable code, docs and apps built beside chat.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37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Memory &gt; Chat 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CC785C"/>
                </a:solidFill>
                <a:latin typeface="Arial"/>
              </a:rPr>
              <a:t>Memory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Arial"/>
              </a:rPr>
              <a:t>Chat search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6250681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Learns your 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6709806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Persists across chats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6442968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Separate per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944036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Looks up old chats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Only when you 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One lookup at a time</a:t>
            </a:r>
          </a:p>
        </p:txBody>
      </p:sp>
      <p:sp>
        <p:nvSpPr>
          <p:cNvPr id="13" name="TextBox 12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38</a:t>
            </a:fld>
          </a:p>
        </p:txBody>
      </p:sp>
      <p:sp>
        <p:nvSpPr>
          <p:cNvPr id="14" name="TextBox 13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880360"/>
            <a:ext cx="128016" cy="109728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880360"/>
            <a:ext cx="11195304" cy="10972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1A1A2E"/>
                </a:solidFill>
                <a:latin typeface="Arial"/>
              </a:rPr>
              <a:t>Build it from our phones.</a:t>
            </a:r>
          </a:p>
        </p:txBody>
      </p:sp>
      <p:sp>
        <p:nvSpPr>
          <p:cNvPr id="4" name="TextBox 3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39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