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31008"/>
            <a:ext cx="3612952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401116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3100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401116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31008"/>
            <a:ext cx="40335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401116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1945386"/>
            <a:ext cx="11277600" cy="18516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1550" b="1" i="0">
                <a:solidFill>
                  <a:srgbClr val="CC785C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851910"/>
            <a:ext cx="109728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8109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20240"/>
            <a:ext cx="128016" cy="30175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20240"/>
            <a:ext cx="111953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9184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874520"/>
            <a:ext cx="128016" cy="31089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874520"/>
            <a:ext cx="10738104" cy="31089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48462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701280" y="2593848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CC785C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701280" y="4861560"/>
            <a:ext cx="44907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CC785C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8A8A9A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290235" y="2029968"/>
            <a:ext cx="391025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1012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712208"/>
            <a:ext cx="1445581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71220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2996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31012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712208"/>
            <a:ext cx="1840906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712208"/>
            <a:ext cx="260163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29968"/>
            <a:ext cx="357632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CC785C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31012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712208"/>
            <a:ext cx="1037817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712208"/>
            <a:ext cx="131669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2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845296" y="1499616"/>
            <a:ext cx="33467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code.claude.com/docs/en/cli-referenc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overview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hyperlink" Target="https://code.claude.com/docs/en/overview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hyperlink" Target="https://code.claude.com/docs/en/claude-code-on-the-web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deskto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code.claude.com/docs/en/web-quickstart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hyperlink" Target="https://code.claude.com/docs/en/mobil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remote-contro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www.anthropic.com/news/model-context-protocol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cp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code.claude.com/docs/en/mcp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mcp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code.claude.com/docs/en/memor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emory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code.claude.com/docs/en/memory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code.claude.com/docs/en/skill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code.claude.com/docs/en/skill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www.anthropic.com/product/claude-cowork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hyperlink" Target="https://www.anthropic.com/product/claude-cowork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hyperlink" Target="https://support.claude.com/en/articles/9487310-what-are-artifacts-and-how-do-i-use-them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hyperlink" Target="https://support.claude.com/en/articles/11817273-use-claude-s-chat-search-and-memory-to-build-on-previous-context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6320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terminal AI agent that writes and runs your code.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Chat vs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 ferry code around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1820" y="2731008"/>
            <a:ext cx="4792980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600" b="1" i="0">
                <a:solidFill>
                  <a:srgbClr val="1A1A2E"/>
                </a:solidFill>
                <a:latin typeface="Arial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4620" y="4011168"/>
            <a:ext cx="57073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It works in your repo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5323" y="3310127"/>
            <a:ext cx="132135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Arial"/>
              </a:rPr>
              <a:t>VS</a:t>
            </a:r>
          </a:p>
        </p:txBody>
      </p:sp>
      <p:sp>
        <p:nvSpPr>
          <p:cNvPr id="8" name="TextBox 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It Can Do in Your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Explore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512232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files, schemas, and notebooks.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Execute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 scripts, queries, and tests.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Iterate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357054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 outputs and fix its own errors.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Terminal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897675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cd sales-analysis &amp;&amp; claude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74262"/>
            <a:ext cx="1018579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Profile sales.csv: nulls, dtypes,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92421"/>
            <a:ext cx="94753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outliers. Save it to profile.md.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28739"/>
            <a:ext cx="621155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Reading sales.csv (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5119" y="4428739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5265" y="4428739"/>
            <a:ext cx="379110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.2M rows)...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946898"/>
            <a:ext cx="77862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Running profiling script...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65057"/>
            <a:ext cx="562221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Wrote profile.md: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6782" y="5465057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B5CEA8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928" y="5465057"/>
            <a:ext cx="294808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findings.</a:t>
            </a:r>
          </a:p>
        </p:txBody>
      </p:sp>
      <p:sp>
        <p:nvSpPr>
          <p:cNvPr id="17" name="TextBox 1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Everyday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Profile new data in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45180" y="1499616"/>
            <a:ext cx="31002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Fix types, nulls, duplicates.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33160" y="1499616"/>
            <a:ext cx="321458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Modeling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Fast first baselines.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21140" y="149961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Reporting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Plots and write-ups.</a:t>
            </a:r>
          </a:p>
        </p:txBody>
      </p:sp>
      <p:sp>
        <p:nvSpPr>
          <p:cNvPr id="11" name="TextBox 10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How It Works on a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414016"/>
            <a:ext cx="27170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the data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Proposes an approach.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160" y="2414016"/>
            <a:ext cx="2832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Execute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Writes and runs the code.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Verify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Checks results, then iterates.</a:t>
            </a:r>
          </a:p>
        </p:txBody>
      </p:sp>
      <p:sp>
        <p:nvSpPr>
          <p:cNvPr id="19" name="TextBox 1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A Typical Day, Reworked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9588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8556427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Boilerplate pandas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32478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Stack Overflow detours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notebooks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Errors debugged in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Committed with notes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355942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Commands Worth Knowing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356070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Command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82739" y="1499616"/>
            <a:ext cx="428970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6982323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4768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2739" y="2401823"/>
            <a:ext cx="47525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a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47689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82739" y="3310127"/>
            <a:ext cx="592851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Write CLAUDE.md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9858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/compact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2739" y="4218431"/>
            <a:ext cx="5110123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Trim the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3025001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2739" y="5126735"/>
            <a:ext cx="4944824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 mode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9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Two Commands, Up 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/init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138379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Scans your project, writes a starter CLAUDE.md.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76732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claude -p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376927"/>
            <a:ext cx="11734800" cy="1383793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One-shot: run a prompt, print the answer, exit.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10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Habits That Make It Shine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 a CLAUDE.md with data caveats.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Ask for a plan before a big analysis.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Have it verify outputs, not just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Commit small, reviewable steps.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11953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One Claude, Many Surfaces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12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Same Engine,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engine: terminal, IDE, desktop, web.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Your CLAUDE.md and MCP servers come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on the laptop, finish on your phone.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13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Three Ways to Run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9816" y="1499616"/>
            <a:ext cx="30111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Terminal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Web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64340" y="1499616"/>
            <a:ext cx="290861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Desktop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401823"/>
            <a:ext cx="3157728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Runs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89248" y="2401823"/>
            <a:ext cx="2432304" cy="15422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3549" y="2401823"/>
            <a:ext cx="3216950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The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02496" y="2401823"/>
            <a:ext cx="2432304" cy="1542288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Your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218431"/>
            <a:ext cx="3157728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8034" y="4218431"/>
            <a:ext cx="3254732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07682" y="4218431"/>
            <a:ext cx="1408684" cy="518159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6984" y="4218431"/>
            <a:ext cx="19100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None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52488" y="4218431"/>
            <a:ext cx="3332320" cy="15422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Install app</a:t>
            </a:r>
          </a:p>
        </p:txBody>
      </p:sp>
      <p:sp>
        <p:nvSpPr>
          <p:cNvPr id="16" name="TextBox 1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14</a:t>
            </a:fld>
          </a:p>
        </p:txBody>
      </p:sp>
      <p:sp>
        <p:nvSpPr>
          <p:cNvPr id="17" name="TextBox 1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On the Internet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Cloud-run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Runs at claude.ai/code on Anthropic's cloud.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Isolated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80814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Each task gets its own sandbox VM.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Persistent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Keeps running after you close the tab.</a:t>
            </a:r>
          </a:p>
        </p:txBody>
      </p:sp>
      <p:sp>
        <p:nvSpPr>
          <p:cNvPr id="9" name="TextBox 8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15</a:t>
            </a:fld>
          </a:p>
        </p:txBody>
      </p:sp>
      <p:sp>
        <p:nvSpPr>
          <p:cNvPr id="10" name="TextBox 9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 Desktop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standalone app, no terminal needed.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diffs, run sessions side by side.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Schedule repeats and start cloud runs.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Drive It From Your Phone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17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Connect GitHub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Sign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2728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Open claude.ai/code and log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Link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Grant access to the repos you choose.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Pick a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clones it into a cloud sandbox.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18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Start a Task Anywhere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Describe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Type the task in the Claude mobile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Let it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 continues in the background.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9323C"/>
                </a:solidFill>
                <a:latin typeface="Arial"/>
              </a:rPr>
              <a:t>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Approve the branch Claude pushes.</a:t>
            </a:r>
          </a:p>
        </p:txBody>
      </p:sp>
      <p:sp>
        <p:nvSpPr>
          <p:cNvPr id="12" name="TextBox 11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19</a:t>
            </a:fld>
          </a:p>
        </p:txBody>
      </p:sp>
      <p:sp>
        <p:nvSpPr>
          <p:cNvPr id="13" name="TextBox 12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Remote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883409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Step away and work from your phone.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5876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Continue a live session from any browser.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20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Move Between Surfaces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37944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7347" y="1837944"/>
            <a:ext cx="471441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--cloud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56103"/>
            <a:ext cx="509764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Runs this task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8926" y="2356103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5004" y="2356103"/>
            <a:ext cx="33707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the cloud.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1"/>
            <a:ext cx="865054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&gt; Pick it up later, anywhere: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10580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7347" y="3910580"/>
            <a:ext cx="53671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claude --teleport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46898"/>
            <a:ext cx="1024348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One session follows you across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65057"/>
            <a:ext cx="5138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laptop, phone,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4226" y="5465057"/>
            <a:ext cx="133558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4666" y="5465057"/>
            <a:ext cx="29858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browser.</a:t>
            </a:r>
          </a:p>
        </p:txBody>
      </p:sp>
      <p:sp>
        <p:nvSpPr>
          <p:cNvPr id="18" name="TextBox 17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MCP: Plug In Your Tools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22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An open standard linking AI tools to your data.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23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MCP Unlocks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70316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 from Google Drive.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Jira, pull data from Slack.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own database and APIs.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24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Without MCP vs With 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Without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With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86633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Paste data in by hand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748030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Screenshot dashboards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70559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Describe your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queries the DB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the ticket itself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current data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25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Servers You Can (normally) Connect 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33412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75608" y="1499616"/>
            <a:ext cx="67850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What Claude can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72639"/>
            <a:ext cx="7110515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401823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75608" y="2401823"/>
            <a:ext cx="57136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 design docs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10127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Jira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75608" y="3310127"/>
            <a:ext cx="45605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Update tickets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218431"/>
            <a:ext cx="2069768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75608" y="4218431"/>
            <a:ext cx="578953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Pull conversations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6735"/>
            <a:ext cx="290929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Postgres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5608" y="5126735"/>
            <a:ext cx="5136772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Query your data</a:t>
            </a:r>
          </a:p>
        </p:txBody>
      </p:sp>
      <p:sp>
        <p:nvSpPr>
          <p:cNvPr id="14" name="TextBox 1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26</a:t>
            </a:fld>
          </a:p>
        </p:txBody>
      </p:sp>
      <p:sp>
        <p:nvSpPr>
          <p:cNvPr id="15" name="TextBox 14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Customize Claude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27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CLAUDE.md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project file Claude reads every session.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28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Goes in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Coding standards and libraries.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Architecture and key commands.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28081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Review checklists and data caveats.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29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Example CLAUDE.md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6357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sales-analysis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89759"/>
            <a:ext cx="467596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Use pandas,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65376" y="1889759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65637" y="1889759"/>
            <a:ext cx="244848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polars.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407918"/>
            <a:ext cx="528959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Raw data lives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8894" y="2407918"/>
            <a:ext cx="72060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4972" y="2407918"/>
            <a:ext cx="2103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data/.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926077"/>
            <a:ext cx="816814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Never commit the CSVs.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44236"/>
            <a:ext cx="523831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Tests: pytest -q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62395"/>
            <a:ext cx="70815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- Plots: matplotlib only.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30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08050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Too long crowds the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8340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Stale rules Claude still obeys.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5876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Vague advice it cannot act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34127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Secrets do not belong here.</a:t>
            </a:r>
          </a:p>
        </p:txBody>
      </p:sp>
      <p:sp>
        <p:nvSpPr>
          <p:cNvPr id="7" name="TextBox 6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31</a:t>
            </a:fld>
          </a:p>
        </p:txBody>
      </p:sp>
      <p:sp>
        <p:nvSpPr>
          <p:cNvPr id="8" name="TextBox 7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Skills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Reusable instruction folders, loaded on demand.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32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CLAUDE.md vs Skills.md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9323C"/>
                </a:solidFill>
                <a:latin typeface="Arial"/>
              </a:rPr>
              <a:t>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93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Skills.md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55203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Always in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567348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Project-wide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586678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file at the root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Loaded on demand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packaged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Shared across projects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33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691640"/>
            <a:ext cx="128016" cy="210312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169164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More From Claude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34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Cowork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Claude Code in Claude Desktop, for non-code work.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35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What Cowork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Reads and edits files you choose.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371088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Works across Slack and Google Drive.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Finishes multi-step tasks, with citations.</a:t>
            </a:r>
          </a:p>
        </p:txBody>
      </p:sp>
      <p:sp>
        <p:nvSpPr>
          <p:cNvPr id="6" name="TextBox 5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36</a:t>
            </a:fld>
          </a:p>
        </p:txBody>
      </p:sp>
      <p:sp>
        <p:nvSpPr>
          <p:cNvPr id="7" name="TextBox 6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438400"/>
            <a:ext cx="128016" cy="198120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438400"/>
            <a:ext cx="107381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CC785C"/>
                </a:solidFill>
                <a:latin typeface="Arial"/>
              </a:rPr>
              <a:t>Artifacts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" y="381000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Shareable code, docs and apps built beside chat.</a:t>
            </a:r>
          </a:p>
        </p:txBody>
      </p:sp>
      <p:sp>
        <p:nvSpPr>
          <p:cNvPr id="5" name="TextBox 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37</a:t>
            </a:fld>
          </a:p>
        </p:txBody>
      </p:sp>
      <p:sp>
        <p:nvSpPr>
          <p:cNvPr id="6" name="TextBox 5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CC785C"/>
                </a:solidFill>
                <a:latin typeface="Arial"/>
              </a:rPr>
              <a:t>Memory &gt; Chat 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CC785C"/>
                </a:solidFill>
                <a:latin typeface="Arial"/>
              </a:rPr>
              <a:t>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Arial"/>
              </a:rPr>
              <a:t>Chat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395727"/>
            <a:ext cx="625068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Learns your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608831"/>
            <a:ext cx="670980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Persists across chats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21935"/>
            <a:ext cx="644296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Separate per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395727"/>
            <a:ext cx="5944036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Looks up old chats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Only when you ask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 lookup at a time</a:t>
            </a:r>
          </a:p>
        </p:txBody>
      </p:sp>
      <p:sp>
        <p:nvSpPr>
          <p:cNvPr id="13" name="TextBox 12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38</a:t>
            </a:fld>
          </a:p>
        </p:txBody>
      </p:sp>
      <p:sp>
        <p:nvSpPr>
          <p:cNvPr id="14" name="TextBox 13"/>
          <p:cNvSpPr txBox="1"/>
          <p:nvPr/>
        </p:nvSpPr>
        <p:spPr>
          <a:xfrm>
            <a:off x="9262170" y="6035040"/>
            <a:ext cx="1213008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1600" b="0" i="0" u="sng">
                <a:solidFill>
                  <a:srgbClr val="CC785C"/>
                </a:solidFill>
                <a:latin typeface="Arial"/>
                <a:hlinkClick r:id="rId2"/>
              </a:rPr>
              <a:t>Source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2880360"/>
            <a:ext cx="128016" cy="1097280"/>
          </a:xfrm>
          <a:prstGeom prst="rect">
            <a:avLst/>
          </a:prstGeom>
          <a:solidFill>
            <a:srgbClr val="CC7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96696" y="2880360"/>
            <a:ext cx="11195304" cy="10972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600" b="1" i="0">
                <a:solidFill>
                  <a:srgbClr val="1A1A2E"/>
                </a:solidFill>
                <a:latin typeface="Arial"/>
              </a:rPr>
              <a:t>Build it from our phones.</a:t>
            </a:r>
          </a:p>
        </p:txBody>
      </p:sp>
      <p:sp>
        <p:nvSpPr>
          <p:cNvPr id="4" name="TextBox 3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8A8A9A"/>
                </a:solidFill>
                <a:latin typeface="Arial"/>
              </a:rPr>
              <a:t>39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