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914400" y="2926080"/>
            <a:ext cx="10363200" cy="100584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Quarterly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con Text Row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What Drives Us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Excellence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09215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High standards in every deliverable we ship.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Integrity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621023"/>
            <a:ext cx="1133344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Transparent and honest in all we do.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Innovation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5132831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Investing in ideas that shape tomorrow.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By the Numbers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31008"/>
            <a:ext cx="3612952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127%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4011168"/>
            <a:ext cx="50480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Revenue Target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307840" y="2731008"/>
            <a:ext cx="3576320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94%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4011168"/>
            <a:ext cx="47916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Retention Rate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158480" y="2731008"/>
            <a:ext cx="4033520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48 NPS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8158480" y="4011168"/>
            <a:ext cx="40335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Net Promoter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Side-by-Side Evaluation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58115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Legacy Platform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Modern Stack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651887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Deploy time: 4 hours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2395727"/>
            <a:ext cx="590389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Deploy time: 8 min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Manual scaling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Auto-scales fast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639055"/>
            <a:ext cx="6940888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On-premise; high cost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Cloud-native; low cost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Key Milestones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C785C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54936"/>
            <a:ext cx="39432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Foundation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Cloud platform migration done.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334518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C785C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2154936"/>
            <a:ext cx="39830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API Launch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4518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REST API live with 99.99% SLA.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23316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C785C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AI Beta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AI features shipped to 500 partners.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912114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C785C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9121140" y="2154936"/>
            <a:ext cx="30708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Scale Out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12114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APAC regions live; global coverage.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mage Half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Built in the Field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6233160" y="1499616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Built with customers.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2383536"/>
            <a:ext cx="550164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60% faster; 50% fewer tickets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1691640"/>
            <a:ext cx="128016" cy="21031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1691640"/>
            <a:ext cx="10738104" cy="10972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Where We Stand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What We Will Cover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Performance against targets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250179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371600" y="250179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Customer and market signals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38510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1371600" y="338510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Operational health and risks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26841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371600" y="426841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Roadmap for next quarter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515172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05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1371600" y="515172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Decisions we need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body" idx="1"/>
          </p:nvPr>
        </p:nvSpPr>
        <p:spPr>
          <a:xfrm>
            <a:off x="457200" y="1945386"/>
            <a:ext cx="11277600" cy="18516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1550" b="1" i="0">
                <a:solidFill>
                  <a:srgbClr val="CC785C"/>
                </a:solidFill>
                <a:latin typeface="Arial"/>
              </a:rPr>
              <a:t>3.2M</a:t>
            </a:r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5547360" y="3851910"/>
            <a:ext cx="109728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457200" y="418109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1A1A2E"/>
                </a:solidFill>
                <a:latin typeface="Arial"/>
              </a:rPr>
              <a:t>Active customers worldwide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ull 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Arial"/>
              </a:rPr>
              <a:t>"We buy outcomes, not tools."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62712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- VP of Engineering, enterprise customer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Defini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438400"/>
            <a:ext cx="128016" cy="1981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438400"/>
            <a:ext cx="11195304" cy="10972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Net Revenue Retention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81000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Revenue kept from existing customers.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Ques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880360"/>
            <a:ext cx="128016" cy="10972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880360"/>
            <a:ext cx="11195304" cy="10972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1A1A2E"/>
                </a:solidFill>
                <a:latin typeface="Arial"/>
              </a:rPr>
              <a:t>What if we trusted users?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u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46804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What Changed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Activation time dropped by half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Support tickets fell sharply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Expansion revenue outpaced new sales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de Block"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ph type="body" idx="3"/>
          </p:nvPr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4"/>
          </p:nvPr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hello.py</a:t>
            </a:r>
          </a:p>
        </p:txBody>
      </p:sp>
      <p:sp>
        <p:nvSpPr>
          <p:cNvPr id="9" name="TextBox 8"/>
          <p:cNvSpPr/>
          <p:nvPr>
            <p:ph type="body" idx="5"/>
          </p:nvPr>
        </p:nvSpPr>
        <p:spPr>
          <a:xfrm>
            <a:off x="457200" y="1837944"/>
            <a:ext cx="78513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The classic, end to end</a:t>
            </a:r>
          </a:p>
        </p:txBody>
      </p:sp>
      <p:sp>
        <p:nvSpPr>
          <p:cNvPr id="10" name="TextBox 9"/>
          <p:cNvSpPr/>
          <p:nvPr>
            <p:ph type="body" idx="6"/>
          </p:nvPr>
        </p:nvSpPr>
        <p:spPr>
          <a:xfrm>
            <a:off x="457200" y="2356103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11" name="TextBox 10"/>
          <p:cNvSpPr/>
          <p:nvPr>
            <p:ph type="body" idx="7"/>
          </p:nvPr>
        </p:nvSpPr>
        <p:spPr>
          <a:xfrm>
            <a:off x="1057461" y="2356103"/>
            <a:ext cx="252438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main():</a:t>
            </a:r>
          </a:p>
        </p:txBody>
      </p:sp>
      <p:sp>
        <p:nvSpPr>
          <p:cNvPr id="12" name="TextBox 11"/>
          <p:cNvSpPr/>
          <p:nvPr>
            <p:ph type="body" idx="8"/>
          </p:nvPr>
        </p:nvSpPr>
        <p:spPr>
          <a:xfrm>
            <a:off x="457200" y="2874262"/>
            <a:ext cx="70464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print("Hello, world!")</a:t>
            </a:r>
          </a:p>
        </p:txBody>
      </p:sp>
      <p:sp>
        <p:nvSpPr>
          <p:cNvPr id="13" name="TextBox 12"/>
          <p:cNvSpPr/>
          <p:nvPr>
            <p:ph type="body" idx="9"/>
          </p:nvPr>
        </p:nvSpPr>
        <p:spPr>
          <a:xfrm>
            <a:off x="457200" y="3910580"/>
            <a:ext cx="21404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main()</a:t>
            </a:r>
          </a:p>
        </p:txBody>
      </p:sp>
      <p:sp>
        <p:nvSpPr>
          <p:cNvPr id="14" name="TextBox 13"/>
          <p:cNvSpPr/>
          <p:nvPr>
            <p:ph type="body" idx="13"/>
          </p:nvPr>
        </p:nvSpPr>
        <p:spPr>
          <a:xfrm>
            <a:off x="457200" y="4946898"/>
            <a:ext cx="567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$</a:t>
            </a:r>
          </a:p>
        </p:txBody>
      </p:sp>
      <p:sp>
        <p:nvSpPr>
          <p:cNvPr id="15" name="TextBox 14"/>
          <p:cNvSpPr/>
          <p:nvPr>
            <p:ph type="body" idx="14"/>
          </p:nvPr>
        </p:nvSpPr>
        <p:spPr>
          <a:xfrm>
            <a:off x="697347" y="4946898"/>
            <a:ext cx="50224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python hello.py</a:t>
            </a:r>
          </a:p>
        </p:txBody>
      </p:sp>
      <p:sp>
        <p:nvSpPr>
          <p:cNvPr id="16" name="TextBox 15"/>
          <p:cNvSpPr/>
          <p:nvPr>
            <p:ph type="body" idx="15"/>
          </p:nvPr>
        </p:nvSpPr>
        <p:spPr>
          <a:xfrm>
            <a:off x="457200" y="5465057"/>
            <a:ext cx="39840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ile Tre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Final folder shape</a:t>
            </a:r>
          </a:p>
        </p:txBody>
      </p:sp>
      <p:sp>
        <p:nvSpPr>
          <p:cNvPr id="6" name="Rounded Rectangle 5"/>
          <p:cNvSpPr/>
          <p:nvPr>
            <p:ph type="body" idx="1"/>
          </p:nvPr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822960" y="1819656"/>
            <a:ext cx="6206708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CC785C"/>
                </a:solidFill>
                <a:latin typeface="Courier New"/>
              </a:rPr>
              <a:t>simple-eda-project/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22960" y="22158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CC785C"/>
                </a:solidFill>
                <a:latin typeface="Courier New"/>
              </a:rPr>
              <a:t>├─ 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17417" y="2215896"/>
            <a:ext cx="1451054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CC785C"/>
                </a:solidFill>
                <a:latin typeface="Courier New"/>
              </a:rPr>
              <a:t>src/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22960" y="2612136"/>
            <a:ext cx="208514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CC785C"/>
                </a:solidFill>
                <a:latin typeface="Courier New"/>
              </a:rPr>
              <a:t>│  └─ 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011873" y="261213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CC785C"/>
                </a:solidFill>
                <a:latin typeface="Courier New"/>
              </a:rPr>
              <a:t>simple_eda/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22960" y="300837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CC785C"/>
                </a:solidFill>
                <a:latin typeface="Courier New"/>
              </a:rPr>
              <a:t>│     ├─ 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2606330" y="300837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__init__.py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22960" y="340461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CC785C"/>
                </a:solidFill>
                <a:latin typeface="Courier New"/>
              </a:rPr>
              <a:t>│     └─ 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2606330" y="340461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core.py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22960" y="380085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CC785C"/>
                </a:solidFill>
                <a:latin typeface="Courier New"/>
              </a:rPr>
              <a:t>├─ 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1417417" y="380085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README.md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822960" y="41970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CC785C"/>
                </a:solidFill>
                <a:latin typeface="Courier New"/>
              </a:rPr>
              <a:t>├─ 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1417417" y="4197096"/>
            <a:ext cx="4621489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pyproject.toml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822960" y="459333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CC785C"/>
                </a:solidFill>
                <a:latin typeface="Courier New"/>
              </a:rPr>
              <a:t>└─ 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1417417" y="459333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LICENSE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Three Steps to Onboard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Connect your data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461983" y="2185416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Link a source in minutes with a guided wizard.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Pick a template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461983" y="3697224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Start from a proven layout, then tailor it.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Share the result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461983" y="5209032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Publish to your team and gather feedback fast.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wo Panel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Onboarding, Reworked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Before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1367718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After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6233160" y="2176271"/>
            <a:ext cx="1007604" cy="54864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395727"/>
            <a:ext cx="694257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Manual account setup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608831"/>
            <a:ext cx="75943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Three-day approval wait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821935"/>
            <a:ext cx="590423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Email-only support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One-click provisioning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Same-day approval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In-product live chat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his vs Tha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Cloud or On-Prem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31008"/>
            <a:ext cx="4792980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600" b="1" i="0">
                <a:solidFill>
                  <a:srgbClr val="1A1A2E"/>
                </a:solidFill>
                <a:latin typeface="Arial"/>
              </a:rPr>
              <a:t>3 wks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0" y="401116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Cloud time-to-launch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941820" y="2731008"/>
            <a:ext cx="4792980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600" b="1" i="0">
                <a:solidFill>
                  <a:srgbClr val="1A1A2E"/>
                </a:solidFill>
                <a:latin typeface="Arial"/>
              </a:rPr>
              <a:t>6 mo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484620" y="401116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On-prem time-to-launch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1A1A2E"/>
                </a:solidFill>
                <a:latin typeface="Arial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Key Metrics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C785C"/>
                </a:solidFill>
                <a:latin typeface="Arial"/>
              </a:rPr>
              <a:t>98.7%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Uptime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C785C"/>
                </a:solidFill>
                <a:latin typeface="Arial"/>
              </a:rPr>
              <a:t>1,240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259384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New accounts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C785C"/>
                </a:solidFill>
                <a:latin typeface="Arial"/>
              </a:rPr>
              <a:t>4.6/5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7701280" y="25938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Support rating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C785C"/>
                </a:solidFill>
                <a:latin typeface="Arial"/>
              </a:rPr>
              <a:t>$2.1M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Net new revenue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430784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C785C"/>
                </a:solidFill>
                <a:latin typeface="Arial"/>
              </a:rPr>
              <a:t>12 days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5559552" y="4751832"/>
            <a:ext cx="1072896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943896" y="4861560"/>
            <a:ext cx="430420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Time to value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815848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CC785C"/>
                </a:solidFill>
                <a:latin typeface="Arial"/>
              </a:rPr>
              <a:t>31%</a:t>
            </a:r>
          </a:p>
        </p:txBody>
      </p:sp>
      <p:sp>
        <p:nvSpPr>
          <p:cNvPr id="22" name="Rectangle 21"/>
          <p:cNvSpPr/>
          <p:nvPr>
            <p:ph type="body" idx="20"/>
          </p:nvPr>
        </p:nvSpPr>
        <p:spPr>
          <a:xfrm>
            <a:off x="9410192" y="4751832"/>
            <a:ext cx="1072896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770128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Expansion rate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hart With Ins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Monthly Active Teams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3680394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C785C"/>
                </a:solidFill>
                <a:latin typeface="Arial"/>
              </a:rPr>
              <a:t>120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680085" y="4335714"/>
            <a:ext cx="1040129" cy="76968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A1A2E"/>
                </a:solidFill>
                <a:latin typeface="Arial"/>
              </a:rPr>
              <a:t>Jan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217420" y="3295551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C785C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440305" y="3950871"/>
            <a:ext cx="1040129" cy="1154529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21742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A1A2E"/>
                </a:solidFill>
                <a:latin typeface="Arial"/>
              </a:rPr>
              <a:t>Feb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77640" y="2590005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C785C"/>
                </a:solidFill>
                <a:latin typeface="Arial"/>
              </a:rPr>
              <a:t>290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200525" y="3245325"/>
            <a:ext cx="1040129" cy="1860075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97764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A1A2E"/>
                </a:solidFill>
                <a:latin typeface="Arial"/>
              </a:rPr>
              <a:t>Mar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5737860" y="1499616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CC785C"/>
                </a:solidFill>
                <a:latin typeface="Arial"/>
              </a:rPr>
              <a:t>460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5960745" y="2154936"/>
            <a:ext cx="1040129" cy="29504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573786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1A1A2E"/>
                </a:solidFill>
                <a:latin typeface="Arial"/>
              </a:rPr>
              <a:t>Apr</a:t>
            </a:r>
          </a:p>
        </p:txBody>
      </p:sp>
      <p:sp>
        <p:nvSpPr>
          <p:cNvPr id="18" name="Rectangle 17"/>
          <p:cNvSpPr/>
          <p:nvPr>
            <p:ph type="body" idx="16"/>
          </p:nvPr>
        </p:nvSpPr>
        <p:spPr>
          <a:xfrm>
            <a:off x="7498080" y="3325368"/>
            <a:ext cx="128016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8037576" y="3325368"/>
            <a:ext cx="415442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Activations 4x.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Pricing Tiers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3337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Plan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339579" y="1499616"/>
            <a:ext cx="22382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Seats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126448" y="1499616"/>
            <a:ext cx="20223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Price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7691577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Starter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39579" y="2401823"/>
            <a:ext cx="241036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Up to 5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126448" y="2401823"/>
            <a:ext cx="202232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$0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3310127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Team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339579" y="3310127"/>
            <a:ext cx="279459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Up to 50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126448" y="3310127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$12/seat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457200" y="4218431"/>
            <a:ext cx="298620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Business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3339579" y="4218431"/>
            <a:ext cx="317883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Up to 250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6126448" y="4218431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$20/seat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5126735"/>
            <a:ext cx="33316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Enterprise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339579" y="5126735"/>
            <a:ext cx="30624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Unlimited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6126448" y="5126735"/>
            <a:ext cx="256317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Metric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Performance vs Last Year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290235" y="2289048"/>
            <a:ext cx="3910250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600" b="1" i="0">
                <a:solidFill>
                  <a:srgbClr val="CC785C"/>
                </a:solidFill>
                <a:latin typeface="Arial"/>
              </a:rPr>
              <a:t>$8.4M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56920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Revenue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522569" y="4453128"/>
            <a:ext cx="1445581" cy="518159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260802" y="4453128"/>
            <a:ext cx="1969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+24%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307840" y="2289048"/>
            <a:ext cx="3576320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600" b="1" i="0">
                <a:solidFill>
                  <a:srgbClr val="CC785C"/>
                </a:solidFill>
                <a:latin typeface="Arial"/>
              </a:rPr>
              <a:t>2.1%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356920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Monthly churn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5175547" y="4453128"/>
            <a:ext cx="1840906" cy="518159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795183" y="4453128"/>
            <a:ext cx="260163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-0.8 pts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158480" y="2289048"/>
            <a:ext cx="3576320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600" b="1" i="0">
                <a:solidFill>
                  <a:srgbClr val="CC785C"/>
                </a:solidFill>
                <a:latin typeface="Arial"/>
              </a:rPr>
              <a:t>63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7701280" y="356920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Promoter score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9427731" y="4453128"/>
            <a:ext cx="1037817" cy="518159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288294" y="4453128"/>
            <a:ext cx="131669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+11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rocess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Onboarding Flow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414016"/>
            <a:ext cx="27156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Sign up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Create an account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345180" y="2414016"/>
            <a:ext cx="2946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Connect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Link your data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>
            <p:ph type="body" idx="13"/>
          </p:nvPr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6233160" y="2414016"/>
            <a:ext cx="344499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Configure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Pick your metrics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9121140" y="2414016"/>
            <a:ext cx="26394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Launch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912114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Go live in minutes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2026 Plan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Ship API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279647"/>
            <a:ext cx="383192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Beta launch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0784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Mobile app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307840" y="3279647"/>
            <a:ext cx="3793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Integrations</a:t>
            </a:r>
          </a:p>
        </p:txBody>
      </p:sp>
      <p:sp>
        <p:nvSpPr>
          <p:cNvPr id="14" name="Rectangle 13"/>
          <p:cNvSpPr/>
          <p:nvPr>
            <p:ph type="body" idx="9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158480" y="239572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Enterprise tier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8158480" y="327964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SSO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Sales Pipeline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Visitors · 50,000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Signups · 8,000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Trials · 2,400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3558540" y="4901184"/>
            <a:ext cx="5074919" cy="85953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558540" y="4901184"/>
            <a:ext cx="5558452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Customers · 600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ested Circ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Job Search Funnel (2021)</a:t>
            </a:r>
          </a:p>
        </p:txBody>
      </p:sp>
      <p:sp>
        <p:nvSpPr>
          <p:cNvPr id="6" name="Oval 5"/>
          <p:cNvSpPr/>
          <p:nvPr>
            <p:ph type="body" idx="1"/>
          </p:nvPr>
        </p:nvSpPr>
        <p:spPr>
          <a:xfrm>
            <a:off x="3645408" y="1499616"/>
            <a:ext cx="4901184" cy="4901184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ph type="body" idx="2"/>
          </p:nvPr>
        </p:nvSpPr>
        <p:spPr>
          <a:xfrm>
            <a:off x="4462272" y="3133344"/>
            <a:ext cx="3267456" cy="3267456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>
            <p:ph type="body" idx="3"/>
          </p:nvPr>
        </p:nvSpPr>
        <p:spPr>
          <a:xfrm>
            <a:off x="5279136" y="4767072"/>
            <a:ext cx="1633728" cy="1633728"/>
          </a:xfrm>
          <a:prstGeom prst="ellipse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7329" y="1645920"/>
            <a:ext cx="3037342" cy="762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&gt;700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594080" y="2316480"/>
            <a:ext cx="5003840" cy="6705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840583" y="3401568"/>
            <a:ext cx="251083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58104" y="3950208"/>
            <a:ext cx="3475792" cy="548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Interviews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5296524" y="5157216"/>
            <a:ext cx="159895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1.5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5235159" y="5583935"/>
            <a:ext cx="1721682" cy="4267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Offers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Hierarchy of Needs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Vision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Goals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Tactics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WO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SWOT Analysis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Strengths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2015207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7863523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Strong brand, loyal users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Weaknesses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6233160" y="2176271"/>
            <a:ext cx="2584686" cy="54864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Thin margins, small team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Opportunities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57200" y="4443983"/>
            <a:ext cx="2830525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457200" y="4663439"/>
            <a:ext cx="801532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New markets via partners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Threats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6233160" y="4443983"/>
            <a:ext cx="1559793" cy="54864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4663439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New entrants cut prices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Evaluation Matrix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3280182" y="1499616"/>
            <a:ext cx="365043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  <a:latin typeface="Arial"/>
              </a:rPr>
              <a:t>Platform A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5973987" y="1499616"/>
            <a:ext cx="367607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  <a:latin typeface="Arial"/>
              </a:rPr>
              <a:t>Platform B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845296" y="1499616"/>
            <a:ext cx="33467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  <a:latin typeface="Arial"/>
              </a:rPr>
              <a:t>Platform C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Security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4245247" y="2401823"/>
            <a:ext cx="1720305" cy="518159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01063" y="2401823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491979" y="2401823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Medium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9302496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Strong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3612895"/>
            <a:ext cx="327902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Workflow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3785355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Medium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595872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Strong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98603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Medium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4823967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Support</a:t>
            </a:r>
          </a:p>
        </p:txBody>
      </p:sp>
      <p:sp>
        <p:nvSpPr>
          <p:cNvPr id="20" name="Rectangle 19"/>
          <p:cNvSpPr/>
          <p:nvPr>
            <p:ph type="body" idx="18"/>
          </p:nvPr>
        </p:nvSpPr>
        <p:spPr>
          <a:xfrm>
            <a:off x="4245247" y="4823967"/>
            <a:ext cx="1720305" cy="518159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3901063" y="4823967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22" name="TextBox 21"/>
          <p:cNvSpPr/>
          <p:nvPr>
            <p:ph type="body" idx="20"/>
          </p:nvPr>
        </p:nvSpPr>
        <p:spPr>
          <a:xfrm>
            <a:off x="6595872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Strong</a:t>
            </a:r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9198603" y="4823967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hyperlink" Target="https://code.claude.com/docs/en/cli-reference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hyperlink" Target="https://code.claude.com/docs/en/overview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hyperlink" Target="https://code.claude.com/docs/en/overview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hyperlink" Target="https://code.claude.com/docs/en/claude-code-on-the-web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hyperlink" Target="https://code.claude.com/docs/en/desktop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hyperlink" Target="https://code.claude.com/docs/en/web-quickstar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hyperlink" Target="https://code.claude.com/docs/en/mobile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hyperlink" Target="https://code.claude.com/docs/en/remote-contro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hyperlink" Target="https://www.anthropic.com/news/model-context-protoco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hyperlink" Target="https://code.claude.com/docs/en/mcp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hyperlink" Target="https://code.claude.com/docs/en/mcp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hyperlink" Target="https://code.claude.com/docs/en/mcp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hyperlink" Target="https://code.claude.com/docs/en/memory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hyperlink" Target="https://code.claude.com/docs/en/memory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hyperlink" Target="https://code.claude.com/docs/en/memory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hyperlink" Target="https://code.claude.com/docs/en/skills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hyperlink" Target="https://code.claude.com/docs/en/skills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hyperlink" Target="https://www.anthropic.com/product/claude-cowork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hyperlink" Target="https://www.anthropic.com/product/claude-cowork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hyperlink" Target="https://support.claude.com/en/articles/9487310-what-are-artifacts-and-how-do-i-use-them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hyperlink" Target="https://support.claude.com/en/articles/11817273-use-claude-s-chat-search-and-memory-to-build-on-previous-contex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63200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38400"/>
            <a:ext cx="128016" cy="1981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38400"/>
            <a:ext cx="10738104" cy="10972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81000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 terminal AI agent that writes and runs your code.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Chat vs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31008"/>
            <a:ext cx="4792980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600" b="1" i="0">
                <a:solidFill>
                  <a:srgbClr val="1A1A2E"/>
                </a:solidFill>
                <a:latin typeface="Arial"/>
              </a:rPr>
              <a:t>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1116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You ferry code 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1820" y="2731008"/>
            <a:ext cx="4792980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600" b="1" i="0">
                <a:solidFill>
                  <a:srgbClr val="1A1A2E"/>
                </a:solidFill>
                <a:latin typeface="Arial"/>
              </a:rP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4620" y="401116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It works in your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1A1A2E"/>
                </a:solidFill>
                <a:latin typeface="Arial"/>
              </a:rPr>
              <a:t>VS</a:t>
            </a:r>
          </a:p>
        </p:txBody>
      </p:sp>
      <p:sp>
        <p:nvSpPr>
          <p:cNvPr id="8" name="TextBox 7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What It Can Do in Your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Explore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512232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Read files, schemas, and notebooks.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Execute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Run scripts, queries, and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Iterate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357054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Check outputs and fix its own errors.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Terminal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37944"/>
            <a:ext cx="567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347" y="1837944"/>
            <a:ext cx="897675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cd sales-analysis &amp;&amp;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74262"/>
            <a:ext cx="1018579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&gt; Profile sales.csv: nulls, dtypes,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92421"/>
            <a:ext cx="947535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outliers. Save it to profile.md.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28739"/>
            <a:ext cx="102040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Reading sales.csv (1.2M rows)...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46898"/>
            <a:ext cx="77862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Running profiling script...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65057"/>
            <a:ext cx="87716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Wrote profile.md: 3 findings.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Everyday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32790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6688" y="1499616"/>
            <a:ext cx="61710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What Claude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2639"/>
            <a:ext cx="8399589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01823"/>
            <a:ext cx="2300848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6688" y="2401823"/>
            <a:ext cx="847782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Profile new data in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7"/>
            <a:ext cx="290996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6688" y="3310127"/>
            <a:ext cx="824674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Fix types, nulls, duplicates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8431"/>
            <a:ext cx="298654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6688" y="4218431"/>
            <a:ext cx="594235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Fast first baselines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6735"/>
            <a:ext cx="317849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6688" y="5126735"/>
            <a:ext cx="605805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Plots and write-ups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How It Works on a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14016"/>
            <a:ext cx="271700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Explore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Scans the data and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5180" y="24140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Proposes an approach.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160" y="2414016"/>
            <a:ext cx="28327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Execute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Writes and runs the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1140" y="24140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114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Checks results, then iterates.</a:t>
            </a:r>
          </a:p>
        </p:txBody>
      </p:sp>
      <p:sp>
        <p:nvSpPr>
          <p:cNvPr id="19" name="TextBox 1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A Typical Day, Reworked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Before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1367718" cy="54864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9588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With Claude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369033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8556427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Boilerplate pandas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732478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Stack Overflow detours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Stale notebooks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Describe the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Errors debugged in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Committed with notes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355942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Commands Worth Knowing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356070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2739" y="1499616"/>
            <a:ext cx="428970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What it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2639"/>
            <a:ext cx="6982323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01823"/>
            <a:ext cx="247689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2739" y="2401823"/>
            <a:ext cx="47525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Start a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7"/>
            <a:ext cx="247689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/init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2739" y="3310127"/>
            <a:ext cx="5928518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Write CLAUDE.md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8431"/>
            <a:ext cx="2985868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/compact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2739" y="4218431"/>
            <a:ext cx="5110123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Trim the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6735"/>
            <a:ext cx="3025001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claude -p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739" y="5126735"/>
            <a:ext cx="494482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One-shot mode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Two Commands, Up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/init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734800" cy="1383793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Scans your project, writes a starter CLAUDE.md.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6732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claude -p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76927"/>
            <a:ext cx="11734800" cy="1383793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One-shot: run a prompt, print the answer, exit.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10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Habits That Make It Shine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Keep a CLAUDE.md with data caveats.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Ask for a plan before a big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Have it verify outputs, not just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Commit small, reviewable steps.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91640"/>
            <a:ext cx="128016" cy="21031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691640"/>
            <a:ext cx="10738104" cy="10972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One Claude, Many Surfaces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Same Engine, Everywhere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One engine: terminal, IDE, desktop, web.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Your CLAUDE.md and MCP servers come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Start on the laptop, finish on your phone.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13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Three Ways to Run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816" y="1499616"/>
            <a:ext cx="30111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  <a:latin typeface="Arial"/>
              </a:rPr>
              <a:t>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95872" y="1499616"/>
            <a:ext cx="24323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  <a:latin typeface="Arial"/>
              </a:rPr>
              <a:t>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64340" y="1499616"/>
            <a:ext cx="290861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  <a:latin typeface="Arial"/>
              </a:rPr>
              <a:t>Desktop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01823"/>
            <a:ext cx="3157728" cy="15422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Runs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9248" y="2401823"/>
            <a:ext cx="2432304" cy="154228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Your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3549" y="2401823"/>
            <a:ext cx="3216950" cy="15422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The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02496" y="2401823"/>
            <a:ext cx="2432304" cy="154228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Your 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18431"/>
            <a:ext cx="3157728" cy="15422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8034" y="4218431"/>
            <a:ext cx="3254732" cy="15422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Install CLI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7682" y="4218431"/>
            <a:ext cx="1408684" cy="518159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6984" y="4218431"/>
            <a:ext cx="19100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2488" y="4218431"/>
            <a:ext cx="3332320" cy="15422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  <a:latin typeface="Arial"/>
              </a:rPr>
              <a:t>Install app</a:t>
            </a:r>
          </a:p>
        </p:txBody>
      </p:sp>
      <p:sp>
        <p:nvSpPr>
          <p:cNvPr id="16" name="TextBox 1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14</a:t>
            </a:fld>
          </a:p>
        </p:txBody>
      </p:sp>
      <p:sp>
        <p:nvSpPr>
          <p:cNvPr id="17" name="TextBox 16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On the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Cloud-run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Runs at claude.ai/code on Anthropic's cloud.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Isolated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80814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Each task gets its own sandbox VM.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Persistent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Keeps running after you close the tab.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15</a:t>
            </a:fld>
          </a:p>
        </p:txBody>
      </p:sp>
      <p:sp>
        <p:nvSpPr>
          <p:cNvPr id="10" name="TextBox 9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Claude Desktop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 standalone app, no terminal needed.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Review diffs, run sessions side by 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Schedule repeats and start cloud runs.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16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91640"/>
            <a:ext cx="128016" cy="21031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691640"/>
            <a:ext cx="10738104" cy="10972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Drive It From Your Phone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Connect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Sign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Open claude.ai/code and log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Link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Grant access to the repos you choose.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Pick a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Claude clones it into a cloud sandbox.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18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Start a Task Anywhere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Describe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Type the task in the Claude mobile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Let it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Work continues in the background.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Approve the branch Claude pushes.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19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Remote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83409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Step away and work from your phone.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58768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Continue a live session from any browser.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20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Move Between Surfaces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37944"/>
            <a:ext cx="567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347" y="1837944"/>
            <a:ext cx="471441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claude --cloud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6103"/>
            <a:ext cx="509764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Runs this task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8926" y="2356103"/>
            <a:ext cx="72060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5004" y="2356103"/>
            <a:ext cx="337077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the cloud.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1"/>
            <a:ext cx="865054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&gt; Pick it up later, anywhere: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10580"/>
            <a:ext cx="567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347" y="3910580"/>
            <a:ext cx="536717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claude --teleport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46898"/>
            <a:ext cx="1024348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One session follows you across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65057"/>
            <a:ext cx="513812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laptop, phone,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4226" y="5465057"/>
            <a:ext cx="133558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4666" y="5465057"/>
            <a:ext cx="29858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browser.</a:t>
            </a:r>
          </a:p>
        </p:txBody>
      </p:sp>
      <p:sp>
        <p:nvSpPr>
          <p:cNvPr id="18" name="TextBox 17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91640"/>
            <a:ext cx="128016" cy="21031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691640"/>
            <a:ext cx="10738104" cy="10972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MCP: Plug In Your Tools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38400"/>
            <a:ext cx="128016" cy="1981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38400"/>
            <a:ext cx="10738104" cy="10972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81000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An open standard linking AI tools to your data.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23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What MCP Unlocks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70316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Read design docs from Google Drive.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Update Jira, pull data from Slack.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Query your own database and APIs.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24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Without MCP vs With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Without 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2682094" cy="54864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With MCP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201078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686633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Paste data in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748030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Screenshot 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70559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Describe your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Claude queries the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Reads the ticket itself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Always current data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25</a:t>
            </a:fld>
          </a:p>
        </p:txBody>
      </p:sp>
      <p:sp>
        <p:nvSpPr>
          <p:cNvPr id="14" name="TextBox 13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Servers You Can (normally) Connect 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33412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75608" y="1499616"/>
            <a:ext cx="678503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What Claude can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2639"/>
            <a:ext cx="7110515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01823"/>
            <a:ext cx="2069768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5608" y="2401823"/>
            <a:ext cx="571363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Read design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7"/>
            <a:ext cx="2069768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Jira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5608" y="3310127"/>
            <a:ext cx="45605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Update tickets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8431"/>
            <a:ext cx="2069768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Slack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5608" y="4218431"/>
            <a:ext cx="578953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Pull conversations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6735"/>
            <a:ext cx="290929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Postgres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608" y="5126735"/>
            <a:ext cx="513677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Query your data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26</a:t>
            </a:fld>
          </a:p>
        </p:txBody>
      </p:sp>
      <p:sp>
        <p:nvSpPr>
          <p:cNvPr id="15" name="TextBox 14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91640"/>
            <a:ext cx="128016" cy="21031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691640"/>
            <a:ext cx="10738104" cy="10972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Customize Claude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27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38400"/>
            <a:ext cx="128016" cy="1981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38400"/>
            <a:ext cx="10738104" cy="10972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CLAUDE.md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81000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 project file Claude reads every session.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28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What Goes in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Coding standards and libraries.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Architecture and key commands.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8081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Review checklists and data caveats.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29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Example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36357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sales-analysis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89759"/>
            <a:ext cx="467596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- Use pandas,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65376" y="1889759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5637" y="1889759"/>
            <a:ext cx="24484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polars.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07918"/>
            <a:ext cx="528959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- Raw data lives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8894" y="2407918"/>
            <a:ext cx="72060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4972" y="2407918"/>
            <a:ext cx="21033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data/.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77"/>
            <a:ext cx="816814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- Never commit the CSVs.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44236"/>
            <a:ext cx="523831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- Tests: pytest -q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62395"/>
            <a:ext cx="70815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- Plots: matplotlib only.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30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CLAUDE.md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Too long crowds the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Stale rules Claude still obeys.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Vague advice it cannot act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Secrets do not belong here.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31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38400"/>
            <a:ext cx="128016" cy="1981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38400"/>
            <a:ext cx="10738104" cy="10972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81000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Reusable instruction folders, loaded on demand.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32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CLAUDE.md vs Skills.md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CLAUDE.md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2566764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Skills.md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1895872" cy="54864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55203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Always in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567348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Project-wide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5866785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One file at the root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Loaded on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 packaged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Shared across projects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33</a:t>
            </a:fld>
          </a:p>
        </p:txBody>
      </p:sp>
      <p:sp>
        <p:nvSpPr>
          <p:cNvPr id="14" name="TextBox 13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91640"/>
            <a:ext cx="128016" cy="21031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691640"/>
            <a:ext cx="10738104" cy="10972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More From Claude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34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38400"/>
            <a:ext cx="128016" cy="1981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38400"/>
            <a:ext cx="10738104" cy="10972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Cowork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81000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Claude Code in Claude Desktop, for non-code work.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35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What Cowork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Reads and edits files you choose.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Works across Slack and Google Drive.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Finishes multi-step tasks, with citations.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36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38400"/>
            <a:ext cx="128016" cy="1981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38400"/>
            <a:ext cx="10738104" cy="10972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600" b="1" i="0">
                <a:solidFill>
                  <a:srgbClr val="CC785C"/>
                </a:solidFill>
                <a:latin typeface="Arial"/>
              </a:rPr>
              <a:t>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81000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Shareable code, docs and apps built beside chat.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37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CC785C"/>
                </a:solidFill>
                <a:latin typeface="Arial"/>
              </a:rPr>
              <a:t>Memory &gt; Chat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CC785C"/>
                </a:solidFill>
                <a:latin typeface="Arial"/>
              </a:rPr>
              <a:t>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1655725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Chat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2471886" cy="54864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625068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Learns your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670980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Persists across chats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644296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Separate per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94403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Looks up old chats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Only when you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One lookup at a time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A1A2E"/>
                </a:solidFill>
                <a:latin typeface="Arial"/>
              </a:rPr>
              <a:t>38</a:t>
            </a:fld>
          </a:p>
        </p:txBody>
      </p:sp>
      <p:sp>
        <p:nvSpPr>
          <p:cNvPr id="14" name="TextBox 13"/>
          <p:cNvSpPr txBox="1"/>
          <p:nvPr/>
        </p:nvSpPr>
        <p:spPr>
          <a:xfrm>
            <a:off x="10085130" y="6035040"/>
            <a:ext cx="1213008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1600" b="0" i="0" u="sng">
                <a:solidFill>
                  <a:srgbClr val="CC785C"/>
                </a:solidFill>
                <a:latin typeface="Arial"/>
                <a:hlinkClick r:id="rId2"/>
              </a:rPr>
              <a:t>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