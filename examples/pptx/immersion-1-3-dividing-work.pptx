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1.3, Dividing the Work. You have a problem and a map; this hour turns that map into assignments so four people can start building at once tomorrow.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 minutes, and you leave with a board in GitHub where every Day 2 task has an owner and a definition of done.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this hour. We inventory the team's real skills, give every step a single owner, run workstreams in parallel with Cowork, and put the board in GitHub.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your diagram from last hour: who owns which box? Most teams have never assigned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hour you drew the path. This hour you assign it. A map tells you what must happen; a board tells you who is doing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inventory your skills, give every step one owner, split the work so streams run in parallel, and put it all on a board as GitHub issues.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objective: owners rather than volunteers, and exactly one owner per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skills inventory is an honest list of what each person on the team can do unaided.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count as a skill: something you have shipped before, a tool you already have access to, and a domain you actually know.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quiet part too — what you have never done, what you would need help with, and what you would rather not 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skill mapped to step. Data wrangling fits intake and parse. Prompt design fits score and summarise. Front end fits report and demo. And a domain expert judges quality.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owner is one named person accountable for a step being done.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ownership means everyone assumes someone else has cover, nobody watches the clock, and slips get found late. A single owner means one person tracking it, one person to ask, and slips found early.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in three passes. Riskiest step first, and it gets the best fit. Then the rest, matching skill to step. Then name the gaps — the steps nobody can 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Volunteers pick what excites them, learn on your deadline, and leave the risky step until last. Best fit picks what they can ship, learns on the safe step, and takes the risky step first.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nobody can own a step, you have three options: stub it and move on, buy it with an existing tool, or cut it from the happy path.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name per box, or no name at all. That is the rule that survives Day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roles beyond writing code. The owner holds the problem. The tester breaks it on purpose. The scribe keeps the Project current. And the demo person tells the story on Friday.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objective: running several workstreams at once without stepping on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Cowork is Claude running multi-step work on files you choose.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Queued work means one step at a time, everyone waiting on one person, and Day 2 running out. Parallel means streams run at once, waiting is designed out, and Day 2 finishes.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Cowork runs on your files, reading and editing what you pick. It is multi- step, so it finishes a task rather than a reply. And it runs alongside you — you work while it works.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in every workstream. Scope it to one step only, a single box. Give it the contract, its input and its output. And say what done means, so it can prove it worked.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brief written out. The step is parsing resumes to text. Input is PDF files in intake, output is one JSON per file with name, skills and years. Done when ten sample files parse with no manual fixes.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contract is the agreed shape passed between two steps.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 contracts first: name every field you pass, decide it before building, and write it on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contracts for the worked example. Intake to parse passes a file path plus an id. Parse to score passes JSON with skills. Score to report passes an id plus a number.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Streams collide in three ways: two people editing one file, a contract changed silently, or one stream simply waiting on another.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them apart with one owner per file or folder, contract changes made by announcement, and a stub for whatever you are waiting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objective: getting the board out of your heads and into GitHub.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you need. A repo, one place the code lives. Issues, one per task with an owner. And done, meaning how each task proves itself.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now. Create the repo and name it for the problem. Add everyone with write access today. Then one issue per step, straight off the map.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issue filled in. Title, owner, input, output, and done when ten samples parse with no manual fixes. It is the workstream brief, in GitHub.</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definition of done is a check someone else can run to confirm it works.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one is observable rather than felt, checkable in about a minute, and written before the work starts.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on the left, done on the right. Parse files: ten samples, no fixes. Score match: ranks a known set correctly. Build report: one click, no errors.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habits: one task per issue, close it the moment it is done, and comment when you are blocked.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tasks against three criteria. Parse has an owner, a contract and a definition of done, so it is ready. Score has no done. Deploy has none of the three.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ready for tomorrow when every step is an issue, every issue has one owner, every issue says what done means, and the contracts are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leave with one repo and board, one owner per step, and zero unowned tasks.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Day 1 behind you: a precise problem statement, a workflow map that is shared, and a board with owners.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Tomorrow we match each step to a tool, decide what to stub, and pick retrieval only if you actually need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0524052" cy="914400"/>
          </a:xfrm>
          <a:prstGeom prst="rect">
            <a:avLst/>
          </a:prstGeom>
          <a:noFill/>
        </p:spPr>
        <p:txBody>
          <a:bodyPr wrap="none" lIns="0" rIns="0">
            <a:noAutofit/>
          </a:bodyPr>
          <a:lstStyle/>
          <a:p>
            <a:pPr algn="l"/>
            <a:r>
              <a:rPr sz="6000" b="1" i="0">
                <a:solidFill>
                  <a:srgbClr val="0072CE"/>
                </a:solidFill>
                <a:latin typeface="Arial"/>
              </a:rPr>
              <a:t>Dividing the Work</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Immersion Week SF · Day 1 · Session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1583436"/>
            <a:ext cx="11277600" cy="1691640"/>
          </a:xfrm>
          <a:prstGeom prst="rect">
            <a:avLst/>
          </a:prstGeom>
          <a:noFill/>
        </p:spPr>
        <p:txBody>
          <a:bodyPr wrap="none" lIns="0" rIns="0">
            <a:noAutofit/>
          </a:bodyPr>
          <a:lstStyle/>
          <a:p>
            <a:pPr algn="ctr"/>
            <a:r>
              <a:rPr sz="10500" b="1" i="0">
                <a:solidFill>
                  <a:srgbClr val="0072CE"/>
                </a:solidFill>
                <a:latin typeface="Arial"/>
              </a:rPr>
              <a:t>50</a:t>
            </a:r>
          </a:p>
        </p:txBody>
      </p:sp>
      <p:sp>
        <p:nvSpPr>
          <p:cNvPr id="3" name="Rectangle 2"/>
          <p:cNvSpPr/>
          <p:nvPr/>
        </p:nvSpPr>
        <p:spPr>
          <a:xfrm>
            <a:off x="5547360" y="3329940"/>
            <a:ext cx="10972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9124"/>
            <a:ext cx="11277600" cy="731520"/>
          </a:xfrm>
          <a:prstGeom prst="rect">
            <a:avLst/>
          </a:prstGeom>
          <a:noFill/>
        </p:spPr>
        <p:txBody>
          <a:bodyPr wrap="none" lIns="0" rIns="0">
            <a:noAutofit/>
          </a:bodyPr>
          <a:lstStyle/>
          <a:p>
            <a:pPr algn="ctr"/>
            <a:r>
              <a:rPr sz="4200" b="0" i="0">
                <a:solidFill>
                  <a:srgbClr val="0A2240"/>
                </a:solidFill>
                <a:latin typeface="Arial"/>
              </a:rPr>
              <a:t>Minutes</a:t>
            </a:r>
          </a:p>
        </p:txBody>
      </p:sp>
      <p:sp>
        <p:nvSpPr>
          <p:cNvPr id="5" name="TextBox 4"/>
          <p:cNvSpPr txBox="1"/>
          <p:nvPr/>
        </p:nvSpPr>
        <p:spPr>
          <a:xfrm>
            <a:off x="457200" y="4664964"/>
            <a:ext cx="11277600" cy="609600"/>
          </a:xfrm>
          <a:prstGeom prst="rect">
            <a:avLst/>
          </a:prstGeom>
          <a:noFill/>
        </p:spPr>
        <p:txBody>
          <a:bodyPr wrap="none" lIns="0" rIns="0">
            <a:noAutofit/>
          </a:bodyPr>
          <a:lstStyle/>
          <a:p>
            <a:pPr algn="ctr"/>
            <a:r>
              <a:rPr sz="3400" b="0" i="0">
                <a:solidFill>
                  <a:srgbClr val="0A2240"/>
                </a:solidFill>
                <a:latin typeface="Arial"/>
              </a:rPr>
              <a:t>You leave with a board and owners</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This Session Covers</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Inventory the team's real skills</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Give every step a single owner</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Run workstreams with Cowork</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Put the board in GitHub</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Who owns which box?</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From 1.2 to Now</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A map</a:t>
            </a:r>
          </a:p>
        </p:txBody>
      </p:sp>
      <p:sp>
        <p:nvSpPr>
          <p:cNvPr id="4" name="TextBox 3"/>
          <p:cNvSpPr txBox="1"/>
          <p:nvPr/>
        </p:nvSpPr>
        <p:spPr>
          <a:xfrm>
            <a:off x="265906" y="3965448"/>
            <a:ext cx="5175568" cy="518159"/>
          </a:xfrm>
          <a:prstGeom prst="rect">
            <a:avLst/>
          </a:prstGeom>
          <a:noFill/>
        </p:spPr>
        <p:txBody>
          <a:bodyPr wrap="none" lIns="0" rIns="0">
            <a:noAutofit/>
          </a:bodyPr>
          <a:lstStyle/>
          <a:p>
            <a:pPr algn="ctr"/>
            <a:r>
              <a:rPr sz="3400" b="0" i="0">
                <a:solidFill>
                  <a:srgbClr val="0A2240"/>
                </a:solidFill>
                <a:latin typeface="Arial"/>
              </a:rPr>
              <a:t>The path, drawn</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A board</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The path, assigned</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We Get There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Skills</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What can we each do</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Own</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One name per step</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2613660" cy="518159"/>
          </a:xfrm>
          <a:prstGeom prst="rect">
            <a:avLst/>
          </a:prstGeom>
          <a:noFill/>
        </p:spPr>
        <p:txBody>
          <a:bodyPr wrap="none" lIns="0" rIns="0">
            <a:noAutofit/>
          </a:bodyPr>
          <a:lstStyle/>
          <a:p>
            <a:pPr algn="l"/>
            <a:r>
              <a:rPr sz="3400" b="1" i="0">
                <a:solidFill>
                  <a:srgbClr val="0072CE"/>
                </a:solidFill>
                <a:latin typeface="Arial"/>
              </a:rPr>
              <a:t>Split</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Run them in parallel</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613660" cy="518159"/>
          </a:xfrm>
          <a:prstGeom prst="rect">
            <a:avLst/>
          </a:prstGeom>
          <a:noFill/>
        </p:spPr>
        <p:txBody>
          <a:bodyPr wrap="none" lIns="0" rIns="0">
            <a:noAutofit/>
          </a:bodyPr>
          <a:lstStyle/>
          <a:p>
            <a:pPr algn="l"/>
            <a:r>
              <a:rPr sz="3400" b="1" i="0">
                <a:solidFill>
                  <a:srgbClr val="0072CE"/>
                </a:solidFill>
                <a:latin typeface="Arial"/>
              </a:rPr>
              <a:t>Board</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Issues in GitHub</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Owners, Not Volunteers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Skills inventory</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An honest list of what each person can do unaided.</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Counts as a Skill</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Something you have shipped before</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A tool you already have access to</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A domain you actually know</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Say the Quiet Part</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What you have never done</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What you would need help with</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What you would rather not own</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Skill to Step</a:t>
            </a:r>
          </a:p>
        </p:txBody>
      </p:sp>
      <p:sp>
        <p:nvSpPr>
          <p:cNvPr id="3" name="TextBox 2"/>
          <p:cNvSpPr txBox="1"/>
          <p:nvPr/>
        </p:nvSpPr>
        <p:spPr>
          <a:xfrm>
            <a:off x="457200" y="1499616"/>
            <a:ext cx="3246043" cy="518159"/>
          </a:xfrm>
          <a:prstGeom prst="rect">
            <a:avLst/>
          </a:prstGeom>
          <a:noFill/>
        </p:spPr>
        <p:txBody>
          <a:bodyPr wrap="none" lIns="0" rIns="0">
            <a:noAutofit/>
          </a:bodyPr>
          <a:lstStyle/>
          <a:p>
            <a:pPr algn="l"/>
            <a:r>
              <a:rPr sz="3400" b="1" i="0">
                <a:solidFill>
                  <a:srgbClr val="0072CE"/>
                </a:solidFill>
                <a:latin typeface="Arial"/>
              </a:rPr>
              <a:t>Skill</a:t>
            </a:r>
          </a:p>
        </p:txBody>
      </p:sp>
      <p:sp>
        <p:nvSpPr>
          <p:cNvPr id="4" name="TextBox 3"/>
          <p:cNvSpPr txBox="1"/>
          <p:nvPr/>
        </p:nvSpPr>
        <p:spPr>
          <a:xfrm>
            <a:off x="4251883" y="1499616"/>
            <a:ext cx="3906480" cy="518159"/>
          </a:xfrm>
          <a:prstGeom prst="rect">
            <a:avLst/>
          </a:prstGeom>
          <a:noFill/>
        </p:spPr>
        <p:txBody>
          <a:bodyPr wrap="none" lIns="0" rIns="0">
            <a:noAutofit/>
          </a:bodyPr>
          <a:lstStyle/>
          <a:p>
            <a:pPr algn="l"/>
            <a:r>
              <a:rPr sz="3400" b="1" i="0">
                <a:solidFill>
                  <a:srgbClr val="0072CE"/>
                </a:solidFill>
                <a:latin typeface="Arial"/>
              </a:rPr>
              <a:t>Steps it fits</a:t>
            </a:r>
          </a:p>
        </p:txBody>
      </p:sp>
      <p:sp>
        <p:nvSpPr>
          <p:cNvPr id="5" name="Rectangle 4"/>
          <p:cNvSpPr/>
          <p:nvPr/>
        </p:nvSpPr>
        <p:spPr>
          <a:xfrm>
            <a:off x="457200" y="2072639"/>
            <a:ext cx="763972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791332" cy="633984"/>
          </a:xfrm>
          <a:prstGeom prst="rect">
            <a:avLst/>
          </a:prstGeom>
          <a:noFill/>
        </p:spPr>
        <p:txBody>
          <a:bodyPr wrap="none" lIns="0" rIns="0">
            <a:noAutofit/>
          </a:bodyPr>
          <a:lstStyle/>
          <a:p>
            <a:pPr algn="l"/>
            <a:r>
              <a:rPr sz="3400" b="0" i="0">
                <a:solidFill>
                  <a:srgbClr val="0A2240"/>
                </a:solidFill>
                <a:latin typeface="Arial"/>
              </a:rPr>
              <a:t>Data wrangling</a:t>
            </a:r>
          </a:p>
        </p:txBody>
      </p:sp>
      <p:sp>
        <p:nvSpPr>
          <p:cNvPr id="7" name="TextBox 6"/>
          <p:cNvSpPr txBox="1"/>
          <p:nvPr/>
        </p:nvSpPr>
        <p:spPr>
          <a:xfrm>
            <a:off x="4251883" y="2401823"/>
            <a:ext cx="4177030" cy="633984"/>
          </a:xfrm>
          <a:prstGeom prst="rect">
            <a:avLst/>
          </a:prstGeom>
          <a:noFill/>
        </p:spPr>
        <p:txBody>
          <a:bodyPr wrap="none" lIns="0" rIns="0">
            <a:noAutofit/>
          </a:bodyPr>
          <a:lstStyle/>
          <a:p>
            <a:pPr algn="l"/>
            <a:r>
              <a:rPr sz="3400" b="0" i="0">
                <a:solidFill>
                  <a:srgbClr val="0A2240"/>
                </a:solidFill>
                <a:latin typeface="Arial"/>
              </a:rPr>
              <a:t>Intake, parse</a:t>
            </a:r>
          </a:p>
        </p:txBody>
      </p:sp>
      <p:sp>
        <p:nvSpPr>
          <p:cNvPr id="8" name="TextBox 7"/>
          <p:cNvSpPr txBox="1"/>
          <p:nvPr/>
        </p:nvSpPr>
        <p:spPr>
          <a:xfrm>
            <a:off x="457200" y="3310127"/>
            <a:ext cx="4637504" cy="633984"/>
          </a:xfrm>
          <a:prstGeom prst="rect">
            <a:avLst/>
          </a:prstGeom>
          <a:noFill/>
        </p:spPr>
        <p:txBody>
          <a:bodyPr wrap="none" lIns="0" rIns="0">
            <a:noAutofit/>
          </a:bodyPr>
          <a:lstStyle/>
          <a:p>
            <a:pPr algn="l"/>
            <a:r>
              <a:rPr sz="3400" b="0" i="0">
                <a:solidFill>
                  <a:srgbClr val="0A2240"/>
                </a:solidFill>
                <a:latin typeface="Arial"/>
              </a:rPr>
              <a:t>Prompt design</a:t>
            </a:r>
          </a:p>
        </p:txBody>
      </p:sp>
      <p:sp>
        <p:nvSpPr>
          <p:cNvPr id="9" name="TextBox 8"/>
          <p:cNvSpPr txBox="1"/>
          <p:nvPr/>
        </p:nvSpPr>
        <p:spPr>
          <a:xfrm>
            <a:off x="4251883" y="3310127"/>
            <a:ext cx="5749726" cy="633984"/>
          </a:xfrm>
          <a:prstGeom prst="rect">
            <a:avLst/>
          </a:prstGeom>
          <a:noFill/>
        </p:spPr>
        <p:txBody>
          <a:bodyPr wrap="none" lIns="0" rIns="0">
            <a:noAutofit/>
          </a:bodyPr>
          <a:lstStyle/>
          <a:p>
            <a:pPr algn="l"/>
            <a:r>
              <a:rPr sz="3400" b="0" i="0">
                <a:solidFill>
                  <a:srgbClr val="0A2240"/>
                </a:solidFill>
                <a:latin typeface="Arial"/>
              </a:rPr>
              <a:t>Score, summarise</a:t>
            </a:r>
          </a:p>
        </p:txBody>
      </p:sp>
      <p:sp>
        <p:nvSpPr>
          <p:cNvPr id="10" name="TextBox 9"/>
          <p:cNvSpPr txBox="1"/>
          <p:nvPr/>
        </p:nvSpPr>
        <p:spPr>
          <a:xfrm>
            <a:off x="457200" y="4218431"/>
            <a:ext cx="3246043" cy="633984"/>
          </a:xfrm>
          <a:prstGeom prst="rect">
            <a:avLst/>
          </a:prstGeom>
          <a:noFill/>
        </p:spPr>
        <p:txBody>
          <a:bodyPr wrap="none" lIns="0" rIns="0">
            <a:noAutofit/>
          </a:bodyPr>
          <a:lstStyle/>
          <a:p>
            <a:pPr algn="l"/>
            <a:r>
              <a:rPr sz="3400" b="0" i="0">
                <a:solidFill>
                  <a:srgbClr val="0A2240"/>
                </a:solidFill>
                <a:latin typeface="Arial"/>
              </a:rPr>
              <a:t>Front end</a:t>
            </a:r>
          </a:p>
        </p:txBody>
      </p:sp>
      <p:sp>
        <p:nvSpPr>
          <p:cNvPr id="11" name="TextBox 10"/>
          <p:cNvSpPr txBox="1"/>
          <p:nvPr/>
        </p:nvSpPr>
        <p:spPr>
          <a:xfrm>
            <a:off x="4251883" y="4218431"/>
            <a:ext cx="4368641" cy="633984"/>
          </a:xfrm>
          <a:prstGeom prst="rect">
            <a:avLst/>
          </a:prstGeom>
          <a:noFill/>
        </p:spPr>
        <p:txBody>
          <a:bodyPr wrap="none" lIns="0" rIns="0">
            <a:noAutofit/>
          </a:bodyPr>
          <a:lstStyle/>
          <a:p>
            <a:pPr algn="l"/>
            <a:r>
              <a:rPr sz="3400" b="0" i="0">
                <a:solidFill>
                  <a:srgbClr val="0A2240"/>
                </a:solidFill>
                <a:latin typeface="Arial"/>
              </a:rPr>
              <a:t>Report, demo</a:t>
            </a:r>
          </a:p>
        </p:txBody>
      </p:sp>
      <p:sp>
        <p:nvSpPr>
          <p:cNvPr id="12" name="TextBox 11"/>
          <p:cNvSpPr txBox="1"/>
          <p:nvPr/>
        </p:nvSpPr>
        <p:spPr>
          <a:xfrm>
            <a:off x="457200" y="5126735"/>
            <a:ext cx="4675624" cy="633984"/>
          </a:xfrm>
          <a:prstGeom prst="rect">
            <a:avLst/>
          </a:prstGeom>
          <a:noFill/>
        </p:spPr>
        <p:txBody>
          <a:bodyPr wrap="none" lIns="0" rIns="0">
            <a:noAutofit/>
          </a:bodyPr>
          <a:lstStyle/>
          <a:p>
            <a:pPr algn="l"/>
            <a:r>
              <a:rPr sz="3400" b="0" i="0">
                <a:solidFill>
                  <a:srgbClr val="0A2240"/>
                </a:solidFill>
                <a:latin typeface="Arial"/>
              </a:rPr>
              <a:t>Domain expert</a:t>
            </a:r>
          </a:p>
        </p:txBody>
      </p:sp>
      <p:sp>
        <p:nvSpPr>
          <p:cNvPr id="13" name="TextBox 12"/>
          <p:cNvSpPr txBox="1"/>
          <p:nvPr/>
        </p:nvSpPr>
        <p:spPr>
          <a:xfrm>
            <a:off x="4251883" y="5126735"/>
            <a:ext cx="4792008" cy="633984"/>
          </a:xfrm>
          <a:prstGeom prst="rect">
            <a:avLst/>
          </a:prstGeom>
          <a:noFill/>
        </p:spPr>
        <p:txBody>
          <a:bodyPr wrap="none" lIns="0" rIns="0">
            <a:noAutofit/>
          </a:bodyPr>
          <a:lstStyle/>
          <a:p>
            <a:pPr algn="l"/>
            <a:r>
              <a:rPr sz="3400" b="0" i="0">
                <a:solidFill>
                  <a:srgbClr val="0A2240"/>
                </a:solidFill>
                <a:latin typeface="Arial"/>
              </a:rPr>
              <a:t>Judging quality</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Single owner</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One named person accountable for a step being done.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Exactly One</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Shared</a:t>
            </a:r>
          </a:p>
        </p:txBody>
      </p:sp>
      <p:sp>
        <p:nvSpPr>
          <p:cNvPr id="4" name="Rectangle 3"/>
          <p:cNvSpPr/>
          <p:nvPr/>
        </p:nvSpPr>
        <p:spPr>
          <a:xfrm>
            <a:off x="457200" y="2176271"/>
            <a:ext cx="1463861"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Single</a:t>
            </a:r>
          </a:p>
        </p:txBody>
      </p:sp>
      <p:sp>
        <p:nvSpPr>
          <p:cNvPr id="6" name="Rectangle 5"/>
          <p:cNvSpPr/>
          <p:nvPr/>
        </p:nvSpPr>
        <p:spPr>
          <a:xfrm>
            <a:off x="6233160" y="2176271"/>
            <a:ext cx="1295611"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7939425" cy="609600"/>
          </a:xfrm>
          <a:prstGeom prst="rect">
            <a:avLst/>
          </a:prstGeom>
          <a:noFill/>
        </p:spPr>
        <p:txBody>
          <a:bodyPr wrap="none" lIns="0" rIns="0">
            <a:noAutofit/>
          </a:bodyPr>
          <a:lstStyle/>
          <a:p>
            <a:pPr algn="l"/>
            <a:r>
              <a:rPr sz="3400" b="0" i="0">
                <a:solidFill>
                  <a:srgbClr val="0A2240"/>
                </a:solidFill>
                <a:latin typeface="Arial"/>
              </a:rPr>
              <a:t>Everyone assumes cover</a:t>
            </a:r>
          </a:p>
        </p:txBody>
      </p:sp>
      <p:sp>
        <p:nvSpPr>
          <p:cNvPr id="8" name="TextBox 7"/>
          <p:cNvSpPr txBox="1"/>
          <p:nvPr/>
        </p:nvSpPr>
        <p:spPr>
          <a:xfrm>
            <a:off x="457200" y="3608831"/>
            <a:ext cx="8208963" cy="609600"/>
          </a:xfrm>
          <a:prstGeom prst="rect">
            <a:avLst/>
          </a:prstGeom>
          <a:noFill/>
        </p:spPr>
        <p:txBody>
          <a:bodyPr wrap="none" lIns="0" rIns="0">
            <a:noAutofit/>
          </a:bodyPr>
          <a:lstStyle/>
          <a:p>
            <a:pPr algn="l"/>
            <a:r>
              <a:rPr sz="3400" b="0" i="0">
                <a:solidFill>
                  <a:srgbClr val="0A2240"/>
                </a:solidFill>
                <a:latin typeface="Arial"/>
              </a:rPr>
              <a:t>Nobody watches the clock</a:t>
            </a:r>
          </a:p>
        </p:txBody>
      </p:sp>
      <p:sp>
        <p:nvSpPr>
          <p:cNvPr id="9" name="TextBox 8"/>
          <p:cNvSpPr txBox="1"/>
          <p:nvPr/>
        </p:nvSpPr>
        <p:spPr>
          <a:xfrm>
            <a:off x="457200" y="4821935"/>
            <a:ext cx="5501640" cy="609600"/>
          </a:xfrm>
          <a:prstGeom prst="rect">
            <a:avLst/>
          </a:prstGeom>
          <a:noFill/>
        </p:spPr>
        <p:txBody>
          <a:bodyPr wrap="none" lIns="0" rIns="0">
            <a:noAutofit/>
          </a:bodyPr>
          <a:lstStyle/>
          <a:p>
            <a:pPr algn="l"/>
            <a:r>
              <a:rPr sz="3400" b="0" i="0">
                <a:solidFill>
                  <a:srgbClr val="0A2240"/>
                </a:solidFill>
                <a:latin typeface="Arial"/>
              </a:rPr>
              <a:t>Slips found late</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 person tracking</a:t>
            </a:r>
          </a:p>
        </p:txBody>
      </p:sp>
      <p:sp>
        <p:nvSpPr>
          <p:cNvPr id="11" name="TextBox 10"/>
          <p:cNvSpPr txBox="1"/>
          <p:nvPr/>
        </p:nvSpPr>
        <p:spPr>
          <a:xfrm>
            <a:off x="6233160" y="3608831"/>
            <a:ext cx="5828328" cy="609600"/>
          </a:xfrm>
          <a:prstGeom prst="rect">
            <a:avLst/>
          </a:prstGeom>
          <a:noFill/>
        </p:spPr>
        <p:txBody>
          <a:bodyPr wrap="none" lIns="0" rIns="0">
            <a:noAutofit/>
          </a:bodyPr>
          <a:lstStyle/>
          <a:p>
            <a:pPr algn="l"/>
            <a:r>
              <a:rPr sz="3400" b="0" i="0">
                <a:solidFill>
                  <a:srgbClr val="0A2240"/>
                </a:solidFill>
                <a:latin typeface="Arial"/>
              </a:rPr>
              <a:t>One person to ask</a:t>
            </a:r>
          </a:p>
        </p:txBody>
      </p:sp>
      <p:sp>
        <p:nvSpPr>
          <p:cNvPr id="12" name="TextBox 11"/>
          <p:cNvSpPr txBox="1"/>
          <p:nvPr/>
        </p:nvSpPr>
        <p:spPr>
          <a:xfrm>
            <a:off x="6233160" y="4821935"/>
            <a:ext cx="5501640" cy="609600"/>
          </a:xfrm>
          <a:prstGeom prst="rect">
            <a:avLst/>
          </a:prstGeom>
          <a:noFill/>
        </p:spPr>
        <p:txBody>
          <a:bodyPr wrap="none" lIns="0" rIns="0">
            <a:noAutofit/>
          </a:bodyPr>
          <a:lstStyle/>
          <a:p>
            <a:pPr algn="l"/>
            <a:r>
              <a:rPr sz="3400" b="0" i="0">
                <a:solidFill>
                  <a:srgbClr val="0A2240"/>
                </a:solidFill>
                <a:latin typeface="Arial"/>
              </a:rPr>
              <a:t>Slips found early</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Assign Every Step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Riskiest first</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It gets the best fit</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Then the rest</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Match skill to step</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Name the gaps</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Steps nobody can own</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Volunteer or Best Fit</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Volunteer</a:t>
            </a:r>
          </a:p>
        </p:txBody>
      </p:sp>
      <p:sp>
        <p:nvSpPr>
          <p:cNvPr id="4" name="TextBox 3"/>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Best fit</a:t>
            </a:r>
          </a:p>
        </p:txBody>
      </p:sp>
      <p:sp>
        <p:nvSpPr>
          <p:cNvPr id="5" name="TextBox 4"/>
          <p:cNvSpPr txBox="1"/>
          <p:nvPr/>
        </p:nvSpPr>
        <p:spPr>
          <a:xfrm>
            <a:off x="457200" y="2395727"/>
            <a:ext cx="7554852" cy="847344"/>
          </a:xfrm>
          <a:prstGeom prst="rect">
            <a:avLst/>
          </a:prstGeom>
          <a:noFill/>
        </p:spPr>
        <p:txBody>
          <a:bodyPr wrap="none" lIns="0" rIns="0">
            <a:noAutofit/>
          </a:bodyPr>
          <a:lstStyle/>
          <a:p>
            <a:pPr algn="l"/>
            <a:r>
              <a:rPr sz="3400" b="0" i="0">
                <a:solidFill>
                  <a:srgbClr val="0A2240"/>
                </a:solidFill>
                <a:latin typeface="Arial"/>
              </a:rPr>
              <a:t>Picks what excites them</a:t>
            </a:r>
          </a:p>
        </p:txBody>
      </p:sp>
      <p:sp>
        <p:nvSpPr>
          <p:cNvPr id="6" name="TextBox 5"/>
          <p:cNvSpPr txBox="1"/>
          <p:nvPr/>
        </p:nvSpPr>
        <p:spPr>
          <a:xfrm>
            <a:off x="6233160" y="2395727"/>
            <a:ext cx="5958840" cy="847344"/>
          </a:xfrm>
          <a:prstGeom prst="rect">
            <a:avLst/>
          </a:prstGeom>
          <a:noFill/>
        </p:spPr>
        <p:txBody>
          <a:bodyPr wrap="none" lIns="0" rIns="0">
            <a:noAutofit/>
          </a:bodyPr>
          <a:lstStyle/>
          <a:p>
            <a:pPr algn="l"/>
            <a:r>
              <a:rPr sz="3400" b="0" i="0">
                <a:solidFill>
                  <a:srgbClr val="0A2240"/>
                </a:solidFill>
                <a:latin typeface="Arial"/>
              </a:rPr>
              <a:t>Picks what they can ship</a:t>
            </a:r>
          </a:p>
        </p:txBody>
      </p:sp>
      <p:sp>
        <p:nvSpPr>
          <p:cNvPr id="7" name="TextBox 6"/>
          <p:cNvSpPr txBox="1"/>
          <p:nvPr/>
        </p:nvSpPr>
        <p:spPr>
          <a:xfrm>
            <a:off x="457200" y="3517391"/>
            <a:ext cx="7596009" cy="847344"/>
          </a:xfrm>
          <a:prstGeom prst="rect">
            <a:avLst/>
          </a:prstGeom>
          <a:noFill/>
        </p:spPr>
        <p:txBody>
          <a:bodyPr wrap="none" lIns="0" rIns="0">
            <a:noAutofit/>
          </a:bodyPr>
          <a:lstStyle/>
          <a:p>
            <a:pPr algn="l"/>
            <a:r>
              <a:rPr sz="3400" b="0" i="0">
                <a:solidFill>
                  <a:srgbClr val="0A2240"/>
                </a:solidFill>
                <a:latin typeface="Arial"/>
              </a:rPr>
              <a:t>Learns on your deadline</a:t>
            </a:r>
          </a:p>
        </p:txBody>
      </p:sp>
      <p:sp>
        <p:nvSpPr>
          <p:cNvPr id="8" name="TextBox 7"/>
          <p:cNvSpPr txBox="1"/>
          <p:nvPr/>
        </p:nvSpPr>
        <p:spPr>
          <a:xfrm>
            <a:off x="6233160" y="3517391"/>
            <a:ext cx="5958840" cy="847344"/>
          </a:xfrm>
          <a:prstGeom prst="rect">
            <a:avLst/>
          </a:prstGeom>
          <a:noFill/>
        </p:spPr>
        <p:txBody>
          <a:bodyPr wrap="none" lIns="0" rIns="0">
            <a:noAutofit/>
          </a:bodyPr>
          <a:lstStyle/>
          <a:p>
            <a:pPr algn="l"/>
            <a:r>
              <a:rPr sz="3400" b="0" i="0">
                <a:solidFill>
                  <a:srgbClr val="0A2240"/>
                </a:solidFill>
                <a:latin typeface="Arial"/>
              </a:rPr>
              <a:t>Learns on the safe step</a:t>
            </a:r>
          </a:p>
        </p:txBody>
      </p:sp>
      <p:sp>
        <p:nvSpPr>
          <p:cNvPr id="9" name="TextBox 8"/>
          <p:cNvSpPr txBox="1"/>
          <p:nvPr/>
        </p:nvSpPr>
        <p:spPr>
          <a:xfrm>
            <a:off x="457200" y="4639055"/>
            <a:ext cx="6326584" cy="847344"/>
          </a:xfrm>
          <a:prstGeom prst="rect">
            <a:avLst/>
          </a:prstGeom>
          <a:noFill/>
        </p:spPr>
        <p:txBody>
          <a:bodyPr wrap="none" lIns="0" rIns="0">
            <a:noAutofit/>
          </a:bodyPr>
          <a:lstStyle/>
          <a:p>
            <a:pPr algn="l"/>
            <a:r>
              <a:rPr sz="3400" b="0" i="0">
                <a:solidFill>
                  <a:srgbClr val="0A2240"/>
                </a:solidFill>
                <a:latin typeface="Arial"/>
              </a:rPr>
              <a:t>Risky step goes last</a:t>
            </a:r>
          </a:p>
        </p:txBody>
      </p:sp>
      <p:sp>
        <p:nvSpPr>
          <p:cNvPr id="10" name="TextBox 9"/>
          <p:cNvSpPr txBox="1"/>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Risky step goes first</a:t>
            </a:r>
          </a:p>
        </p:txBody>
      </p:sp>
      <p:sp>
        <p:nvSpPr>
          <p:cNvPr id="11" name="TextBox 10"/>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When Nobody Can Own a Step</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Stub it and move on</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Buy it with an existing tool</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Cut it from the happy path</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"One name per box, or no name at all."</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The rule that survives Day 2</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404699" cy="768096"/>
          </a:xfrm>
          <a:prstGeom prst="rect">
            <a:avLst/>
          </a:prstGeom>
          <a:noFill/>
        </p:spPr>
        <p:txBody>
          <a:bodyPr wrap="none" lIns="0" rIns="0">
            <a:noAutofit/>
          </a:bodyPr>
          <a:lstStyle/>
          <a:p>
            <a:pPr algn="l"/>
            <a:r>
              <a:rPr sz="4200" b="1" i="0">
                <a:solidFill>
                  <a:srgbClr val="0072CE"/>
                </a:solidFill>
                <a:latin typeface="Arial"/>
              </a:rPr>
              <a:t>Roles Beyond Writing Code</a:t>
            </a:r>
          </a:p>
        </p:txBody>
      </p:sp>
      <p:sp>
        <p:nvSpPr>
          <p:cNvPr id="3" name="TextBox 2"/>
          <p:cNvSpPr txBox="1"/>
          <p:nvPr/>
        </p:nvSpPr>
        <p:spPr>
          <a:xfrm>
            <a:off x="457200" y="1499616"/>
            <a:ext cx="1680011" cy="518159"/>
          </a:xfrm>
          <a:prstGeom prst="rect">
            <a:avLst/>
          </a:prstGeom>
          <a:noFill/>
        </p:spPr>
        <p:txBody>
          <a:bodyPr wrap="none" lIns="0" rIns="0">
            <a:noAutofit/>
          </a:bodyPr>
          <a:lstStyle/>
          <a:p>
            <a:pPr algn="l"/>
            <a:r>
              <a:rPr sz="3400" b="1" i="0">
                <a:solidFill>
                  <a:srgbClr val="0072CE"/>
                </a:solidFill>
                <a:latin typeface="Arial"/>
              </a:rPr>
              <a:t>Role</a:t>
            </a:r>
          </a:p>
        </p:txBody>
      </p:sp>
      <p:sp>
        <p:nvSpPr>
          <p:cNvPr id="4" name="TextBox 3"/>
          <p:cNvSpPr txBox="1"/>
          <p:nvPr/>
        </p:nvSpPr>
        <p:spPr>
          <a:xfrm>
            <a:off x="2643386" y="1499616"/>
            <a:ext cx="5238058" cy="518159"/>
          </a:xfrm>
          <a:prstGeom prst="rect">
            <a:avLst/>
          </a:prstGeom>
          <a:noFill/>
        </p:spPr>
        <p:txBody>
          <a:bodyPr wrap="none" lIns="0" rIns="0">
            <a:noAutofit/>
          </a:bodyPr>
          <a:lstStyle/>
          <a:p>
            <a:pPr algn="l"/>
            <a:r>
              <a:rPr sz="3400" b="1" i="0">
                <a:solidFill>
                  <a:srgbClr val="0072CE"/>
                </a:solidFill>
                <a:latin typeface="Arial"/>
              </a:rPr>
              <a:t>What they do</a:t>
            </a:r>
          </a:p>
        </p:txBody>
      </p:sp>
      <p:sp>
        <p:nvSpPr>
          <p:cNvPr id="5" name="Rectangle 4"/>
          <p:cNvSpPr/>
          <p:nvPr/>
        </p:nvSpPr>
        <p:spPr>
          <a:xfrm>
            <a:off x="457200" y="2072639"/>
            <a:ext cx="7424244"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217737" cy="633984"/>
          </a:xfrm>
          <a:prstGeom prst="rect">
            <a:avLst/>
          </a:prstGeom>
          <a:noFill/>
        </p:spPr>
        <p:txBody>
          <a:bodyPr wrap="none" lIns="0" rIns="0">
            <a:noAutofit/>
          </a:bodyPr>
          <a:lstStyle/>
          <a:p>
            <a:pPr algn="l"/>
            <a:r>
              <a:rPr sz="3400" b="0" i="0">
                <a:solidFill>
                  <a:srgbClr val="0A2240"/>
                </a:solidFill>
                <a:latin typeface="Arial"/>
              </a:rPr>
              <a:t>Owner</a:t>
            </a:r>
          </a:p>
        </p:txBody>
      </p:sp>
      <p:sp>
        <p:nvSpPr>
          <p:cNvPr id="7" name="TextBox 6"/>
          <p:cNvSpPr txBox="1"/>
          <p:nvPr/>
        </p:nvSpPr>
        <p:spPr>
          <a:xfrm>
            <a:off x="2643386" y="2401823"/>
            <a:ext cx="5789532" cy="633984"/>
          </a:xfrm>
          <a:prstGeom prst="rect">
            <a:avLst/>
          </a:prstGeom>
          <a:noFill/>
        </p:spPr>
        <p:txBody>
          <a:bodyPr wrap="none" lIns="0" rIns="0">
            <a:noAutofit/>
          </a:bodyPr>
          <a:lstStyle/>
          <a:p>
            <a:pPr algn="l"/>
            <a:r>
              <a:rPr sz="3400" b="0" i="0">
                <a:solidFill>
                  <a:srgbClr val="0A2240"/>
                </a:solidFill>
                <a:latin typeface="Arial"/>
              </a:rPr>
              <a:t>Holds the problem</a:t>
            </a:r>
          </a:p>
        </p:txBody>
      </p:sp>
      <p:sp>
        <p:nvSpPr>
          <p:cNvPr id="8" name="TextBox 7"/>
          <p:cNvSpPr txBox="1"/>
          <p:nvPr/>
        </p:nvSpPr>
        <p:spPr>
          <a:xfrm>
            <a:off x="457200" y="3310127"/>
            <a:ext cx="2064246" cy="633984"/>
          </a:xfrm>
          <a:prstGeom prst="rect">
            <a:avLst/>
          </a:prstGeom>
          <a:noFill/>
        </p:spPr>
        <p:txBody>
          <a:bodyPr wrap="none" lIns="0" rIns="0">
            <a:noAutofit/>
          </a:bodyPr>
          <a:lstStyle/>
          <a:p>
            <a:pPr algn="l"/>
            <a:r>
              <a:rPr sz="3400" b="0" i="0">
                <a:solidFill>
                  <a:srgbClr val="0A2240"/>
                </a:solidFill>
                <a:latin typeface="Arial"/>
              </a:rPr>
              <a:t>Tester</a:t>
            </a:r>
          </a:p>
        </p:txBody>
      </p:sp>
      <p:sp>
        <p:nvSpPr>
          <p:cNvPr id="9" name="TextBox 8"/>
          <p:cNvSpPr txBox="1"/>
          <p:nvPr/>
        </p:nvSpPr>
        <p:spPr>
          <a:xfrm>
            <a:off x="2643386" y="3310127"/>
            <a:ext cx="6519545" cy="633984"/>
          </a:xfrm>
          <a:prstGeom prst="rect">
            <a:avLst/>
          </a:prstGeom>
          <a:noFill/>
        </p:spPr>
        <p:txBody>
          <a:bodyPr wrap="none" lIns="0" rIns="0">
            <a:noAutofit/>
          </a:bodyPr>
          <a:lstStyle/>
          <a:p>
            <a:pPr algn="l"/>
            <a:r>
              <a:rPr sz="3400" b="0" i="0">
                <a:solidFill>
                  <a:srgbClr val="0A2240"/>
                </a:solidFill>
                <a:latin typeface="Arial"/>
              </a:rPr>
              <a:t>Breaks it on purpose</a:t>
            </a:r>
          </a:p>
        </p:txBody>
      </p:sp>
      <p:sp>
        <p:nvSpPr>
          <p:cNvPr id="10" name="TextBox 9"/>
          <p:cNvSpPr txBox="1"/>
          <p:nvPr/>
        </p:nvSpPr>
        <p:spPr>
          <a:xfrm>
            <a:off x="457200" y="4218431"/>
            <a:ext cx="2141160" cy="633984"/>
          </a:xfrm>
          <a:prstGeom prst="rect">
            <a:avLst/>
          </a:prstGeom>
          <a:noFill/>
        </p:spPr>
        <p:txBody>
          <a:bodyPr wrap="none" lIns="0" rIns="0">
            <a:noAutofit/>
          </a:bodyPr>
          <a:lstStyle/>
          <a:p>
            <a:pPr algn="l"/>
            <a:r>
              <a:rPr sz="3400" b="0" i="0">
                <a:solidFill>
                  <a:srgbClr val="0A2240"/>
                </a:solidFill>
                <a:latin typeface="Arial"/>
              </a:rPr>
              <a:t>Scribe</a:t>
            </a:r>
          </a:p>
        </p:txBody>
      </p:sp>
      <p:sp>
        <p:nvSpPr>
          <p:cNvPr id="11" name="TextBox 10"/>
          <p:cNvSpPr txBox="1"/>
          <p:nvPr/>
        </p:nvSpPr>
        <p:spPr>
          <a:xfrm>
            <a:off x="2643386" y="4218431"/>
            <a:ext cx="7978556" cy="633984"/>
          </a:xfrm>
          <a:prstGeom prst="rect">
            <a:avLst/>
          </a:prstGeom>
          <a:noFill/>
        </p:spPr>
        <p:txBody>
          <a:bodyPr wrap="none" lIns="0" rIns="0">
            <a:noAutofit/>
          </a:bodyPr>
          <a:lstStyle/>
          <a:p>
            <a:pPr algn="l"/>
            <a:r>
              <a:rPr sz="3400" b="0" i="0">
                <a:solidFill>
                  <a:srgbClr val="0A2240"/>
                </a:solidFill>
                <a:latin typeface="Arial"/>
              </a:rPr>
              <a:t>Keeps the Project current</a:t>
            </a:r>
          </a:p>
        </p:txBody>
      </p:sp>
      <p:sp>
        <p:nvSpPr>
          <p:cNvPr id="12" name="TextBox 11"/>
          <p:cNvSpPr txBox="1"/>
          <p:nvPr/>
        </p:nvSpPr>
        <p:spPr>
          <a:xfrm>
            <a:off x="457200" y="5126735"/>
            <a:ext cx="2025788" cy="633984"/>
          </a:xfrm>
          <a:prstGeom prst="rect">
            <a:avLst/>
          </a:prstGeom>
          <a:noFill/>
        </p:spPr>
        <p:txBody>
          <a:bodyPr wrap="none" lIns="0" rIns="0">
            <a:noAutofit/>
          </a:bodyPr>
          <a:lstStyle/>
          <a:p>
            <a:pPr algn="l"/>
            <a:r>
              <a:rPr sz="3400" b="0" i="0">
                <a:solidFill>
                  <a:srgbClr val="0A2240"/>
                </a:solidFill>
                <a:latin typeface="Arial"/>
              </a:rPr>
              <a:t>Demo</a:t>
            </a:r>
          </a:p>
        </p:txBody>
      </p:sp>
      <p:sp>
        <p:nvSpPr>
          <p:cNvPr id="13" name="TextBox 12"/>
          <p:cNvSpPr txBox="1"/>
          <p:nvPr/>
        </p:nvSpPr>
        <p:spPr>
          <a:xfrm>
            <a:off x="2643386" y="5126735"/>
            <a:ext cx="6517857" cy="633984"/>
          </a:xfrm>
          <a:prstGeom prst="rect">
            <a:avLst/>
          </a:prstGeom>
          <a:noFill/>
        </p:spPr>
        <p:txBody>
          <a:bodyPr wrap="none" lIns="0" rIns="0">
            <a:noAutofit/>
          </a:bodyPr>
          <a:lstStyle/>
          <a:p>
            <a:pPr algn="l"/>
            <a:r>
              <a:rPr sz="3400" b="0" i="0">
                <a:solidFill>
                  <a:srgbClr val="0A2240"/>
                </a:solidFill>
                <a:latin typeface="Arial"/>
              </a:rPr>
              <a:t>Tells the story Friday</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Work in Parallel</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Claude Cowork</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Claude running multi-step work on files you choose.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Queue or Parallel</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Queue</a:t>
            </a:r>
          </a:p>
        </p:txBody>
      </p:sp>
      <p:sp>
        <p:nvSpPr>
          <p:cNvPr id="4" name="Rectangle 3"/>
          <p:cNvSpPr/>
          <p:nvPr/>
        </p:nvSpPr>
        <p:spPr>
          <a:xfrm>
            <a:off x="457200" y="2176271"/>
            <a:ext cx="1343682"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Parallel</a:t>
            </a:r>
          </a:p>
        </p:txBody>
      </p:sp>
      <p:sp>
        <p:nvSpPr>
          <p:cNvPr id="6" name="Rectangle 5"/>
          <p:cNvSpPr/>
          <p:nvPr/>
        </p:nvSpPr>
        <p:spPr>
          <a:xfrm>
            <a:off x="6233160" y="2176271"/>
            <a:ext cx="153639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5827990" cy="609600"/>
          </a:xfrm>
          <a:prstGeom prst="rect">
            <a:avLst/>
          </a:prstGeom>
          <a:noFill/>
        </p:spPr>
        <p:txBody>
          <a:bodyPr wrap="none" lIns="0" rIns="0">
            <a:noAutofit/>
          </a:bodyPr>
          <a:lstStyle/>
          <a:p>
            <a:pPr algn="l"/>
            <a:r>
              <a:rPr sz="3400" b="0" i="0">
                <a:solidFill>
                  <a:srgbClr val="0A2240"/>
                </a:solidFill>
                <a:latin typeface="Arial"/>
              </a:rPr>
              <a:t>One step at a time</a:t>
            </a:r>
          </a:p>
        </p:txBody>
      </p:sp>
      <p:sp>
        <p:nvSpPr>
          <p:cNvPr id="8" name="TextBox 7"/>
          <p:cNvSpPr txBox="1"/>
          <p:nvPr/>
        </p:nvSpPr>
        <p:spPr>
          <a:xfrm>
            <a:off x="457200" y="3608831"/>
            <a:ext cx="7172643" cy="609600"/>
          </a:xfrm>
          <a:prstGeom prst="rect">
            <a:avLst/>
          </a:prstGeom>
          <a:noFill/>
        </p:spPr>
        <p:txBody>
          <a:bodyPr wrap="none" lIns="0" rIns="0">
            <a:noAutofit/>
          </a:bodyPr>
          <a:lstStyle/>
          <a:p>
            <a:pPr algn="l"/>
            <a:r>
              <a:rPr sz="3400" b="0" i="0">
                <a:solidFill>
                  <a:srgbClr val="0A2240"/>
                </a:solidFill>
                <a:latin typeface="Arial"/>
              </a:rPr>
              <a:t>Everyone waits on one</a:t>
            </a:r>
          </a:p>
        </p:txBody>
      </p:sp>
      <p:sp>
        <p:nvSpPr>
          <p:cNvPr id="9" name="TextBox 8"/>
          <p:cNvSpPr txBox="1"/>
          <p:nvPr/>
        </p:nvSpPr>
        <p:spPr>
          <a:xfrm>
            <a:off x="457200" y="4821935"/>
            <a:ext cx="5501640" cy="609600"/>
          </a:xfrm>
          <a:prstGeom prst="rect">
            <a:avLst/>
          </a:prstGeom>
          <a:noFill/>
        </p:spPr>
        <p:txBody>
          <a:bodyPr wrap="none" lIns="0" rIns="0">
            <a:noAutofit/>
          </a:bodyPr>
          <a:lstStyle/>
          <a:p>
            <a:pPr algn="l"/>
            <a:r>
              <a:rPr sz="3400" b="0" i="0">
                <a:solidFill>
                  <a:srgbClr val="0A2240"/>
                </a:solidFill>
                <a:latin typeface="Arial"/>
              </a:rPr>
              <a:t>Day 2 runs out</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Streams run at once</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Waiting is designed out</a:t>
            </a:r>
          </a:p>
        </p:txBody>
      </p:sp>
      <p:sp>
        <p:nvSpPr>
          <p:cNvPr id="12" name="TextBox 11"/>
          <p:cNvSpPr txBox="1"/>
          <p:nvPr/>
        </p:nvSpPr>
        <p:spPr>
          <a:xfrm>
            <a:off x="6233160" y="4821935"/>
            <a:ext cx="5501640" cy="609600"/>
          </a:xfrm>
          <a:prstGeom prst="rect">
            <a:avLst/>
          </a:prstGeom>
          <a:noFill/>
        </p:spPr>
        <p:txBody>
          <a:bodyPr wrap="none" lIns="0" rIns="0">
            <a:noAutofit/>
          </a:bodyPr>
          <a:lstStyle/>
          <a:p>
            <a:pPr algn="l"/>
            <a:r>
              <a:rPr sz="3400" b="0" i="0">
                <a:solidFill>
                  <a:srgbClr val="0A2240"/>
                </a:solidFill>
                <a:latin typeface="Arial"/>
              </a:rPr>
              <a:t>Day 2 finishes</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Cowork Runs</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On your files</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Reads and edits what you pick</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Multi-step</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Finishes a task, not a reply</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Alongside you</a:t>
            </a:r>
          </a:p>
        </p:txBody>
      </p:sp>
      <p:sp>
        <p:nvSpPr>
          <p:cNvPr id="8" name="TextBox 7"/>
          <p:cNvSpPr txBox="1"/>
          <p:nvPr/>
        </p:nvSpPr>
        <p:spPr>
          <a:xfrm>
            <a:off x="457200" y="5132831"/>
            <a:ext cx="11277600" cy="627889"/>
          </a:xfrm>
          <a:prstGeom prst="rect">
            <a:avLst/>
          </a:prstGeom>
          <a:noFill/>
        </p:spPr>
        <p:txBody>
          <a:bodyPr wrap="none" lIns="0" rIns="0">
            <a:noAutofit/>
          </a:bodyPr>
          <a:lstStyle/>
          <a:p>
            <a:pPr algn="l"/>
            <a:r>
              <a:rPr sz="3400" b="0" i="0">
                <a:solidFill>
                  <a:srgbClr val="0A2240"/>
                </a:solidFill>
                <a:latin typeface="Arial"/>
              </a:rPr>
              <a:t>You work while it works</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Set Up a Workstream</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One step only</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Scope it to a single box</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Give the contract</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Its input and output</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Say done</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How it proves it worked</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A Workstream Brief</a:t>
            </a:r>
          </a:p>
        </p:txBody>
      </p:sp>
      <p:sp>
        <p:nvSpPr>
          <p:cNvPr id="6" name="TextBox 5"/>
          <p:cNvSpPr txBox="1"/>
          <p:nvPr/>
        </p:nvSpPr>
        <p:spPr>
          <a:xfrm>
            <a:off x="457200" y="1837944"/>
            <a:ext cx="8707556" cy="518159"/>
          </a:xfrm>
          <a:prstGeom prst="rect">
            <a:avLst/>
          </a:prstGeom>
          <a:noFill/>
        </p:spPr>
        <p:txBody>
          <a:bodyPr wrap="none" lIns="0" rIns="0">
            <a:noAutofit/>
          </a:bodyPr>
          <a:lstStyle/>
          <a:p>
            <a:pPr algn="l"/>
            <a:r>
              <a:rPr sz="3400" b="0" i="0">
                <a:solidFill>
                  <a:srgbClr val="FFFFFF"/>
                </a:solidFill>
                <a:latin typeface="Arial"/>
              </a:rPr>
              <a:t>Step: Parse resumes to text</a:t>
            </a:r>
          </a:p>
        </p:txBody>
      </p:sp>
      <p:sp>
        <p:nvSpPr>
          <p:cNvPr id="7" name="TextBox 6"/>
          <p:cNvSpPr txBox="1"/>
          <p:nvPr/>
        </p:nvSpPr>
        <p:spPr>
          <a:xfrm>
            <a:off x="457200" y="2874262"/>
            <a:ext cx="5289590" cy="518159"/>
          </a:xfrm>
          <a:prstGeom prst="rect">
            <a:avLst/>
          </a:prstGeom>
          <a:noFill/>
        </p:spPr>
        <p:txBody>
          <a:bodyPr wrap="none" lIns="0" rIns="0">
            <a:noAutofit/>
          </a:bodyPr>
          <a:lstStyle/>
          <a:p>
            <a:pPr algn="l"/>
            <a:r>
              <a:rPr sz="3400" b="0" i="0">
                <a:solidFill>
                  <a:srgbClr val="FFFFFF"/>
                </a:solidFill>
                <a:latin typeface="Arial"/>
              </a:rPr>
              <a:t>Input:  PDF files </a:t>
            </a:r>
          </a:p>
        </p:txBody>
      </p:sp>
      <p:sp>
        <p:nvSpPr>
          <p:cNvPr id="8" name="TextBox 7"/>
          <p:cNvSpPr txBox="1"/>
          <p:nvPr/>
        </p:nvSpPr>
        <p:spPr>
          <a:xfrm>
            <a:off x="3648894" y="2874262"/>
            <a:ext cx="720606" cy="518159"/>
          </a:xfrm>
          <a:prstGeom prst="rect">
            <a:avLst/>
          </a:prstGeom>
          <a:noFill/>
        </p:spPr>
        <p:txBody>
          <a:bodyPr wrap="none" lIns="0" rIns="0">
            <a:noAutofit/>
          </a:bodyPr>
          <a:lstStyle/>
          <a:p>
            <a:pPr algn="l"/>
            <a:r>
              <a:rPr sz="3400" b="0" i="0">
                <a:solidFill>
                  <a:srgbClr val="569CD6"/>
                </a:solidFill>
                <a:latin typeface="Arial"/>
              </a:rPr>
              <a:t>in</a:t>
            </a:r>
          </a:p>
        </p:txBody>
      </p:sp>
      <p:sp>
        <p:nvSpPr>
          <p:cNvPr id="9" name="TextBox 8"/>
          <p:cNvSpPr txBox="1"/>
          <p:nvPr/>
        </p:nvSpPr>
        <p:spPr>
          <a:xfrm>
            <a:off x="3984972" y="2874262"/>
            <a:ext cx="2410360" cy="518159"/>
          </a:xfrm>
          <a:prstGeom prst="rect">
            <a:avLst/>
          </a:prstGeom>
          <a:noFill/>
        </p:spPr>
        <p:txBody>
          <a:bodyPr wrap="none" lIns="0" rIns="0">
            <a:noAutofit/>
          </a:bodyPr>
          <a:lstStyle/>
          <a:p>
            <a:pPr algn="l"/>
            <a:r>
              <a:rPr sz="3400" b="0" i="0">
                <a:solidFill>
                  <a:srgbClr val="FFFFFF"/>
                </a:solidFill>
                <a:latin typeface="Arial"/>
              </a:rPr>
              <a:t> /intake</a:t>
            </a:r>
          </a:p>
        </p:txBody>
      </p:sp>
      <p:sp>
        <p:nvSpPr>
          <p:cNvPr id="10" name="TextBox 9"/>
          <p:cNvSpPr txBox="1"/>
          <p:nvPr/>
        </p:nvSpPr>
        <p:spPr>
          <a:xfrm>
            <a:off x="457200" y="3392421"/>
            <a:ext cx="8093590" cy="518159"/>
          </a:xfrm>
          <a:prstGeom prst="rect">
            <a:avLst/>
          </a:prstGeom>
          <a:noFill/>
        </p:spPr>
        <p:txBody>
          <a:bodyPr wrap="none" lIns="0" rIns="0">
            <a:noAutofit/>
          </a:bodyPr>
          <a:lstStyle/>
          <a:p>
            <a:pPr algn="l"/>
            <a:r>
              <a:rPr sz="3400" b="0" i="0">
                <a:solidFill>
                  <a:srgbClr val="FFFFFF"/>
                </a:solidFill>
                <a:latin typeface="Arial"/>
              </a:rPr>
              <a:t>Output: one JSON per file</a:t>
            </a:r>
          </a:p>
        </p:txBody>
      </p:sp>
      <p:sp>
        <p:nvSpPr>
          <p:cNvPr id="11" name="TextBox 10"/>
          <p:cNvSpPr txBox="1"/>
          <p:nvPr/>
        </p:nvSpPr>
        <p:spPr>
          <a:xfrm>
            <a:off x="457200" y="3910580"/>
            <a:ext cx="8246070" cy="518159"/>
          </a:xfrm>
          <a:prstGeom prst="rect">
            <a:avLst/>
          </a:prstGeom>
          <a:noFill/>
        </p:spPr>
        <p:txBody>
          <a:bodyPr wrap="none" lIns="0" rIns="0">
            <a:noAutofit/>
          </a:bodyPr>
          <a:lstStyle/>
          <a:p>
            <a:pPr algn="l"/>
            <a:r>
              <a:rPr sz="3400" b="0" i="0">
                <a:solidFill>
                  <a:srgbClr val="FFFFFF"/>
                </a:solidFill>
                <a:latin typeface="Arial"/>
              </a:rPr>
              <a:t>        {name, skills[], years}</a:t>
            </a:r>
          </a:p>
        </p:txBody>
      </p:sp>
      <p:sp>
        <p:nvSpPr>
          <p:cNvPr id="12" name="TextBox 11"/>
          <p:cNvSpPr txBox="1"/>
          <p:nvPr/>
        </p:nvSpPr>
        <p:spPr>
          <a:xfrm>
            <a:off x="457200" y="4946898"/>
            <a:ext cx="8670112" cy="518159"/>
          </a:xfrm>
          <a:prstGeom prst="rect">
            <a:avLst/>
          </a:prstGeom>
          <a:noFill/>
        </p:spPr>
        <p:txBody>
          <a:bodyPr wrap="none" lIns="0" rIns="0">
            <a:noAutofit/>
          </a:bodyPr>
          <a:lstStyle/>
          <a:p>
            <a:pPr algn="l"/>
            <a:r>
              <a:rPr sz="3400" b="0" i="0">
                <a:solidFill>
                  <a:srgbClr val="FFFFFF"/>
                </a:solidFill>
                <a:latin typeface="Arial"/>
              </a:rPr>
              <a:t>Done when: 10 sample files</a:t>
            </a:r>
          </a:p>
        </p:txBody>
      </p:sp>
      <p:sp>
        <p:nvSpPr>
          <p:cNvPr id="13" name="TextBox 12"/>
          <p:cNvSpPr txBox="1"/>
          <p:nvPr/>
        </p:nvSpPr>
        <p:spPr>
          <a:xfrm>
            <a:off x="457200" y="5465057"/>
            <a:ext cx="2103040" cy="518159"/>
          </a:xfrm>
          <a:prstGeom prst="rect">
            <a:avLst/>
          </a:prstGeom>
          <a:noFill/>
        </p:spPr>
        <p:txBody>
          <a:bodyPr wrap="none" lIns="0" rIns="0">
            <a:noAutofit/>
          </a:bodyPr>
          <a:lstStyle/>
          <a:p>
            <a:pPr algn="l"/>
            <a:r>
              <a:rPr sz="3400" b="0" i="0">
                <a:solidFill>
                  <a:srgbClr val="FFFFFF"/>
                </a:solidFill>
                <a:latin typeface="Arial"/>
              </a:rPr>
              <a:t>parse </a:t>
            </a:r>
          </a:p>
        </p:txBody>
      </p:sp>
      <p:sp>
        <p:nvSpPr>
          <p:cNvPr id="14" name="TextBox 13"/>
          <p:cNvSpPr txBox="1"/>
          <p:nvPr/>
        </p:nvSpPr>
        <p:spPr>
          <a:xfrm>
            <a:off x="1657300" y="5465057"/>
            <a:ext cx="1411486" cy="518159"/>
          </a:xfrm>
          <a:prstGeom prst="rect">
            <a:avLst/>
          </a:prstGeom>
          <a:noFill/>
        </p:spPr>
        <p:txBody>
          <a:bodyPr wrap="none" lIns="0" rIns="0">
            <a:noAutofit/>
          </a:bodyPr>
          <a:lstStyle/>
          <a:p>
            <a:pPr algn="l"/>
            <a:r>
              <a:rPr sz="3400" b="0" i="0">
                <a:solidFill>
                  <a:srgbClr val="569CD6"/>
                </a:solidFill>
                <a:latin typeface="Arial"/>
              </a:rPr>
              <a:t>with</a:t>
            </a:r>
          </a:p>
        </p:txBody>
      </p:sp>
      <p:sp>
        <p:nvSpPr>
          <p:cNvPr id="15" name="TextBox 14"/>
          <p:cNvSpPr txBox="1"/>
          <p:nvPr/>
        </p:nvSpPr>
        <p:spPr>
          <a:xfrm>
            <a:off x="2425179" y="5465057"/>
            <a:ext cx="5405635" cy="518159"/>
          </a:xfrm>
          <a:prstGeom prst="rect">
            <a:avLst/>
          </a:prstGeom>
          <a:noFill/>
        </p:spPr>
        <p:txBody>
          <a:bodyPr wrap="none" lIns="0" rIns="0">
            <a:noAutofit/>
          </a:bodyPr>
          <a:lstStyle/>
          <a:p>
            <a:pPr algn="l"/>
            <a:r>
              <a:rPr sz="3400" b="0" i="0">
                <a:solidFill>
                  <a:srgbClr val="FFFFFF"/>
                </a:solidFill>
                <a:latin typeface="Arial"/>
              </a:rPr>
              <a:t> no manual fixes.</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The contract</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The agreed shape passed between two steps.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Agree Contracts First</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Name every field you pass</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Decide it before building</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Write it on the diagram</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Step to Contract</a:t>
            </a:r>
          </a:p>
        </p:txBody>
      </p:sp>
      <p:sp>
        <p:nvSpPr>
          <p:cNvPr id="3" name="TextBox 2"/>
          <p:cNvSpPr txBox="1"/>
          <p:nvPr/>
        </p:nvSpPr>
        <p:spPr>
          <a:xfrm>
            <a:off x="457200" y="1499616"/>
            <a:ext cx="3222218" cy="518159"/>
          </a:xfrm>
          <a:prstGeom prst="rect">
            <a:avLst/>
          </a:prstGeom>
          <a:noFill/>
        </p:spPr>
        <p:txBody>
          <a:bodyPr wrap="none" lIns="0" rIns="0">
            <a:noAutofit/>
          </a:bodyPr>
          <a:lstStyle/>
          <a:p>
            <a:pPr algn="l"/>
            <a:r>
              <a:rPr sz="3400" b="1" i="0">
                <a:solidFill>
                  <a:srgbClr val="0072CE"/>
                </a:solidFill>
                <a:latin typeface="Arial"/>
              </a:rPr>
              <a:t>Handoff</a:t>
            </a:r>
          </a:p>
        </p:txBody>
      </p:sp>
      <p:sp>
        <p:nvSpPr>
          <p:cNvPr id="4" name="TextBox 3"/>
          <p:cNvSpPr txBox="1"/>
          <p:nvPr/>
        </p:nvSpPr>
        <p:spPr>
          <a:xfrm>
            <a:off x="4228058" y="1499616"/>
            <a:ext cx="4406424" cy="518159"/>
          </a:xfrm>
          <a:prstGeom prst="rect">
            <a:avLst/>
          </a:prstGeom>
          <a:noFill/>
        </p:spPr>
        <p:txBody>
          <a:bodyPr wrap="none" lIns="0" rIns="0">
            <a:noAutofit/>
          </a:bodyPr>
          <a:lstStyle/>
          <a:p>
            <a:pPr algn="l"/>
            <a:r>
              <a:rPr sz="3400" b="1" i="0">
                <a:solidFill>
                  <a:srgbClr val="0072CE"/>
                </a:solidFill>
                <a:latin typeface="Arial"/>
              </a:rPr>
              <a:t>What passes</a:t>
            </a:r>
          </a:p>
        </p:txBody>
      </p:sp>
      <p:sp>
        <p:nvSpPr>
          <p:cNvPr id="5" name="Rectangle 4"/>
          <p:cNvSpPr/>
          <p:nvPr/>
        </p:nvSpPr>
        <p:spPr>
          <a:xfrm>
            <a:off x="457200" y="2072639"/>
            <a:ext cx="73529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753212" cy="936752"/>
          </a:xfrm>
          <a:prstGeom prst="rect">
            <a:avLst/>
          </a:prstGeom>
          <a:noFill/>
        </p:spPr>
        <p:txBody>
          <a:bodyPr wrap="none" lIns="0" rIns="0">
            <a:noAutofit/>
          </a:bodyPr>
          <a:lstStyle/>
          <a:p>
            <a:pPr algn="l"/>
            <a:r>
              <a:rPr sz="3400" b="0" i="0">
                <a:solidFill>
                  <a:srgbClr val="0A2240"/>
                </a:solidFill>
                <a:latin typeface="Arial"/>
              </a:rPr>
              <a:t>Intake to parse</a:t>
            </a:r>
          </a:p>
        </p:txBody>
      </p:sp>
      <p:sp>
        <p:nvSpPr>
          <p:cNvPr id="7" name="TextBox 6"/>
          <p:cNvSpPr txBox="1"/>
          <p:nvPr/>
        </p:nvSpPr>
        <p:spPr>
          <a:xfrm>
            <a:off x="4228058" y="2401823"/>
            <a:ext cx="5021739" cy="936752"/>
          </a:xfrm>
          <a:prstGeom prst="rect">
            <a:avLst/>
          </a:prstGeom>
          <a:noFill/>
        </p:spPr>
        <p:txBody>
          <a:bodyPr wrap="none" lIns="0" rIns="0">
            <a:noAutofit/>
          </a:bodyPr>
          <a:lstStyle/>
          <a:p>
            <a:pPr algn="l"/>
            <a:r>
              <a:rPr sz="3400" b="0" i="0">
                <a:solidFill>
                  <a:srgbClr val="0A2240"/>
                </a:solidFill>
                <a:latin typeface="Arial"/>
              </a:rPr>
              <a:t>File path plus id</a:t>
            </a:r>
          </a:p>
        </p:txBody>
      </p:sp>
      <p:sp>
        <p:nvSpPr>
          <p:cNvPr id="8" name="TextBox 7"/>
          <p:cNvSpPr txBox="1"/>
          <p:nvPr/>
        </p:nvSpPr>
        <p:spPr>
          <a:xfrm>
            <a:off x="457200" y="3612895"/>
            <a:ext cx="4637166" cy="936752"/>
          </a:xfrm>
          <a:prstGeom prst="rect">
            <a:avLst/>
          </a:prstGeom>
          <a:noFill/>
        </p:spPr>
        <p:txBody>
          <a:bodyPr wrap="none" lIns="0" rIns="0">
            <a:noAutofit/>
          </a:bodyPr>
          <a:lstStyle/>
          <a:p>
            <a:pPr algn="l"/>
            <a:r>
              <a:rPr sz="3400" b="0" i="0">
                <a:solidFill>
                  <a:srgbClr val="0A2240"/>
                </a:solidFill>
                <a:latin typeface="Arial"/>
              </a:rPr>
              <a:t>Parse to score</a:t>
            </a:r>
          </a:p>
        </p:txBody>
      </p:sp>
      <p:sp>
        <p:nvSpPr>
          <p:cNvPr id="9" name="TextBox 8"/>
          <p:cNvSpPr txBox="1"/>
          <p:nvPr/>
        </p:nvSpPr>
        <p:spPr>
          <a:xfrm>
            <a:off x="4228058" y="3612895"/>
            <a:ext cx="5134748" cy="936752"/>
          </a:xfrm>
          <a:prstGeom prst="rect">
            <a:avLst/>
          </a:prstGeom>
          <a:noFill/>
        </p:spPr>
        <p:txBody>
          <a:bodyPr wrap="none" lIns="0" rIns="0">
            <a:noAutofit/>
          </a:bodyPr>
          <a:lstStyle/>
          <a:p>
            <a:pPr algn="l"/>
            <a:r>
              <a:rPr sz="3400" b="0" i="0">
                <a:solidFill>
                  <a:srgbClr val="0A2240"/>
                </a:solidFill>
                <a:latin typeface="Arial"/>
              </a:rPr>
              <a:t>JSON with skills</a:t>
            </a:r>
          </a:p>
        </p:txBody>
      </p:sp>
      <p:sp>
        <p:nvSpPr>
          <p:cNvPr id="10" name="TextBox 9"/>
          <p:cNvSpPr txBox="1"/>
          <p:nvPr/>
        </p:nvSpPr>
        <p:spPr>
          <a:xfrm>
            <a:off x="457200" y="4823967"/>
            <a:ext cx="4752539" cy="936752"/>
          </a:xfrm>
          <a:prstGeom prst="rect">
            <a:avLst/>
          </a:prstGeom>
          <a:noFill/>
        </p:spPr>
        <p:txBody>
          <a:bodyPr wrap="none" lIns="0" rIns="0">
            <a:noAutofit/>
          </a:bodyPr>
          <a:lstStyle/>
          <a:p>
            <a:pPr algn="l"/>
            <a:r>
              <a:rPr sz="3400" b="0" i="0">
                <a:solidFill>
                  <a:srgbClr val="0A2240"/>
                </a:solidFill>
                <a:latin typeface="Arial"/>
              </a:rPr>
              <a:t>Score to report</a:t>
            </a:r>
          </a:p>
        </p:txBody>
      </p:sp>
      <p:sp>
        <p:nvSpPr>
          <p:cNvPr id="11" name="TextBox 10"/>
          <p:cNvSpPr txBox="1"/>
          <p:nvPr/>
        </p:nvSpPr>
        <p:spPr>
          <a:xfrm>
            <a:off x="4228058" y="4823967"/>
            <a:ext cx="5329059" cy="936752"/>
          </a:xfrm>
          <a:prstGeom prst="rect">
            <a:avLst/>
          </a:prstGeom>
          <a:noFill/>
        </p:spPr>
        <p:txBody>
          <a:bodyPr wrap="none" lIns="0" rIns="0">
            <a:noAutofit/>
          </a:bodyPr>
          <a:lstStyle/>
          <a:p>
            <a:pPr algn="l"/>
            <a:r>
              <a:rPr sz="3400" b="0" i="0">
                <a:solidFill>
                  <a:srgbClr val="0A2240"/>
                </a:solidFill>
                <a:latin typeface="Arial"/>
              </a:rPr>
              <a:t>Id plus a number</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Streams Collide</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Two people edit one file</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A contract changed silently</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One stream waits on another</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Keeping Streams Apart</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One owner per file or folder</a:t>
            </a:r>
          </a:p>
        </p:txBody>
      </p:sp>
      <p:sp>
        <p:nvSpPr>
          <p:cNvPr id="4" name="TextBox 3"/>
          <p:cNvSpPr txBox="1"/>
          <p:nvPr/>
        </p:nvSpPr>
        <p:spPr>
          <a:xfrm>
            <a:off x="457200" y="3371088"/>
            <a:ext cx="11282500" cy="518159"/>
          </a:xfrm>
          <a:prstGeom prst="rect">
            <a:avLst/>
          </a:prstGeom>
          <a:noFill/>
        </p:spPr>
        <p:txBody>
          <a:bodyPr wrap="none" lIns="0" rIns="0">
            <a:noAutofit/>
          </a:bodyPr>
          <a:lstStyle/>
          <a:p>
            <a:pPr algn="l"/>
            <a:r>
              <a:rPr sz="3400" b="0" i="0">
                <a:solidFill>
                  <a:srgbClr val="0A2240"/>
                </a:solidFill>
                <a:latin typeface="Arial"/>
              </a:rPr>
              <a:t>Change contracts by announcement</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Stub what you are waiting on</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Put It in GitHub</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Things You Need</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A repo</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One place the code lives</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Issues</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One per task, with an owner</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Done</a:t>
            </a:r>
          </a:p>
        </p:txBody>
      </p:sp>
      <p:sp>
        <p:nvSpPr>
          <p:cNvPr id="8" name="TextBox 7"/>
          <p:cNvSpPr txBox="1"/>
          <p:nvPr/>
        </p:nvSpPr>
        <p:spPr>
          <a:xfrm>
            <a:off x="457200" y="5132831"/>
            <a:ext cx="11277600" cy="627889"/>
          </a:xfrm>
          <a:prstGeom prst="rect">
            <a:avLst/>
          </a:prstGeom>
          <a:noFill/>
        </p:spPr>
        <p:txBody>
          <a:bodyPr wrap="none" lIns="0" rIns="0">
            <a:noAutofit/>
          </a:bodyPr>
          <a:lstStyle/>
          <a:p>
            <a:pPr algn="l"/>
            <a:r>
              <a:rPr sz="3400" b="0" i="0">
                <a:solidFill>
                  <a:srgbClr val="0A2240"/>
                </a:solidFill>
                <a:latin typeface="Arial"/>
              </a:rPr>
              <a:t>How each task proves itself</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Stand It Up Now</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Create the repo</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Name it for the problem</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Add everyone</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Write access, today</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One issue per step</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Straight from the map</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TextBox 1"/>
          <p:cNvSpPr txBox="1"/>
          <p:nvPr/>
        </p:nvSpPr>
        <p:spPr>
          <a:xfrm>
            <a:off x="457200" y="457200"/>
            <a:ext cx="11277600" cy="640080"/>
          </a:xfrm>
          <a:prstGeom prst="rect">
            <a:avLst/>
          </a:prstGeom>
          <a:noFill/>
        </p:spPr>
        <p:txBody>
          <a:bodyPr wrap="none" lIns="0" rIns="0">
            <a:noAutofit/>
          </a:bodyPr>
          <a:lstStyle/>
          <a:p>
            <a:pPr algn="l"/>
            <a:r>
              <a:rPr sz="4200" b="0" i="0">
                <a:solidFill>
                  <a:srgbClr val="FFFFFF"/>
                </a:solidFill>
                <a:latin typeface="Arial"/>
              </a:rPr>
              <a:t>An Issue, Filled In</a:t>
            </a:r>
          </a:p>
        </p:txBody>
      </p:sp>
      <p:sp>
        <p:nvSpPr>
          <p:cNvPr id="3" name="TextBox 2"/>
          <p:cNvSpPr txBox="1"/>
          <p:nvPr/>
        </p:nvSpPr>
        <p:spPr>
          <a:xfrm>
            <a:off x="457200" y="1371600"/>
            <a:ext cx="8565872" cy="518159"/>
          </a:xfrm>
          <a:prstGeom prst="rect">
            <a:avLst/>
          </a:prstGeom>
          <a:noFill/>
        </p:spPr>
        <p:txBody>
          <a:bodyPr wrap="none" lIns="0" rIns="0">
            <a:noAutofit/>
          </a:bodyPr>
          <a:lstStyle/>
          <a:p>
            <a:pPr algn="l"/>
            <a:r>
              <a:rPr sz="3400" b="0" i="0">
                <a:solidFill>
                  <a:srgbClr val="FFFFFF"/>
                </a:solidFill>
                <a:latin typeface="Arial"/>
              </a:rPr>
              <a:t>Title: Parse resumes to text</a:t>
            </a:r>
          </a:p>
        </p:txBody>
      </p:sp>
      <p:sp>
        <p:nvSpPr>
          <p:cNvPr id="4" name="TextBox 3"/>
          <p:cNvSpPr txBox="1"/>
          <p:nvPr/>
        </p:nvSpPr>
        <p:spPr>
          <a:xfrm>
            <a:off x="457200" y="2407918"/>
            <a:ext cx="6566772" cy="518159"/>
          </a:xfrm>
          <a:prstGeom prst="rect">
            <a:avLst/>
          </a:prstGeom>
          <a:noFill/>
        </p:spPr>
        <p:txBody>
          <a:bodyPr wrap="none" lIns="0" rIns="0">
            <a:noAutofit/>
          </a:bodyPr>
          <a:lstStyle/>
          <a:p>
            <a:pPr algn="l"/>
            <a:r>
              <a:rPr sz="3400" b="0" i="0">
                <a:solidFill>
                  <a:srgbClr val="FFFFFF"/>
                </a:solidFill>
                <a:latin typeface="Arial"/>
              </a:rPr>
              <a:t>Owner:  @teammate</a:t>
            </a:r>
          </a:p>
        </p:txBody>
      </p:sp>
      <p:sp>
        <p:nvSpPr>
          <p:cNvPr id="5" name="TextBox 4"/>
          <p:cNvSpPr txBox="1"/>
          <p:nvPr/>
        </p:nvSpPr>
        <p:spPr>
          <a:xfrm>
            <a:off x="457200" y="2926077"/>
            <a:ext cx="5289590" cy="518159"/>
          </a:xfrm>
          <a:prstGeom prst="rect">
            <a:avLst/>
          </a:prstGeom>
          <a:noFill/>
        </p:spPr>
        <p:txBody>
          <a:bodyPr wrap="none" lIns="0" rIns="0">
            <a:noAutofit/>
          </a:bodyPr>
          <a:lstStyle/>
          <a:p>
            <a:pPr algn="l"/>
            <a:r>
              <a:rPr sz="3400" b="0" i="0">
                <a:solidFill>
                  <a:srgbClr val="FFFFFF"/>
                </a:solidFill>
                <a:latin typeface="Arial"/>
              </a:rPr>
              <a:t>Input:  PDF files </a:t>
            </a:r>
          </a:p>
        </p:txBody>
      </p:sp>
      <p:sp>
        <p:nvSpPr>
          <p:cNvPr id="6" name="TextBox 5"/>
          <p:cNvSpPr txBox="1"/>
          <p:nvPr/>
        </p:nvSpPr>
        <p:spPr>
          <a:xfrm>
            <a:off x="3648894" y="2926077"/>
            <a:ext cx="720606" cy="518159"/>
          </a:xfrm>
          <a:prstGeom prst="rect">
            <a:avLst/>
          </a:prstGeom>
          <a:noFill/>
        </p:spPr>
        <p:txBody>
          <a:bodyPr wrap="none" lIns="0" rIns="0">
            <a:noAutofit/>
          </a:bodyPr>
          <a:lstStyle/>
          <a:p>
            <a:pPr algn="l"/>
            <a:r>
              <a:rPr sz="3400" b="0" i="0">
                <a:solidFill>
                  <a:srgbClr val="569CD6"/>
                </a:solidFill>
                <a:latin typeface="Arial"/>
              </a:rPr>
              <a:t>in</a:t>
            </a:r>
          </a:p>
        </p:txBody>
      </p:sp>
      <p:sp>
        <p:nvSpPr>
          <p:cNvPr id="7" name="TextBox 6"/>
          <p:cNvSpPr txBox="1"/>
          <p:nvPr/>
        </p:nvSpPr>
        <p:spPr>
          <a:xfrm>
            <a:off x="3984972" y="2926077"/>
            <a:ext cx="2410360" cy="518159"/>
          </a:xfrm>
          <a:prstGeom prst="rect">
            <a:avLst/>
          </a:prstGeom>
          <a:noFill/>
        </p:spPr>
        <p:txBody>
          <a:bodyPr wrap="none" lIns="0" rIns="0">
            <a:noAutofit/>
          </a:bodyPr>
          <a:lstStyle/>
          <a:p>
            <a:pPr algn="l"/>
            <a:r>
              <a:rPr sz="3400" b="0" i="0">
                <a:solidFill>
                  <a:srgbClr val="FFFFFF"/>
                </a:solidFill>
                <a:latin typeface="Arial"/>
              </a:rPr>
              <a:t> /intake</a:t>
            </a:r>
          </a:p>
        </p:txBody>
      </p:sp>
      <p:sp>
        <p:nvSpPr>
          <p:cNvPr id="8" name="TextBox 7"/>
          <p:cNvSpPr txBox="1"/>
          <p:nvPr/>
        </p:nvSpPr>
        <p:spPr>
          <a:xfrm>
            <a:off x="457200" y="3444236"/>
            <a:ext cx="8093590" cy="518159"/>
          </a:xfrm>
          <a:prstGeom prst="rect">
            <a:avLst/>
          </a:prstGeom>
          <a:noFill/>
        </p:spPr>
        <p:txBody>
          <a:bodyPr wrap="none" lIns="0" rIns="0">
            <a:noAutofit/>
          </a:bodyPr>
          <a:lstStyle/>
          <a:p>
            <a:pPr algn="l"/>
            <a:r>
              <a:rPr sz="3400" b="0" i="0">
                <a:solidFill>
                  <a:srgbClr val="FFFFFF"/>
                </a:solidFill>
                <a:latin typeface="Arial"/>
              </a:rPr>
              <a:t>Output: one JSON per file</a:t>
            </a:r>
          </a:p>
        </p:txBody>
      </p:sp>
      <p:sp>
        <p:nvSpPr>
          <p:cNvPr id="9" name="TextBox 8"/>
          <p:cNvSpPr txBox="1"/>
          <p:nvPr/>
        </p:nvSpPr>
        <p:spPr>
          <a:xfrm>
            <a:off x="457200" y="4480554"/>
            <a:ext cx="9515156" cy="518159"/>
          </a:xfrm>
          <a:prstGeom prst="rect">
            <a:avLst/>
          </a:prstGeom>
          <a:noFill/>
        </p:spPr>
        <p:txBody>
          <a:bodyPr wrap="none" lIns="0" rIns="0">
            <a:noAutofit/>
          </a:bodyPr>
          <a:lstStyle/>
          <a:p>
            <a:pPr algn="l"/>
            <a:r>
              <a:rPr sz="3400" b="0" i="0">
                <a:solidFill>
                  <a:srgbClr val="FFFFFF"/>
                </a:solidFill>
                <a:latin typeface="Arial"/>
              </a:rPr>
              <a:t>Done when: 10 samples parse</a:t>
            </a:r>
          </a:p>
        </p:txBody>
      </p:sp>
      <p:sp>
        <p:nvSpPr>
          <p:cNvPr id="10" name="TextBox 9"/>
          <p:cNvSpPr txBox="1"/>
          <p:nvPr/>
        </p:nvSpPr>
        <p:spPr>
          <a:xfrm>
            <a:off x="457200" y="4998713"/>
            <a:ext cx="1411486" cy="518159"/>
          </a:xfrm>
          <a:prstGeom prst="rect">
            <a:avLst/>
          </a:prstGeom>
          <a:noFill/>
        </p:spPr>
        <p:txBody>
          <a:bodyPr wrap="none" lIns="0" rIns="0">
            <a:noAutofit/>
          </a:bodyPr>
          <a:lstStyle/>
          <a:p>
            <a:pPr algn="l"/>
            <a:r>
              <a:rPr sz="3400" b="0" i="0">
                <a:solidFill>
                  <a:srgbClr val="569CD6"/>
                </a:solidFill>
                <a:latin typeface="Arial"/>
              </a:rPr>
              <a:t>with</a:t>
            </a:r>
          </a:p>
        </p:txBody>
      </p:sp>
      <p:sp>
        <p:nvSpPr>
          <p:cNvPr id="11" name="TextBox 10"/>
          <p:cNvSpPr txBox="1"/>
          <p:nvPr/>
        </p:nvSpPr>
        <p:spPr>
          <a:xfrm>
            <a:off x="1225079" y="4998713"/>
            <a:ext cx="5405635" cy="518159"/>
          </a:xfrm>
          <a:prstGeom prst="rect">
            <a:avLst/>
          </a:prstGeom>
          <a:noFill/>
        </p:spPr>
        <p:txBody>
          <a:bodyPr wrap="none" lIns="0" rIns="0">
            <a:noAutofit/>
          </a:bodyPr>
          <a:lstStyle/>
          <a:p>
            <a:pPr algn="l"/>
            <a:r>
              <a:rPr sz="3400" b="0" i="0">
                <a:solidFill>
                  <a:srgbClr val="FFFFFF"/>
                </a:solidFill>
                <a:latin typeface="Arial"/>
              </a:rPr>
              <a:t> no manual fixes.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Definition of done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check someone else can run to confirm it works.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 Good Definition of Done</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Observable, not felt</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Checkable in a minute</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Written before the work</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Task to Done</a:t>
            </a:r>
          </a:p>
        </p:txBody>
      </p:sp>
      <p:sp>
        <p:nvSpPr>
          <p:cNvPr id="3" name="TextBox 2"/>
          <p:cNvSpPr txBox="1"/>
          <p:nvPr/>
        </p:nvSpPr>
        <p:spPr>
          <a:xfrm>
            <a:off x="457200" y="1499616"/>
            <a:ext cx="2789575" cy="518159"/>
          </a:xfrm>
          <a:prstGeom prst="rect">
            <a:avLst/>
          </a:prstGeom>
          <a:noFill/>
        </p:spPr>
        <p:txBody>
          <a:bodyPr wrap="none" lIns="0" rIns="0">
            <a:noAutofit/>
          </a:bodyPr>
          <a:lstStyle/>
          <a:p>
            <a:pPr algn="l"/>
            <a:r>
              <a:rPr sz="3400" b="1" i="0">
                <a:solidFill>
                  <a:srgbClr val="0072CE"/>
                </a:solidFill>
                <a:latin typeface="Arial"/>
              </a:rPr>
              <a:t>Task</a:t>
            </a:r>
          </a:p>
        </p:txBody>
      </p:sp>
      <p:sp>
        <p:nvSpPr>
          <p:cNvPr id="4" name="TextBox 3"/>
          <p:cNvSpPr txBox="1"/>
          <p:nvPr/>
        </p:nvSpPr>
        <p:spPr>
          <a:xfrm>
            <a:off x="3795415" y="1499616"/>
            <a:ext cx="4973876" cy="518159"/>
          </a:xfrm>
          <a:prstGeom prst="rect">
            <a:avLst/>
          </a:prstGeom>
          <a:noFill/>
        </p:spPr>
        <p:txBody>
          <a:bodyPr wrap="none" lIns="0" rIns="0">
            <a:noAutofit/>
          </a:bodyPr>
          <a:lstStyle/>
          <a:p>
            <a:pPr algn="l"/>
            <a:r>
              <a:rPr sz="3400" b="1" i="0">
                <a:solidFill>
                  <a:srgbClr val="0072CE"/>
                </a:solidFill>
                <a:latin typeface="Arial"/>
              </a:rPr>
              <a:t>Done when</a:t>
            </a:r>
          </a:p>
        </p:txBody>
      </p:sp>
      <p:sp>
        <p:nvSpPr>
          <p:cNvPr id="5" name="Rectangle 4"/>
          <p:cNvSpPr/>
          <p:nvPr/>
        </p:nvSpPr>
        <p:spPr>
          <a:xfrm>
            <a:off x="457200" y="2072639"/>
            <a:ext cx="8312091"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408224" cy="936752"/>
          </a:xfrm>
          <a:prstGeom prst="rect">
            <a:avLst/>
          </a:prstGeom>
          <a:noFill/>
        </p:spPr>
        <p:txBody>
          <a:bodyPr wrap="none" lIns="0" rIns="0">
            <a:noAutofit/>
          </a:bodyPr>
          <a:lstStyle/>
          <a:p>
            <a:pPr algn="l"/>
            <a:r>
              <a:rPr sz="3400" b="0" i="0">
                <a:solidFill>
                  <a:srgbClr val="0A2240"/>
                </a:solidFill>
                <a:latin typeface="Arial"/>
              </a:rPr>
              <a:t>Parse files</a:t>
            </a:r>
          </a:p>
        </p:txBody>
      </p:sp>
      <p:sp>
        <p:nvSpPr>
          <p:cNvPr id="7" name="TextBox 6"/>
          <p:cNvSpPr txBox="1"/>
          <p:nvPr/>
        </p:nvSpPr>
        <p:spPr>
          <a:xfrm>
            <a:off x="3795415" y="2401823"/>
            <a:ext cx="6480750" cy="936752"/>
          </a:xfrm>
          <a:prstGeom prst="rect">
            <a:avLst/>
          </a:prstGeom>
          <a:noFill/>
        </p:spPr>
        <p:txBody>
          <a:bodyPr wrap="none" lIns="0" rIns="0">
            <a:noAutofit/>
          </a:bodyPr>
          <a:lstStyle/>
          <a:p>
            <a:pPr algn="l"/>
            <a:r>
              <a:rPr sz="3400" b="0" i="0">
                <a:solidFill>
                  <a:srgbClr val="0A2240"/>
                </a:solidFill>
                <a:latin typeface="Arial"/>
              </a:rPr>
              <a:t>10 samples, no fixes</a:t>
            </a:r>
          </a:p>
        </p:txBody>
      </p:sp>
      <p:sp>
        <p:nvSpPr>
          <p:cNvPr id="8" name="TextBox 7"/>
          <p:cNvSpPr txBox="1"/>
          <p:nvPr/>
        </p:nvSpPr>
        <p:spPr>
          <a:xfrm>
            <a:off x="457200" y="3612895"/>
            <a:ext cx="4060984" cy="936752"/>
          </a:xfrm>
          <a:prstGeom prst="rect">
            <a:avLst/>
          </a:prstGeom>
          <a:noFill/>
        </p:spPr>
        <p:txBody>
          <a:bodyPr wrap="none" lIns="0" rIns="0">
            <a:noAutofit/>
          </a:bodyPr>
          <a:lstStyle/>
          <a:p>
            <a:pPr algn="l"/>
            <a:r>
              <a:rPr sz="3400" b="0" i="0">
                <a:solidFill>
                  <a:srgbClr val="0A2240"/>
                </a:solidFill>
                <a:latin typeface="Arial"/>
              </a:rPr>
              <a:t>Score match</a:t>
            </a:r>
          </a:p>
        </p:txBody>
      </p:sp>
      <p:sp>
        <p:nvSpPr>
          <p:cNvPr id="9" name="TextBox 8"/>
          <p:cNvSpPr txBox="1"/>
          <p:nvPr/>
        </p:nvSpPr>
        <p:spPr>
          <a:xfrm>
            <a:off x="3795415" y="3612895"/>
            <a:ext cx="7555865" cy="936752"/>
          </a:xfrm>
          <a:prstGeom prst="rect">
            <a:avLst/>
          </a:prstGeom>
          <a:noFill/>
        </p:spPr>
        <p:txBody>
          <a:bodyPr wrap="none" lIns="0" rIns="0">
            <a:noAutofit/>
          </a:bodyPr>
          <a:lstStyle/>
          <a:p>
            <a:pPr algn="l"/>
            <a:r>
              <a:rPr sz="3400" b="0" i="0">
                <a:solidFill>
                  <a:srgbClr val="0A2240"/>
                </a:solidFill>
                <a:latin typeface="Arial"/>
              </a:rPr>
              <a:t>Ranks a known set right</a:t>
            </a:r>
          </a:p>
        </p:txBody>
      </p:sp>
      <p:sp>
        <p:nvSpPr>
          <p:cNvPr id="10" name="TextBox 9"/>
          <p:cNvSpPr txBox="1"/>
          <p:nvPr/>
        </p:nvSpPr>
        <p:spPr>
          <a:xfrm>
            <a:off x="457200" y="4823967"/>
            <a:ext cx="3715881" cy="936752"/>
          </a:xfrm>
          <a:prstGeom prst="rect">
            <a:avLst/>
          </a:prstGeom>
          <a:noFill/>
        </p:spPr>
        <p:txBody>
          <a:bodyPr wrap="none" lIns="0" rIns="0">
            <a:noAutofit/>
          </a:bodyPr>
          <a:lstStyle/>
          <a:p>
            <a:pPr algn="l"/>
            <a:r>
              <a:rPr sz="3400" b="0" i="0">
                <a:solidFill>
                  <a:srgbClr val="0A2240"/>
                </a:solidFill>
                <a:latin typeface="Arial"/>
              </a:rPr>
              <a:t>Build report</a:t>
            </a:r>
          </a:p>
        </p:txBody>
      </p:sp>
      <p:sp>
        <p:nvSpPr>
          <p:cNvPr id="11" name="TextBox 10"/>
          <p:cNvSpPr txBox="1"/>
          <p:nvPr/>
        </p:nvSpPr>
        <p:spPr>
          <a:xfrm>
            <a:off x="3795415" y="4823967"/>
            <a:ext cx="6172417" cy="936752"/>
          </a:xfrm>
          <a:prstGeom prst="rect">
            <a:avLst/>
          </a:prstGeom>
          <a:noFill/>
        </p:spPr>
        <p:txBody>
          <a:bodyPr wrap="none" lIns="0" rIns="0">
            <a:noAutofit/>
          </a:bodyPr>
          <a:lstStyle/>
          <a:p>
            <a:pPr algn="l"/>
            <a:r>
              <a:rPr sz="3400" b="0" i="0">
                <a:solidFill>
                  <a:srgbClr val="0A2240"/>
                </a:solidFill>
                <a:latin typeface="Arial"/>
              </a:rPr>
              <a:t>One click, no errors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Issue Hygiene</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One task, one issue</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Close it the moment it is done</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Comment when you are blocked</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Is This Task Ready?</a:t>
            </a:r>
          </a:p>
        </p:txBody>
      </p:sp>
      <p:sp>
        <p:nvSpPr>
          <p:cNvPr id="3" name="TextBox 2"/>
          <p:cNvSpPr txBox="1"/>
          <p:nvPr/>
        </p:nvSpPr>
        <p:spPr>
          <a:xfrm>
            <a:off x="3889248" y="1499616"/>
            <a:ext cx="2432304" cy="518159"/>
          </a:xfrm>
          <a:prstGeom prst="rect">
            <a:avLst/>
          </a:prstGeom>
          <a:noFill/>
        </p:spPr>
        <p:txBody>
          <a:bodyPr wrap="none" lIns="0" rIns="0">
            <a:noAutofit/>
          </a:bodyPr>
          <a:lstStyle/>
          <a:p>
            <a:pPr algn="ctr"/>
            <a:r>
              <a:rPr sz="3400" b="1" i="0">
                <a:solidFill>
                  <a:srgbClr val="0A2240"/>
                </a:solidFill>
                <a:latin typeface="Arial"/>
              </a:rPr>
              <a:t>Parse</a:t>
            </a:r>
          </a:p>
        </p:txBody>
      </p:sp>
      <p:sp>
        <p:nvSpPr>
          <p:cNvPr id="4" name="TextBox 3"/>
          <p:cNvSpPr txBox="1"/>
          <p:nvPr/>
        </p:nvSpPr>
        <p:spPr>
          <a:xfrm>
            <a:off x="6595872" y="1499616"/>
            <a:ext cx="2432304" cy="518159"/>
          </a:xfrm>
          <a:prstGeom prst="rect">
            <a:avLst/>
          </a:prstGeom>
          <a:noFill/>
        </p:spPr>
        <p:txBody>
          <a:bodyPr wrap="none" lIns="0" rIns="0">
            <a:noAutofit/>
          </a:bodyPr>
          <a:lstStyle/>
          <a:p>
            <a:pPr algn="ctr"/>
            <a:r>
              <a:rPr sz="3400" b="1" i="0">
                <a:solidFill>
                  <a:srgbClr val="0A2240"/>
                </a:solidFill>
                <a:latin typeface="Arial"/>
              </a:rPr>
              <a:t>Score</a:t>
            </a:r>
          </a:p>
        </p:txBody>
      </p:sp>
      <p:sp>
        <p:nvSpPr>
          <p:cNvPr id="5" name="TextBox 4"/>
          <p:cNvSpPr txBox="1"/>
          <p:nvPr/>
        </p:nvSpPr>
        <p:spPr>
          <a:xfrm>
            <a:off x="9275517" y="1499616"/>
            <a:ext cx="2486262" cy="518159"/>
          </a:xfrm>
          <a:prstGeom prst="rect">
            <a:avLst/>
          </a:prstGeom>
          <a:noFill/>
        </p:spPr>
        <p:txBody>
          <a:bodyPr wrap="none" lIns="0" rIns="0">
            <a:noAutofit/>
          </a:bodyPr>
          <a:lstStyle/>
          <a:p>
            <a:pPr algn="ctr"/>
            <a:r>
              <a:rPr sz="3400" b="1" i="0">
                <a:solidFill>
                  <a:srgbClr val="0A2240"/>
                </a:solidFill>
                <a:latin typeface="Arial"/>
              </a:rPr>
              <a:t>Deploy</a:t>
            </a:r>
          </a:p>
        </p:txBody>
      </p:sp>
      <p:sp>
        <p:nvSpPr>
          <p:cNvPr id="6" name="Rectangle 5"/>
          <p:cNvSpPr/>
          <p:nvPr/>
        </p:nvSpPr>
        <p:spPr>
          <a:xfrm>
            <a:off x="457200" y="2072639"/>
            <a:ext cx="112776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01823"/>
            <a:ext cx="3676748" cy="936752"/>
          </a:xfrm>
          <a:prstGeom prst="rect">
            <a:avLst/>
          </a:prstGeom>
          <a:noFill/>
        </p:spPr>
        <p:txBody>
          <a:bodyPr wrap="none" lIns="0" rIns="0">
            <a:noAutofit/>
          </a:bodyPr>
          <a:lstStyle/>
          <a:p>
            <a:pPr algn="l"/>
            <a:r>
              <a:rPr sz="3400" b="1" i="0">
                <a:solidFill>
                  <a:srgbClr val="0A2240"/>
                </a:solidFill>
                <a:latin typeface="Arial"/>
              </a:rPr>
              <a:t>Has owner</a:t>
            </a:r>
          </a:p>
        </p:txBody>
      </p:sp>
      <p:sp>
        <p:nvSpPr>
          <p:cNvPr id="8" name="Rectangle 7"/>
          <p:cNvSpPr/>
          <p:nvPr/>
        </p:nvSpPr>
        <p:spPr>
          <a:xfrm>
            <a:off x="4568570" y="2401823"/>
            <a:ext cx="1073659"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18380" y="2401823"/>
            <a:ext cx="1374039" cy="518159"/>
          </a:xfrm>
          <a:prstGeom prst="rect">
            <a:avLst/>
          </a:prstGeom>
          <a:noFill/>
        </p:spPr>
        <p:txBody>
          <a:bodyPr wrap="none" lIns="0" rIns="0">
            <a:noAutofit/>
          </a:bodyPr>
          <a:lstStyle/>
          <a:p>
            <a:pPr algn="ctr"/>
            <a:r>
              <a:rPr sz="3400" b="1" i="0">
                <a:solidFill>
                  <a:srgbClr val="FFFFFF"/>
                </a:solidFill>
                <a:latin typeface="Arial"/>
              </a:rPr>
              <a:t>Yes</a:t>
            </a:r>
          </a:p>
        </p:txBody>
      </p:sp>
      <p:sp>
        <p:nvSpPr>
          <p:cNvPr id="10" name="TextBox 9"/>
          <p:cNvSpPr txBox="1"/>
          <p:nvPr/>
        </p:nvSpPr>
        <p:spPr>
          <a:xfrm>
            <a:off x="6595872" y="2401823"/>
            <a:ext cx="2432304" cy="936752"/>
          </a:xfrm>
          <a:prstGeom prst="rect">
            <a:avLst/>
          </a:prstGeom>
          <a:noFill/>
        </p:spPr>
        <p:txBody>
          <a:bodyPr wrap="none" lIns="0" rIns="0">
            <a:noAutofit/>
          </a:bodyPr>
          <a:lstStyle/>
          <a:p>
            <a:pPr algn="ctr"/>
            <a:r>
              <a:rPr sz="3400" b="0" i="0">
                <a:solidFill>
                  <a:srgbClr val="0A2240"/>
                </a:solidFill>
                <a:latin typeface="Arial"/>
              </a:rPr>
              <a:t>Yes</a:t>
            </a:r>
          </a:p>
        </p:txBody>
      </p:sp>
      <p:sp>
        <p:nvSpPr>
          <p:cNvPr id="11" name="TextBox 10"/>
          <p:cNvSpPr txBox="1"/>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Yes</a:t>
            </a:r>
          </a:p>
        </p:txBody>
      </p:sp>
      <p:sp>
        <p:nvSpPr>
          <p:cNvPr id="12" name="TextBox 11"/>
          <p:cNvSpPr txBox="1"/>
          <p:nvPr/>
        </p:nvSpPr>
        <p:spPr>
          <a:xfrm>
            <a:off x="457200" y="3612895"/>
            <a:ext cx="4367966" cy="936752"/>
          </a:xfrm>
          <a:prstGeom prst="rect">
            <a:avLst/>
          </a:prstGeom>
          <a:noFill/>
        </p:spPr>
        <p:txBody>
          <a:bodyPr wrap="none" lIns="0" rIns="0">
            <a:noAutofit/>
          </a:bodyPr>
          <a:lstStyle/>
          <a:p>
            <a:pPr algn="l"/>
            <a:r>
              <a:rPr sz="3400" b="1" i="0">
                <a:solidFill>
                  <a:srgbClr val="0A2240"/>
                </a:solidFill>
                <a:latin typeface="Arial"/>
              </a:rPr>
              <a:t>Has contract</a:t>
            </a:r>
          </a:p>
        </p:txBody>
      </p:sp>
      <p:sp>
        <p:nvSpPr>
          <p:cNvPr id="13" name="TextBox 12"/>
          <p:cNvSpPr txBox="1"/>
          <p:nvPr/>
        </p:nvSpPr>
        <p:spPr>
          <a:xfrm>
            <a:off x="3889248" y="3612895"/>
            <a:ext cx="2432304" cy="936752"/>
          </a:xfrm>
          <a:prstGeom prst="rect">
            <a:avLst/>
          </a:prstGeom>
          <a:noFill/>
        </p:spPr>
        <p:txBody>
          <a:bodyPr wrap="none" lIns="0" rIns="0">
            <a:noAutofit/>
          </a:bodyPr>
          <a:lstStyle/>
          <a:p>
            <a:pPr algn="ctr"/>
            <a:r>
              <a:rPr sz="3400" b="0" i="0">
                <a:solidFill>
                  <a:srgbClr val="0A2240"/>
                </a:solidFill>
                <a:latin typeface="Arial"/>
              </a:rPr>
              <a:t>Yes</a:t>
            </a:r>
          </a:p>
        </p:txBody>
      </p:sp>
      <p:sp>
        <p:nvSpPr>
          <p:cNvPr id="14" name="TextBox 13"/>
          <p:cNvSpPr txBox="1"/>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Yes</a:t>
            </a:r>
          </a:p>
        </p:txBody>
      </p:sp>
      <p:sp>
        <p:nvSpPr>
          <p:cNvPr id="15" name="TextBox 14"/>
          <p:cNvSpPr txBox="1"/>
          <p:nvPr/>
        </p:nvSpPr>
        <p:spPr>
          <a:xfrm>
            <a:off x="9302496" y="3612895"/>
            <a:ext cx="2432304" cy="936752"/>
          </a:xfrm>
          <a:prstGeom prst="rect">
            <a:avLst/>
          </a:prstGeom>
          <a:noFill/>
        </p:spPr>
        <p:txBody>
          <a:bodyPr wrap="none" lIns="0" rIns="0">
            <a:noAutofit/>
          </a:bodyPr>
          <a:lstStyle/>
          <a:p>
            <a:pPr algn="ctr"/>
            <a:r>
              <a:rPr sz="3400" b="0" i="0">
                <a:solidFill>
                  <a:srgbClr val="0A2240"/>
                </a:solidFill>
                <a:latin typeface="Arial"/>
              </a:rPr>
              <a:t>No</a:t>
            </a:r>
          </a:p>
        </p:txBody>
      </p:sp>
      <p:sp>
        <p:nvSpPr>
          <p:cNvPr id="16" name="TextBox 15"/>
          <p:cNvSpPr txBox="1"/>
          <p:nvPr/>
        </p:nvSpPr>
        <p:spPr>
          <a:xfrm>
            <a:off x="457200" y="4823967"/>
            <a:ext cx="3292515" cy="936752"/>
          </a:xfrm>
          <a:prstGeom prst="rect">
            <a:avLst/>
          </a:prstGeom>
          <a:noFill/>
        </p:spPr>
        <p:txBody>
          <a:bodyPr wrap="none" lIns="0" rIns="0">
            <a:noAutofit/>
          </a:bodyPr>
          <a:lstStyle/>
          <a:p>
            <a:pPr algn="l"/>
            <a:r>
              <a:rPr sz="3400" b="1" i="0">
                <a:solidFill>
                  <a:srgbClr val="0A2240"/>
                </a:solidFill>
                <a:latin typeface="Arial"/>
              </a:rPr>
              <a:t>Has done</a:t>
            </a:r>
          </a:p>
        </p:txBody>
      </p:sp>
      <p:sp>
        <p:nvSpPr>
          <p:cNvPr id="17" name="TextBox 16"/>
          <p:cNvSpPr txBox="1"/>
          <p:nvPr/>
        </p:nvSpPr>
        <p:spPr>
          <a:xfrm>
            <a:off x="3889248" y="4823967"/>
            <a:ext cx="2432304" cy="936752"/>
          </a:xfrm>
          <a:prstGeom prst="rect">
            <a:avLst/>
          </a:prstGeom>
          <a:noFill/>
        </p:spPr>
        <p:txBody>
          <a:bodyPr wrap="none" lIns="0" rIns="0">
            <a:noAutofit/>
          </a:bodyPr>
          <a:lstStyle/>
          <a:p>
            <a:pPr algn="ctr"/>
            <a:r>
              <a:rPr sz="3400" b="0" i="0">
                <a:solidFill>
                  <a:srgbClr val="0A2240"/>
                </a:solidFill>
                <a:latin typeface="Arial"/>
              </a:rPr>
              <a:t>No</a:t>
            </a:r>
          </a:p>
        </p:txBody>
      </p:sp>
      <p:sp>
        <p:nvSpPr>
          <p:cNvPr id="18" name="TextBox 17"/>
          <p:cNvSpPr txBox="1"/>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No</a:t>
            </a:r>
          </a:p>
        </p:txBody>
      </p:sp>
      <p:sp>
        <p:nvSpPr>
          <p:cNvPr id="19" name="TextBox 18"/>
          <p:cNvSpPr txBox="1"/>
          <p:nvPr/>
        </p:nvSpPr>
        <p:spPr>
          <a:xfrm>
            <a:off x="9302496" y="4823967"/>
            <a:ext cx="2432304" cy="936752"/>
          </a:xfrm>
          <a:prstGeom prst="rect">
            <a:avLst/>
          </a:prstGeom>
          <a:noFill/>
        </p:spPr>
        <p:txBody>
          <a:bodyPr wrap="none" lIns="0" rIns="0">
            <a:noAutofit/>
          </a:bodyPr>
          <a:lstStyle/>
          <a:p>
            <a:pPr algn="ctr"/>
            <a:r>
              <a:rPr sz="3400" b="0" i="0">
                <a:solidFill>
                  <a:srgbClr val="0A2240"/>
                </a:solidFill>
                <a:latin typeface="Arial"/>
              </a:rPr>
              <a:t>No</a:t>
            </a:r>
          </a:p>
        </p:txBody>
      </p:sp>
      <p:sp>
        <p:nvSpPr>
          <p:cNvPr id="20" name="TextBox 19"/>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Ready for Tomorrow When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Every step is an issue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Every issue has one owner</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Every issue says done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Contracts are written down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You Leave With</a:t>
            </a:r>
          </a:p>
        </p:txBody>
      </p:sp>
      <p:sp>
        <p:nvSpPr>
          <p:cNvPr id="3" name="TextBox 2"/>
          <p:cNvSpPr txBo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a:t>
            </a:r>
          </a:p>
        </p:txBody>
      </p:sp>
      <p:sp>
        <p:nvSpPr>
          <p:cNvPr id="4" name="TextBox 3"/>
          <p:cNvSpPr txBox="1"/>
          <p:nvPr/>
        </p:nvSpPr>
        <p:spPr>
          <a:xfrm>
            <a:off x="457200" y="3965448"/>
            <a:ext cx="5138121" cy="518159"/>
          </a:xfrm>
          <a:prstGeom prst="rect">
            <a:avLst/>
          </a:prstGeom>
          <a:noFill/>
        </p:spPr>
        <p:txBody>
          <a:bodyPr wrap="none" lIns="0" rIns="0">
            <a:noAutofit/>
          </a:bodyPr>
          <a:lstStyle/>
          <a:p>
            <a:pPr algn="l"/>
            <a:r>
              <a:rPr sz="3400" b="0" i="0">
                <a:solidFill>
                  <a:srgbClr val="0A2240"/>
                </a:solidFill>
                <a:latin typeface="Arial"/>
              </a:rPr>
              <a:t>Repo and board</a:t>
            </a:r>
          </a:p>
        </p:txBody>
      </p:sp>
      <p:sp>
        <p:nvSpPr>
          <p:cNvPr id="5" name="TextBox 4"/>
          <p:cNvSpPr txBox="1"/>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1</a:t>
            </a:r>
          </a:p>
        </p:txBody>
      </p:sp>
      <p:sp>
        <p:nvSpPr>
          <p:cNvPr id="6" name="TextBox 5"/>
          <p:cNvSpPr txBox="1"/>
          <p:nvPr/>
        </p:nvSpPr>
        <p:spPr>
          <a:xfrm>
            <a:off x="4307840" y="3965448"/>
            <a:ext cx="4906030" cy="518159"/>
          </a:xfrm>
          <a:prstGeom prst="rect">
            <a:avLst/>
          </a:prstGeom>
          <a:noFill/>
        </p:spPr>
        <p:txBody>
          <a:bodyPr wrap="none" lIns="0" rIns="0">
            <a:noAutofit/>
          </a:bodyPr>
          <a:lstStyle/>
          <a:p>
            <a:pPr algn="l"/>
            <a:r>
              <a:rPr sz="3400" b="0" i="0">
                <a:solidFill>
                  <a:srgbClr val="0A2240"/>
                </a:solidFill>
                <a:latin typeface="Arial"/>
              </a:rPr>
              <a:t>Owner per step</a:t>
            </a:r>
          </a:p>
        </p:txBody>
      </p:sp>
      <p:sp>
        <p:nvSpPr>
          <p:cNvPr id="7" name="TextBox 6"/>
          <p:cNvSpPr txBox="1"/>
          <p:nvPr/>
        </p:nvSpPr>
        <p:spPr>
          <a:xfrm>
            <a:off x="8158480" y="2776728"/>
            <a:ext cx="3576320" cy="914400"/>
          </a:xfrm>
          <a:prstGeom prst="rect">
            <a:avLst/>
          </a:prstGeom>
          <a:noFill/>
        </p:spPr>
        <p:txBody>
          <a:bodyPr wrap="none" lIns="0" rIns="0">
            <a:noAutofit/>
          </a:bodyPr>
          <a:lstStyle/>
          <a:p>
            <a:pPr algn="l"/>
            <a:r>
              <a:rPr sz="6000" b="1" i="0">
                <a:solidFill>
                  <a:srgbClr val="0072CE"/>
                </a:solidFill>
                <a:latin typeface="Arial"/>
              </a:rPr>
              <a:t>0</a:t>
            </a:r>
          </a:p>
        </p:txBody>
      </p:sp>
      <p:sp>
        <p:nvSpPr>
          <p:cNvPr id="8" name="TextBox 7"/>
          <p:cNvSpPr txBox="1"/>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Unowned tasks</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Day 1, Behind You</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 precise problem statement</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A workflow map, shared</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A board with owners</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Next: Choosing the Stack</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Match each step to a tool</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Decide what to stub</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Pick retrieval only if needed</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