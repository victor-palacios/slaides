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971800"/>
            <a:ext cx="11277600" cy="91440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6000" b="1" i="0">
                <a:solidFill>
                  <a:srgbClr val="8FC1F0"/>
                </a:solidFill>
                <a:latin typeface="Arial"/>
              </a:rPr>
              <a:t>Build Your First Library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The path to PyPI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2613660" cy="64008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01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2194560"/>
            <a:ext cx="784098" cy="54864"/>
          </a:xfrm>
          <a:prstGeom prst="rect">
            <a:avLst/>
          </a:prstGeom>
          <a:solidFill>
            <a:srgbClr val="8FC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414016"/>
            <a:ext cx="3099216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1" i="0">
                <a:solidFill>
                  <a:srgbClr val="8FC1F0"/>
                </a:solidFill>
                <a:latin typeface="Arial"/>
              </a:rPr>
              <a:t>Function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041903"/>
            <a:ext cx="2613660" cy="271881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pandas code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45180" y="1499616"/>
            <a:ext cx="2613660" cy="64008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02</a:t>
            </a:r>
          </a:p>
        </p:txBody>
      </p:sp>
      <p:sp>
        <p:nvSpPr>
          <p:cNvPr id="8" name="Rectangle 7"/>
          <p:cNvSpPr/>
          <p:nvPr/>
        </p:nvSpPr>
        <p:spPr>
          <a:xfrm>
            <a:off x="3345180" y="2194560"/>
            <a:ext cx="784098" cy="54864"/>
          </a:xfrm>
          <a:prstGeom prst="rect">
            <a:avLst/>
          </a:prstGeom>
          <a:solidFill>
            <a:srgbClr val="8FC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45180" y="2414016"/>
            <a:ext cx="2986881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1" i="0">
                <a:solidFill>
                  <a:srgbClr val="8FC1F0"/>
                </a:solidFill>
                <a:latin typeface="Arial"/>
              </a:rPr>
              <a:t>Package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45180" y="3041903"/>
            <a:ext cx="3255744" cy="2718817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one folder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160" y="1499616"/>
            <a:ext cx="2613660" cy="64008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3160" y="2194560"/>
            <a:ext cx="784098" cy="54864"/>
          </a:xfrm>
          <a:prstGeom prst="rect">
            <a:avLst/>
          </a:prstGeom>
          <a:solidFill>
            <a:srgbClr val="8FC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33160" y="2414016"/>
            <a:ext cx="261366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1" i="0">
                <a:solidFill>
                  <a:srgbClr val="8FC1F0"/>
                </a:solidFill>
                <a:latin typeface="Arial"/>
              </a:rPr>
              <a:t>Build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33160" y="3041903"/>
            <a:ext cx="2613660" cy="271881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make a wheel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21140" y="1499616"/>
            <a:ext cx="2613660" cy="64008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04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21140" y="2194560"/>
            <a:ext cx="784098" cy="54864"/>
          </a:xfrm>
          <a:prstGeom prst="rect">
            <a:avLst/>
          </a:prstGeom>
          <a:solidFill>
            <a:srgbClr val="8FC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21140" y="2414016"/>
            <a:ext cx="2677873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1" i="0">
                <a:solidFill>
                  <a:srgbClr val="8FC1F0"/>
                </a:solidFill>
                <a:latin typeface="Arial"/>
              </a:rPr>
              <a:t>Publish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21140" y="3041903"/>
            <a:ext cx="3063121" cy="2718817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pip install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2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E7EDF3"/>
                </a:solidFill>
                <a:latin typeface="Arial"/>
              </a:rPr>
              <a:t>Today's goals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1132164" cy="64008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61983" y="1499616"/>
            <a:ext cx="10272817" cy="64008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Package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1983" y="2185416"/>
            <a:ext cx="10730017" cy="551688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Create a real, importable Python package.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011424"/>
            <a:ext cx="1132164" cy="64008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1983" y="3011424"/>
            <a:ext cx="10272817" cy="64008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Publish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1983" y="3697224"/>
            <a:ext cx="10272817" cy="551688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Upload it to TestPyPI, then PyPI.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523232"/>
            <a:ext cx="1132164" cy="64008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1983" y="4523232"/>
            <a:ext cx="10272817" cy="64008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Install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1983" y="5209032"/>
            <a:ext cx="10272817" cy="551688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pip install your own package.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3</a:t>
            </a:fld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468880"/>
            <a:ext cx="128016" cy="1920240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2468880"/>
            <a:ext cx="10738104" cy="1920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6000" b="1" i="0">
                <a:solidFill>
                  <a:srgbClr val="E7EDF3"/>
                </a:solidFill>
                <a:latin typeface="Arial"/>
              </a:rPr>
              <a:t>Build tiny. Install locally. Publish safely.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4</a:t>
            </a:fld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A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46304" cy="146304"/>
          </a:xfrm>
          <a:prstGeom prst="rect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13232" y="457200"/>
            <a:ext cx="146304" cy="146304"/>
          </a:xfrm>
          <a:prstGeom prst="rect">
            <a:avLst/>
          </a:prstGeom>
          <a:solidFill>
            <a:srgbClr val="FFB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69264" y="457200"/>
            <a:ext cx="146304" cy="146304"/>
          </a:xfrm>
          <a:prstGeom prst="rect">
            <a:avLst/>
          </a:prstGeom>
          <a:solidFill>
            <a:srgbClr val="27C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77600" cy="64008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0" i="0">
                <a:solidFill>
                  <a:srgbClr val="D4D4D4"/>
                </a:solidFill>
                <a:latin typeface="Arial"/>
              </a:rPr>
              <a:t>What we're building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37944"/>
            <a:ext cx="2102366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569CD6"/>
                </a:solidFill>
                <a:latin typeface="Arial"/>
              </a:rPr>
              <a:t>import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56879" y="1837944"/>
            <a:ext cx="283339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pandas 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13447" y="1837944"/>
            <a:ext cx="912555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569CD6"/>
                </a:solidFill>
                <a:latin typeface="Arial"/>
              </a:rPr>
              <a:t>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69494" y="1837944"/>
            <a:ext cx="1143297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pd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356103"/>
            <a:ext cx="2102366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569CD6"/>
                </a:solidFill>
                <a:latin typeface="Arial"/>
              </a:rPr>
              <a:t>import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56879" y="2356103"/>
            <a:ext cx="4100115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simple_eda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05151" y="2356103"/>
            <a:ext cx="912555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569CD6"/>
                </a:solidFill>
                <a:latin typeface="Arial"/>
              </a:rPr>
              <a:t>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61198" y="2356103"/>
            <a:ext cx="1527532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eda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392421"/>
            <a:ext cx="2506841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df = pd.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09676" y="3392421"/>
            <a:ext cx="2986206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Arial"/>
              </a:rPr>
              <a:t>read_csv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61755" y="3392421"/>
            <a:ext cx="412948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(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05548" y="3392421"/>
            <a:ext cx="3246299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CE9178"/>
                </a:solidFill>
                <a:latin typeface="Arial"/>
              </a:rPr>
              <a:t>"data.csv"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20184" y="3392421"/>
            <a:ext cx="412948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3910580"/>
            <a:ext cx="1527532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eda.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97608" y="3910580"/>
            <a:ext cx="356104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Arial"/>
              </a:rPr>
              <a:t>summarize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08958" y="3910580"/>
            <a:ext cx="12192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(df)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4428739"/>
            <a:ext cx="1527532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eda.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97608" y="4428739"/>
            <a:ext cx="252472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Arial"/>
              </a:rPr>
              <a:t>missing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61258" y="4428739"/>
            <a:ext cx="12192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(df)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5</a:t>
            </a:fld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734800" cy="768096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What we build now — and skip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5501640" cy="621791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1" i="0">
                <a:solidFill>
                  <a:srgbClr val="8FC1F0"/>
                </a:solidFill>
                <a:latin typeface="Arial"/>
              </a:rPr>
              <a:t>Build now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2176271"/>
            <a:ext cx="1650492" cy="54864"/>
          </a:xfrm>
          <a:prstGeom prst="rect">
            <a:avLst/>
          </a:prstGeom>
          <a:solidFill>
            <a:srgbClr val="8FC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33160" y="1499616"/>
            <a:ext cx="5501640" cy="621791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1" i="0">
                <a:solidFill>
                  <a:srgbClr val="9DB0C0"/>
                </a:solidFill>
                <a:latin typeface="Arial"/>
              </a:rPr>
              <a:t>Skip for now</a:t>
            </a:r>
          </a:p>
        </p:txBody>
      </p:sp>
      <p:sp>
        <p:nvSpPr>
          <p:cNvPr id="6" name="Rectangle 5"/>
          <p:cNvSpPr/>
          <p:nvPr/>
        </p:nvSpPr>
        <p:spPr>
          <a:xfrm>
            <a:off x="6324600" y="2176271"/>
            <a:ext cx="1650492" cy="54864"/>
          </a:xfrm>
          <a:prstGeom prst="rect">
            <a:avLst/>
          </a:prstGeom>
          <a:solidFill>
            <a:srgbClr val="9DB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2395727"/>
            <a:ext cx="8095952" cy="60960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One dependency: pandas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608831"/>
            <a:ext cx="7019150" cy="60960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Plain Python functions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821935"/>
            <a:ext cx="5501640" cy="60960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A clear README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3160" y="2395727"/>
            <a:ext cx="5501640" cy="60960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CI/CD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160" y="3608831"/>
            <a:ext cx="5501640" cy="60960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Testing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3160" y="4821935"/>
            <a:ext cx="5958840" cy="60960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Many dependencies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6</a:t>
            </a:fld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783080"/>
            <a:ext cx="128016" cy="2011680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1783080"/>
            <a:ext cx="10738104" cy="100584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6000" b="1" i="0">
                <a:solidFill>
                  <a:srgbClr val="F0A202"/>
                </a:solidFill>
                <a:latin typeface="Arial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063240"/>
            <a:ext cx="10738104" cy="73152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E7EDF3"/>
                </a:solidFill>
                <a:latin typeface="Arial"/>
              </a:rPr>
              <a:t>What is a Python library?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7</a:t>
            </a:fld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484120"/>
            <a:ext cx="128016" cy="1889760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2484120"/>
            <a:ext cx="10738104" cy="100584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6000" b="1" i="0">
                <a:solidFill>
                  <a:srgbClr val="F0A202"/>
                </a:solidFill>
                <a:latin typeface="Arial"/>
              </a:rPr>
              <a:t>Library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764280"/>
            <a:ext cx="11195304" cy="60960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Reusable code you install once and import anywhere.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8</a:t>
            </a:fld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Script vs library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5501640" cy="621791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1" i="0">
                <a:solidFill>
                  <a:srgbClr val="8FC1F0"/>
                </a:solidFill>
                <a:latin typeface="Arial"/>
              </a:rPr>
              <a:t>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33160" y="1499616"/>
            <a:ext cx="5501640" cy="621791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1" i="0">
                <a:solidFill>
                  <a:srgbClr val="8FC1F0"/>
                </a:solidFill>
                <a:latin typeface="Arial"/>
              </a:rPr>
              <a:t>Library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395727"/>
            <a:ext cx="5752088" cy="847344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python analyze.py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33160" y="2395727"/>
            <a:ext cx="5827652" cy="847344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import simple_eda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517391"/>
            <a:ext cx="5501640" cy="847344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Less convenient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33160" y="3517391"/>
            <a:ext cx="5501640" cy="847344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More convenient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639055"/>
            <a:ext cx="5501640" cy="847344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Limited scope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3160" y="4639055"/>
            <a:ext cx="5501640" cy="847344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Broad scope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9</a:t>
            </a:fld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E7EDF3"/>
                </a:solidFill>
                <a:latin typeface="Arial"/>
              </a:rPr>
              <a:t>A tiny library is still real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395729"/>
            <a:ext cx="112776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No web app required.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371088"/>
            <a:ext cx="112776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No dashboard required.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346447"/>
            <a:ext cx="112776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Just useful, installable, importable.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10</a:t>
            </a:fld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E7EDF3"/>
                </a:solidFill>
                <a:latin typeface="Arial"/>
              </a:rPr>
              <a:t>The five bare minimums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112776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A unique package name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435352"/>
            <a:ext cx="112776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A project folder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371088"/>
            <a:ext cx="112776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An __init__.py file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306824"/>
            <a:ext cx="112776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Your functions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242560"/>
            <a:ext cx="112776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Metadata — pyproject.toml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11</a:t>
            </a:fld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783080"/>
            <a:ext cx="128016" cy="2011680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1783080"/>
            <a:ext cx="10738104" cy="100584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6000" b="1" i="0">
                <a:solidFill>
                  <a:srgbClr val="F0A202"/>
                </a:solidFill>
                <a:latin typeface="Arial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063240"/>
            <a:ext cx="10738104" cy="73152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E7EDF3"/>
                </a:solidFill>
                <a:latin typeface="Arial"/>
              </a:rPr>
              <a:t>Design the smallest API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12</a:t>
            </a:fld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706880"/>
            <a:ext cx="128016" cy="3444240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1706880"/>
            <a:ext cx="10738104" cy="100584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6000" b="1" i="0">
                <a:solidFill>
                  <a:srgbClr val="F0A202"/>
                </a:solidFill>
                <a:latin typeface="Arial"/>
              </a:rPr>
              <a:t>API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2987040"/>
            <a:ext cx="10738104" cy="2164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Application Programming Interface — the public interface of the library: the functions, classes, and their signatures that users call. For example: eda.summarize(df), eda.missing(df).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13</a:t>
            </a:fld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25040"/>
            <a:ext cx="128016" cy="2407920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2225040"/>
            <a:ext cx="10738104" cy="100584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6000" b="1" i="0">
                <a:solidFill>
                  <a:srgbClr val="F0A202"/>
                </a:solidFill>
                <a:latin typeface="Arial"/>
              </a:rPr>
              <a:t>MVP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505200"/>
            <a:ext cx="10738104" cy="112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Minimum viable product — the smallest version that is genuinely useful, installable, and importable.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14</a:t>
            </a:fld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A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46304" cy="146304"/>
          </a:xfrm>
          <a:prstGeom prst="rect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13232" y="457200"/>
            <a:ext cx="146304" cy="146304"/>
          </a:xfrm>
          <a:prstGeom prst="rect">
            <a:avLst/>
          </a:prstGeom>
          <a:solidFill>
            <a:srgbClr val="FFB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69264" y="457200"/>
            <a:ext cx="146304" cy="146304"/>
          </a:xfrm>
          <a:prstGeom prst="rect">
            <a:avLst/>
          </a:prstGeom>
          <a:solidFill>
            <a:srgbClr val="27C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77600" cy="64008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0" i="0">
                <a:solidFill>
                  <a:srgbClr val="D4D4D4"/>
                </a:solidFill>
                <a:latin typeface="Arial"/>
              </a:rPr>
              <a:t>the simplest API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37944"/>
            <a:ext cx="2102366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569CD6"/>
                </a:solidFill>
                <a:latin typeface="Arial"/>
              </a:rPr>
              <a:t>import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56879" y="1837944"/>
            <a:ext cx="4100115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simple_eda 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05151" y="1837944"/>
            <a:ext cx="912555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569CD6"/>
                </a:solidFill>
                <a:latin typeface="Arial"/>
              </a:rPr>
              <a:t>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61198" y="1837944"/>
            <a:ext cx="1527532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eda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356103"/>
            <a:ext cx="1527532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eda.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97608" y="2356103"/>
            <a:ext cx="356104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Arial"/>
              </a:rPr>
              <a:t>summarize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08958" y="2356103"/>
            <a:ext cx="12192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(df)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15</a:t>
            </a:fld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373862" cy="768096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Pick boring function names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5501640" cy="621791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1" i="0">
                <a:solidFill>
                  <a:srgbClr val="8FC1F0"/>
                </a:solidFill>
                <a:latin typeface="Arial"/>
              </a:rPr>
              <a:t>Prefer (boring)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2176271"/>
            <a:ext cx="1650492" cy="54864"/>
          </a:xfrm>
          <a:prstGeom prst="rect">
            <a:avLst/>
          </a:prstGeom>
          <a:solidFill>
            <a:srgbClr val="8FC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33160" y="1499616"/>
            <a:ext cx="5501640" cy="621791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1" i="0">
                <a:solidFill>
                  <a:srgbClr val="9DB0C0"/>
                </a:solidFill>
                <a:latin typeface="Arial"/>
              </a:rPr>
              <a:t>Avoid (clever)</a:t>
            </a:r>
          </a:p>
        </p:txBody>
      </p:sp>
      <p:sp>
        <p:nvSpPr>
          <p:cNvPr id="6" name="Rectangle 5"/>
          <p:cNvSpPr/>
          <p:nvPr/>
        </p:nvSpPr>
        <p:spPr>
          <a:xfrm>
            <a:off x="6324600" y="2176271"/>
            <a:ext cx="1650492" cy="54864"/>
          </a:xfrm>
          <a:prstGeom prst="rect">
            <a:avLst/>
          </a:prstGeom>
          <a:solidFill>
            <a:srgbClr val="9DB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2395727"/>
            <a:ext cx="5501640" cy="60960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summarize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608831"/>
            <a:ext cx="5501640" cy="60960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missing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821935"/>
            <a:ext cx="5596910" cy="60960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numeric_columns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3160" y="2395727"/>
            <a:ext cx="5958840" cy="60960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hyper_profile_engine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160" y="3608831"/>
            <a:ext cx="5501640" cy="60960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magic_diagnose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3160" y="4821935"/>
            <a:ext cx="5501640" cy="60960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mega_summary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16</a:t>
            </a:fld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734800" cy="768096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E7EDF3"/>
                </a:solidFill>
                <a:latin typeface="Arial"/>
              </a:rPr>
              <a:t>MVP Input: Pandas dataframe only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395729"/>
            <a:ext cx="112776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Support pandas DataFrames first.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371088"/>
            <a:ext cx="117348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Not Polars, Spark, Dask, or Arrow yet.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346447"/>
            <a:ext cx="112776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Fewer choices means fewer bugs.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17</a:t>
            </a:fld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734800" cy="768096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MVP Output: Plain objects only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112776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1" i="0">
                <a:solidFill>
                  <a:srgbClr val="E7EDF3"/>
                </a:solidFill>
                <a:latin typeface="Arial"/>
              </a:rPr>
              <a:t>Dictionaries &amp; lists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09215"/>
            <a:ext cx="11277600" cy="62788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Simple built-in containers.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1424"/>
            <a:ext cx="112776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1" i="0">
                <a:solidFill>
                  <a:srgbClr val="E7EDF3"/>
                </a:solidFill>
                <a:latin typeface="Arial"/>
              </a:rPr>
              <a:t>Ints &amp; strings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621023"/>
            <a:ext cx="11277600" cy="62788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Plain scalar values.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23232"/>
            <a:ext cx="112776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1" i="0">
                <a:solidFill>
                  <a:srgbClr val="E7EDF3"/>
                </a:solidFill>
                <a:latin typeface="Arial"/>
              </a:rPr>
              <a:t>pandas Series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132831"/>
            <a:ext cx="11277600" cy="62788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No custom classes to learn.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18</a:t>
            </a:fld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E7EDF3"/>
                </a:solidFill>
                <a:latin typeface="Arial"/>
              </a:rPr>
              <a:t>The 0.1.0 mindset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395729"/>
            <a:ext cx="112776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First working version, not perfect.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371088"/>
            <a:ext cx="112776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Installable and understandable.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346447"/>
            <a:ext cx="112776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Momentum, not completeness.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19</a:t>
            </a:fld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783080"/>
            <a:ext cx="128016" cy="2011680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1783080"/>
            <a:ext cx="10738104" cy="100584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6000" b="1" i="0">
                <a:solidFill>
                  <a:srgbClr val="F0A202"/>
                </a:solidFill>
                <a:latin typeface="Arial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063240"/>
            <a:ext cx="10738104" cy="73152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E7EDF3"/>
                </a:solidFill>
                <a:latin typeface="Arial"/>
              </a:rPr>
              <a:t>Create the package folder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20</a:t>
            </a:fld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Final folder shape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499616"/>
            <a:ext cx="11277600" cy="4261104"/>
          </a:xfrm>
          <a:prstGeom prst="roundRect">
            <a:avLst>
              <a:gd name="adj" fmla="val 3004"/>
            </a:avLst>
          </a:prstGeom>
          <a:solidFill>
            <a:srgbClr val="0C1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19656"/>
            <a:ext cx="6206708" cy="39624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2600" b="1" i="0">
                <a:solidFill>
                  <a:srgbClr val="569CD6"/>
                </a:solidFill>
                <a:latin typeface="Courier New"/>
              </a:rPr>
              <a:t>simple-eda-project/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215896"/>
            <a:ext cx="1134011" cy="39624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├─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417" y="2215896"/>
            <a:ext cx="1451054" cy="39624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2600" b="1" i="0">
                <a:solidFill>
                  <a:srgbClr val="569CD6"/>
                </a:solidFill>
                <a:latin typeface="Courier New"/>
              </a:rPr>
              <a:t>src/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12136"/>
            <a:ext cx="2085140" cy="39624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│  └─ 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873" y="2612136"/>
            <a:ext cx="3670360" cy="39624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2600" b="1" i="0">
                <a:solidFill>
                  <a:srgbClr val="569CD6"/>
                </a:solidFill>
                <a:latin typeface="Courier New"/>
              </a:rPr>
              <a:t>simple_eda/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008376"/>
            <a:ext cx="3036272" cy="39624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│     ├─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330" y="3008376"/>
            <a:ext cx="3670360" cy="39624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2600" b="0" i="0">
                <a:solidFill>
                  <a:srgbClr val="D4D4D4"/>
                </a:solidFill>
                <a:latin typeface="Courier New"/>
              </a:rPr>
              <a:t>__init__.py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404616"/>
            <a:ext cx="3036272" cy="39624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│     └─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06330" y="3404616"/>
            <a:ext cx="2402185" cy="39624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2600" b="0" i="0">
                <a:solidFill>
                  <a:srgbClr val="D4D4D4"/>
                </a:solidFill>
                <a:latin typeface="Courier New"/>
              </a:rPr>
              <a:t>core.py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800856"/>
            <a:ext cx="1134011" cy="39624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├─ 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417" y="3800856"/>
            <a:ext cx="3036272" cy="39624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2600" b="0" i="0">
                <a:solidFill>
                  <a:srgbClr val="D4D4D4"/>
                </a:solidFill>
                <a:latin typeface="Courier New"/>
              </a:rPr>
              <a:t>README.md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197096"/>
            <a:ext cx="1134011" cy="39624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├─ 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417" y="4197096"/>
            <a:ext cx="4621489" cy="39624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2600" b="0" i="0">
                <a:solidFill>
                  <a:srgbClr val="D4D4D4"/>
                </a:solidFill>
                <a:latin typeface="Courier New"/>
              </a:rPr>
              <a:t>pyproject.toml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593336"/>
            <a:ext cx="1134011" cy="39624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└─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417" y="4593336"/>
            <a:ext cx="2402185" cy="39624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2600" b="0" i="0">
                <a:solidFill>
                  <a:srgbClr val="D4D4D4"/>
                </a:solidFill>
                <a:latin typeface="Courier New"/>
              </a:rPr>
              <a:t>LICENSE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21</a:t>
            </a:fld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660564" cy="768096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Install name vs import name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5501640" cy="621791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1" i="0">
                <a:solidFill>
                  <a:srgbClr val="8FC1F0"/>
                </a:solidFill>
                <a:latin typeface="Arial"/>
              </a:rPr>
              <a:t>Install name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2176271"/>
            <a:ext cx="1650492" cy="54864"/>
          </a:xfrm>
          <a:prstGeom prst="rect">
            <a:avLst/>
          </a:prstGeom>
          <a:solidFill>
            <a:srgbClr val="8FC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33160" y="1499616"/>
            <a:ext cx="5501640" cy="621791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1" i="0">
                <a:solidFill>
                  <a:srgbClr val="9DB0C0"/>
                </a:solidFill>
                <a:latin typeface="Arial"/>
              </a:rPr>
              <a:t>Import name</a:t>
            </a:r>
          </a:p>
        </p:txBody>
      </p:sp>
      <p:sp>
        <p:nvSpPr>
          <p:cNvPr id="6" name="Rectangle 5"/>
          <p:cNvSpPr/>
          <p:nvPr/>
        </p:nvSpPr>
        <p:spPr>
          <a:xfrm>
            <a:off x="6324600" y="2176271"/>
            <a:ext cx="1650492" cy="54864"/>
          </a:xfrm>
          <a:prstGeom prst="rect">
            <a:avLst/>
          </a:prstGeom>
          <a:solidFill>
            <a:srgbClr val="9DB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2395727"/>
            <a:ext cx="5501640" cy="60960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simple-eda-you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608831"/>
            <a:ext cx="5501640" cy="60960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hyphens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821935"/>
            <a:ext cx="6020276" cy="60960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used by pip &amp; PyPI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3160" y="2395727"/>
            <a:ext cx="5501640" cy="60960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simple_eda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160" y="3608831"/>
            <a:ext cx="5501640" cy="60960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underscores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3160" y="4821935"/>
            <a:ext cx="5958840" cy="60960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used in Python code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22</a:t>
            </a:fld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E7EDF3"/>
                </a:solidFill>
                <a:latin typeface="Arial"/>
              </a:rPr>
              <a:t>Why the names differ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908050"/>
            <a:ext cx="112776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import needs a valid Python name.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83409"/>
            <a:ext cx="117348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Python names cannot contain hyphens.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58768"/>
            <a:ext cx="117348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So the import name uses underscores.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834127"/>
            <a:ext cx="117348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PyPI treats - and _ as the same name.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23</a:t>
            </a:fld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25040"/>
            <a:ext cx="128016" cy="2407920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2225040"/>
            <a:ext cx="10738104" cy="100584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6000" b="1" i="0">
                <a:solidFill>
                  <a:srgbClr val="F0A202"/>
                </a:solidFill>
                <a:latin typeface="Arial"/>
              </a:rPr>
              <a:t>__init__.py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505200"/>
            <a:ext cx="10738104" cy="112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The file that marks a folder as an importable package and sets its top-level API.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24</a:t>
            </a:fld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E7EDF3"/>
                </a:solidFill>
                <a:latin typeface="Arial"/>
              </a:rPr>
              <a:t>Why the src/ layout?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395729"/>
            <a:ext cx="112776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Blocks accidental root imports.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371088"/>
            <a:ext cx="112776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Matches modern Python projects.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346447"/>
            <a:ext cx="112776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Makes packaging behavior clear.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25</a:t>
            </a:fld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E7EDF3"/>
                </a:solidFill>
                <a:latin typeface="Arial"/>
              </a:rPr>
              <a:t>Common folder mistakes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908050"/>
            <a:ext cx="112776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pyproject.toml in the wrong folder.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83409"/>
            <a:ext cx="112776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Forgetting __init__.py.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58768"/>
            <a:ext cx="117348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Folder named simple-eda, not simple_eda.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834127"/>
            <a:ext cx="112776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Installing from the wrong directory.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26</a:t>
            </a:fld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What each mistake causes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418175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1" i="0">
                <a:solidFill>
                  <a:srgbClr val="8FC1F0"/>
                </a:solidFill>
                <a:latin typeface="Arial"/>
              </a:rPr>
              <a:t>Mistake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87590" y="1499616"/>
            <a:ext cx="4904006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1" i="0">
                <a:solidFill>
                  <a:srgbClr val="8FC1F0"/>
                </a:solidFill>
                <a:latin typeface="Arial"/>
              </a:rPr>
              <a:t>What happens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072639"/>
            <a:ext cx="9368187" cy="54864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401823"/>
            <a:ext cx="4599721" cy="633984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No __init__.py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87590" y="2401823"/>
            <a:ext cx="6211888" cy="633984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import cannot find 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310127"/>
            <a:ext cx="5214024" cy="633984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Hyphen in folder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87590" y="3310127"/>
            <a:ext cx="6519545" cy="633984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invalid module name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218431"/>
            <a:ext cx="6288464" cy="633984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pyproject misplaced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87590" y="4218431"/>
            <a:ext cx="5752425" cy="633984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build finds nothing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126735"/>
            <a:ext cx="5046364" cy="633984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Wrong directory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87590" y="5126735"/>
            <a:ext cx="7004410" cy="633984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ModuleNotFoundError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27</a:t>
            </a:fld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783080"/>
            <a:ext cx="128016" cy="2011680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1783080"/>
            <a:ext cx="10738104" cy="100584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6000" b="1" i="0">
                <a:solidFill>
                  <a:srgbClr val="F0A202"/>
                </a:solidFill>
                <a:latin typeface="Arial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063240"/>
            <a:ext cx="10738104" cy="73152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E7EDF3"/>
                </a:solidFill>
                <a:latin typeface="Arial"/>
              </a:rPr>
              <a:t>Write the EDA functions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28</a:t>
            </a:fld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A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46304" cy="146304"/>
          </a:xfrm>
          <a:prstGeom prst="rect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13232" y="457200"/>
            <a:ext cx="146304" cy="146304"/>
          </a:xfrm>
          <a:prstGeom prst="rect">
            <a:avLst/>
          </a:prstGeom>
          <a:solidFill>
            <a:srgbClr val="FFB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69264" y="457200"/>
            <a:ext cx="146304" cy="146304"/>
          </a:xfrm>
          <a:prstGeom prst="rect">
            <a:avLst/>
          </a:prstGeom>
          <a:solidFill>
            <a:srgbClr val="27C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43297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569CD6"/>
                </a:solidFill>
                <a:latin typeface="Arial"/>
              </a:rPr>
              <a:t>def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7461" y="923544"/>
            <a:ext cx="302848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7429" y="923544"/>
            <a:ext cx="356104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Arial"/>
              </a:rPr>
              <a:t>summarize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88779" y="923544"/>
            <a:ext cx="1411148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(df):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441703"/>
            <a:ext cx="662751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7071" y="1441703"/>
            <a:ext cx="1987668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C586C0"/>
                </a:solidFill>
                <a:latin typeface="Arial"/>
              </a:rPr>
              <a:t>return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65065" y="1441703"/>
            <a:ext cx="605571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{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959862"/>
            <a:ext cx="1142623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       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6943" y="1959862"/>
            <a:ext cx="2132052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CE9178"/>
                </a:solidFill>
                <a:latin typeface="Arial"/>
              </a:rPr>
              <a:t>"rows"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35176" y="1959862"/>
            <a:ext cx="566777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: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75111" y="1959862"/>
            <a:ext cx="110484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Arial"/>
              </a:rPr>
              <a:t>len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51337" y="1959862"/>
            <a:ext cx="1411148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(df),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2478021"/>
            <a:ext cx="1142623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      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6943" y="2478021"/>
            <a:ext cx="3245961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CE9178"/>
                </a:solidFill>
                <a:latin typeface="Arial"/>
              </a:rPr>
              <a:t>"columns"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31369" y="2478021"/>
            <a:ext cx="566777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: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71304" y="2478021"/>
            <a:ext cx="110484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Arial"/>
              </a:rPr>
              <a:t>len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47530" y="2478021"/>
            <a:ext cx="417568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(df.columns),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2996180"/>
            <a:ext cx="1142623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       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16943" y="2996180"/>
            <a:ext cx="274703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CE9178"/>
                </a:solidFill>
                <a:latin typeface="Arial"/>
              </a:rPr>
              <a:t>"names"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19537" y="2996180"/>
            <a:ext cx="566777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: 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59472" y="2996180"/>
            <a:ext cx="1027251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Arial"/>
              </a:rPr>
              <a:t>list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87204" y="2996180"/>
            <a:ext cx="417568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(df.columns),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3514339"/>
            <a:ext cx="1181417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   }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29</a:t>
            </a:fld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E7EDF3"/>
                </a:solidFill>
                <a:latin typeface="Arial"/>
              </a:rPr>
              <a:t>The core functions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395729"/>
            <a:ext cx="1150987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summarize — shape, columns, types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371088"/>
            <a:ext cx="112776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missing — nulls per column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346447"/>
            <a:ext cx="117348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numeric_columns / categorical_columns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30</a:t>
            </a:fld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A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46304" cy="146304"/>
          </a:xfrm>
          <a:prstGeom prst="rect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13232" y="457200"/>
            <a:ext cx="146304" cy="146304"/>
          </a:xfrm>
          <a:prstGeom prst="rect">
            <a:avLst/>
          </a:prstGeom>
          <a:solidFill>
            <a:srgbClr val="FFB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69264" y="457200"/>
            <a:ext cx="146304" cy="146304"/>
          </a:xfrm>
          <a:prstGeom prst="rect">
            <a:avLst/>
          </a:prstGeom>
          <a:solidFill>
            <a:srgbClr val="27C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77600" cy="64008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0" i="0">
                <a:solidFill>
                  <a:srgbClr val="D4D4D4"/>
                </a:solidFill>
                <a:latin typeface="Arial"/>
              </a:rPr>
              <a:t>missing()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37944"/>
            <a:ext cx="1143297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569CD6"/>
                </a:solidFill>
                <a:latin typeface="Arial"/>
              </a:rPr>
              <a:t>def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7461" y="1837944"/>
            <a:ext cx="302848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7429" y="1837944"/>
            <a:ext cx="252472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Arial"/>
              </a:rPr>
              <a:t>missing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41079" y="1837944"/>
            <a:ext cx="1411148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(df):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356103"/>
            <a:ext cx="4541699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   counts = df.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81462" y="2356103"/>
            <a:ext cx="145028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Arial"/>
              </a:rPr>
              <a:t>isna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73587" y="2356103"/>
            <a:ext cx="834964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().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1140" y="2356103"/>
            <a:ext cx="1488062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Arial"/>
              </a:rPr>
              <a:t>sum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96880" y="2356103"/>
            <a:ext cx="643017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()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874262"/>
            <a:ext cx="662751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   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7071" y="2874262"/>
            <a:ext cx="1987668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C586C0"/>
                </a:solidFill>
                <a:latin typeface="Arial"/>
              </a:rPr>
              <a:t>return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65065" y="2874262"/>
            <a:ext cx="2602308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counts.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77208" y="2874262"/>
            <a:ext cx="3715881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Arial"/>
              </a:rPr>
              <a:t>sort_values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85334" y="2874262"/>
            <a:ext cx="412948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(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392421"/>
            <a:ext cx="527171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       ascending=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37719" y="3392421"/>
            <a:ext cx="1872297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569CD6"/>
                </a:solidFill>
                <a:latin typeface="Arial"/>
              </a:rPr>
              <a:t>False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93605" y="3392421"/>
            <a:ext cx="412948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4428739"/>
            <a:ext cx="4962704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6A9955"/>
                </a:solidFill>
                <a:latin typeface="Arial"/>
              </a:rPr>
              <a:t># missing(df) -&gt;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4946898"/>
            <a:ext cx="3255744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6A9955"/>
                </a:solidFill>
                <a:latin typeface="Arial"/>
              </a:rPr>
              <a:t># age     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5465057"/>
            <a:ext cx="3639304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6A9955"/>
                </a:solidFill>
                <a:latin typeface="Arial"/>
              </a:rPr>
              <a:t># name    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31</a:t>
            </a:fld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A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734800" cy="64008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0" i="0">
                <a:solidFill>
                  <a:srgbClr val="D4D4D4"/>
                </a:solidFill>
                <a:latin typeface="Arial"/>
              </a:rPr>
              <a:t>numeric &amp; categorical columns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143297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569CD6"/>
                </a:solidFill>
                <a:latin typeface="Arial"/>
              </a:rPr>
              <a:t>def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7461" y="1371600"/>
            <a:ext cx="302848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77429" y="1371600"/>
            <a:ext cx="559691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Arial"/>
              </a:rPr>
              <a:t>numeric_columns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61198" y="1371600"/>
            <a:ext cx="1411148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(df):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889759"/>
            <a:ext cx="3389332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   sel = df.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61233" y="1889759"/>
            <a:ext cx="4407435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Arial"/>
              </a:rPr>
              <a:t>select_dtypes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01580" y="1889759"/>
            <a:ext cx="412948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(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407918"/>
            <a:ext cx="4311292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       include=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37458" y="2407918"/>
            <a:ext cx="3015892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CE9178"/>
                </a:solidFill>
                <a:latin typeface="Arial"/>
              </a:rPr>
              <a:t>"number"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08091" y="2407918"/>
            <a:ext cx="412948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926077"/>
            <a:ext cx="662751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   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7071" y="2926077"/>
            <a:ext cx="1987668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C586C0"/>
                </a:solidFill>
                <a:latin typeface="Arial"/>
              </a:rPr>
              <a:t>return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65065" y="2926077"/>
            <a:ext cx="302848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85033" y="2926077"/>
            <a:ext cx="1027251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Arial"/>
              </a:rPr>
              <a:t>list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12765" y="2926077"/>
            <a:ext cx="4290715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(sel.columns)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3962395"/>
            <a:ext cx="1143297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569CD6"/>
                </a:solidFill>
                <a:latin typeface="Arial"/>
              </a:rPr>
              <a:t>def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7461" y="3962395"/>
            <a:ext cx="302848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77429" y="3962395"/>
            <a:ext cx="648075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Arial"/>
              </a:rPr>
              <a:t>categorical_columns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13598" y="3962395"/>
            <a:ext cx="1411148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(df):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4480554"/>
            <a:ext cx="3389332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   sel = df.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61233" y="4480554"/>
            <a:ext cx="4407435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Arial"/>
              </a:rPr>
              <a:t>select_dtypes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01580" y="4480554"/>
            <a:ext cx="412948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(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4998713"/>
            <a:ext cx="4503241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       include=[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57426" y="4998713"/>
            <a:ext cx="2516961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CE9178"/>
                </a:solidFill>
                <a:latin typeface="Arial"/>
              </a:rPr>
              <a:t>"object"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16227" y="4998713"/>
            <a:ext cx="566777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,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56162" y="4998713"/>
            <a:ext cx="3323212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CE9178"/>
                </a:solidFill>
                <a:latin typeface="Arial"/>
              </a:rPr>
              <a:t>"category"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18871" y="4998713"/>
            <a:ext cx="604897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])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5516872"/>
            <a:ext cx="662751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   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7071" y="5516872"/>
            <a:ext cx="1987668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C586C0"/>
                </a:solidFill>
                <a:latin typeface="Arial"/>
              </a:rPr>
              <a:t>return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65065" y="5516872"/>
            <a:ext cx="302848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85033" y="5516872"/>
            <a:ext cx="1027251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Arial"/>
              </a:rPr>
              <a:t>list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12765" y="5516872"/>
            <a:ext cx="4290715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(sel.columns)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32</a:t>
            </a:fld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A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46304" cy="146304"/>
          </a:xfrm>
          <a:prstGeom prst="rect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13232" y="457200"/>
            <a:ext cx="146304" cy="146304"/>
          </a:xfrm>
          <a:prstGeom prst="rect">
            <a:avLst/>
          </a:prstGeom>
          <a:solidFill>
            <a:srgbClr val="FFB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69264" y="457200"/>
            <a:ext cx="146304" cy="146304"/>
          </a:xfrm>
          <a:prstGeom prst="rect">
            <a:avLst/>
          </a:prstGeom>
          <a:solidFill>
            <a:srgbClr val="27C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77600" cy="64008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0" i="0">
                <a:solidFill>
                  <a:srgbClr val="D4D4D4"/>
                </a:solidFill>
                <a:latin typeface="Arial"/>
              </a:rPr>
              <a:t>Try it on a tiny DataFrame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37944"/>
            <a:ext cx="2102366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569CD6"/>
                </a:solidFill>
                <a:latin typeface="Arial"/>
              </a:rPr>
              <a:t>import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56879" y="1837944"/>
            <a:ext cx="4100115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simple_eda 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05151" y="1837944"/>
            <a:ext cx="912555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569CD6"/>
                </a:solidFill>
                <a:latin typeface="Arial"/>
              </a:rPr>
              <a:t>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61198" y="1837944"/>
            <a:ext cx="1527532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eda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874262"/>
            <a:ext cx="2506841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df = pd.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9676" y="2874262"/>
            <a:ext cx="3638292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Arial"/>
              </a:rPr>
              <a:t>DataFrame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69308" y="2874262"/>
            <a:ext cx="643691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({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392421"/>
            <a:ext cx="662751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   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7071" y="3392421"/>
            <a:ext cx="240159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CE9178"/>
                </a:solidFill>
                <a:latin typeface="Arial"/>
              </a:rPr>
              <a:t>"name"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23765" y="3392421"/>
            <a:ext cx="758726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: [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83669" y="3392421"/>
            <a:ext cx="1902659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CE9178"/>
                </a:solidFill>
                <a:latin typeface="Arial"/>
              </a:rPr>
              <a:t>"Ana"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58530" y="3392421"/>
            <a:ext cx="566777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,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98466" y="3392421"/>
            <a:ext cx="1518424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CE9178"/>
                </a:solidFill>
                <a:latin typeface="Arial"/>
              </a:rPr>
              <a:t>"Bo"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33181" y="3392421"/>
            <a:ext cx="566777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,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3117" y="3392421"/>
            <a:ext cx="1834515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569CD6"/>
                </a:solidFill>
                <a:latin typeface="Arial"/>
              </a:rPr>
              <a:t>None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05389" y="3392421"/>
            <a:ext cx="566777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],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3910580"/>
            <a:ext cx="662751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   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7071" y="3910580"/>
            <a:ext cx="1826081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CE9178"/>
                </a:solidFill>
                <a:latin typeface="Arial"/>
              </a:rPr>
              <a:t>"age"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64072" y="3910580"/>
            <a:ext cx="758726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: [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23976" y="3910580"/>
            <a:ext cx="951348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B5CEA8"/>
                </a:solidFill>
                <a:latin typeface="Arial"/>
              </a:rPr>
              <a:t>25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04269" y="3910580"/>
            <a:ext cx="566777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, 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044205" y="3910580"/>
            <a:ext cx="1834515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569CD6"/>
                </a:solidFill>
                <a:latin typeface="Arial"/>
              </a:rPr>
              <a:t>None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76477" y="3910580"/>
            <a:ext cx="566777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, 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16412" y="3910580"/>
            <a:ext cx="951348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B5CEA8"/>
                </a:solidFill>
                <a:latin typeface="Arial"/>
              </a:rPr>
              <a:t>31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96706" y="3910580"/>
            <a:ext cx="566777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],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4428739"/>
            <a:ext cx="643691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})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4946898"/>
            <a:ext cx="1526857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Arial"/>
              </a:rPr>
              <a:t>print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97186" y="4946898"/>
            <a:ext cx="17576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(eda.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281386" y="4946898"/>
            <a:ext cx="356104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Arial"/>
              </a:rPr>
              <a:t>summarize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92737" y="4946898"/>
            <a:ext cx="1449268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(df))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5465057"/>
            <a:ext cx="1526857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Arial"/>
              </a:rPr>
              <a:t>print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97186" y="5465057"/>
            <a:ext cx="17576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(eda.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281386" y="5465057"/>
            <a:ext cx="252472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Arial"/>
              </a:rPr>
              <a:t>missing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5037" y="5465057"/>
            <a:ext cx="1449268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(df))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33</a:t>
            </a:fld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Function do's and don'ts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5501640" cy="621791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1" i="0">
                <a:solidFill>
                  <a:srgbClr val="8FC1F0"/>
                </a:solidFill>
                <a:latin typeface="Arial"/>
              </a:rPr>
              <a:t>Do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2176271"/>
            <a:ext cx="1650492" cy="54864"/>
          </a:xfrm>
          <a:prstGeom prst="rect">
            <a:avLst/>
          </a:prstGeom>
          <a:solidFill>
            <a:srgbClr val="8FC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33160" y="1499616"/>
            <a:ext cx="5501640" cy="621791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1" i="0">
                <a:solidFill>
                  <a:srgbClr val="9DB0C0"/>
                </a:solidFill>
                <a:latin typeface="Arial"/>
              </a:rPr>
              <a:t>Don't</a:t>
            </a:r>
          </a:p>
        </p:txBody>
      </p:sp>
      <p:sp>
        <p:nvSpPr>
          <p:cNvPr id="6" name="Rectangle 5"/>
          <p:cNvSpPr/>
          <p:nvPr/>
        </p:nvSpPr>
        <p:spPr>
          <a:xfrm>
            <a:off x="6324600" y="2176271"/>
            <a:ext cx="1650492" cy="54864"/>
          </a:xfrm>
          <a:prstGeom prst="rect">
            <a:avLst/>
          </a:prstGeom>
          <a:solidFill>
            <a:srgbClr val="9DB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2395727"/>
            <a:ext cx="5501640" cy="60960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Return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305555"/>
            <a:ext cx="7209750" cy="60960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Use plain dicts / Series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215383"/>
            <a:ext cx="6980019" cy="60960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Keep signatures small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125211"/>
            <a:ext cx="6404848" cy="60960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One job per function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160" y="2395727"/>
            <a:ext cx="5944374" cy="60960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Change df in place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3160" y="3305555"/>
            <a:ext cx="5958840" cy="60960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Print instead of return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33160" y="4215383"/>
            <a:ext cx="5958840" cy="60960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Add many optional args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33160" y="5125211"/>
            <a:ext cx="5958840" cy="60960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One function for everything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34</a:t>
            </a:fld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One job vs everything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5501640" cy="621791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1" i="0">
                <a:solidFill>
                  <a:srgbClr val="8FC1F0"/>
                </a:solidFill>
                <a:latin typeface="Arial"/>
              </a:rPr>
              <a:t>One job each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2176271"/>
            <a:ext cx="1650492" cy="54864"/>
          </a:xfrm>
          <a:prstGeom prst="rect">
            <a:avLst/>
          </a:prstGeom>
          <a:solidFill>
            <a:srgbClr val="8FC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33160" y="1499616"/>
            <a:ext cx="5670788" cy="621791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1" i="0">
                <a:solidFill>
                  <a:srgbClr val="9DB0C0"/>
                </a:solidFill>
                <a:latin typeface="Arial"/>
              </a:rPr>
              <a:t>One big function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324600" y="2176271"/>
            <a:ext cx="1650492" cy="54864"/>
          </a:xfrm>
          <a:prstGeom prst="rect">
            <a:avLst/>
          </a:prstGeom>
          <a:solidFill>
            <a:srgbClr val="9DB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2395727"/>
            <a:ext cx="5866785" cy="60960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Small and focused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608831"/>
            <a:ext cx="5501640" cy="60960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Easy to test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821935"/>
            <a:ext cx="5501640" cy="60960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Easy to reuse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3160" y="2395727"/>
            <a:ext cx="5501640" cy="60960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Hard to follow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160" y="3608831"/>
            <a:ext cx="5501640" cy="60960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Hard to test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3160" y="4821935"/>
            <a:ext cx="5827652" cy="60960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Breaks more often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35</a:t>
            </a:fld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25040"/>
            <a:ext cx="128016" cy="2407920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2225040"/>
            <a:ext cx="10738104" cy="100584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6000" b="1" i="0">
                <a:solidFill>
                  <a:srgbClr val="F0A202"/>
                </a:solidFill>
                <a:latin typeface="Arial"/>
              </a:rPr>
              <a:t>Signature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505200"/>
            <a:ext cx="10738104" cy="112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A function's name plus the parameters it takes — what you call and what you pass in, like summarize(df).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36</a:t>
            </a:fld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783080"/>
            <a:ext cx="128016" cy="2011680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1783080"/>
            <a:ext cx="10738104" cy="100584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6000" b="1" i="0">
                <a:solidFill>
                  <a:srgbClr val="F0A202"/>
                </a:solidFill>
                <a:latin typeface="Arial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063240"/>
            <a:ext cx="10738104" cy="73152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E7EDF3"/>
                </a:solidFill>
                <a:latin typeface="Arial"/>
              </a:rPr>
              <a:t>Add pyproject.toml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37</a:t>
            </a:fld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E7EDF3"/>
                </a:solidFill>
                <a:latin typeface="Arial"/>
              </a:rPr>
              <a:t>What pyproject.toml does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395729"/>
            <a:ext cx="112776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Names your package and version.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371088"/>
            <a:ext cx="112776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Lists dependencies.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346447"/>
            <a:ext cx="112776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Tells build tools how to build.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38</a:t>
            </a:fld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25040"/>
            <a:ext cx="128016" cy="2407920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2225040"/>
            <a:ext cx="10738104" cy="100584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6000" b="1" i="0">
                <a:solidFill>
                  <a:srgbClr val="F0A202"/>
                </a:solidFill>
                <a:latin typeface="Arial"/>
              </a:rPr>
              <a:t>Build tools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505200"/>
            <a:ext cx="10738104" cy="112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Programs like setuptools and build that turn your source folder into an installable package.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39</a:t>
            </a:fld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A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64008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0" i="0">
                <a:solidFill>
                  <a:srgbClr val="D4D4D4"/>
                </a:solidFill>
                <a:latin typeface="Arial"/>
              </a:rPr>
              <a:t>Minimal pyproject.toml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4444544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[build-system]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89759"/>
            <a:ext cx="3658195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requires = [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29272" y="1889759"/>
            <a:ext cx="5398214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CE9178"/>
                </a:solidFill>
                <a:latin typeface="Arial"/>
              </a:rPr>
              <a:t>"setuptools&gt;=61"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88856" y="1889759"/>
            <a:ext cx="374828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407918"/>
            <a:ext cx="5272048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build-backend = 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37930" y="2407918"/>
            <a:ext cx="7394614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CE9178"/>
                </a:solidFill>
                <a:latin typeface="Arial"/>
              </a:rPr>
              <a:t>"setuptools.build_meta"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444236"/>
            <a:ext cx="2640428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[project]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962395"/>
            <a:ext cx="2698452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name =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29433" y="3962395"/>
            <a:ext cx="7354808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CE9178"/>
                </a:solidFill>
                <a:latin typeface="Arial"/>
              </a:rPr>
              <a:t>"simple-eda-yourname"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480554"/>
            <a:ext cx="3197384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version = 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41265" y="4480554"/>
            <a:ext cx="2209979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CE9178"/>
                </a:solidFill>
                <a:latin typeface="Arial"/>
              </a:rPr>
              <a:t>"0.1.0"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998713"/>
            <a:ext cx="4311292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description =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37458" y="4998713"/>
            <a:ext cx="5639752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CE9178"/>
                </a:solidFill>
                <a:latin typeface="Arial"/>
              </a:rPr>
              <a:t>"Tiny EDA helper"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516872"/>
            <a:ext cx="546467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dependencies = [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58319" y="5516872"/>
            <a:ext cx="4707334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CE9178"/>
                </a:solidFill>
                <a:latin typeface="Arial"/>
              </a:rPr>
              <a:t>"pandas&gt;=1.5"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6103" y="5516872"/>
            <a:ext cx="374828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40</a:t>
            </a:fld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25040"/>
            <a:ext cx="128016" cy="2407920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2225040"/>
            <a:ext cx="10738104" cy="100584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6000" b="1" i="0">
                <a:solidFill>
                  <a:srgbClr val="F0A202"/>
                </a:solidFill>
                <a:latin typeface="Arial"/>
              </a:rPr>
              <a:t>TOML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505200"/>
            <a:ext cx="10738104" cy="112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Tom's Obvious Minimal Language — the simple key = value format pyproject.toml is written in.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41</a:t>
            </a:fld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Version numbers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2678886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1" i="0">
                <a:solidFill>
                  <a:srgbClr val="8FC1F0"/>
                </a:solidFill>
                <a:latin typeface="Arial"/>
              </a:rPr>
              <a:t>Version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31604" y="1499616"/>
            <a:ext cx="4324911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1" i="0">
                <a:solidFill>
                  <a:srgbClr val="8FC1F0"/>
                </a:solidFill>
                <a:latin typeface="Arial"/>
              </a:rPr>
              <a:t>Means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072639"/>
            <a:ext cx="6799315" cy="54864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401823"/>
            <a:ext cx="1925764" cy="633984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0.1.0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31604" y="2401823"/>
            <a:ext cx="6517521" cy="633984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First working version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310127"/>
            <a:ext cx="1925764" cy="633984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0.1.1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31604" y="3310127"/>
            <a:ext cx="4324911" cy="633984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A small fix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218431"/>
            <a:ext cx="1925764" cy="633984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0.2.0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31604" y="4218431"/>
            <a:ext cx="4407772" cy="633984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A new feature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126735"/>
            <a:ext cx="1925764" cy="633984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1.0.0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31604" y="5126735"/>
            <a:ext cx="5483561" cy="633984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Stable and public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42</a:t>
            </a:fld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965960"/>
            <a:ext cx="128016" cy="2926080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1965960"/>
            <a:ext cx="11195304" cy="100584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6000" b="1" i="0">
                <a:solidFill>
                  <a:srgbClr val="F0A202"/>
                </a:solidFill>
                <a:latin typeface="Arial"/>
              </a:rPr>
              <a:t>MAJOR.MINOR.PATCH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246120"/>
            <a:ext cx="10738104" cy="1645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Under semantic versioning, each of the three numbers just has to be a non-negative integer, so 0.0.1 means major 0, minor 0, patch 1.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43</a:t>
            </a:fld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A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64008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0" i="0">
                <a:solidFill>
                  <a:srgbClr val="D4D4D4"/>
                </a:solidFill>
                <a:latin typeface="Arial"/>
              </a:rPr>
              <a:t>README: install &amp; use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7440492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6A9955"/>
                </a:solidFill>
                <a:latin typeface="Arial"/>
              </a:rPr>
              <a:t># simple-eda-yourname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89759"/>
            <a:ext cx="5341203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Tiny EDA helper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81152" y="1889759"/>
            <a:ext cx="989131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C586C0"/>
                </a:solidFill>
                <a:latin typeface="Arial"/>
              </a:rPr>
              <a:t>for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85059" y="1889759"/>
            <a:ext cx="283339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pandas.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926077"/>
            <a:ext cx="2948086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6A9955"/>
                </a:solidFill>
                <a:latin typeface="Arial"/>
              </a:rPr>
              <a:t>## Install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444236"/>
            <a:ext cx="9936499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pip install simple-eda-yourname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480554"/>
            <a:ext cx="2371904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6A9955"/>
                </a:solidFill>
                <a:latin typeface="Arial"/>
              </a:rPr>
              <a:t>## Use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998713"/>
            <a:ext cx="2102366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569CD6"/>
                </a:solidFill>
                <a:latin typeface="Arial"/>
              </a:rPr>
              <a:t>import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56879" y="4998713"/>
            <a:ext cx="4100115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simple_eda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05151" y="4998713"/>
            <a:ext cx="912555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569CD6"/>
                </a:solidFill>
                <a:latin typeface="Arial"/>
              </a:rPr>
              <a:t>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61198" y="4998713"/>
            <a:ext cx="1527532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eda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516872"/>
            <a:ext cx="1526857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Arial"/>
              </a:rPr>
              <a:t>print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97186" y="5516872"/>
            <a:ext cx="17576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(eda.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81386" y="5516872"/>
            <a:ext cx="356104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Arial"/>
              </a:rPr>
              <a:t>summarize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92737" y="5516872"/>
            <a:ext cx="1449268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(df))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44</a:t>
            </a:fld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E7EDF3"/>
                </a:solidFill>
                <a:latin typeface="Arial"/>
              </a:rPr>
              <a:t>License basics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908050"/>
            <a:ext cx="117348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Says what others may do with your code.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83409"/>
            <a:ext cx="112776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MIT is common for small projects.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58768"/>
            <a:ext cx="112776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Use an official template.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834127"/>
            <a:ext cx="112776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Never invent your own license text.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45</a:t>
            </a:fld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783080"/>
            <a:ext cx="128016" cy="2011680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1783080"/>
            <a:ext cx="10738104" cy="100584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6000" b="1" i="0">
                <a:solidFill>
                  <a:srgbClr val="F0A202"/>
                </a:solidFill>
                <a:latin typeface="Arial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063240"/>
            <a:ext cx="10738104" cy="73152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E7EDF3"/>
                </a:solidFill>
                <a:latin typeface="Arial"/>
              </a:rPr>
              <a:t>Install locally with pip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46</a:t>
            </a:fld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A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64008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0" i="0">
                <a:solidFill>
                  <a:srgbClr val="D4D4D4"/>
                </a:solidFill>
                <a:latin typeface="Arial"/>
              </a:rPr>
              <a:t>Install in editable mode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17348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6A9955"/>
                </a:solidFill>
                <a:latin typeface="Arial"/>
              </a:rPr>
              <a:t># run from the folder with pyproject.toml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89759"/>
            <a:ext cx="751707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python -m pip install -e 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47</a:t>
            </a:fld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E7EDF3"/>
                </a:solidFill>
                <a:latin typeface="Arial"/>
              </a:rPr>
              <a:t>What -e (editable) means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395729"/>
            <a:ext cx="112776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Links pip to your source folder.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371088"/>
            <a:ext cx="112776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Code edits apply instantly.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346447"/>
            <a:ext cx="112776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No reinstall while developing.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48</a:t>
            </a:fld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A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64008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0" i="0">
                <a:solidFill>
                  <a:srgbClr val="D4D4D4"/>
                </a:solidFill>
                <a:latin typeface="Arial"/>
              </a:rPr>
              <a:t>Smoke-test the import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585217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&gt;&gt;&gt;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33661" y="1371600"/>
            <a:ext cx="2102366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569CD6"/>
                </a:solidFill>
                <a:latin typeface="Arial"/>
              </a:rPr>
              <a:t>import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33340" y="1371600"/>
            <a:ext cx="4100115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simple_eda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81612" y="1371600"/>
            <a:ext cx="912555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569CD6"/>
                </a:solidFill>
                <a:latin typeface="Arial"/>
              </a:rPr>
              <a:t>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37659" y="1371600"/>
            <a:ext cx="1527532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eda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889759"/>
            <a:ext cx="5158025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&gt;&gt;&gt; eda.__all__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407918"/>
            <a:ext cx="374828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[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7168" y="2407918"/>
            <a:ext cx="3824843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CE9178"/>
                </a:solidFill>
                <a:latin typeface="Arial"/>
              </a:rPr>
              <a:t>'summarize'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53395" y="2407918"/>
            <a:ext cx="566777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,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93331" y="2407918"/>
            <a:ext cx="2788523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CE9178"/>
                </a:solidFill>
                <a:latin typeface="Arial"/>
              </a:rPr>
              <a:t>'missing'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21858" y="2407918"/>
            <a:ext cx="1334571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, ...]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49</a:t>
            </a:fld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When the import fails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5501640" cy="621791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1" i="0">
                <a:solidFill>
                  <a:srgbClr val="8FC1F0"/>
                </a:solidFill>
                <a:latin typeface="Arial"/>
              </a:rPr>
              <a:t>Symptom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2176271"/>
            <a:ext cx="1650492" cy="54864"/>
          </a:xfrm>
          <a:prstGeom prst="rect">
            <a:avLst/>
          </a:prstGeom>
          <a:solidFill>
            <a:srgbClr val="8FC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33160" y="1499616"/>
            <a:ext cx="5501640" cy="621791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1" i="0">
                <a:solidFill>
                  <a:srgbClr val="9DB0C0"/>
                </a:solidFill>
                <a:latin typeface="Arial"/>
              </a:rPr>
              <a:t>Fix</a:t>
            </a:r>
          </a:p>
        </p:txBody>
      </p:sp>
      <p:sp>
        <p:nvSpPr>
          <p:cNvPr id="6" name="Rectangle 5"/>
          <p:cNvSpPr/>
          <p:nvPr/>
        </p:nvSpPr>
        <p:spPr>
          <a:xfrm>
            <a:off x="6324600" y="2176271"/>
            <a:ext cx="1650492" cy="54864"/>
          </a:xfrm>
          <a:prstGeom prst="rect">
            <a:avLst/>
          </a:prstGeom>
          <a:solidFill>
            <a:srgbClr val="9DB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2395727"/>
            <a:ext cx="7018139" cy="60960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ModuleNotFoundError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608831"/>
            <a:ext cx="5501640" cy="60960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Wrong folder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821935"/>
            <a:ext cx="6199068" cy="60960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Wrong environment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3160" y="2395727"/>
            <a:ext cx="5712619" cy="60960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Run pip install -e 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160" y="3608831"/>
            <a:ext cx="5958840" cy="60960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cd to the project root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3160" y="4821935"/>
            <a:ext cx="5789195" cy="60960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Use python -m pip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50</a:t>
            </a:fld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783080"/>
            <a:ext cx="128016" cy="2011680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1783080"/>
            <a:ext cx="10738104" cy="100584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6000" b="1" i="0">
                <a:solidFill>
                  <a:srgbClr val="F0A202"/>
                </a:solidFill>
                <a:latin typeface="Arial"/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063240"/>
            <a:ext cx="10738104" cy="73152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E7EDF3"/>
                </a:solidFill>
                <a:latin typeface="Arial"/>
              </a:rPr>
              <a:t>Build a real package file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51</a:t>
            </a:fld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A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64008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0" i="0">
                <a:solidFill>
                  <a:srgbClr val="D4D4D4"/>
                </a:solidFill>
                <a:latin typeface="Arial"/>
              </a:rPr>
              <a:t>Build the artifacts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7978556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python -m pip install build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89759"/>
            <a:ext cx="4906366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python -m build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52</a:t>
            </a:fld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A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64008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0" i="0">
                <a:solidFill>
                  <a:srgbClr val="D4D4D4"/>
                </a:solidFill>
                <a:latin typeface="Arial"/>
              </a:rPr>
              <a:t>The dist/ folder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449942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dist/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89759"/>
            <a:ext cx="9063116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├── simple_eda_yourname-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07348" y="1889759"/>
            <a:ext cx="1143297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B5CEA8"/>
                </a:solidFill>
                <a:latin typeface="Arial"/>
              </a:rPr>
              <a:t>0.1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07609" y="1889759"/>
            <a:ext cx="374828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27577" y="1889759"/>
            <a:ext cx="567115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B5CEA8"/>
                </a:solidFill>
                <a:latin typeface="Arial"/>
              </a:rPr>
              <a:t>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67724" y="1889759"/>
            <a:ext cx="2064584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.tar.gz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407918"/>
            <a:ext cx="9063116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└── simple_eda_yourname-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07348" y="2407918"/>
            <a:ext cx="1143297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B5CEA8"/>
                </a:solidFill>
                <a:latin typeface="Arial"/>
              </a:rPr>
              <a:t>0.1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07609" y="2407918"/>
            <a:ext cx="374828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27577" y="2407918"/>
            <a:ext cx="567115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B5CEA8"/>
                </a:solidFill>
                <a:latin typeface="Arial"/>
              </a:rPr>
              <a:t>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67724" y="2407918"/>
            <a:ext cx="2025451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-...whl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53</a:t>
            </a:fld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734800" cy="768096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Wheel vs source distribution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5501640" cy="621791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1" i="0">
                <a:solidFill>
                  <a:srgbClr val="8FC1F0"/>
                </a:solidFill>
                <a:latin typeface="Arial"/>
              </a:rPr>
              <a:t>Source (.tar.gz)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2176271"/>
            <a:ext cx="1650492" cy="54864"/>
          </a:xfrm>
          <a:prstGeom prst="rect">
            <a:avLst/>
          </a:prstGeom>
          <a:solidFill>
            <a:srgbClr val="8FC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33160" y="1499616"/>
            <a:ext cx="5501640" cy="621791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1" i="0">
                <a:solidFill>
                  <a:srgbClr val="9DB0C0"/>
                </a:solidFill>
                <a:latin typeface="Arial"/>
              </a:rPr>
              <a:t>Wheel (.whl)</a:t>
            </a:r>
          </a:p>
        </p:txBody>
      </p:sp>
      <p:sp>
        <p:nvSpPr>
          <p:cNvPr id="6" name="Rectangle 5"/>
          <p:cNvSpPr/>
          <p:nvPr/>
        </p:nvSpPr>
        <p:spPr>
          <a:xfrm>
            <a:off x="6324600" y="2176271"/>
            <a:ext cx="1650492" cy="54864"/>
          </a:xfrm>
          <a:prstGeom prst="rect">
            <a:avLst/>
          </a:prstGeom>
          <a:solidFill>
            <a:srgbClr val="9DB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2395727"/>
            <a:ext cx="5501640" cy="60960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A source archive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215383"/>
            <a:ext cx="5827990" cy="60960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Used as a fallback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33160" y="2395727"/>
            <a:ext cx="5958840" cy="60960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Prebuilt, fast install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3160" y="4215383"/>
            <a:ext cx="5958840" cy="60960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What most users get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54</a:t>
            </a:fld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322188" cy="768096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E7EDF3"/>
                </a:solidFill>
                <a:latin typeface="Arial"/>
              </a:rPr>
              <a:t>Keep build output out of git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395729"/>
            <a:ext cx="11512907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dist/, build/, *.egg-info are generated.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371088"/>
            <a:ext cx="112776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Add them to .gitignore.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346447"/>
            <a:ext cx="112776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Bump the version before rebuilding.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55</a:t>
            </a:fld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783080"/>
            <a:ext cx="128016" cy="2011680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1783080"/>
            <a:ext cx="10738104" cy="100584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6000" b="1" i="0">
                <a:solidFill>
                  <a:srgbClr val="F0A202"/>
                </a:solidFill>
                <a:latin typeface="Arial"/>
              </a:rPr>
              <a:t>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063240"/>
            <a:ext cx="10738104" cy="73152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E7EDF3"/>
                </a:solidFill>
                <a:latin typeface="Arial"/>
              </a:rPr>
              <a:t>Publish safely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56</a:t>
            </a:fld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E7EDF3"/>
                </a:solidFill>
                <a:latin typeface="Arial"/>
              </a:rPr>
              <a:t>Why TestPyPI first?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395729"/>
            <a:ext cx="112776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A practice package index.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371088"/>
            <a:ext cx="117348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Rehearse upload and install commands.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346447"/>
            <a:ext cx="112776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Mistakes are cheap here.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57</a:t>
            </a:fld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E7EDF3"/>
                </a:solidFill>
                <a:latin typeface="Arial"/>
              </a:rPr>
              <a:t>The upload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1132164" cy="64008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61983" y="1499616"/>
            <a:ext cx="10272817" cy="64008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1983" y="2185416"/>
            <a:ext cx="10272817" cy="551688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python -m twine check dist/*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011424"/>
            <a:ext cx="1132164" cy="64008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1983" y="3011424"/>
            <a:ext cx="10272817" cy="64008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TestPyPI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1983" y="3697224"/>
            <a:ext cx="10730017" cy="551688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twine upload --repository testpypi dist/*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523232"/>
            <a:ext cx="1132164" cy="64008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1983" y="4523232"/>
            <a:ext cx="10272817" cy="64008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PyPI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1983" y="5209032"/>
            <a:ext cx="10730017" cy="551688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twine upload dist/* — only after TestPyPI works.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58</a:t>
            </a:fld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A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64008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0" i="0">
                <a:solidFill>
                  <a:srgbClr val="D4D4D4"/>
                </a:solidFill>
                <a:latin typeface="Arial"/>
              </a:rPr>
              <a:t>Install from TestPyPI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7004644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6A9955"/>
                </a:solidFill>
                <a:latin typeface="Arial"/>
              </a:rPr>
              <a:t># install from TestPyPI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89759"/>
            <a:ext cx="3447017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pip install \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407918"/>
            <a:ext cx="9743539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 -i https://test.pypi.org/simple/ \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926077"/>
            <a:ext cx="5826304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 --extra-index-url \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444236"/>
            <a:ext cx="8246408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   https://pypi.org/simple/ \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962395"/>
            <a:ext cx="7248208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 simple-eda-yourname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59</a:t>
            </a:fld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E7EDF3"/>
                </a:solidFill>
                <a:latin typeface="Arial"/>
              </a:rPr>
              <a:t>Publishing safety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908050"/>
            <a:ext cx="112776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Use API tokens, not passwords.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83409"/>
            <a:ext cx="112776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Never commit tokens or secrets.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58768"/>
            <a:ext cx="112776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Fewer deps, less attack surface.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834127"/>
            <a:ext cx="112776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Beware typosquatting.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60</a:t>
            </a:fld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783080"/>
            <a:ext cx="128016" cy="2011680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1783080"/>
            <a:ext cx="10738104" cy="100584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6000" b="1" i="0">
                <a:solidFill>
                  <a:srgbClr val="F0A202"/>
                </a:solidFill>
                <a:latin typeface="Arial"/>
              </a:rPr>
              <a:t>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063240"/>
            <a:ext cx="10738104" cy="73152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E7EDF3"/>
                </a:solidFill>
                <a:latin typeface="Arial"/>
              </a:rPr>
              <a:t>Use, improve &amp; share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61</a:t>
            </a:fld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What to add — and avoid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5501640" cy="621791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1" i="0">
                <a:solidFill>
                  <a:srgbClr val="8FC1F0"/>
                </a:solidFill>
                <a:latin typeface="Arial"/>
              </a:rPr>
              <a:t>Avoid early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2176271"/>
            <a:ext cx="1650492" cy="54864"/>
          </a:xfrm>
          <a:prstGeom prst="rect">
            <a:avLst/>
          </a:prstGeom>
          <a:solidFill>
            <a:srgbClr val="8FC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33160" y="1499616"/>
            <a:ext cx="5595560" cy="621791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1" i="0">
                <a:solidFill>
                  <a:srgbClr val="9DB0C0"/>
                </a:solidFill>
                <a:latin typeface="Arial"/>
              </a:rPr>
              <a:t>Good next steps</a:t>
            </a:r>
          </a:p>
        </p:txBody>
      </p:sp>
      <p:sp>
        <p:nvSpPr>
          <p:cNvPr id="6" name="Rectangle 5"/>
          <p:cNvSpPr/>
          <p:nvPr/>
        </p:nvSpPr>
        <p:spPr>
          <a:xfrm>
            <a:off x="6324600" y="2176271"/>
            <a:ext cx="1650492" cy="54864"/>
          </a:xfrm>
          <a:prstGeom prst="rect">
            <a:avLst/>
          </a:prstGeom>
          <a:solidFill>
            <a:srgbClr val="9DB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2395727"/>
            <a:ext cx="5685294" cy="60960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Full HTML reports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305555"/>
            <a:ext cx="5501640" cy="60960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Plugin systems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215383"/>
            <a:ext cx="8055470" cy="60960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Every dataframe backend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125211"/>
            <a:ext cx="6865321" cy="60960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AI-generated analysis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160" y="2395727"/>
            <a:ext cx="5501640" cy="60960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quick_report()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3160" y="3305555"/>
            <a:ext cx="5501640" cy="60960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top_categories()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33160" y="4215383"/>
            <a:ext cx="5958840" cy="60960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column_summary()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33160" y="5125211"/>
            <a:ext cx="5501640" cy="60960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duplicate_rows()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62</a:t>
            </a:fld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A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46304" cy="146304"/>
          </a:xfrm>
          <a:prstGeom prst="rect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13232" y="457200"/>
            <a:ext cx="146304" cy="146304"/>
          </a:xfrm>
          <a:prstGeom prst="rect">
            <a:avLst/>
          </a:prstGeom>
          <a:solidFill>
            <a:srgbClr val="FFB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69264" y="457200"/>
            <a:ext cx="146304" cy="146304"/>
          </a:xfrm>
          <a:prstGeom prst="rect">
            <a:avLst/>
          </a:prstGeom>
          <a:solidFill>
            <a:srgbClr val="27C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77600" cy="64008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0" i="0">
                <a:solidFill>
                  <a:srgbClr val="D4D4D4"/>
                </a:solidFill>
                <a:latin typeface="Arial"/>
              </a:rPr>
              <a:t>Add a tiny test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37944"/>
            <a:ext cx="1143297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569CD6"/>
                </a:solidFill>
                <a:latin typeface="Arial"/>
              </a:rPr>
              <a:t>def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7461" y="1837944"/>
            <a:ext cx="302848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7429" y="1837944"/>
            <a:ext cx="7094716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Arial"/>
              </a:rPr>
              <a:t>test_numeric_columns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97326" y="1837944"/>
            <a:ext cx="834964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():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356103"/>
            <a:ext cx="3274635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   df = pd.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89547" y="2356103"/>
            <a:ext cx="3638292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Arial"/>
              </a:rPr>
              <a:t>DataFrame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49180" y="2356103"/>
            <a:ext cx="412948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(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874262"/>
            <a:ext cx="1949211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       {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61157" y="2874262"/>
            <a:ext cx="240159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CE9178"/>
                </a:solidFill>
                <a:latin typeface="Arial"/>
              </a:rPr>
              <a:t>"name"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47851" y="2874262"/>
            <a:ext cx="758726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: [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07755" y="2874262"/>
            <a:ext cx="1134188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CE9178"/>
                </a:solidFill>
                <a:latin typeface="Arial"/>
              </a:rPr>
              <a:t>"A"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02323" y="2874262"/>
            <a:ext cx="758726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],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62227" y="2874262"/>
            <a:ext cx="1826081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CE9178"/>
                </a:solidFill>
                <a:latin typeface="Arial"/>
              </a:rPr>
              <a:t>"age"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89228" y="2874262"/>
            <a:ext cx="758726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: [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49131" y="2874262"/>
            <a:ext cx="951348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B5CEA8"/>
                </a:solidFill>
                <a:latin typeface="Arial"/>
              </a:rPr>
              <a:t>10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9424" y="2874262"/>
            <a:ext cx="83564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]})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3392421"/>
            <a:ext cx="4311292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   cols = eda.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37458" y="3392421"/>
            <a:ext cx="559691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Arial"/>
              </a:rPr>
              <a:t>numeric_columns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21227" y="3392421"/>
            <a:ext cx="12192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(df)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3910580"/>
            <a:ext cx="662751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   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7071" y="3910580"/>
            <a:ext cx="2064246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C586C0"/>
                </a:solidFill>
                <a:latin typeface="Arial"/>
              </a:rPr>
              <a:t>assert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12925" y="3910580"/>
            <a:ext cx="2986206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cols == [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65004" y="3910580"/>
            <a:ext cx="1826081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CE9178"/>
                </a:solidFill>
                <a:latin typeface="Arial"/>
              </a:rPr>
              <a:t>"age"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92005" y="3910580"/>
            <a:ext cx="374828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]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63</a:t>
            </a:fld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E7EDF3"/>
                </a:solidFill>
                <a:latin typeface="Arial"/>
              </a:rPr>
              <a:t>Final checklist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112776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Package files all exist.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435352"/>
            <a:ext cx="112776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pip install -e . works.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371088"/>
            <a:ext cx="112776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python -m build works.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306824"/>
            <a:ext cx="112776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twine check dist/* passes.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242560"/>
            <a:ext cx="112776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README has install + usage.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64</a:t>
            </a:fld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583436"/>
            <a:ext cx="11277600" cy="169164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ctr"/>
            <a:r>
              <a:rPr sz="10500" b="1" i="0">
                <a:solidFill>
                  <a:srgbClr val="F0A202"/>
                </a:solidFill>
                <a:latin typeface="Arial"/>
              </a:rPr>
              <a:t>0.1.0</a:t>
            </a:r>
          </a:p>
        </p:txBody>
      </p:sp>
      <p:sp>
        <p:nvSpPr>
          <p:cNvPr id="3" name="Rectangle 2"/>
          <p:cNvSpPr/>
          <p:nvPr/>
        </p:nvSpPr>
        <p:spPr>
          <a:xfrm>
            <a:off x="5547360" y="3329940"/>
            <a:ext cx="1097280" cy="54864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9124"/>
            <a:ext cx="11277600" cy="73152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ctr"/>
            <a:r>
              <a:rPr sz="4200" b="0" i="0">
                <a:solidFill>
                  <a:srgbClr val="E7EDF3"/>
                </a:solidFill>
                <a:latin typeface="Arial"/>
              </a:rPr>
              <a:t>Ship your first version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4079" y="4664964"/>
            <a:ext cx="11703843" cy="60960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ctr"/>
            <a:r>
              <a:rPr sz="3400" b="0" i="0">
                <a:solidFill>
                  <a:srgbClr val="9DB0C0"/>
                </a:solidFill>
                <a:latin typeface="Arial"/>
              </a:rPr>
              <a:t>Four functions, importable, published.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65</a:t>
            </a:fld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