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tle Slide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914400" y="2971800"/>
            <a:ext cx="1127760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8FC1F0"/>
                </a:solidFill>
                <a:latin typeface="Arial"/>
              </a:rPr>
              <a:t>Quarterly Business Review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con Text Rows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What Drives Us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Excellence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09215"/>
            <a:ext cx="117348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High standards in every deliverable we ship.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Integrity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621023"/>
            <a:ext cx="1133344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Transparent and honest in all we do.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Innovation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5132831"/>
            <a:ext cx="117348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Investing in ideas that shape tomorrow.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tat Callout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By the Numbers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77672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127%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965448"/>
            <a:ext cx="50480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Revenue Target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307840" y="277672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94%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307840" y="3965448"/>
            <a:ext cx="479167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Retention Rate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8158480" y="2776728"/>
            <a:ext cx="40335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48 NPS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8158480" y="3965448"/>
            <a:ext cx="40335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Net Promoter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Columns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Side-by-Side Evaluation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58115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Legacy Platform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Modern Stack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651887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Deploy time: 4 hours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233160" y="2395727"/>
            <a:ext cx="5903892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Deploy time: 8 min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3517391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Manual scaling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3517391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Auto-scales fast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639055"/>
            <a:ext cx="6940888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On-premise; high cost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4639055"/>
            <a:ext cx="59588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Cloud-native; low cost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meline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Key Milestones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F0A202"/>
                </a:solidFill>
                <a:latin typeface="Arial"/>
              </a:rPr>
              <a:t>Q1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54936"/>
            <a:ext cx="39432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Foundation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Cloud platform migration done.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334518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F0A202"/>
                </a:solidFill>
                <a:latin typeface="Arial"/>
              </a:rPr>
              <a:t>Q2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345180" y="2154936"/>
            <a:ext cx="39830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API Launch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34518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REST API live with 99.99% SLA.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623316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F0A202"/>
                </a:solidFill>
                <a:latin typeface="Arial"/>
              </a:rPr>
              <a:t>Q3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215493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AI Beta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AI features shipped to 500 partners.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912114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F0A202"/>
                </a:solidFill>
                <a:latin typeface="Arial"/>
              </a:rPr>
              <a:t>Q4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9121140" y="2154936"/>
            <a:ext cx="30708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Scale Out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912114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APAC regions live; global coverage.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mage Half Bleed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Built in the Field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6233160" y="1499616"/>
            <a:ext cx="550164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Built with customers, not just for them.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6233160" y="2901696"/>
            <a:ext cx="550164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60% faster rollout; 50% fewer tickets.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ard Grid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What We Offer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8313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Insights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Live data and AI analytics.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3345180" y="1499616"/>
            <a:ext cx="290929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Security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334518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Zero-trust, SOC 2 ready.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6233160" y="14996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Speed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Sub-100ms p99 latency.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9121140" y="14996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APIs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912114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300+ open connectors.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ection Divider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Where We Stand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Agenda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What We Will Cover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280160"/>
            <a:ext cx="11277600" cy="64008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61848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0A202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1371600" y="161848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Performance against targets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250179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0A202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1371600" y="250179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Customer and market signals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338510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0A202"/>
                </a:solidFill>
                <a:latin typeface="Arial"/>
              </a:rPr>
              <a:t>03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1371600" y="338510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Operational health and risks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426841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0A202"/>
                </a:solidFill>
                <a:latin typeface="Arial"/>
              </a:rPr>
              <a:t>04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1371600" y="426841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Roadmap for next quarter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515172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0A202"/>
                </a:solidFill>
                <a:latin typeface="Arial"/>
              </a:rPr>
              <a:t>05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1371600" y="515172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Decisions we need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ig Number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body" idx="1"/>
          </p:nvPr>
        </p:nvSpPr>
        <p:spPr>
          <a:xfrm>
            <a:off x="457200" y="2025396"/>
            <a:ext cx="11277600" cy="16916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10500" b="1" i="0">
                <a:solidFill>
                  <a:srgbClr val="F0A202"/>
                </a:solidFill>
                <a:latin typeface="Arial"/>
              </a:rPr>
              <a:t>3.2M</a:t>
            </a:r>
          </a:p>
        </p:txBody>
      </p:sp>
      <p:sp>
        <p:nvSpPr>
          <p:cNvPr id="6" name="Rectangle 5"/>
          <p:cNvSpPr/>
          <p:nvPr>
            <p:ph type="body" idx="2"/>
          </p:nvPr>
        </p:nvSpPr>
        <p:spPr>
          <a:xfrm>
            <a:off x="5547360" y="3771900"/>
            <a:ext cx="1097280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457200" y="4101084"/>
            <a:ext cx="11277600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0" i="0">
                <a:solidFill>
                  <a:srgbClr val="E7EDF3"/>
                </a:solidFill>
                <a:latin typeface="Arial"/>
              </a:rPr>
              <a:t>Active customers worldwide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ull Quote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2301240"/>
            <a:ext cx="128016" cy="225552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2301240"/>
            <a:ext cx="10738104" cy="1371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"We stopped buying tools and started buying outcomes."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94716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9DB0C0"/>
                </a:solidFill>
                <a:latin typeface="Arial"/>
              </a:rPr>
              <a:t>- VP of Engineering, enterprise customer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Definition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1965960"/>
            <a:ext cx="128016" cy="29260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1965960"/>
            <a:ext cx="111953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Net Revenue Retention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246120"/>
            <a:ext cx="10738104" cy="164592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The percentage of recurring revenue retained from existing customers over a period, including expansion and after churn.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Question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2011680"/>
            <a:ext cx="128016" cy="283464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2011680"/>
            <a:ext cx="10738104" cy="28346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6000" b="1" i="0">
                <a:solidFill>
                  <a:srgbClr val="E7EDF3"/>
                </a:solidFill>
                <a:latin typeface="Arial"/>
              </a:rPr>
              <a:t>What would we build if we trusted our customers completely?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ullet List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46804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What Changed This Quarter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Activation time dropped by half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Support tickets fell sharply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4346447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Expansion revenue outpaced new sales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de Block"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>
            <p:ph type="body" idx="2"/>
          </p:nvPr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>
            <p:ph type="body" idx="3"/>
          </p:nvPr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4"/>
          </p:nvPr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hello.py</a:t>
            </a:r>
          </a:p>
        </p:txBody>
      </p:sp>
      <p:sp>
        <p:nvSpPr>
          <p:cNvPr id="9" name="TextBox 8"/>
          <p:cNvSpPr/>
          <p:nvPr>
            <p:ph type="body" idx="5"/>
          </p:nvPr>
        </p:nvSpPr>
        <p:spPr>
          <a:xfrm>
            <a:off x="457200" y="1837944"/>
            <a:ext cx="78513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The classic, end to end</a:t>
            </a:r>
          </a:p>
        </p:txBody>
      </p:sp>
      <p:sp>
        <p:nvSpPr>
          <p:cNvPr id="10" name="TextBox 9"/>
          <p:cNvSpPr/>
          <p:nvPr>
            <p:ph type="body" idx="6"/>
          </p:nvPr>
        </p:nvSpPr>
        <p:spPr>
          <a:xfrm>
            <a:off x="457200" y="2356103"/>
            <a:ext cx="11432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def</a:t>
            </a:r>
          </a:p>
        </p:txBody>
      </p:sp>
      <p:sp>
        <p:nvSpPr>
          <p:cNvPr id="11" name="TextBox 10"/>
          <p:cNvSpPr/>
          <p:nvPr>
            <p:ph type="body" idx="7"/>
          </p:nvPr>
        </p:nvSpPr>
        <p:spPr>
          <a:xfrm>
            <a:off x="1057461" y="2356103"/>
            <a:ext cx="3028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12" name="TextBox 11"/>
          <p:cNvSpPr/>
          <p:nvPr>
            <p:ph type="body" idx="8"/>
          </p:nvPr>
        </p:nvSpPr>
        <p:spPr>
          <a:xfrm>
            <a:off x="1177429" y="2356103"/>
            <a:ext cx="1680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main</a:t>
            </a:r>
          </a:p>
        </p:txBody>
      </p:sp>
      <p:sp>
        <p:nvSpPr>
          <p:cNvPr id="13" name="TextBox 12"/>
          <p:cNvSpPr/>
          <p:nvPr>
            <p:ph type="body" idx="9"/>
          </p:nvPr>
        </p:nvSpPr>
        <p:spPr>
          <a:xfrm>
            <a:off x="2113347" y="2356103"/>
            <a:ext cx="83496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():</a:t>
            </a:r>
          </a:p>
        </p:txBody>
      </p:sp>
      <p:sp>
        <p:nvSpPr>
          <p:cNvPr id="14" name="TextBox 13"/>
          <p:cNvSpPr/>
          <p:nvPr>
            <p:ph type="body" idx="13"/>
          </p:nvPr>
        </p:nvSpPr>
        <p:spPr>
          <a:xfrm>
            <a:off x="457200" y="2874262"/>
            <a:ext cx="6627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15" name="TextBox 14"/>
          <p:cNvSpPr/>
          <p:nvPr>
            <p:ph type="body" idx="14"/>
          </p:nvPr>
        </p:nvSpPr>
        <p:spPr>
          <a:xfrm>
            <a:off x="937071" y="2874262"/>
            <a:ext cx="15268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print</a:t>
            </a:r>
          </a:p>
        </p:txBody>
      </p:sp>
      <p:sp>
        <p:nvSpPr>
          <p:cNvPr id="16" name="TextBox 15"/>
          <p:cNvSpPr/>
          <p:nvPr>
            <p:ph type="body" idx="15"/>
          </p:nvPr>
        </p:nvSpPr>
        <p:spPr>
          <a:xfrm>
            <a:off x="1777057" y="2874262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</a:t>
            </a:r>
          </a:p>
        </p:txBody>
      </p:sp>
      <p:sp>
        <p:nvSpPr>
          <p:cNvPr id="17" name="TextBox 16"/>
          <p:cNvSpPr/>
          <p:nvPr>
            <p:ph type="body" idx="16"/>
          </p:nvPr>
        </p:nvSpPr>
        <p:spPr>
          <a:xfrm>
            <a:off x="1920850" y="2874262"/>
            <a:ext cx="44745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"Hello, world!"</a:t>
            </a:r>
          </a:p>
        </p:txBody>
      </p:sp>
      <p:sp>
        <p:nvSpPr>
          <p:cNvPr id="18" name="TextBox 17"/>
          <p:cNvSpPr/>
          <p:nvPr>
            <p:ph type="body" idx="17"/>
          </p:nvPr>
        </p:nvSpPr>
        <p:spPr>
          <a:xfrm>
            <a:off x="4603155" y="2874262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)</a:t>
            </a:r>
          </a:p>
        </p:txBody>
      </p:sp>
      <p:sp>
        <p:nvSpPr>
          <p:cNvPr id="19" name="TextBox 18"/>
          <p:cNvSpPr/>
          <p:nvPr>
            <p:ph type="body" idx="18"/>
          </p:nvPr>
        </p:nvSpPr>
        <p:spPr>
          <a:xfrm>
            <a:off x="457200" y="3910580"/>
            <a:ext cx="1680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main</a:t>
            </a:r>
          </a:p>
        </p:txBody>
      </p:sp>
      <p:sp>
        <p:nvSpPr>
          <p:cNvPr id="20" name="TextBox 19"/>
          <p:cNvSpPr/>
          <p:nvPr>
            <p:ph type="body" idx="19"/>
          </p:nvPr>
        </p:nvSpPr>
        <p:spPr>
          <a:xfrm>
            <a:off x="1393118" y="3910580"/>
            <a:ext cx="6430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()</a:t>
            </a:r>
          </a:p>
        </p:txBody>
      </p:sp>
      <p:sp>
        <p:nvSpPr>
          <p:cNvPr id="21" name="TextBox 20"/>
          <p:cNvSpPr/>
          <p:nvPr>
            <p:ph type="body" idx="20"/>
          </p:nvPr>
        </p:nvSpPr>
        <p:spPr>
          <a:xfrm>
            <a:off x="457200" y="4946898"/>
            <a:ext cx="567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4EC9B0"/>
                </a:solidFill>
                <a:latin typeface="Arial"/>
              </a:rPr>
              <a:t>$</a:t>
            </a:r>
          </a:p>
        </p:txBody>
      </p:sp>
      <p:sp>
        <p:nvSpPr>
          <p:cNvPr id="22" name="TextBox 21"/>
          <p:cNvSpPr/>
          <p:nvPr>
            <p:ph type="body" idx="21"/>
          </p:nvPr>
        </p:nvSpPr>
        <p:spPr>
          <a:xfrm>
            <a:off x="697347" y="4946898"/>
            <a:ext cx="502241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python hello.py</a:t>
            </a:r>
          </a:p>
        </p:txBody>
      </p:sp>
      <p:sp>
        <p:nvSpPr>
          <p:cNvPr id="23" name="TextBox 22"/>
          <p:cNvSpPr/>
          <p:nvPr>
            <p:ph type="body" idx="22"/>
          </p:nvPr>
        </p:nvSpPr>
        <p:spPr>
          <a:xfrm>
            <a:off x="457200" y="5465057"/>
            <a:ext cx="398406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Hello, world!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ile Tree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Final folder shape</a:t>
            </a:r>
          </a:p>
        </p:txBody>
      </p:sp>
      <p:sp>
        <p:nvSpPr>
          <p:cNvPr id="6" name="Rounded Rectangle 5"/>
          <p:cNvSpPr/>
          <p:nvPr>
            <p:ph type="body" idx="1"/>
          </p:nvPr>
        </p:nvSpPr>
        <p:spPr>
          <a:xfrm>
            <a:off x="457200" y="1499616"/>
            <a:ext cx="11277600" cy="4261104"/>
          </a:xfrm>
          <a:prstGeom prst="roundRect">
            <a:avLst>
              <a:gd name="adj" fmla="val 3004"/>
            </a:avLst>
          </a:prstGeom>
          <a:solidFill>
            <a:srgbClr val="0C1A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822960" y="1819656"/>
            <a:ext cx="6206708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simple-eda-project/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822960" y="221589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417417" y="2215896"/>
            <a:ext cx="1451054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src/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822960" y="2612136"/>
            <a:ext cx="208514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└─ 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011873" y="2612136"/>
            <a:ext cx="367036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simple_eda/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822960" y="300837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├─ 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2606330" y="3008376"/>
            <a:ext cx="367036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__init__.py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822960" y="340461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└─ 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2606330" y="3404616"/>
            <a:ext cx="2402185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core.py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822960" y="380085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1417417" y="380085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README.md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822960" y="419709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1417417" y="4197096"/>
            <a:ext cx="4621489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pyproject.toml</a:t>
            </a:r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822960" y="459333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└─ 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1417417" y="4593336"/>
            <a:ext cx="2402185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LICENSE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umbered Steps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Three Steps to Onboard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Connect your data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1461983" y="2185416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Link a source in minutes with a guided wizard.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Pick a template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1461983" y="3697224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Start from a proven layout, then tailor it.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03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Share the result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1461983" y="5209032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Publish to your team and gather feedback fast.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wo Panel List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Onboarding, Reworked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Before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9DB0C0"/>
                </a:solidFill>
                <a:latin typeface="Arial"/>
              </a:rPr>
              <a:t>After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9DB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395727"/>
            <a:ext cx="694257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Manual account setup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3608831"/>
            <a:ext cx="7594321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Three-day approval wait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821935"/>
            <a:ext cx="590423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Email-only support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One-click provisioning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Same-day approval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In-product live chat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his vs That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Cloud or On-Prem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776728"/>
            <a:ext cx="479298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E7EDF3"/>
                </a:solidFill>
                <a:latin typeface="Arial"/>
              </a:rPr>
              <a:t>3 wks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0" y="3965448"/>
            <a:ext cx="57073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Cloud time-to-launch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941820" y="2776728"/>
            <a:ext cx="479298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E7EDF3"/>
                </a:solidFill>
                <a:latin typeface="Arial"/>
              </a:rPr>
              <a:t>6 mo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484620" y="3965448"/>
            <a:ext cx="57073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On-prem time-to-launch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5435323" y="3310127"/>
            <a:ext cx="132135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9DB0C0"/>
                </a:solidFill>
                <a:latin typeface="Arial"/>
              </a:rPr>
              <a:t>VS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KPI Grid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Key Metrics This Quarter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F0A202"/>
                </a:solidFill>
                <a:latin typeface="Arial"/>
              </a:rPr>
              <a:t>98.7%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1708912" y="2484120"/>
            <a:ext cx="1072896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593848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Uptime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30784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F0A202"/>
                </a:solidFill>
                <a:latin typeface="Arial"/>
              </a:rPr>
              <a:t>1,240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5559552" y="2484120"/>
            <a:ext cx="1072896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834934" y="2593848"/>
            <a:ext cx="452213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New accounts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815848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F0A202"/>
                </a:solidFill>
                <a:latin typeface="Arial"/>
              </a:rPr>
              <a:t>4.6/5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9410192" y="2484120"/>
            <a:ext cx="1072896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7701280" y="2593848"/>
            <a:ext cx="44907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Support rating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405688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F0A202"/>
                </a:solidFill>
                <a:latin typeface="Arial"/>
              </a:rPr>
              <a:t>$2.1M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1708912" y="4751832"/>
            <a:ext cx="1072896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0" y="4861560"/>
            <a:ext cx="44907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Net new revenue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4307840" y="379780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F0A202"/>
                </a:solidFill>
                <a:latin typeface="Arial"/>
              </a:rPr>
              <a:t>12 days</a:t>
            </a:r>
          </a:p>
        </p:txBody>
      </p:sp>
      <p:sp>
        <p:nvSpPr>
          <p:cNvPr id="19" name="Rectangle 18"/>
          <p:cNvSpPr/>
          <p:nvPr>
            <p:ph type="body" idx="17"/>
          </p:nvPr>
        </p:nvSpPr>
        <p:spPr>
          <a:xfrm>
            <a:off x="5559552" y="4492752"/>
            <a:ext cx="1072896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4307840" y="4602480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Avg. time to value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8158480" y="405688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F0A202"/>
                </a:solidFill>
                <a:latin typeface="Arial"/>
              </a:rPr>
              <a:t>31%</a:t>
            </a:r>
          </a:p>
        </p:txBody>
      </p:sp>
      <p:sp>
        <p:nvSpPr>
          <p:cNvPr id="22" name="Rectangle 21"/>
          <p:cNvSpPr/>
          <p:nvPr>
            <p:ph type="body" idx="20"/>
          </p:nvPr>
        </p:nvSpPr>
        <p:spPr>
          <a:xfrm>
            <a:off x="9410192" y="4751832"/>
            <a:ext cx="1072896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/>
          <p:nvPr>
            <p:ph type="body" idx="21"/>
          </p:nvPr>
        </p:nvSpPr>
        <p:spPr>
          <a:xfrm>
            <a:off x="7701280" y="4861560"/>
            <a:ext cx="44907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Expansion rate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hart With Insight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Monthly Active Teams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3680394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F0A202"/>
                </a:solidFill>
                <a:latin typeface="Arial"/>
              </a:rPr>
              <a:t>120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680085" y="4335714"/>
            <a:ext cx="1040129" cy="769686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9DB0C0"/>
                </a:solidFill>
                <a:latin typeface="Arial"/>
              </a:rPr>
              <a:t>Jan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2217420" y="3295551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F0A202"/>
                </a:solidFill>
                <a:latin typeface="Arial"/>
              </a:rPr>
              <a:t>180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2440305" y="3950871"/>
            <a:ext cx="1040129" cy="1154529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21742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9DB0C0"/>
                </a:solidFill>
                <a:latin typeface="Arial"/>
              </a:rPr>
              <a:t>Feb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977640" y="2590005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F0A202"/>
                </a:solidFill>
                <a:latin typeface="Arial"/>
              </a:rPr>
              <a:t>290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4200525" y="3245325"/>
            <a:ext cx="1040129" cy="1860075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397764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9DB0C0"/>
                </a:solidFill>
                <a:latin typeface="Arial"/>
              </a:rPr>
              <a:t>Mar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5737860" y="1499616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F0A202"/>
                </a:solidFill>
                <a:latin typeface="Arial"/>
              </a:rPr>
              <a:t>460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5960745" y="2154936"/>
            <a:ext cx="1040129" cy="29504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573786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9DB0C0"/>
                </a:solidFill>
                <a:latin typeface="Arial"/>
              </a:rPr>
              <a:t>Apr</a:t>
            </a:r>
          </a:p>
        </p:txBody>
      </p:sp>
      <p:sp>
        <p:nvSpPr>
          <p:cNvPr id="18" name="Rectangle 17"/>
          <p:cNvSpPr/>
          <p:nvPr>
            <p:ph type="body" idx="16"/>
          </p:nvPr>
        </p:nvSpPr>
        <p:spPr>
          <a:xfrm>
            <a:off x="7498080" y="1770888"/>
            <a:ext cx="128016" cy="371856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8037576" y="1770888"/>
            <a:ext cx="3697224" cy="37185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Activations nearly quadrupled once self-serve onboarding shipped in February.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able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Pricing Tiers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33373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Plan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3339579" y="1499616"/>
            <a:ext cx="223822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Seats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126448" y="1499616"/>
            <a:ext cx="202232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Price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457200" y="2072639"/>
            <a:ext cx="7691577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401823"/>
            <a:ext cx="233373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Starter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339579" y="2401823"/>
            <a:ext cx="241036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Up to 5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6126448" y="2401823"/>
            <a:ext cx="202232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$0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3310127"/>
            <a:ext cx="233373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Team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3339579" y="3310127"/>
            <a:ext cx="2794595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Up to 50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126448" y="3310127"/>
            <a:ext cx="283339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$12/seat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457200" y="4218431"/>
            <a:ext cx="298620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Business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3339579" y="4218431"/>
            <a:ext cx="317883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Up to 250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6126448" y="4218431"/>
            <a:ext cx="283339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$20/seat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457200" y="5126735"/>
            <a:ext cx="333164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Enterprise</a:t>
            </a:r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3339579" y="5126735"/>
            <a:ext cx="306244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Unlimited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6126448" y="5126735"/>
            <a:ext cx="2563177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Custom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Metric Comparison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Performance vs Last Year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07568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F0A202"/>
                </a:solidFill>
                <a:latin typeface="Arial"/>
              </a:rPr>
              <a:t>$8.4M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264408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Annual recurring revenue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1522569" y="4666488"/>
            <a:ext cx="1445581" cy="518159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260802" y="4666488"/>
            <a:ext cx="1969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0F1F2E"/>
                </a:solidFill>
                <a:latin typeface="Arial"/>
              </a:rPr>
              <a:t>+24%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307840" y="207568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F0A202"/>
                </a:solidFill>
                <a:latin typeface="Arial"/>
              </a:rPr>
              <a:t>2.1%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834934" y="3264408"/>
            <a:ext cx="4522132" cy="1127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Monthly churn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5175547" y="4666488"/>
            <a:ext cx="1840906" cy="518159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795183" y="4666488"/>
            <a:ext cx="260163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0F1F2E"/>
                </a:solidFill>
                <a:latin typeface="Arial"/>
              </a:rPr>
              <a:t>-0.8 pts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8158480" y="207568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F0A202"/>
                </a:solidFill>
                <a:latin typeface="Arial"/>
              </a:rPr>
              <a:t>63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8158480" y="3264408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Net promoter score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9427731" y="4666488"/>
            <a:ext cx="1037817" cy="518159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9288294" y="4666488"/>
            <a:ext cx="131669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0F1F2E"/>
                </a:solidFill>
                <a:latin typeface="Arial"/>
              </a:rPr>
              <a:t>+11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rocess Steps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Onboarding Flow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01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457200" y="2194560"/>
            <a:ext cx="784098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414016"/>
            <a:ext cx="27156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Sign up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Create an account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34518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02</a:t>
            </a:r>
          </a:p>
        </p:txBody>
      </p:sp>
      <p:sp>
        <p:nvSpPr>
          <p:cNvPr id="11" name="Rectangle 10"/>
          <p:cNvSpPr/>
          <p:nvPr>
            <p:ph type="body" idx="6"/>
          </p:nvPr>
        </p:nvSpPr>
        <p:spPr>
          <a:xfrm>
            <a:off x="3345180" y="2194560"/>
            <a:ext cx="784098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345180" y="2414016"/>
            <a:ext cx="29464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Connect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334518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Link your data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03</a:t>
            </a:r>
          </a:p>
        </p:txBody>
      </p:sp>
      <p:sp>
        <p:nvSpPr>
          <p:cNvPr id="15" name="Rectangle 14"/>
          <p:cNvSpPr/>
          <p:nvPr>
            <p:ph type="body" idx="13"/>
          </p:nvPr>
        </p:nvSpPr>
        <p:spPr>
          <a:xfrm>
            <a:off x="6233160" y="2194560"/>
            <a:ext cx="784098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6233160" y="2414016"/>
            <a:ext cx="344499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Configure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23316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Pick your metrics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912114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04</a:t>
            </a:r>
          </a:p>
        </p:txBody>
      </p:sp>
      <p:sp>
        <p:nvSpPr>
          <p:cNvPr id="19" name="Rectangle 18"/>
          <p:cNvSpPr/>
          <p:nvPr>
            <p:ph type="body" idx="17"/>
          </p:nvPr>
        </p:nvSpPr>
        <p:spPr>
          <a:xfrm>
            <a:off x="9121140" y="2194560"/>
            <a:ext cx="784098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9121140" y="2414016"/>
            <a:ext cx="26394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Launch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912114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Go live in minutes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Roadmap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2026 Plan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499616"/>
            <a:ext cx="3576320" cy="621791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F1F2E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Ship API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279647"/>
            <a:ext cx="3831928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Beta launch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4307840" y="1499616"/>
            <a:ext cx="3576320" cy="621791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30784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F1F2E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307840" y="239572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Mobile app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307840" y="3279647"/>
            <a:ext cx="379313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Integrations</a:t>
            </a:r>
          </a:p>
        </p:txBody>
      </p:sp>
      <p:sp>
        <p:nvSpPr>
          <p:cNvPr id="14" name="Rectangle 13"/>
          <p:cNvSpPr/>
          <p:nvPr>
            <p:ph type="body" idx="9"/>
          </p:nvPr>
        </p:nvSpPr>
        <p:spPr>
          <a:xfrm>
            <a:off x="8158480" y="1499616"/>
            <a:ext cx="3576320" cy="621791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815848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F1F2E"/>
                </a:solidFill>
                <a:latin typeface="Arial"/>
              </a:rPr>
              <a:t>Q3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8158480" y="2395727"/>
            <a:ext cx="40335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Enterprise tier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8158480" y="327964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SSO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unnel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Sales Pipeline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499616"/>
            <a:ext cx="11277600" cy="859536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499616"/>
            <a:ext cx="1127760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F1F2E"/>
                </a:solidFill>
                <a:latin typeface="Arial"/>
              </a:rPr>
              <a:t>Visitors · 50,000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1490980" y="2633472"/>
            <a:ext cx="9210040" cy="859536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490980" y="2633472"/>
            <a:ext cx="921004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F1F2E"/>
                </a:solidFill>
                <a:latin typeface="Arial"/>
              </a:rPr>
              <a:t>Signups · 8,000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2524760" y="3767328"/>
            <a:ext cx="7142480" cy="859536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524760" y="3767328"/>
            <a:ext cx="714248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F1F2E"/>
                </a:solidFill>
                <a:latin typeface="Arial"/>
              </a:rPr>
              <a:t>Trials · 2,400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3558540" y="4901184"/>
            <a:ext cx="5074919" cy="859536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3558540" y="4901184"/>
            <a:ext cx="5558452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F1F2E"/>
                </a:solidFill>
                <a:latin typeface="Arial"/>
              </a:rPr>
              <a:t>Customers · 600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ested Circles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Job Search Funnel (2021)</a:t>
            </a:r>
          </a:p>
        </p:txBody>
      </p:sp>
      <p:sp>
        <p:nvSpPr>
          <p:cNvPr id="6" name="Oval 5"/>
          <p:cNvSpPr/>
          <p:nvPr>
            <p:ph type="body" idx="1"/>
          </p:nvPr>
        </p:nvSpPr>
        <p:spPr>
          <a:xfrm>
            <a:off x="3645408" y="1499616"/>
            <a:ext cx="4901184" cy="4901184"/>
          </a:xfrm>
          <a:prstGeom prst="ellipse">
            <a:avLst/>
          </a:prstGeom>
          <a:solidFill>
            <a:srgbClr val="9DB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>
            <p:ph type="body" idx="2"/>
          </p:nvPr>
        </p:nvSpPr>
        <p:spPr>
          <a:xfrm>
            <a:off x="4462272" y="3133344"/>
            <a:ext cx="3267456" cy="3267456"/>
          </a:xfrm>
          <a:prstGeom prst="ellipse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>
            <p:ph type="body" idx="3"/>
          </p:nvPr>
        </p:nvSpPr>
        <p:spPr>
          <a:xfrm>
            <a:off x="5279136" y="4767072"/>
            <a:ext cx="1633728" cy="1633728"/>
          </a:xfrm>
          <a:prstGeom prst="ellipse">
            <a:avLst/>
          </a:prstGeom>
          <a:solidFill>
            <a:srgbClr val="8FC1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7329" y="1645920"/>
            <a:ext cx="3037342" cy="762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5000" b="1" i="0">
                <a:solidFill>
                  <a:srgbClr val="0F1F2E"/>
                </a:solidFill>
                <a:latin typeface="Arial"/>
              </a:rPr>
              <a:t>&gt;700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594080" y="2316480"/>
            <a:ext cx="5003840" cy="6705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400" b="0" i="0">
                <a:solidFill>
                  <a:srgbClr val="0F1F2E"/>
                </a:solidFill>
                <a:latin typeface="Arial"/>
              </a:rPr>
              <a:t>Applications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840583" y="3401568"/>
            <a:ext cx="251083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F1F2E"/>
                </a:solidFill>
                <a:latin typeface="Arial"/>
              </a:rPr>
              <a:t>6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358104" y="3950208"/>
            <a:ext cx="3475792" cy="5486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600" b="0" i="0">
                <a:solidFill>
                  <a:srgbClr val="0F1F2E"/>
                </a:solidFill>
                <a:latin typeface="Arial"/>
              </a:rPr>
              <a:t>Interviews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5296524" y="5157216"/>
            <a:ext cx="159895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0F1F2E"/>
                </a:solidFill>
                <a:latin typeface="Arial"/>
              </a:rPr>
              <a:t>1.5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5235159" y="5583935"/>
            <a:ext cx="1721682" cy="4267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2800" b="0" i="0">
                <a:solidFill>
                  <a:srgbClr val="0F1F2E"/>
                </a:solidFill>
                <a:latin typeface="Arial"/>
              </a:rPr>
              <a:t>Offers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yramid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Hierarchy of Needs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3840480" y="1499616"/>
            <a:ext cx="4511040" cy="859536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3840480" y="1499616"/>
            <a:ext cx="451104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F1F2E"/>
                </a:solidFill>
                <a:latin typeface="Arial"/>
              </a:rPr>
              <a:t>Vision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2712720" y="2633472"/>
            <a:ext cx="6766560" cy="859536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2712720" y="2633472"/>
            <a:ext cx="676656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F1F2E"/>
                </a:solidFill>
                <a:latin typeface="Arial"/>
              </a:rPr>
              <a:t>Strategy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1584960" y="3767328"/>
            <a:ext cx="9022080" cy="859536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1584960" y="3767328"/>
            <a:ext cx="902208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F1F2E"/>
                </a:solidFill>
                <a:latin typeface="Arial"/>
              </a:rPr>
              <a:t>Goals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457200" y="4901184"/>
            <a:ext cx="11277600" cy="859536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4901184"/>
            <a:ext cx="1127760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F1F2E"/>
                </a:solidFill>
                <a:latin typeface="Arial"/>
              </a:rPr>
              <a:t>Tactics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WOT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SWOT Analysis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0A202"/>
                </a:solidFill>
                <a:latin typeface="Arial"/>
              </a:rPr>
              <a:t>Strengths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457200" y="2176271"/>
            <a:ext cx="1650492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 strong brand with loyal users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9DB0C0"/>
                </a:solidFill>
                <a:latin typeface="Arial"/>
              </a:rPr>
              <a:t>Weaknesses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6233160" y="2176271"/>
            <a:ext cx="1650492" cy="54864"/>
          </a:xfrm>
          <a:prstGeom prst="rect">
            <a:avLst/>
          </a:prstGeom>
          <a:solidFill>
            <a:srgbClr val="9DB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2395727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Thin margins and a small team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3767328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0A202"/>
                </a:solidFill>
                <a:latin typeface="Arial"/>
              </a:rPr>
              <a:t>Opportunities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457200" y="4443983"/>
            <a:ext cx="1650492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457200" y="4663439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New markets through partnerships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233160" y="3767328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9DB0C0"/>
                </a:solidFill>
                <a:latin typeface="Arial"/>
              </a:rPr>
              <a:t>Threats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6233160" y="4443983"/>
            <a:ext cx="1650492" cy="54864"/>
          </a:xfrm>
          <a:prstGeom prst="rect">
            <a:avLst/>
          </a:prstGeom>
          <a:solidFill>
            <a:srgbClr val="9DB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233160" y="4663439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New entrants driving price pressure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Matrix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Evaluation Matrix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3280182" y="1499616"/>
            <a:ext cx="365043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E7EDF3"/>
                </a:solidFill>
                <a:latin typeface="Arial"/>
              </a:rPr>
              <a:t>Platform A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5973987" y="1499616"/>
            <a:ext cx="367607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E7EDF3"/>
                </a:solidFill>
                <a:latin typeface="Arial"/>
              </a:rPr>
              <a:t>Platform B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8845296" y="1499616"/>
            <a:ext cx="334670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E7EDF3"/>
                </a:solidFill>
                <a:latin typeface="Arial"/>
              </a:rPr>
              <a:t>Platform C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457200" y="2072639"/>
            <a:ext cx="11277600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401823"/>
            <a:ext cx="3157728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Security</a:t>
            </a:r>
          </a:p>
        </p:txBody>
      </p:sp>
      <p:sp>
        <p:nvSpPr>
          <p:cNvPr id="11" name="Rectangle 10"/>
          <p:cNvSpPr/>
          <p:nvPr>
            <p:ph type="body" idx="6"/>
          </p:nvPr>
        </p:nvSpPr>
        <p:spPr>
          <a:xfrm>
            <a:off x="4245247" y="2401823"/>
            <a:ext cx="1720305" cy="518159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901063" y="2401823"/>
            <a:ext cx="240867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0F1F2E"/>
                </a:solidFill>
                <a:latin typeface="Arial"/>
              </a:rPr>
              <a:t>Strong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491979" y="2401823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Medium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9302496" y="2401823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Strong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3612895"/>
            <a:ext cx="327902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Workflow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3785355" y="3612895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Medium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595872" y="3612895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Strong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9198603" y="3612895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Medium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457200" y="4823967"/>
            <a:ext cx="3157728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Support</a:t>
            </a:r>
          </a:p>
        </p:txBody>
      </p:sp>
      <p:sp>
        <p:nvSpPr>
          <p:cNvPr id="20" name="Rectangle 19"/>
          <p:cNvSpPr/>
          <p:nvPr>
            <p:ph type="body" idx="18"/>
          </p:nvPr>
        </p:nvSpPr>
        <p:spPr>
          <a:xfrm>
            <a:off x="4245247" y="4823967"/>
            <a:ext cx="1720305" cy="518159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3901063" y="4823967"/>
            <a:ext cx="240867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0F1F2E"/>
                </a:solidFill>
                <a:latin typeface="Arial"/>
              </a:rPr>
              <a:t>Strong</a:t>
            </a:r>
          </a:p>
        </p:txBody>
      </p:sp>
      <p:sp>
        <p:nvSpPr>
          <p:cNvPr id="22" name="TextBox 21"/>
          <p:cNvSpPr/>
          <p:nvPr>
            <p:ph type="body" idx="20"/>
          </p:nvPr>
        </p:nvSpPr>
        <p:spPr>
          <a:xfrm>
            <a:off x="6595872" y="4823967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Strong</a:t>
            </a:r>
          </a:p>
        </p:txBody>
      </p:sp>
      <p:sp>
        <p:nvSpPr>
          <p:cNvPr id="23" name="TextBox 22"/>
          <p:cNvSpPr/>
          <p:nvPr>
            <p:ph type="body" idx="21"/>
          </p:nvPr>
        </p:nvSpPr>
        <p:spPr>
          <a:xfrm>
            <a:off x="9198603" y="4823967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Medium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Relationship Id="rId37" Type="http://schemas.openxmlformats.org/officeDocument/2006/relationships/slideLayout" Target="../slideLayouts/slideLayout36.xml"/><Relationship Id="rId38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38.xml"/><Relationship Id="rId40" Type="http://schemas.openxmlformats.org/officeDocument/2006/relationships/slideLayout" Target="../slideLayouts/slideLayout39.xml"/><Relationship Id="rId41" Type="http://schemas.openxmlformats.org/officeDocument/2006/relationships/slideLayout" Target="../slideLayouts/slideLayout40.xml"/><Relationship Id="rId42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  <p:sldLayoutId id="2147483723" r:id="rId24"/>
    <p:sldLayoutId id="2147483724" r:id="rId25"/>
    <p:sldLayoutId id="2147483725" r:id="rId26"/>
    <p:sldLayoutId id="2147483726" r:id="rId27"/>
    <p:sldLayoutId id="214748372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  <p:sldLayoutId id="2147483736" r:id="rId37"/>
    <p:sldLayoutId id="2147483737" r:id="rId38"/>
    <p:sldLayoutId id="2147483738" r:id="rId39"/>
    <p:sldLayoutId id="2147483739" r:id="rId40"/>
    <p:sldLayoutId id="2147483740" r:id="rId41"/>
    <p:sldLayoutId id="2147483741" r:id="rId4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71800"/>
            <a:ext cx="1127760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8FC1F0"/>
                </a:solidFill>
                <a:latin typeface="Arial"/>
              </a:rPr>
              <a:t>Build Your First Library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The path to PyPI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94560"/>
            <a:ext cx="784098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14016"/>
            <a:ext cx="309921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Function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pandas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4518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3345180" y="2194560"/>
            <a:ext cx="784098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45180" y="2414016"/>
            <a:ext cx="298688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Package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45180" y="3041903"/>
            <a:ext cx="3255744" cy="2718817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one folder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160" y="2194560"/>
            <a:ext cx="784098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160" y="24140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16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make a wheel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114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21140" y="2194560"/>
            <a:ext cx="784098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21140" y="2414016"/>
            <a:ext cx="267787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Publish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1140" y="3041903"/>
            <a:ext cx="3063121" cy="2718817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pip install</a:t>
            </a:r>
          </a:p>
        </p:txBody>
      </p:sp>
      <p:sp>
        <p:nvSpPr>
          <p:cNvPr id="19" name="TextBox 18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Today's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Package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1983" y="2185416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Create a real, importable Python package.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Publish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1983" y="3697224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Upload it to TestPyPI, then PyPI.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Install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1983" y="5209032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pip install your own package.</a:t>
            </a:r>
          </a:p>
        </p:txBody>
      </p:sp>
      <p:sp>
        <p:nvSpPr>
          <p:cNvPr id="12" name="TextBox 11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0"/>
            <a:ext cx="128016" cy="100584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926080"/>
            <a:ext cx="111953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E7EDF3"/>
                </a:solidFill>
                <a:latin typeface="Arial"/>
              </a:rPr>
              <a:t>Build tiny. Publish safely.</a:t>
            </a:r>
          </a:p>
        </p:txBody>
      </p:sp>
      <p:sp>
        <p:nvSpPr>
          <p:cNvPr id="4" name="TextBox 3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What we're building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37944"/>
            <a:ext cx="21023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import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56879" y="1837944"/>
            <a:ext cx="283339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pandas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13447" y="1837944"/>
            <a:ext cx="91255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69494" y="1837944"/>
            <a:ext cx="11432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pd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56103"/>
            <a:ext cx="21023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import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56879" y="2356103"/>
            <a:ext cx="4100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simple_eda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05151" y="2356103"/>
            <a:ext cx="91255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1198" y="2356103"/>
            <a:ext cx="152753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eda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392421"/>
            <a:ext cx="250684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df = pd.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9676" y="3392421"/>
            <a:ext cx="298620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read_csv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61755" y="3392421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05548" y="3392421"/>
            <a:ext cx="324629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"data.csv"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20184" y="3392421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910580"/>
            <a:ext cx="152753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eda.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7608" y="3910580"/>
            <a:ext cx="356104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summarize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08958" y="3910580"/>
            <a:ext cx="1219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428739"/>
            <a:ext cx="152753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eda.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7608" y="4428739"/>
            <a:ext cx="25247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missing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61258" y="4428739"/>
            <a:ext cx="1219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</a:t>
            </a:r>
          </a:p>
        </p:txBody>
      </p:sp>
      <p:sp>
        <p:nvSpPr>
          <p:cNvPr id="25" name="TextBox 2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What we build now — and skip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Build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9DB0C0"/>
                </a:solidFill>
                <a:latin typeface="Arial"/>
              </a:rPr>
              <a:t>Skip for 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9D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809595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One dependency: pandas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701915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Plain Python functions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 clear README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CI/CD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Testing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Many dependencies</a:t>
            </a:r>
          </a:p>
        </p:txBody>
      </p:sp>
      <p:sp>
        <p:nvSpPr>
          <p:cNvPr id="13" name="TextBox 12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What is a Python library?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8412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Library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Reusable code you install once and import anywhere.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Script vs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Library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7"/>
            <a:ext cx="5752088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python analyze.py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33160" y="2395727"/>
            <a:ext cx="5827652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import simple_eda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17391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Less convenient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3160" y="3517391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More convenient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39055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Limited scope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4639055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Broad scope</a:t>
            </a:r>
          </a:p>
        </p:txBody>
      </p:sp>
      <p:sp>
        <p:nvSpPr>
          <p:cNvPr id="11" name="TextBox 10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9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A tiny library is still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No web app required.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No dashboard required.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Just useful, installable, importable.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10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The five bare minimums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 unique package name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435352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 project folder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An __init__.py 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06824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Your functions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242560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Metadata — pyproject.toml</a:t>
            </a:r>
          </a:p>
        </p:txBody>
      </p:sp>
      <p:sp>
        <p:nvSpPr>
          <p:cNvPr id="8" name="TextBox 7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11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Design the smallest API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12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8412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The functions and classes users call.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13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8412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The smallest version that is genuinely useful.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14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the simplest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37944"/>
            <a:ext cx="21023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import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56879" y="1837944"/>
            <a:ext cx="4100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simple_eda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05151" y="1837944"/>
            <a:ext cx="91255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61198" y="1837944"/>
            <a:ext cx="152753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eda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56103"/>
            <a:ext cx="152753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eda.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7608" y="2356103"/>
            <a:ext cx="356104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summarize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8958" y="2356103"/>
            <a:ext cx="1219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</a:t>
            </a:r>
          </a:p>
        </p:txBody>
      </p:sp>
      <p:sp>
        <p:nvSpPr>
          <p:cNvPr id="13" name="TextBox 12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15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373862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Pick boring function names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Prefer (boring)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9DB0C0"/>
                </a:solidFill>
                <a:latin typeface="Arial"/>
              </a:rPr>
              <a:t>Avoid (clever)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9D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summarize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missing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559691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numeric_columns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hyper_profile_engine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magic_diagnose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mega_summary</a:t>
            </a:r>
          </a:p>
        </p:txBody>
      </p:sp>
      <p:sp>
        <p:nvSpPr>
          <p:cNvPr id="13" name="TextBox 12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16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MVP Input: Pandas dataframe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Support pandas DataFrames first.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Not Polars, Spark, Dask, or Arrow yet.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Fewer choices means fewer bugs.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17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MVP Output: Plain objects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Dictionaries &amp; lists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9215"/>
            <a:ext cx="112776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Simple built-in containers.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Ints &amp; strings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21023"/>
            <a:ext cx="112776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Plain scalar values.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pandas Series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32831"/>
            <a:ext cx="112776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No custom classes to learn.</a:t>
            </a:r>
          </a:p>
        </p:txBody>
      </p:sp>
      <p:sp>
        <p:nvSpPr>
          <p:cNvPr id="9" name="TextBox 8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18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The 0.1.0 mindset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First working version, not perfect.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Installable and understandable.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Momentum, not completeness.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19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Create the package folder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20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Final folder shape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99616"/>
            <a:ext cx="11277600" cy="4261104"/>
          </a:xfrm>
          <a:prstGeom prst="roundRect">
            <a:avLst>
              <a:gd name="adj" fmla="val 3004"/>
            </a:avLst>
          </a:prstGeom>
          <a:solidFill>
            <a:srgbClr val="0C1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6206708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simple-eda-project/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1589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417" y="2215896"/>
            <a:ext cx="1451054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src/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12136"/>
            <a:ext cx="208514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└─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873" y="2612136"/>
            <a:ext cx="367036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simple_eda/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00837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├─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330" y="3008376"/>
            <a:ext cx="367036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__init__.py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0461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└─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330" y="3404616"/>
            <a:ext cx="2402185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core.py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0085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417" y="380085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README.md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19709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417" y="4197096"/>
            <a:ext cx="4621489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pyproject.toml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59333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└─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417" y="4593336"/>
            <a:ext cx="2402185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LICENSE</a:t>
            </a:r>
          </a:p>
        </p:txBody>
      </p:sp>
      <p:sp>
        <p:nvSpPr>
          <p:cNvPr id="19" name="TextBox 18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21</a:t>
            </a:fld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660564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Install name vs import 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Install name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9DB0C0"/>
                </a:solidFill>
                <a:latin typeface="Arial"/>
              </a:rPr>
              <a:t>Import name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9D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simple-eda-you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hyphens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6020276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used by pip &amp; PyPI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simple_eda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underscores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used in Python code</a:t>
            </a:r>
          </a:p>
        </p:txBody>
      </p:sp>
      <p:sp>
        <p:nvSpPr>
          <p:cNvPr id="13" name="TextBox 12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22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Why the names differ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import needs a valid Python name.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Python names cannot contain hyphens.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So the import name uses underscores.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PyPI treats - and _ as the same name.</a:t>
            </a:r>
          </a:p>
        </p:txBody>
      </p:sp>
      <p:sp>
        <p:nvSpPr>
          <p:cNvPr id="7" name="TextBox 6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23</a:t>
            </a:fld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8412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__init__.py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Marks a folder as an importable package.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24</a:t>
            </a:fld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Why the src/ layout?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Blocks accidental root imports.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Matches modern Python projects.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Makes packaging behavior clear.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25</a:t>
            </a:fld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Common folder mistakes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pyproject.toml in the wrong folder.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Forgetting __init__.py.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Folder named simple-eda, not simple_eda.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Installing from the wrong directory.</a:t>
            </a:r>
          </a:p>
        </p:txBody>
      </p:sp>
      <p:sp>
        <p:nvSpPr>
          <p:cNvPr id="7" name="TextBox 6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26</a:t>
            </a:fld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What each mistake causes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418175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Mistake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87590" y="1499616"/>
            <a:ext cx="490400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What happens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72639"/>
            <a:ext cx="9368187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401823"/>
            <a:ext cx="4599721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No __init__.py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87590" y="2401823"/>
            <a:ext cx="6211888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import cannot find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10127"/>
            <a:ext cx="5214024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Hyphen in folder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87590" y="3310127"/>
            <a:ext cx="6519545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invalid module name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18431"/>
            <a:ext cx="6288464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pyproject misplaced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7590" y="4218431"/>
            <a:ext cx="5752425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build finds nothing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6735"/>
            <a:ext cx="5046364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Wrong directory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87590" y="5126735"/>
            <a:ext cx="700441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ModuleNotFoundError</a:t>
            </a:r>
          </a:p>
        </p:txBody>
      </p:sp>
      <p:sp>
        <p:nvSpPr>
          <p:cNvPr id="14" name="TextBox 13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27</a:t>
            </a:fld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Write the EDA functions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28</a:t>
            </a:fld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432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def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461" y="923544"/>
            <a:ext cx="3028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429" y="923544"/>
            <a:ext cx="356104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summarize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88779" y="923544"/>
            <a:ext cx="14111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41703"/>
            <a:ext cx="6627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071" y="1441703"/>
            <a:ext cx="198766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586C0"/>
                </a:solidFill>
                <a:latin typeface="Arial"/>
              </a:rPr>
              <a:t>return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65065" y="1441703"/>
            <a:ext cx="60557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{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9862"/>
            <a:ext cx="114262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   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6943" y="1959862"/>
            <a:ext cx="213205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"rows"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35176" y="1959862"/>
            <a:ext cx="5667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: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75111" y="1959862"/>
            <a:ext cx="110484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len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1337" y="1959862"/>
            <a:ext cx="14111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(df),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478021"/>
            <a:ext cx="114262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   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6943" y="2478021"/>
            <a:ext cx="324596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"columns"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31369" y="2478021"/>
            <a:ext cx="5667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: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71304" y="2478021"/>
            <a:ext cx="110484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len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47530" y="2478021"/>
            <a:ext cx="41756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(df.columns),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996180"/>
            <a:ext cx="114262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   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6943" y="2996180"/>
            <a:ext cx="274703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"names"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9537" y="2996180"/>
            <a:ext cx="5667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: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59472" y="2996180"/>
            <a:ext cx="10272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list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87204" y="2996180"/>
            <a:ext cx="41756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(df.columns),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3514339"/>
            <a:ext cx="11814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}</a:t>
            </a:r>
          </a:p>
        </p:txBody>
      </p:sp>
      <p:sp>
        <p:nvSpPr>
          <p:cNvPr id="28" name="TextBox 27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29</a:t>
            </a:fld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The core functions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50987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summarize — shape, columns,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missing — nulls per column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numeric_columns / categorical_columns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30</a:t>
            </a:fld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missing()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37944"/>
            <a:ext cx="11432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def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7461" y="1837944"/>
            <a:ext cx="3028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7429" y="1837944"/>
            <a:ext cx="25247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missing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41079" y="1837944"/>
            <a:ext cx="14111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56103"/>
            <a:ext cx="454169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counts = df.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1462" y="2356103"/>
            <a:ext cx="14502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isna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3587" y="2356103"/>
            <a:ext cx="83496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1140" y="2356103"/>
            <a:ext cx="148806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sum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96880" y="2356103"/>
            <a:ext cx="6430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874262"/>
            <a:ext cx="6627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071" y="2874262"/>
            <a:ext cx="198766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586C0"/>
                </a:solidFill>
                <a:latin typeface="Arial"/>
              </a:rPr>
              <a:t>return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65065" y="2874262"/>
            <a:ext cx="260230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counts.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77208" y="2874262"/>
            <a:ext cx="371588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sort_values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85334" y="2874262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92421"/>
            <a:ext cx="527171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    ascending=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7719" y="3392421"/>
            <a:ext cx="18722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False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3605" y="3392421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428739"/>
            <a:ext cx="496270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missing(df) -&gt;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946898"/>
            <a:ext cx="325574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age    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465057"/>
            <a:ext cx="363930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name    1</a:t>
            </a:r>
          </a:p>
        </p:txBody>
      </p:sp>
      <p:sp>
        <p:nvSpPr>
          <p:cNvPr id="26" name="TextBox 25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31</a:t>
            </a:fld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numeric &amp; categorical columns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432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def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7461" y="1371600"/>
            <a:ext cx="3028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7429" y="1371600"/>
            <a:ext cx="559691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numeric_columns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61198" y="1371600"/>
            <a:ext cx="14111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89759"/>
            <a:ext cx="338933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sel = df.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1233" y="1889759"/>
            <a:ext cx="440743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select_dtypes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01580" y="1889759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07918"/>
            <a:ext cx="431129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    include=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37458" y="2407918"/>
            <a:ext cx="301589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"number"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8091" y="2407918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926077"/>
            <a:ext cx="6627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071" y="2926077"/>
            <a:ext cx="198766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586C0"/>
                </a:solidFill>
                <a:latin typeface="Arial"/>
              </a:rPr>
              <a:t>return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65065" y="2926077"/>
            <a:ext cx="3028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85033" y="2926077"/>
            <a:ext cx="10272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list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2765" y="2926077"/>
            <a:ext cx="42907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(sel.columns)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962395"/>
            <a:ext cx="11432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def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7461" y="3962395"/>
            <a:ext cx="3028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7429" y="3962395"/>
            <a:ext cx="648075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categorical_columns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13598" y="3962395"/>
            <a:ext cx="14111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480554"/>
            <a:ext cx="338933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sel = df.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1233" y="4480554"/>
            <a:ext cx="440743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select_dtypes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01580" y="4480554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998713"/>
            <a:ext cx="450324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    include=[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57426" y="4998713"/>
            <a:ext cx="251696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"object"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6227" y="4998713"/>
            <a:ext cx="5667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,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56162" y="4998713"/>
            <a:ext cx="332321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"category"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18871" y="4998713"/>
            <a:ext cx="6048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])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516872"/>
            <a:ext cx="6627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071" y="5516872"/>
            <a:ext cx="198766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586C0"/>
                </a:solidFill>
                <a:latin typeface="Arial"/>
              </a:rPr>
              <a:t>return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65065" y="5516872"/>
            <a:ext cx="3028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85033" y="5516872"/>
            <a:ext cx="10272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list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12765" y="5516872"/>
            <a:ext cx="42907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(sel.columns)</a:t>
            </a:r>
          </a:p>
        </p:txBody>
      </p:sp>
      <p:sp>
        <p:nvSpPr>
          <p:cNvPr id="35" name="TextBox 3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32</a:t>
            </a:fld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Try it on a tiny DataFrame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37944"/>
            <a:ext cx="21023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import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56879" y="1837944"/>
            <a:ext cx="4100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simple_eda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05151" y="1837944"/>
            <a:ext cx="91255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61198" y="1837944"/>
            <a:ext cx="152753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eda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74262"/>
            <a:ext cx="250684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df = pd.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9676" y="2874262"/>
            <a:ext cx="363829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DataFrame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9308" y="2874262"/>
            <a:ext cx="64369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({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392421"/>
            <a:ext cx="6627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071" y="3392421"/>
            <a:ext cx="240159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"name"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23765" y="3392421"/>
            <a:ext cx="75872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: [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83669" y="3392421"/>
            <a:ext cx="190265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"Ana"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58530" y="3392421"/>
            <a:ext cx="5667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,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98466" y="3392421"/>
            <a:ext cx="151842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"Bo"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33181" y="3392421"/>
            <a:ext cx="5667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,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3117" y="3392421"/>
            <a:ext cx="18345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None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05389" y="3392421"/>
            <a:ext cx="5667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],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910580"/>
            <a:ext cx="6627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071" y="3910580"/>
            <a:ext cx="182608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"age"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4072" y="3910580"/>
            <a:ext cx="75872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: [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23976" y="3910580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04269" y="3910580"/>
            <a:ext cx="5667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,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44205" y="3910580"/>
            <a:ext cx="18345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None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6477" y="3910580"/>
            <a:ext cx="5667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,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16412" y="3910580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6706" y="3910580"/>
            <a:ext cx="5667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],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428739"/>
            <a:ext cx="64369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})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946898"/>
            <a:ext cx="15268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print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7186" y="4946898"/>
            <a:ext cx="175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(eda.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81386" y="4946898"/>
            <a:ext cx="356104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summarize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92737" y="4946898"/>
            <a:ext cx="144926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5465057"/>
            <a:ext cx="15268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print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97186" y="5465057"/>
            <a:ext cx="175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(eda.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81386" y="5465057"/>
            <a:ext cx="25247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missing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5037" y="5465057"/>
            <a:ext cx="144926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(df))</a:t>
            </a:r>
          </a:p>
        </p:txBody>
      </p:sp>
      <p:sp>
        <p:nvSpPr>
          <p:cNvPr id="40" name="TextBox 39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33</a:t>
            </a:fld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Function do's and don'ts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9DB0C0"/>
                </a:solidFill>
                <a:latin typeface="Arial"/>
              </a:rPr>
              <a:t>Don't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9D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Return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05555"/>
            <a:ext cx="720975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Use plain dicts / Series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15383"/>
            <a:ext cx="6980019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Keep signatures small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125211"/>
            <a:ext cx="6404848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One job per function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2395727"/>
            <a:ext cx="594437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Change df in place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3305555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Print instead of return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3160" y="4215383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Add many optional args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160" y="5125211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One function for everything</a:t>
            </a:r>
          </a:p>
        </p:txBody>
      </p:sp>
      <p:sp>
        <p:nvSpPr>
          <p:cNvPr id="15" name="TextBox 1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34</a:t>
            </a:fld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One job vs everything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One job each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670788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9DB0C0"/>
                </a:solidFill>
                <a:latin typeface="Arial"/>
              </a:rPr>
              <a:t>One big function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9D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866785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Small and focused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Easy to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Easy to reuse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Hard to follow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Hard to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82765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Breaks more often</a:t>
            </a:r>
          </a:p>
        </p:txBody>
      </p:sp>
      <p:sp>
        <p:nvSpPr>
          <p:cNvPr id="13" name="TextBox 12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35</a:t>
            </a:fld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8412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Signature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 function name plus the parameters it takes.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36</a:t>
            </a:fld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Add pyproject.toml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37</a:t>
            </a:fld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What pyproject.toml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Names your package and version.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Lists dependencies.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Tells build tools how to build.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38</a:t>
            </a:fld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8412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Build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Tools that turn source into installable packages.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39</a:t>
            </a:fld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Minimal pyproject.toml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44454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[build-system]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89759"/>
            <a:ext cx="365819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requires = [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29272" y="1889759"/>
            <a:ext cx="539821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"setuptools&gt;=61"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88856" y="1889759"/>
            <a:ext cx="37482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07918"/>
            <a:ext cx="52720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build-backend =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37930" y="2407918"/>
            <a:ext cx="739461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"setuptools.build_meta"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444236"/>
            <a:ext cx="264042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[project]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62395"/>
            <a:ext cx="269845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name =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9433" y="3962395"/>
            <a:ext cx="735480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"simple-eda-yourname"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480554"/>
            <a:ext cx="319738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version =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41265" y="4480554"/>
            <a:ext cx="220997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"0.1.0"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98713"/>
            <a:ext cx="431129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description =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37458" y="4998713"/>
            <a:ext cx="563975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"Tiny EDA helper"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516872"/>
            <a:ext cx="546467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dependencies = [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58319" y="5516872"/>
            <a:ext cx="470733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"pandas&gt;=1.5"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6103" y="5516872"/>
            <a:ext cx="37482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]</a:t>
            </a:r>
          </a:p>
        </p:txBody>
      </p:sp>
      <p:sp>
        <p:nvSpPr>
          <p:cNvPr id="19" name="TextBox 18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40</a:t>
            </a:fld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8412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TOML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The simple key = value format pyproject uses.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41</a:t>
            </a:fld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Version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67888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31604" y="1499616"/>
            <a:ext cx="432491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Means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72639"/>
            <a:ext cx="6799315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401823"/>
            <a:ext cx="1925764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0.1.0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31604" y="2401823"/>
            <a:ext cx="6517521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First working version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10127"/>
            <a:ext cx="1925764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0.1.1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31604" y="3310127"/>
            <a:ext cx="4324911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 small fix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18431"/>
            <a:ext cx="1925764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0.2.0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1604" y="4218431"/>
            <a:ext cx="4407772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 new feature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6735"/>
            <a:ext cx="1925764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1.0.0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31604" y="5126735"/>
            <a:ext cx="5483561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Stable and public</a:t>
            </a:r>
          </a:p>
        </p:txBody>
      </p:sp>
      <p:sp>
        <p:nvSpPr>
          <p:cNvPr id="14" name="TextBox 13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42</a:t>
            </a:fld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84120"/>
            <a:ext cx="111953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MAJOR.MINOR.PATCH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Each of the three numbers is a non-negative integer.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43</a:t>
            </a:fld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README: install &amp; 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44049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simple-eda-yourname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89759"/>
            <a:ext cx="534120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Tiny EDA helper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81152" y="1889759"/>
            <a:ext cx="98913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586C0"/>
                </a:solidFill>
                <a:latin typeface="Arial"/>
              </a:rPr>
              <a:t>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85059" y="1889759"/>
            <a:ext cx="283339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pandas.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26077"/>
            <a:ext cx="294808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## Install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44236"/>
            <a:ext cx="993649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pip install simple-eda-yourname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480554"/>
            <a:ext cx="237190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##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998713"/>
            <a:ext cx="21023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import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56879" y="4998713"/>
            <a:ext cx="4100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simple_eda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05151" y="4998713"/>
            <a:ext cx="91255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1198" y="4998713"/>
            <a:ext cx="152753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eda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516872"/>
            <a:ext cx="15268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print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7186" y="5516872"/>
            <a:ext cx="175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(eda.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1386" y="5516872"/>
            <a:ext cx="356104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summarize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92737" y="5516872"/>
            <a:ext cx="144926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(df))</a:t>
            </a:r>
          </a:p>
        </p:txBody>
      </p:sp>
      <p:sp>
        <p:nvSpPr>
          <p:cNvPr id="18" name="TextBox 17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44</a:t>
            </a:fld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License basics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Says what others may do with your code.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MIT is common for small projects.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Use an official template.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Never invent your own license text.</a:t>
            </a:r>
          </a:p>
        </p:txBody>
      </p:sp>
      <p:sp>
        <p:nvSpPr>
          <p:cNvPr id="7" name="TextBox 6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45</a:t>
            </a:fld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Install locally with pip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46</a:t>
            </a:fld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Install in editable mode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run from the folder with pyproject.toml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89759"/>
            <a:ext cx="751707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python -m pip install -e 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47</a:t>
            </a:fld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What -e (editable) means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Links pip to your source folder.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Code edits apply instantly.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No reinstall while developing.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48</a:t>
            </a:fld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Smoke-test the import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5852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&gt;&gt;&gt;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3661" y="1371600"/>
            <a:ext cx="21023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import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33340" y="1371600"/>
            <a:ext cx="4100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simple_eda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81612" y="1371600"/>
            <a:ext cx="91255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37659" y="1371600"/>
            <a:ext cx="152753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eda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89759"/>
            <a:ext cx="515802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&gt;&gt;&gt; eda.__all__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07918"/>
            <a:ext cx="37482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[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7168" y="2407918"/>
            <a:ext cx="382484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'summarize'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3395" y="2407918"/>
            <a:ext cx="5667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,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3331" y="2407918"/>
            <a:ext cx="278852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'missing'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21858" y="2407918"/>
            <a:ext cx="133457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, ...]</a:t>
            </a:r>
          </a:p>
        </p:txBody>
      </p:sp>
      <p:sp>
        <p:nvSpPr>
          <p:cNvPr id="14" name="TextBox 13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49</a:t>
            </a:fld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When the import fails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Symptom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9DB0C0"/>
                </a:solidFill>
                <a:latin typeface="Arial"/>
              </a:rPr>
              <a:t>Fix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9D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7018139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ModuleNotFoundError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Wrong folder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6199068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Wrong environment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712619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Run pip install -e 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cd to the project root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789195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Use python -m pip</a:t>
            </a:r>
          </a:p>
        </p:txBody>
      </p:sp>
      <p:sp>
        <p:nvSpPr>
          <p:cNvPr id="13" name="TextBox 12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50</a:t>
            </a:fld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Build a real package file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51</a:t>
            </a:fld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Build the artifacts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97855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python -m pip install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89759"/>
            <a:ext cx="49063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python -m build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52</a:t>
            </a:fld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The dist/ folder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44994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dist/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89759"/>
            <a:ext cx="906311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├── simple_eda_yourname-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7348" y="1889759"/>
            <a:ext cx="11432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0.1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7609" y="1889759"/>
            <a:ext cx="37482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7577" y="1889759"/>
            <a:ext cx="567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67724" y="1889759"/>
            <a:ext cx="206458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.tar.gz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07918"/>
            <a:ext cx="906311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└── simple_eda_yourname-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07348" y="2407918"/>
            <a:ext cx="11432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0.1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7609" y="2407918"/>
            <a:ext cx="37482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7577" y="2407918"/>
            <a:ext cx="567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7724" y="2407918"/>
            <a:ext cx="20254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-...whl</a:t>
            </a:r>
          </a:p>
        </p:txBody>
      </p:sp>
      <p:sp>
        <p:nvSpPr>
          <p:cNvPr id="14" name="TextBox 13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53</a:t>
            </a:fld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Wheel vs source 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Source (.tar.gz)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9DB0C0"/>
                </a:solidFill>
                <a:latin typeface="Arial"/>
              </a:rPr>
              <a:t>Wheel (.whl)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9D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 source archive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15383"/>
            <a:ext cx="582799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Used as a fallback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Prebuilt, fast install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4215383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What most users get</a:t>
            </a:r>
          </a:p>
        </p:txBody>
      </p:sp>
      <p:sp>
        <p:nvSpPr>
          <p:cNvPr id="11" name="TextBox 10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54</a:t>
            </a:fld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322188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Keep build output out of git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51290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dist/, build/, *.egg-info are generated.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Add them to .gitignore.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Bump the version before rebuilding.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55</a:t>
            </a:fld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Publish safely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56</a:t>
            </a:fld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Why TestPyPI first?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 practice package index.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Rehearse upload and install commands.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Mistakes are cheap here.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57</a:t>
            </a:fld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The upload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1983" y="2185416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python -m twine check dist/*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TestPyPI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1983" y="3697224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twine upload --repository testpypi dist/*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PyPI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1983" y="5209032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twine upload dist/* — only after TestPyPI works.</a:t>
            </a:r>
          </a:p>
        </p:txBody>
      </p:sp>
      <p:sp>
        <p:nvSpPr>
          <p:cNvPr id="12" name="TextBox 11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58</a:t>
            </a:fld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Install from TestPyPI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00464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install from TestPyPI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89759"/>
            <a:ext cx="34470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pip install \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7918"/>
            <a:ext cx="974353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-i https://test.pypi.org/simple/ \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77"/>
            <a:ext cx="582630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--extra-index-url \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444236"/>
            <a:ext cx="824640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https://pypi.org/simple/ \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62395"/>
            <a:ext cx="724820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simple-eda-yourname</a:t>
            </a:r>
          </a:p>
        </p:txBody>
      </p:sp>
      <p:sp>
        <p:nvSpPr>
          <p:cNvPr id="9" name="TextBox 8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59</a:t>
            </a:fld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Publishing safety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Use API tokens, not passwords.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Never commit tokens or secrets.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Fewer deps, less attack surface.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Beware typosquatting.</a:t>
            </a:r>
          </a:p>
        </p:txBody>
      </p:sp>
      <p:sp>
        <p:nvSpPr>
          <p:cNvPr id="7" name="TextBox 6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60</a:t>
            </a:fld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Use, improve &amp; share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61</a:t>
            </a:fld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What to add — and avoid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Avoid early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9556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9DB0C0"/>
                </a:solidFill>
                <a:latin typeface="Arial"/>
              </a:rPr>
              <a:t>Good 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9D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68529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Full HTML reports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05555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Plugin systems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15383"/>
            <a:ext cx="805547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Every dataframe backend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125211"/>
            <a:ext cx="6865321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AI-generated analysis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2395727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quick_report()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3305555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top_categories()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3160" y="4215383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column_summary()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160" y="5125211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duplicate_rows()</a:t>
            </a:r>
          </a:p>
        </p:txBody>
      </p:sp>
      <p:sp>
        <p:nvSpPr>
          <p:cNvPr id="15" name="TextBox 1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62</a:t>
            </a:fld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Add a tiny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37944"/>
            <a:ext cx="11432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def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7461" y="1837944"/>
            <a:ext cx="3028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7429" y="1837944"/>
            <a:ext cx="709471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test_numeric_columns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97326" y="1837944"/>
            <a:ext cx="83496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56103"/>
            <a:ext cx="327463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df = pd.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89547" y="2356103"/>
            <a:ext cx="363829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DataFrame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9180" y="2356103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874262"/>
            <a:ext cx="194921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    {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61157" y="2874262"/>
            <a:ext cx="240159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"name"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47851" y="2874262"/>
            <a:ext cx="75872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: [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07755" y="2874262"/>
            <a:ext cx="113418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"A"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02323" y="2874262"/>
            <a:ext cx="75872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],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62227" y="2874262"/>
            <a:ext cx="182608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"age"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9228" y="2874262"/>
            <a:ext cx="75872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: [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49131" y="2874262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9424" y="2874262"/>
            <a:ext cx="83564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]})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392421"/>
            <a:ext cx="431129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cols = eda.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37458" y="3392421"/>
            <a:ext cx="559691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numeric_columns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1227" y="3392421"/>
            <a:ext cx="1219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910580"/>
            <a:ext cx="6627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7071" y="3910580"/>
            <a:ext cx="206424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586C0"/>
                </a:solidFill>
                <a:latin typeface="Arial"/>
              </a:rPr>
              <a:t>assert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12925" y="3910580"/>
            <a:ext cx="298620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cols == [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65004" y="3910580"/>
            <a:ext cx="182608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"age"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05" y="3910580"/>
            <a:ext cx="37482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]</a:t>
            </a:r>
          </a:p>
        </p:txBody>
      </p:sp>
      <p:sp>
        <p:nvSpPr>
          <p:cNvPr id="30" name="TextBox 29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63</a:t>
            </a:fld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Final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Package files all exist.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435352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pip install -e . works.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python -m build works.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06824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twine check dist/* passes.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242560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README has install + usage.</a:t>
            </a:r>
          </a:p>
        </p:txBody>
      </p:sp>
      <p:sp>
        <p:nvSpPr>
          <p:cNvPr id="8" name="TextBox 7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64</a:t>
            </a:fld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583436"/>
            <a:ext cx="11277600" cy="16916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10500" b="1" i="0">
                <a:solidFill>
                  <a:srgbClr val="F0A202"/>
                </a:solidFill>
                <a:latin typeface="Arial"/>
              </a:rPr>
              <a:t>0.1.0</a:t>
            </a:r>
          </a:p>
        </p:txBody>
      </p:sp>
      <p:sp>
        <p:nvSpPr>
          <p:cNvPr id="3" name="Rectangle 2"/>
          <p:cNvSpPr/>
          <p:nvPr/>
        </p:nvSpPr>
        <p:spPr>
          <a:xfrm>
            <a:off x="5547360" y="3329940"/>
            <a:ext cx="1097280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9124"/>
            <a:ext cx="11277600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0" i="0">
                <a:solidFill>
                  <a:srgbClr val="E7EDF3"/>
                </a:solidFill>
                <a:latin typeface="Arial"/>
              </a:rPr>
              <a:t>Ship your first 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079" y="4664964"/>
            <a:ext cx="1170384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9DB0C0"/>
                </a:solidFill>
                <a:latin typeface="Arial"/>
              </a:rPr>
              <a:t>Four functions, importable, published.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65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