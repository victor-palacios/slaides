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2.1, Choosing the Stack. Day 2 opens, and this is the first session where we name real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Thirty-five minutes, and you leave with a named tool beside every box on your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give every step a named tool, decide what to stub rather than build, work out whether you need RAG or just more context, and stand up the smallest retrieval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name a single tool: what will you not build? You arrive knowing what you want to build, and almost nobody has decided what to refuse.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Yesterday ended with a board saying who does each step. A board is not enough — an owner still cannot start without knowing what their step runs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reopen yesterday's diagram, name one tool per step, mark what stays fake, and reach for retrieval only if you must.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Boring tools, interesting problem. Your novelty budget was spent on the problem you chose yesterday.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a named tool for every step on the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Low-code means assembling pieces that are already built instead of writing them yourself.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for this hour: every box gets one tool name, no box may stay undecided, “we fake it” counts as decided, and you write it on the board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names come from what your team already uses, what the workshop hands you, and what has a free tier today. Not from what you meant to learn this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 prototype reduces to four jobs. Intake, getting the input in. Think, the model doing the work. Store, anything you look up later. And show, what the user actually sees.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worked mapping. Collect the input with a form or a paste box. Understand it with one Claude prompt. Look things up in Claude Project files. Produce the output as an Artifact. And show a stranger with a hosted page.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signs you picked wrong: nobody on the team has used it, setup is measured in hours, it needs a key you do not have, or the docs assume you are running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it when it is the thing you claim, when the demo touches it live, and when nobody would believe it faked. Stub it when it is plumbing rather than proof, when the demo never opens it, and when it works but is boring.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stub is a fake that is honest about being fake.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per box. What does it prove — if nothing, it is plumbing. Who sees it — if nobody, stub it. What does it cost — anything over an hour needs a reason.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always safe to stub: login and user accounts, payments of any kind, email and notifications, and anything needing a real database.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never safe to stub: the step your idea rests on, whatever you claim is novel, the output a stranger reads, and the path the demo walks.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tests before you commit to a tool. Under an hour, so you can have it running before lunch. Someone knows it, meaning one person has shipped with it. And it fails quietly, so when it breaks the demo still walks.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familiar tool sets up in minutes with low demo risk; the better tool takes half a day and carries unknown risk. The better tool only wins on ceiling, and ceiling does not pay out in two days.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eighty percent of your time goes on wiring things together and twenty percent on the idea itself — and the idea is what you are judged on. Those figures are illustrative rather than measured.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telling the difference between needing RAG and just needing more context in the window.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means fetching the few relevant bits first, then asking. It is a search step bolted in front of a prompt.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architecture discussion: does it all fit already? For most of you in this room the honest answer is yes.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give context. Paste it, meaning everything every time. Or fetch it, meaning only what is relevant.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context window today holds a long policy document, a few hundred support tickets, or a codebase of modest size. That is almost certainly more than you have.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has an order. Measure the corpus — its actual size, not your guess. Try pasting it, and if it fits you are done. Only then retrieve, and keep it as small as you can.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need just context when it fits in one window, the corpus barely changes, and every question sees all of it. You need real retrieval when there is far more than fits, it changes constantly, and questions need a slice.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each costs. Pasting is zero build time but more tokens per question, and it breaks when the corpus grows. Retrieval costs hours to build, uses fewer tokens, breaks when search misses, and is harder to debug.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costs nobody budgets for: chunking the documents well, deciding how many to fetch, debugging what it missed, and explaining it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 before you architect. One word count says forty-one thousand words, roughly fifty-five thousand tokens — it fits, so no retrieval is needed today.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over-building if you picked a vector database first, your corpus is under twenty files, you cannot name a query that pasting misses, or it is not even tomorrow's demo step.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cheapest thing that works. Both halves of that bind — cheapest is no excuse for not answering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standing up the smallest retrieval layer that answers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Claude Project is a workspace with your files always in context.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the baseline because standing it up takes minutes, there are no keys, no store and no code, your files are simply there, and anyone on the team can drive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Create the Project and name it after the problem. Add your documents — the real ones, not samples. Then write the instructions, saying how to answer and how not 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lines worth writing: answer only from the attached files, quote the filename you used, and if the files do not cover it say so plainly rather than guessing.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in the documents you must cite, one example of a good answer, your glossary and odd terms — and nothing you would not be willing to ship.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beating the baseline means, concretely. More questions answered than the Project, fewer wrong answers, under one afternoon to build, and a teammate can still run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to find out. Write ten real questions before you build anything. Run both on the same questions, Project first. Then count rather than vibe, and keep whichever wins.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cheapest first. Paste it in — zero build, fine while the corpus is small. A Claude Project — minutes to stand up, and the baseline to beat. Real retrieval — only once you can name what the others missed.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Graduate when all four are true: the Project cannot hold it all, you can name what it missed, the corpus changes daily, and you have the afternoon spare.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teams with the same corpus. One spent an afternoon on chunking, has a search step in the demo, and nobody else can run it. The other spent twenty minutes, has an answer in the demo, and the whole team can run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with every box having a tool name, every box marked build or stub, retrieval decided rather than deferred, and the baseline standing up.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to write into the repo now: your riskiest tool choice, your biggest stub, retrieval yes or no, and what would prove it works.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question: can you start building? If not, it is almost always an undecided box rather than a hard technical problem.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we take one known-good input end to end, with no edge cases and no error handling, driving each step with Claude Code — and commit the moment it 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Choosing the Stack</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2 · Session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35</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with a tool per step</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Give every step a named tool</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Decide what to stub, not build</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RAG or just more context</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Stand up the smallest layer</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will you not build?</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1.3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board</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Who does each step</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A stack</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What each step runs on</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Map</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Reopen yesterday's diagram</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Tool</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Name one per step</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Stub</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Mark what stays fake</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909628" cy="518159"/>
          </a:xfrm>
          <a:prstGeom prst="rect">
            <a:avLst/>
          </a:prstGeom>
          <a:noFill/>
        </p:spPr>
        <p:txBody>
          <a:bodyPr wrap="none" lIns="0" rIns="0">
            <a:noAutofit/>
          </a:bodyPr>
          <a:lstStyle/>
          <a:p>
            <a:pPr algn="l"/>
            <a:r>
              <a:rPr sz="3400" b="1" i="0">
                <a:solidFill>
                  <a:srgbClr val="0072CE"/>
                </a:solidFill>
                <a:latin typeface="Arial"/>
              </a:rPr>
              <a:t>Retrieve</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Only if you must</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"Boring tools, interesting problem."</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Day 2 rule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A Tool for Every Step</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Low-code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Assembling built pieces instead of writing them</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Rule for This Hour</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Every box gets one tool name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 box may stay undecided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"We fake it" counts as decided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Write it on the board now</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Where the Tool Names Come From</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What your team already uses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What the workshop hands you</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What has a free tier today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what you meant to learn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Four Jobs</a:t>
            </a:r>
          </a:p>
        </p:txBody>
      </p:sp>
      <p:sp>
        <p:nvSpPr>
          <p:cNvPr id="3" name="TextBox 2"/>
          <p:cNvSpPr txBox="1"/>
          <p:nvPr/>
        </p:nvSpPr>
        <p:spPr>
          <a:xfrm>
            <a:off x="457200" y="1499616"/>
            <a:ext cx="1542035" cy="518159"/>
          </a:xfrm>
          <a:prstGeom prst="rect">
            <a:avLst/>
          </a:prstGeom>
          <a:noFill/>
        </p:spPr>
        <p:txBody>
          <a:bodyPr wrap="none" lIns="0" rIns="0">
            <a:noAutofit/>
          </a:bodyPr>
          <a:lstStyle/>
          <a:p>
            <a:pPr algn="l"/>
            <a:r>
              <a:rPr sz="3400" b="1" i="0">
                <a:solidFill>
                  <a:srgbClr val="0072CE"/>
                </a:solidFill>
                <a:latin typeface="Arial"/>
              </a:rPr>
              <a:t>Job</a:t>
            </a:r>
          </a:p>
        </p:txBody>
      </p:sp>
      <p:sp>
        <p:nvSpPr>
          <p:cNvPr id="4" name="TextBox 3"/>
          <p:cNvSpPr txBox="1"/>
          <p:nvPr/>
        </p:nvSpPr>
        <p:spPr>
          <a:xfrm>
            <a:off x="2547875" y="1499616"/>
            <a:ext cx="5669858" cy="518159"/>
          </a:xfrm>
          <a:prstGeom prst="rect">
            <a:avLst/>
          </a:prstGeom>
          <a:noFill/>
        </p:spPr>
        <p:txBody>
          <a:bodyPr wrap="none" lIns="0" rIns="0">
            <a:noAutofit/>
          </a:bodyPr>
          <a:lstStyle/>
          <a:p>
            <a:pPr algn="l"/>
            <a:r>
              <a:rPr sz="3400" b="1" i="0">
                <a:solidFill>
                  <a:srgbClr val="0072CE"/>
                </a:solidFill>
                <a:latin typeface="Arial"/>
              </a:rPr>
              <a:t>What it covers</a:t>
            </a:r>
          </a:p>
        </p:txBody>
      </p:sp>
      <p:sp>
        <p:nvSpPr>
          <p:cNvPr id="5" name="Rectangle 4"/>
          <p:cNvSpPr/>
          <p:nvPr/>
        </p:nvSpPr>
        <p:spPr>
          <a:xfrm>
            <a:off x="457200" y="2072639"/>
            <a:ext cx="776053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064920" cy="633984"/>
          </a:xfrm>
          <a:prstGeom prst="rect">
            <a:avLst/>
          </a:prstGeom>
          <a:noFill/>
        </p:spPr>
        <p:txBody>
          <a:bodyPr wrap="none" lIns="0" rIns="0">
            <a:noAutofit/>
          </a:bodyPr>
          <a:lstStyle/>
          <a:p>
            <a:pPr algn="l"/>
            <a:r>
              <a:rPr sz="3400" b="0" i="0">
                <a:solidFill>
                  <a:srgbClr val="0A2240"/>
                </a:solidFill>
                <a:latin typeface="Arial"/>
              </a:rPr>
              <a:t>Intake</a:t>
            </a:r>
          </a:p>
        </p:txBody>
      </p:sp>
      <p:sp>
        <p:nvSpPr>
          <p:cNvPr id="7" name="TextBox 6"/>
          <p:cNvSpPr txBox="1"/>
          <p:nvPr/>
        </p:nvSpPr>
        <p:spPr>
          <a:xfrm>
            <a:off x="2547875" y="2401823"/>
            <a:ext cx="5982494" cy="633984"/>
          </a:xfrm>
          <a:prstGeom prst="rect">
            <a:avLst/>
          </a:prstGeom>
          <a:noFill/>
        </p:spPr>
        <p:txBody>
          <a:bodyPr wrap="none" lIns="0" rIns="0">
            <a:noAutofit/>
          </a:bodyPr>
          <a:lstStyle/>
          <a:p>
            <a:pPr algn="l"/>
            <a:r>
              <a:rPr sz="3400" b="0" i="0">
                <a:solidFill>
                  <a:srgbClr val="0A2240"/>
                </a:solidFill>
                <a:latin typeface="Arial"/>
              </a:rPr>
              <a:t>Getting the input in</a:t>
            </a:r>
          </a:p>
        </p:txBody>
      </p:sp>
      <p:sp>
        <p:nvSpPr>
          <p:cNvPr id="8" name="TextBox 7"/>
          <p:cNvSpPr txBox="1"/>
          <p:nvPr/>
        </p:nvSpPr>
        <p:spPr>
          <a:xfrm>
            <a:off x="457200" y="3310127"/>
            <a:ext cx="1872297" cy="633984"/>
          </a:xfrm>
          <a:prstGeom prst="rect">
            <a:avLst/>
          </a:prstGeom>
          <a:noFill/>
        </p:spPr>
        <p:txBody>
          <a:bodyPr wrap="none" lIns="0" rIns="0">
            <a:noAutofit/>
          </a:bodyPr>
          <a:lstStyle/>
          <a:p>
            <a:pPr algn="l"/>
            <a:r>
              <a:rPr sz="3400" b="0" i="0">
                <a:solidFill>
                  <a:srgbClr val="0A2240"/>
                </a:solidFill>
                <a:latin typeface="Arial"/>
              </a:rPr>
              <a:t>Think</a:t>
            </a:r>
          </a:p>
        </p:txBody>
      </p:sp>
      <p:sp>
        <p:nvSpPr>
          <p:cNvPr id="9" name="TextBox 8"/>
          <p:cNvSpPr txBox="1"/>
          <p:nvPr/>
        </p:nvSpPr>
        <p:spPr>
          <a:xfrm>
            <a:off x="2547875" y="3310127"/>
            <a:ext cx="8132385" cy="633984"/>
          </a:xfrm>
          <a:prstGeom prst="rect">
            <a:avLst/>
          </a:prstGeom>
          <a:noFill/>
        </p:spPr>
        <p:txBody>
          <a:bodyPr wrap="none" lIns="0" rIns="0">
            <a:noAutofit/>
          </a:bodyPr>
          <a:lstStyle/>
          <a:p>
            <a:pPr algn="l"/>
            <a:r>
              <a:rPr sz="3400" b="0" i="0">
                <a:solidFill>
                  <a:srgbClr val="0A2240"/>
                </a:solidFill>
                <a:latin typeface="Arial"/>
              </a:rPr>
              <a:t>The model doing the work</a:t>
            </a:r>
          </a:p>
        </p:txBody>
      </p:sp>
      <p:sp>
        <p:nvSpPr>
          <p:cNvPr id="10" name="TextBox 9"/>
          <p:cNvSpPr txBox="1"/>
          <p:nvPr/>
        </p:nvSpPr>
        <p:spPr>
          <a:xfrm>
            <a:off x="457200" y="4218431"/>
            <a:ext cx="1834177" cy="633984"/>
          </a:xfrm>
          <a:prstGeom prst="rect">
            <a:avLst/>
          </a:prstGeom>
          <a:noFill/>
        </p:spPr>
        <p:txBody>
          <a:bodyPr wrap="none" lIns="0" rIns="0">
            <a:noAutofit/>
          </a:bodyPr>
          <a:lstStyle/>
          <a:p>
            <a:pPr algn="l"/>
            <a:r>
              <a:rPr sz="3400" b="0" i="0">
                <a:solidFill>
                  <a:srgbClr val="0A2240"/>
                </a:solidFill>
                <a:latin typeface="Arial"/>
              </a:rPr>
              <a:t>Store</a:t>
            </a:r>
          </a:p>
        </p:txBody>
      </p:sp>
      <p:sp>
        <p:nvSpPr>
          <p:cNvPr id="11" name="TextBox 10"/>
          <p:cNvSpPr txBox="1"/>
          <p:nvPr/>
        </p:nvSpPr>
        <p:spPr>
          <a:xfrm>
            <a:off x="2547875" y="4218431"/>
            <a:ext cx="8133060" cy="633984"/>
          </a:xfrm>
          <a:prstGeom prst="rect">
            <a:avLst/>
          </a:prstGeom>
          <a:noFill/>
        </p:spPr>
        <p:txBody>
          <a:bodyPr wrap="none" lIns="0" rIns="0">
            <a:noAutofit/>
          </a:bodyPr>
          <a:lstStyle/>
          <a:p>
            <a:pPr algn="l"/>
            <a:r>
              <a:rPr sz="3400" b="0" i="0">
                <a:solidFill>
                  <a:srgbClr val="0A2240"/>
                </a:solidFill>
                <a:latin typeface="Arial"/>
              </a:rPr>
              <a:t>Anything you look up later</a:t>
            </a:r>
          </a:p>
        </p:txBody>
      </p:sp>
      <p:sp>
        <p:nvSpPr>
          <p:cNvPr id="12" name="TextBox 11"/>
          <p:cNvSpPr txBox="1"/>
          <p:nvPr/>
        </p:nvSpPr>
        <p:spPr>
          <a:xfrm>
            <a:off x="457200" y="5126735"/>
            <a:ext cx="1911092" cy="633984"/>
          </a:xfrm>
          <a:prstGeom prst="rect">
            <a:avLst/>
          </a:prstGeom>
          <a:noFill/>
        </p:spPr>
        <p:txBody>
          <a:bodyPr wrap="none" lIns="0" rIns="0">
            <a:noAutofit/>
          </a:bodyPr>
          <a:lstStyle/>
          <a:p>
            <a:pPr algn="l"/>
            <a:r>
              <a:rPr sz="3400" b="0" i="0">
                <a:solidFill>
                  <a:srgbClr val="0A2240"/>
                </a:solidFill>
                <a:latin typeface="Arial"/>
              </a:rPr>
              <a:t>Show</a:t>
            </a:r>
          </a:p>
        </p:txBody>
      </p:sp>
      <p:sp>
        <p:nvSpPr>
          <p:cNvPr id="13" name="TextBox 12"/>
          <p:cNvSpPr txBox="1"/>
          <p:nvPr/>
        </p:nvSpPr>
        <p:spPr>
          <a:xfrm>
            <a:off x="2547875" y="5126735"/>
            <a:ext cx="8669436" cy="633984"/>
          </a:xfrm>
          <a:prstGeom prst="rect">
            <a:avLst/>
          </a:prstGeom>
          <a:noFill/>
        </p:spPr>
        <p:txBody>
          <a:bodyPr wrap="none" lIns="0" rIns="0">
            <a:noAutofit/>
          </a:bodyPr>
          <a:lstStyle/>
          <a:p>
            <a:pPr algn="l"/>
            <a:r>
              <a:rPr sz="3400" b="0" i="0">
                <a:solidFill>
                  <a:srgbClr val="0A2240"/>
                </a:solidFill>
                <a:latin typeface="Arial"/>
              </a:rPr>
              <a:t>What the user actually sees</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Worked Mapping</a:t>
            </a:r>
          </a:p>
        </p:txBody>
      </p:sp>
      <p:sp>
        <p:nvSpPr>
          <p:cNvPr id="3" name="TextBox 2"/>
          <p:cNvSpPr txBox="1"/>
          <p:nvPr/>
        </p:nvSpPr>
        <p:spPr>
          <a:xfrm>
            <a:off x="457200" y="1499616"/>
            <a:ext cx="4014765" cy="518159"/>
          </a:xfrm>
          <a:prstGeom prst="rect">
            <a:avLst/>
          </a:prstGeom>
          <a:noFill/>
        </p:spPr>
        <p:txBody>
          <a:bodyPr wrap="none" lIns="0" rIns="0">
            <a:noAutofit/>
          </a:bodyPr>
          <a:lstStyle/>
          <a:p>
            <a:pPr algn="l"/>
            <a:r>
              <a:rPr sz="3400" b="1" i="0">
                <a:solidFill>
                  <a:srgbClr val="0072CE"/>
                </a:solidFill>
                <a:latin typeface="Arial"/>
              </a:rPr>
              <a:t>Step</a:t>
            </a:r>
          </a:p>
        </p:txBody>
      </p:sp>
      <p:sp>
        <p:nvSpPr>
          <p:cNvPr id="4" name="TextBox 3"/>
          <p:cNvSpPr txBox="1"/>
          <p:nvPr/>
        </p:nvSpPr>
        <p:spPr>
          <a:xfrm>
            <a:off x="5020605" y="1499616"/>
            <a:ext cx="4469968" cy="518159"/>
          </a:xfrm>
          <a:prstGeom prst="rect">
            <a:avLst/>
          </a:prstGeom>
          <a:noFill/>
        </p:spPr>
        <p:txBody>
          <a:bodyPr wrap="none" lIns="0" rIns="0">
            <a:noAutofit/>
          </a:bodyPr>
          <a:lstStyle/>
          <a:p>
            <a:pPr algn="l"/>
            <a:r>
              <a:rPr sz="3400" b="1" i="0">
                <a:solidFill>
                  <a:srgbClr val="0072CE"/>
                </a:solidFill>
                <a:latin typeface="Arial"/>
              </a:rPr>
              <a:t>Tool</a:t>
            </a:r>
          </a:p>
        </p:txBody>
      </p:sp>
      <p:sp>
        <p:nvSpPr>
          <p:cNvPr id="5" name="Rectangle 4"/>
          <p:cNvSpPr/>
          <p:nvPr/>
        </p:nvSpPr>
        <p:spPr>
          <a:xfrm>
            <a:off x="457200" y="2072639"/>
            <a:ext cx="903337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137110" cy="452323"/>
          </a:xfrm>
          <a:prstGeom prst="rect">
            <a:avLst/>
          </a:prstGeom>
          <a:noFill/>
        </p:spPr>
        <p:txBody>
          <a:bodyPr wrap="none" lIns="0" rIns="0">
            <a:noAutofit/>
          </a:bodyPr>
          <a:lstStyle/>
          <a:p>
            <a:pPr algn="l"/>
            <a:r>
              <a:rPr sz="3400" b="0" i="0">
                <a:solidFill>
                  <a:srgbClr val="0A2240"/>
                </a:solidFill>
                <a:latin typeface="Arial"/>
              </a:rPr>
              <a:t>Collect the input</a:t>
            </a:r>
          </a:p>
        </p:txBody>
      </p:sp>
      <p:sp>
        <p:nvSpPr>
          <p:cNvPr id="7" name="TextBox 6"/>
          <p:cNvSpPr txBox="1"/>
          <p:nvPr/>
        </p:nvSpPr>
        <p:spPr>
          <a:xfrm>
            <a:off x="5020605" y="2401823"/>
            <a:ext cx="6749612" cy="452323"/>
          </a:xfrm>
          <a:prstGeom prst="rect">
            <a:avLst/>
          </a:prstGeom>
          <a:noFill/>
        </p:spPr>
        <p:txBody>
          <a:bodyPr wrap="none" lIns="0" rIns="0">
            <a:noAutofit/>
          </a:bodyPr>
          <a:lstStyle/>
          <a:p>
            <a:pPr algn="l"/>
            <a:r>
              <a:rPr sz="3400" b="0" i="0">
                <a:solidFill>
                  <a:srgbClr val="0A2240"/>
                </a:solidFill>
                <a:latin typeface="Arial"/>
              </a:rPr>
              <a:t>A form or a paste box</a:t>
            </a:r>
          </a:p>
        </p:txBody>
      </p:sp>
      <p:sp>
        <p:nvSpPr>
          <p:cNvPr id="8" name="TextBox 7"/>
          <p:cNvSpPr txBox="1"/>
          <p:nvPr/>
        </p:nvSpPr>
        <p:spPr>
          <a:xfrm>
            <a:off x="457200" y="3128466"/>
            <a:ext cx="4292064" cy="452323"/>
          </a:xfrm>
          <a:prstGeom prst="rect">
            <a:avLst/>
          </a:prstGeom>
          <a:noFill/>
        </p:spPr>
        <p:txBody>
          <a:bodyPr wrap="none" lIns="0" rIns="0">
            <a:noAutofit/>
          </a:bodyPr>
          <a:lstStyle/>
          <a:p>
            <a:pPr algn="l"/>
            <a:r>
              <a:rPr sz="3400" b="0" i="0">
                <a:solidFill>
                  <a:srgbClr val="0A2240"/>
                </a:solidFill>
                <a:latin typeface="Arial"/>
              </a:rPr>
              <a:t>Understand it</a:t>
            </a:r>
          </a:p>
        </p:txBody>
      </p:sp>
      <p:sp>
        <p:nvSpPr>
          <p:cNvPr id="9" name="TextBox 8"/>
          <p:cNvSpPr txBox="1"/>
          <p:nvPr/>
        </p:nvSpPr>
        <p:spPr>
          <a:xfrm>
            <a:off x="5020605" y="3128466"/>
            <a:ext cx="6251019" cy="452323"/>
          </a:xfrm>
          <a:prstGeom prst="rect">
            <a:avLst/>
          </a:prstGeom>
          <a:noFill/>
        </p:spPr>
        <p:txBody>
          <a:bodyPr wrap="none" lIns="0" rIns="0">
            <a:noAutofit/>
          </a:bodyPr>
          <a:lstStyle/>
          <a:p>
            <a:pPr algn="l"/>
            <a:r>
              <a:rPr sz="3400" b="0" i="0">
                <a:solidFill>
                  <a:srgbClr val="0A2240"/>
                </a:solidFill>
                <a:latin typeface="Arial"/>
              </a:rPr>
              <a:t>Claude, one prompt</a:t>
            </a:r>
          </a:p>
        </p:txBody>
      </p:sp>
      <p:sp>
        <p:nvSpPr>
          <p:cNvPr id="10" name="TextBox 9"/>
          <p:cNvSpPr txBox="1"/>
          <p:nvPr/>
        </p:nvSpPr>
        <p:spPr>
          <a:xfrm>
            <a:off x="457200" y="3855109"/>
            <a:ext cx="6020950" cy="452323"/>
          </a:xfrm>
          <a:prstGeom prst="rect">
            <a:avLst/>
          </a:prstGeom>
          <a:noFill/>
        </p:spPr>
        <p:txBody>
          <a:bodyPr wrap="none" lIns="0" rIns="0">
            <a:noAutofit/>
          </a:bodyPr>
          <a:lstStyle/>
          <a:p>
            <a:pPr algn="l"/>
            <a:r>
              <a:rPr sz="3400" b="0" i="0">
                <a:solidFill>
                  <a:srgbClr val="0A2240"/>
                </a:solidFill>
                <a:latin typeface="Arial"/>
              </a:rPr>
              <a:t>Look something up</a:t>
            </a:r>
          </a:p>
        </p:txBody>
      </p:sp>
      <p:sp>
        <p:nvSpPr>
          <p:cNvPr id="11" name="TextBox 10"/>
          <p:cNvSpPr txBox="1"/>
          <p:nvPr/>
        </p:nvSpPr>
        <p:spPr>
          <a:xfrm>
            <a:off x="5020605" y="3855109"/>
            <a:ext cx="6134972" cy="452323"/>
          </a:xfrm>
          <a:prstGeom prst="rect">
            <a:avLst/>
          </a:prstGeom>
          <a:noFill/>
        </p:spPr>
        <p:txBody>
          <a:bodyPr wrap="none" lIns="0" rIns="0">
            <a:noAutofit/>
          </a:bodyPr>
          <a:lstStyle/>
          <a:p>
            <a:pPr algn="l"/>
            <a:r>
              <a:rPr sz="3400" b="0" i="0">
                <a:solidFill>
                  <a:srgbClr val="0A2240"/>
                </a:solidFill>
                <a:latin typeface="Arial"/>
              </a:rPr>
              <a:t>Claude Project files</a:t>
            </a:r>
          </a:p>
        </p:txBody>
      </p:sp>
      <p:sp>
        <p:nvSpPr>
          <p:cNvPr id="12" name="TextBox 11"/>
          <p:cNvSpPr txBox="1"/>
          <p:nvPr/>
        </p:nvSpPr>
        <p:spPr>
          <a:xfrm>
            <a:off x="457200" y="4581752"/>
            <a:ext cx="6021288" cy="452323"/>
          </a:xfrm>
          <a:prstGeom prst="rect">
            <a:avLst/>
          </a:prstGeom>
          <a:noFill/>
        </p:spPr>
        <p:txBody>
          <a:bodyPr wrap="none" lIns="0" rIns="0">
            <a:noAutofit/>
          </a:bodyPr>
          <a:lstStyle/>
          <a:p>
            <a:pPr algn="l"/>
            <a:r>
              <a:rPr sz="3400" b="0" i="0">
                <a:solidFill>
                  <a:srgbClr val="0A2240"/>
                </a:solidFill>
                <a:latin typeface="Arial"/>
              </a:rPr>
              <a:t>Produce the output</a:t>
            </a:r>
          </a:p>
        </p:txBody>
      </p:sp>
      <p:sp>
        <p:nvSpPr>
          <p:cNvPr id="13" name="TextBox 12"/>
          <p:cNvSpPr txBox="1"/>
          <p:nvPr/>
        </p:nvSpPr>
        <p:spPr>
          <a:xfrm>
            <a:off x="5020605" y="4581752"/>
            <a:ext cx="4675961" cy="452323"/>
          </a:xfrm>
          <a:prstGeom prst="rect">
            <a:avLst/>
          </a:prstGeom>
          <a:noFill/>
        </p:spPr>
        <p:txBody>
          <a:bodyPr wrap="none" lIns="0" rIns="0">
            <a:noAutofit/>
          </a:bodyPr>
          <a:lstStyle/>
          <a:p>
            <a:pPr algn="l"/>
            <a:r>
              <a:rPr sz="3400" b="0" i="0">
                <a:solidFill>
                  <a:srgbClr val="0A2240"/>
                </a:solidFill>
                <a:latin typeface="Arial"/>
              </a:rPr>
              <a:t>Claude Artifact</a:t>
            </a:r>
          </a:p>
        </p:txBody>
      </p:sp>
      <p:sp>
        <p:nvSpPr>
          <p:cNvPr id="14" name="TextBox 13"/>
          <p:cNvSpPr txBox="1"/>
          <p:nvPr/>
        </p:nvSpPr>
        <p:spPr>
          <a:xfrm>
            <a:off x="457200" y="5308395"/>
            <a:ext cx="5213688" cy="452323"/>
          </a:xfrm>
          <a:prstGeom prst="rect">
            <a:avLst/>
          </a:prstGeom>
          <a:noFill/>
        </p:spPr>
        <p:txBody>
          <a:bodyPr wrap="none" lIns="0" rIns="0">
            <a:noAutofit/>
          </a:bodyPr>
          <a:lstStyle/>
          <a:p>
            <a:pPr algn="l"/>
            <a:r>
              <a:rPr sz="3400" b="0" i="0">
                <a:solidFill>
                  <a:srgbClr val="0A2240"/>
                </a:solidFill>
                <a:latin typeface="Arial"/>
              </a:rPr>
              <a:t>Show a stranger</a:t>
            </a:r>
          </a:p>
        </p:txBody>
      </p:sp>
      <p:sp>
        <p:nvSpPr>
          <p:cNvPr id="15" name="TextBox 14"/>
          <p:cNvSpPr txBox="1"/>
          <p:nvPr/>
        </p:nvSpPr>
        <p:spPr>
          <a:xfrm>
            <a:off x="5020605" y="5308395"/>
            <a:ext cx="4600734" cy="452323"/>
          </a:xfrm>
          <a:prstGeom prst="rect">
            <a:avLst/>
          </a:prstGeom>
          <a:noFill/>
        </p:spPr>
        <p:txBody>
          <a:bodyPr wrap="none" lIns="0" rIns="0">
            <a:noAutofit/>
          </a:bodyPr>
          <a:lstStyle/>
          <a:p>
            <a:pPr algn="l"/>
            <a:r>
              <a:rPr sz="3400" b="0" i="0">
                <a:solidFill>
                  <a:srgbClr val="0A2240"/>
                </a:solidFill>
                <a:latin typeface="Arial"/>
              </a:rPr>
              <a:t>A hosted page</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Signs You Picked Wrong</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Nobody on the team has used it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Setup is measured in hours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It needs a key you don't have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docs assume production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Build or Stub</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Build it</a:t>
            </a:r>
          </a:p>
        </p:txBody>
      </p:sp>
      <p:sp>
        <p:nvSpPr>
          <p:cNvPr id="4" name="Rectangle 3"/>
          <p:cNvSpPr/>
          <p:nvPr/>
        </p:nvSpPr>
        <p:spPr>
          <a:xfrm>
            <a:off x="457200" y="2176271"/>
            <a:ext cx="146301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Stub it</a:t>
            </a:r>
          </a:p>
        </p:txBody>
      </p:sp>
      <p:sp>
        <p:nvSpPr>
          <p:cNvPr id="6" name="Rectangle 5"/>
          <p:cNvSpPr/>
          <p:nvPr/>
        </p:nvSpPr>
        <p:spPr>
          <a:xfrm>
            <a:off x="6233160" y="2176271"/>
            <a:ext cx="1343050"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7210088" cy="609600"/>
          </a:xfrm>
          <a:prstGeom prst="rect">
            <a:avLst/>
          </a:prstGeom>
          <a:noFill/>
        </p:spPr>
        <p:txBody>
          <a:bodyPr wrap="none" lIns="0" rIns="0">
            <a:noAutofit/>
          </a:bodyPr>
          <a:lstStyle/>
          <a:p>
            <a:pPr algn="l"/>
            <a:r>
              <a:rPr sz="3400" b="0" i="0">
                <a:solidFill>
                  <a:srgbClr val="0A2240"/>
                </a:solidFill>
                <a:latin typeface="Arial"/>
              </a:rPr>
              <a:t>It is the thing you claim</a:t>
            </a:r>
          </a:p>
        </p:txBody>
      </p:sp>
      <p:sp>
        <p:nvSpPr>
          <p:cNvPr id="8" name="TextBox 7"/>
          <p:cNvSpPr txBox="1"/>
          <p:nvPr/>
        </p:nvSpPr>
        <p:spPr>
          <a:xfrm>
            <a:off x="457200" y="3608831"/>
            <a:ext cx="7671236" cy="609600"/>
          </a:xfrm>
          <a:prstGeom prst="rect">
            <a:avLst/>
          </a:prstGeom>
          <a:noFill/>
        </p:spPr>
        <p:txBody>
          <a:bodyPr wrap="none" lIns="0" rIns="0">
            <a:noAutofit/>
          </a:bodyPr>
          <a:lstStyle/>
          <a:p>
            <a:pPr algn="l"/>
            <a:r>
              <a:rPr sz="3400" b="0" i="0">
                <a:solidFill>
                  <a:srgbClr val="0A2240"/>
                </a:solidFill>
                <a:latin typeface="Arial"/>
              </a:rPr>
              <a:t>The demo touches it live</a:t>
            </a:r>
          </a:p>
        </p:txBody>
      </p:sp>
      <p:sp>
        <p:nvSpPr>
          <p:cNvPr id="9" name="TextBox 8"/>
          <p:cNvSpPr txBox="1"/>
          <p:nvPr/>
        </p:nvSpPr>
        <p:spPr>
          <a:xfrm>
            <a:off x="457200" y="4821935"/>
            <a:ext cx="7710368" cy="609600"/>
          </a:xfrm>
          <a:prstGeom prst="rect">
            <a:avLst/>
          </a:prstGeom>
          <a:noFill/>
        </p:spPr>
        <p:txBody>
          <a:bodyPr wrap="none" lIns="0" rIns="0">
            <a:noAutofit/>
          </a:bodyPr>
          <a:lstStyle/>
          <a:p>
            <a:pPr algn="l"/>
            <a:r>
              <a:rPr sz="3400" b="0" i="0">
                <a:solidFill>
                  <a:srgbClr val="0A2240"/>
                </a:solidFill>
                <a:latin typeface="Arial"/>
              </a:rPr>
              <a:t>Nobody believes it faked</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It is plumbing, not proof</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The demo never opens it</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It works but is boring</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Stub</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fake that is honest about being fake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to Decide, Per Box</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Ask what it proves</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If nothing, it is plumbing</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Ask who sees it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If nobody, stub it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Ask what it costs</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Over an hour needs a reason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Always Safe to Stub</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Login and user accounts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Payments of any kind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Email and notifications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with a real database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Never Safe to Stub</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step your idea rests on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Whatever you claim is novel</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output a stranger reads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path the demo walks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Three Tests Before You Commit</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Under an hour</a:t>
            </a:r>
          </a:p>
        </p:txBody>
      </p:sp>
      <p:sp>
        <p:nvSpPr>
          <p:cNvPr id="4" name="TextBox 3"/>
          <p:cNvSpPr txBox="1"/>
          <p:nvPr/>
        </p:nvSpPr>
        <p:spPr>
          <a:xfrm>
            <a:off x="457200" y="2109215"/>
            <a:ext cx="11373246" cy="627889"/>
          </a:xfrm>
          <a:prstGeom prst="rect">
            <a:avLst/>
          </a:prstGeom>
          <a:noFill/>
        </p:spPr>
        <p:txBody>
          <a:bodyPr wrap="none" lIns="0" rIns="0">
            <a:noAutofit/>
          </a:bodyPr>
          <a:lstStyle/>
          <a:p>
            <a:pPr algn="l"/>
            <a:r>
              <a:rPr sz="3400" b="0" i="0">
                <a:solidFill>
                  <a:srgbClr val="0A2240"/>
                </a:solidFill>
                <a:latin typeface="Arial"/>
              </a:rPr>
              <a:t>You can have it running before lunch</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Someone knows it</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One person on the team has shipped with it</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Fails quietly</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When it breaks, the demo still walks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Picking Between Two Options</a:t>
            </a:r>
          </a:p>
        </p:txBody>
      </p:sp>
      <p:sp>
        <p:nvSpPr>
          <p:cNvPr id="3" name="TextBox 2"/>
          <p:cNvSpPr txBox="1"/>
          <p:nvPr/>
        </p:nvSpPr>
        <p:spPr>
          <a:xfrm>
            <a:off x="3636868" y="1499616"/>
            <a:ext cx="4290376" cy="518159"/>
          </a:xfrm>
          <a:prstGeom prst="rect">
            <a:avLst/>
          </a:prstGeom>
          <a:noFill/>
        </p:spPr>
        <p:txBody>
          <a:bodyPr wrap="none" lIns="0" rIns="0">
            <a:noAutofit/>
          </a:bodyPr>
          <a:lstStyle/>
          <a:p>
            <a:pPr algn="ctr"/>
            <a:r>
              <a:rPr sz="3400" b="1" i="0">
                <a:solidFill>
                  <a:srgbClr val="0A2240"/>
                </a:solidFill>
                <a:latin typeface="Arial"/>
              </a:rPr>
              <a:t>Familiar tool</a:t>
            </a:r>
          </a:p>
        </p:txBody>
      </p:sp>
      <p:sp>
        <p:nvSpPr>
          <p:cNvPr id="4" name="TextBox 3"/>
          <p:cNvSpPr txBox="1"/>
          <p:nvPr/>
        </p:nvSpPr>
        <p:spPr>
          <a:xfrm>
            <a:off x="7949184" y="1499616"/>
            <a:ext cx="3785616" cy="518159"/>
          </a:xfrm>
          <a:prstGeom prst="rect">
            <a:avLst/>
          </a:prstGeom>
          <a:noFill/>
        </p:spPr>
        <p:txBody>
          <a:bodyPr wrap="none" lIns="0" rIns="0">
            <a:noAutofit/>
          </a:bodyPr>
          <a:lstStyle/>
          <a:p>
            <a:pPr algn="ctr"/>
            <a:r>
              <a:rPr sz="3400" b="1" i="0">
                <a:solidFill>
                  <a:srgbClr val="0A2240"/>
                </a:solidFill>
                <a:latin typeface="Arial"/>
              </a:rPr>
              <a:t>Better tool</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Setup</a:t>
            </a:r>
          </a:p>
        </p:txBody>
      </p:sp>
      <p:sp>
        <p:nvSpPr>
          <p:cNvPr id="7" name="Rectangle 6"/>
          <p:cNvSpPr/>
          <p:nvPr/>
        </p:nvSpPr>
        <p:spPr>
          <a:xfrm>
            <a:off x="4801830" y="2401823"/>
            <a:ext cx="1960452"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5602" y="2401823"/>
            <a:ext cx="2792908" cy="518159"/>
          </a:xfrm>
          <a:prstGeom prst="rect">
            <a:avLst/>
          </a:prstGeom>
          <a:noFill/>
        </p:spPr>
        <p:txBody>
          <a:bodyPr wrap="none" lIns="0" rIns="0">
            <a:noAutofit/>
          </a:bodyPr>
          <a:lstStyle/>
          <a:p>
            <a:pPr algn="ctr"/>
            <a:r>
              <a:rPr sz="3400" b="1" i="0">
                <a:solidFill>
                  <a:srgbClr val="FFFFFF"/>
                </a:solidFill>
                <a:latin typeface="Arial"/>
              </a:rPr>
              <a:t>Minutes</a:t>
            </a:r>
          </a:p>
        </p:txBody>
      </p:sp>
      <p:sp>
        <p:nvSpPr>
          <p:cNvPr id="9" name="TextBox 8"/>
          <p:cNvSpPr txBox="1"/>
          <p:nvPr/>
        </p:nvSpPr>
        <p:spPr>
          <a:xfrm>
            <a:off x="7949184" y="2401823"/>
            <a:ext cx="3785616" cy="936752"/>
          </a:xfrm>
          <a:prstGeom prst="rect">
            <a:avLst/>
          </a:prstGeom>
          <a:noFill/>
        </p:spPr>
        <p:txBody>
          <a:bodyPr wrap="none" lIns="0" rIns="0">
            <a:noAutofit/>
          </a:bodyPr>
          <a:lstStyle/>
          <a:p>
            <a:pPr algn="ctr"/>
            <a:r>
              <a:rPr sz="3400" b="0" i="0">
                <a:solidFill>
                  <a:srgbClr val="0A2240"/>
                </a:solidFill>
                <a:latin typeface="Arial"/>
              </a:rPr>
              <a:t>Half a day</a:t>
            </a:r>
          </a:p>
        </p:txBody>
      </p:sp>
      <p:sp>
        <p:nvSpPr>
          <p:cNvPr id="10" name="TextBox 9"/>
          <p:cNvSpPr txBox="1"/>
          <p:nvPr/>
        </p:nvSpPr>
        <p:spPr>
          <a:xfrm>
            <a:off x="457200" y="3612895"/>
            <a:ext cx="3157728" cy="936752"/>
          </a:xfrm>
          <a:prstGeom prst="rect">
            <a:avLst/>
          </a:prstGeom>
          <a:noFill/>
        </p:spPr>
        <p:txBody>
          <a:bodyPr wrap="none" lIns="0" rIns="0">
            <a:noAutofit/>
          </a:bodyPr>
          <a:lstStyle/>
          <a:p>
            <a:pPr algn="l"/>
            <a:r>
              <a:rPr sz="3400" b="1" i="0">
                <a:solidFill>
                  <a:srgbClr val="0A2240"/>
                </a:solidFill>
                <a:latin typeface="Arial"/>
              </a:rPr>
              <a:t>Ceiling</a:t>
            </a:r>
          </a:p>
        </p:txBody>
      </p:sp>
      <p:sp>
        <p:nvSpPr>
          <p:cNvPr id="11" name="TextBox 10"/>
          <p:cNvSpPr txBox="1"/>
          <p:nvPr/>
        </p:nvSpPr>
        <p:spPr>
          <a:xfrm>
            <a:off x="3889248" y="3612895"/>
            <a:ext cx="3785616" cy="936752"/>
          </a:xfrm>
          <a:prstGeom prst="rect">
            <a:avLst/>
          </a:prstGeom>
          <a:noFill/>
        </p:spPr>
        <p:txBody>
          <a:bodyPr wrap="none" lIns="0" rIns="0">
            <a:noAutofit/>
          </a:bodyPr>
          <a:lstStyle/>
          <a:p>
            <a:pPr algn="ctr"/>
            <a:r>
              <a:rPr sz="3400" b="0" i="0">
                <a:solidFill>
                  <a:srgbClr val="0A2240"/>
                </a:solidFill>
                <a:latin typeface="Arial"/>
              </a:rPr>
              <a:t>Low</a:t>
            </a:r>
          </a:p>
        </p:txBody>
      </p:sp>
      <p:sp>
        <p:nvSpPr>
          <p:cNvPr id="12" name="TextBox 11"/>
          <p:cNvSpPr txBox="1"/>
          <p:nvPr/>
        </p:nvSpPr>
        <p:spPr>
          <a:xfrm>
            <a:off x="7949184" y="3612895"/>
            <a:ext cx="3785616" cy="936752"/>
          </a:xfrm>
          <a:prstGeom prst="rect">
            <a:avLst/>
          </a:prstGeom>
          <a:noFill/>
        </p:spPr>
        <p:txBody>
          <a:bodyPr wrap="none" lIns="0" rIns="0">
            <a:noAutofit/>
          </a:bodyPr>
          <a:lstStyle/>
          <a:p>
            <a:pPr algn="ctr"/>
            <a:r>
              <a:rPr sz="3400" b="0" i="0">
                <a:solidFill>
                  <a:srgbClr val="0A2240"/>
                </a:solidFill>
                <a:latin typeface="Arial"/>
              </a:rPr>
              <a:t>High</a:t>
            </a:r>
          </a:p>
        </p:txBody>
      </p:sp>
      <p:sp>
        <p:nvSpPr>
          <p:cNvPr id="13" name="TextBox 12"/>
          <p:cNvSpPr txBox="1"/>
          <p:nvPr/>
        </p:nvSpPr>
        <p:spPr>
          <a:xfrm>
            <a:off x="457200" y="4823967"/>
            <a:ext cx="3523595" cy="936752"/>
          </a:xfrm>
          <a:prstGeom prst="rect">
            <a:avLst/>
          </a:prstGeom>
          <a:noFill/>
        </p:spPr>
        <p:txBody>
          <a:bodyPr wrap="none" lIns="0" rIns="0">
            <a:noAutofit/>
          </a:bodyPr>
          <a:lstStyle/>
          <a:p>
            <a:pPr algn="l"/>
            <a:r>
              <a:rPr sz="3400" b="1" i="0">
                <a:solidFill>
                  <a:srgbClr val="0A2240"/>
                </a:solidFill>
                <a:latin typeface="Arial"/>
              </a:rPr>
              <a:t>Demo risk</a:t>
            </a:r>
          </a:p>
        </p:txBody>
      </p:sp>
      <p:sp>
        <p:nvSpPr>
          <p:cNvPr id="14" name="Rectangle 13"/>
          <p:cNvSpPr/>
          <p:nvPr/>
        </p:nvSpPr>
        <p:spPr>
          <a:xfrm>
            <a:off x="5185769" y="4823967"/>
            <a:ext cx="1192573"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9905" y="4823967"/>
            <a:ext cx="1564301" cy="518159"/>
          </a:xfrm>
          <a:prstGeom prst="rect">
            <a:avLst/>
          </a:prstGeom>
          <a:noFill/>
        </p:spPr>
        <p:txBody>
          <a:bodyPr wrap="none" lIns="0" rIns="0">
            <a:noAutofit/>
          </a:bodyPr>
          <a:lstStyle/>
          <a:p>
            <a:pPr algn="ctr"/>
            <a:r>
              <a:rPr sz="3400" b="1" i="0">
                <a:solidFill>
                  <a:srgbClr val="FFFFFF"/>
                </a:solidFill>
                <a:latin typeface="Arial"/>
              </a:rPr>
              <a:t>Low</a:t>
            </a:r>
          </a:p>
        </p:txBody>
      </p:sp>
      <p:sp>
        <p:nvSpPr>
          <p:cNvPr id="16" name="TextBox 15"/>
          <p:cNvSpPr txBox="1"/>
          <p:nvPr/>
        </p:nvSpPr>
        <p:spPr>
          <a:xfrm>
            <a:off x="7949184" y="4823967"/>
            <a:ext cx="3785616" cy="936752"/>
          </a:xfrm>
          <a:prstGeom prst="rect">
            <a:avLst/>
          </a:prstGeom>
          <a:noFill/>
        </p:spPr>
        <p:txBody>
          <a:bodyPr wrap="none" lIns="0" rIns="0">
            <a:noAutofit/>
          </a:bodyPr>
          <a:lstStyle/>
          <a:p>
            <a:pPr algn="ctr"/>
            <a:r>
              <a:rPr sz="3400" b="0" i="0">
                <a:solidFill>
                  <a:srgbClr val="0A2240"/>
                </a:solidFill>
                <a:latin typeface="Arial"/>
              </a:rPr>
              <a:t>Unknown</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Where the Time Actually Goes</a:t>
            </a:r>
          </a:p>
        </p:txBody>
      </p:sp>
      <p:sp>
        <p:nvSpPr>
          <p:cNvPr id="3" name="TextBox 2"/>
          <p:cNvSpPr txBox="1"/>
          <p:nvPr/>
        </p:nvSpPr>
        <p:spPr>
          <a:xfrm>
            <a:off x="457200" y="2449068"/>
            <a:ext cx="5501640" cy="914400"/>
          </a:xfrm>
          <a:prstGeom prst="rect">
            <a:avLst/>
          </a:prstGeom>
          <a:noFill/>
        </p:spPr>
        <p:txBody>
          <a:bodyPr wrap="none" lIns="0" rIns="0">
            <a:noAutofit/>
          </a:bodyPr>
          <a:lstStyle/>
          <a:p>
            <a:pPr algn="l"/>
            <a:r>
              <a:rPr sz="6000" b="1" i="0">
                <a:solidFill>
                  <a:srgbClr val="0072CE"/>
                </a:solidFill>
                <a:latin typeface="Arial"/>
              </a:rPr>
              <a:t>80%</a:t>
            </a:r>
          </a:p>
        </p:txBody>
      </p:sp>
      <p:sp>
        <p:nvSpPr>
          <p:cNvPr id="4" name="TextBox 3"/>
          <p:cNvSpPr txBox="1"/>
          <p:nvPr/>
        </p:nvSpPr>
        <p:spPr>
          <a:xfrm>
            <a:off x="457200" y="3637788"/>
            <a:ext cx="6903105" cy="518159"/>
          </a:xfrm>
          <a:prstGeom prst="rect">
            <a:avLst/>
          </a:prstGeom>
          <a:noFill/>
        </p:spPr>
        <p:txBody>
          <a:bodyPr wrap="none" lIns="0" rIns="0">
            <a:noAutofit/>
          </a:bodyPr>
          <a:lstStyle/>
          <a:p>
            <a:pPr algn="l"/>
            <a:r>
              <a:rPr sz="3400" b="0" i="0">
                <a:solidFill>
                  <a:srgbClr val="0A2240"/>
                </a:solidFill>
                <a:latin typeface="Arial"/>
              </a:rPr>
              <a:t>Wiring things together</a:t>
            </a:r>
          </a:p>
        </p:txBody>
      </p:sp>
      <p:sp>
        <p:nvSpPr>
          <p:cNvPr id="5" name="TextBox 4"/>
          <p:cNvSpPr txBox="1"/>
          <p:nvPr/>
        </p:nvSpPr>
        <p:spPr>
          <a:xfrm>
            <a:off x="457200" y="4430267"/>
            <a:ext cx="5501640" cy="381000"/>
          </a:xfrm>
          <a:prstGeom prst="rect">
            <a:avLst/>
          </a:prstGeom>
          <a:noFill/>
        </p:spPr>
        <p:txBody>
          <a:bodyPr wrap="none" lIns="0" rIns="0">
            <a:noAutofit/>
          </a:bodyPr>
          <a:lstStyle/>
          <a:p>
            <a:pPr algn="l"/>
            <a:r>
              <a:rPr sz="2500" b="0" i="0">
                <a:solidFill>
                  <a:srgbClr val="0A2240"/>
                </a:solidFill>
                <a:latin typeface="Arial"/>
              </a:rPr>
              <a:t>Not the clever part</a:t>
            </a:r>
          </a:p>
        </p:txBody>
      </p:sp>
      <p:sp>
        <p:nvSpPr>
          <p:cNvPr id="6" name="TextBox 5"/>
          <p:cNvSpPr txBox="1"/>
          <p:nvPr/>
        </p:nvSpPr>
        <p:spPr>
          <a:xfrm>
            <a:off x="6233160" y="2449068"/>
            <a:ext cx="5501640" cy="914400"/>
          </a:xfrm>
          <a:prstGeom prst="rect">
            <a:avLst/>
          </a:prstGeom>
          <a:noFill/>
        </p:spPr>
        <p:txBody>
          <a:bodyPr wrap="none" lIns="0" rIns="0">
            <a:noAutofit/>
          </a:bodyPr>
          <a:lstStyle/>
          <a:p>
            <a:pPr algn="l"/>
            <a:r>
              <a:rPr sz="6000" b="1" i="0">
                <a:solidFill>
                  <a:srgbClr val="0072CE"/>
                </a:solidFill>
                <a:latin typeface="Arial"/>
              </a:rPr>
              <a:t>20%</a:t>
            </a:r>
          </a:p>
        </p:txBody>
      </p:sp>
      <p:sp>
        <p:nvSpPr>
          <p:cNvPr id="7" name="TextBox 6"/>
          <p:cNvSpPr txBox="1"/>
          <p:nvPr/>
        </p:nvSpPr>
        <p:spPr>
          <a:xfrm>
            <a:off x="6233160" y="3637788"/>
            <a:ext cx="5501640" cy="518159"/>
          </a:xfrm>
          <a:prstGeom prst="rect">
            <a:avLst/>
          </a:prstGeom>
          <a:noFill/>
        </p:spPr>
        <p:txBody>
          <a:bodyPr wrap="none" lIns="0" rIns="0">
            <a:noAutofit/>
          </a:bodyPr>
          <a:lstStyle/>
          <a:p>
            <a:pPr algn="l"/>
            <a:r>
              <a:rPr sz="3400" b="0" i="0">
                <a:solidFill>
                  <a:srgbClr val="0A2240"/>
                </a:solidFill>
                <a:latin typeface="Arial"/>
              </a:rPr>
              <a:t>The idea itself</a:t>
            </a:r>
          </a:p>
        </p:txBody>
      </p:sp>
      <p:sp>
        <p:nvSpPr>
          <p:cNvPr id="8" name="TextBox 7"/>
          <p:cNvSpPr txBox="1"/>
          <p:nvPr/>
        </p:nvSpPr>
        <p:spPr>
          <a:xfrm>
            <a:off x="6233160" y="4430267"/>
            <a:ext cx="5576907" cy="381000"/>
          </a:xfrm>
          <a:prstGeom prst="rect">
            <a:avLst/>
          </a:prstGeom>
          <a:noFill/>
        </p:spPr>
        <p:txBody>
          <a:bodyPr wrap="none" lIns="0" rIns="0">
            <a:noAutofit/>
          </a:bodyPr>
          <a:lstStyle/>
          <a:p>
            <a:pPr algn="l"/>
            <a:r>
              <a:rPr sz="2500" b="0" i="0">
                <a:solidFill>
                  <a:srgbClr val="0A2240"/>
                </a:solidFill>
                <a:latin typeface="Arial"/>
              </a:rPr>
              <a:t>What you are judged on</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RAG or Just Context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RAG</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Fetch the few relevant bits, then ask</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Does it all fit already?</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Ways to Give Context</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Paste it</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Everything, every time</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Fetch it</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Only what is relevant</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a Context Window Holds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long policy document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few hundred support tickets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codebase of modest size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More than you probably have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Decision, in Order</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Measure the corpus</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Actual size, not your guess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Try pasting it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If it fits, you are done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Only then, retrieve</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And keep it as small as you can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Which One Do You Need</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Just context</a:t>
            </a:r>
          </a:p>
        </p:txBody>
      </p:sp>
      <p:sp>
        <p:nvSpPr>
          <p:cNvPr id="4" name="Rectangle 3"/>
          <p:cNvSpPr/>
          <p:nvPr/>
        </p:nvSpPr>
        <p:spPr>
          <a:xfrm>
            <a:off x="457200" y="2176271"/>
            <a:ext cx="2543361"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Real retrieval</a:t>
            </a:r>
          </a:p>
        </p:txBody>
      </p:sp>
      <p:sp>
        <p:nvSpPr>
          <p:cNvPr id="6" name="Rectangle 5"/>
          <p:cNvSpPr/>
          <p:nvPr/>
        </p:nvSpPr>
        <p:spPr>
          <a:xfrm>
            <a:off x="6233160" y="2176271"/>
            <a:ext cx="2712455"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211888" cy="609600"/>
          </a:xfrm>
          <a:prstGeom prst="rect">
            <a:avLst/>
          </a:prstGeom>
          <a:noFill/>
        </p:spPr>
        <p:txBody>
          <a:bodyPr wrap="none" lIns="0" rIns="0">
            <a:noAutofit/>
          </a:bodyPr>
          <a:lstStyle/>
          <a:p>
            <a:pPr algn="l"/>
            <a:r>
              <a:rPr sz="3400" b="0" i="0">
                <a:solidFill>
                  <a:srgbClr val="0A2240"/>
                </a:solidFill>
                <a:latin typeface="Arial"/>
              </a:rPr>
              <a:t>It fits in one window</a:t>
            </a:r>
          </a:p>
        </p:txBody>
      </p:sp>
      <p:sp>
        <p:nvSpPr>
          <p:cNvPr id="8" name="TextBox 7"/>
          <p:cNvSpPr txBox="1"/>
          <p:nvPr/>
        </p:nvSpPr>
        <p:spPr>
          <a:xfrm>
            <a:off x="457200" y="3608831"/>
            <a:ext cx="8516620" cy="609600"/>
          </a:xfrm>
          <a:prstGeom prst="rect">
            <a:avLst/>
          </a:prstGeom>
          <a:noFill/>
        </p:spPr>
        <p:txBody>
          <a:bodyPr wrap="none" lIns="0" rIns="0">
            <a:noAutofit/>
          </a:bodyPr>
          <a:lstStyle/>
          <a:p>
            <a:pPr algn="l"/>
            <a:r>
              <a:rPr sz="3400" b="0" i="0">
                <a:solidFill>
                  <a:srgbClr val="0A2240"/>
                </a:solidFill>
                <a:latin typeface="Arial"/>
              </a:rPr>
              <a:t>The corpus barely changes</a:t>
            </a:r>
          </a:p>
        </p:txBody>
      </p:sp>
      <p:sp>
        <p:nvSpPr>
          <p:cNvPr id="9" name="TextBox 8"/>
          <p:cNvSpPr txBox="1"/>
          <p:nvPr/>
        </p:nvSpPr>
        <p:spPr>
          <a:xfrm>
            <a:off x="457200" y="4821935"/>
            <a:ext cx="7824728" cy="609600"/>
          </a:xfrm>
          <a:prstGeom prst="rect">
            <a:avLst/>
          </a:prstGeom>
          <a:noFill/>
        </p:spPr>
        <p:txBody>
          <a:bodyPr wrap="none" lIns="0" rIns="0">
            <a:noAutofit/>
          </a:bodyPr>
          <a:lstStyle/>
          <a:p>
            <a:pPr algn="l"/>
            <a:r>
              <a:rPr sz="3400" b="0" i="0">
                <a:solidFill>
                  <a:srgbClr val="0A2240"/>
                </a:solidFill>
                <a:latin typeface="Arial"/>
              </a:rPr>
              <a:t>Every question sees it all</a:t>
            </a:r>
          </a:p>
        </p:txBody>
      </p:sp>
      <p:sp>
        <p:nvSpPr>
          <p:cNvPr id="10" name="TextBox 9"/>
          <p:cNvSpPr txBox="1"/>
          <p:nvPr/>
        </p:nvSpPr>
        <p:spPr>
          <a:xfrm>
            <a:off x="6233160" y="2395727"/>
            <a:ext cx="5596572" cy="609600"/>
          </a:xfrm>
          <a:prstGeom prst="rect">
            <a:avLst/>
          </a:prstGeom>
          <a:noFill/>
        </p:spPr>
        <p:txBody>
          <a:bodyPr wrap="none" lIns="0" rIns="0">
            <a:noAutofit/>
          </a:bodyPr>
          <a:lstStyle/>
          <a:p>
            <a:pPr algn="l"/>
            <a:r>
              <a:rPr sz="3400" b="0" i="0">
                <a:solidFill>
                  <a:srgbClr val="0A2240"/>
                </a:solidFill>
                <a:latin typeface="Arial"/>
              </a:rPr>
              <a:t>Far more than fits</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It changes constantly</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Questions need a slice</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Each One Costs You</a:t>
            </a:r>
          </a:p>
        </p:txBody>
      </p:sp>
      <p:sp>
        <p:nvSpPr>
          <p:cNvPr id="3" name="TextBox 2"/>
          <p:cNvSpPr txBox="1"/>
          <p:nvPr/>
        </p:nvSpPr>
        <p:spPr>
          <a:xfrm>
            <a:off x="457200" y="1499616"/>
            <a:ext cx="2861893" cy="518159"/>
          </a:xfrm>
          <a:prstGeom prst="rect">
            <a:avLst/>
          </a:prstGeom>
          <a:noFill/>
        </p:spPr>
        <p:txBody>
          <a:bodyPr wrap="none" lIns="0" rIns="0">
            <a:noAutofit/>
          </a:bodyPr>
          <a:lstStyle/>
          <a:p>
            <a:pPr algn="l"/>
            <a:r>
              <a:rPr sz="3400" b="1" i="0">
                <a:solidFill>
                  <a:srgbClr val="0072CE"/>
                </a:solidFill>
                <a:latin typeface="Arial"/>
              </a:rPr>
              <a:t/>
            </a:r>
          </a:p>
        </p:txBody>
      </p:sp>
      <p:sp>
        <p:nvSpPr>
          <p:cNvPr id="4" name="TextBox 3"/>
          <p:cNvSpPr txBox="1"/>
          <p:nvPr/>
        </p:nvSpPr>
        <p:spPr>
          <a:xfrm>
            <a:off x="3867733" y="1499616"/>
            <a:ext cx="3029511" cy="518159"/>
          </a:xfrm>
          <a:prstGeom prst="rect">
            <a:avLst/>
          </a:prstGeom>
          <a:noFill/>
        </p:spPr>
        <p:txBody>
          <a:bodyPr wrap="none" lIns="0" rIns="0">
            <a:noAutofit/>
          </a:bodyPr>
          <a:lstStyle/>
          <a:p>
            <a:pPr algn="l"/>
            <a:r>
              <a:rPr sz="3400" b="1" i="0">
                <a:solidFill>
                  <a:srgbClr val="0072CE"/>
                </a:solidFill>
                <a:latin typeface="Arial"/>
              </a:rPr>
              <a:t>Paste it</a:t>
            </a:r>
          </a:p>
        </p:txBody>
      </p:sp>
      <p:sp>
        <p:nvSpPr>
          <p:cNvPr id="5" name="TextBox 4"/>
          <p:cNvSpPr txBox="1"/>
          <p:nvPr/>
        </p:nvSpPr>
        <p:spPr>
          <a:xfrm>
            <a:off x="7445884" y="1499616"/>
            <a:ext cx="3523595" cy="518159"/>
          </a:xfrm>
          <a:prstGeom prst="rect">
            <a:avLst/>
          </a:prstGeom>
          <a:noFill/>
        </p:spPr>
        <p:txBody>
          <a:bodyPr wrap="none" lIns="0" rIns="0">
            <a:noAutofit/>
          </a:bodyPr>
          <a:lstStyle/>
          <a:p>
            <a:pPr algn="l"/>
            <a:r>
              <a:rPr sz="3400" b="1" i="0">
                <a:solidFill>
                  <a:srgbClr val="0072CE"/>
                </a:solidFill>
                <a:latin typeface="Arial"/>
              </a:rPr>
              <a:t>Retrieve it</a:t>
            </a:r>
          </a:p>
        </p:txBody>
      </p:sp>
      <p:sp>
        <p:nvSpPr>
          <p:cNvPr id="6" name="Rectangle 5"/>
          <p:cNvSpPr/>
          <p:nvPr/>
        </p:nvSpPr>
        <p:spPr>
          <a:xfrm>
            <a:off x="457200" y="2072639"/>
            <a:ext cx="1018602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01823"/>
            <a:ext cx="3216275" cy="633984"/>
          </a:xfrm>
          <a:prstGeom prst="rect">
            <a:avLst/>
          </a:prstGeom>
          <a:noFill/>
        </p:spPr>
        <p:txBody>
          <a:bodyPr wrap="none" lIns="0" rIns="0">
            <a:noAutofit/>
          </a:bodyPr>
          <a:lstStyle/>
          <a:p>
            <a:pPr algn="l"/>
            <a:r>
              <a:rPr sz="3400" b="0" i="0">
                <a:solidFill>
                  <a:srgbClr val="0A2240"/>
                </a:solidFill>
                <a:latin typeface="Arial"/>
              </a:rPr>
              <a:t>Build time</a:t>
            </a:r>
          </a:p>
        </p:txBody>
      </p:sp>
      <p:sp>
        <p:nvSpPr>
          <p:cNvPr id="8" name="TextBox 7"/>
          <p:cNvSpPr txBox="1"/>
          <p:nvPr/>
        </p:nvSpPr>
        <p:spPr>
          <a:xfrm>
            <a:off x="3867733" y="2401823"/>
            <a:ext cx="3029511" cy="633984"/>
          </a:xfrm>
          <a:prstGeom prst="rect">
            <a:avLst/>
          </a:prstGeom>
          <a:noFill/>
        </p:spPr>
        <p:txBody>
          <a:bodyPr wrap="none" lIns="0" rIns="0">
            <a:noAutofit/>
          </a:bodyPr>
          <a:lstStyle/>
          <a:p>
            <a:pPr algn="l"/>
            <a:r>
              <a:rPr sz="3400" b="0" i="0">
                <a:solidFill>
                  <a:srgbClr val="0A2240"/>
                </a:solidFill>
                <a:latin typeface="Arial"/>
              </a:rPr>
              <a:t>Zero</a:t>
            </a:r>
          </a:p>
        </p:txBody>
      </p:sp>
      <p:sp>
        <p:nvSpPr>
          <p:cNvPr id="9" name="TextBox 8"/>
          <p:cNvSpPr txBox="1"/>
          <p:nvPr/>
        </p:nvSpPr>
        <p:spPr>
          <a:xfrm>
            <a:off x="7445884" y="2401823"/>
            <a:ext cx="3197339" cy="633984"/>
          </a:xfrm>
          <a:prstGeom prst="rect">
            <a:avLst/>
          </a:prstGeom>
          <a:noFill/>
        </p:spPr>
        <p:txBody>
          <a:bodyPr wrap="none" lIns="0" rIns="0">
            <a:noAutofit/>
          </a:bodyPr>
          <a:lstStyle/>
          <a:p>
            <a:pPr algn="l"/>
            <a:r>
              <a:rPr sz="3400" b="0" i="0">
                <a:solidFill>
                  <a:srgbClr val="0A2240"/>
                </a:solidFill>
                <a:latin typeface="Arial"/>
              </a:rPr>
              <a:t>Hours</a:t>
            </a:r>
          </a:p>
        </p:txBody>
      </p:sp>
      <p:sp>
        <p:nvSpPr>
          <p:cNvPr id="10" name="TextBox 9"/>
          <p:cNvSpPr txBox="1"/>
          <p:nvPr/>
        </p:nvSpPr>
        <p:spPr>
          <a:xfrm>
            <a:off x="457200" y="3310127"/>
            <a:ext cx="4061995" cy="633984"/>
          </a:xfrm>
          <a:prstGeom prst="rect">
            <a:avLst/>
          </a:prstGeom>
          <a:noFill/>
        </p:spPr>
        <p:txBody>
          <a:bodyPr wrap="none" lIns="0" rIns="0">
            <a:noAutofit/>
          </a:bodyPr>
          <a:lstStyle/>
          <a:p>
            <a:pPr algn="l"/>
            <a:r>
              <a:rPr sz="3400" b="0" i="0">
                <a:solidFill>
                  <a:srgbClr val="0A2240"/>
                </a:solidFill>
                <a:latin typeface="Arial"/>
              </a:rPr>
              <a:t>Per question</a:t>
            </a:r>
          </a:p>
        </p:txBody>
      </p:sp>
      <p:sp>
        <p:nvSpPr>
          <p:cNvPr id="11" name="TextBox 10"/>
          <p:cNvSpPr txBox="1"/>
          <p:nvPr/>
        </p:nvSpPr>
        <p:spPr>
          <a:xfrm>
            <a:off x="3867733" y="3310127"/>
            <a:ext cx="3984406" cy="633984"/>
          </a:xfrm>
          <a:prstGeom prst="rect">
            <a:avLst/>
          </a:prstGeom>
          <a:noFill/>
        </p:spPr>
        <p:txBody>
          <a:bodyPr wrap="none" lIns="0" rIns="0">
            <a:noAutofit/>
          </a:bodyPr>
          <a:lstStyle/>
          <a:p>
            <a:pPr algn="l"/>
            <a:r>
              <a:rPr sz="3400" b="0" i="0">
                <a:solidFill>
                  <a:srgbClr val="0A2240"/>
                </a:solidFill>
                <a:latin typeface="Arial"/>
              </a:rPr>
              <a:t>More tokens</a:t>
            </a:r>
          </a:p>
        </p:txBody>
      </p:sp>
      <p:sp>
        <p:nvSpPr>
          <p:cNvPr id="12" name="TextBox 11"/>
          <p:cNvSpPr txBox="1"/>
          <p:nvPr/>
        </p:nvSpPr>
        <p:spPr>
          <a:xfrm>
            <a:off x="7445884" y="3310127"/>
            <a:ext cx="4329846" cy="633984"/>
          </a:xfrm>
          <a:prstGeom prst="rect">
            <a:avLst/>
          </a:prstGeom>
          <a:noFill/>
        </p:spPr>
        <p:txBody>
          <a:bodyPr wrap="none" lIns="0" rIns="0">
            <a:noAutofit/>
          </a:bodyPr>
          <a:lstStyle/>
          <a:p>
            <a:pPr algn="l"/>
            <a:r>
              <a:rPr sz="3400" b="0" i="0">
                <a:solidFill>
                  <a:srgbClr val="0A2240"/>
                </a:solidFill>
                <a:latin typeface="Arial"/>
              </a:rPr>
              <a:t>Fewer tokens</a:t>
            </a:r>
          </a:p>
        </p:txBody>
      </p:sp>
      <p:sp>
        <p:nvSpPr>
          <p:cNvPr id="13" name="TextBox 12"/>
          <p:cNvSpPr txBox="1"/>
          <p:nvPr/>
        </p:nvSpPr>
        <p:spPr>
          <a:xfrm>
            <a:off x="457200" y="4218431"/>
            <a:ext cx="4176692" cy="633984"/>
          </a:xfrm>
          <a:prstGeom prst="rect">
            <a:avLst/>
          </a:prstGeom>
          <a:noFill/>
        </p:spPr>
        <p:txBody>
          <a:bodyPr wrap="none" lIns="0" rIns="0">
            <a:noAutofit/>
          </a:bodyPr>
          <a:lstStyle/>
          <a:p>
            <a:pPr algn="l"/>
            <a:r>
              <a:rPr sz="3400" b="0" i="0">
                <a:solidFill>
                  <a:srgbClr val="0A2240"/>
                </a:solidFill>
                <a:latin typeface="Arial"/>
              </a:rPr>
              <a:t>Breaks when</a:t>
            </a:r>
          </a:p>
        </p:txBody>
      </p:sp>
      <p:sp>
        <p:nvSpPr>
          <p:cNvPr id="14" name="TextBox 13"/>
          <p:cNvSpPr txBox="1"/>
          <p:nvPr/>
        </p:nvSpPr>
        <p:spPr>
          <a:xfrm>
            <a:off x="3867733" y="4218431"/>
            <a:ext cx="4444881" cy="633984"/>
          </a:xfrm>
          <a:prstGeom prst="rect">
            <a:avLst/>
          </a:prstGeom>
          <a:noFill/>
        </p:spPr>
        <p:txBody>
          <a:bodyPr wrap="none" lIns="0" rIns="0">
            <a:noAutofit/>
          </a:bodyPr>
          <a:lstStyle/>
          <a:p>
            <a:pPr algn="l"/>
            <a:r>
              <a:rPr sz="3400" b="0" i="0">
                <a:solidFill>
                  <a:srgbClr val="0A2240"/>
                </a:solidFill>
                <a:latin typeface="Arial"/>
              </a:rPr>
              <a:t>Corpus grows</a:t>
            </a:r>
          </a:p>
        </p:txBody>
      </p:sp>
      <p:sp>
        <p:nvSpPr>
          <p:cNvPr id="15" name="TextBox 14"/>
          <p:cNvSpPr txBox="1"/>
          <p:nvPr/>
        </p:nvSpPr>
        <p:spPr>
          <a:xfrm>
            <a:off x="7445884" y="4218431"/>
            <a:ext cx="4713406" cy="633984"/>
          </a:xfrm>
          <a:prstGeom prst="rect">
            <a:avLst/>
          </a:prstGeom>
          <a:noFill/>
        </p:spPr>
        <p:txBody>
          <a:bodyPr wrap="none" lIns="0" rIns="0">
            <a:noAutofit/>
          </a:bodyPr>
          <a:lstStyle/>
          <a:p>
            <a:pPr algn="l"/>
            <a:r>
              <a:rPr sz="3400" b="0" i="0">
                <a:solidFill>
                  <a:srgbClr val="0A2240"/>
                </a:solidFill>
                <a:latin typeface="Arial"/>
              </a:rPr>
              <a:t>Search misses</a:t>
            </a:r>
          </a:p>
        </p:txBody>
      </p:sp>
      <p:sp>
        <p:nvSpPr>
          <p:cNvPr id="16" name="TextBox 15"/>
          <p:cNvSpPr txBox="1"/>
          <p:nvPr/>
        </p:nvSpPr>
        <p:spPr>
          <a:xfrm>
            <a:off x="457200" y="5126735"/>
            <a:ext cx="3909179" cy="633984"/>
          </a:xfrm>
          <a:prstGeom prst="rect">
            <a:avLst/>
          </a:prstGeom>
          <a:noFill/>
        </p:spPr>
        <p:txBody>
          <a:bodyPr wrap="none" lIns="0" rIns="0">
            <a:noAutofit/>
          </a:bodyPr>
          <a:lstStyle/>
          <a:p>
            <a:pPr algn="l"/>
            <a:r>
              <a:rPr sz="3400" b="0" i="0">
                <a:solidFill>
                  <a:srgbClr val="0A2240"/>
                </a:solidFill>
                <a:latin typeface="Arial"/>
              </a:rPr>
              <a:t>Debuggable</a:t>
            </a:r>
          </a:p>
        </p:txBody>
      </p:sp>
      <p:sp>
        <p:nvSpPr>
          <p:cNvPr id="17" name="TextBox 16"/>
          <p:cNvSpPr txBox="1"/>
          <p:nvPr/>
        </p:nvSpPr>
        <p:spPr>
          <a:xfrm>
            <a:off x="3867733" y="5126735"/>
            <a:ext cx="3029511" cy="633984"/>
          </a:xfrm>
          <a:prstGeom prst="rect">
            <a:avLst/>
          </a:prstGeom>
          <a:noFill/>
        </p:spPr>
        <p:txBody>
          <a:bodyPr wrap="none" lIns="0" rIns="0">
            <a:noAutofit/>
          </a:bodyPr>
          <a:lstStyle/>
          <a:p>
            <a:pPr algn="l"/>
            <a:r>
              <a:rPr sz="3400" b="0" i="0">
                <a:solidFill>
                  <a:srgbClr val="0A2240"/>
                </a:solidFill>
                <a:latin typeface="Arial"/>
              </a:rPr>
              <a:t>Easily</a:t>
            </a:r>
          </a:p>
        </p:txBody>
      </p:sp>
      <p:sp>
        <p:nvSpPr>
          <p:cNvPr id="18" name="TextBox 17"/>
          <p:cNvSpPr txBox="1"/>
          <p:nvPr/>
        </p:nvSpPr>
        <p:spPr>
          <a:xfrm>
            <a:off x="7445884" y="5126735"/>
            <a:ext cx="3600508" cy="633984"/>
          </a:xfrm>
          <a:prstGeom prst="rect">
            <a:avLst/>
          </a:prstGeom>
          <a:noFill/>
        </p:spPr>
        <p:txBody>
          <a:bodyPr wrap="none" lIns="0" rIns="0">
            <a:noAutofit/>
          </a:bodyPr>
          <a:lstStyle/>
          <a:p>
            <a:pPr algn="l"/>
            <a:r>
              <a:rPr sz="3400" b="0" i="0">
                <a:solidFill>
                  <a:srgbClr val="0A2240"/>
                </a:solidFill>
                <a:latin typeface="Arial"/>
              </a:rPr>
              <a:t>Less easily</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372611" cy="768096"/>
          </a:xfrm>
          <a:prstGeom prst="rect">
            <a:avLst/>
          </a:prstGeom>
          <a:noFill/>
        </p:spPr>
        <p:txBody>
          <a:bodyPr wrap="none" lIns="0" rIns="0">
            <a:noAutofit/>
          </a:bodyPr>
          <a:lstStyle/>
          <a:p>
            <a:pPr algn="l"/>
            <a:r>
              <a:rPr sz="4200" b="1" i="0">
                <a:solidFill>
                  <a:srgbClr val="0072CE"/>
                </a:solidFill>
                <a:latin typeface="Arial"/>
              </a:rPr>
              <a:t>The Costs Nobody Budgets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Chunking the documents well</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Deciding how many to fetch</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Debugging what it missed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Explaining it in the demo</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Measure before you architect</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5403948" cy="518159"/>
          </a:xfrm>
          <a:prstGeom prst="rect">
            <a:avLst/>
          </a:prstGeom>
          <a:noFill/>
        </p:spPr>
        <p:txBody>
          <a:bodyPr wrap="none" lIns="0" rIns="0">
            <a:noAutofit/>
          </a:bodyPr>
          <a:lstStyle/>
          <a:p>
            <a:pPr algn="l"/>
            <a:r>
              <a:rPr sz="3400" b="0" i="0">
                <a:solidFill>
                  <a:srgbClr val="FFFFFF"/>
                </a:solidFill>
                <a:latin typeface="Arial"/>
              </a:rPr>
              <a:t> wc -w docs/*.md</a:t>
            </a:r>
          </a:p>
        </p:txBody>
      </p:sp>
      <p:sp>
        <p:nvSpPr>
          <p:cNvPr id="8" name="TextBox 7"/>
          <p:cNvSpPr txBox="1"/>
          <p:nvPr/>
        </p:nvSpPr>
        <p:spPr>
          <a:xfrm>
            <a:off x="457200" y="2356103"/>
            <a:ext cx="4177704" cy="518159"/>
          </a:xfrm>
          <a:prstGeom prst="rect">
            <a:avLst/>
          </a:prstGeom>
          <a:noFill/>
        </p:spPr>
        <p:txBody>
          <a:bodyPr wrap="none" lIns="0" rIns="0">
            <a:noAutofit/>
          </a:bodyPr>
          <a:lstStyle/>
          <a:p>
            <a:pPr algn="l"/>
            <a:r>
              <a:rPr sz="3400" b="0" i="0">
                <a:solidFill>
                  <a:srgbClr val="FFFFFF"/>
                </a:solidFill>
                <a:latin typeface="Arial"/>
              </a:rPr>
              <a:t>  41,204 total</a:t>
            </a:r>
          </a:p>
        </p:txBody>
      </p:sp>
      <p:sp>
        <p:nvSpPr>
          <p:cNvPr id="9" name="TextBox 8"/>
          <p:cNvSpPr txBox="1"/>
          <p:nvPr/>
        </p:nvSpPr>
        <p:spPr>
          <a:xfrm>
            <a:off x="457200" y="3392421"/>
            <a:ext cx="6538436" cy="518159"/>
          </a:xfrm>
          <a:prstGeom prst="rect">
            <a:avLst/>
          </a:prstGeom>
          <a:noFill/>
        </p:spPr>
        <p:txBody>
          <a:bodyPr wrap="none" lIns="0" rIns="0">
            <a:noAutofit/>
          </a:bodyPr>
          <a:lstStyle/>
          <a:p>
            <a:pPr algn="l"/>
            <a:r>
              <a:rPr sz="3400" b="0" i="0">
                <a:solidFill>
                  <a:srgbClr val="FFFFFF"/>
                </a:solidFill>
                <a:latin typeface="Arial"/>
              </a:rPr>
              <a:t># ~55k tokens. It fits.</a:t>
            </a:r>
          </a:p>
        </p:txBody>
      </p:sp>
      <p:sp>
        <p:nvSpPr>
          <p:cNvPr id="10" name="TextBox 9"/>
          <p:cNvSpPr txBox="1"/>
          <p:nvPr/>
        </p:nvSpPr>
        <p:spPr>
          <a:xfrm>
            <a:off x="457200" y="3910580"/>
            <a:ext cx="8811459" cy="518159"/>
          </a:xfrm>
          <a:prstGeom prst="rect">
            <a:avLst/>
          </a:prstGeom>
          <a:noFill/>
        </p:spPr>
        <p:txBody>
          <a:bodyPr wrap="none" lIns="0" rIns="0">
            <a:noAutofit/>
          </a:bodyPr>
          <a:lstStyle/>
          <a:p>
            <a:pPr algn="l"/>
            <a:r>
              <a:rPr sz="3400" b="0" i="0">
                <a:solidFill>
                  <a:srgbClr val="FFFFFF"/>
                </a:solidFill>
                <a:latin typeface="Arial"/>
              </a:rPr>
              <a:t># No retrieval needed today.</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You Are Over-Building If</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picked a vector database first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Your corpus is under 20 files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cannot name a missed query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is not tomorrow's demo step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"The cheapest thing that works."</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Objective two, in five words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The Smallest Layer</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Project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workspace with your files always in context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It Is the Baseline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Standing it up takes minutes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 keys, no store, no code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Your files are simply there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Anyone can drive 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Stand One Up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Create the Project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Name it after the problem</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Add your documents</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The real ones, not samples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Write the instructions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Say how to answer, and how not to</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Project instructions worth writing</a:t>
            </a:r>
          </a:p>
        </p:txBody>
      </p:sp>
      <p:sp>
        <p:nvSpPr>
          <p:cNvPr id="6" name="TextBox 5"/>
          <p:cNvSpPr txBox="1"/>
          <p:nvPr/>
        </p:nvSpPr>
        <p:spPr>
          <a:xfrm>
            <a:off x="457200" y="1837944"/>
            <a:ext cx="4137897" cy="518159"/>
          </a:xfrm>
          <a:prstGeom prst="rect">
            <a:avLst/>
          </a:prstGeom>
          <a:noFill/>
        </p:spPr>
        <p:txBody>
          <a:bodyPr wrap="none" lIns="0" rIns="0">
            <a:noAutofit/>
          </a:bodyPr>
          <a:lstStyle/>
          <a:p>
            <a:pPr algn="l"/>
            <a:r>
              <a:rPr sz="3400" b="0" i="0">
                <a:solidFill>
                  <a:srgbClr val="FFFFFF"/>
                </a:solidFill>
                <a:latin typeface="Arial"/>
              </a:rPr>
              <a:t>Answer only </a:t>
            </a:r>
          </a:p>
        </p:txBody>
      </p:sp>
      <p:sp>
        <p:nvSpPr>
          <p:cNvPr id="7" name="TextBox 6"/>
          <p:cNvSpPr txBox="1"/>
          <p:nvPr/>
        </p:nvSpPr>
        <p:spPr>
          <a:xfrm>
            <a:off x="2929086" y="1837944"/>
            <a:ext cx="1564640" cy="518159"/>
          </a:xfrm>
          <a:prstGeom prst="rect">
            <a:avLst/>
          </a:prstGeom>
          <a:noFill/>
        </p:spPr>
        <p:txBody>
          <a:bodyPr wrap="none" lIns="0" rIns="0">
            <a:noAutofit/>
          </a:bodyPr>
          <a:lstStyle/>
          <a:p>
            <a:pPr algn="l"/>
            <a:r>
              <a:rPr sz="3400" b="0" i="0">
                <a:solidFill>
                  <a:srgbClr val="569CD6"/>
                </a:solidFill>
                <a:latin typeface="Arial"/>
              </a:rPr>
              <a:t>from</a:t>
            </a:r>
          </a:p>
        </p:txBody>
      </p:sp>
      <p:sp>
        <p:nvSpPr>
          <p:cNvPr id="8" name="TextBox 7"/>
          <p:cNvSpPr txBox="1"/>
          <p:nvPr/>
        </p:nvSpPr>
        <p:spPr>
          <a:xfrm>
            <a:off x="3792686" y="1837944"/>
            <a:ext cx="5790208" cy="518159"/>
          </a:xfrm>
          <a:prstGeom prst="rect">
            <a:avLst/>
          </a:prstGeom>
          <a:noFill/>
        </p:spPr>
        <p:txBody>
          <a:bodyPr wrap="none" lIns="0" rIns="0">
            <a:noAutofit/>
          </a:bodyPr>
          <a:lstStyle/>
          <a:p>
            <a:pPr algn="l"/>
            <a:r>
              <a:rPr sz="3400" b="0" i="0">
                <a:solidFill>
                  <a:srgbClr val="FFFFFF"/>
                </a:solidFill>
                <a:latin typeface="Arial"/>
              </a:rPr>
              <a:t> the attached files.</a:t>
            </a:r>
          </a:p>
        </p:txBody>
      </p:sp>
      <p:sp>
        <p:nvSpPr>
          <p:cNvPr id="9" name="TextBox 8"/>
          <p:cNvSpPr txBox="1"/>
          <p:nvPr/>
        </p:nvSpPr>
        <p:spPr>
          <a:xfrm>
            <a:off x="457200" y="2356103"/>
            <a:ext cx="9208512" cy="518159"/>
          </a:xfrm>
          <a:prstGeom prst="rect">
            <a:avLst/>
          </a:prstGeom>
          <a:noFill/>
        </p:spPr>
        <p:txBody>
          <a:bodyPr wrap="none" lIns="0" rIns="0">
            <a:noAutofit/>
          </a:bodyPr>
          <a:lstStyle/>
          <a:p>
            <a:pPr algn="l"/>
            <a:r>
              <a:rPr sz="3400" b="0" i="0">
                <a:solidFill>
                  <a:srgbClr val="FFFFFF"/>
                </a:solidFill>
                <a:latin typeface="Arial"/>
              </a:rPr>
              <a:t>Quote the filename you used.</a:t>
            </a:r>
          </a:p>
        </p:txBody>
      </p:sp>
      <p:sp>
        <p:nvSpPr>
          <p:cNvPr id="10" name="TextBox 9"/>
          <p:cNvSpPr txBox="1"/>
          <p:nvPr/>
        </p:nvSpPr>
        <p:spPr>
          <a:xfrm>
            <a:off x="457200" y="2874262"/>
            <a:ext cx="4292064" cy="518159"/>
          </a:xfrm>
          <a:prstGeom prst="rect">
            <a:avLst/>
          </a:prstGeom>
          <a:noFill/>
        </p:spPr>
        <p:txBody>
          <a:bodyPr wrap="none" lIns="0" rIns="0">
            <a:noAutofit/>
          </a:bodyPr>
          <a:lstStyle/>
          <a:p>
            <a:pPr algn="l"/>
            <a:r>
              <a:rPr sz="3400" b="0" i="0">
                <a:solidFill>
                  <a:srgbClr val="FFFFFF"/>
                </a:solidFill>
                <a:latin typeface="Arial"/>
              </a:rPr>
              <a:t>If the files do </a:t>
            </a:r>
          </a:p>
        </p:txBody>
      </p:sp>
      <p:sp>
        <p:nvSpPr>
          <p:cNvPr id="11" name="TextBox 10"/>
          <p:cNvSpPr txBox="1"/>
          <p:nvPr/>
        </p:nvSpPr>
        <p:spPr>
          <a:xfrm>
            <a:off x="3025440" y="2874262"/>
            <a:ext cx="1143297" cy="518159"/>
          </a:xfrm>
          <a:prstGeom prst="rect">
            <a:avLst/>
          </a:prstGeom>
          <a:noFill/>
        </p:spPr>
        <p:txBody>
          <a:bodyPr wrap="none" lIns="0" rIns="0">
            <a:noAutofit/>
          </a:bodyPr>
          <a:lstStyle/>
          <a:p>
            <a:pPr algn="l"/>
            <a:r>
              <a:rPr sz="3400" b="0" i="0">
                <a:solidFill>
                  <a:srgbClr val="569CD6"/>
                </a:solidFill>
                <a:latin typeface="Arial"/>
              </a:rPr>
              <a:t>not</a:t>
            </a:r>
          </a:p>
        </p:txBody>
      </p:sp>
      <p:sp>
        <p:nvSpPr>
          <p:cNvPr id="12" name="TextBox 11"/>
          <p:cNvSpPr txBox="1"/>
          <p:nvPr/>
        </p:nvSpPr>
        <p:spPr>
          <a:xfrm>
            <a:off x="3625701" y="2874262"/>
            <a:ext cx="2793584" cy="518159"/>
          </a:xfrm>
          <a:prstGeom prst="rect">
            <a:avLst/>
          </a:prstGeom>
          <a:noFill/>
        </p:spPr>
        <p:txBody>
          <a:bodyPr wrap="none" lIns="0" rIns="0">
            <a:noAutofit/>
          </a:bodyPr>
          <a:lstStyle/>
          <a:p>
            <a:pPr algn="l"/>
            <a:r>
              <a:rPr sz="3400" b="0" i="0">
                <a:solidFill>
                  <a:srgbClr val="FFFFFF"/>
                </a:solidFill>
                <a:latin typeface="Arial"/>
              </a:rPr>
              <a:t> cover it,</a:t>
            </a:r>
          </a:p>
        </p:txBody>
      </p:sp>
      <p:sp>
        <p:nvSpPr>
          <p:cNvPr id="13" name="TextBox 12"/>
          <p:cNvSpPr txBox="1"/>
          <p:nvPr/>
        </p:nvSpPr>
        <p:spPr>
          <a:xfrm>
            <a:off x="457200" y="3392421"/>
            <a:ext cx="5737920" cy="518159"/>
          </a:xfrm>
          <a:prstGeom prst="rect">
            <a:avLst/>
          </a:prstGeom>
          <a:noFill/>
        </p:spPr>
        <p:txBody>
          <a:bodyPr wrap="none" lIns="0" rIns="0">
            <a:noAutofit/>
          </a:bodyPr>
          <a:lstStyle/>
          <a:p>
            <a:pPr algn="l"/>
            <a:r>
              <a:rPr sz="3400" b="0" i="0">
                <a:solidFill>
                  <a:srgbClr val="FFFFFF"/>
                </a:solidFill>
                <a:latin typeface="Arial"/>
              </a:rPr>
              <a:t>say so plainly. Do </a:t>
            </a:r>
          </a:p>
        </p:txBody>
      </p:sp>
      <p:sp>
        <p:nvSpPr>
          <p:cNvPr id="14" name="TextBox 13"/>
          <p:cNvSpPr txBox="1"/>
          <p:nvPr/>
        </p:nvSpPr>
        <p:spPr>
          <a:xfrm>
            <a:off x="3929100" y="3392421"/>
            <a:ext cx="1143297" cy="518159"/>
          </a:xfrm>
          <a:prstGeom prst="rect">
            <a:avLst/>
          </a:prstGeom>
          <a:noFill/>
        </p:spPr>
        <p:txBody>
          <a:bodyPr wrap="none" lIns="0" rIns="0">
            <a:noAutofit/>
          </a:bodyPr>
          <a:lstStyle/>
          <a:p>
            <a:pPr algn="l"/>
            <a:r>
              <a:rPr sz="3400" b="0" i="0">
                <a:solidFill>
                  <a:srgbClr val="569CD6"/>
                </a:solidFill>
                <a:latin typeface="Arial"/>
              </a:rPr>
              <a:t>not</a:t>
            </a:r>
          </a:p>
        </p:txBody>
      </p:sp>
      <p:sp>
        <p:nvSpPr>
          <p:cNvPr id="15" name="TextBox 14"/>
          <p:cNvSpPr txBox="1"/>
          <p:nvPr/>
        </p:nvSpPr>
        <p:spPr>
          <a:xfrm>
            <a:off x="4529361" y="3392421"/>
            <a:ext cx="2410360" cy="518159"/>
          </a:xfrm>
          <a:prstGeom prst="rect">
            <a:avLst/>
          </a:prstGeom>
          <a:noFill/>
        </p:spPr>
        <p:txBody>
          <a:bodyPr wrap="none" lIns="0" rIns="0">
            <a:noAutofit/>
          </a:bodyPr>
          <a:lstStyle/>
          <a:p>
            <a:pPr algn="l"/>
            <a:r>
              <a:rPr sz="3400" b="0" i="0">
                <a:solidFill>
                  <a:srgbClr val="FFFFFF"/>
                </a:solidFill>
                <a:latin typeface="Arial"/>
              </a:rPr>
              <a:t> guess.</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Goes in the Project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documents you must cite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example of a good answer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Your glossary and odd terms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Nothing you would not ship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Baseline to Beat</a:t>
            </a:r>
          </a:p>
        </p:txBody>
      </p:sp>
      <p:sp>
        <p:nvSpPr>
          <p:cNvPr id="3" name="TextBox 2"/>
          <p:cNvSpPr txBox="1"/>
          <p:nvPr/>
        </p:nvSpPr>
        <p:spPr>
          <a:xfrm>
            <a:off x="457200" y="1499616"/>
            <a:ext cx="4302140" cy="518159"/>
          </a:xfrm>
          <a:prstGeom prst="rect">
            <a:avLst/>
          </a:prstGeom>
          <a:noFill/>
        </p:spPr>
        <p:txBody>
          <a:bodyPr wrap="none" lIns="0" rIns="0">
            <a:noAutofit/>
          </a:bodyPr>
          <a:lstStyle/>
          <a:p>
            <a:pPr algn="l"/>
            <a:r>
              <a:rPr sz="3400" b="1" i="0">
                <a:solidFill>
                  <a:srgbClr val="0072CE"/>
                </a:solidFill>
                <a:latin typeface="Arial"/>
              </a:rPr>
              <a:t>Measure</a:t>
            </a:r>
          </a:p>
        </p:txBody>
      </p:sp>
      <p:sp>
        <p:nvSpPr>
          <p:cNvPr id="4" name="TextBox 3"/>
          <p:cNvSpPr txBox="1"/>
          <p:nvPr/>
        </p:nvSpPr>
        <p:spPr>
          <a:xfrm>
            <a:off x="5307980" y="1499616"/>
            <a:ext cx="4709904" cy="518159"/>
          </a:xfrm>
          <a:prstGeom prst="rect">
            <a:avLst/>
          </a:prstGeom>
          <a:noFill/>
        </p:spPr>
        <p:txBody>
          <a:bodyPr wrap="none" lIns="0" rIns="0">
            <a:noAutofit/>
          </a:bodyPr>
          <a:lstStyle/>
          <a:p>
            <a:pPr algn="l"/>
            <a:r>
              <a:rPr sz="3400" b="1" i="0">
                <a:solidFill>
                  <a:srgbClr val="0072CE"/>
                </a:solidFill>
                <a:latin typeface="Arial"/>
              </a:rPr>
              <a:t>Your target</a:t>
            </a:r>
          </a:p>
        </p:txBody>
      </p:sp>
      <p:sp>
        <p:nvSpPr>
          <p:cNvPr id="5" name="Rectangle 4"/>
          <p:cNvSpPr/>
          <p:nvPr/>
        </p:nvSpPr>
        <p:spPr>
          <a:xfrm>
            <a:off x="457200" y="2072639"/>
            <a:ext cx="9560684"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6481088" cy="633984"/>
          </a:xfrm>
          <a:prstGeom prst="rect">
            <a:avLst/>
          </a:prstGeom>
          <a:noFill/>
        </p:spPr>
        <p:txBody>
          <a:bodyPr wrap="none" lIns="0" rIns="0">
            <a:noAutofit/>
          </a:bodyPr>
          <a:lstStyle/>
          <a:p>
            <a:pPr algn="l"/>
            <a:r>
              <a:rPr sz="3400" b="0" i="0">
                <a:solidFill>
                  <a:srgbClr val="0A2240"/>
                </a:solidFill>
                <a:latin typeface="Arial"/>
              </a:rPr>
              <a:t>Questions answered</a:t>
            </a:r>
          </a:p>
        </p:txBody>
      </p:sp>
      <p:sp>
        <p:nvSpPr>
          <p:cNvPr id="7" name="TextBox 6"/>
          <p:cNvSpPr txBox="1"/>
          <p:nvPr/>
        </p:nvSpPr>
        <p:spPr>
          <a:xfrm>
            <a:off x="5307980" y="2401823"/>
            <a:ext cx="6788070" cy="633984"/>
          </a:xfrm>
          <a:prstGeom prst="rect">
            <a:avLst/>
          </a:prstGeom>
          <a:noFill/>
        </p:spPr>
        <p:txBody>
          <a:bodyPr wrap="none" lIns="0" rIns="0">
            <a:noAutofit/>
          </a:bodyPr>
          <a:lstStyle/>
          <a:p>
            <a:pPr algn="l"/>
            <a:r>
              <a:rPr sz="3400" b="0" i="0">
                <a:solidFill>
                  <a:srgbClr val="0A2240"/>
                </a:solidFill>
                <a:latin typeface="Arial"/>
              </a:rPr>
              <a:t>More than the Project</a:t>
            </a:r>
          </a:p>
        </p:txBody>
      </p:sp>
      <p:sp>
        <p:nvSpPr>
          <p:cNvPr id="8" name="TextBox 7"/>
          <p:cNvSpPr txBox="1"/>
          <p:nvPr/>
        </p:nvSpPr>
        <p:spPr>
          <a:xfrm>
            <a:off x="457200" y="3310127"/>
            <a:ext cx="4969787" cy="633984"/>
          </a:xfrm>
          <a:prstGeom prst="rect">
            <a:avLst/>
          </a:prstGeom>
          <a:noFill/>
        </p:spPr>
        <p:txBody>
          <a:bodyPr wrap="none" lIns="0" rIns="0">
            <a:noAutofit/>
          </a:bodyPr>
          <a:lstStyle/>
          <a:p>
            <a:pPr algn="l"/>
            <a:r>
              <a:rPr sz="3400" b="0" i="0">
                <a:solidFill>
                  <a:srgbClr val="0A2240"/>
                </a:solidFill>
                <a:latin typeface="Arial"/>
              </a:rPr>
              <a:t>Wrong answers</a:t>
            </a:r>
          </a:p>
        </p:txBody>
      </p:sp>
      <p:sp>
        <p:nvSpPr>
          <p:cNvPr id="9" name="TextBox 8"/>
          <p:cNvSpPr txBox="1"/>
          <p:nvPr/>
        </p:nvSpPr>
        <p:spPr>
          <a:xfrm>
            <a:off x="5307980" y="3310127"/>
            <a:ext cx="6884020" cy="633984"/>
          </a:xfrm>
          <a:prstGeom prst="rect">
            <a:avLst/>
          </a:prstGeom>
          <a:noFill/>
        </p:spPr>
        <p:txBody>
          <a:bodyPr wrap="none" lIns="0" rIns="0">
            <a:noAutofit/>
          </a:bodyPr>
          <a:lstStyle/>
          <a:p>
            <a:pPr algn="l"/>
            <a:r>
              <a:rPr sz="3400" b="0" i="0">
                <a:solidFill>
                  <a:srgbClr val="0A2240"/>
                </a:solidFill>
                <a:latin typeface="Arial"/>
              </a:rPr>
              <a:t>Fewer than the Project</a:t>
            </a:r>
          </a:p>
        </p:txBody>
      </p:sp>
      <p:sp>
        <p:nvSpPr>
          <p:cNvPr id="10" name="TextBox 9"/>
          <p:cNvSpPr txBox="1"/>
          <p:nvPr/>
        </p:nvSpPr>
        <p:spPr>
          <a:xfrm>
            <a:off x="457200" y="4218431"/>
            <a:ext cx="4302140" cy="633984"/>
          </a:xfrm>
          <a:prstGeom prst="rect">
            <a:avLst/>
          </a:prstGeom>
          <a:noFill/>
        </p:spPr>
        <p:txBody>
          <a:bodyPr wrap="none" lIns="0" rIns="0">
            <a:noAutofit/>
          </a:bodyPr>
          <a:lstStyle/>
          <a:p>
            <a:pPr algn="l"/>
            <a:r>
              <a:rPr sz="3400" b="0" i="0">
                <a:solidFill>
                  <a:srgbClr val="0A2240"/>
                </a:solidFill>
                <a:latin typeface="Arial"/>
              </a:rPr>
              <a:t>Time to build</a:t>
            </a:r>
          </a:p>
        </p:txBody>
      </p:sp>
      <p:sp>
        <p:nvSpPr>
          <p:cNvPr id="11" name="TextBox 10"/>
          <p:cNvSpPr txBox="1"/>
          <p:nvPr/>
        </p:nvSpPr>
        <p:spPr>
          <a:xfrm>
            <a:off x="5307980" y="4218431"/>
            <a:ext cx="6520556" cy="633984"/>
          </a:xfrm>
          <a:prstGeom prst="rect">
            <a:avLst/>
          </a:prstGeom>
          <a:noFill/>
        </p:spPr>
        <p:txBody>
          <a:bodyPr wrap="none" lIns="0" rIns="0">
            <a:noAutofit/>
          </a:bodyPr>
          <a:lstStyle/>
          <a:p>
            <a:pPr algn="l"/>
            <a:r>
              <a:rPr sz="3400" b="0" i="0">
                <a:solidFill>
                  <a:srgbClr val="0A2240"/>
                </a:solidFill>
                <a:latin typeface="Arial"/>
              </a:rPr>
              <a:t>Under one afternoon</a:t>
            </a:r>
          </a:p>
        </p:txBody>
      </p:sp>
      <p:sp>
        <p:nvSpPr>
          <p:cNvPr id="12" name="TextBox 11"/>
          <p:cNvSpPr txBox="1"/>
          <p:nvPr/>
        </p:nvSpPr>
        <p:spPr>
          <a:xfrm>
            <a:off x="457200" y="5126735"/>
            <a:ext cx="6441955" cy="633984"/>
          </a:xfrm>
          <a:prstGeom prst="rect">
            <a:avLst/>
          </a:prstGeom>
          <a:noFill/>
        </p:spPr>
        <p:txBody>
          <a:bodyPr wrap="none" lIns="0" rIns="0">
            <a:noAutofit/>
          </a:bodyPr>
          <a:lstStyle/>
          <a:p>
            <a:pPr algn="l"/>
            <a:r>
              <a:rPr sz="3400" b="0" i="0">
                <a:solidFill>
                  <a:srgbClr val="0A2240"/>
                </a:solidFill>
                <a:latin typeface="Arial"/>
              </a:rPr>
              <a:t>Teammate can run it</a:t>
            </a:r>
          </a:p>
        </p:txBody>
      </p:sp>
      <p:sp>
        <p:nvSpPr>
          <p:cNvPr id="13" name="TextBox 12"/>
          <p:cNvSpPr txBox="1"/>
          <p:nvPr/>
        </p:nvSpPr>
        <p:spPr>
          <a:xfrm>
            <a:off x="5307980" y="5126735"/>
            <a:ext cx="4709904" cy="633984"/>
          </a:xfrm>
          <a:prstGeom prst="rect">
            <a:avLst/>
          </a:prstGeom>
          <a:noFill/>
        </p:spPr>
        <p:txBody>
          <a:bodyPr wrap="none" lIns="0" rIns="0">
            <a:noAutofit/>
          </a:bodyPr>
          <a:lstStyle/>
          <a:p>
            <a:pPr algn="l"/>
            <a:r>
              <a:rPr sz="3400" b="0" i="0">
                <a:solidFill>
                  <a:srgbClr val="0A2240"/>
                </a:solidFill>
                <a:latin typeface="Arial"/>
              </a:rPr>
              <a:t>Yes</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to Know You Beat It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Write ten questions</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Real ones, before you build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730017" cy="640080"/>
          </a:xfrm>
          <a:prstGeom prst="rect">
            <a:avLst/>
          </a:prstGeom>
          <a:noFill/>
        </p:spPr>
        <p:txBody>
          <a:bodyPr wrap="none" lIns="0" rIns="0">
            <a:noAutofit/>
          </a:bodyPr>
          <a:lstStyle/>
          <a:p>
            <a:pPr algn="l"/>
            <a:r>
              <a:rPr sz="4200" b="1" i="0">
                <a:solidFill>
                  <a:srgbClr val="0072CE"/>
                </a:solidFill>
                <a:latin typeface="Arial"/>
              </a:rPr>
              <a:t>Run both, same questions</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Project first, then yours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Count, do not vibe</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Keep whichever wins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Three Layers, Cheapest First</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Paste it in</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Zero build; use it while the corpus is small</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Claude Project</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Minutes to stand up; the baseline to beat</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Real retrieval</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Only once you can name what the others missed</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When to Graduate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Project cannot hold it all</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 can name what it missed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corpus changes daily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You have the afternoon spare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Teams, Same Corpus</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Built retrieval</a:t>
            </a:r>
          </a:p>
        </p:txBody>
      </p:sp>
      <p:sp>
        <p:nvSpPr>
          <p:cNvPr id="4" name="TextBox 3"/>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Used a Project</a:t>
            </a:r>
          </a:p>
        </p:txBody>
      </p:sp>
      <p:sp>
        <p:nvSpPr>
          <p:cNvPr id="5" name="TextBox 4"/>
          <p:cNvSpPr txBox="1"/>
          <p:nvPr/>
        </p:nvSpPr>
        <p:spPr>
          <a:xfrm>
            <a:off x="457200" y="2395727"/>
            <a:ext cx="7096740" cy="847344"/>
          </a:xfrm>
          <a:prstGeom prst="rect">
            <a:avLst/>
          </a:prstGeom>
          <a:noFill/>
        </p:spPr>
        <p:txBody>
          <a:bodyPr wrap="none" lIns="0" rIns="0">
            <a:noAutofit/>
          </a:bodyPr>
          <a:lstStyle/>
          <a:p>
            <a:pPr algn="l"/>
            <a:r>
              <a:rPr sz="3400" b="0" i="0">
                <a:solidFill>
                  <a:srgbClr val="0A2240"/>
                </a:solidFill>
                <a:latin typeface="Arial"/>
              </a:rPr>
              <a:t>Afternoon on chunking</a:t>
            </a:r>
          </a:p>
        </p:txBody>
      </p:sp>
      <p:sp>
        <p:nvSpPr>
          <p:cNvPr id="6" name="TextBox 5"/>
          <p:cNvSpPr txBox="1"/>
          <p:nvPr/>
        </p:nvSpPr>
        <p:spPr>
          <a:xfrm>
            <a:off x="6233160" y="2395727"/>
            <a:ext cx="5958840" cy="847344"/>
          </a:xfrm>
          <a:prstGeom prst="rect">
            <a:avLst/>
          </a:prstGeom>
          <a:noFill/>
        </p:spPr>
        <p:txBody>
          <a:bodyPr wrap="none" lIns="0" rIns="0">
            <a:noAutofit/>
          </a:bodyPr>
          <a:lstStyle/>
          <a:p>
            <a:pPr algn="l"/>
            <a:r>
              <a:rPr sz="3400" b="0" i="0">
                <a:solidFill>
                  <a:srgbClr val="0A2240"/>
                </a:solidFill>
                <a:latin typeface="Arial"/>
              </a:rPr>
              <a:t>Twenty minutes total</a:t>
            </a:r>
          </a:p>
        </p:txBody>
      </p:sp>
      <p:sp>
        <p:nvSpPr>
          <p:cNvPr id="7" name="TextBox 6"/>
          <p:cNvSpPr txBox="1"/>
          <p:nvPr/>
        </p:nvSpPr>
        <p:spPr>
          <a:xfrm>
            <a:off x="457200" y="3517391"/>
            <a:ext cx="7671236" cy="847344"/>
          </a:xfrm>
          <a:prstGeom prst="rect">
            <a:avLst/>
          </a:prstGeom>
          <a:noFill/>
        </p:spPr>
        <p:txBody>
          <a:bodyPr wrap="none" lIns="0" rIns="0">
            <a:noAutofit/>
          </a:bodyPr>
          <a:lstStyle/>
          <a:p>
            <a:pPr algn="l"/>
            <a:r>
              <a:rPr sz="3400" b="0" i="0">
                <a:solidFill>
                  <a:srgbClr val="0A2240"/>
                </a:solidFill>
                <a:latin typeface="Arial"/>
              </a:rPr>
              <a:t>Demo has a search step</a:t>
            </a:r>
          </a:p>
        </p:txBody>
      </p:sp>
      <p:sp>
        <p:nvSpPr>
          <p:cNvPr id="8" name="TextBox 7"/>
          <p:cNvSpPr txBox="1"/>
          <p:nvPr/>
        </p:nvSpPr>
        <p:spPr>
          <a:xfrm>
            <a:off x="6233160" y="3517391"/>
            <a:ext cx="5958840" cy="847344"/>
          </a:xfrm>
          <a:prstGeom prst="rect">
            <a:avLst/>
          </a:prstGeom>
          <a:noFill/>
        </p:spPr>
        <p:txBody>
          <a:bodyPr wrap="none" lIns="0" rIns="0">
            <a:noAutofit/>
          </a:bodyPr>
          <a:lstStyle/>
          <a:p>
            <a:pPr algn="l"/>
            <a:r>
              <a:rPr sz="3400" b="0" i="0">
                <a:solidFill>
                  <a:srgbClr val="0A2240"/>
                </a:solidFill>
                <a:latin typeface="Arial"/>
              </a:rPr>
              <a:t>Demo has an answer</a:t>
            </a:r>
          </a:p>
        </p:txBody>
      </p:sp>
      <p:sp>
        <p:nvSpPr>
          <p:cNvPr id="9" name="TextBox 8"/>
          <p:cNvSpPr txBox="1"/>
          <p:nvPr/>
        </p:nvSpPr>
        <p:spPr>
          <a:xfrm>
            <a:off x="457200" y="4639055"/>
            <a:ext cx="7057270" cy="847344"/>
          </a:xfrm>
          <a:prstGeom prst="rect">
            <a:avLst/>
          </a:prstGeom>
          <a:noFill/>
        </p:spPr>
        <p:txBody>
          <a:bodyPr wrap="none" lIns="0" rIns="0">
            <a:noAutofit/>
          </a:bodyPr>
          <a:lstStyle/>
          <a:p>
            <a:pPr algn="l"/>
            <a:r>
              <a:rPr sz="3400" b="0" i="0">
                <a:solidFill>
                  <a:srgbClr val="0A2240"/>
                </a:solidFill>
                <a:latin typeface="Arial"/>
              </a:rPr>
              <a:t>Nobody else can run it</a:t>
            </a:r>
          </a:p>
        </p:txBody>
      </p:sp>
      <p:sp>
        <p:nvSpPr>
          <p:cNvPr id="10" name="TextBox 9"/>
          <p:cNvSpPr txBox="1"/>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Whole team can run it</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Every box has a tool name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Every box is build or stub</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Retrieval decided, not deferred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baseline is standing up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372982"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378822"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784697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6096179" cy="633984"/>
          </a:xfrm>
          <a:prstGeom prst="rect">
            <a:avLst/>
          </a:prstGeom>
          <a:noFill/>
        </p:spPr>
        <p:txBody>
          <a:bodyPr wrap="none" lIns="0" rIns="0">
            <a:noAutofit/>
          </a:bodyPr>
          <a:lstStyle/>
          <a:p>
            <a:pPr algn="l"/>
            <a:r>
              <a:rPr sz="3400" b="0" i="0">
                <a:solidFill>
                  <a:srgbClr val="0A2240"/>
                </a:solidFill>
                <a:latin typeface="Arial"/>
              </a:rPr>
              <a:t>Riskiest tool choice</a:t>
            </a:r>
          </a:p>
        </p:txBody>
      </p:sp>
      <p:sp>
        <p:nvSpPr>
          <p:cNvPr id="7" name="TextBox 6"/>
          <p:cNvSpPr txBox="1"/>
          <p:nvPr/>
        </p:nvSpPr>
        <p:spPr>
          <a:xfrm>
            <a:off x="5378822"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4372982" cy="633984"/>
          </a:xfrm>
          <a:prstGeom prst="rect">
            <a:avLst/>
          </a:prstGeom>
          <a:noFill/>
        </p:spPr>
        <p:txBody>
          <a:bodyPr wrap="none" lIns="0" rIns="0">
            <a:noAutofit/>
          </a:bodyPr>
          <a:lstStyle/>
          <a:p>
            <a:pPr algn="l"/>
            <a:r>
              <a:rPr sz="3400" b="0" i="0">
                <a:solidFill>
                  <a:srgbClr val="0A2240"/>
                </a:solidFill>
                <a:latin typeface="Arial"/>
              </a:rPr>
              <a:t>Biggest stub</a:t>
            </a:r>
          </a:p>
        </p:txBody>
      </p:sp>
      <p:sp>
        <p:nvSpPr>
          <p:cNvPr id="9" name="TextBox 8"/>
          <p:cNvSpPr txBox="1"/>
          <p:nvPr/>
        </p:nvSpPr>
        <p:spPr>
          <a:xfrm>
            <a:off x="5378822"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6134635" cy="633984"/>
          </a:xfrm>
          <a:prstGeom prst="rect">
            <a:avLst/>
          </a:prstGeom>
          <a:noFill/>
        </p:spPr>
        <p:txBody>
          <a:bodyPr wrap="none" lIns="0" rIns="0">
            <a:noAutofit/>
          </a:bodyPr>
          <a:lstStyle/>
          <a:p>
            <a:pPr algn="l"/>
            <a:r>
              <a:rPr sz="3400" b="0" i="0">
                <a:solidFill>
                  <a:srgbClr val="0A2240"/>
                </a:solidFill>
                <a:latin typeface="Arial"/>
              </a:rPr>
              <a:t>Retrieval: yes or no</a:t>
            </a:r>
          </a:p>
        </p:txBody>
      </p:sp>
      <p:sp>
        <p:nvSpPr>
          <p:cNvPr id="11" name="TextBox 10"/>
          <p:cNvSpPr txBox="1"/>
          <p:nvPr/>
        </p:nvSpPr>
        <p:spPr>
          <a:xfrm>
            <a:off x="5378822"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6594435" cy="633984"/>
          </a:xfrm>
          <a:prstGeom prst="rect">
            <a:avLst/>
          </a:prstGeom>
          <a:noFill/>
        </p:spPr>
        <p:txBody>
          <a:bodyPr wrap="none" lIns="0" rIns="0">
            <a:noAutofit/>
          </a:bodyPr>
          <a:lstStyle/>
          <a:p>
            <a:pPr algn="l"/>
            <a:r>
              <a:rPr sz="3400" b="0" i="0">
                <a:solidFill>
                  <a:srgbClr val="0A2240"/>
                </a:solidFill>
                <a:latin typeface="Arial"/>
              </a:rPr>
              <a:t>What proves it works</a:t>
            </a:r>
          </a:p>
        </p:txBody>
      </p:sp>
      <p:sp>
        <p:nvSpPr>
          <p:cNvPr id="13" name="TextBox 12"/>
          <p:cNvSpPr txBox="1"/>
          <p:nvPr/>
        </p:nvSpPr>
        <p:spPr>
          <a:xfrm>
            <a:off x="5378822"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Can you start building?</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Next: Building the Happy Path</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known-good input, end to end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 edge cases, no error handling</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Claude Code drives each step</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Commit the moment it works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