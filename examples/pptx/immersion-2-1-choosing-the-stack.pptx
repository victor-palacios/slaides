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opens. Yesterday was all talk and diagrams by design. This is the first session where they name real tools, and the last one before they start building in 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session, hard deliverable. By 9:55 every box on their 1.2 map has a named tool beside it and a stub-or-build decision. No box may be left undecided, even if the decision is "we fake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four moves. The second is the one teams skip and the one that saves the most time. The third is where most of the wasted effort in the room will otherwise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rather than with tools. Every team arrives eager to list what they will build; almost none has decided what they will refuse. The refusals are what make a 2-day prototype possible.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from yesterday. They ended Day 1 with owners on every step. An owner still cannot start without knowing which tool they are opening. That is the gap this hour closes.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session. Emphasise the order — tools before retrieval. Teams that debate RAG first end up designing a retrieval system for a step that turns out to be stubbed anyway.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for tool selection. Their novelty budget was already spent on the problem they chose yesterday. Spending it again on the stack is how prototypes die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Walk the map left to right and write a tool name in each box. This is mechanical work, and it should be — the thinking happened yesterday.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before they resist it. Low-code is not a lesser tier of engineering; it is a decision about where your effort goes. You are still responsible for the design, just not for the plumbing.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rule plainly and hold them to it. An undecided box is a box that blocks its owner tomorrow morning. A box marked "faked" is not a failure — it is a scoped decision.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sources, in priority order. The fourth line is the trap: this week is not the week to learn a new framework. Learning happens after the demo ships, not on the critical path to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Almost every prototype in the room reduces to these four jobs. Have teams sort their boxes into these buckets — it usually collapses eight boxes into four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example mapping, not a template to copy. Point at how unglamorous every right-hand cell is. Four of the five are things they could stand up before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smells. Any one of them is survivable; two together means pick again. The cost of switching tools now is minutes; the cost of switching at 4pm tomorrow is the demo.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distinction of the session. Build only what carries the claim you are making. Everything else exists to let that claim be shown, and can be as fake as it needs to 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second half. A stub is not a lie — it is a deliberate placeholder you can name out loud. The moment you forget which parts are stubbed, you are demoing something you do not understand.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thirty seconds per box. Run them out loud as a team so the decisions are shared. A box that survives all three is a box worth an afternoon.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no prototype in this room needs. Each is days of work and none is what they are being judged on. If a demo needs a user, hardcode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mirror image. If the interesting claim is stubbed, there is no prototype — there is a slideshow. Day 3's red team will find this faster than you would like.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these to each tool name they just wrote. Any tool failing two of three gets replaced now, while replacing it is free. The third test is the one teams never think about until Day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recurring argument, resolved. The better tool wins on ceiling, and the ceiling is irrelevant in a two-day build. Highlight setup and demo risk — those are the only rows that pay out this week.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not measured — say so. The point stands regardless: choosing tools that wire together quickly buys back the only hours that matter. Every stub is a direct transfer from the left column to the right.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and the most expensive mistake available to them today. Teams build retrieval systems for problems that fit in a single prompt. This section exists to stop that.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acronym down. Retrieval-augmented generation is a search step bolted in front of a prompt. That is all. Once it sounds that ordinary, the question of whether you need it gets easier.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section in five words. Ask it before any architecture discussion. For most teams in this room the honest answer is yes, and that answer saves them an afternoon.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them as the same goal with different costs. Pasting is free to build and costs tokens. Fetching costs a build and saves tokens. Which is cheaper depends entirely on how much you have.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 their intuition. Modern windows are much larger than people assume, and the assumption is usually years out of date. Have them estimate their corpus out loud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 on step one. Teams argue about retrieval for twenty minutes without ever checking how much text they have. Measuring usually ends the argument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discriminators. Note they must answer yes to most of a column, not just one line. One matching line is a coincidence; three is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 trades build time for run cost. In a two-day prototype you have almost no build time and almost no run volume, which is exactly the regime where pasting wins.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cost of RAG is not the vector store; it is these four. Each is a quiet afternoon. The last one bites on Day 3 when a red-teamer asks why the system missed an obvious document.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live if you can. One command settles a debate teams will otherwise have for half an hour. Words times roughly 1.3 gets you close enough to tokens for this decision.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warnings, any of which should stop them. The third is the sharpest: if you cannot describe a question that pasting fails to answer, you do not have a retrieval problem yet.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says pick the cheaper one that works. Both halves bind — cheapest is not an excuse for something that does not answer the question, and working is not an excuse for spending the afternoon.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For teams that genuinely need retrieval, this is how to get it in minutes rather than hours — and how to prove it was worth building at all.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it as the baseline, not as a compromise. A Project keeps instructions and files attached to every conversation, which is exactly the cheap end of the retrieval spectrum.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it is the thing to beat. The fourth matters most for a team demo: a teammate who did not build it can still run it, which is not true of a hand-rolled pipeline.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live, right now if there is time. Step two is where teams cheat by uploading a toy file — the whole point is finding out whether the real corpus behaves.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lines that do most of the work. The third and fourth are what make the baseline honest — without them you cannot tell a retrieval failure from a confident invention.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Curate rather than dump. A single strong example answer improves output more than ten extra documents. The last line is a privacy reminder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"baseline to beat" means concretely. If a hand-built retrieval layer does not win at least two rows, the Project was the right answer and you just bought back an afternoon.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ten-minute evaluation that prevents a lost afternoon. Writing the questions first is essential — questions written afterwards are always written to flatter whatever you built.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and the rule for climbing it: you may only take a step up when you can point at a specific failure of the step below. Most teams will spend Day 2 on the middle rung.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not any one. A team that can tick all four has a genuine retrieval problem and should build. A team ticking two is about to lose tomorrow morning to plumbing.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composite of what happens most weeks, not a specific case. The middle row is the one that stings: a demo that shows retrieval working is less persuasive than one that shows the answer being right.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Read it slowly and have each team check itself against it. Any unticked line is a conversation to finish in the ten minutes before 2.2, not during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to capture in the repo before the break. These become the opening lines of tomorrow's demo caveats, and the first thing Day 3's red team will read.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into 2.2. If a team cannot answer yes, the missing piece is almost always an undecided box rather than a hard technical problem. Find it now.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2.2 so the break has a purpose. Their stack decisions are what make the next session a build session instead of another design session. Nothing chosen here is permanent — but everything chosen here is started.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Choosing the Stack</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2 · Session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a tool per step</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Give every step a named tool</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Decide what to stub, not build</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RAG or just more context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Stand up the smallest layer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will you not build?</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1.3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board</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Who does each step</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stack</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What each step runs on</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Map</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Reopen yesterday's diagram</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Tool</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Name one per step</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Stub</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Mark what stays fake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909628" cy="518159"/>
          </a:xfrm>
          <a:prstGeom prst="rect">
            <a:avLst/>
          </a:prstGeom>
          <a:noFill/>
        </p:spPr>
        <p:txBody>
          <a:bodyPr wrap="none" lIns="0" rIns="0">
            <a:noAutofit/>
          </a:bodyPr>
          <a:lstStyle/>
          <a:p>
            <a:pPr algn="l"/>
            <a:r>
              <a:rPr sz="3400" b="1" i="0">
                <a:solidFill>
                  <a:srgbClr val="123A6B"/>
                </a:solidFill>
                <a:latin typeface="Arial"/>
              </a:rPr>
              <a:t>Retrieve</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Only if you must</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"Boring tools, interesting problem."</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Day 2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 Tool for Every Step</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Low-code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Assembling built pieces instead of writing them</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Rule for This Hour</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box gets one tool name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box may stay undecided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"We fake it" counts as decided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Write it on the board now</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Where the Tool Names Come From</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What your team already uses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 the workshop hands you</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has a free tier today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 what you meant to learn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Four Jobs</a:t>
            </a:r>
          </a:p>
        </p:txBody>
      </p:sp>
      <p:sp>
        <p:nvSpPr>
          <p:cNvPr id="3" name="TextBox 2"/>
          <p:cNvSpPr txBox="1"/>
          <p:nvPr/>
        </p:nvSpPr>
        <p:spPr>
          <a:xfrm>
            <a:off x="457200" y="1499616"/>
            <a:ext cx="2613660" cy="518159"/>
          </a:xfrm>
          <a:prstGeom prst="rect">
            <a:avLst/>
          </a:prstGeom>
          <a:noFill/>
        </p:spPr>
        <p:txBody>
          <a:bodyPr wrap="none" lIns="0" rIns="0">
            <a:noAutofit/>
          </a:bodyPr>
          <a:lstStyle/>
          <a:p>
            <a:pPr algn="l"/>
            <a:r>
              <a:rPr sz="3400" b="1" i="0">
                <a:solidFill>
                  <a:srgbClr val="0A2240"/>
                </a:solidFill>
                <a:latin typeface="Arial"/>
              </a:rPr>
              <a:t>Intake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Getting the input in</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Think</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The model doing the work</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Store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Anything you look up later</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Show</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What the user actually sees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Worked Mapping</a:t>
            </a:r>
          </a:p>
        </p:txBody>
      </p:sp>
      <p:sp>
        <p:nvSpPr>
          <p:cNvPr id="3" name="TextBox 2"/>
          <p:cNvSpPr txBox="1"/>
          <p:nvPr/>
        </p:nvSpPr>
        <p:spPr>
          <a:xfrm>
            <a:off x="457200" y="1499616"/>
            <a:ext cx="4014765"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5020605" y="1499616"/>
            <a:ext cx="4469968" cy="518159"/>
          </a:xfrm>
          <a:prstGeom prst="rect">
            <a:avLst/>
          </a:prstGeom>
          <a:noFill/>
        </p:spPr>
        <p:txBody>
          <a:bodyPr wrap="none" lIns="0" rIns="0">
            <a:noAutofit/>
          </a:bodyPr>
          <a:lstStyle/>
          <a:p>
            <a:pPr algn="l"/>
            <a:r>
              <a:rPr sz="3400" b="1" i="0">
                <a:solidFill>
                  <a:srgbClr val="123A6B"/>
                </a:solidFill>
                <a:latin typeface="Arial"/>
              </a:rPr>
              <a:t>Tool</a:t>
            </a:r>
          </a:p>
        </p:txBody>
      </p:sp>
      <p:sp>
        <p:nvSpPr>
          <p:cNvPr id="5" name="Rectangle 4"/>
          <p:cNvSpPr/>
          <p:nvPr/>
        </p:nvSpPr>
        <p:spPr>
          <a:xfrm>
            <a:off x="457200" y="2072639"/>
            <a:ext cx="903337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137110" cy="452323"/>
          </a:xfrm>
          <a:prstGeom prst="rect">
            <a:avLst/>
          </a:prstGeom>
          <a:noFill/>
        </p:spPr>
        <p:txBody>
          <a:bodyPr wrap="none" lIns="0" rIns="0">
            <a:noAutofit/>
          </a:bodyPr>
          <a:lstStyle/>
          <a:p>
            <a:pPr algn="l"/>
            <a:r>
              <a:rPr sz="3400" b="0" i="0">
                <a:solidFill>
                  <a:srgbClr val="0A2240"/>
                </a:solidFill>
                <a:latin typeface="Arial"/>
              </a:rPr>
              <a:t>Collect the input</a:t>
            </a:r>
          </a:p>
        </p:txBody>
      </p:sp>
      <p:sp>
        <p:nvSpPr>
          <p:cNvPr id="7" name="TextBox 6"/>
          <p:cNvSpPr txBox="1"/>
          <p:nvPr/>
        </p:nvSpPr>
        <p:spPr>
          <a:xfrm>
            <a:off x="5020605" y="2401823"/>
            <a:ext cx="6749612" cy="452323"/>
          </a:xfrm>
          <a:prstGeom prst="rect">
            <a:avLst/>
          </a:prstGeom>
          <a:noFill/>
        </p:spPr>
        <p:txBody>
          <a:bodyPr wrap="none" lIns="0" rIns="0">
            <a:noAutofit/>
          </a:bodyPr>
          <a:lstStyle/>
          <a:p>
            <a:pPr algn="l"/>
            <a:r>
              <a:rPr sz="3400" b="0" i="0">
                <a:solidFill>
                  <a:srgbClr val="0A2240"/>
                </a:solidFill>
                <a:latin typeface="Arial"/>
              </a:rPr>
              <a:t>A form or a paste box</a:t>
            </a:r>
          </a:p>
        </p:txBody>
      </p:sp>
      <p:sp>
        <p:nvSpPr>
          <p:cNvPr id="8" name="TextBox 7"/>
          <p:cNvSpPr txBox="1"/>
          <p:nvPr/>
        </p:nvSpPr>
        <p:spPr>
          <a:xfrm>
            <a:off x="457200" y="3128466"/>
            <a:ext cx="4292064" cy="452323"/>
          </a:xfrm>
          <a:prstGeom prst="rect">
            <a:avLst/>
          </a:prstGeom>
          <a:noFill/>
        </p:spPr>
        <p:txBody>
          <a:bodyPr wrap="none" lIns="0" rIns="0">
            <a:noAutofit/>
          </a:bodyPr>
          <a:lstStyle/>
          <a:p>
            <a:pPr algn="l"/>
            <a:r>
              <a:rPr sz="3400" b="0" i="0">
                <a:solidFill>
                  <a:srgbClr val="0A2240"/>
                </a:solidFill>
                <a:latin typeface="Arial"/>
              </a:rPr>
              <a:t>Understand it</a:t>
            </a:r>
          </a:p>
        </p:txBody>
      </p:sp>
      <p:sp>
        <p:nvSpPr>
          <p:cNvPr id="9" name="TextBox 8"/>
          <p:cNvSpPr txBox="1"/>
          <p:nvPr/>
        </p:nvSpPr>
        <p:spPr>
          <a:xfrm>
            <a:off x="5020605" y="3128466"/>
            <a:ext cx="6251019" cy="452323"/>
          </a:xfrm>
          <a:prstGeom prst="rect">
            <a:avLst/>
          </a:prstGeom>
          <a:noFill/>
        </p:spPr>
        <p:txBody>
          <a:bodyPr wrap="none" lIns="0" rIns="0">
            <a:noAutofit/>
          </a:bodyPr>
          <a:lstStyle/>
          <a:p>
            <a:pPr algn="l"/>
            <a:r>
              <a:rPr sz="3400" b="0" i="0">
                <a:solidFill>
                  <a:srgbClr val="0A2240"/>
                </a:solidFill>
                <a:latin typeface="Arial"/>
              </a:rPr>
              <a:t>Claude, one prompt</a:t>
            </a:r>
          </a:p>
        </p:txBody>
      </p:sp>
      <p:sp>
        <p:nvSpPr>
          <p:cNvPr id="10" name="TextBox 9"/>
          <p:cNvSpPr txBox="1"/>
          <p:nvPr/>
        </p:nvSpPr>
        <p:spPr>
          <a:xfrm>
            <a:off x="457200" y="3855109"/>
            <a:ext cx="6020950" cy="452323"/>
          </a:xfrm>
          <a:prstGeom prst="rect">
            <a:avLst/>
          </a:prstGeom>
          <a:noFill/>
        </p:spPr>
        <p:txBody>
          <a:bodyPr wrap="none" lIns="0" rIns="0">
            <a:noAutofit/>
          </a:bodyPr>
          <a:lstStyle/>
          <a:p>
            <a:pPr algn="l"/>
            <a:r>
              <a:rPr sz="3400" b="0" i="0">
                <a:solidFill>
                  <a:srgbClr val="0A2240"/>
                </a:solidFill>
                <a:latin typeface="Arial"/>
              </a:rPr>
              <a:t>Look something up</a:t>
            </a:r>
          </a:p>
        </p:txBody>
      </p:sp>
      <p:sp>
        <p:nvSpPr>
          <p:cNvPr id="11" name="TextBox 10"/>
          <p:cNvSpPr txBox="1"/>
          <p:nvPr/>
        </p:nvSpPr>
        <p:spPr>
          <a:xfrm>
            <a:off x="5020605" y="3855109"/>
            <a:ext cx="6134972" cy="452323"/>
          </a:xfrm>
          <a:prstGeom prst="rect">
            <a:avLst/>
          </a:prstGeom>
          <a:noFill/>
        </p:spPr>
        <p:txBody>
          <a:bodyPr wrap="none" lIns="0" rIns="0">
            <a:noAutofit/>
          </a:bodyPr>
          <a:lstStyle/>
          <a:p>
            <a:pPr algn="l"/>
            <a:r>
              <a:rPr sz="3400" b="0" i="0">
                <a:solidFill>
                  <a:srgbClr val="0A2240"/>
                </a:solidFill>
                <a:latin typeface="Arial"/>
              </a:rPr>
              <a:t>Claude Project files</a:t>
            </a:r>
          </a:p>
        </p:txBody>
      </p:sp>
      <p:sp>
        <p:nvSpPr>
          <p:cNvPr id="12" name="TextBox 11"/>
          <p:cNvSpPr txBox="1"/>
          <p:nvPr/>
        </p:nvSpPr>
        <p:spPr>
          <a:xfrm>
            <a:off x="457200" y="4581752"/>
            <a:ext cx="6021288" cy="452323"/>
          </a:xfrm>
          <a:prstGeom prst="rect">
            <a:avLst/>
          </a:prstGeom>
          <a:noFill/>
        </p:spPr>
        <p:txBody>
          <a:bodyPr wrap="none" lIns="0" rIns="0">
            <a:noAutofit/>
          </a:bodyPr>
          <a:lstStyle/>
          <a:p>
            <a:pPr algn="l"/>
            <a:r>
              <a:rPr sz="3400" b="0" i="0">
                <a:solidFill>
                  <a:srgbClr val="0A2240"/>
                </a:solidFill>
                <a:latin typeface="Arial"/>
              </a:rPr>
              <a:t>Produce the output</a:t>
            </a:r>
          </a:p>
        </p:txBody>
      </p:sp>
      <p:sp>
        <p:nvSpPr>
          <p:cNvPr id="13" name="TextBox 12"/>
          <p:cNvSpPr txBox="1"/>
          <p:nvPr/>
        </p:nvSpPr>
        <p:spPr>
          <a:xfrm>
            <a:off x="5020605" y="4581752"/>
            <a:ext cx="4675961" cy="452323"/>
          </a:xfrm>
          <a:prstGeom prst="rect">
            <a:avLst/>
          </a:prstGeom>
          <a:noFill/>
        </p:spPr>
        <p:txBody>
          <a:bodyPr wrap="none" lIns="0" rIns="0">
            <a:noAutofit/>
          </a:bodyPr>
          <a:lstStyle/>
          <a:p>
            <a:pPr algn="l"/>
            <a:r>
              <a:rPr sz="3400" b="0" i="0">
                <a:solidFill>
                  <a:srgbClr val="0A2240"/>
                </a:solidFill>
                <a:latin typeface="Arial"/>
              </a:rPr>
              <a:t>Claude Artifact</a:t>
            </a:r>
          </a:p>
        </p:txBody>
      </p:sp>
      <p:sp>
        <p:nvSpPr>
          <p:cNvPr id="14" name="TextBox 13"/>
          <p:cNvSpPr txBox="1"/>
          <p:nvPr/>
        </p:nvSpPr>
        <p:spPr>
          <a:xfrm>
            <a:off x="457200" y="5308395"/>
            <a:ext cx="5213688" cy="452323"/>
          </a:xfrm>
          <a:prstGeom prst="rect">
            <a:avLst/>
          </a:prstGeom>
          <a:noFill/>
        </p:spPr>
        <p:txBody>
          <a:bodyPr wrap="none" lIns="0" rIns="0">
            <a:noAutofit/>
          </a:bodyPr>
          <a:lstStyle/>
          <a:p>
            <a:pPr algn="l"/>
            <a:r>
              <a:rPr sz="3400" b="0" i="0">
                <a:solidFill>
                  <a:srgbClr val="0A2240"/>
                </a:solidFill>
                <a:latin typeface="Arial"/>
              </a:rPr>
              <a:t>Show a stranger</a:t>
            </a:r>
          </a:p>
        </p:txBody>
      </p:sp>
      <p:sp>
        <p:nvSpPr>
          <p:cNvPr id="15" name="TextBox 14"/>
          <p:cNvSpPr txBox="1"/>
          <p:nvPr/>
        </p:nvSpPr>
        <p:spPr>
          <a:xfrm>
            <a:off x="5020605" y="5308395"/>
            <a:ext cx="4600734" cy="452323"/>
          </a:xfrm>
          <a:prstGeom prst="rect">
            <a:avLst/>
          </a:prstGeom>
          <a:noFill/>
        </p:spPr>
        <p:txBody>
          <a:bodyPr wrap="none" lIns="0" rIns="0">
            <a:noAutofit/>
          </a:bodyPr>
          <a:lstStyle/>
          <a:p>
            <a:pPr algn="l"/>
            <a:r>
              <a:rPr sz="3400" b="0" i="0">
                <a:solidFill>
                  <a:srgbClr val="0A2240"/>
                </a:solidFill>
                <a:latin typeface="Arial"/>
              </a:rPr>
              <a:t>A hosted page</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Signs You Picked Wrong</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Nobody on the team has used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Setup is measured in hours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needs a key you don't have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docs assume production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or Stub</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Build it</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Stub it</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210088" cy="609600"/>
          </a:xfrm>
          <a:prstGeom prst="rect">
            <a:avLst/>
          </a:prstGeom>
          <a:noFill/>
        </p:spPr>
        <p:txBody>
          <a:bodyPr wrap="none" lIns="0" rIns="0">
            <a:noAutofit/>
          </a:bodyPr>
          <a:lstStyle/>
          <a:p>
            <a:pPr algn="l"/>
            <a:r>
              <a:rPr sz="3400" b="0" i="0">
                <a:solidFill>
                  <a:srgbClr val="0A2240"/>
                </a:solidFill>
                <a:latin typeface="Arial"/>
              </a:rPr>
              <a:t>It is the thing you claim</a:t>
            </a:r>
          </a:p>
        </p:txBody>
      </p:sp>
      <p:sp>
        <p:nvSpPr>
          <p:cNvPr id="8" name="TextBox 7"/>
          <p:cNvSpPr txBox="1"/>
          <p:nvPr/>
        </p:nvSpPr>
        <p:spPr>
          <a:xfrm>
            <a:off x="457200" y="3608831"/>
            <a:ext cx="7671236" cy="609600"/>
          </a:xfrm>
          <a:prstGeom prst="rect">
            <a:avLst/>
          </a:prstGeom>
          <a:noFill/>
        </p:spPr>
        <p:txBody>
          <a:bodyPr wrap="none" lIns="0" rIns="0">
            <a:noAutofit/>
          </a:bodyPr>
          <a:lstStyle/>
          <a:p>
            <a:pPr algn="l"/>
            <a:r>
              <a:rPr sz="3400" b="0" i="0">
                <a:solidFill>
                  <a:srgbClr val="0A2240"/>
                </a:solidFill>
                <a:latin typeface="Arial"/>
              </a:rPr>
              <a:t>The demo touches it live</a:t>
            </a:r>
          </a:p>
        </p:txBody>
      </p:sp>
      <p:sp>
        <p:nvSpPr>
          <p:cNvPr id="9" name="TextBox 8"/>
          <p:cNvSpPr txBox="1"/>
          <p:nvPr/>
        </p:nvSpPr>
        <p:spPr>
          <a:xfrm>
            <a:off x="457200" y="4821935"/>
            <a:ext cx="7710368" cy="609600"/>
          </a:xfrm>
          <a:prstGeom prst="rect">
            <a:avLst/>
          </a:prstGeom>
          <a:noFill/>
        </p:spPr>
        <p:txBody>
          <a:bodyPr wrap="none" lIns="0" rIns="0">
            <a:noAutofit/>
          </a:bodyPr>
          <a:lstStyle/>
          <a:p>
            <a:pPr algn="l"/>
            <a:r>
              <a:rPr sz="3400" b="0" i="0">
                <a:solidFill>
                  <a:srgbClr val="0A2240"/>
                </a:solidFill>
                <a:latin typeface="Arial"/>
              </a:rPr>
              <a:t>Nobody believes it faked</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It is plumbing, not proof</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demo never opens it</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It works but is boring</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Stub</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fake that is honest about being fake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Decide, Per Box</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Ask what it proves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If nothing, it is plumbing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who sees it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If nobody, stub it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Ask what it costs</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Over an hour needs a reason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Always Safe to Stub</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Login and user accounts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Payments of any kind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Email and notifications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with a real database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Never Safe to Stub</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step your idea rests on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Whatever you claim is novel</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output a stranger reads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path the demo walks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Tests Before You Commit</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Under an hour</a:t>
            </a:r>
          </a:p>
        </p:txBody>
      </p:sp>
      <p:sp>
        <p:nvSpPr>
          <p:cNvPr id="4" name="TextBox 3"/>
          <p:cNvSpPr txBox="1"/>
          <p:nvPr/>
        </p:nvSpPr>
        <p:spPr>
          <a:xfrm>
            <a:off x="457200" y="2109215"/>
            <a:ext cx="11373246" cy="627889"/>
          </a:xfrm>
          <a:prstGeom prst="rect">
            <a:avLst/>
          </a:prstGeom>
          <a:noFill/>
        </p:spPr>
        <p:txBody>
          <a:bodyPr wrap="none" lIns="0" rIns="0">
            <a:noAutofit/>
          </a:bodyPr>
          <a:lstStyle/>
          <a:p>
            <a:pPr algn="l"/>
            <a:r>
              <a:rPr sz="3400" b="0" i="0">
                <a:solidFill>
                  <a:srgbClr val="0A2240"/>
                </a:solidFill>
                <a:latin typeface="Arial"/>
              </a:rPr>
              <a:t>You can have it running before lunch</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Someone knows it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One person on the team has shipped with it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Fails quietly</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When it breaks, the demo still walks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Picking Between Two Options</a:t>
            </a:r>
          </a:p>
        </p:txBody>
      </p:sp>
      <p:sp>
        <p:nvSpPr>
          <p:cNvPr id="3" name="TextBox 2"/>
          <p:cNvSpPr txBox="1"/>
          <p:nvPr/>
        </p:nvSpPr>
        <p:spPr>
          <a:xfrm>
            <a:off x="3636868" y="1499616"/>
            <a:ext cx="4290376" cy="518159"/>
          </a:xfrm>
          <a:prstGeom prst="rect">
            <a:avLst/>
          </a:prstGeom>
          <a:noFill/>
        </p:spPr>
        <p:txBody>
          <a:bodyPr wrap="none" lIns="0" rIns="0">
            <a:noAutofit/>
          </a:bodyPr>
          <a:lstStyle/>
          <a:p>
            <a:pPr algn="ctr"/>
            <a:r>
              <a:rPr sz="3400" b="1" i="0">
                <a:solidFill>
                  <a:srgbClr val="0A2240"/>
                </a:solidFill>
                <a:latin typeface="Arial"/>
              </a:rPr>
              <a:t>Familiar tool</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Better tool</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Setup</a:t>
            </a:r>
          </a:p>
        </p:txBody>
      </p:sp>
      <p:sp>
        <p:nvSpPr>
          <p:cNvPr id="7" name="Rectangle 6"/>
          <p:cNvSpPr/>
          <p:nvPr/>
        </p:nvSpPr>
        <p:spPr>
          <a:xfrm>
            <a:off x="4801830" y="2401823"/>
            <a:ext cx="1960452"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5602" y="2401823"/>
            <a:ext cx="2792908" cy="518159"/>
          </a:xfrm>
          <a:prstGeom prst="rect">
            <a:avLst/>
          </a:prstGeom>
          <a:noFill/>
        </p:spPr>
        <p:txBody>
          <a:bodyPr wrap="none" lIns="0" rIns="0">
            <a:noAutofit/>
          </a:bodyPr>
          <a:lstStyle/>
          <a:p>
            <a:pPr algn="ctr"/>
            <a:r>
              <a:rPr sz="3400" b="1" i="0">
                <a:solidFill>
                  <a:srgbClr val="FFFFFF"/>
                </a:solidFill>
                <a:latin typeface="Arial"/>
              </a:rPr>
              <a:t>Minutes</a:t>
            </a:r>
          </a:p>
        </p:txBody>
      </p:sp>
      <p:sp>
        <p:nvSpPr>
          <p:cNvPr id="9" name="TextBox 8"/>
          <p:cNvSpPr txBox="1"/>
          <p:nvPr/>
        </p:nvSpPr>
        <p:spPr>
          <a:xfrm>
            <a:off x="7949184" y="2401823"/>
            <a:ext cx="3785616" cy="936752"/>
          </a:xfrm>
          <a:prstGeom prst="rect">
            <a:avLst/>
          </a:prstGeom>
          <a:noFill/>
        </p:spPr>
        <p:txBody>
          <a:bodyPr wrap="none" lIns="0" rIns="0">
            <a:noAutofit/>
          </a:bodyPr>
          <a:lstStyle/>
          <a:p>
            <a:pPr algn="ctr"/>
            <a:r>
              <a:rPr sz="3400" b="0" i="0">
                <a:solidFill>
                  <a:srgbClr val="0A2240"/>
                </a:solidFill>
                <a:latin typeface="Arial"/>
              </a:rPr>
              <a:t>Half a day</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Ceiling</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Low</a:t>
            </a:r>
          </a:p>
        </p:txBody>
      </p:sp>
      <p:sp>
        <p:nvSpPr>
          <p:cNvPr id="12" name="TextBox 11"/>
          <p:cNvSpPr txBox="1"/>
          <p:nvPr/>
        </p:nvSpPr>
        <p:spPr>
          <a:xfrm>
            <a:off x="7949184" y="3612895"/>
            <a:ext cx="3785616" cy="936752"/>
          </a:xfrm>
          <a:prstGeom prst="rect">
            <a:avLst/>
          </a:prstGeom>
          <a:noFill/>
        </p:spPr>
        <p:txBody>
          <a:bodyPr wrap="none" lIns="0" rIns="0">
            <a:noAutofit/>
          </a:bodyPr>
          <a:lstStyle/>
          <a:p>
            <a:pPr algn="ctr"/>
            <a:r>
              <a:rPr sz="3400" b="0" i="0">
                <a:solidFill>
                  <a:srgbClr val="0A2240"/>
                </a:solidFill>
                <a:latin typeface="Arial"/>
              </a:rPr>
              <a:t>High</a:t>
            </a:r>
          </a:p>
        </p:txBody>
      </p:sp>
      <p:sp>
        <p:nvSpPr>
          <p:cNvPr id="13" name="TextBox 12"/>
          <p:cNvSpPr txBox="1"/>
          <p:nvPr/>
        </p:nvSpPr>
        <p:spPr>
          <a:xfrm>
            <a:off x="457200" y="4823967"/>
            <a:ext cx="3523595" cy="936752"/>
          </a:xfrm>
          <a:prstGeom prst="rect">
            <a:avLst/>
          </a:prstGeom>
          <a:noFill/>
        </p:spPr>
        <p:txBody>
          <a:bodyPr wrap="none" lIns="0" rIns="0">
            <a:noAutofit/>
          </a:bodyPr>
          <a:lstStyle/>
          <a:p>
            <a:pPr algn="l"/>
            <a:r>
              <a:rPr sz="3400" b="1" i="0">
                <a:solidFill>
                  <a:srgbClr val="0A2240"/>
                </a:solidFill>
                <a:latin typeface="Arial"/>
              </a:rPr>
              <a:t>Demo risk</a:t>
            </a:r>
          </a:p>
        </p:txBody>
      </p:sp>
      <p:sp>
        <p:nvSpPr>
          <p:cNvPr id="14" name="Rectangle 13"/>
          <p:cNvSpPr/>
          <p:nvPr/>
        </p:nvSpPr>
        <p:spPr>
          <a:xfrm>
            <a:off x="5185769" y="4823967"/>
            <a:ext cx="1192573"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99905" y="4823967"/>
            <a:ext cx="1564301" cy="518159"/>
          </a:xfrm>
          <a:prstGeom prst="rect">
            <a:avLst/>
          </a:prstGeom>
          <a:noFill/>
        </p:spPr>
        <p:txBody>
          <a:bodyPr wrap="none" lIns="0" rIns="0">
            <a:noAutofit/>
          </a:bodyPr>
          <a:lstStyle/>
          <a:p>
            <a:pPr algn="ctr"/>
            <a:r>
              <a:rPr sz="3400" b="1" i="0">
                <a:solidFill>
                  <a:srgbClr val="FFFFFF"/>
                </a:solidFill>
                <a:latin typeface="Arial"/>
              </a:rPr>
              <a:t>Low</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Unknown</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Where the Time Actually Goes</a:t>
            </a:r>
          </a:p>
        </p:txBody>
      </p:sp>
      <p:sp>
        <p:nvSpPr>
          <p:cNvPr id="3" name="TextBox 2"/>
          <p:cNvSpPr txBox="1"/>
          <p:nvPr/>
        </p:nvSpPr>
        <p:spPr>
          <a:xfrm>
            <a:off x="457200" y="2449068"/>
            <a:ext cx="5501640" cy="914400"/>
          </a:xfrm>
          <a:prstGeom prst="rect">
            <a:avLst/>
          </a:prstGeom>
          <a:noFill/>
        </p:spPr>
        <p:txBody>
          <a:bodyPr wrap="none" lIns="0" rIns="0">
            <a:noAutofit/>
          </a:bodyPr>
          <a:lstStyle/>
          <a:p>
            <a:pPr algn="l"/>
            <a:r>
              <a:rPr sz="6000" b="1" i="0">
                <a:solidFill>
                  <a:srgbClr val="0072CE"/>
                </a:solidFill>
                <a:latin typeface="Arial"/>
              </a:rPr>
              <a:t>80%</a:t>
            </a:r>
          </a:p>
        </p:txBody>
      </p:sp>
      <p:sp>
        <p:nvSpPr>
          <p:cNvPr id="4" name="TextBox 3"/>
          <p:cNvSpPr txBox="1"/>
          <p:nvPr/>
        </p:nvSpPr>
        <p:spPr>
          <a:xfrm>
            <a:off x="457200" y="3637788"/>
            <a:ext cx="6903105" cy="518159"/>
          </a:xfrm>
          <a:prstGeom prst="rect">
            <a:avLst/>
          </a:prstGeom>
          <a:noFill/>
        </p:spPr>
        <p:txBody>
          <a:bodyPr wrap="none" lIns="0" rIns="0">
            <a:noAutofit/>
          </a:bodyPr>
          <a:lstStyle/>
          <a:p>
            <a:pPr algn="l"/>
            <a:r>
              <a:rPr sz="3400" b="0" i="0">
                <a:solidFill>
                  <a:srgbClr val="0A2240"/>
                </a:solidFill>
                <a:latin typeface="Arial"/>
              </a:rPr>
              <a:t>Wiring things together</a:t>
            </a:r>
          </a:p>
        </p:txBody>
      </p:sp>
      <p:sp>
        <p:nvSpPr>
          <p:cNvPr id="5" name="TextBox 4"/>
          <p:cNvSpPr txBox="1"/>
          <p:nvPr/>
        </p:nvSpPr>
        <p:spPr>
          <a:xfrm>
            <a:off x="457200" y="4430267"/>
            <a:ext cx="5501640" cy="381000"/>
          </a:xfrm>
          <a:prstGeom prst="rect">
            <a:avLst/>
          </a:prstGeom>
          <a:noFill/>
        </p:spPr>
        <p:txBody>
          <a:bodyPr wrap="none" lIns="0" rIns="0">
            <a:noAutofit/>
          </a:bodyPr>
          <a:lstStyle/>
          <a:p>
            <a:pPr algn="l"/>
            <a:r>
              <a:rPr sz="2500" b="0" i="0">
                <a:solidFill>
                  <a:srgbClr val="5B6B82"/>
                </a:solidFill>
                <a:latin typeface="Arial"/>
              </a:rPr>
              <a:t>Not the clever part</a:t>
            </a:r>
          </a:p>
        </p:txBody>
      </p:sp>
      <p:sp>
        <p:nvSpPr>
          <p:cNvPr id="6" name="TextBox 5"/>
          <p:cNvSpPr txBox="1"/>
          <p:nvPr/>
        </p:nvSpPr>
        <p:spPr>
          <a:xfrm>
            <a:off x="6233160" y="2449068"/>
            <a:ext cx="5501640" cy="914400"/>
          </a:xfrm>
          <a:prstGeom prst="rect">
            <a:avLst/>
          </a:prstGeom>
          <a:noFill/>
        </p:spPr>
        <p:txBody>
          <a:bodyPr wrap="none" lIns="0" rIns="0">
            <a:noAutofit/>
          </a:bodyPr>
          <a:lstStyle/>
          <a:p>
            <a:pPr algn="l"/>
            <a:r>
              <a:rPr sz="6000" b="1" i="0">
                <a:solidFill>
                  <a:srgbClr val="0072CE"/>
                </a:solidFill>
                <a:latin typeface="Arial"/>
              </a:rPr>
              <a:t>20%</a:t>
            </a:r>
          </a:p>
        </p:txBody>
      </p:sp>
      <p:sp>
        <p:nvSpPr>
          <p:cNvPr id="7" name="TextBox 6"/>
          <p:cNvSpPr txBox="1"/>
          <p:nvPr/>
        </p:nvSpPr>
        <p:spPr>
          <a:xfrm>
            <a:off x="6233160" y="3637788"/>
            <a:ext cx="5501640" cy="518159"/>
          </a:xfrm>
          <a:prstGeom prst="rect">
            <a:avLst/>
          </a:prstGeom>
          <a:noFill/>
        </p:spPr>
        <p:txBody>
          <a:bodyPr wrap="none" lIns="0" rIns="0">
            <a:noAutofit/>
          </a:bodyPr>
          <a:lstStyle/>
          <a:p>
            <a:pPr algn="l"/>
            <a:r>
              <a:rPr sz="3400" b="0" i="0">
                <a:solidFill>
                  <a:srgbClr val="0A2240"/>
                </a:solidFill>
                <a:latin typeface="Arial"/>
              </a:rPr>
              <a:t>The idea itself</a:t>
            </a:r>
          </a:p>
        </p:txBody>
      </p:sp>
      <p:sp>
        <p:nvSpPr>
          <p:cNvPr id="8" name="TextBox 7"/>
          <p:cNvSpPr txBox="1"/>
          <p:nvPr/>
        </p:nvSpPr>
        <p:spPr>
          <a:xfrm>
            <a:off x="6233160" y="4430267"/>
            <a:ext cx="5576907" cy="381000"/>
          </a:xfrm>
          <a:prstGeom prst="rect">
            <a:avLst/>
          </a:prstGeom>
          <a:noFill/>
        </p:spPr>
        <p:txBody>
          <a:bodyPr wrap="none" lIns="0" rIns="0">
            <a:noAutofit/>
          </a:bodyPr>
          <a:lstStyle/>
          <a:p>
            <a:pPr algn="l"/>
            <a:r>
              <a:rPr sz="2500" b="0" i="0">
                <a:solidFill>
                  <a:srgbClr val="5B6B82"/>
                </a:solidFill>
                <a:latin typeface="Arial"/>
              </a:rPr>
              <a:t>What you are judged on</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RAG or Just Context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RAG</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Fetch the few relevant bits, then ask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Does it all fit already?</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Ways to Give Context</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Paste it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Everything, every time</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Fetch it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Only what is relevant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a Context Window Holds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long policy document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few hundred support tickets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codebase of modest size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More than you probably have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Decision, in Order</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Measure the corpus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Actual size, not your guess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Try pasting it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If it fits, you are done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Only then, retrieve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And keep it as small as you can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Which One Do You Need</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Just context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Real retrieval</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211888" cy="609600"/>
          </a:xfrm>
          <a:prstGeom prst="rect">
            <a:avLst/>
          </a:prstGeom>
          <a:noFill/>
        </p:spPr>
        <p:txBody>
          <a:bodyPr wrap="none" lIns="0" rIns="0">
            <a:noAutofit/>
          </a:bodyPr>
          <a:lstStyle/>
          <a:p>
            <a:pPr algn="l"/>
            <a:r>
              <a:rPr sz="3400" b="0" i="0">
                <a:solidFill>
                  <a:srgbClr val="0A2240"/>
                </a:solidFill>
                <a:latin typeface="Arial"/>
              </a:rPr>
              <a:t>It fits in one window</a:t>
            </a:r>
          </a:p>
        </p:txBody>
      </p:sp>
      <p:sp>
        <p:nvSpPr>
          <p:cNvPr id="8" name="TextBox 7"/>
          <p:cNvSpPr txBox="1"/>
          <p:nvPr/>
        </p:nvSpPr>
        <p:spPr>
          <a:xfrm>
            <a:off x="457200" y="3608831"/>
            <a:ext cx="8516620" cy="609600"/>
          </a:xfrm>
          <a:prstGeom prst="rect">
            <a:avLst/>
          </a:prstGeom>
          <a:noFill/>
        </p:spPr>
        <p:txBody>
          <a:bodyPr wrap="none" lIns="0" rIns="0">
            <a:noAutofit/>
          </a:bodyPr>
          <a:lstStyle/>
          <a:p>
            <a:pPr algn="l"/>
            <a:r>
              <a:rPr sz="3400" b="0" i="0">
                <a:solidFill>
                  <a:srgbClr val="0A2240"/>
                </a:solidFill>
                <a:latin typeface="Arial"/>
              </a:rPr>
              <a:t>The corpus barely changes</a:t>
            </a:r>
          </a:p>
        </p:txBody>
      </p:sp>
      <p:sp>
        <p:nvSpPr>
          <p:cNvPr id="9" name="TextBox 8"/>
          <p:cNvSpPr txBox="1"/>
          <p:nvPr/>
        </p:nvSpPr>
        <p:spPr>
          <a:xfrm>
            <a:off x="457200" y="4821935"/>
            <a:ext cx="7824728" cy="609600"/>
          </a:xfrm>
          <a:prstGeom prst="rect">
            <a:avLst/>
          </a:prstGeom>
          <a:noFill/>
        </p:spPr>
        <p:txBody>
          <a:bodyPr wrap="none" lIns="0" rIns="0">
            <a:noAutofit/>
          </a:bodyPr>
          <a:lstStyle/>
          <a:p>
            <a:pPr algn="l"/>
            <a:r>
              <a:rPr sz="3400" b="0" i="0">
                <a:solidFill>
                  <a:srgbClr val="0A2240"/>
                </a:solidFill>
                <a:latin typeface="Arial"/>
              </a:rPr>
              <a:t>Every question sees it all</a:t>
            </a:r>
          </a:p>
        </p:txBody>
      </p:sp>
      <p:sp>
        <p:nvSpPr>
          <p:cNvPr id="10" name="TextBox 9"/>
          <p:cNvSpPr txBox="1"/>
          <p:nvPr/>
        </p:nvSpPr>
        <p:spPr>
          <a:xfrm>
            <a:off x="6233160" y="2395727"/>
            <a:ext cx="5596572" cy="609600"/>
          </a:xfrm>
          <a:prstGeom prst="rect">
            <a:avLst/>
          </a:prstGeom>
          <a:noFill/>
        </p:spPr>
        <p:txBody>
          <a:bodyPr wrap="none" lIns="0" rIns="0">
            <a:noAutofit/>
          </a:bodyPr>
          <a:lstStyle/>
          <a:p>
            <a:pPr algn="l"/>
            <a:r>
              <a:rPr sz="3400" b="0" i="0">
                <a:solidFill>
                  <a:srgbClr val="0A2240"/>
                </a:solidFill>
                <a:latin typeface="Arial"/>
              </a:rPr>
              <a:t>Far more than fits</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It changes constantly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Questions need a slice</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Each One Costs You</a:t>
            </a:r>
          </a:p>
        </p:txBody>
      </p:sp>
      <p:sp>
        <p:nvSpPr>
          <p:cNvPr id="3" name="TextBox 2"/>
          <p:cNvSpPr txBox="1"/>
          <p:nvPr/>
        </p:nvSpPr>
        <p:spPr>
          <a:xfrm>
            <a:off x="457200" y="1499616"/>
            <a:ext cx="2861893" cy="518159"/>
          </a:xfrm>
          <a:prstGeom prst="rect">
            <a:avLst/>
          </a:prstGeom>
          <a:noFill/>
        </p:spPr>
        <p:txBody>
          <a:bodyPr wrap="none" lIns="0" rIns="0">
            <a:noAutofit/>
          </a:bodyPr>
          <a:lstStyle/>
          <a:p>
            <a:pPr algn="l"/>
            <a:r>
              <a:rPr sz="3400" b="1" i="0">
                <a:solidFill>
                  <a:srgbClr val="123A6B"/>
                </a:solidFill>
                <a:latin typeface="Arial"/>
              </a:rPr>
              <a:t/>
            </a:r>
          </a:p>
        </p:txBody>
      </p:sp>
      <p:sp>
        <p:nvSpPr>
          <p:cNvPr id="4" name="TextBox 3"/>
          <p:cNvSpPr txBox="1"/>
          <p:nvPr/>
        </p:nvSpPr>
        <p:spPr>
          <a:xfrm>
            <a:off x="3867733" y="1499616"/>
            <a:ext cx="3029511" cy="518159"/>
          </a:xfrm>
          <a:prstGeom prst="rect">
            <a:avLst/>
          </a:prstGeom>
          <a:noFill/>
        </p:spPr>
        <p:txBody>
          <a:bodyPr wrap="none" lIns="0" rIns="0">
            <a:noAutofit/>
          </a:bodyPr>
          <a:lstStyle/>
          <a:p>
            <a:pPr algn="l"/>
            <a:r>
              <a:rPr sz="3400" b="1" i="0">
                <a:solidFill>
                  <a:srgbClr val="123A6B"/>
                </a:solidFill>
                <a:latin typeface="Arial"/>
              </a:rPr>
              <a:t>Paste it</a:t>
            </a:r>
          </a:p>
        </p:txBody>
      </p:sp>
      <p:sp>
        <p:nvSpPr>
          <p:cNvPr id="5" name="TextBox 4"/>
          <p:cNvSpPr txBox="1"/>
          <p:nvPr/>
        </p:nvSpPr>
        <p:spPr>
          <a:xfrm>
            <a:off x="7445884" y="1499616"/>
            <a:ext cx="3523595" cy="518159"/>
          </a:xfrm>
          <a:prstGeom prst="rect">
            <a:avLst/>
          </a:prstGeom>
          <a:noFill/>
        </p:spPr>
        <p:txBody>
          <a:bodyPr wrap="none" lIns="0" rIns="0">
            <a:noAutofit/>
          </a:bodyPr>
          <a:lstStyle/>
          <a:p>
            <a:pPr algn="l"/>
            <a:r>
              <a:rPr sz="3400" b="1" i="0">
                <a:solidFill>
                  <a:srgbClr val="123A6B"/>
                </a:solidFill>
                <a:latin typeface="Arial"/>
              </a:rPr>
              <a:t>Retrieve it</a:t>
            </a:r>
          </a:p>
        </p:txBody>
      </p:sp>
      <p:sp>
        <p:nvSpPr>
          <p:cNvPr id="6" name="Rectangle 5"/>
          <p:cNvSpPr/>
          <p:nvPr/>
        </p:nvSpPr>
        <p:spPr>
          <a:xfrm>
            <a:off x="457200" y="2072639"/>
            <a:ext cx="1018602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216275" cy="633984"/>
          </a:xfrm>
          <a:prstGeom prst="rect">
            <a:avLst/>
          </a:prstGeom>
          <a:noFill/>
        </p:spPr>
        <p:txBody>
          <a:bodyPr wrap="none" lIns="0" rIns="0">
            <a:noAutofit/>
          </a:bodyPr>
          <a:lstStyle/>
          <a:p>
            <a:pPr algn="l"/>
            <a:r>
              <a:rPr sz="3400" b="0" i="0">
                <a:solidFill>
                  <a:srgbClr val="0A2240"/>
                </a:solidFill>
                <a:latin typeface="Arial"/>
              </a:rPr>
              <a:t>Build time</a:t>
            </a:r>
          </a:p>
        </p:txBody>
      </p:sp>
      <p:sp>
        <p:nvSpPr>
          <p:cNvPr id="8" name="TextBox 7"/>
          <p:cNvSpPr txBox="1"/>
          <p:nvPr/>
        </p:nvSpPr>
        <p:spPr>
          <a:xfrm>
            <a:off x="3867733" y="2401823"/>
            <a:ext cx="3029511" cy="633984"/>
          </a:xfrm>
          <a:prstGeom prst="rect">
            <a:avLst/>
          </a:prstGeom>
          <a:noFill/>
        </p:spPr>
        <p:txBody>
          <a:bodyPr wrap="none" lIns="0" rIns="0">
            <a:noAutofit/>
          </a:bodyPr>
          <a:lstStyle/>
          <a:p>
            <a:pPr algn="l"/>
            <a:r>
              <a:rPr sz="3400" b="0" i="0">
                <a:solidFill>
                  <a:srgbClr val="0A2240"/>
                </a:solidFill>
                <a:latin typeface="Arial"/>
              </a:rPr>
              <a:t>Zero</a:t>
            </a:r>
          </a:p>
        </p:txBody>
      </p:sp>
      <p:sp>
        <p:nvSpPr>
          <p:cNvPr id="9" name="TextBox 8"/>
          <p:cNvSpPr txBox="1"/>
          <p:nvPr/>
        </p:nvSpPr>
        <p:spPr>
          <a:xfrm>
            <a:off x="7445884" y="2401823"/>
            <a:ext cx="3197339" cy="633984"/>
          </a:xfrm>
          <a:prstGeom prst="rect">
            <a:avLst/>
          </a:prstGeom>
          <a:noFill/>
        </p:spPr>
        <p:txBody>
          <a:bodyPr wrap="none" lIns="0" rIns="0">
            <a:noAutofit/>
          </a:bodyPr>
          <a:lstStyle/>
          <a:p>
            <a:pPr algn="l"/>
            <a:r>
              <a:rPr sz="3400" b="0" i="0">
                <a:solidFill>
                  <a:srgbClr val="0A2240"/>
                </a:solidFill>
                <a:latin typeface="Arial"/>
              </a:rPr>
              <a:t>Hours</a:t>
            </a:r>
          </a:p>
        </p:txBody>
      </p:sp>
      <p:sp>
        <p:nvSpPr>
          <p:cNvPr id="10" name="TextBox 9"/>
          <p:cNvSpPr txBox="1"/>
          <p:nvPr/>
        </p:nvSpPr>
        <p:spPr>
          <a:xfrm>
            <a:off x="457200" y="3310127"/>
            <a:ext cx="4061995" cy="633984"/>
          </a:xfrm>
          <a:prstGeom prst="rect">
            <a:avLst/>
          </a:prstGeom>
          <a:noFill/>
        </p:spPr>
        <p:txBody>
          <a:bodyPr wrap="none" lIns="0" rIns="0">
            <a:noAutofit/>
          </a:bodyPr>
          <a:lstStyle/>
          <a:p>
            <a:pPr algn="l"/>
            <a:r>
              <a:rPr sz="3400" b="0" i="0">
                <a:solidFill>
                  <a:srgbClr val="0A2240"/>
                </a:solidFill>
                <a:latin typeface="Arial"/>
              </a:rPr>
              <a:t>Per question</a:t>
            </a:r>
          </a:p>
        </p:txBody>
      </p:sp>
      <p:sp>
        <p:nvSpPr>
          <p:cNvPr id="11" name="TextBox 10"/>
          <p:cNvSpPr txBox="1"/>
          <p:nvPr/>
        </p:nvSpPr>
        <p:spPr>
          <a:xfrm>
            <a:off x="3867733" y="3310127"/>
            <a:ext cx="3984406" cy="633984"/>
          </a:xfrm>
          <a:prstGeom prst="rect">
            <a:avLst/>
          </a:prstGeom>
          <a:noFill/>
        </p:spPr>
        <p:txBody>
          <a:bodyPr wrap="none" lIns="0" rIns="0">
            <a:noAutofit/>
          </a:bodyPr>
          <a:lstStyle/>
          <a:p>
            <a:pPr algn="l"/>
            <a:r>
              <a:rPr sz="3400" b="0" i="0">
                <a:solidFill>
                  <a:srgbClr val="0A2240"/>
                </a:solidFill>
                <a:latin typeface="Arial"/>
              </a:rPr>
              <a:t>More tokens</a:t>
            </a:r>
          </a:p>
        </p:txBody>
      </p:sp>
      <p:sp>
        <p:nvSpPr>
          <p:cNvPr id="12" name="TextBox 11"/>
          <p:cNvSpPr txBox="1"/>
          <p:nvPr/>
        </p:nvSpPr>
        <p:spPr>
          <a:xfrm>
            <a:off x="7445884" y="3310127"/>
            <a:ext cx="4329846" cy="633984"/>
          </a:xfrm>
          <a:prstGeom prst="rect">
            <a:avLst/>
          </a:prstGeom>
          <a:noFill/>
        </p:spPr>
        <p:txBody>
          <a:bodyPr wrap="none" lIns="0" rIns="0">
            <a:noAutofit/>
          </a:bodyPr>
          <a:lstStyle/>
          <a:p>
            <a:pPr algn="l"/>
            <a:r>
              <a:rPr sz="3400" b="0" i="0">
                <a:solidFill>
                  <a:srgbClr val="0A2240"/>
                </a:solidFill>
                <a:latin typeface="Arial"/>
              </a:rPr>
              <a:t>Fewer tokens</a:t>
            </a:r>
          </a:p>
        </p:txBody>
      </p:sp>
      <p:sp>
        <p:nvSpPr>
          <p:cNvPr id="13" name="TextBox 12"/>
          <p:cNvSpPr txBox="1"/>
          <p:nvPr/>
        </p:nvSpPr>
        <p:spPr>
          <a:xfrm>
            <a:off x="457200" y="4218431"/>
            <a:ext cx="4176692" cy="633984"/>
          </a:xfrm>
          <a:prstGeom prst="rect">
            <a:avLst/>
          </a:prstGeom>
          <a:noFill/>
        </p:spPr>
        <p:txBody>
          <a:bodyPr wrap="none" lIns="0" rIns="0">
            <a:noAutofit/>
          </a:bodyPr>
          <a:lstStyle/>
          <a:p>
            <a:pPr algn="l"/>
            <a:r>
              <a:rPr sz="3400" b="0" i="0">
                <a:solidFill>
                  <a:srgbClr val="0A2240"/>
                </a:solidFill>
                <a:latin typeface="Arial"/>
              </a:rPr>
              <a:t>Breaks when</a:t>
            </a:r>
          </a:p>
        </p:txBody>
      </p:sp>
      <p:sp>
        <p:nvSpPr>
          <p:cNvPr id="14" name="TextBox 13"/>
          <p:cNvSpPr txBox="1"/>
          <p:nvPr/>
        </p:nvSpPr>
        <p:spPr>
          <a:xfrm>
            <a:off x="3867733" y="4218431"/>
            <a:ext cx="4444881" cy="633984"/>
          </a:xfrm>
          <a:prstGeom prst="rect">
            <a:avLst/>
          </a:prstGeom>
          <a:noFill/>
        </p:spPr>
        <p:txBody>
          <a:bodyPr wrap="none" lIns="0" rIns="0">
            <a:noAutofit/>
          </a:bodyPr>
          <a:lstStyle/>
          <a:p>
            <a:pPr algn="l"/>
            <a:r>
              <a:rPr sz="3400" b="0" i="0">
                <a:solidFill>
                  <a:srgbClr val="0A2240"/>
                </a:solidFill>
                <a:latin typeface="Arial"/>
              </a:rPr>
              <a:t>Corpus grows</a:t>
            </a:r>
          </a:p>
        </p:txBody>
      </p:sp>
      <p:sp>
        <p:nvSpPr>
          <p:cNvPr id="15" name="TextBox 14"/>
          <p:cNvSpPr txBox="1"/>
          <p:nvPr/>
        </p:nvSpPr>
        <p:spPr>
          <a:xfrm>
            <a:off x="7445884" y="4218431"/>
            <a:ext cx="4713406" cy="633984"/>
          </a:xfrm>
          <a:prstGeom prst="rect">
            <a:avLst/>
          </a:prstGeom>
          <a:noFill/>
        </p:spPr>
        <p:txBody>
          <a:bodyPr wrap="none" lIns="0" rIns="0">
            <a:noAutofit/>
          </a:bodyPr>
          <a:lstStyle/>
          <a:p>
            <a:pPr algn="l"/>
            <a:r>
              <a:rPr sz="3400" b="0" i="0">
                <a:solidFill>
                  <a:srgbClr val="0A2240"/>
                </a:solidFill>
                <a:latin typeface="Arial"/>
              </a:rPr>
              <a:t>Search misses</a:t>
            </a:r>
          </a:p>
        </p:txBody>
      </p:sp>
      <p:sp>
        <p:nvSpPr>
          <p:cNvPr id="16" name="TextBox 15"/>
          <p:cNvSpPr txBox="1"/>
          <p:nvPr/>
        </p:nvSpPr>
        <p:spPr>
          <a:xfrm>
            <a:off x="457200" y="5126735"/>
            <a:ext cx="3909179" cy="633984"/>
          </a:xfrm>
          <a:prstGeom prst="rect">
            <a:avLst/>
          </a:prstGeom>
          <a:noFill/>
        </p:spPr>
        <p:txBody>
          <a:bodyPr wrap="none" lIns="0" rIns="0">
            <a:noAutofit/>
          </a:bodyPr>
          <a:lstStyle/>
          <a:p>
            <a:pPr algn="l"/>
            <a:r>
              <a:rPr sz="3400" b="0" i="0">
                <a:solidFill>
                  <a:srgbClr val="0A2240"/>
                </a:solidFill>
                <a:latin typeface="Arial"/>
              </a:rPr>
              <a:t>Debuggable</a:t>
            </a:r>
          </a:p>
        </p:txBody>
      </p:sp>
      <p:sp>
        <p:nvSpPr>
          <p:cNvPr id="17" name="TextBox 16"/>
          <p:cNvSpPr txBox="1"/>
          <p:nvPr/>
        </p:nvSpPr>
        <p:spPr>
          <a:xfrm>
            <a:off x="3867733" y="5126735"/>
            <a:ext cx="3029511" cy="633984"/>
          </a:xfrm>
          <a:prstGeom prst="rect">
            <a:avLst/>
          </a:prstGeom>
          <a:noFill/>
        </p:spPr>
        <p:txBody>
          <a:bodyPr wrap="none" lIns="0" rIns="0">
            <a:noAutofit/>
          </a:bodyPr>
          <a:lstStyle/>
          <a:p>
            <a:pPr algn="l"/>
            <a:r>
              <a:rPr sz="3400" b="0" i="0">
                <a:solidFill>
                  <a:srgbClr val="0A2240"/>
                </a:solidFill>
                <a:latin typeface="Arial"/>
              </a:rPr>
              <a:t>Easily</a:t>
            </a:r>
          </a:p>
        </p:txBody>
      </p:sp>
      <p:sp>
        <p:nvSpPr>
          <p:cNvPr id="18" name="TextBox 17"/>
          <p:cNvSpPr txBox="1"/>
          <p:nvPr/>
        </p:nvSpPr>
        <p:spPr>
          <a:xfrm>
            <a:off x="7445884" y="5126735"/>
            <a:ext cx="3600508" cy="633984"/>
          </a:xfrm>
          <a:prstGeom prst="rect">
            <a:avLst/>
          </a:prstGeom>
          <a:noFill/>
        </p:spPr>
        <p:txBody>
          <a:bodyPr wrap="none" lIns="0" rIns="0">
            <a:noAutofit/>
          </a:bodyPr>
          <a:lstStyle/>
          <a:p>
            <a:pPr algn="l"/>
            <a:r>
              <a:rPr sz="3400" b="0" i="0">
                <a:solidFill>
                  <a:srgbClr val="0A2240"/>
                </a:solidFill>
                <a:latin typeface="Arial"/>
              </a:rPr>
              <a:t>Less easily</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72611" cy="768096"/>
          </a:xfrm>
          <a:prstGeom prst="rect">
            <a:avLst/>
          </a:prstGeom>
          <a:noFill/>
        </p:spPr>
        <p:txBody>
          <a:bodyPr wrap="none" lIns="0" rIns="0">
            <a:noAutofit/>
          </a:bodyPr>
          <a:lstStyle/>
          <a:p>
            <a:pPr algn="l"/>
            <a:r>
              <a:rPr sz="4200" b="1" i="0">
                <a:solidFill>
                  <a:srgbClr val="0072CE"/>
                </a:solidFill>
                <a:latin typeface="Arial"/>
              </a:rPr>
              <a:t>The Costs Nobody Budgets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Chunking the documents well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Deciding how many to fetch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Debugging what it missed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Explaining it in the demo</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Measure before you architect</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5403948" cy="518159"/>
          </a:xfrm>
          <a:prstGeom prst="rect">
            <a:avLst/>
          </a:prstGeom>
          <a:noFill/>
        </p:spPr>
        <p:txBody>
          <a:bodyPr wrap="none" lIns="0" rIns="0">
            <a:noAutofit/>
          </a:bodyPr>
          <a:lstStyle/>
          <a:p>
            <a:pPr algn="l"/>
            <a:r>
              <a:rPr sz="3400" b="0" i="0">
                <a:solidFill>
                  <a:srgbClr val="D4D4D4"/>
                </a:solidFill>
                <a:latin typeface="Arial"/>
              </a:rPr>
              <a:t> wc -w docs/*.md</a:t>
            </a:r>
          </a:p>
        </p:txBody>
      </p:sp>
      <p:sp>
        <p:nvSpPr>
          <p:cNvPr id="8" name="TextBox 7"/>
          <p:cNvSpPr txBox="1"/>
          <p:nvPr/>
        </p:nvSpPr>
        <p:spPr>
          <a:xfrm>
            <a:off x="457200" y="2356103"/>
            <a:ext cx="422816" cy="518159"/>
          </a:xfrm>
          <a:prstGeom prst="rect">
            <a:avLst/>
          </a:prstGeom>
          <a:noFill/>
        </p:spPr>
        <p:txBody>
          <a:bodyPr wrap="none" lIns="0" rIns="0">
            <a:noAutofit/>
          </a:bodyPr>
          <a:lstStyle/>
          <a:p>
            <a:pPr algn="l"/>
            <a:r>
              <a:rPr sz="3400" b="0" i="0">
                <a:solidFill>
                  <a:srgbClr val="D4D4D4"/>
                </a:solidFill>
                <a:latin typeface="Arial"/>
              </a:rPr>
              <a:t>  </a:t>
            </a:r>
          </a:p>
        </p:txBody>
      </p:sp>
      <p:sp>
        <p:nvSpPr>
          <p:cNvPr id="9" name="TextBox 8"/>
          <p:cNvSpPr txBox="1"/>
          <p:nvPr/>
        </p:nvSpPr>
        <p:spPr>
          <a:xfrm>
            <a:off x="697136" y="2356103"/>
            <a:ext cx="951348" cy="518159"/>
          </a:xfrm>
          <a:prstGeom prst="rect">
            <a:avLst/>
          </a:prstGeom>
          <a:noFill/>
        </p:spPr>
        <p:txBody>
          <a:bodyPr wrap="none" lIns="0" rIns="0">
            <a:noAutofit/>
          </a:bodyPr>
          <a:lstStyle/>
          <a:p>
            <a:pPr algn="l"/>
            <a:r>
              <a:rPr sz="3400" b="0" i="0">
                <a:solidFill>
                  <a:srgbClr val="B5CEA8"/>
                </a:solidFill>
                <a:latin typeface="Arial"/>
              </a:rPr>
              <a:t>41</a:t>
            </a:r>
          </a:p>
        </p:txBody>
      </p:sp>
      <p:sp>
        <p:nvSpPr>
          <p:cNvPr id="10" name="TextBox 9"/>
          <p:cNvSpPr txBox="1"/>
          <p:nvPr/>
        </p:nvSpPr>
        <p:spPr>
          <a:xfrm>
            <a:off x="1177429"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1" name="TextBox 10"/>
          <p:cNvSpPr txBox="1"/>
          <p:nvPr/>
        </p:nvSpPr>
        <p:spPr>
          <a:xfrm>
            <a:off x="1297397" y="2356103"/>
            <a:ext cx="1335584" cy="518159"/>
          </a:xfrm>
          <a:prstGeom prst="rect">
            <a:avLst/>
          </a:prstGeom>
          <a:noFill/>
        </p:spPr>
        <p:txBody>
          <a:bodyPr wrap="none" lIns="0" rIns="0">
            <a:noAutofit/>
          </a:bodyPr>
          <a:lstStyle/>
          <a:p>
            <a:pPr algn="l"/>
            <a:r>
              <a:rPr sz="3400" b="0" i="0">
                <a:solidFill>
                  <a:srgbClr val="B5CEA8"/>
                </a:solidFill>
                <a:latin typeface="Arial"/>
              </a:rPr>
              <a:t>204</a:t>
            </a:r>
          </a:p>
        </p:txBody>
      </p:sp>
      <p:sp>
        <p:nvSpPr>
          <p:cNvPr id="12" name="TextBox 11"/>
          <p:cNvSpPr txBox="1"/>
          <p:nvPr/>
        </p:nvSpPr>
        <p:spPr>
          <a:xfrm>
            <a:off x="2017837" y="2356103"/>
            <a:ext cx="1680686" cy="518159"/>
          </a:xfrm>
          <a:prstGeom prst="rect">
            <a:avLst/>
          </a:prstGeom>
          <a:noFill/>
        </p:spPr>
        <p:txBody>
          <a:bodyPr wrap="none" lIns="0" rIns="0">
            <a:noAutofit/>
          </a:bodyPr>
          <a:lstStyle/>
          <a:p>
            <a:pPr algn="l"/>
            <a:r>
              <a:rPr sz="3400" b="0" i="0">
                <a:solidFill>
                  <a:srgbClr val="D4D4D4"/>
                </a:solidFill>
                <a:latin typeface="Arial"/>
              </a:rPr>
              <a:t> total</a:t>
            </a:r>
          </a:p>
        </p:txBody>
      </p:sp>
      <p:sp>
        <p:nvSpPr>
          <p:cNvPr id="13" name="TextBox 12"/>
          <p:cNvSpPr txBox="1"/>
          <p:nvPr/>
        </p:nvSpPr>
        <p:spPr>
          <a:xfrm>
            <a:off x="457200" y="3392421"/>
            <a:ext cx="6538436" cy="518159"/>
          </a:xfrm>
          <a:prstGeom prst="rect">
            <a:avLst/>
          </a:prstGeom>
          <a:noFill/>
        </p:spPr>
        <p:txBody>
          <a:bodyPr wrap="none" lIns="0" rIns="0">
            <a:noAutofit/>
          </a:bodyPr>
          <a:lstStyle/>
          <a:p>
            <a:pPr algn="l"/>
            <a:r>
              <a:rPr sz="3400" b="0" i="0">
                <a:solidFill>
                  <a:srgbClr val="6A9955"/>
                </a:solidFill>
                <a:latin typeface="Arial"/>
              </a:rPr>
              <a:t># ~55k tokens. It fits.</a:t>
            </a:r>
          </a:p>
        </p:txBody>
      </p:sp>
      <p:sp>
        <p:nvSpPr>
          <p:cNvPr id="14" name="TextBox 13"/>
          <p:cNvSpPr txBox="1"/>
          <p:nvPr/>
        </p:nvSpPr>
        <p:spPr>
          <a:xfrm>
            <a:off x="457200" y="3910580"/>
            <a:ext cx="8811459" cy="518159"/>
          </a:xfrm>
          <a:prstGeom prst="rect">
            <a:avLst/>
          </a:prstGeom>
          <a:noFill/>
        </p:spPr>
        <p:txBody>
          <a:bodyPr wrap="none" lIns="0" rIns="0">
            <a:noAutofit/>
          </a:bodyPr>
          <a:lstStyle/>
          <a:p>
            <a:pPr algn="l"/>
            <a:r>
              <a:rPr sz="3400" b="0" i="0">
                <a:solidFill>
                  <a:srgbClr val="6A9955"/>
                </a:solidFill>
                <a:latin typeface="Arial"/>
              </a:rPr>
              <a:t># No retrieval needed today.</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You Are Over-Building If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picked a vector database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Your corpus is under 20 files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cannot name a missed query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It is not tomorrow's demo step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"The cheapest thing that works."</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in five words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Smallest Layer</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Project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workspace with your files always in context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It Is the Baseline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Standing it up takes minutes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keys, no store, no code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files are simply there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Anyone can drive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Stand One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 the Project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Name it after the problem</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your documents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real ones, not samples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Write the instructions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Say how to answer, and how not to</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Project instructions worth writing</a:t>
            </a:r>
          </a:p>
        </p:txBody>
      </p:sp>
      <p:sp>
        <p:nvSpPr>
          <p:cNvPr id="6" name="TextBox 5"/>
          <p:cNvSpPr txBox="1"/>
          <p:nvPr/>
        </p:nvSpPr>
        <p:spPr>
          <a:xfrm>
            <a:off x="457200" y="1837944"/>
            <a:ext cx="4137897" cy="518159"/>
          </a:xfrm>
          <a:prstGeom prst="rect">
            <a:avLst/>
          </a:prstGeom>
          <a:noFill/>
        </p:spPr>
        <p:txBody>
          <a:bodyPr wrap="none" lIns="0" rIns="0">
            <a:noAutofit/>
          </a:bodyPr>
          <a:lstStyle/>
          <a:p>
            <a:pPr algn="l"/>
            <a:r>
              <a:rPr sz="3400" b="0" i="0">
                <a:solidFill>
                  <a:srgbClr val="D4D4D4"/>
                </a:solidFill>
                <a:latin typeface="Arial"/>
              </a:rPr>
              <a:t>Answer only </a:t>
            </a:r>
          </a:p>
        </p:txBody>
      </p:sp>
      <p:sp>
        <p:nvSpPr>
          <p:cNvPr id="7" name="TextBox 6"/>
          <p:cNvSpPr txBox="1"/>
          <p:nvPr/>
        </p:nvSpPr>
        <p:spPr>
          <a:xfrm>
            <a:off x="2929086" y="1837944"/>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8" name="TextBox 7"/>
          <p:cNvSpPr txBox="1"/>
          <p:nvPr/>
        </p:nvSpPr>
        <p:spPr>
          <a:xfrm>
            <a:off x="3792686" y="1837944"/>
            <a:ext cx="5790208" cy="518159"/>
          </a:xfrm>
          <a:prstGeom prst="rect">
            <a:avLst/>
          </a:prstGeom>
          <a:noFill/>
        </p:spPr>
        <p:txBody>
          <a:bodyPr wrap="none" lIns="0" rIns="0">
            <a:noAutofit/>
          </a:bodyPr>
          <a:lstStyle/>
          <a:p>
            <a:pPr algn="l"/>
            <a:r>
              <a:rPr sz="3400" b="0" i="0">
                <a:solidFill>
                  <a:srgbClr val="D4D4D4"/>
                </a:solidFill>
                <a:latin typeface="Arial"/>
              </a:rPr>
              <a:t> the attached files.</a:t>
            </a:r>
          </a:p>
        </p:txBody>
      </p:sp>
      <p:sp>
        <p:nvSpPr>
          <p:cNvPr id="9" name="TextBox 8"/>
          <p:cNvSpPr txBox="1"/>
          <p:nvPr/>
        </p:nvSpPr>
        <p:spPr>
          <a:xfrm>
            <a:off x="457200" y="2356103"/>
            <a:ext cx="9208512" cy="518159"/>
          </a:xfrm>
          <a:prstGeom prst="rect">
            <a:avLst/>
          </a:prstGeom>
          <a:noFill/>
        </p:spPr>
        <p:txBody>
          <a:bodyPr wrap="none" lIns="0" rIns="0">
            <a:noAutofit/>
          </a:bodyPr>
          <a:lstStyle/>
          <a:p>
            <a:pPr algn="l"/>
            <a:r>
              <a:rPr sz="3400" b="0" i="0">
                <a:solidFill>
                  <a:srgbClr val="D4D4D4"/>
                </a:solidFill>
                <a:latin typeface="Arial"/>
              </a:rPr>
              <a:t>Quote the filename you used.</a:t>
            </a:r>
          </a:p>
        </p:txBody>
      </p:sp>
      <p:sp>
        <p:nvSpPr>
          <p:cNvPr id="10" name="TextBox 9"/>
          <p:cNvSpPr txBox="1"/>
          <p:nvPr/>
        </p:nvSpPr>
        <p:spPr>
          <a:xfrm>
            <a:off x="457200" y="2874262"/>
            <a:ext cx="4292064" cy="518159"/>
          </a:xfrm>
          <a:prstGeom prst="rect">
            <a:avLst/>
          </a:prstGeom>
          <a:noFill/>
        </p:spPr>
        <p:txBody>
          <a:bodyPr wrap="none" lIns="0" rIns="0">
            <a:noAutofit/>
          </a:bodyPr>
          <a:lstStyle/>
          <a:p>
            <a:pPr algn="l"/>
            <a:r>
              <a:rPr sz="3400" b="0" i="0">
                <a:solidFill>
                  <a:srgbClr val="D4D4D4"/>
                </a:solidFill>
                <a:latin typeface="Arial"/>
              </a:rPr>
              <a:t>If the files do </a:t>
            </a:r>
          </a:p>
        </p:txBody>
      </p:sp>
      <p:sp>
        <p:nvSpPr>
          <p:cNvPr id="11" name="TextBox 10"/>
          <p:cNvSpPr txBox="1"/>
          <p:nvPr/>
        </p:nvSpPr>
        <p:spPr>
          <a:xfrm>
            <a:off x="3025440" y="2874262"/>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2" name="TextBox 11"/>
          <p:cNvSpPr txBox="1"/>
          <p:nvPr/>
        </p:nvSpPr>
        <p:spPr>
          <a:xfrm>
            <a:off x="3625701" y="2874262"/>
            <a:ext cx="2793584" cy="518159"/>
          </a:xfrm>
          <a:prstGeom prst="rect">
            <a:avLst/>
          </a:prstGeom>
          <a:noFill/>
        </p:spPr>
        <p:txBody>
          <a:bodyPr wrap="none" lIns="0" rIns="0">
            <a:noAutofit/>
          </a:bodyPr>
          <a:lstStyle/>
          <a:p>
            <a:pPr algn="l"/>
            <a:r>
              <a:rPr sz="3400" b="0" i="0">
                <a:solidFill>
                  <a:srgbClr val="D4D4D4"/>
                </a:solidFill>
                <a:latin typeface="Arial"/>
              </a:rPr>
              <a:t> cover it,</a:t>
            </a:r>
          </a:p>
        </p:txBody>
      </p:sp>
      <p:sp>
        <p:nvSpPr>
          <p:cNvPr id="13" name="TextBox 12"/>
          <p:cNvSpPr txBox="1"/>
          <p:nvPr/>
        </p:nvSpPr>
        <p:spPr>
          <a:xfrm>
            <a:off x="457200" y="3392421"/>
            <a:ext cx="5737920" cy="518159"/>
          </a:xfrm>
          <a:prstGeom prst="rect">
            <a:avLst/>
          </a:prstGeom>
          <a:noFill/>
        </p:spPr>
        <p:txBody>
          <a:bodyPr wrap="none" lIns="0" rIns="0">
            <a:noAutofit/>
          </a:bodyPr>
          <a:lstStyle/>
          <a:p>
            <a:pPr algn="l"/>
            <a:r>
              <a:rPr sz="3400" b="0" i="0">
                <a:solidFill>
                  <a:srgbClr val="D4D4D4"/>
                </a:solidFill>
                <a:latin typeface="Arial"/>
              </a:rPr>
              <a:t>say so plainly. Do </a:t>
            </a:r>
          </a:p>
        </p:txBody>
      </p:sp>
      <p:sp>
        <p:nvSpPr>
          <p:cNvPr id="14" name="TextBox 13"/>
          <p:cNvSpPr txBox="1"/>
          <p:nvPr/>
        </p:nvSpPr>
        <p:spPr>
          <a:xfrm>
            <a:off x="3929100"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5" name="TextBox 14"/>
          <p:cNvSpPr txBox="1"/>
          <p:nvPr/>
        </p:nvSpPr>
        <p:spPr>
          <a:xfrm>
            <a:off x="4529361" y="3392421"/>
            <a:ext cx="2410360" cy="518159"/>
          </a:xfrm>
          <a:prstGeom prst="rect">
            <a:avLst/>
          </a:prstGeom>
          <a:noFill/>
        </p:spPr>
        <p:txBody>
          <a:bodyPr wrap="none" lIns="0" rIns="0">
            <a:noAutofit/>
          </a:bodyPr>
          <a:lstStyle/>
          <a:p>
            <a:pPr algn="l"/>
            <a:r>
              <a:rPr sz="3400" b="0" i="0">
                <a:solidFill>
                  <a:srgbClr val="D4D4D4"/>
                </a:solidFill>
                <a:latin typeface="Arial"/>
              </a:rPr>
              <a:t> guess.</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Goes in the Project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documents you must cite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example of a good answer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Your glossary and odd terms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Nothing you would not ship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Baseline to Beat</a:t>
            </a:r>
          </a:p>
        </p:txBody>
      </p:sp>
      <p:sp>
        <p:nvSpPr>
          <p:cNvPr id="3" name="TextBox 2"/>
          <p:cNvSpPr txBox="1"/>
          <p:nvPr/>
        </p:nvSpPr>
        <p:spPr>
          <a:xfrm>
            <a:off x="457200" y="1499616"/>
            <a:ext cx="4302140" cy="518159"/>
          </a:xfrm>
          <a:prstGeom prst="rect">
            <a:avLst/>
          </a:prstGeom>
          <a:noFill/>
        </p:spPr>
        <p:txBody>
          <a:bodyPr wrap="none" lIns="0" rIns="0">
            <a:noAutofit/>
          </a:bodyPr>
          <a:lstStyle/>
          <a:p>
            <a:pPr algn="l"/>
            <a:r>
              <a:rPr sz="3400" b="1" i="0">
                <a:solidFill>
                  <a:srgbClr val="123A6B"/>
                </a:solidFill>
                <a:latin typeface="Arial"/>
              </a:rPr>
              <a:t>Measure</a:t>
            </a:r>
          </a:p>
        </p:txBody>
      </p:sp>
      <p:sp>
        <p:nvSpPr>
          <p:cNvPr id="4" name="TextBox 3"/>
          <p:cNvSpPr txBox="1"/>
          <p:nvPr/>
        </p:nvSpPr>
        <p:spPr>
          <a:xfrm>
            <a:off x="5307980" y="1499616"/>
            <a:ext cx="4709904" cy="518159"/>
          </a:xfrm>
          <a:prstGeom prst="rect">
            <a:avLst/>
          </a:prstGeom>
          <a:noFill/>
        </p:spPr>
        <p:txBody>
          <a:bodyPr wrap="none" lIns="0" rIns="0">
            <a:noAutofit/>
          </a:bodyPr>
          <a:lstStyle/>
          <a:p>
            <a:pPr algn="l"/>
            <a:r>
              <a:rPr sz="3400" b="1" i="0">
                <a:solidFill>
                  <a:srgbClr val="123A6B"/>
                </a:solidFill>
                <a:latin typeface="Arial"/>
              </a:rPr>
              <a:t>Your target</a:t>
            </a:r>
          </a:p>
        </p:txBody>
      </p:sp>
      <p:sp>
        <p:nvSpPr>
          <p:cNvPr id="5" name="Rectangle 4"/>
          <p:cNvSpPr/>
          <p:nvPr/>
        </p:nvSpPr>
        <p:spPr>
          <a:xfrm>
            <a:off x="457200" y="2072639"/>
            <a:ext cx="9560684"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481088" cy="633984"/>
          </a:xfrm>
          <a:prstGeom prst="rect">
            <a:avLst/>
          </a:prstGeom>
          <a:noFill/>
        </p:spPr>
        <p:txBody>
          <a:bodyPr wrap="none" lIns="0" rIns="0">
            <a:noAutofit/>
          </a:bodyPr>
          <a:lstStyle/>
          <a:p>
            <a:pPr algn="l"/>
            <a:r>
              <a:rPr sz="3400" b="0" i="0">
                <a:solidFill>
                  <a:srgbClr val="0A2240"/>
                </a:solidFill>
                <a:latin typeface="Arial"/>
              </a:rPr>
              <a:t>Questions answered</a:t>
            </a:r>
          </a:p>
        </p:txBody>
      </p:sp>
      <p:sp>
        <p:nvSpPr>
          <p:cNvPr id="7" name="TextBox 6"/>
          <p:cNvSpPr txBox="1"/>
          <p:nvPr/>
        </p:nvSpPr>
        <p:spPr>
          <a:xfrm>
            <a:off x="5307980" y="2401823"/>
            <a:ext cx="6788070" cy="633984"/>
          </a:xfrm>
          <a:prstGeom prst="rect">
            <a:avLst/>
          </a:prstGeom>
          <a:noFill/>
        </p:spPr>
        <p:txBody>
          <a:bodyPr wrap="none" lIns="0" rIns="0">
            <a:noAutofit/>
          </a:bodyPr>
          <a:lstStyle/>
          <a:p>
            <a:pPr algn="l"/>
            <a:r>
              <a:rPr sz="3400" b="0" i="0">
                <a:solidFill>
                  <a:srgbClr val="0A2240"/>
                </a:solidFill>
                <a:latin typeface="Arial"/>
              </a:rPr>
              <a:t>More than the Project</a:t>
            </a:r>
          </a:p>
        </p:txBody>
      </p:sp>
      <p:sp>
        <p:nvSpPr>
          <p:cNvPr id="8" name="TextBox 7"/>
          <p:cNvSpPr txBox="1"/>
          <p:nvPr/>
        </p:nvSpPr>
        <p:spPr>
          <a:xfrm>
            <a:off x="457200" y="3310127"/>
            <a:ext cx="4969787" cy="633984"/>
          </a:xfrm>
          <a:prstGeom prst="rect">
            <a:avLst/>
          </a:prstGeom>
          <a:noFill/>
        </p:spPr>
        <p:txBody>
          <a:bodyPr wrap="none" lIns="0" rIns="0">
            <a:noAutofit/>
          </a:bodyPr>
          <a:lstStyle/>
          <a:p>
            <a:pPr algn="l"/>
            <a:r>
              <a:rPr sz="3400" b="0" i="0">
                <a:solidFill>
                  <a:srgbClr val="0A2240"/>
                </a:solidFill>
                <a:latin typeface="Arial"/>
              </a:rPr>
              <a:t>Wrong answers</a:t>
            </a:r>
          </a:p>
        </p:txBody>
      </p:sp>
      <p:sp>
        <p:nvSpPr>
          <p:cNvPr id="9" name="TextBox 8"/>
          <p:cNvSpPr txBox="1"/>
          <p:nvPr/>
        </p:nvSpPr>
        <p:spPr>
          <a:xfrm>
            <a:off x="5307980" y="3310127"/>
            <a:ext cx="6884020" cy="633984"/>
          </a:xfrm>
          <a:prstGeom prst="rect">
            <a:avLst/>
          </a:prstGeom>
          <a:noFill/>
        </p:spPr>
        <p:txBody>
          <a:bodyPr wrap="none" lIns="0" rIns="0">
            <a:noAutofit/>
          </a:bodyPr>
          <a:lstStyle/>
          <a:p>
            <a:pPr algn="l"/>
            <a:r>
              <a:rPr sz="3400" b="0" i="0">
                <a:solidFill>
                  <a:srgbClr val="0A2240"/>
                </a:solidFill>
                <a:latin typeface="Arial"/>
              </a:rPr>
              <a:t>Fewer than the Project</a:t>
            </a:r>
          </a:p>
        </p:txBody>
      </p:sp>
      <p:sp>
        <p:nvSpPr>
          <p:cNvPr id="10" name="TextBox 9"/>
          <p:cNvSpPr txBox="1"/>
          <p:nvPr/>
        </p:nvSpPr>
        <p:spPr>
          <a:xfrm>
            <a:off x="457200" y="4218431"/>
            <a:ext cx="4302140" cy="633984"/>
          </a:xfrm>
          <a:prstGeom prst="rect">
            <a:avLst/>
          </a:prstGeom>
          <a:noFill/>
        </p:spPr>
        <p:txBody>
          <a:bodyPr wrap="none" lIns="0" rIns="0">
            <a:noAutofit/>
          </a:bodyPr>
          <a:lstStyle/>
          <a:p>
            <a:pPr algn="l"/>
            <a:r>
              <a:rPr sz="3400" b="0" i="0">
                <a:solidFill>
                  <a:srgbClr val="0A2240"/>
                </a:solidFill>
                <a:latin typeface="Arial"/>
              </a:rPr>
              <a:t>Time to build</a:t>
            </a:r>
          </a:p>
        </p:txBody>
      </p:sp>
      <p:sp>
        <p:nvSpPr>
          <p:cNvPr id="11" name="TextBox 10"/>
          <p:cNvSpPr txBox="1"/>
          <p:nvPr/>
        </p:nvSpPr>
        <p:spPr>
          <a:xfrm>
            <a:off x="5307980" y="4218431"/>
            <a:ext cx="6520556" cy="633984"/>
          </a:xfrm>
          <a:prstGeom prst="rect">
            <a:avLst/>
          </a:prstGeom>
          <a:noFill/>
        </p:spPr>
        <p:txBody>
          <a:bodyPr wrap="none" lIns="0" rIns="0">
            <a:noAutofit/>
          </a:bodyPr>
          <a:lstStyle/>
          <a:p>
            <a:pPr algn="l"/>
            <a:r>
              <a:rPr sz="3400" b="0" i="0">
                <a:solidFill>
                  <a:srgbClr val="0A2240"/>
                </a:solidFill>
                <a:latin typeface="Arial"/>
              </a:rPr>
              <a:t>Under one afternoon</a:t>
            </a:r>
          </a:p>
        </p:txBody>
      </p:sp>
      <p:sp>
        <p:nvSpPr>
          <p:cNvPr id="12" name="TextBox 11"/>
          <p:cNvSpPr txBox="1"/>
          <p:nvPr/>
        </p:nvSpPr>
        <p:spPr>
          <a:xfrm>
            <a:off x="457200" y="5126735"/>
            <a:ext cx="6441955" cy="633984"/>
          </a:xfrm>
          <a:prstGeom prst="rect">
            <a:avLst/>
          </a:prstGeom>
          <a:noFill/>
        </p:spPr>
        <p:txBody>
          <a:bodyPr wrap="none" lIns="0" rIns="0">
            <a:noAutofit/>
          </a:bodyPr>
          <a:lstStyle/>
          <a:p>
            <a:pPr algn="l"/>
            <a:r>
              <a:rPr sz="3400" b="0" i="0">
                <a:solidFill>
                  <a:srgbClr val="0A2240"/>
                </a:solidFill>
                <a:latin typeface="Arial"/>
              </a:rPr>
              <a:t>Teammate can run it</a:t>
            </a:r>
          </a:p>
        </p:txBody>
      </p:sp>
      <p:sp>
        <p:nvSpPr>
          <p:cNvPr id="13" name="TextBox 12"/>
          <p:cNvSpPr txBox="1"/>
          <p:nvPr/>
        </p:nvSpPr>
        <p:spPr>
          <a:xfrm>
            <a:off x="5307980" y="5126735"/>
            <a:ext cx="4709904" cy="633984"/>
          </a:xfrm>
          <a:prstGeom prst="rect">
            <a:avLst/>
          </a:prstGeom>
          <a:noFill/>
        </p:spPr>
        <p:txBody>
          <a:bodyPr wrap="none" lIns="0" rIns="0">
            <a:noAutofit/>
          </a:bodyPr>
          <a:lstStyle/>
          <a:p>
            <a:pPr algn="l"/>
            <a:r>
              <a:rPr sz="3400" b="0" i="0">
                <a:solidFill>
                  <a:srgbClr val="0A2240"/>
                </a:solidFill>
                <a:latin typeface="Arial"/>
              </a:rPr>
              <a:t>Yes</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Know You Beat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Write ten questions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Real ones, before you build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730017" cy="640080"/>
          </a:xfrm>
          <a:prstGeom prst="rect">
            <a:avLst/>
          </a:prstGeom>
          <a:noFill/>
        </p:spPr>
        <p:txBody>
          <a:bodyPr wrap="none" lIns="0" rIns="0">
            <a:noAutofit/>
          </a:bodyPr>
          <a:lstStyle/>
          <a:p>
            <a:pPr algn="l"/>
            <a:r>
              <a:rPr sz="4200" b="1" i="0">
                <a:solidFill>
                  <a:srgbClr val="123A6B"/>
                </a:solidFill>
                <a:latin typeface="Arial"/>
              </a:rPr>
              <a:t>Run both, same questions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Project first, then yours</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Count, do not vibe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Keep whichever wins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Layers, Cheapest First</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Paste it in</a:t>
            </a:r>
          </a:p>
        </p:txBody>
      </p:sp>
      <p:sp>
        <p:nvSpPr>
          <p:cNvPr id="4" name="TextBox 3"/>
          <p:cNvSpPr txBox="1"/>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Zero build; use it while the corpus is small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Claude Project</a:t>
            </a:r>
          </a:p>
        </p:txBody>
      </p:sp>
      <p:sp>
        <p:nvSpPr>
          <p:cNvPr id="6" name="TextBox 5"/>
          <p:cNvSpPr txBox="1"/>
          <p:nvPr/>
        </p:nvSpPr>
        <p:spPr>
          <a:xfrm>
            <a:off x="457200" y="3621023"/>
            <a:ext cx="11734800" cy="627889"/>
          </a:xfrm>
          <a:prstGeom prst="rect">
            <a:avLst/>
          </a:prstGeom>
          <a:noFill/>
        </p:spPr>
        <p:txBody>
          <a:bodyPr wrap="none" lIns="0" rIns="0">
            <a:noAutofit/>
          </a:bodyPr>
          <a:lstStyle/>
          <a:p>
            <a:pPr algn="l"/>
            <a:r>
              <a:rPr sz="3400" b="0" i="0">
                <a:solidFill>
                  <a:srgbClr val="0A2240"/>
                </a:solidFill>
                <a:latin typeface="Arial"/>
              </a:rPr>
              <a:t>Minutes to stand up; the baseline to beat</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Real retrieval</a:t>
            </a:r>
          </a:p>
        </p:txBody>
      </p:sp>
      <p:sp>
        <p:nvSpPr>
          <p:cNvPr id="8" name="TextBox 7"/>
          <p:cNvSpPr txBox="1"/>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Only once you can name what the others missed</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to Graduate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Project cannot hold it all</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can name what it missed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corpus changes daily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You have the afternoon spare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Teams, Same Corpus</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Built retrieval</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Used a Project</a:t>
            </a:r>
          </a:p>
        </p:txBody>
      </p:sp>
      <p:sp>
        <p:nvSpPr>
          <p:cNvPr id="5" name="TextBox 4"/>
          <p:cNvSpPr txBox="1"/>
          <p:nvPr/>
        </p:nvSpPr>
        <p:spPr>
          <a:xfrm>
            <a:off x="457200" y="2395727"/>
            <a:ext cx="7096740" cy="847344"/>
          </a:xfrm>
          <a:prstGeom prst="rect">
            <a:avLst/>
          </a:prstGeom>
          <a:noFill/>
        </p:spPr>
        <p:txBody>
          <a:bodyPr wrap="none" lIns="0" rIns="0">
            <a:noAutofit/>
          </a:bodyPr>
          <a:lstStyle/>
          <a:p>
            <a:pPr algn="l"/>
            <a:r>
              <a:rPr sz="3400" b="0" i="0">
                <a:solidFill>
                  <a:srgbClr val="0A2240"/>
                </a:solidFill>
                <a:latin typeface="Arial"/>
              </a:rPr>
              <a:t>Afternoon on chunking</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Twenty minutes total</a:t>
            </a:r>
          </a:p>
        </p:txBody>
      </p:sp>
      <p:sp>
        <p:nvSpPr>
          <p:cNvPr id="7" name="TextBox 6"/>
          <p:cNvSpPr txBox="1"/>
          <p:nvPr/>
        </p:nvSpPr>
        <p:spPr>
          <a:xfrm>
            <a:off x="457200" y="3517391"/>
            <a:ext cx="7671236" cy="847344"/>
          </a:xfrm>
          <a:prstGeom prst="rect">
            <a:avLst/>
          </a:prstGeom>
          <a:noFill/>
        </p:spPr>
        <p:txBody>
          <a:bodyPr wrap="none" lIns="0" rIns="0">
            <a:noAutofit/>
          </a:bodyPr>
          <a:lstStyle/>
          <a:p>
            <a:pPr algn="l"/>
            <a:r>
              <a:rPr sz="3400" b="0" i="0">
                <a:solidFill>
                  <a:srgbClr val="0A2240"/>
                </a:solidFill>
                <a:latin typeface="Arial"/>
              </a:rPr>
              <a:t>Demo has a search step</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Demo has an answer</a:t>
            </a:r>
          </a:p>
        </p:txBody>
      </p:sp>
      <p:sp>
        <p:nvSpPr>
          <p:cNvPr id="9" name="TextBox 8"/>
          <p:cNvSpPr txBox="1"/>
          <p:nvPr/>
        </p:nvSpPr>
        <p:spPr>
          <a:xfrm>
            <a:off x="457200" y="4639055"/>
            <a:ext cx="7057270" cy="847344"/>
          </a:xfrm>
          <a:prstGeom prst="rect">
            <a:avLst/>
          </a:prstGeom>
          <a:noFill/>
        </p:spPr>
        <p:txBody>
          <a:bodyPr wrap="none" lIns="0" rIns="0">
            <a:noAutofit/>
          </a:bodyPr>
          <a:lstStyle/>
          <a:p>
            <a:pPr algn="l"/>
            <a:r>
              <a:rPr sz="3400" b="0" i="0">
                <a:solidFill>
                  <a:srgbClr val="0A2240"/>
                </a:solidFill>
                <a:latin typeface="Arial"/>
              </a:rPr>
              <a:t>Nobody else can run it</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Whole team can run it</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Every box has a tool name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Every box is build or stub</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Retrieval decided, not deferred</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baseline is standing up</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372982"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378822"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784697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096179" cy="633984"/>
          </a:xfrm>
          <a:prstGeom prst="rect">
            <a:avLst/>
          </a:prstGeom>
          <a:noFill/>
        </p:spPr>
        <p:txBody>
          <a:bodyPr wrap="none" lIns="0" rIns="0">
            <a:noAutofit/>
          </a:bodyPr>
          <a:lstStyle/>
          <a:p>
            <a:pPr algn="l"/>
            <a:r>
              <a:rPr sz="3400" b="0" i="0">
                <a:solidFill>
                  <a:srgbClr val="0A2240"/>
                </a:solidFill>
                <a:latin typeface="Arial"/>
              </a:rPr>
              <a:t>Riskiest tool choice</a:t>
            </a:r>
          </a:p>
        </p:txBody>
      </p:sp>
      <p:sp>
        <p:nvSpPr>
          <p:cNvPr id="7" name="TextBox 6"/>
          <p:cNvSpPr txBox="1"/>
          <p:nvPr/>
        </p:nvSpPr>
        <p:spPr>
          <a:xfrm>
            <a:off x="5378822"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4372982" cy="633984"/>
          </a:xfrm>
          <a:prstGeom prst="rect">
            <a:avLst/>
          </a:prstGeom>
          <a:noFill/>
        </p:spPr>
        <p:txBody>
          <a:bodyPr wrap="none" lIns="0" rIns="0">
            <a:noAutofit/>
          </a:bodyPr>
          <a:lstStyle/>
          <a:p>
            <a:pPr algn="l"/>
            <a:r>
              <a:rPr sz="3400" b="0" i="0">
                <a:solidFill>
                  <a:srgbClr val="0A2240"/>
                </a:solidFill>
                <a:latin typeface="Arial"/>
              </a:rPr>
              <a:t>Biggest stub</a:t>
            </a:r>
          </a:p>
        </p:txBody>
      </p:sp>
      <p:sp>
        <p:nvSpPr>
          <p:cNvPr id="9" name="TextBox 8"/>
          <p:cNvSpPr txBox="1"/>
          <p:nvPr/>
        </p:nvSpPr>
        <p:spPr>
          <a:xfrm>
            <a:off x="5378822"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6134635" cy="633984"/>
          </a:xfrm>
          <a:prstGeom prst="rect">
            <a:avLst/>
          </a:prstGeom>
          <a:noFill/>
        </p:spPr>
        <p:txBody>
          <a:bodyPr wrap="none" lIns="0" rIns="0">
            <a:noAutofit/>
          </a:bodyPr>
          <a:lstStyle/>
          <a:p>
            <a:pPr algn="l"/>
            <a:r>
              <a:rPr sz="3400" b="0" i="0">
                <a:solidFill>
                  <a:srgbClr val="0A2240"/>
                </a:solidFill>
                <a:latin typeface="Arial"/>
              </a:rPr>
              <a:t>Retrieval: yes or no</a:t>
            </a:r>
          </a:p>
        </p:txBody>
      </p:sp>
      <p:sp>
        <p:nvSpPr>
          <p:cNvPr id="11" name="TextBox 10"/>
          <p:cNvSpPr txBox="1"/>
          <p:nvPr/>
        </p:nvSpPr>
        <p:spPr>
          <a:xfrm>
            <a:off x="5378822"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6594435" cy="633984"/>
          </a:xfrm>
          <a:prstGeom prst="rect">
            <a:avLst/>
          </a:prstGeom>
          <a:noFill/>
        </p:spPr>
        <p:txBody>
          <a:bodyPr wrap="none" lIns="0" rIns="0">
            <a:noAutofit/>
          </a:bodyPr>
          <a:lstStyle/>
          <a:p>
            <a:pPr algn="l"/>
            <a:r>
              <a:rPr sz="3400" b="0" i="0">
                <a:solidFill>
                  <a:srgbClr val="0A2240"/>
                </a:solidFill>
                <a:latin typeface="Arial"/>
              </a:rPr>
              <a:t>What proves it works</a:t>
            </a:r>
          </a:p>
        </p:txBody>
      </p:sp>
      <p:sp>
        <p:nvSpPr>
          <p:cNvPr id="13" name="TextBox 12"/>
          <p:cNvSpPr txBox="1"/>
          <p:nvPr/>
        </p:nvSpPr>
        <p:spPr>
          <a:xfrm>
            <a:off x="5378822"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Can you start building?</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Next: Building the Happy Path</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known-good input, end to end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No edge cases, no error handling</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Claude Code drives each step</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Commit the moment it works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