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connecting to the last session. They have a precise problem. This hour turns that one sentence into a picture of how the solution actually runs, step by step. Nothing gets built until the path is drawn.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Longer than the last session, and the output is visual rather than verbal. Name the artifact now: a shareable diagram, not notes. If they leave with prose, this hour did not land.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syllabus objectives plus the risk pass at the end. Flag that the last item is the one that saves Day 3 — most teams skip it and pay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about their own problem and let the silence sit. Most teams can name the input and the output but go vague in the middle. That vague middle is exactly what this session makes concrete.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slide. A problem statement says what is wrong; a workflow says how you get from raw input to a delivered answer. You need both before any code exists.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 in four moves. Return here whenever the room loses the thread. Point out that only the last move is optional-feeling, and it is the one that matters most on Day 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The goal is a stepwise path from raw input to delivered output — no gaps, no magic middle where the hard part quietly lives.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ends matter. Teams often start mid-stream, assuming clean data appears from somewhere. The workflow starts at whatever genuinely arrives, in whatever state it arrives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unit test for a step. If you cannot say what goes in and what comes out, it is not a step yet — it is a wish, and it will hide the hard work until Day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 on the middle being ONE thing. The moment a step does two things, it is two steps. That discipline is what makes the map assignable later in 1.3.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Backwards is deliberate. Forward decomposition drifts into what is easy to build; backwards keeps every step justified by the output it serves. Have them try it right now on paper.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previous slide. The middle item is the test: if a step does not serve the output, cut it. Teams add steps because they are interesting, not because they are needed.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left to right out loud, then ask the room to do row three for their own project. The pattern is the same every time: name the verb and name the output shape.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checks for right-sized steps. The first is what makes 1.3 possible — if a step cannot have one owner, the team will collide on it tomorrow.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failure modes in one view. Coarse is more dangerous because it looks finished. Fine is annoying but recoverable. Aim for five to nine steps for a three-day build.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two lines do the work. Bounding the count stops Claude producing a twenty-box map, and forbidding tools keeps this about the path, not the stack — the stack is session 2.1.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resume example from 1.1 end to end. Four steps, each with a clear input and output. Ask which step they think is riskiest — plant the seed for the risk pass in section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is the most common and the most expensive. Data acquisition is always a step, never an assumption — 1.1's second gate already told them the data has to exist today.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hard toward linear. Branches are real but they multiply the work. Note them on the map as future paths and build the single line through the middle this week.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it now because Day 2 is built entirely on it. Everything they defer today — bad inputs, empty files, weird encodings — becomes Day 3's attack surface, which is exactly where it belongs.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literally trace it on their diagram. Listing edge cases without building them is the discipline — writing them down stops the team relitigating whether to handle them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portable line for this section. Every vague box on the map becomes an argument tomorrow when someone has to build it. Repeat this when a team wants to move on with a fuzzy middle.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The map exists in someone's head or notebook. This section makes it a thing the whole team can see, change, and send by link.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standalone and by link. It is not a message in a transcript; it is a document with its own address that keeps working after the conversation is gone.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middle row is the real argument. A diagram makes disagreement visible in seconds; prose lets two people nod at completely different mental models for a whole day.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these to the syllabus wording: see, revise, share by link. The revise point matters most today — the map will change three times in this hour and that is healthy.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live at the laptops, ten minutes. Step three is the point of the exercise: the first diagram is always slightly wrong, and correcting it is how the team converges.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Labelling the arrows is the trick. It forces the input and output of every step to be named, and it exposes any place where two steps do not actually connect.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acceptance test for their diagram. Walk the room and check all four. Missing arrow labels is the usual failure and the fastest to fix.</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conventions that keep the map readable when it is projected on a wall tomorrow. Long labels are a sign a box is doing too much — send them back to the granularity test.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Revising together is what turns one person's map into the team's map. If one teammate stays quiet through this, they will build a different system tomorrow.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quiet failures. Suggest pasting the link into the Claude Project from 1.1 right now, so the map lives beside the problem statement it serves.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session 1.1. The Project is the shared brain; the Artifact link belongs in it. Give them thirty seconds to actually paste it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A map of boxes is not yet a plan. Each box needs a resource named, and there are exactly four kinds worth distinguishing.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them in this order every time. The fourth is the one teams forget to allow — some steps should keep a person in the loop, and saying so now is a design decision, not a failure.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is the important habit. An honest question mark on the map is worth more than a confident guess — it tells the team exactly where to spend the next hour.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phrase is without you starting it. If a step must happen every morning, or every time new data lands, it is a routine and not a thing a person remembers to do.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test is the sharpest. If being late costs more than being slightly wrong, automate it. Day 3 revisits routines for ongoing checks after the week ends.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routine is just a step with a clock attached. Point out that this is the same step from their map, only scheduled — no new logic, just a trigger.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Waits is the operative word. If the system proceeds without the judgement, the human is not in the loop — they are being notified, which is a different and much weaker thing.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honest reasons. Note that none of them is the model is not good enough — that is a capability question, and it changes; these do not.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worked example, annotated. Ask the room which row would hurt most if it silently failed. That question is the hinge into the risk pass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the hardest step, and not the most interesting. The one that costs the most if it breaks. Those are often different boxes, and teams instinctively pick the interesting one.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Force a single choice. Teams want to name three risky steps and then address none of them properly. One step, three failure modes, in the next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likely first, not most dramatic. The early warning sign is what makes this actionable — it tells them what to watch for tomorrow while they build.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axes to prompt them if Claude's answers feel thin. Access failures are the most under-predicted and the most annoying, because no amount of clever code fixes a missing credential.</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concrete moves, all available today. The third connects straight to 1.3 — the riskiest step should go to whoever is most likely to get it done, not whoever wants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Intake wins on all three, so it gets the risk work. Walk the second row: Parse blocks everything after it but is well understood, so it is a schedule risk, not a design risk.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Unwritten risk is the same as unknown risk. Have them add it to the Artifact now, while the map is open, rather than promising to do it 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exit criteria. Read them slowly and have teams self-assess out loud. Anyone missing the second can fix it in two minutes before 1.3 starts.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concrete output of the hour. If a team cannot show all three, they are not ready to divide the work in 1.3 — flag it now rather than at eleven o'clock.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into session 1.3. Make the dependency explicit: you can only assign owners to steps that exist, so the quality of that hour depends entirely on the map they just drew.</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 question that reveals priorities. The answer is usually the riskiest step, which is exactly the one they should build first. Let that land, then send them to the break.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Mapping the Workflow</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1 · Session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0" y="4664964"/>
            <a:ext cx="12192000" cy="609600"/>
          </a:xfrm>
          <a:prstGeom prst="rect">
            <a:avLst/>
          </a:prstGeom>
          <a:noFill/>
        </p:spPr>
        <p:txBody>
          <a:bodyPr wrap="none" lIns="0" rIns="0">
            <a:noAutofit/>
          </a:bodyPr>
          <a:lstStyle/>
          <a:p>
            <a:pPr algn="ctr"/>
            <a:r>
              <a:rPr sz="3400" b="0" i="0">
                <a:solidFill>
                  <a:srgbClr val="5B6B82"/>
                </a:solidFill>
                <a:latin typeface="Arial"/>
              </a:rPr>
              <a:t>You leave with a diagram the team shares</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820400" cy="518159"/>
          </a:xfrm>
          <a:prstGeom prst="rect">
            <a:avLst/>
          </a:prstGeom>
          <a:noFill/>
        </p:spPr>
        <p:txBody>
          <a:bodyPr wrap="none" lIns="0" rIns="0">
            <a:noAutofit/>
          </a:bodyPr>
          <a:lstStyle/>
          <a:p>
            <a:pPr algn="l"/>
            <a:r>
              <a:rPr sz="3400" b="0" i="0">
                <a:solidFill>
                  <a:srgbClr val="0A2240"/>
                </a:solidFill>
                <a:latin typeface="Arial"/>
              </a:rPr>
              <a:t>Decomposing the problem into steps</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Turning the map into an Artifact</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Naming what each step needs</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Finding how the riskiest step fails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From input to output: how?</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1.1 to Now</a:t>
            </a:r>
          </a:p>
        </p:txBody>
      </p:sp>
      <p:sp>
        <p:nvSpPr>
          <p:cNvPr id="3" name="TextBox 2"/>
          <p:cNvSpPr txBox="1"/>
          <p:nvPr/>
        </p:nvSpPr>
        <p:spPr>
          <a:xfrm>
            <a:off x="323255" y="2776728"/>
            <a:ext cx="5060870" cy="914400"/>
          </a:xfrm>
          <a:prstGeom prst="rect">
            <a:avLst/>
          </a:prstGeom>
          <a:noFill/>
        </p:spPr>
        <p:txBody>
          <a:bodyPr wrap="none" lIns="0" rIns="0">
            <a:noAutofit/>
          </a:bodyPr>
          <a:lstStyle/>
          <a:p>
            <a:pPr algn="ctr"/>
            <a:r>
              <a:rPr sz="6000" b="1" i="0">
                <a:solidFill>
                  <a:srgbClr val="0A2240"/>
                </a:solidFill>
                <a:latin typeface="Arial"/>
              </a:rPr>
              <a:t>Problem</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One precise sentence</a:t>
            </a:r>
          </a:p>
        </p:txBody>
      </p:sp>
      <p:sp>
        <p:nvSpPr>
          <p:cNvPr id="5" name="TextBox 4"/>
          <p:cNvSpPr txBox="1"/>
          <p:nvPr/>
        </p:nvSpPr>
        <p:spPr>
          <a:xfrm>
            <a:off x="6514982" y="2776728"/>
            <a:ext cx="5646656" cy="914400"/>
          </a:xfrm>
          <a:prstGeom prst="rect">
            <a:avLst/>
          </a:prstGeom>
          <a:noFill/>
        </p:spPr>
        <p:txBody>
          <a:bodyPr wrap="none" lIns="0" rIns="0">
            <a:noAutofit/>
          </a:bodyPr>
          <a:lstStyle/>
          <a:p>
            <a:pPr algn="ctr"/>
            <a:r>
              <a:rPr sz="6000" b="1" i="0">
                <a:solidFill>
                  <a:srgbClr val="0A2240"/>
                </a:solidFill>
                <a:latin typeface="Arial"/>
              </a:rPr>
              <a:t>Workflow</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The path to solve it</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Break</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Split it into steps</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Draw</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Make it an Artifact</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3176468" cy="518159"/>
          </a:xfrm>
          <a:prstGeom prst="rect">
            <a:avLst/>
          </a:prstGeom>
          <a:noFill/>
        </p:spPr>
        <p:txBody>
          <a:bodyPr wrap="none" lIns="0" rIns="0">
            <a:noAutofit/>
          </a:bodyPr>
          <a:lstStyle/>
          <a:p>
            <a:pPr algn="l"/>
            <a:r>
              <a:rPr sz="3400" b="1" i="0">
                <a:solidFill>
                  <a:srgbClr val="123A6B"/>
                </a:solidFill>
                <a:latin typeface="Arial"/>
              </a:rPr>
              <a:t>Annotate</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Name what each needs</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Stress</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Find how it breaks</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Decompose Into Steps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Workflow</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Ordered steps from raw input to delivered output.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Step</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One change, with a named input and output.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330523" cy="768096"/>
          </a:xfrm>
          <a:prstGeom prst="rect">
            <a:avLst/>
          </a:prstGeom>
          <a:noFill/>
        </p:spPr>
        <p:txBody>
          <a:bodyPr wrap="none" lIns="0" rIns="0">
            <a:noAutofit/>
          </a:bodyPr>
          <a:lstStyle/>
          <a:p>
            <a:pPr algn="l"/>
            <a:r>
              <a:rPr sz="4200" b="1" i="0">
                <a:solidFill>
                  <a:srgbClr val="0072CE"/>
                </a:solidFill>
                <a:latin typeface="Arial"/>
              </a:rPr>
              <a:t>Every Step Has Three Parts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Input</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What arrives, and its shape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Transform</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The one thing this step does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Output</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What leaves, ready for next</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Decompose</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Name the output</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What the user finally gets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Work backwards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What must exist before it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Stop at raw input</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What you actually receive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Start From the Output</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Forward drifts toward what is easy</a:t>
            </a:r>
          </a:p>
        </p:txBody>
      </p:sp>
      <p:sp>
        <p:nvSpPr>
          <p:cNvPr id="4" name="TextBox 3"/>
          <p:cNvSpPr txBox="1"/>
          <p:nvPr/>
        </p:nvSpPr>
        <p:spPr>
          <a:xfrm>
            <a:off x="457200" y="3371088"/>
            <a:ext cx="11473100" cy="518159"/>
          </a:xfrm>
          <a:prstGeom prst="rect">
            <a:avLst/>
          </a:prstGeom>
          <a:noFill/>
        </p:spPr>
        <p:txBody>
          <a:bodyPr wrap="none" lIns="0" rIns="0">
            <a:noAutofit/>
          </a:bodyPr>
          <a:lstStyle/>
          <a:p>
            <a:pPr algn="l"/>
            <a:r>
              <a:rPr sz="3400" b="0" i="0">
                <a:solidFill>
                  <a:srgbClr val="0A2240"/>
                </a:solidFill>
                <a:latin typeface="Arial"/>
              </a:rPr>
              <a:t>Backwards keeps every step earning</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You spot the missing middle sooner</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Vague Step, Concrete Step</a:t>
            </a:r>
          </a:p>
        </p:txBody>
      </p:sp>
      <p:sp>
        <p:nvSpPr>
          <p:cNvPr id="3" name="TextBox 2"/>
          <p:cNvSpPr txBox="1"/>
          <p:nvPr/>
        </p:nvSpPr>
        <p:spPr>
          <a:xfrm>
            <a:off x="457200" y="1499616"/>
            <a:ext cx="3606158" cy="518159"/>
          </a:xfrm>
          <a:prstGeom prst="rect">
            <a:avLst/>
          </a:prstGeom>
          <a:noFill/>
        </p:spPr>
        <p:txBody>
          <a:bodyPr wrap="none" lIns="0" rIns="0">
            <a:noAutofit/>
          </a:bodyPr>
          <a:lstStyle/>
          <a:p>
            <a:pPr algn="l"/>
            <a:r>
              <a:rPr sz="3400" b="1" i="0">
                <a:solidFill>
                  <a:srgbClr val="123A6B"/>
                </a:solidFill>
                <a:latin typeface="Arial"/>
              </a:rPr>
              <a:t>Vague</a:t>
            </a:r>
          </a:p>
        </p:txBody>
      </p:sp>
      <p:sp>
        <p:nvSpPr>
          <p:cNvPr id="4" name="TextBox 3"/>
          <p:cNvSpPr txBox="1"/>
          <p:nvPr/>
        </p:nvSpPr>
        <p:spPr>
          <a:xfrm>
            <a:off x="4611998" y="1499616"/>
            <a:ext cx="5189354" cy="518159"/>
          </a:xfrm>
          <a:prstGeom prst="rect">
            <a:avLst/>
          </a:prstGeom>
          <a:noFill/>
        </p:spPr>
        <p:txBody>
          <a:bodyPr wrap="none" lIns="0" rIns="0">
            <a:noAutofit/>
          </a:bodyPr>
          <a:lstStyle/>
          <a:p>
            <a:pPr algn="l"/>
            <a:r>
              <a:rPr sz="3400" b="1" i="0">
                <a:solidFill>
                  <a:srgbClr val="123A6B"/>
                </a:solidFill>
                <a:latin typeface="Arial"/>
              </a:rPr>
              <a:t>Concrete</a:t>
            </a:r>
          </a:p>
        </p:txBody>
      </p:sp>
      <p:sp>
        <p:nvSpPr>
          <p:cNvPr id="5" name="Rectangle 4"/>
          <p:cNvSpPr/>
          <p:nvPr/>
        </p:nvSpPr>
        <p:spPr>
          <a:xfrm>
            <a:off x="457200" y="2072639"/>
            <a:ext cx="934415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367516" cy="633984"/>
          </a:xfrm>
          <a:prstGeom prst="rect">
            <a:avLst/>
          </a:prstGeom>
          <a:noFill/>
        </p:spPr>
        <p:txBody>
          <a:bodyPr wrap="none" lIns="0" rIns="0">
            <a:noAutofit/>
          </a:bodyPr>
          <a:lstStyle/>
          <a:p>
            <a:pPr algn="l"/>
            <a:r>
              <a:rPr sz="3400" b="0" i="0">
                <a:solidFill>
                  <a:srgbClr val="0A2240"/>
                </a:solidFill>
                <a:latin typeface="Arial"/>
              </a:rPr>
              <a:t>Process the data</a:t>
            </a:r>
          </a:p>
        </p:txBody>
      </p:sp>
      <p:sp>
        <p:nvSpPr>
          <p:cNvPr id="7" name="TextBox 6"/>
          <p:cNvSpPr txBox="1"/>
          <p:nvPr/>
        </p:nvSpPr>
        <p:spPr>
          <a:xfrm>
            <a:off x="4611998" y="2401823"/>
            <a:ext cx="6863972" cy="633984"/>
          </a:xfrm>
          <a:prstGeom prst="rect">
            <a:avLst/>
          </a:prstGeom>
          <a:noFill/>
        </p:spPr>
        <p:txBody>
          <a:bodyPr wrap="none" lIns="0" rIns="0">
            <a:noAutofit/>
          </a:bodyPr>
          <a:lstStyle/>
          <a:p>
            <a:pPr algn="l"/>
            <a:r>
              <a:rPr sz="3400" b="0" i="0">
                <a:solidFill>
                  <a:srgbClr val="0A2240"/>
                </a:solidFill>
                <a:latin typeface="Arial"/>
              </a:rPr>
              <a:t>Parse CSV to records</a:t>
            </a:r>
          </a:p>
        </p:txBody>
      </p:sp>
      <p:sp>
        <p:nvSpPr>
          <p:cNvPr id="8" name="TextBox 7"/>
          <p:cNvSpPr txBox="1"/>
          <p:nvPr/>
        </p:nvSpPr>
        <p:spPr>
          <a:xfrm>
            <a:off x="457200" y="3310127"/>
            <a:ext cx="3606158" cy="633984"/>
          </a:xfrm>
          <a:prstGeom prst="rect">
            <a:avLst/>
          </a:prstGeom>
          <a:noFill/>
        </p:spPr>
        <p:txBody>
          <a:bodyPr wrap="none" lIns="0" rIns="0">
            <a:noAutofit/>
          </a:bodyPr>
          <a:lstStyle/>
          <a:p>
            <a:pPr algn="l"/>
            <a:r>
              <a:rPr sz="3400" b="0" i="0">
                <a:solidFill>
                  <a:srgbClr val="0A2240"/>
                </a:solidFill>
                <a:latin typeface="Arial"/>
              </a:rPr>
              <a:t>Analyze it</a:t>
            </a:r>
          </a:p>
        </p:txBody>
      </p:sp>
      <p:sp>
        <p:nvSpPr>
          <p:cNvPr id="9" name="TextBox 8"/>
          <p:cNvSpPr txBox="1"/>
          <p:nvPr/>
        </p:nvSpPr>
        <p:spPr>
          <a:xfrm>
            <a:off x="4611998" y="3310127"/>
            <a:ext cx="6903441" cy="633984"/>
          </a:xfrm>
          <a:prstGeom prst="rect">
            <a:avLst/>
          </a:prstGeom>
          <a:noFill/>
        </p:spPr>
        <p:txBody>
          <a:bodyPr wrap="none" lIns="0" rIns="0">
            <a:noAutofit/>
          </a:bodyPr>
          <a:lstStyle/>
          <a:p>
            <a:pPr algn="l"/>
            <a:r>
              <a:rPr sz="3400" b="0" i="0">
                <a:solidFill>
                  <a:srgbClr val="0A2240"/>
                </a:solidFill>
                <a:latin typeface="Arial"/>
              </a:rPr>
              <a:t>Score each row 0 to 1</a:t>
            </a:r>
          </a:p>
        </p:txBody>
      </p:sp>
      <p:sp>
        <p:nvSpPr>
          <p:cNvPr id="10" name="TextBox 9"/>
          <p:cNvSpPr txBox="1"/>
          <p:nvPr/>
        </p:nvSpPr>
        <p:spPr>
          <a:xfrm>
            <a:off x="457200" y="4218431"/>
            <a:ext cx="3606158" cy="633984"/>
          </a:xfrm>
          <a:prstGeom prst="rect">
            <a:avLst/>
          </a:prstGeom>
          <a:noFill/>
        </p:spPr>
        <p:txBody>
          <a:bodyPr wrap="none" lIns="0" rIns="0">
            <a:noAutofit/>
          </a:bodyPr>
          <a:lstStyle/>
          <a:p>
            <a:pPr algn="l"/>
            <a:r>
              <a:rPr sz="3400" b="0" i="0">
                <a:solidFill>
                  <a:srgbClr val="0A2240"/>
                </a:solidFill>
                <a:latin typeface="Arial"/>
              </a:rPr>
              <a:t>Use AI</a:t>
            </a:r>
          </a:p>
        </p:txBody>
      </p:sp>
      <p:sp>
        <p:nvSpPr>
          <p:cNvPr id="11" name="TextBox 10"/>
          <p:cNvSpPr txBox="1"/>
          <p:nvPr/>
        </p:nvSpPr>
        <p:spPr>
          <a:xfrm>
            <a:off x="4611998" y="4218431"/>
            <a:ext cx="7580002" cy="633984"/>
          </a:xfrm>
          <a:prstGeom prst="rect">
            <a:avLst/>
          </a:prstGeom>
          <a:noFill/>
        </p:spPr>
        <p:txBody>
          <a:bodyPr wrap="none" lIns="0" rIns="0">
            <a:noAutofit/>
          </a:bodyPr>
          <a:lstStyle/>
          <a:p>
            <a:pPr algn="l"/>
            <a:r>
              <a:rPr sz="3400" b="0" i="0">
                <a:solidFill>
                  <a:srgbClr val="0A2240"/>
                </a:solidFill>
                <a:latin typeface="Arial"/>
              </a:rPr>
              <a:t>Claude drafts a summary</a:t>
            </a:r>
          </a:p>
        </p:txBody>
      </p:sp>
      <p:sp>
        <p:nvSpPr>
          <p:cNvPr id="12" name="TextBox 11"/>
          <p:cNvSpPr txBox="1"/>
          <p:nvPr/>
        </p:nvSpPr>
        <p:spPr>
          <a:xfrm>
            <a:off x="457200" y="5126735"/>
            <a:ext cx="4137897" cy="633984"/>
          </a:xfrm>
          <a:prstGeom prst="rect">
            <a:avLst/>
          </a:prstGeom>
          <a:noFill/>
        </p:spPr>
        <p:txBody>
          <a:bodyPr wrap="none" lIns="0" rIns="0">
            <a:noAutofit/>
          </a:bodyPr>
          <a:lstStyle/>
          <a:p>
            <a:pPr algn="l"/>
            <a:r>
              <a:rPr sz="3400" b="0" i="0">
                <a:solidFill>
                  <a:srgbClr val="0A2240"/>
                </a:solidFill>
                <a:latin typeface="Arial"/>
              </a:rPr>
              <a:t>Show results</a:t>
            </a:r>
          </a:p>
        </p:txBody>
      </p:sp>
      <p:sp>
        <p:nvSpPr>
          <p:cNvPr id="13" name="TextBox 12"/>
          <p:cNvSpPr txBox="1"/>
          <p:nvPr/>
        </p:nvSpPr>
        <p:spPr>
          <a:xfrm>
            <a:off x="4611998" y="5126735"/>
            <a:ext cx="7019488" cy="633984"/>
          </a:xfrm>
          <a:prstGeom prst="rect">
            <a:avLst/>
          </a:prstGeom>
          <a:noFill/>
        </p:spPr>
        <p:txBody>
          <a:bodyPr wrap="none" lIns="0" rIns="0">
            <a:noAutofit/>
          </a:bodyPr>
          <a:lstStyle/>
          <a:p>
            <a:pPr algn="l"/>
            <a:r>
              <a:rPr sz="3400" b="0" i="0">
                <a:solidFill>
                  <a:srgbClr val="0A2240"/>
                </a:solidFill>
                <a:latin typeface="Arial"/>
              </a:rPr>
              <a:t>Render a ranked table</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Granularity Test</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One person could own it</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You could test it alone</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It fits in a morning</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Too Coarse, Too Fine</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Too coarse</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Too fine</a:t>
            </a:r>
          </a:p>
        </p:txBody>
      </p:sp>
      <p:sp>
        <p:nvSpPr>
          <p:cNvPr id="5" name="TextBox 4"/>
          <p:cNvSpPr txBox="1"/>
          <p:nvPr/>
        </p:nvSpPr>
        <p:spPr>
          <a:xfrm>
            <a:off x="457200" y="2395727"/>
            <a:ext cx="5501640" cy="847344"/>
          </a:xfrm>
          <a:prstGeom prst="rect">
            <a:avLst/>
          </a:prstGeom>
          <a:noFill/>
        </p:spPr>
        <p:txBody>
          <a:bodyPr wrap="none" lIns="0" rIns="0">
            <a:noAutofit/>
          </a:bodyPr>
          <a:lstStyle/>
          <a:p>
            <a:pPr algn="l"/>
            <a:r>
              <a:rPr sz="3400" b="0" i="0">
                <a:solidFill>
                  <a:srgbClr val="0A2240"/>
                </a:solidFill>
                <a:latin typeface="Arial"/>
              </a:rPr>
              <a:t>Build the pipeline</a:t>
            </a:r>
          </a:p>
        </p:txBody>
      </p:sp>
      <p:sp>
        <p:nvSpPr>
          <p:cNvPr id="6" name="TextBox 5"/>
          <p:cNvSpPr txBox="1"/>
          <p:nvPr/>
        </p:nvSpPr>
        <p:spPr>
          <a:xfrm>
            <a:off x="6233160" y="2395727"/>
            <a:ext cx="5501640" cy="847344"/>
          </a:xfrm>
          <a:prstGeom prst="rect">
            <a:avLst/>
          </a:prstGeom>
          <a:noFill/>
        </p:spPr>
        <p:txBody>
          <a:bodyPr wrap="none" lIns="0" rIns="0">
            <a:noAutofit/>
          </a:bodyPr>
          <a:lstStyle/>
          <a:p>
            <a:pPr algn="l"/>
            <a:r>
              <a:rPr sz="3400" b="0" i="0">
                <a:solidFill>
                  <a:srgbClr val="0A2240"/>
                </a:solidFill>
                <a:latin typeface="Arial"/>
              </a:rPr>
              <a:t>Open the file</a:t>
            </a:r>
          </a:p>
        </p:txBody>
      </p:sp>
      <p:sp>
        <p:nvSpPr>
          <p:cNvPr id="7" name="TextBox 6"/>
          <p:cNvSpPr txBox="1"/>
          <p:nvPr/>
        </p:nvSpPr>
        <p:spPr>
          <a:xfrm>
            <a:off x="457200" y="3517391"/>
            <a:ext cx="6058732" cy="847344"/>
          </a:xfrm>
          <a:prstGeom prst="rect">
            <a:avLst/>
          </a:prstGeom>
          <a:noFill/>
        </p:spPr>
        <p:txBody>
          <a:bodyPr wrap="none" lIns="0" rIns="0">
            <a:noAutofit/>
          </a:bodyPr>
          <a:lstStyle/>
          <a:p>
            <a:pPr algn="l"/>
            <a:r>
              <a:rPr sz="3400" b="0" i="0">
                <a:solidFill>
                  <a:srgbClr val="0A2240"/>
                </a:solidFill>
                <a:latin typeface="Arial"/>
              </a:rPr>
              <a:t>Hides the hard part</a:t>
            </a:r>
          </a:p>
        </p:txBody>
      </p:sp>
      <p:sp>
        <p:nvSpPr>
          <p:cNvPr id="8" name="TextBox 7"/>
          <p:cNvSpPr txBox="1"/>
          <p:nvPr/>
        </p:nvSpPr>
        <p:spPr>
          <a:xfrm>
            <a:off x="6233160" y="3517391"/>
            <a:ext cx="5958840" cy="847344"/>
          </a:xfrm>
          <a:prstGeom prst="rect">
            <a:avLst/>
          </a:prstGeom>
          <a:noFill/>
        </p:spPr>
        <p:txBody>
          <a:bodyPr wrap="none" lIns="0" rIns="0">
            <a:noAutofit/>
          </a:bodyPr>
          <a:lstStyle/>
          <a:p>
            <a:pPr algn="l"/>
            <a:r>
              <a:rPr sz="3400" b="0" i="0">
                <a:solidFill>
                  <a:srgbClr val="0A2240"/>
                </a:solidFill>
                <a:latin typeface="Arial"/>
              </a:rPr>
              <a:t>Twenty trivial boxes</a:t>
            </a:r>
          </a:p>
        </p:txBody>
      </p:sp>
      <p:sp>
        <p:nvSpPr>
          <p:cNvPr id="9" name="TextBox 8"/>
          <p:cNvSpPr txBox="1"/>
          <p:nvPr/>
        </p:nvSpPr>
        <p:spPr>
          <a:xfrm>
            <a:off x="457200" y="4639055"/>
            <a:ext cx="6328608" cy="847344"/>
          </a:xfrm>
          <a:prstGeom prst="rect">
            <a:avLst/>
          </a:prstGeom>
          <a:noFill/>
        </p:spPr>
        <p:txBody>
          <a:bodyPr wrap="none" lIns="0" rIns="0">
            <a:noAutofit/>
          </a:bodyPr>
          <a:lstStyle/>
          <a:p>
            <a:pPr algn="l"/>
            <a:r>
              <a:rPr sz="3400" b="0" i="0">
                <a:solidFill>
                  <a:srgbClr val="0A2240"/>
                </a:solidFill>
                <a:latin typeface="Arial"/>
              </a:rPr>
              <a:t>Cannot be assigned</a:t>
            </a:r>
          </a:p>
        </p:txBody>
      </p:sp>
      <p:sp>
        <p:nvSpPr>
          <p:cNvPr id="10" name="TextBox 9"/>
          <p:cNvSpPr txBox="1"/>
          <p:nvPr/>
        </p:nvSpPr>
        <p:spPr>
          <a:xfrm>
            <a:off x="6233160" y="4639055"/>
            <a:ext cx="5501640" cy="847344"/>
          </a:xfrm>
          <a:prstGeom prst="rect">
            <a:avLst/>
          </a:prstGeom>
          <a:noFill/>
        </p:spPr>
        <p:txBody>
          <a:bodyPr wrap="none" lIns="0" rIns="0">
            <a:noAutofit/>
          </a:bodyPr>
          <a:lstStyle/>
          <a:p>
            <a:pPr algn="l"/>
            <a:r>
              <a:rPr sz="3400" b="0" i="0">
                <a:solidFill>
                  <a:srgbClr val="0A2240"/>
                </a:solidFill>
                <a:latin typeface="Arial"/>
              </a:rPr>
              <a:t>Noise, not a map</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Prompt to Decompose</a:t>
            </a:r>
          </a:p>
        </p:txBody>
      </p:sp>
      <p:sp>
        <p:nvSpPr>
          <p:cNvPr id="6" name="TextBox 5"/>
          <p:cNvSpPr txBox="1"/>
          <p:nvPr/>
        </p:nvSpPr>
        <p:spPr>
          <a:xfrm>
            <a:off x="457200" y="1837944"/>
            <a:ext cx="4214475" cy="518159"/>
          </a:xfrm>
          <a:prstGeom prst="rect">
            <a:avLst/>
          </a:prstGeom>
          <a:noFill/>
        </p:spPr>
        <p:txBody>
          <a:bodyPr wrap="none" lIns="0" rIns="0">
            <a:noAutofit/>
          </a:bodyPr>
          <a:lstStyle/>
          <a:p>
            <a:pPr algn="l"/>
            <a:r>
              <a:rPr sz="3400" b="0" i="0">
                <a:solidFill>
                  <a:srgbClr val="D4D4D4"/>
                </a:solidFill>
                <a:latin typeface="Arial"/>
              </a:rPr>
              <a:t>Our problem:</a:t>
            </a:r>
          </a:p>
        </p:txBody>
      </p:sp>
      <p:sp>
        <p:nvSpPr>
          <p:cNvPr id="7" name="TextBox 6"/>
          <p:cNvSpPr txBox="1"/>
          <p:nvPr/>
        </p:nvSpPr>
        <p:spPr>
          <a:xfrm>
            <a:off x="457200" y="2356103"/>
            <a:ext cx="8700809" cy="518159"/>
          </a:xfrm>
          <a:prstGeom prst="rect">
            <a:avLst/>
          </a:prstGeom>
          <a:noFill/>
        </p:spPr>
        <p:txBody>
          <a:bodyPr wrap="none" lIns="0" rIns="0">
            <a:noAutofit/>
          </a:bodyPr>
          <a:lstStyle/>
          <a:p>
            <a:pPr algn="l"/>
            <a:r>
              <a:rPr sz="3400" b="0" i="0">
                <a:solidFill>
                  <a:srgbClr val="CE9178"/>
                </a:solidFill>
                <a:latin typeface="Arial"/>
              </a:rPr>
              <a:t>"&lt;paste the 1.1 statement&gt;"</a:t>
            </a:r>
          </a:p>
        </p:txBody>
      </p:sp>
      <p:sp>
        <p:nvSpPr>
          <p:cNvPr id="8" name="TextBox 7"/>
          <p:cNvSpPr txBox="1"/>
          <p:nvPr/>
        </p:nvSpPr>
        <p:spPr>
          <a:xfrm>
            <a:off x="457200" y="3392421"/>
            <a:ext cx="6593424" cy="518159"/>
          </a:xfrm>
          <a:prstGeom prst="rect">
            <a:avLst/>
          </a:prstGeom>
          <a:noFill/>
        </p:spPr>
        <p:txBody>
          <a:bodyPr wrap="none" lIns="0" rIns="0">
            <a:noAutofit/>
          </a:bodyPr>
          <a:lstStyle/>
          <a:p>
            <a:pPr algn="l"/>
            <a:r>
              <a:rPr sz="3400" b="0" i="0">
                <a:solidFill>
                  <a:srgbClr val="D4D4D4"/>
                </a:solidFill>
                <a:latin typeface="Arial"/>
              </a:rPr>
              <a:t>Work BACKWARDS </a:t>
            </a:r>
          </a:p>
        </p:txBody>
      </p:sp>
      <p:sp>
        <p:nvSpPr>
          <p:cNvPr id="9" name="TextBox 8"/>
          <p:cNvSpPr txBox="1"/>
          <p:nvPr/>
        </p:nvSpPr>
        <p:spPr>
          <a:xfrm>
            <a:off x="4463790" y="3392421"/>
            <a:ext cx="1564640" cy="518159"/>
          </a:xfrm>
          <a:prstGeom prst="rect">
            <a:avLst/>
          </a:prstGeom>
          <a:noFill/>
        </p:spPr>
        <p:txBody>
          <a:bodyPr wrap="none" lIns="0" rIns="0">
            <a:noAutofit/>
          </a:bodyPr>
          <a:lstStyle/>
          <a:p>
            <a:pPr algn="l"/>
            <a:r>
              <a:rPr sz="3400" b="0" i="0">
                <a:solidFill>
                  <a:srgbClr val="569CD6"/>
                </a:solidFill>
                <a:latin typeface="Arial"/>
              </a:rPr>
              <a:t>from</a:t>
            </a:r>
          </a:p>
        </p:txBody>
      </p:sp>
      <p:sp>
        <p:nvSpPr>
          <p:cNvPr id="10" name="TextBox 9"/>
          <p:cNvSpPr txBox="1"/>
          <p:nvPr/>
        </p:nvSpPr>
        <p:spPr>
          <a:xfrm>
            <a:off x="5327390" y="3392421"/>
            <a:ext cx="3639979" cy="518159"/>
          </a:xfrm>
          <a:prstGeom prst="rect">
            <a:avLst/>
          </a:prstGeom>
          <a:noFill/>
        </p:spPr>
        <p:txBody>
          <a:bodyPr wrap="none" lIns="0" rIns="0">
            <a:noAutofit/>
          </a:bodyPr>
          <a:lstStyle/>
          <a:p>
            <a:pPr algn="l"/>
            <a:r>
              <a:rPr sz="3400" b="0" i="0">
                <a:solidFill>
                  <a:srgbClr val="D4D4D4"/>
                </a:solidFill>
                <a:latin typeface="Arial"/>
              </a:rPr>
              <a:t> the output.</a:t>
            </a:r>
          </a:p>
        </p:txBody>
      </p:sp>
      <p:sp>
        <p:nvSpPr>
          <p:cNvPr id="11" name="TextBox 10"/>
          <p:cNvSpPr txBox="1"/>
          <p:nvPr/>
        </p:nvSpPr>
        <p:spPr>
          <a:xfrm>
            <a:off x="457200" y="3910580"/>
            <a:ext cx="6327596" cy="518159"/>
          </a:xfrm>
          <a:prstGeom prst="rect">
            <a:avLst/>
          </a:prstGeom>
          <a:noFill/>
        </p:spPr>
        <p:txBody>
          <a:bodyPr wrap="none" lIns="0" rIns="0">
            <a:noAutofit/>
          </a:bodyPr>
          <a:lstStyle/>
          <a:p>
            <a:pPr algn="l"/>
            <a:r>
              <a:rPr sz="3400" b="0" i="0">
                <a:solidFill>
                  <a:srgbClr val="D4D4D4"/>
                </a:solidFill>
                <a:latin typeface="Arial"/>
              </a:rPr>
              <a:t>List the steps, each </a:t>
            </a:r>
          </a:p>
        </p:txBody>
      </p:sp>
      <p:sp>
        <p:nvSpPr>
          <p:cNvPr id="12" name="TextBox 11"/>
          <p:cNvSpPr txBox="1"/>
          <p:nvPr/>
        </p:nvSpPr>
        <p:spPr>
          <a:xfrm>
            <a:off x="4297648" y="3910580"/>
            <a:ext cx="1411486" cy="518159"/>
          </a:xfrm>
          <a:prstGeom prst="rect">
            <a:avLst/>
          </a:prstGeom>
          <a:noFill/>
        </p:spPr>
        <p:txBody>
          <a:bodyPr wrap="none" lIns="0" rIns="0">
            <a:noAutofit/>
          </a:bodyPr>
          <a:lstStyle/>
          <a:p>
            <a:pPr algn="l"/>
            <a:r>
              <a:rPr sz="3400" b="0" i="0">
                <a:solidFill>
                  <a:srgbClr val="C586C0"/>
                </a:solidFill>
                <a:latin typeface="Arial"/>
              </a:rPr>
              <a:t>with</a:t>
            </a:r>
          </a:p>
        </p:txBody>
      </p:sp>
      <p:sp>
        <p:nvSpPr>
          <p:cNvPr id="13" name="TextBox 12"/>
          <p:cNvSpPr txBox="1"/>
          <p:nvPr/>
        </p:nvSpPr>
        <p:spPr>
          <a:xfrm>
            <a:off x="5065526" y="3910580"/>
            <a:ext cx="1065708" cy="518159"/>
          </a:xfrm>
          <a:prstGeom prst="rect">
            <a:avLst/>
          </a:prstGeom>
          <a:noFill/>
        </p:spPr>
        <p:txBody>
          <a:bodyPr wrap="none" lIns="0" rIns="0">
            <a:noAutofit/>
          </a:bodyPr>
          <a:lstStyle/>
          <a:p>
            <a:pPr algn="l"/>
            <a:r>
              <a:rPr sz="3400" b="0" i="0">
                <a:solidFill>
                  <a:srgbClr val="D4D4D4"/>
                </a:solidFill>
                <a:latin typeface="Arial"/>
              </a:rPr>
              <a:t> its</a:t>
            </a:r>
          </a:p>
        </p:txBody>
      </p:sp>
      <p:sp>
        <p:nvSpPr>
          <p:cNvPr id="14" name="TextBox 13"/>
          <p:cNvSpPr txBox="1"/>
          <p:nvPr/>
        </p:nvSpPr>
        <p:spPr>
          <a:xfrm>
            <a:off x="457200" y="4428739"/>
            <a:ext cx="1872972" cy="518159"/>
          </a:xfrm>
          <a:prstGeom prst="rect">
            <a:avLst/>
          </a:prstGeom>
          <a:noFill/>
        </p:spPr>
        <p:txBody>
          <a:bodyPr wrap="none" lIns="0" rIns="0">
            <a:noAutofit/>
          </a:bodyPr>
          <a:lstStyle/>
          <a:p>
            <a:pPr algn="l"/>
            <a:r>
              <a:rPr sz="3400" b="0" i="0">
                <a:solidFill>
                  <a:srgbClr val="D4D4D4"/>
                </a:solidFill>
                <a:latin typeface="Arial"/>
              </a:rPr>
              <a:t>input </a:t>
            </a:r>
          </a:p>
        </p:txBody>
      </p:sp>
      <p:sp>
        <p:nvSpPr>
          <p:cNvPr id="15" name="TextBox 14"/>
          <p:cNvSpPr txBox="1"/>
          <p:nvPr/>
        </p:nvSpPr>
        <p:spPr>
          <a:xfrm>
            <a:off x="1513508" y="4428739"/>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6" name="TextBox 15"/>
          <p:cNvSpPr txBox="1"/>
          <p:nvPr/>
        </p:nvSpPr>
        <p:spPr>
          <a:xfrm>
            <a:off x="2233947" y="4428739"/>
            <a:ext cx="2487612" cy="518159"/>
          </a:xfrm>
          <a:prstGeom prst="rect">
            <a:avLst/>
          </a:prstGeom>
          <a:noFill/>
        </p:spPr>
        <p:txBody>
          <a:bodyPr wrap="none" lIns="0" rIns="0">
            <a:noAutofit/>
          </a:bodyPr>
          <a:lstStyle/>
          <a:p>
            <a:pPr algn="l"/>
            <a:r>
              <a:rPr sz="3400" b="0" i="0">
                <a:solidFill>
                  <a:srgbClr val="D4D4D4"/>
                </a:solidFill>
                <a:latin typeface="Arial"/>
              </a:rPr>
              <a:t> output.</a:t>
            </a:r>
          </a:p>
        </p:txBody>
      </p:sp>
      <p:sp>
        <p:nvSpPr>
          <p:cNvPr id="17" name="TextBox 16"/>
          <p:cNvSpPr txBox="1"/>
          <p:nvPr/>
        </p:nvSpPr>
        <p:spPr>
          <a:xfrm>
            <a:off x="457200" y="4946898"/>
            <a:ext cx="9477038" cy="518159"/>
          </a:xfrm>
          <a:prstGeom prst="rect">
            <a:avLst/>
          </a:prstGeom>
          <a:noFill/>
        </p:spPr>
        <p:txBody>
          <a:bodyPr wrap="none" lIns="0" rIns="0">
            <a:noAutofit/>
          </a:bodyPr>
          <a:lstStyle/>
          <a:p>
            <a:pPr algn="l"/>
            <a:r>
              <a:rPr sz="3400" b="0" i="0">
                <a:solidFill>
                  <a:srgbClr val="D4D4D4"/>
                </a:solidFill>
                <a:latin typeface="Arial"/>
              </a:rPr>
              <a:t>Stop at the raw input we have.</a:t>
            </a:r>
          </a:p>
        </p:txBody>
      </p:sp>
      <p:sp>
        <p:nvSpPr>
          <p:cNvPr id="18" name="TextBox 17"/>
          <p:cNvSpPr txBox="1"/>
          <p:nvPr/>
        </p:nvSpPr>
        <p:spPr>
          <a:xfrm>
            <a:off x="457200" y="5465057"/>
            <a:ext cx="567115" cy="518159"/>
          </a:xfrm>
          <a:prstGeom prst="rect">
            <a:avLst/>
          </a:prstGeom>
          <a:noFill/>
        </p:spPr>
        <p:txBody>
          <a:bodyPr wrap="none" lIns="0" rIns="0">
            <a:noAutofit/>
          </a:bodyPr>
          <a:lstStyle/>
          <a:p>
            <a:pPr algn="l"/>
            <a:r>
              <a:rPr sz="3400" b="0" i="0">
                <a:solidFill>
                  <a:srgbClr val="B5CEA8"/>
                </a:solidFill>
                <a:latin typeface="Arial"/>
              </a:rPr>
              <a:t>5</a:t>
            </a:r>
          </a:p>
        </p:txBody>
      </p:sp>
      <p:sp>
        <p:nvSpPr>
          <p:cNvPr id="19" name="TextBox 18"/>
          <p:cNvSpPr txBox="1"/>
          <p:nvPr/>
        </p:nvSpPr>
        <p:spPr>
          <a:xfrm>
            <a:off x="697347" y="5465057"/>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20" name="TextBox 19"/>
          <p:cNvSpPr txBox="1"/>
          <p:nvPr/>
        </p:nvSpPr>
        <p:spPr>
          <a:xfrm>
            <a:off x="841139" y="5465057"/>
            <a:ext cx="567115" cy="518159"/>
          </a:xfrm>
          <a:prstGeom prst="rect">
            <a:avLst/>
          </a:prstGeom>
          <a:noFill/>
        </p:spPr>
        <p:txBody>
          <a:bodyPr wrap="none" lIns="0" rIns="0">
            <a:noAutofit/>
          </a:bodyPr>
          <a:lstStyle/>
          <a:p>
            <a:pPr algn="l"/>
            <a:r>
              <a:rPr sz="3400" b="0" i="0">
                <a:solidFill>
                  <a:srgbClr val="B5CEA8"/>
                </a:solidFill>
                <a:latin typeface="Arial"/>
              </a:rPr>
              <a:t>9</a:t>
            </a:r>
          </a:p>
        </p:txBody>
      </p:sp>
      <p:sp>
        <p:nvSpPr>
          <p:cNvPr id="21" name="TextBox 20"/>
          <p:cNvSpPr txBox="1"/>
          <p:nvPr/>
        </p:nvSpPr>
        <p:spPr>
          <a:xfrm>
            <a:off x="1081286" y="5465057"/>
            <a:ext cx="6250008" cy="518159"/>
          </a:xfrm>
          <a:prstGeom prst="rect">
            <a:avLst/>
          </a:prstGeom>
          <a:noFill/>
        </p:spPr>
        <p:txBody>
          <a:bodyPr wrap="none" lIns="0" rIns="0">
            <a:noAutofit/>
          </a:bodyPr>
          <a:lstStyle/>
          <a:p>
            <a:pPr algn="l"/>
            <a:r>
              <a:rPr sz="3400" b="0" i="0">
                <a:solidFill>
                  <a:srgbClr val="D4D4D4"/>
                </a:solidFill>
                <a:latin typeface="Arial"/>
              </a:rPr>
              <a:t> steps. No tools yet.</a:t>
            </a:r>
          </a:p>
        </p:txBody>
      </p:sp>
      <p:sp>
        <p:nvSpPr>
          <p:cNvPr id="22" name="TextBox 2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 Worked Example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Intake</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Resume files arrive</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Parse</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Text out of each file</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Score</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Match against the role</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Report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Ranked list with gaps</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Common Decomposition Mistakes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Starting after the messy part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step doing three things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 step for getting the data</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output nobody defined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Linear or Branching</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Linear</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Branching</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673710" cy="609600"/>
          </a:xfrm>
          <a:prstGeom prst="rect">
            <a:avLst/>
          </a:prstGeom>
          <a:noFill/>
        </p:spPr>
        <p:txBody>
          <a:bodyPr wrap="none" lIns="0" rIns="0">
            <a:noAutofit/>
          </a:bodyPr>
          <a:lstStyle/>
          <a:p>
            <a:pPr algn="l"/>
            <a:r>
              <a:rPr sz="3400" b="0" i="0">
                <a:solidFill>
                  <a:srgbClr val="0A2240"/>
                </a:solidFill>
                <a:latin typeface="Arial"/>
              </a:rPr>
              <a:t>One path start to end</a:t>
            </a:r>
          </a:p>
        </p:txBody>
      </p:sp>
      <p:sp>
        <p:nvSpPr>
          <p:cNvPr id="8" name="TextBox 7"/>
          <p:cNvSpPr txBox="1"/>
          <p:nvPr/>
        </p:nvSpPr>
        <p:spPr>
          <a:xfrm>
            <a:off x="457200" y="3608831"/>
            <a:ext cx="5501640" cy="609600"/>
          </a:xfrm>
          <a:prstGeom prst="rect">
            <a:avLst/>
          </a:prstGeom>
          <a:noFill/>
        </p:spPr>
        <p:txBody>
          <a:bodyPr wrap="none" lIns="0" rIns="0">
            <a:noAutofit/>
          </a:bodyPr>
          <a:lstStyle/>
          <a:p>
            <a:pPr algn="l"/>
            <a:r>
              <a:rPr sz="3400" b="0" i="0">
                <a:solidFill>
                  <a:srgbClr val="0A2240"/>
                </a:solidFill>
                <a:latin typeface="Arial"/>
              </a:rPr>
              <a:t>Easy to demo</a:t>
            </a:r>
          </a:p>
        </p:txBody>
      </p:sp>
      <p:sp>
        <p:nvSpPr>
          <p:cNvPr id="9" name="TextBox 8"/>
          <p:cNvSpPr txBox="1"/>
          <p:nvPr/>
        </p:nvSpPr>
        <p:spPr>
          <a:xfrm>
            <a:off x="457200" y="4821935"/>
            <a:ext cx="5750064" cy="609600"/>
          </a:xfrm>
          <a:prstGeom prst="rect">
            <a:avLst/>
          </a:prstGeom>
          <a:noFill/>
        </p:spPr>
        <p:txBody>
          <a:bodyPr wrap="none" lIns="0" rIns="0">
            <a:noAutofit/>
          </a:bodyPr>
          <a:lstStyle/>
          <a:p>
            <a:pPr algn="l"/>
            <a:r>
              <a:rPr sz="3400" b="0" i="0">
                <a:solidFill>
                  <a:srgbClr val="0A2240"/>
                </a:solidFill>
                <a:latin typeface="Arial"/>
              </a:rPr>
              <a:t>Pick this for Day 2</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Cases split the path</a:t>
            </a:r>
          </a:p>
        </p:txBody>
      </p:sp>
      <p:sp>
        <p:nvSpPr>
          <p:cNvPr id="11" name="TextBox 10"/>
          <p:cNvSpPr txBox="1"/>
          <p:nvPr/>
        </p:nvSpPr>
        <p:spPr>
          <a:xfrm>
            <a:off x="6233160" y="3608831"/>
            <a:ext cx="5501640" cy="609600"/>
          </a:xfrm>
          <a:prstGeom prst="rect">
            <a:avLst/>
          </a:prstGeom>
          <a:noFill/>
        </p:spPr>
        <p:txBody>
          <a:bodyPr wrap="none" lIns="0" rIns="0">
            <a:noAutofit/>
          </a:bodyPr>
          <a:lstStyle/>
          <a:p>
            <a:pPr algn="l"/>
            <a:r>
              <a:rPr sz="3400" b="0" i="0">
                <a:solidFill>
                  <a:srgbClr val="0A2240"/>
                </a:solidFill>
                <a:latin typeface="Arial"/>
              </a:rPr>
              <a:t>Harder to finish</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Note it, defer it</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The happy path</a:t>
            </a:r>
          </a:p>
        </p:txBody>
      </p:sp>
      <p:sp>
        <p:nvSpPr>
          <p:cNvPr id="4" name="TextBox 3"/>
          <p:cNvSpPr txBox="1"/>
          <p:nvPr/>
        </p:nvSpPr>
        <p:spPr>
          <a:xfrm>
            <a:off x="996696" y="3764280"/>
            <a:ext cx="10738104" cy="609600"/>
          </a:xfrm>
          <a:prstGeom prst="rect">
            <a:avLst/>
          </a:prstGeom>
          <a:noFill/>
        </p:spPr>
        <p:txBody>
          <a:bodyPr wrap="none" lIns="0" rIns="0">
            <a:noAutofit/>
          </a:bodyPr>
          <a:lstStyle/>
          <a:p>
            <a:pPr algn="l"/>
            <a:r>
              <a:rPr sz="3400" b="0" i="0">
                <a:solidFill>
                  <a:srgbClr val="0A2240"/>
                </a:solidFill>
                <a:latin typeface="Arial"/>
              </a:rPr>
              <a:t>The one route where nothing fails.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Mark the Happy Path</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One line through the map</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Every branch labelled later</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Edge cases listed, not built</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 gap in the map is a gap in Day 2."</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Why the middle matters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Make It an Artifact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Artifact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Standalone content Claude builds, shared by link.</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Described or Drawn</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Described</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Drawn</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134635" cy="609600"/>
          </a:xfrm>
          <a:prstGeom prst="rect">
            <a:avLst/>
          </a:prstGeom>
          <a:noFill/>
        </p:spPr>
        <p:txBody>
          <a:bodyPr wrap="none" lIns="0" rIns="0">
            <a:noAutofit/>
          </a:bodyPr>
          <a:lstStyle/>
          <a:p>
            <a:pPr algn="l"/>
            <a:r>
              <a:rPr sz="3400" b="0" i="0">
                <a:solidFill>
                  <a:srgbClr val="0A2240"/>
                </a:solidFill>
                <a:latin typeface="Arial"/>
              </a:rPr>
              <a:t>Lives in a transcript</a:t>
            </a:r>
          </a:p>
        </p:txBody>
      </p:sp>
      <p:sp>
        <p:nvSpPr>
          <p:cNvPr id="8" name="TextBox 7"/>
          <p:cNvSpPr txBox="1"/>
          <p:nvPr/>
        </p:nvSpPr>
        <p:spPr>
          <a:xfrm>
            <a:off x="457200" y="3608831"/>
            <a:ext cx="7210425" cy="609600"/>
          </a:xfrm>
          <a:prstGeom prst="rect">
            <a:avLst/>
          </a:prstGeom>
          <a:noFill/>
        </p:spPr>
        <p:txBody>
          <a:bodyPr wrap="none" lIns="0" rIns="0">
            <a:noAutofit/>
          </a:bodyPr>
          <a:lstStyle/>
          <a:p>
            <a:pPr algn="l"/>
            <a:r>
              <a:rPr sz="3400" b="0" i="0">
                <a:solidFill>
                  <a:srgbClr val="0A2240"/>
                </a:solidFill>
                <a:latin typeface="Arial"/>
              </a:rPr>
              <a:t>Each person pictures it</a:t>
            </a:r>
          </a:p>
        </p:txBody>
      </p:sp>
      <p:sp>
        <p:nvSpPr>
          <p:cNvPr id="9" name="TextBox 8"/>
          <p:cNvSpPr txBox="1"/>
          <p:nvPr/>
        </p:nvSpPr>
        <p:spPr>
          <a:xfrm>
            <a:off x="457200" y="4821935"/>
            <a:ext cx="7441168" cy="609600"/>
          </a:xfrm>
          <a:prstGeom prst="rect">
            <a:avLst/>
          </a:prstGeom>
          <a:noFill/>
        </p:spPr>
        <p:txBody>
          <a:bodyPr wrap="none" lIns="0" rIns="0">
            <a:noAutofit/>
          </a:bodyPr>
          <a:lstStyle/>
          <a:p>
            <a:pPr algn="l"/>
            <a:r>
              <a:rPr sz="3400" b="0" i="0">
                <a:solidFill>
                  <a:srgbClr val="0A2240"/>
                </a:solidFill>
                <a:latin typeface="Arial"/>
              </a:rPr>
              <a:t>Re-explained each time</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 picture, one meaning</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Disagreement shows fast</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Sent as a link</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an Artifact Gives You</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See</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The whole path at once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Revise</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Change it in seconds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Share</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One link, whole team</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Build the Diagram</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Paste the steps</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Your list from section one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Ask for a diagram</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Boxes and arrows, top down</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Fix it out loud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Revise until it matches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Prompt for the Diagram</a:t>
            </a:r>
          </a:p>
        </p:txBody>
      </p:sp>
      <p:sp>
        <p:nvSpPr>
          <p:cNvPr id="6" name="TextBox 5"/>
          <p:cNvSpPr txBox="1"/>
          <p:nvPr/>
        </p:nvSpPr>
        <p:spPr>
          <a:xfrm>
            <a:off x="457200" y="1837944"/>
            <a:ext cx="8975745" cy="518159"/>
          </a:xfrm>
          <a:prstGeom prst="rect">
            <a:avLst/>
          </a:prstGeom>
          <a:noFill/>
        </p:spPr>
        <p:txBody>
          <a:bodyPr wrap="none" lIns="0" rIns="0">
            <a:noAutofit/>
          </a:bodyPr>
          <a:lstStyle/>
          <a:p>
            <a:pPr algn="l"/>
            <a:r>
              <a:rPr sz="3400" b="0" i="0">
                <a:solidFill>
                  <a:srgbClr val="D4D4D4"/>
                </a:solidFill>
                <a:latin typeface="Arial"/>
              </a:rPr>
              <a:t>Here are our workflow steps:</a:t>
            </a:r>
          </a:p>
        </p:txBody>
      </p:sp>
      <p:sp>
        <p:nvSpPr>
          <p:cNvPr id="7" name="TextBox 6"/>
          <p:cNvSpPr txBox="1"/>
          <p:nvPr/>
        </p:nvSpPr>
        <p:spPr>
          <a:xfrm>
            <a:off x="457200" y="2356103"/>
            <a:ext cx="4868584" cy="518159"/>
          </a:xfrm>
          <a:prstGeom prst="rect">
            <a:avLst/>
          </a:prstGeom>
          <a:noFill/>
        </p:spPr>
        <p:txBody>
          <a:bodyPr wrap="none" lIns="0" rIns="0">
            <a:noAutofit/>
          </a:bodyPr>
          <a:lstStyle/>
          <a:p>
            <a:pPr algn="l"/>
            <a:r>
              <a:rPr sz="3400" b="0" i="0">
                <a:solidFill>
                  <a:srgbClr val="D4D4D4"/>
                </a:solidFill>
                <a:latin typeface="Arial"/>
              </a:rPr>
              <a:t>&lt;paste the list&gt;</a:t>
            </a:r>
          </a:p>
        </p:txBody>
      </p:sp>
      <p:sp>
        <p:nvSpPr>
          <p:cNvPr id="8" name="TextBox 7"/>
          <p:cNvSpPr txBox="1"/>
          <p:nvPr/>
        </p:nvSpPr>
        <p:spPr>
          <a:xfrm>
            <a:off x="457200" y="3392421"/>
            <a:ext cx="7171968" cy="518159"/>
          </a:xfrm>
          <a:prstGeom prst="rect">
            <a:avLst/>
          </a:prstGeom>
          <a:noFill/>
        </p:spPr>
        <p:txBody>
          <a:bodyPr wrap="none" lIns="0" rIns="0">
            <a:noAutofit/>
          </a:bodyPr>
          <a:lstStyle/>
          <a:p>
            <a:pPr algn="l"/>
            <a:r>
              <a:rPr sz="3400" b="0" i="0">
                <a:solidFill>
                  <a:srgbClr val="D4D4D4"/>
                </a:solidFill>
                <a:latin typeface="Arial"/>
              </a:rPr>
              <a:t>Build an Artifact: a flow</a:t>
            </a:r>
          </a:p>
        </p:txBody>
      </p:sp>
      <p:sp>
        <p:nvSpPr>
          <p:cNvPr id="9" name="TextBox 8"/>
          <p:cNvSpPr txBox="1"/>
          <p:nvPr/>
        </p:nvSpPr>
        <p:spPr>
          <a:xfrm>
            <a:off x="457200" y="3910580"/>
            <a:ext cx="7287339" cy="518159"/>
          </a:xfrm>
          <a:prstGeom prst="rect">
            <a:avLst/>
          </a:prstGeom>
          <a:noFill/>
        </p:spPr>
        <p:txBody>
          <a:bodyPr wrap="none" lIns="0" rIns="0">
            <a:noAutofit/>
          </a:bodyPr>
          <a:lstStyle/>
          <a:p>
            <a:pPr algn="l"/>
            <a:r>
              <a:rPr sz="3400" b="0" i="0">
                <a:solidFill>
                  <a:srgbClr val="D4D4D4"/>
                </a:solidFill>
                <a:latin typeface="Arial"/>
              </a:rPr>
              <a:t>diagram, top to bottom.</a:t>
            </a:r>
          </a:p>
        </p:txBody>
      </p:sp>
      <p:sp>
        <p:nvSpPr>
          <p:cNvPr id="10" name="TextBox 9"/>
          <p:cNvSpPr txBox="1"/>
          <p:nvPr/>
        </p:nvSpPr>
        <p:spPr>
          <a:xfrm>
            <a:off x="457200" y="4428739"/>
            <a:ext cx="5674836" cy="518159"/>
          </a:xfrm>
          <a:prstGeom prst="rect">
            <a:avLst/>
          </a:prstGeom>
          <a:noFill/>
        </p:spPr>
        <p:txBody>
          <a:bodyPr wrap="none" lIns="0" rIns="0">
            <a:noAutofit/>
          </a:bodyPr>
          <a:lstStyle/>
          <a:p>
            <a:pPr algn="l"/>
            <a:r>
              <a:rPr sz="3400" b="0" i="0">
                <a:solidFill>
                  <a:srgbClr val="D4D4D4"/>
                </a:solidFill>
                <a:latin typeface="Arial"/>
              </a:rPr>
              <a:t>One box per step.</a:t>
            </a:r>
          </a:p>
        </p:txBody>
      </p:sp>
      <p:sp>
        <p:nvSpPr>
          <p:cNvPr id="11" name="TextBox 10"/>
          <p:cNvSpPr txBox="1"/>
          <p:nvPr/>
        </p:nvSpPr>
        <p:spPr>
          <a:xfrm>
            <a:off x="457200" y="4946898"/>
            <a:ext cx="5866110" cy="518159"/>
          </a:xfrm>
          <a:prstGeom prst="rect">
            <a:avLst/>
          </a:prstGeom>
          <a:noFill/>
        </p:spPr>
        <p:txBody>
          <a:bodyPr wrap="none" lIns="0" rIns="0">
            <a:noAutofit/>
          </a:bodyPr>
          <a:lstStyle/>
          <a:p>
            <a:pPr algn="l"/>
            <a:r>
              <a:rPr sz="3400" b="0" i="0">
                <a:solidFill>
                  <a:srgbClr val="D4D4D4"/>
                </a:solidFill>
                <a:latin typeface="Arial"/>
              </a:rPr>
              <a:t>Label every arrow </a:t>
            </a:r>
          </a:p>
        </p:txBody>
      </p:sp>
      <p:sp>
        <p:nvSpPr>
          <p:cNvPr id="12" name="TextBox 11"/>
          <p:cNvSpPr txBox="1"/>
          <p:nvPr/>
        </p:nvSpPr>
        <p:spPr>
          <a:xfrm>
            <a:off x="4009219" y="4946898"/>
            <a:ext cx="1411486" cy="518159"/>
          </a:xfrm>
          <a:prstGeom prst="rect">
            <a:avLst/>
          </a:prstGeom>
          <a:noFill/>
        </p:spPr>
        <p:txBody>
          <a:bodyPr wrap="none" lIns="0" rIns="0">
            <a:noAutofit/>
          </a:bodyPr>
          <a:lstStyle/>
          <a:p>
            <a:pPr algn="l"/>
            <a:r>
              <a:rPr sz="3400" b="0" i="0">
                <a:solidFill>
                  <a:srgbClr val="C586C0"/>
                </a:solidFill>
                <a:latin typeface="Arial"/>
              </a:rPr>
              <a:t>with</a:t>
            </a:r>
          </a:p>
        </p:txBody>
      </p:sp>
      <p:sp>
        <p:nvSpPr>
          <p:cNvPr id="13" name="TextBox 12"/>
          <p:cNvSpPr txBox="1"/>
          <p:nvPr/>
        </p:nvSpPr>
        <p:spPr>
          <a:xfrm>
            <a:off x="4777098" y="4946898"/>
            <a:ext cx="1834177" cy="518159"/>
          </a:xfrm>
          <a:prstGeom prst="rect">
            <a:avLst/>
          </a:prstGeom>
          <a:noFill/>
        </p:spPr>
        <p:txBody>
          <a:bodyPr wrap="none" lIns="0" rIns="0">
            <a:noAutofit/>
          </a:bodyPr>
          <a:lstStyle/>
          <a:p>
            <a:pPr algn="l"/>
            <a:r>
              <a:rPr sz="3400" b="0" i="0">
                <a:solidFill>
                  <a:srgbClr val="D4D4D4"/>
                </a:solidFill>
                <a:latin typeface="Arial"/>
              </a:rPr>
              <a:t> what</a:t>
            </a:r>
          </a:p>
        </p:txBody>
      </p:sp>
      <p:sp>
        <p:nvSpPr>
          <p:cNvPr id="14" name="TextBox 13"/>
          <p:cNvSpPr txBox="1"/>
          <p:nvPr/>
        </p:nvSpPr>
        <p:spPr>
          <a:xfrm>
            <a:off x="457200" y="5465057"/>
            <a:ext cx="8363465" cy="518159"/>
          </a:xfrm>
          <a:prstGeom prst="rect">
            <a:avLst/>
          </a:prstGeom>
          <a:noFill/>
        </p:spPr>
        <p:txBody>
          <a:bodyPr wrap="none" lIns="0" rIns="0">
            <a:noAutofit/>
          </a:bodyPr>
          <a:lstStyle/>
          <a:p>
            <a:pPr algn="l"/>
            <a:r>
              <a:rPr sz="3400" b="0" i="0">
                <a:solidFill>
                  <a:srgbClr val="D4D4D4"/>
                </a:solidFill>
                <a:latin typeface="Arial"/>
              </a:rPr>
              <a:t>passes between the steps.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the Diagram Must Show</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Raw input, where it enters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box per step</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What passes on each arrow</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delivered output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Diagram Conventions</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Top to bottom reads fastest</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One verb per box</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Keep labels under five words</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Revise It in Front of Everyone</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Ask for the change out loud</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Re-read the new version together</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Stop when nobody objects</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Artifact Pitfalls</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 pretty diagram nobody rechecks</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Boxes with no arrow labels</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The link never actually shared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Where the Map Lives</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Chat</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Scrolls away by noon</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Project</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Beside the problem</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1195304" cy="731520"/>
          </a:xfrm>
          <a:prstGeom prst="rect">
            <a:avLst/>
          </a:prstGeom>
          <a:noFill/>
        </p:spPr>
        <p:txBody>
          <a:bodyPr wrap="none" lIns="0" rIns="0">
            <a:noAutofit/>
          </a:bodyPr>
          <a:lstStyle/>
          <a:p>
            <a:pPr algn="l"/>
            <a:r>
              <a:rPr sz="4200" b="1" i="0">
                <a:solidFill>
                  <a:srgbClr val="0072CE"/>
                </a:solidFill>
                <a:latin typeface="Arial"/>
              </a:rPr>
              <a:t>Name What Each Step Needs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Four Kinds of Need</a:t>
            </a:r>
          </a:p>
        </p:txBody>
      </p:sp>
      <p:sp>
        <p:nvSpPr>
          <p:cNvPr id="3" name="TextBox 2"/>
          <p:cNvSpPr txBox="1"/>
          <p:nvPr/>
        </p:nvSpPr>
        <p:spPr>
          <a:xfrm>
            <a:off x="457200" y="1499616"/>
            <a:ext cx="2613660" cy="518159"/>
          </a:xfrm>
          <a:prstGeom prst="rect">
            <a:avLst/>
          </a:prstGeom>
          <a:noFill/>
        </p:spPr>
        <p:txBody>
          <a:bodyPr wrap="none" lIns="0" rIns="0">
            <a:noAutofit/>
          </a:bodyPr>
          <a:lstStyle/>
          <a:p>
            <a:pPr algn="l"/>
            <a:r>
              <a:rPr sz="3400" b="1" i="0">
                <a:solidFill>
                  <a:srgbClr val="0A2240"/>
                </a:solidFill>
                <a:latin typeface="Arial"/>
              </a:rPr>
              <a:t>Data</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Something must be supplied</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Tool</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Code, API, or model call</a:t>
            </a:r>
          </a:p>
        </p:txBody>
      </p:sp>
      <p:sp>
        <p:nvSpPr>
          <p:cNvPr id="7" name="TextBox 6"/>
          <p:cNvSpPr txBox="1"/>
          <p:nvPr/>
        </p:nvSpPr>
        <p:spPr>
          <a:xfrm>
            <a:off x="6233160" y="1499616"/>
            <a:ext cx="2754113" cy="518159"/>
          </a:xfrm>
          <a:prstGeom prst="rect">
            <a:avLst/>
          </a:prstGeom>
          <a:noFill/>
        </p:spPr>
        <p:txBody>
          <a:bodyPr wrap="none" lIns="0" rIns="0">
            <a:noAutofit/>
          </a:bodyPr>
          <a:lstStyle/>
          <a:p>
            <a:pPr algn="l"/>
            <a:r>
              <a:rPr sz="3400" b="1" i="0">
                <a:solidFill>
                  <a:srgbClr val="0A2240"/>
                </a:solidFill>
                <a:latin typeface="Arial"/>
              </a:rPr>
              <a:t>Routine</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It runs on a schedule</a:t>
            </a:r>
          </a:p>
        </p:txBody>
      </p:sp>
      <p:sp>
        <p:nvSpPr>
          <p:cNvPr id="9" name="TextBox 8"/>
          <p:cNvSpPr txBox="1"/>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Human</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A person decides</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Annotate Every Box</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One need per step, minimum</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Say which of the four it is</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Unknowns get marked, not skipped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Routine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prompt Claude runs on a schedule, unprompted.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a Step Is a Routine</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It repeats on a clock</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Nobody should have to remember</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Late is worse than imperfect</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TextBox 1"/>
          <p:cNvSpPr txBox="1"/>
          <p:nvPr/>
        </p:nvSpPr>
        <p:spPr>
          <a:xfrm>
            <a:off x="457200" y="457200"/>
            <a:ext cx="11277600" cy="640080"/>
          </a:xfrm>
          <a:prstGeom prst="rect">
            <a:avLst/>
          </a:prstGeom>
          <a:noFill/>
        </p:spPr>
        <p:txBody>
          <a:bodyPr wrap="none" lIns="0" rIns="0">
            <a:noAutofit/>
          </a:bodyPr>
          <a:lstStyle/>
          <a:p>
            <a:pPr algn="l"/>
            <a:r>
              <a:rPr sz="4200" b="0" i="0">
                <a:solidFill>
                  <a:srgbClr val="D4D4D4"/>
                </a:solidFill>
                <a:latin typeface="Arial"/>
              </a:rPr>
              <a:t>A Step as a Routine</a:t>
            </a:r>
          </a:p>
        </p:txBody>
      </p:sp>
      <p:sp>
        <p:nvSpPr>
          <p:cNvPr id="3" name="TextBox 2"/>
          <p:cNvSpPr txBox="1"/>
          <p:nvPr/>
        </p:nvSpPr>
        <p:spPr>
          <a:xfrm>
            <a:off x="457200" y="1371600"/>
            <a:ext cx="5827652" cy="518159"/>
          </a:xfrm>
          <a:prstGeom prst="rect">
            <a:avLst/>
          </a:prstGeom>
          <a:noFill/>
        </p:spPr>
        <p:txBody>
          <a:bodyPr wrap="none" lIns="0" rIns="0">
            <a:noAutofit/>
          </a:bodyPr>
          <a:lstStyle/>
          <a:p>
            <a:pPr algn="l"/>
            <a:r>
              <a:rPr sz="3400" b="0" i="0">
                <a:solidFill>
                  <a:srgbClr val="D4D4D4"/>
                </a:solidFill>
                <a:latin typeface="Arial"/>
              </a:rPr>
              <a:t>Every weekday at </a:t>
            </a:r>
          </a:p>
        </p:txBody>
      </p:sp>
      <p:sp>
        <p:nvSpPr>
          <p:cNvPr id="4" name="TextBox 3"/>
          <p:cNvSpPr txBox="1"/>
          <p:nvPr/>
        </p:nvSpPr>
        <p:spPr>
          <a:xfrm>
            <a:off x="3985183" y="1371600"/>
            <a:ext cx="567115" cy="518159"/>
          </a:xfrm>
          <a:prstGeom prst="rect">
            <a:avLst/>
          </a:prstGeom>
          <a:noFill/>
        </p:spPr>
        <p:txBody>
          <a:bodyPr wrap="none" lIns="0" rIns="0">
            <a:noAutofit/>
          </a:bodyPr>
          <a:lstStyle/>
          <a:p>
            <a:pPr algn="l"/>
            <a:r>
              <a:rPr sz="3400" b="0" i="0">
                <a:solidFill>
                  <a:srgbClr val="B5CEA8"/>
                </a:solidFill>
                <a:latin typeface="Arial"/>
              </a:rPr>
              <a:t>8</a:t>
            </a:r>
          </a:p>
        </p:txBody>
      </p:sp>
      <p:sp>
        <p:nvSpPr>
          <p:cNvPr id="5" name="TextBox 4"/>
          <p:cNvSpPr txBox="1"/>
          <p:nvPr/>
        </p:nvSpPr>
        <p:spPr>
          <a:xfrm>
            <a:off x="4225330" y="1371600"/>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6" name="TextBox 5"/>
          <p:cNvSpPr txBox="1"/>
          <p:nvPr/>
        </p:nvSpPr>
        <p:spPr>
          <a:xfrm>
            <a:off x="4345298" y="1371600"/>
            <a:ext cx="951348" cy="518159"/>
          </a:xfrm>
          <a:prstGeom prst="rect">
            <a:avLst/>
          </a:prstGeom>
          <a:noFill/>
        </p:spPr>
        <p:txBody>
          <a:bodyPr wrap="none" lIns="0" rIns="0">
            <a:noAutofit/>
          </a:bodyPr>
          <a:lstStyle/>
          <a:p>
            <a:pPr algn="l"/>
            <a:r>
              <a:rPr sz="3400" b="0" i="0">
                <a:solidFill>
                  <a:srgbClr val="B5CEA8"/>
                </a:solidFill>
                <a:latin typeface="Arial"/>
              </a:rPr>
              <a:t>00</a:t>
            </a:r>
          </a:p>
        </p:txBody>
      </p:sp>
      <p:sp>
        <p:nvSpPr>
          <p:cNvPr id="7" name="TextBox 6"/>
          <p:cNvSpPr txBox="1"/>
          <p:nvPr/>
        </p:nvSpPr>
        <p:spPr>
          <a:xfrm>
            <a:off x="457200" y="2407918"/>
            <a:ext cx="567115" cy="518159"/>
          </a:xfrm>
          <a:prstGeom prst="rect">
            <a:avLst/>
          </a:prstGeom>
          <a:noFill/>
        </p:spPr>
        <p:txBody>
          <a:bodyPr wrap="none" lIns="0" rIns="0">
            <a:noAutofit/>
          </a:bodyPr>
          <a:lstStyle/>
          <a:p>
            <a:pPr algn="l"/>
            <a:r>
              <a:rPr sz="3400" b="0" i="0">
                <a:solidFill>
                  <a:srgbClr val="B5CEA8"/>
                </a:solidFill>
                <a:latin typeface="Arial"/>
              </a:rPr>
              <a:t>1</a:t>
            </a:r>
          </a:p>
        </p:txBody>
      </p:sp>
      <p:sp>
        <p:nvSpPr>
          <p:cNvPr id="8" name="TextBox 7"/>
          <p:cNvSpPr txBox="1"/>
          <p:nvPr/>
        </p:nvSpPr>
        <p:spPr>
          <a:xfrm>
            <a:off x="697347" y="2407918"/>
            <a:ext cx="5290264" cy="518159"/>
          </a:xfrm>
          <a:prstGeom prst="rect">
            <a:avLst/>
          </a:prstGeom>
          <a:noFill/>
        </p:spPr>
        <p:txBody>
          <a:bodyPr wrap="none" lIns="0" rIns="0">
            <a:noAutofit/>
          </a:bodyPr>
          <a:lstStyle/>
          <a:p>
            <a:pPr algn="l"/>
            <a:r>
              <a:rPr sz="3400" b="0" i="0">
                <a:solidFill>
                  <a:srgbClr val="D4D4D4"/>
                </a:solidFill>
                <a:latin typeface="Arial"/>
              </a:rPr>
              <a:t>. Read new files </a:t>
            </a:r>
          </a:p>
        </p:txBody>
      </p:sp>
      <p:sp>
        <p:nvSpPr>
          <p:cNvPr id="9" name="TextBox 8"/>
          <p:cNvSpPr txBox="1"/>
          <p:nvPr/>
        </p:nvSpPr>
        <p:spPr>
          <a:xfrm>
            <a:off x="3889462" y="2407918"/>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10" name="TextBox 9"/>
          <p:cNvSpPr txBox="1"/>
          <p:nvPr/>
        </p:nvSpPr>
        <p:spPr>
          <a:xfrm>
            <a:off x="4225541" y="2407918"/>
            <a:ext cx="2410360" cy="518159"/>
          </a:xfrm>
          <a:prstGeom prst="rect">
            <a:avLst/>
          </a:prstGeom>
          <a:noFill/>
        </p:spPr>
        <p:txBody>
          <a:bodyPr wrap="none" lIns="0" rIns="0">
            <a:noAutofit/>
          </a:bodyPr>
          <a:lstStyle/>
          <a:p>
            <a:pPr algn="l"/>
            <a:r>
              <a:rPr sz="3400" b="0" i="0">
                <a:solidFill>
                  <a:srgbClr val="D4D4D4"/>
                </a:solidFill>
                <a:latin typeface="Arial"/>
              </a:rPr>
              <a:t> /intake</a:t>
            </a:r>
          </a:p>
        </p:txBody>
      </p:sp>
      <p:sp>
        <p:nvSpPr>
          <p:cNvPr id="11" name="TextBox 10"/>
          <p:cNvSpPr txBox="1"/>
          <p:nvPr/>
        </p:nvSpPr>
        <p:spPr>
          <a:xfrm>
            <a:off x="457200" y="2926077"/>
            <a:ext cx="567115" cy="518159"/>
          </a:xfrm>
          <a:prstGeom prst="rect">
            <a:avLst/>
          </a:prstGeom>
          <a:noFill/>
        </p:spPr>
        <p:txBody>
          <a:bodyPr wrap="none" lIns="0" rIns="0">
            <a:noAutofit/>
          </a:bodyPr>
          <a:lstStyle/>
          <a:p>
            <a:pPr algn="l"/>
            <a:r>
              <a:rPr sz="3400" b="0" i="0">
                <a:solidFill>
                  <a:srgbClr val="B5CEA8"/>
                </a:solidFill>
                <a:latin typeface="Arial"/>
              </a:rPr>
              <a:t>2</a:t>
            </a:r>
          </a:p>
        </p:txBody>
      </p:sp>
      <p:sp>
        <p:nvSpPr>
          <p:cNvPr id="12" name="TextBox 11"/>
          <p:cNvSpPr txBox="1"/>
          <p:nvPr/>
        </p:nvSpPr>
        <p:spPr>
          <a:xfrm>
            <a:off x="697347" y="2926077"/>
            <a:ext cx="8977769" cy="518159"/>
          </a:xfrm>
          <a:prstGeom prst="rect">
            <a:avLst/>
          </a:prstGeom>
          <a:noFill/>
        </p:spPr>
        <p:txBody>
          <a:bodyPr wrap="none" lIns="0" rIns="0">
            <a:noAutofit/>
          </a:bodyPr>
          <a:lstStyle/>
          <a:p>
            <a:pPr algn="l"/>
            <a:r>
              <a:rPr sz="3400" b="0" i="0">
                <a:solidFill>
                  <a:srgbClr val="D4D4D4"/>
                </a:solidFill>
                <a:latin typeface="Arial"/>
              </a:rPr>
              <a:t>. Score each against the role</a:t>
            </a:r>
          </a:p>
        </p:txBody>
      </p:sp>
      <p:sp>
        <p:nvSpPr>
          <p:cNvPr id="13" name="TextBox 12"/>
          <p:cNvSpPr txBox="1"/>
          <p:nvPr/>
        </p:nvSpPr>
        <p:spPr>
          <a:xfrm>
            <a:off x="457200" y="3444236"/>
            <a:ext cx="567115" cy="518159"/>
          </a:xfrm>
          <a:prstGeom prst="rect">
            <a:avLst/>
          </a:prstGeom>
          <a:noFill/>
        </p:spPr>
        <p:txBody>
          <a:bodyPr wrap="none" lIns="0" rIns="0">
            <a:noAutofit/>
          </a:bodyPr>
          <a:lstStyle/>
          <a:p>
            <a:pPr algn="l"/>
            <a:r>
              <a:rPr sz="3400" b="0" i="0">
                <a:solidFill>
                  <a:srgbClr val="B5CEA8"/>
                </a:solidFill>
                <a:latin typeface="Arial"/>
              </a:rPr>
              <a:t>3</a:t>
            </a:r>
          </a:p>
        </p:txBody>
      </p:sp>
      <p:sp>
        <p:nvSpPr>
          <p:cNvPr id="14" name="TextBox 13"/>
          <p:cNvSpPr txBox="1"/>
          <p:nvPr/>
        </p:nvSpPr>
        <p:spPr>
          <a:xfrm>
            <a:off x="697347" y="3444236"/>
            <a:ext cx="9017576" cy="518159"/>
          </a:xfrm>
          <a:prstGeom prst="rect">
            <a:avLst/>
          </a:prstGeom>
          <a:noFill/>
        </p:spPr>
        <p:txBody>
          <a:bodyPr wrap="none" lIns="0" rIns="0">
            <a:noAutofit/>
          </a:bodyPr>
          <a:lstStyle/>
          <a:p>
            <a:pPr algn="l"/>
            <a:r>
              <a:rPr sz="3400" b="0" i="0">
                <a:solidFill>
                  <a:srgbClr val="D4D4D4"/>
                </a:solidFill>
                <a:latin typeface="Arial"/>
              </a:rPr>
              <a:t>. Append to the ranked sheet</a:t>
            </a:r>
          </a:p>
        </p:txBody>
      </p:sp>
      <p:sp>
        <p:nvSpPr>
          <p:cNvPr id="15" name="TextBox 14"/>
          <p:cNvSpPr txBox="1"/>
          <p:nvPr/>
        </p:nvSpPr>
        <p:spPr>
          <a:xfrm>
            <a:off x="457200" y="3962395"/>
            <a:ext cx="567115" cy="518159"/>
          </a:xfrm>
          <a:prstGeom prst="rect">
            <a:avLst/>
          </a:prstGeom>
          <a:noFill/>
        </p:spPr>
        <p:txBody>
          <a:bodyPr wrap="none" lIns="0" rIns="0">
            <a:noAutofit/>
          </a:bodyPr>
          <a:lstStyle/>
          <a:p>
            <a:pPr algn="l"/>
            <a:r>
              <a:rPr sz="3400" b="0" i="0">
                <a:solidFill>
                  <a:srgbClr val="B5CEA8"/>
                </a:solidFill>
                <a:latin typeface="Arial"/>
              </a:rPr>
              <a:t>4</a:t>
            </a:r>
          </a:p>
        </p:txBody>
      </p:sp>
      <p:sp>
        <p:nvSpPr>
          <p:cNvPr id="16" name="TextBox 15"/>
          <p:cNvSpPr txBox="1"/>
          <p:nvPr/>
        </p:nvSpPr>
        <p:spPr>
          <a:xfrm>
            <a:off x="697347" y="3962395"/>
            <a:ext cx="8362454" cy="518159"/>
          </a:xfrm>
          <a:prstGeom prst="rect">
            <a:avLst/>
          </a:prstGeom>
          <a:noFill/>
        </p:spPr>
        <p:txBody>
          <a:bodyPr wrap="none" lIns="0" rIns="0">
            <a:noAutofit/>
          </a:bodyPr>
          <a:lstStyle/>
          <a:p>
            <a:pPr algn="l"/>
            <a:r>
              <a:rPr sz="3400" b="0" i="0">
                <a:solidFill>
                  <a:srgbClr val="D4D4D4"/>
                </a:solidFill>
                <a:latin typeface="Arial"/>
              </a:rPr>
              <a:t>. Flag anything scoring low</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Human decision</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step where a person judges and the system waits.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Keep a Human When</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Being wrong is expensive</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The call needs context you lack</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Someone must be accountable</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Step to Need</a:t>
            </a:r>
          </a:p>
        </p:txBody>
      </p:sp>
      <p:sp>
        <p:nvSpPr>
          <p:cNvPr id="3" name="TextBox 2"/>
          <p:cNvSpPr txBox="1"/>
          <p:nvPr/>
        </p:nvSpPr>
        <p:spPr>
          <a:xfrm>
            <a:off x="457200" y="1499616"/>
            <a:ext cx="2789575" cy="518159"/>
          </a:xfrm>
          <a:prstGeom prst="rect">
            <a:avLst/>
          </a:prstGeom>
          <a:noFill/>
        </p:spPr>
        <p:txBody>
          <a:bodyPr wrap="none" lIns="0" rIns="0">
            <a:noAutofit/>
          </a:bodyPr>
          <a:lstStyle/>
          <a:p>
            <a:pPr algn="l"/>
            <a:r>
              <a:rPr sz="3400" b="1" i="0">
                <a:solidFill>
                  <a:srgbClr val="123A6B"/>
                </a:solidFill>
                <a:latin typeface="Arial"/>
              </a:rPr>
              <a:t>Step</a:t>
            </a:r>
          </a:p>
        </p:txBody>
      </p:sp>
      <p:sp>
        <p:nvSpPr>
          <p:cNvPr id="4" name="TextBox 3"/>
          <p:cNvSpPr txBox="1"/>
          <p:nvPr/>
        </p:nvSpPr>
        <p:spPr>
          <a:xfrm>
            <a:off x="3795415" y="1499616"/>
            <a:ext cx="4673937" cy="518159"/>
          </a:xfrm>
          <a:prstGeom prst="rect">
            <a:avLst/>
          </a:prstGeom>
          <a:noFill/>
        </p:spPr>
        <p:txBody>
          <a:bodyPr wrap="none" lIns="0" rIns="0">
            <a:noAutofit/>
          </a:bodyPr>
          <a:lstStyle/>
          <a:p>
            <a:pPr algn="l"/>
            <a:r>
              <a:rPr sz="3400" b="1" i="0">
                <a:solidFill>
                  <a:srgbClr val="123A6B"/>
                </a:solidFill>
                <a:latin typeface="Arial"/>
              </a:rPr>
              <a:t>What it needs</a:t>
            </a:r>
          </a:p>
        </p:txBody>
      </p:sp>
      <p:sp>
        <p:nvSpPr>
          <p:cNvPr id="5" name="Rectangle 4"/>
          <p:cNvSpPr/>
          <p:nvPr/>
        </p:nvSpPr>
        <p:spPr>
          <a:xfrm>
            <a:off x="457200" y="2072639"/>
            <a:ext cx="7328523"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485475" cy="633984"/>
          </a:xfrm>
          <a:prstGeom prst="rect">
            <a:avLst/>
          </a:prstGeom>
          <a:noFill/>
        </p:spPr>
        <p:txBody>
          <a:bodyPr wrap="none" lIns="0" rIns="0">
            <a:noAutofit/>
          </a:bodyPr>
          <a:lstStyle/>
          <a:p>
            <a:pPr algn="l"/>
            <a:r>
              <a:rPr sz="3400" b="0" i="0">
                <a:solidFill>
                  <a:srgbClr val="0A2240"/>
                </a:solidFill>
                <a:latin typeface="Arial"/>
              </a:rPr>
              <a:t>Intake files</a:t>
            </a:r>
          </a:p>
        </p:txBody>
      </p:sp>
      <p:sp>
        <p:nvSpPr>
          <p:cNvPr id="7" name="TextBox 6"/>
          <p:cNvSpPr txBox="1"/>
          <p:nvPr/>
        </p:nvSpPr>
        <p:spPr>
          <a:xfrm>
            <a:off x="3795415" y="2401823"/>
            <a:ext cx="5982156" cy="633984"/>
          </a:xfrm>
          <a:prstGeom prst="rect">
            <a:avLst/>
          </a:prstGeom>
          <a:noFill/>
        </p:spPr>
        <p:txBody>
          <a:bodyPr wrap="none" lIns="0" rIns="0">
            <a:noAutofit/>
          </a:bodyPr>
          <a:lstStyle/>
          <a:p>
            <a:pPr algn="l"/>
            <a:r>
              <a:rPr sz="3400" b="0" i="0">
                <a:solidFill>
                  <a:srgbClr val="0A2240"/>
                </a:solidFill>
                <a:latin typeface="Arial"/>
              </a:rPr>
              <a:t>Data plus a routine</a:t>
            </a:r>
          </a:p>
        </p:txBody>
      </p:sp>
      <p:sp>
        <p:nvSpPr>
          <p:cNvPr id="8" name="TextBox 7"/>
          <p:cNvSpPr txBox="1"/>
          <p:nvPr/>
        </p:nvSpPr>
        <p:spPr>
          <a:xfrm>
            <a:off x="457200" y="3310127"/>
            <a:ext cx="3293188" cy="633984"/>
          </a:xfrm>
          <a:prstGeom prst="rect">
            <a:avLst/>
          </a:prstGeom>
          <a:noFill/>
        </p:spPr>
        <p:txBody>
          <a:bodyPr wrap="none" lIns="0" rIns="0">
            <a:noAutofit/>
          </a:bodyPr>
          <a:lstStyle/>
          <a:p>
            <a:pPr algn="l"/>
            <a:r>
              <a:rPr sz="3400" b="0" i="0">
                <a:solidFill>
                  <a:srgbClr val="0A2240"/>
                </a:solidFill>
                <a:latin typeface="Arial"/>
              </a:rPr>
              <a:t>Parse text</a:t>
            </a:r>
          </a:p>
        </p:txBody>
      </p:sp>
      <p:sp>
        <p:nvSpPr>
          <p:cNvPr id="9" name="TextBox 8"/>
          <p:cNvSpPr txBox="1"/>
          <p:nvPr/>
        </p:nvSpPr>
        <p:spPr>
          <a:xfrm>
            <a:off x="3795415" y="3310127"/>
            <a:ext cx="3990308" cy="633984"/>
          </a:xfrm>
          <a:prstGeom prst="rect">
            <a:avLst/>
          </a:prstGeom>
          <a:noFill/>
        </p:spPr>
        <p:txBody>
          <a:bodyPr wrap="none" lIns="0" rIns="0">
            <a:noAutofit/>
          </a:bodyPr>
          <a:lstStyle/>
          <a:p>
            <a:pPr algn="l"/>
            <a:r>
              <a:rPr sz="3400" b="0" i="0">
                <a:solidFill>
                  <a:srgbClr val="0A2240"/>
                </a:solidFill>
                <a:latin typeface="Arial"/>
              </a:rPr>
              <a:t>A tool</a:t>
            </a:r>
          </a:p>
        </p:txBody>
      </p:sp>
      <p:sp>
        <p:nvSpPr>
          <p:cNvPr id="10" name="TextBox 9"/>
          <p:cNvSpPr txBox="1"/>
          <p:nvPr/>
        </p:nvSpPr>
        <p:spPr>
          <a:xfrm>
            <a:off x="457200" y="4218431"/>
            <a:ext cx="4060984" cy="633984"/>
          </a:xfrm>
          <a:prstGeom prst="rect">
            <a:avLst/>
          </a:prstGeom>
          <a:noFill/>
        </p:spPr>
        <p:txBody>
          <a:bodyPr wrap="none" lIns="0" rIns="0">
            <a:noAutofit/>
          </a:bodyPr>
          <a:lstStyle/>
          <a:p>
            <a:pPr algn="l"/>
            <a:r>
              <a:rPr sz="3400" b="0" i="0">
                <a:solidFill>
                  <a:srgbClr val="0A2240"/>
                </a:solidFill>
                <a:latin typeface="Arial"/>
              </a:rPr>
              <a:t>Score match</a:t>
            </a:r>
          </a:p>
        </p:txBody>
      </p:sp>
      <p:sp>
        <p:nvSpPr>
          <p:cNvPr id="11" name="TextBox 10"/>
          <p:cNvSpPr txBox="1"/>
          <p:nvPr/>
        </p:nvSpPr>
        <p:spPr>
          <a:xfrm>
            <a:off x="3795415" y="4218431"/>
            <a:ext cx="3990308" cy="633984"/>
          </a:xfrm>
          <a:prstGeom prst="rect">
            <a:avLst/>
          </a:prstGeom>
          <a:noFill/>
        </p:spPr>
        <p:txBody>
          <a:bodyPr wrap="none" lIns="0" rIns="0">
            <a:noAutofit/>
          </a:bodyPr>
          <a:lstStyle/>
          <a:p>
            <a:pPr algn="l"/>
            <a:r>
              <a:rPr sz="3400" b="0" i="0">
                <a:solidFill>
                  <a:srgbClr val="0A2240"/>
                </a:solidFill>
                <a:latin typeface="Arial"/>
              </a:rPr>
              <a:t>A model call</a:t>
            </a:r>
          </a:p>
        </p:txBody>
      </p:sp>
      <p:sp>
        <p:nvSpPr>
          <p:cNvPr id="12" name="TextBox 11"/>
          <p:cNvSpPr txBox="1"/>
          <p:nvPr/>
        </p:nvSpPr>
        <p:spPr>
          <a:xfrm>
            <a:off x="457200" y="5126735"/>
            <a:ext cx="3792457" cy="633984"/>
          </a:xfrm>
          <a:prstGeom prst="rect">
            <a:avLst/>
          </a:prstGeom>
          <a:noFill/>
        </p:spPr>
        <p:txBody>
          <a:bodyPr wrap="none" lIns="0" rIns="0">
            <a:noAutofit/>
          </a:bodyPr>
          <a:lstStyle/>
          <a:p>
            <a:pPr algn="l"/>
            <a:r>
              <a:rPr sz="3400" b="0" i="0">
                <a:solidFill>
                  <a:srgbClr val="0A2240"/>
                </a:solidFill>
                <a:latin typeface="Arial"/>
              </a:rPr>
              <a:t>Approve list</a:t>
            </a:r>
          </a:p>
        </p:txBody>
      </p:sp>
      <p:sp>
        <p:nvSpPr>
          <p:cNvPr id="13" name="TextBox 12"/>
          <p:cNvSpPr txBox="1"/>
          <p:nvPr/>
        </p:nvSpPr>
        <p:spPr>
          <a:xfrm>
            <a:off x="3795415" y="5126735"/>
            <a:ext cx="5636716" cy="633984"/>
          </a:xfrm>
          <a:prstGeom prst="rect">
            <a:avLst/>
          </a:prstGeom>
          <a:noFill/>
        </p:spPr>
        <p:txBody>
          <a:bodyPr wrap="none" lIns="0" rIns="0">
            <a:noAutofit/>
          </a:bodyPr>
          <a:lstStyle/>
          <a:p>
            <a:pPr algn="l"/>
            <a:r>
              <a:rPr sz="3400" b="0" i="0">
                <a:solidFill>
                  <a:srgbClr val="0A2240"/>
                </a:solidFill>
                <a:latin typeface="Arial"/>
              </a:rPr>
              <a:t>A human decision</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The riskiest step</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one whose failure wastes the most time.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Find It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Mark unknowns</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Boxes you cannot describe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Ask who blocks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Which stalls everything after</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Pick one</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Only one gets this attention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Prompt for Failure Modes</a:t>
            </a:r>
          </a:p>
        </p:txBody>
      </p:sp>
      <p:sp>
        <p:nvSpPr>
          <p:cNvPr id="6" name="TextBox 5"/>
          <p:cNvSpPr txBox="1"/>
          <p:nvPr/>
        </p:nvSpPr>
        <p:spPr>
          <a:xfrm>
            <a:off x="457200" y="1837944"/>
            <a:ext cx="5365828" cy="518159"/>
          </a:xfrm>
          <a:prstGeom prst="rect">
            <a:avLst/>
          </a:prstGeom>
          <a:noFill/>
        </p:spPr>
        <p:txBody>
          <a:bodyPr wrap="none" lIns="0" rIns="0">
            <a:noAutofit/>
          </a:bodyPr>
          <a:lstStyle/>
          <a:p>
            <a:pPr algn="l"/>
            <a:r>
              <a:rPr sz="3400" b="0" i="0">
                <a:solidFill>
                  <a:srgbClr val="D4D4D4"/>
                </a:solidFill>
                <a:latin typeface="Arial"/>
              </a:rPr>
              <a:t>Our riskiest step:</a:t>
            </a:r>
          </a:p>
        </p:txBody>
      </p:sp>
      <p:sp>
        <p:nvSpPr>
          <p:cNvPr id="7" name="TextBox 6"/>
          <p:cNvSpPr txBox="1"/>
          <p:nvPr/>
        </p:nvSpPr>
        <p:spPr>
          <a:xfrm>
            <a:off x="457200" y="2356103"/>
            <a:ext cx="6741854" cy="518159"/>
          </a:xfrm>
          <a:prstGeom prst="rect">
            <a:avLst/>
          </a:prstGeom>
          <a:noFill/>
        </p:spPr>
        <p:txBody>
          <a:bodyPr wrap="none" lIns="0" rIns="0">
            <a:noAutofit/>
          </a:bodyPr>
          <a:lstStyle/>
          <a:p>
            <a:pPr algn="l"/>
            <a:r>
              <a:rPr sz="3400" b="0" i="0">
                <a:solidFill>
                  <a:srgbClr val="CE9178"/>
                </a:solidFill>
                <a:latin typeface="Arial"/>
              </a:rPr>
              <a:t>"&lt;describe the step&gt;"</a:t>
            </a:r>
          </a:p>
        </p:txBody>
      </p:sp>
      <p:sp>
        <p:nvSpPr>
          <p:cNvPr id="8" name="TextBox 7"/>
          <p:cNvSpPr txBox="1"/>
          <p:nvPr/>
        </p:nvSpPr>
        <p:spPr>
          <a:xfrm>
            <a:off x="457200" y="3392421"/>
            <a:ext cx="10459382" cy="518159"/>
          </a:xfrm>
          <a:prstGeom prst="rect">
            <a:avLst/>
          </a:prstGeom>
          <a:noFill/>
        </p:spPr>
        <p:txBody>
          <a:bodyPr wrap="none" lIns="0" rIns="0">
            <a:noAutofit/>
          </a:bodyPr>
          <a:lstStyle/>
          <a:p>
            <a:pPr algn="l"/>
            <a:r>
              <a:rPr sz="3400" b="0" i="0">
                <a:solidFill>
                  <a:srgbClr val="D4D4D4"/>
                </a:solidFill>
                <a:latin typeface="Arial"/>
              </a:rPr>
              <a:t>Give the THREE most likely ways</a:t>
            </a:r>
          </a:p>
        </p:txBody>
      </p:sp>
      <p:sp>
        <p:nvSpPr>
          <p:cNvPr id="9" name="TextBox 8"/>
          <p:cNvSpPr txBox="1"/>
          <p:nvPr/>
        </p:nvSpPr>
        <p:spPr>
          <a:xfrm>
            <a:off x="457200" y="3910580"/>
            <a:ext cx="2870497" cy="518159"/>
          </a:xfrm>
          <a:prstGeom prst="rect">
            <a:avLst/>
          </a:prstGeom>
          <a:noFill/>
        </p:spPr>
        <p:txBody>
          <a:bodyPr wrap="none" lIns="0" rIns="0">
            <a:noAutofit/>
          </a:bodyPr>
          <a:lstStyle/>
          <a:p>
            <a:pPr algn="l"/>
            <a:r>
              <a:rPr sz="3400" b="0" i="0">
                <a:solidFill>
                  <a:srgbClr val="D4D4D4"/>
                </a:solidFill>
                <a:latin typeface="Arial"/>
              </a:rPr>
              <a:t>this fails </a:t>
            </a:r>
          </a:p>
        </p:txBody>
      </p:sp>
      <p:sp>
        <p:nvSpPr>
          <p:cNvPr id="10" name="TextBox 9"/>
          <p:cNvSpPr txBox="1"/>
          <p:nvPr/>
        </p:nvSpPr>
        <p:spPr>
          <a:xfrm>
            <a:off x="2136961" y="3910580"/>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11" name="TextBox 10"/>
          <p:cNvSpPr txBox="1"/>
          <p:nvPr/>
        </p:nvSpPr>
        <p:spPr>
          <a:xfrm>
            <a:off x="2473040" y="3910580"/>
            <a:ext cx="2985868" cy="518159"/>
          </a:xfrm>
          <a:prstGeom prst="rect">
            <a:avLst/>
          </a:prstGeom>
          <a:noFill/>
        </p:spPr>
        <p:txBody>
          <a:bodyPr wrap="none" lIns="0" rIns="0">
            <a:noAutofit/>
          </a:bodyPr>
          <a:lstStyle/>
          <a:p>
            <a:pPr algn="l"/>
            <a:r>
              <a:rPr sz="3400" b="0" i="0">
                <a:solidFill>
                  <a:srgbClr val="D4D4D4"/>
                </a:solidFill>
                <a:latin typeface="Arial"/>
              </a:rPr>
              <a:t> practice.</a:t>
            </a:r>
          </a:p>
        </p:txBody>
      </p:sp>
      <p:sp>
        <p:nvSpPr>
          <p:cNvPr id="12" name="TextBox 11"/>
          <p:cNvSpPr txBox="1"/>
          <p:nvPr/>
        </p:nvSpPr>
        <p:spPr>
          <a:xfrm>
            <a:off x="457200" y="4428739"/>
            <a:ext cx="4904342" cy="518159"/>
          </a:xfrm>
          <a:prstGeom prst="rect">
            <a:avLst/>
          </a:prstGeom>
          <a:noFill/>
        </p:spPr>
        <p:txBody>
          <a:bodyPr wrap="none" lIns="0" rIns="0">
            <a:noAutofit/>
          </a:bodyPr>
          <a:lstStyle/>
          <a:p>
            <a:pPr algn="l"/>
            <a:r>
              <a:rPr sz="3400" b="0" i="0">
                <a:solidFill>
                  <a:srgbClr val="D4D4D4"/>
                </a:solidFill>
                <a:latin typeface="Arial"/>
              </a:rPr>
              <a:t>Most likely first.</a:t>
            </a:r>
          </a:p>
        </p:txBody>
      </p:sp>
      <p:sp>
        <p:nvSpPr>
          <p:cNvPr id="13" name="TextBox 12"/>
          <p:cNvSpPr txBox="1"/>
          <p:nvPr/>
        </p:nvSpPr>
        <p:spPr>
          <a:xfrm>
            <a:off x="457200" y="4946898"/>
            <a:ext cx="10205700" cy="518159"/>
          </a:xfrm>
          <a:prstGeom prst="rect">
            <a:avLst/>
          </a:prstGeom>
          <a:noFill/>
        </p:spPr>
        <p:txBody>
          <a:bodyPr wrap="none" lIns="0" rIns="0">
            <a:noAutofit/>
          </a:bodyPr>
          <a:lstStyle/>
          <a:p>
            <a:pPr algn="l"/>
            <a:r>
              <a:rPr sz="3400" b="0" i="0">
                <a:solidFill>
                  <a:srgbClr val="D4D4D4"/>
                </a:solidFill>
                <a:latin typeface="Arial"/>
              </a:rPr>
              <a:t>For each: the early warning sign.</a:t>
            </a:r>
          </a:p>
        </p:txBody>
      </p:sp>
      <p:sp>
        <p:nvSpPr>
          <p:cNvPr id="14" name="TextBox 13"/>
          <p:cNvSpPr txBox="1"/>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No fixes yet.</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Where Steps Usually Fail</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Input</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Arrives wrong or not at all</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Transform</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Works, but not on real data</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Access</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The key, quota, or approval</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to Do With Three Failures</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Build the warning sign in first</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Stub the step if it may not land</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Give the risky box its best owner</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Which Step Gets the Attention</a:t>
            </a:r>
          </a:p>
        </p:txBody>
      </p:sp>
      <p:sp>
        <p:nvSpPr>
          <p:cNvPr id="3" name="TextBox 2"/>
          <p:cNvSpPr txBox="1"/>
          <p:nvPr/>
        </p:nvSpPr>
        <p:spPr>
          <a:xfrm>
            <a:off x="3889248" y="1499616"/>
            <a:ext cx="2432304" cy="518159"/>
          </a:xfrm>
          <a:prstGeom prst="rect">
            <a:avLst/>
          </a:prstGeom>
          <a:noFill/>
        </p:spPr>
        <p:txBody>
          <a:bodyPr wrap="none" lIns="0" rIns="0">
            <a:noAutofit/>
          </a:bodyPr>
          <a:lstStyle/>
          <a:p>
            <a:pPr algn="ctr"/>
            <a:r>
              <a:rPr sz="3400" b="1" i="0">
                <a:solidFill>
                  <a:srgbClr val="0A2240"/>
                </a:solidFill>
                <a:latin typeface="Arial"/>
              </a:rPr>
              <a:t>Intake</a:t>
            </a:r>
          </a:p>
        </p:txBody>
      </p:sp>
      <p:sp>
        <p:nvSpPr>
          <p:cNvPr id="4" name="TextBox 3"/>
          <p:cNvSpPr txBox="1"/>
          <p:nvPr/>
        </p:nvSpPr>
        <p:spPr>
          <a:xfrm>
            <a:off x="6595872" y="1499616"/>
            <a:ext cx="2432304" cy="518159"/>
          </a:xfrm>
          <a:prstGeom prst="rect">
            <a:avLst/>
          </a:prstGeom>
          <a:noFill/>
        </p:spPr>
        <p:txBody>
          <a:bodyPr wrap="none" lIns="0" rIns="0">
            <a:noAutofit/>
          </a:bodyPr>
          <a:lstStyle/>
          <a:p>
            <a:pPr algn="ctr"/>
            <a:r>
              <a:rPr sz="3400" b="1" i="0">
                <a:solidFill>
                  <a:srgbClr val="0A2240"/>
                </a:solidFill>
                <a:latin typeface="Arial"/>
              </a:rPr>
              <a:t>Parse</a:t>
            </a:r>
          </a:p>
        </p:txBody>
      </p:sp>
      <p:sp>
        <p:nvSpPr>
          <p:cNvPr id="5" name="TextBox 4"/>
          <p:cNvSpPr txBox="1"/>
          <p:nvPr/>
        </p:nvSpPr>
        <p:spPr>
          <a:xfrm>
            <a:off x="9302496" y="1499616"/>
            <a:ext cx="2432304" cy="518159"/>
          </a:xfrm>
          <a:prstGeom prst="rect">
            <a:avLst/>
          </a:prstGeom>
          <a:noFill/>
        </p:spPr>
        <p:txBody>
          <a:bodyPr wrap="none" lIns="0" rIns="0">
            <a:noAutofit/>
          </a:bodyPr>
          <a:lstStyle/>
          <a:p>
            <a:pPr algn="ctr"/>
            <a:r>
              <a:rPr sz="3400" b="1" i="0">
                <a:solidFill>
                  <a:srgbClr val="0A2240"/>
                </a:solidFill>
                <a:latin typeface="Arial"/>
              </a:rPr>
              <a:t>Score</a:t>
            </a:r>
          </a:p>
        </p:txBody>
      </p:sp>
      <p:sp>
        <p:nvSpPr>
          <p:cNvPr id="6" name="Rectangle 5"/>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01823"/>
            <a:ext cx="3291502" cy="936752"/>
          </a:xfrm>
          <a:prstGeom prst="rect">
            <a:avLst/>
          </a:prstGeom>
          <a:noFill/>
        </p:spPr>
        <p:txBody>
          <a:bodyPr wrap="none" lIns="0" rIns="0">
            <a:noAutofit/>
          </a:bodyPr>
          <a:lstStyle/>
          <a:p>
            <a:pPr algn="l"/>
            <a:r>
              <a:rPr sz="3400" b="1" i="0">
                <a:solidFill>
                  <a:srgbClr val="0A2240"/>
                </a:solidFill>
                <a:latin typeface="Arial"/>
              </a:rPr>
              <a:t>Unknown</a:t>
            </a:r>
          </a:p>
        </p:txBody>
      </p:sp>
      <p:sp>
        <p:nvSpPr>
          <p:cNvPr id="8" name="Rectangle 7"/>
          <p:cNvSpPr/>
          <p:nvPr/>
        </p:nvSpPr>
        <p:spPr>
          <a:xfrm>
            <a:off x="4568570" y="2401823"/>
            <a:ext cx="1073659"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8380" y="2401823"/>
            <a:ext cx="1374039" cy="518159"/>
          </a:xfrm>
          <a:prstGeom prst="rect">
            <a:avLst/>
          </a:prstGeom>
          <a:noFill/>
        </p:spPr>
        <p:txBody>
          <a:bodyPr wrap="none" lIns="0" rIns="0">
            <a:noAutofit/>
          </a:bodyPr>
          <a:lstStyle/>
          <a:p>
            <a:pPr algn="ctr"/>
            <a:r>
              <a:rPr sz="3400" b="1" i="0">
                <a:solidFill>
                  <a:srgbClr val="FFFFFF"/>
                </a:solidFill>
                <a:latin typeface="Arial"/>
              </a:rPr>
              <a:t>Yes</a:t>
            </a:r>
          </a:p>
        </p:txBody>
      </p:sp>
      <p:sp>
        <p:nvSpPr>
          <p:cNvPr id="10" name="TextBox 9"/>
          <p:cNvSpPr txBox="1"/>
          <p:nvPr/>
        </p:nvSpPr>
        <p:spPr>
          <a:xfrm>
            <a:off x="6595872" y="2401823"/>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1" name="TextBox 10"/>
          <p:cNvSpPr txBox="1"/>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2" name="TextBox 11"/>
          <p:cNvSpPr txBox="1"/>
          <p:nvPr/>
        </p:nvSpPr>
        <p:spPr>
          <a:xfrm>
            <a:off x="457200" y="3612895"/>
            <a:ext cx="3907830" cy="936752"/>
          </a:xfrm>
          <a:prstGeom prst="rect">
            <a:avLst/>
          </a:prstGeom>
          <a:noFill/>
        </p:spPr>
        <p:txBody>
          <a:bodyPr wrap="none" lIns="0" rIns="0">
            <a:noAutofit/>
          </a:bodyPr>
          <a:lstStyle/>
          <a:p>
            <a:pPr algn="l"/>
            <a:r>
              <a:rPr sz="3400" b="1" i="0">
                <a:solidFill>
                  <a:srgbClr val="0A2240"/>
                </a:solidFill>
                <a:latin typeface="Arial"/>
              </a:rPr>
              <a:t>Blocks rest</a:t>
            </a:r>
          </a:p>
        </p:txBody>
      </p:sp>
      <p:sp>
        <p:nvSpPr>
          <p:cNvPr id="13" name="TextBox 12"/>
          <p:cNvSpPr txBox="1"/>
          <p:nvPr/>
        </p:nvSpPr>
        <p:spPr>
          <a:xfrm>
            <a:off x="3889248" y="3612895"/>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4" name="TextBox 13"/>
          <p:cNvSpPr txBox="1"/>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5" name="TextBox 14"/>
          <p:cNvSpPr txBox="1"/>
          <p:nvPr/>
        </p:nvSpPr>
        <p:spPr>
          <a:xfrm>
            <a:off x="9302496" y="3612895"/>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6" name="TextBox 15"/>
          <p:cNvSpPr txBox="1"/>
          <p:nvPr/>
        </p:nvSpPr>
        <p:spPr>
          <a:xfrm>
            <a:off x="457200" y="4823967"/>
            <a:ext cx="3599160" cy="936752"/>
          </a:xfrm>
          <a:prstGeom prst="rect">
            <a:avLst/>
          </a:prstGeom>
          <a:noFill/>
        </p:spPr>
        <p:txBody>
          <a:bodyPr wrap="none" lIns="0" rIns="0">
            <a:noAutofit/>
          </a:bodyPr>
          <a:lstStyle/>
          <a:p>
            <a:pPr algn="l"/>
            <a:r>
              <a:rPr sz="3400" b="1" i="0">
                <a:solidFill>
                  <a:srgbClr val="0A2240"/>
                </a:solidFill>
                <a:latin typeface="Arial"/>
              </a:rPr>
              <a:t>Hard to fix</a:t>
            </a:r>
          </a:p>
        </p:txBody>
      </p:sp>
      <p:sp>
        <p:nvSpPr>
          <p:cNvPr id="17" name="TextBox 16"/>
          <p:cNvSpPr txBox="1"/>
          <p:nvPr/>
        </p:nvSpPr>
        <p:spPr>
          <a:xfrm>
            <a:off x="3889248" y="4823967"/>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8" name="TextBox 17"/>
          <p:cNvSpPr txBox="1"/>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9" name="TextBox 18"/>
          <p:cNvSpPr txBox="1"/>
          <p:nvPr/>
        </p:nvSpPr>
        <p:spPr>
          <a:xfrm>
            <a:off x="9302496" y="4823967"/>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20" name="TextBox 19"/>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the Risk Down</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Put it on the diagram</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Name the warning sign</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Say who is watching for it</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Done With This Session When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map runs input to output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is an Artifact with a link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Every box names what it needs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riskiest step has three failures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Leave With</a:t>
            </a:r>
          </a:p>
        </p:txBody>
      </p:sp>
      <p:sp>
        <p:nvSpPr>
          <p:cNvPr id="3" name="TextBox 2"/>
          <p:cNvSpPr txBo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a:t>
            </a:r>
          </a:p>
        </p:txBody>
      </p:sp>
      <p:sp>
        <p:nvSpPr>
          <p:cNvPr id="4" name="TextBox 3"/>
          <p:cNvSpPr txBox="1"/>
          <p:nvPr/>
        </p:nvSpPr>
        <p:spPr>
          <a:xfrm>
            <a:off x="457200" y="3965448"/>
            <a:ext cx="5098652" cy="518159"/>
          </a:xfrm>
          <a:prstGeom prst="rect">
            <a:avLst/>
          </a:prstGeom>
          <a:noFill/>
        </p:spPr>
        <p:txBody>
          <a:bodyPr wrap="none" lIns="0" rIns="0">
            <a:noAutofit/>
          </a:bodyPr>
          <a:lstStyle/>
          <a:p>
            <a:pPr algn="l"/>
            <a:r>
              <a:rPr sz="3400" b="0" i="0">
                <a:solidFill>
                  <a:srgbClr val="0A2240"/>
                </a:solidFill>
                <a:latin typeface="Arial"/>
              </a:rPr>
              <a:t>Shared diagram</a:t>
            </a:r>
          </a:p>
        </p:txBody>
      </p:sp>
      <p:sp>
        <p:nvSpPr>
          <p:cNvPr id="5" name="TextBox 4"/>
          <p:cNvSpPr txBox="1"/>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4</a:t>
            </a:r>
          </a:p>
        </p:txBody>
      </p:sp>
      <p:sp>
        <p:nvSpPr>
          <p:cNvPr id="6" name="TextBox 5"/>
          <p:cNvSpPr txBox="1"/>
          <p:nvPr/>
        </p:nvSpPr>
        <p:spPr>
          <a:xfrm>
            <a:off x="4307840" y="3965448"/>
            <a:ext cx="4408110" cy="518159"/>
          </a:xfrm>
          <a:prstGeom prst="rect">
            <a:avLst/>
          </a:prstGeom>
          <a:noFill/>
        </p:spPr>
        <p:txBody>
          <a:bodyPr wrap="none" lIns="0" rIns="0">
            <a:noAutofit/>
          </a:bodyPr>
          <a:lstStyle/>
          <a:p>
            <a:pPr algn="l"/>
            <a:r>
              <a:rPr sz="3400" b="0" i="0">
                <a:solidFill>
                  <a:srgbClr val="0A2240"/>
                </a:solidFill>
                <a:latin typeface="Arial"/>
              </a:rPr>
              <a:t>Kinds of need</a:t>
            </a:r>
          </a:p>
        </p:txBody>
      </p:sp>
      <p:sp>
        <p:nvSpPr>
          <p:cNvPr id="7" name="TextBox 6"/>
          <p:cNvSpPr txBox="1"/>
          <p:nvPr/>
        </p:nvSpPr>
        <p:spPr>
          <a:xfrm>
            <a:off x="8158480" y="2776728"/>
            <a:ext cx="3576320" cy="914400"/>
          </a:xfrm>
          <a:prstGeom prst="rect">
            <a:avLst/>
          </a:prstGeom>
          <a:noFill/>
        </p:spPr>
        <p:txBody>
          <a:bodyPr wrap="none" lIns="0" rIns="0">
            <a:noAutofit/>
          </a:bodyPr>
          <a:lstStyle/>
          <a:p>
            <a:pPr algn="l"/>
            <a:r>
              <a:rPr sz="6000" b="1" i="0">
                <a:solidFill>
                  <a:srgbClr val="0072CE"/>
                </a:solidFill>
                <a:latin typeface="Arial"/>
              </a:rPr>
              <a:t>3</a:t>
            </a:r>
          </a:p>
        </p:txBody>
      </p:sp>
      <p:sp>
        <p:nvSpPr>
          <p:cNvPr id="8" name="TextBox 7"/>
          <p:cNvSpPr txBox="1"/>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Named failures</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Next: Dividing the Work</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Give every step one owner</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Run workstreams in parallel</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Put the board in GitHub</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Which box comes last?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53</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