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1.2, Mapping the Workflow. We take the problem you sharpened last hour and turn it into a picture of how the solution actually runs.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fifty-five minutes, and you leave with one thing: a diagram of your workflow that your whole team can see and share.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this hour. We decompose the problem into steps, turn that map into an Artifact, name what each step needs, and finish by finding how the riskiest step fails.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question for your own problem. You can name your input and you can name your output. How do you actually get from one to the other?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hour you produced one precise sentence about what is wrong. This hour you draw the path that gets it solved.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moves to get there: break the problem into steps, draw them as an Artifact, annotate what each one needs, then stress the map to find where it breaks.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a stepwise path from raw input to delivered output, with no gaps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workflow is the ordered set of steps that carries you from raw input all the way to a delivered output. Both ends of that sentence matter as much as the middle.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step is one change, with a named input and a named output. If you cannot name both, it is not a step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step has three parts: an input, which is what arrives and the shape it arrives in; a transform, the one thing this step does; and an output, what leaves ready for the next step.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Decomposing is three moves. Name the output — what the user finally gets. Work backwards, asking what must exist before it. And stop at raw input, meaning whatever you actually receive.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output, because working forwards drifts toward whatever is easy. Backwards makes every step earn its place, and you spot the missing middle sooner.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Vague on the left, concrete on the right. “Process the data” becomes “parse CSV to records”; “use AI” becomes “Claude drafts a summary”.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step is the right size when one person could own it, you could test it on its own, and it fits in a morning.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 coarse is “build the pipeline” — it hides the hard part and cannot be assigned. Too fine is “open the file” — twenty trivial boxes, which is noise rather than a map.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prompt. Paste your 1.1 statement, ask it to work backwards from the output, list each step with its input and output, stop at the raw input you have, five to nine steps, no tools yet.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worked example: resume files arrive at intake, parse pulls text out of each file, score matches them against the role, and report produces a ranked list with gaps.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mistakes to watch for: starting after the messy part, one step quietly doing three things, no step for getting the data at all, and an output nobody ever defined.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 means one path start to end, easy to demo — that is what you pick for Day 2. Branching means cases split the path; it is harder to finish, so note it and defer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happy path is the one route through your map where nothing fails.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 it as one line through the map. Label every branch as later, and list your edge cases without building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gap in the map is a gap in Day 2. That is why the middle matters.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turning that list of steps into a picture the whole team can hold.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Claude Artifact is standalone content Claude builds for you, which you share by link.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described workflow lives in a transcript, each person pictures it differently, and it gets re-explained every time. A drawn one is one picture with one meaning, disagreement shows up fast, and you send it as a link.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Artifact gives you three things: you see the whole path at once, you revise it in seconds, and you share it with the whole team through one link.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Paste in your list from section one. Ask for a diagram — boxes and arrows, top down. Then fix it out loud until it matches what you meant.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that prompt. Paste the steps, ask for a flow diagram top to bottom, one box per step, and label every arrow with what passes between the steps.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must appear: raw input and where it enters, one box per step, what passes on each arrow, and the delivered output.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conventions: top to bottom reads fastest, one verb per box, and keep labels under five words.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Revise it together. Ask for the change out loud, re-read the new version as a group, and stop when nobody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pitfalls: a pretty diagram nobody rechecks, boxes with no arrow labels, and a link that never actually got shared.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map that lives in a chat scrolls away by noon. One that lives in your Project sits beside the problem statement, where you will find it again.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every box on that diagram gets annotated with what it actually needs to run.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kinds of need. Data, meaning something must be supplied. A tool — code, an API, or a model call. A routine, meaning it runs on a schedule. Or a human, where a person decides.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Annotate every box: at least one need per step, say which of the four it is, and mark the unknowns rather than skipping them.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Claude Routine is a prompt that Claude runs on a schedule, without anyone asking.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step is a routine when it repeats on a clock, when nobody should have to remember it, and when being late is worse than being imperfect.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one written out. Every weekday at eight: read new files in intake, score each against the role, append to the ranked sheet, and flag anything scoring low.</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human decision is a step where a person judges and the system waits for them.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human in the loop when being wrong is expensive, when the call needs context the system does not have, and when someone has to be accountable.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worked example, annotated. Intake needs data plus a routine. Parse needs a tool. Score needs a model call. And approving the list needs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riskiest step is the one whose failure would waste the most of your time.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it in three moves. Mark the boxes you cannot describe. Ask which one stalls everything after it. Then pick one — only one gets this attention.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prompt for that. Describe the step, ask for the three most likely ways it fails in practice, most likely first, each with its early warning sign, and no fixes yet.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usually fail in three places. The input arrives wrong or not at all. The transform works, but not on real data. Or access fails — the key, the quota, or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three things with those failures: build the warning sign in first, stub the step if it might not land, and give the risky box your best owner.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against three criteria. Intake is unknown, blocks the rest, and is hard to fix — it takes all three. Parse blocks the rest but is known. Score is unknown but blocks nothing.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risk down: put it on the diagram, name the warning sign, and say who is watching for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done when the map runs input to output, it is an Artifact with a link, every box names what it needs, and the riskiest step has three named failures.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leave with one shared diagram, four kinds of need annotated, and three named failures.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session we give every step one owner, run the workstreams in parallel, and put the board in GitHub.</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to take with you: which box comes last? If two people answer differently, your map is not finished.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Mapping the Workflow</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1 · Session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55</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0" y="4664964"/>
            <a:ext cx="12192000" cy="609600"/>
          </a:xfrm>
          <a:prstGeom prst="rect">
            <a:avLst/>
          </a:prstGeom>
          <a:noFill/>
        </p:spPr>
        <p:txBody>
          <a:bodyPr wrap="none" lIns="0" rIns="0">
            <a:noAutofit/>
          </a:bodyPr>
          <a:lstStyle/>
          <a:p>
            <a:pPr algn="ctr"/>
            <a:r>
              <a:rPr sz="3400" b="0" i="0">
                <a:solidFill>
                  <a:srgbClr val="5B6B82"/>
                </a:solidFill>
                <a:latin typeface="Arial"/>
              </a:rPr>
              <a:t>You leave with a diagram the team shares</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820400" cy="518159"/>
          </a:xfrm>
          <a:prstGeom prst="rect">
            <a:avLst/>
          </a:prstGeom>
          <a:noFill/>
        </p:spPr>
        <p:txBody>
          <a:bodyPr wrap="none" lIns="0" rIns="0">
            <a:noAutofit/>
          </a:bodyPr>
          <a:lstStyle/>
          <a:p>
            <a:pPr algn="l"/>
            <a:r>
              <a:rPr sz="3400" b="0" i="0">
                <a:solidFill>
                  <a:srgbClr val="0A2240"/>
                </a:solidFill>
                <a:latin typeface="Arial"/>
              </a:rPr>
              <a:t>Decomposing the problem into steps</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Turning the map into an Artifact</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Naming what each step needs</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Finding how the riskiest step fails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From input to output: how?</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1.1 to Now</a:t>
            </a:r>
          </a:p>
        </p:txBody>
      </p:sp>
      <p:sp>
        <p:nvSpPr>
          <p:cNvPr id="3" name="TextBox 2"/>
          <p:cNvSpPr txBox="1"/>
          <p:nvPr/>
        </p:nvSpPr>
        <p:spPr>
          <a:xfrm>
            <a:off x="323255" y="2776728"/>
            <a:ext cx="5060870" cy="914400"/>
          </a:xfrm>
          <a:prstGeom prst="rect">
            <a:avLst/>
          </a:prstGeom>
          <a:noFill/>
        </p:spPr>
        <p:txBody>
          <a:bodyPr wrap="none" lIns="0" rIns="0">
            <a:noAutofit/>
          </a:bodyPr>
          <a:lstStyle/>
          <a:p>
            <a:pPr algn="ctr"/>
            <a:r>
              <a:rPr sz="6000" b="1" i="0">
                <a:solidFill>
                  <a:srgbClr val="0A2240"/>
                </a:solidFill>
                <a:latin typeface="Arial"/>
              </a:rPr>
              <a:t>Problem</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One precise sentence</a:t>
            </a:r>
          </a:p>
        </p:txBody>
      </p:sp>
      <p:sp>
        <p:nvSpPr>
          <p:cNvPr id="5" name="TextBox 4"/>
          <p:cNvSpPr txBox="1"/>
          <p:nvPr/>
        </p:nvSpPr>
        <p:spPr>
          <a:xfrm>
            <a:off x="6514982" y="2776728"/>
            <a:ext cx="5646656" cy="914400"/>
          </a:xfrm>
          <a:prstGeom prst="rect">
            <a:avLst/>
          </a:prstGeom>
          <a:noFill/>
        </p:spPr>
        <p:txBody>
          <a:bodyPr wrap="none" lIns="0" rIns="0">
            <a:noAutofit/>
          </a:bodyPr>
          <a:lstStyle/>
          <a:p>
            <a:pPr algn="ctr"/>
            <a:r>
              <a:rPr sz="6000" b="1" i="0">
                <a:solidFill>
                  <a:srgbClr val="0A2240"/>
                </a:solidFill>
                <a:latin typeface="Arial"/>
              </a:rPr>
              <a:t>Workflow</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The path to solve it</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Break</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Split it into steps</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Draw</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Make it an Artifact</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3176468" cy="518159"/>
          </a:xfrm>
          <a:prstGeom prst="rect">
            <a:avLst/>
          </a:prstGeom>
          <a:noFill/>
        </p:spPr>
        <p:txBody>
          <a:bodyPr wrap="none" lIns="0" rIns="0">
            <a:noAutofit/>
          </a:bodyPr>
          <a:lstStyle/>
          <a:p>
            <a:pPr algn="l"/>
            <a:r>
              <a:rPr sz="3400" b="1" i="0">
                <a:solidFill>
                  <a:srgbClr val="123A6B"/>
                </a:solidFill>
                <a:latin typeface="Arial"/>
              </a:rPr>
              <a:t>Annotate</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Name what each needs</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Stress</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Find how it breaks</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Decompose Into Steps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Workflow</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Ordered steps from raw input to delivered output.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Step</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One change, with a named input and output.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330523" cy="768096"/>
          </a:xfrm>
          <a:prstGeom prst="rect">
            <a:avLst/>
          </a:prstGeom>
          <a:noFill/>
        </p:spPr>
        <p:txBody>
          <a:bodyPr wrap="none" lIns="0" rIns="0">
            <a:noAutofit/>
          </a:bodyPr>
          <a:lstStyle/>
          <a:p>
            <a:pPr algn="l"/>
            <a:r>
              <a:rPr sz="4200" b="1" i="0">
                <a:solidFill>
                  <a:srgbClr val="0072CE"/>
                </a:solidFill>
                <a:latin typeface="Arial"/>
              </a:rPr>
              <a:t>Every Step Has Three Parts</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Input</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What arrives, and its shape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Transform</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The one thing this step does</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Output</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What leaves, ready for next</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to Decompose</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Name the output</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What the user finally gets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Work backwards</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What must exist before it</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Stop at raw input</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What you actually receive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Start From the Output</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Forward drifts toward what is easy</a:t>
            </a:r>
          </a:p>
        </p:txBody>
      </p:sp>
      <p:sp>
        <p:nvSpPr>
          <p:cNvPr id="4" name="TextBox 3"/>
          <p:cNvSpPr txBox="1"/>
          <p:nvPr/>
        </p:nvSpPr>
        <p:spPr>
          <a:xfrm>
            <a:off x="457200" y="3371088"/>
            <a:ext cx="11473100" cy="518159"/>
          </a:xfrm>
          <a:prstGeom prst="rect">
            <a:avLst/>
          </a:prstGeom>
          <a:noFill/>
        </p:spPr>
        <p:txBody>
          <a:bodyPr wrap="none" lIns="0" rIns="0">
            <a:noAutofit/>
          </a:bodyPr>
          <a:lstStyle/>
          <a:p>
            <a:pPr algn="l"/>
            <a:r>
              <a:rPr sz="3400" b="0" i="0">
                <a:solidFill>
                  <a:srgbClr val="0A2240"/>
                </a:solidFill>
                <a:latin typeface="Arial"/>
              </a:rPr>
              <a:t>Backwards keeps every step earning</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You spot the missing middle sooner</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Vague Step, Concrete Step</a:t>
            </a:r>
          </a:p>
        </p:txBody>
      </p:sp>
      <p:sp>
        <p:nvSpPr>
          <p:cNvPr id="3" name="TextBox 2"/>
          <p:cNvSpPr txBox="1"/>
          <p:nvPr/>
        </p:nvSpPr>
        <p:spPr>
          <a:xfrm>
            <a:off x="457200" y="1499616"/>
            <a:ext cx="3606158" cy="518159"/>
          </a:xfrm>
          <a:prstGeom prst="rect">
            <a:avLst/>
          </a:prstGeom>
          <a:noFill/>
        </p:spPr>
        <p:txBody>
          <a:bodyPr wrap="none" lIns="0" rIns="0">
            <a:noAutofit/>
          </a:bodyPr>
          <a:lstStyle/>
          <a:p>
            <a:pPr algn="l"/>
            <a:r>
              <a:rPr sz="3400" b="1" i="0">
                <a:solidFill>
                  <a:srgbClr val="123A6B"/>
                </a:solidFill>
                <a:latin typeface="Arial"/>
              </a:rPr>
              <a:t>Vague</a:t>
            </a:r>
          </a:p>
        </p:txBody>
      </p:sp>
      <p:sp>
        <p:nvSpPr>
          <p:cNvPr id="4" name="TextBox 3"/>
          <p:cNvSpPr txBox="1"/>
          <p:nvPr/>
        </p:nvSpPr>
        <p:spPr>
          <a:xfrm>
            <a:off x="4611998" y="1499616"/>
            <a:ext cx="5189354" cy="518159"/>
          </a:xfrm>
          <a:prstGeom prst="rect">
            <a:avLst/>
          </a:prstGeom>
          <a:noFill/>
        </p:spPr>
        <p:txBody>
          <a:bodyPr wrap="none" lIns="0" rIns="0">
            <a:noAutofit/>
          </a:bodyPr>
          <a:lstStyle/>
          <a:p>
            <a:pPr algn="l"/>
            <a:r>
              <a:rPr sz="3400" b="1" i="0">
                <a:solidFill>
                  <a:srgbClr val="123A6B"/>
                </a:solidFill>
                <a:latin typeface="Arial"/>
              </a:rPr>
              <a:t>Concrete</a:t>
            </a:r>
          </a:p>
        </p:txBody>
      </p:sp>
      <p:sp>
        <p:nvSpPr>
          <p:cNvPr id="5" name="Rectangle 4"/>
          <p:cNvSpPr/>
          <p:nvPr/>
        </p:nvSpPr>
        <p:spPr>
          <a:xfrm>
            <a:off x="457200" y="2072639"/>
            <a:ext cx="934415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367516" cy="633984"/>
          </a:xfrm>
          <a:prstGeom prst="rect">
            <a:avLst/>
          </a:prstGeom>
          <a:noFill/>
        </p:spPr>
        <p:txBody>
          <a:bodyPr wrap="none" lIns="0" rIns="0">
            <a:noAutofit/>
          </a:bodyPr>
          <a:lstStyle/>
          <a:p>
            <a:pPr algn="l"/>
            <a:r>
              <a:rPr sz="3400" b="0" i="0">
                <a:solidFill>
                  <a:srgbClr val="0A2240"/>
                </a:solidFill>
                <a:latin typeface="Arial"/>
              </a:rPr>
              <a:t>Process the data</a:t>
            </a:r>
          </a:p>
        </p:txBody>
      </p:sp>
      <p:sp>
        <p:nvSpPr>
          <p:cNvPr id="7" name="TextBox 6"/>
          <p:cNvSpPr txBox="1"/>
          <p:nvPr/>
        </p:nvSpPr>
        <p:spPr>
          <a:xfrm>
            <a:off x="4611998" y="2401823"/>
            <a:ext cx="6863972" cy="633984"/>
          </a:xfrm>
          <a:prstGeom prst="rect">
            <a:avLst/>
          </a:prstGeom>
          <a:noFill/>
        </p:spPr>
        <p:txBody>
          <a:bodyPr wrap="none" lIns="0" rIns="0">
            <a:noAutofit/>
          </a:bodyPr>
          <a:lstStyle/>
          <a:p>
            <a:pPr algn="l"/>
            <a:r>
              <a:rPr sz="3400" b="0" i="0">
                <a:solidFill>
                  <a:srgbClr val="0A2240"/>
                </a:solidFill>
                <a:latin typeface="Arial"/>
              </a:rPr>
              <a:t>Parse CSV to records</a:t>
            </a:r>
          </a:p>
        </p:txBody>
      </p:sp>
      <p:sp>
        <p:nvSpPr>
          <p:cNvPr id="8" name="TextBox 7"/>
          <p:cNvSpPr txBox="1"/>
          <p:nvPr/>
        </p:nvSpPr>
        <p:spPr>
          <a:xfrm>
            <a:off x="457200" y="3310127"/>
            <a:ext cx="3606158" cy="633984"/>
          </a:xfrm>
          <a:prstGeom prst="rect">
            <a:avLst/>
          </a:prstGeom>
          <a:noFill/>
        </p:spPr>
        <p:txBody>
          <a:bodyPr wrap="none" lIns="0" rIns="0">
            <a:noAutofit/>
          </a:bodyPr>
          <a:lstStyle/>
          <a:p>
            <a:pPr algn="l"/>
            <a:r>
              <a:rPr sz="3400" b="0" i="0">
                <a:solidFill>
                  <a:srgbClr val="0A2240"/>
                </a:solidFill>
                <a:latin typeface="Arial"/>
              </a:rPr>
              <a:t>Analyze it</a:t>
            </a:r>
          </a:p>
        </p:txBody>
      </p:sp>
      <p:sp>
        <p:nvSpPr>
          <p:cNvPr id="9" name="TextBox 8"/>
          <p:cNvSpPr txBox="1"/>
          <p:nvPr/>
        </p:nvSpPr>
        <p:spPr>
          <a:xfrm>
            <a:off x="4611998" y="3310127"/>
            <a:ext cx="6903441" cy="633984"/>
          </a:xfrm>
          <a:prstGeom prst="rect">
            <a:avLst/>
          </a:prstGeom>
          <a:noFill/>
        </p:spPr>
        <p:txBody>
          <a:bodyPr wrap="none" lIns="0" rIns="0">
            <a:noAutofit/>
          </a:bodyPr>
          <a:lstStyle/>
          <a:p>
            <a:pPr algn="l"/>
            <a:r>
              <a:rPr sz="3400" b="0" i="0">
                <a:solidFill>
                  <a:srgbClr val="0A2240"/>
                </a:solidFill>
                <a:latin typeface="Arial"/>
              </a:rPr>
              <a:t>Score each row 0 to 1</a:t>
            </a:r>
          </a:p>
        </p:txBody>
      </p:sp>
      <p:sp>
        <p:nvSpPr>
          <p:cNvPr id="10" name="TextBox 9"/>
          <p:cNvSpPr txBox="1"/>
          <p:nvPr/>
        </p:nvSpPr>
        <p:spPr>
          <a:xfrm>
            <a:off x="457200" y="4218431"/>
            <a:ext cx="3606158" cy="633984"/>
          </a:xfrm>
          <a:prstGeom prst="rect">
            <a:avLst/>
          </a:prstGeom>
          <a:noFill/>
        </p:spPr>
        <p:txBody>
          <a:bodyPr wrap="none" lIns="0" rIns="0">
            <a:noAutofit/>
          </a:bodyPr>
          <a:lstStyle/>
          <a:p>
            <a:pPr algn="l"/>
            <a:r>
              <a:rPr sz="3400" b="0" i="0">
                <a:solidFill>
                  <a:srgbClr val="0A2240"/>
                </a:solidFill>
                <a:latin typeface="Arial"/>
              </a:rPr>
              <a:t>Use AI</a:t>
            </a:r>
          </a:p>
        </p:txBody>
      </p:sp>
      <p:sp>
        <p:nvSpPr>
          <p:cNvPr id="11" name="TextBox 10"/>
          <p:cNvSpPr txBox="1"/>
          <p:nvPr/>
        </p:nvSpPr>
        <p:spPr>
          <a:xfrm>
            <a:off x="4611998" y="4218431"/>
            <a:ext cx="7580002" cy="633984"/>
          </a:xfrm>
          <a:prstGeom prst="rect">
            <a:avLst/>
          </a:prstGeom>
          <a:noFill/>
        </p:spPr>
        <p:txBody>
          <a:bodyPr wrap="none" lIns="0" rIns="0">
            <a:noAutofit/>
          </a:bodyPr>
          <a:lstStyle/>
          <a:p>
            <a:pPr algn="l"/>
            <a:r>
              <a:rPr sz="3400" b="0" i="0">
                <a:solidFill>
                  <a:srgbClr val="0A2240"/>
                </a:solidFill>
                <a:latin typeface="Arial"/>
              </a:rPr>
              <a:t>Claude drafts a summary</a:t>
            </a:r>
          </a:p>
        </p:txBody>
      </p:sp>
      <p:sp>
        <p:nvSpPr>
          <p:cNvPr id="12" name="TextBox 11"/>
          <p:cNvSpPr txBox="1"/>
          <p:nvPr/>
        </p:nvSpPr>
        <p:spPr>
          <a:xfrm>
            <a:off x="457200" y="5126735"/>
            <a:ext cx="4137897" cy="633984"/>
          </a:xfrm>
          <a:prstGeom prst="rect">
            <a:avLst/>
          </a:prstGeom>
          <a:noFill/>
        </p:spPr>
        <p:txBody>
          <a:bodyPr wrap="none" lIns="0" rIns="0">
            <a:noAutofit/>
          </a:bodyPr>
          <a:lstStyle/>
          <a:p>
            <a:pPr algn="l"/>
            <a:r>
              <a:rPr sz="3400" b="0" i="0">
                <a:solidFill>
                  <a:srgbClr val="0A2240"/>
                </a:solidFill>
                <a:latin typeface="Arial"/>
              </a:rPr>
              <a:t>Show results</a:t>
            </a:r>
          </a:p>
        </p:txBody>
      </p:sp>
      <p:sp>
        <p:nvSpPr>
          <p:cNvPr id="13" name="TextBox 12"/>
          <p:cNvSpPr txBox="1"/>
          <p:nvPr/>
        </p:nvSpPr>
        <p:spPr>
          <a:xfrm>
            <a:off x="4611998" y="5126735"/>
            <a:ext cx="7019488" cy="633984"/>
          </a:xfrm>
          <a:prstGeom prst="rect">
            <a:avLst/>
          </a:prstGeom>
          <a:noFill/>
        </p:spPr>
        <p:txBody>
          <a:bodyPr wrap="none" lIns="0" rIns="0">
            <a:noAutofit/>
          </a:bodyPr>
          <a:lstStyle/>
          <a:p>
            <a:pPr algn="l"/>
            <a:r>
              <a:rPr sz="3400" b="0" i="0">
                <a:solidFill>
                  <a:srgbClr val="0A2240"/>
                </a:solidFill>
                <a:latin typeface="Arial"/>
              </a:rPr>
              <a:t>Render a ranked table</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Granularity Test</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One person could own it</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You could test it alone</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It fits in a morning</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Too Coarse, Too Fine</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Too coarse</a:t>
            </a:r>
          </a:p>
        </p:txBody>
      </p:sp>
      <p:sp>
        <p:nvSpPr>
          <p:cNvPr id="4" name="TextBox 3"/>
          <p:cNvSpPr txBox="1"/>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Too fine</a:t>
            </a:r>
          </a:p>
        </p:txBody>
      </p:sp>
      <p:sp>
        <p:nvSpPr>
          <p:cNvPr id="5" name="TextBox 4"/>
          <p:cNvSpPr txBox="1"/>
          <p:nvPr/>
        </p:nvSpPr>
        <p:spPr>
          <a:xfrm>
            <a:off x="457200" y="2395727"/>
            <a:ext cx="5501640" cy="847344"/>
          </a:xfrm>
          <a:prstGeom prst="rect">
            <a:avLst/>
          </a:prstGeom>
          <a:noFill/>
        </p:spPr>
        <p:txBody>
          <a:bodyPr wrap="none" lIns="0" rIns="0">
            <a:noAutofit/>
          </a:bodyPr>
          <a:lstStyle/>
          <a:p>
            <a:pPr algn="l"/>
            <a:r>
              <a:rPr sz="3400" b="0" i="0">
                <a:solidFill>
                  <a:srgbClr val="0A2240"/>
                </a:solidFill>
                <a:latin typeface="Arial"/>
              </a:rPr>
              <a:t>Build the pipeline</a:t>
            </a:r>
          </a:p>
        </p:txBody>
      </p:sp>
      <p:sp>
        <p:nvSpPr>
          <p:cNvPr id="6" name="TextBox 5"/>
          <p:cNvSpPr txBox="1"/>
          <p:nvPr/>
        </p:nvSpPr>
        <p:spPr>
          <a:xfrm>
            <a:off x="6233160" y="2395727"/>
            <a:ext cx="5501640" cy="847344"/>
          </a:xfrm>
          <a:prstGeom prst="rect">
            <a:avLst/>
          </a:prstGeom>
          <a:noFill/>
        </p:spPr>
        <p:txBody>
          <a:bodyPr wrap="none" lIns="0" rIns="0">
            <a:noAutofit/>
          </a:bodyPr>
          <a:lstStyle/>
          <a:p>
            <a:pPr algn="l"/>
            <a:r>
              <a:rPr sz="3400" b="0" i="0">
                <a:solidFill>
                  <a:srgbClr val="0A2240"/>
                </a:solidFill>
                <a:latin typeface="Arial"/>
              </a:rPr>
              <a:t>Open the file</a:t>
            </a:r>
          </a:p>
        </p:txBody>
      </p:sp>
      <p:sp>
        <p:nvSpPr>
          <p:cNvPr id="7" name="TextBox 6"/>
          <p:cNvSpPr txBox="1"/>
          <p:nvPr/>
        </p:nvSpPr>
        <p:spPr>
          <a:xfrm>
            <a:off x="457200" y="3517391"/>
            <a:ext cx="6058732" cy="847344"/>
          </a:xfrm>
          <a:prstGeom prst="rect">
            <a:avLst/>
          </a:prstGeom>
          <a:noFill/>
        </p:spPr>
        <p:txBody>
          <a:bodyPr wrap="none" lIns="0" rIns="0">
            <a:noAutofit/>
          </a:bodyPr>
          <a:lstStyle/>
          <a:p>
            <a:pPr algn="l"/>
            <a:r>
              <a:rPr sz="3400" b="0" i="0">
                <a:solidFill>
                  <a:srgbClr val="0A2240"/>
                </a:solidFill>
                <a:latin typeface="Arial"/>
              </a:rPr>
              <a:t>Hides the hard part</a:t>
            </a:r>
          </a:p>
        </p:txBody>
      </p:sp>
      <p:sp>
        <p:nvSpPr>
          <p:cNvPr id="8" name="TextBox 7"/>
          <p:cNvSpPr txBox="1"/>
          <p:nvPr/>
        </p:nvSpPr>
        <p:spPr>
          <a:xfrm>
            <a:off x="6233160" y="3517391"/>
            <a:ext cx="5958840" cy="847344"/>
          </a:xfrm>
          <a:prstGeom prst="rect">
            <a:avLst/>
          </a:prstGeom>
          <a:noFill/>
        </p:spPr>
        <p:txBody>
          <a:bodyPr wrap="none" lIns="0" rIns="0">
            <a:noAutofit/>
          </a:bodyPr>
          <a:lstStyle/>
          <a:p>
            <a:pPr algn="l"/>
            <a:r>
              <a:rPr sz="3400" b="0" i="0">
                <a:solidFill>
                  <a:srgbClr val="0A2240"/>
                </a:solidFill>
                <a:latin typeface="Arial"/>
              </a:rPr>
              <a:t>Twenty trivial boxes</a:t>
            </a:r>
          </a:p>
        </p:txBody>
      </p:sp>
      <p:sp>
        <p:nvSpPr>
          <p:cNvPr id="9" name="TextBox 8"/>
          <p:cNvSpPr txBox="1"/>
          <p:nvPr/>
        </p:nvSpPr>
        <p:spPr>
          <a:xfrm>
            <a:off x="457200" y="4639055"/>
            <a:ext cx="6328608" cy="847344"/>
          </a:xfrm>
          <a:prstGeom prst="rect">
            <a:avLst/>
          </a:prstGeom>
          <a:noFill/>
        </p:spPr>
        <p:txBody>
          <a:bodyPr wrap="none" lIns="0" rIns="0">
            <a:noAutofit/>
          </a:bodyPr>
          <a:lstStyle/>
          <a:p>
            <a:pPr algn="l"/>
            <a:r>
              <a:rPr sz="3400" b="0" i="0">
                <a:solidFill>
                  <a:srgbClr val="0A2240"/>
                </a:solidFill>
                <a:latin typeface="Arial"/>
              </a:rPr>
              <a:t>Cannot be assigned</a:t>
            </a:r>
          </a:p>
        </p:txBody>
      </p:sp>
      <p:sp>
        <p:nvSpPr>
          <p:cNvPr id="10" name="TextBox 9"/>
          <p:cNvSpPr txBox="1"/>
          <p:nvPr/>
        </p:nvSpPr>
        <p:spPr>
          <a:xfrm>
            <a:off x="6233160" y="4639055"/>
            <a:ext cx="5501640" cy="847344"/>
          </a:xfrm>
          <a:prstGeom prst="rect">
            <a:avLst/>
          </a:prstGeom>
          <a:noFill/>
        </p:spPr>
        <p:txBody>
          <a:bodyPr wrap="none" lIns="0" rIns="0">
            <a:noAutofit/>
          </a:bodyPr>
          <a:lstStyle/>
          <a:p>
            <a:pPr algn="l"/>
            <a:r>
              <a:rPr sz="3400" b="0" i="0">
                <a:solidFill>
                  <a:srgbClr val="0A2240"/>
                </a:solidFill>
                <a:latin typeface="Arial"/>
              </a:rPr>
              <a:t>Noise, not a map</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Prompt to Decompose</a:t>
            </a:r>
          </a:p>
        </p:txBody>
      </p:sp>
      <p:sp>
        <p:nvSpPr>
          <p:cNvPr id="6" name="TextBox 5"/>
          <p:cNvSpPr txBox="1"/>
          <p:nvPr/>
        </p:nvSpPr>
        <p:spPr>
          <a:xfrm>
            <a:off x="457200" y="1837944"/>
            <a:ext cx="4214475" cy="518159"/>
          </a:xfrm>
          <a:prstGeom prst="rect">
            <a:avLst/>
          </a:prstGeom>
          <a:noFill/>
        </p:spPr>
        <p:txBody>
          <a:bodyPr wrap="none" lIns="0" rIns="0">
            <a:noAutofit/>
          </a:bodyPr>
          <a:lstStyle/>
          <a:p>
            <a:pPr algn="l"/>
            <a:r>
              <a:rPr sz="3400" b="0" i="0">
                <a:solidFill>
                  <a:srgbClr val="D4D4D4"/>
                </a:solidFill>
                <a:latin typeface="Arial"/>
              </a:rPr>
              <a:t>Our problem:</a:t>
            </a:r>
          </a:p>
        </p:txBody>
      </p:sp>
      <p:sp>
        <p:nvSpPr>
          <p:cNvPr id="7" name="TextBox 6"/>
          <p:cNvSpPr txBox="1"/>
          <p:nvPr/>
        </p:nvSpPr>
        <p:spPr>
          <a:xfrm>
            <a:off x="457200" y="2356103"/>
            <a:ext cx="8700809" cy="518159"/>
          </a:xfrm>
          <a:prstGeom prst="rect">
            <a:avLst/>
          </a:prstGeom>
          <a:noFill/>
        </p:spPr>
        <p:txBody>
          <a:bodyPr wrap="none" lIns="0" rIns="0">
            <a:noAutofit/>
          </a:bodyPr>
          <a:lstStyle/>
          <a:p>
            <a:pPr algn="l"/>
            <a:r>
              <a:rPr sz="3400" b="0" i="0">
                <a:solidFill>
                  <a:srgbClr val="CE9178"/>
                </a:solidFill>
                <a:latin typeface="Arial"/>
              </a:rPr>
              <a:t>"&lt;paste the 1.1 statement&gt;"</a:t>
            </a:r>
          </a:p>
        </p:txBody>
      </p:sp>
      <p:sp>
        <p:nvSpPr>
          <p:cNvPr id="8" name="TextBox 7"/>
          <p:cNvSpPr txBox="1"/>
          <p:nvPr/>
        </p:nvSpPr>
        <p:spPr>
          <a:xfrm>
            <a:off x="457200" y="3392421"/>
            <a:ext cx="6593424" cy="518159"/>
          </a:xfrm>
          <a:prstGeom prst="rect">
            <a:avLst/>
          </a:prstGeom>
          <a:noFill/>
        </p:spPr>
        <p:txBody>
          <a:bodyPr wrap="none" lIns="0" rIns="0">
            <a:noAutofit/>
          </a:bodyPr>
          <a:lstStyle/>
          <a:p>
            <a:pPr algn="l"/>
            <a:r>
              <a:rPr sz="3400" b="0" i="0">
                <a:solidFill>
                  <a:srgbClr val="D4D4D4"/>
                </a:solidFill>
                <a:latin typeface="Arial"/>
              </a:rPr>
              <a:t>Work BACKWARDS </a:t>
            </a:r>
          </a:p>
        </p:txBody>
      </p:sp>
      <p:sp>
        <p:nvSpPr>
          <p:cNvPr id="9" name="TextBox 8"/>
          <p:cNvSpPr txBox="1"/>
          <p:nvPr/>
        </p:nvSpPr>
        <p:spPr>
          <a:xfrm>
            <a:off x="4463790" y="3392421"/>
            <a:ext cx="1564640" cy="518159"/>
          </a:xfrm>
          <a:prstGeom prst="rect">
            <a:avLst/>
          </a:prstGeom>
          <a:noFill/>
        </p:spPr>
        <p:txBody>
          <a:bodyPr wrap="none" lIns="0" rIns="0">
            <a:noAutofit/>
          </a:bodyPr>
          <a:lstStyle/>
          <a:p>
            <a:pPr algn="l"/>
            <a:r>
              <a:rPr sz="3400" b="0" i="0">
                <a:solidFill>
                  <a:srgbClr val="569CD6"/>
                </a:solidFill>
                <a:latin typeface="Arial"/>
              </a:rPr>
              <a:t>from</a:t>
            </a:r>
          </a:p>
        </p:txBody>
      </p:sp>
      <p:sp>
        <p:nvSpPr>
          <p:cNvPr id="10" name="TextBox 9"/>
          <p:cNvSpPr txBox="1"/>
          <p:nvPr/>
        </p:nvSpPr>
        <p:spPr>
          <a:xfrm>
            <a:off x="5327390" y="3392421"/>
            <a:ext cx="3639979" cy="518159"/>
          </a:xfrm>
          <a:prstGeom prst="rect">
            <a:avLst/>
          </a:prstGeom>
          <a:noFill/>
        </p:spPr>
        <p:txBody>
          <a:bodyPr wrap="none" lIns="0" rIns="0">
            <a:noAutofit/>
          </a:bodyPr>
          <a:lstStyle/>
          <a:p>
            <a:pPr algn="l"/>
            <a:r>
              <a:rPr sz="3400" b="0" i="0">
                <a:solidFill>
                  <a:srgbClr val="D4D4D4"/>
                </a:solidFill>
                <a:latin typeface="Arial"/>
              </a:rPr>
              <a:t> the output.</a:t>
            </a:r>
          </a:p>
        </p:txBody>
      </p:sp>
      <p:sp>
        <p:nvSpPr>
          <p:cNvPr id="11" name="TextBox 10"/>
          <p:cNvSpPr txBox="1"/>
          <p:nvPr/>
        </p:nvSpPr>
        <p:spPr>
          <a:xfrm>
            <a:off x="457200" y="3910580"/>
            <a:ext cx="6327596" cy="518159"/>
          </a:xfrm>
          <a:prstGeom prst="rect">
            <a:avLst/>
          </a:prstGeom>
          <a:noFill/>
        </p:spPr>
        <p:txBody>
          <a:bodyPr wrap="none" lIns="0" rIns="0">
            <a:noAutofit/>
          </a:bodyPr>
          <a:lstStyle/>
          <a:p>
            <a:pPr algn="l"/>
            <a:r>
              <a:rPr sz="3400" b="0" i="0">
                <a:solidFill>
                  <a:srgbClr val="D4D4D4"/>
                </a:solidFill>
                <a:latin typeface="Arial"/>
              </a:rPr>
              <a:t>List the steps, each </a:t>
            </a:r>
          </a:p>
        </p:txBody>
      </p:sp>
      <p:sp>
        <p:nvSpPr>
          <p:cNvPr id="12" name="TextBox 11"/>
          <p:cNvSpPr txBox="1"/>
          <p:nvPr/>
        </p:nvSpPr>
        <p:spPr>
          <a:xfrm>
            <a:off x="4297648" y="3910580"/>
            <a:ext cx="1411486" cy="518159"/>
          </a:xfrm>
          <a:prstGeom prst="rect">
            <a:avLst/>
          </a:prstGeom>
          <a:noFill/>
        </p:spPr>
        <p:txBody>
          <a:bodyPr wrap="none" lIns="0" rIns="0">
            <a:noAutofit/>
          </a:bodyPr>
          <a:lstStyle/>
          <a:p>
            <a:pPr algn="l"/>
            <a:r>
              <a:rPr sz="3400" b="0" i="0">
                <a:solidFill>
                  <a:srgbClr val="C586C0"/>
                </a:solidFill>
                <a:latin typeface="Arial"/>
              </a:rPr>
              <a:t>with</a:t>
            </a:r>
          </a:p>
        </p:txBody>
      </p:sp>
      <p:sp>
        <p:nvSpPr>
          <p:cNvPr id="13" name="TextBox 12"/>
          <p:cNvSpPr txBox="1"/>
          <p:nvPr/>
        </p:nvSpPr>
        <p:spPr>
          <a:xfrm>
            <a:off x="5065526" y="3910580"/>
            <a:ext cx="1065708" cy="518159"/>
          </a:xfrm>
          <a:prstGeom prst="rect">
            <a:avLst/>
          </a:prstGeom>
          <a:noFill/>
        </p:spPr>
        <p:txBody>
          <a:bodyPr wrap="none" lIns="0" rIns="0">
            <a:noAutofit/>
          </a:bodyPr>
          <a:lstStyle/>
          <a:p>
            <a:pPr algn="l"/>
            <a:r>
              <a:rPr sz="3400" b="0" i="0">
                <a:solidFill>
                  <a:srgbClr val="D4D4D4"/>
                </a:solidFill>
                <a:latin typeface="Arial"/>
              </a:rPr>
              <a:t> its</a:t>
            </a:r>
          </a:p>
        </p:txBody>
      </p:sp>
      <p:sp>
        <p:nvSpPr>
          <p:cNvPr id="14" name="TextBox 13"/>
          <p:cNvSpPr txBox="1"/>
          <p:nvPr/>
        </p:nvSpPr>
        <p:spPr>
          <a:xfrm>
            <a:off x="457200" y="4428739"/>
            <a:ext cx="1872972" cy="518159"/>
          </a:xfrm>
          <a:prstGeom prst="rect">
            <a:avLst/>
          </a:prstGeom>
          <a:noFill/>
        </p:spPr>
        <p:txBody>
          <a:bodyPr wrap="none" lIns="0" rIns="0">
            <a:noAutofit/>
          </a:bodyPr>
          <a:lstStyle/>
          <a:p>
            <a:pPr algn="l"/>
            <a:r>
              <a:rPr sz="3400" b="0" i="0">
                <a:solidFill>
                  <a:srgbClr val="D4D4D4"/>
                </a:solidFill>
                <a:latin typeface="Arial"/>
              </a:rPr>
              <a:t>input </a:t>
            </a:r>
          </a:p>
        </p:txBody>
      </p:sp>
      <p:sp>
        <p:nvSpPr>
          <p:cNvPr id="15" name="TextBox 14"/>
          <p:cNvSpPr txBox="1"/>
          <p:nvPr/>
        </p:nvSpPr>
        <p:spPr>
          <a:xfrm>
            <a:off x="1513508" y="4428739"/>
            <a:ext cx="1335584" cy="518159"/>
          </a:xfrm>
          <a:prstGeom prst="rect">
            <a:avLst/>
          </a:prstGeom>
          <a:noFill/>
        </p:spPr>
        <p:txBody>
          <a:bodyPr wrap="none" lIns="0" rIns="0">
            <a:noAutofit/>
          </a:bodyPr>
          <a:lstStyle/>
          <a:p>
            <a:pPr algn="l"/>
            <a:r>
              <a:rPr sz="3400" b="0" i="0">
                <a:solidFill>
                  <a:srgbClr val="569CD6"/>
                </a:solidFill>
                <a:latin typeface="Arial"/>
              </a:rPr>
              <a:t>and</a:t>
            </a:r>
          </a:p>
        </p:txBody>
      </p:sp>
      <p:sp>
        <p:nvSpPr>
          <p:cNvPr id="16" name="TextBox 15"/>
          <p:cNvSpPr txBox="1"/>
          <p:nvPr/>
        </p:nvSpPr>
        <p:spPr>
          <a:xfrm>
            <a:off x="2233947" y="4428739"/>
            <a:ext cx="2487612" cy="518159"/>
          </a:xfrm>
          <a:prstGeom prst="rect">
            <a:avLst/>
          </a:prstGeom>
          <a:noFill/>
        </p:spPr>
        <p:txBody>
          <a:bodyPr wrap="none" lIns="0" rIns="0">
            <a:noAutofit/>
          </a:bodyPr>
          <a:lstStyle/>
          <a:p>
            <a:pPr algn="l"/>
            <a:r>
              <a:rPr sz="3400" b="0" i="0">
                <a:solidFill>
                  <a:srgbClr val="D4D4D4"/>
                </a:solidFill>
                <a:latin typeface="Arial"/>
              </a:rPr>
              <a:t> output.</a:t>
            </a:r>
          </a:p>
        </p:txBody>
      </p:sp>
      <p:sp>
        <p:nvSpPr>
          <p:cNvPr id="17" name="TextBox 16"/>
          <p:cNvSpPr txBox="1"/>
          <p:nvPr/>
        </p:nvSpPr>
        <p:spPr>
          <a:xfrm>
            <a:off x="457200" y="4946898"/>
            <a:ext cx="9477038" cy="518159"/>
          </a:xfrm>
          <a:prstGeom prst="rect">
            <a:avLst/>
          </a:prstGeom>
          <a:noFill/>
        </p:spPr>
        <p:txBody>
          <a:bodyPr wrap="none" lIns="0" rIns="0">
            <a:noAutofit/>
          </a:bodyPr>
          <a:lstStyle/>
          <a:p>
            <a:pPr algn="l"/>
            <a:r>
              <a:rPr sz="3400" b="0" i="0">
                <a:solidFill>
                  <a:srgbClr val="D4D4D4"/>
                </a:solidFill>
                <a:latin typeface="Arial"/>
              </a:rPr>
              <a:t>Stop at the raw input we have.</a:t>
            </a:r>
          </a:p>
        </p:txBody>
      </p:sp>
      <p:sp>
        <p:nvSpPr>
          <p:cNvPr id="18" name="TextBox 17"/>
          <p:cNvSpPr txBox="1"/>
          <p:nvPr/>
        </p:nvSpPr>
        <p:spPr>
          <a:xfrm>
            <a:off x="457200" y="5465057"/>
            <a:ext cx="567115" cy="518159"/>
          </a:xfrm>
          <a:prstGeom prst="rect">
            <a:avLst/>
          </a:prstGeom>
          <a:noFill/>
        </p:spPr>
        <p:txBody>
          <a:bodyPr wrap="none" lIns="0" rIns="0">
            <a:noAutofit/>
          </a:bodyPr>
          <a:lstStyle/>
          <a:p>
            <a:pPr algn="l"/>
            <a:r>
              <a:rPr sz="3400" b="0" i="0">
                <a:solidFill>
                  <a:srgbClr val="B5CEA8"/>
                </a:solidFill>
                <a:latin typeface="Arial"/>
              </a:rPr>
              <a:t>5</a:t>
            </a:r>
          </a:p>
        </p:txBody>
      </p:sp>
      <p:sp>
        <p:nvSpPr>
          <p:cNvPr id="19" name="TextBox 18"/>
          <p:cNvSpPr txBox="1"/>
          <p:nvPr/>
        </p:nvSpPr>
        <p:spPr>
          <a:xfrm>
            <a:off x="697347" y="5465057"/>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20" name="TextBox 19"/>
          <p:cNvSpPr txBox="1"/>
          <p:nvPr/>
        </p:nvSpPr>
        <p:spPr>
          <a:xfrm>
            <a:off x="841139" y="5465057"/>
            <a:ext cx="567115" cy="518159"/>
          </a:xfrm>
          <a:prstGeom prst="rect">
            <a:avLst/>
          </a:prstGeom>
          <a:noFill/>
        </p:spPr>
        <p:txBody>
          <a:bodyPr wrap="none" lIns="0" rIns="0">
            <a:noAutofit/>
          </a:bodyPr>
          <a:lstStyle/>
          <a:p>
            <a:pPr algn="l"/>
            <a:r>
              <a:rPr sz="3400" b="0" i="0">
                <a:solidFill>
                  <a:srgbClr val="B5CEA8"/>
                </a:solidFill>
                <a:latin typeface="Arial"/>
              </a:rPr>
              <a:t>9</a:t>
            </a:r>
          </a:p>
        </p:txBody>
      </p:sp>
      <p:sp>
        <p:nvSpPr>
          <p:cNvPr id="21" name="TextBox 20"/>
          <p:cNvSpPr txBox="1"/>
          <p:nvPr/>
        </p:nvSpPr>
        <p:spPr>
          <a:xfrm>
            <a:off x="1081286" y="5465057"/>
            <a:ext cx="6250008" cy="518159"/>
          </a:xfrm>
          <a:prstGeom prst="rect">
            <a:avLst/>
          </a:prstGeom>
          <a:noFill/>
        </p:spPr>
        <p:txBody>
          <a:bodyPr wrap="none" lIns="0" rIns="0">
            <a:noAutofit/>
          </a:bodyPr>
          <a:lstStyle/>
          <a:p>
            <a:pPr algn="l"/>
            <a:r>
              <a:rPr sz="3400" b="0" i="0">
                <a:solidFill>
                  <a:srgbClr val="D4D4D4"/>
                </a:solidFill>
                <a:latin typeface="Arial"/>
              </a:rPr>
              <a:t> steps. No tools yet.</a:t>
            </a:r>
          </a:p>
        </p:txBody>
      </p:sp>
      <p:sp>
        <p:nvSpPr>
          <p:cNvPr id="22" name="TextBox 2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 Worked Example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Intake</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Resume files arrive</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Parse</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Text out of each file</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Score</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Match against the role</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Report</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Ranked list with gaps</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Common Decomposition Mistakes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Starting after the messy part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One step doing three things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No step for getting the data</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output nobody defined</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Linear or Branching</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Linear</a:t>
            </a:r>
          </a:p>
        </p:txBody>
      </p:sp>
      <p:sp>
        <p:nvSpPr>
          <p:cNvPr id="4" name="Rectangle 3"/>
          <p:cNvSpPr/>
          <p:nvPr/>
        </p:nvSpPr>
        <p:spPr>
          <a:xfrm>
            <a:off x="54864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Branching</a:t>
            </a:r>
          </a:p>
        </p:txBody>
      </p:sp>
      <p:sp>
        <p:nvSpPr>
          <p:cNvPr id="6" name="Rectangle 5"/>
          <p:cNvSpPr/>
          <p:nvPr/>
        </p:nvSpPr>
        <p:spPr>
          <a:xfrm>
            <a:off x="632460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673710" cy="609600"/>
          </a:xfrm>
          <a:prstGeom prst="rect">
            <a:avLst/>
          </a:prstGeom>
          <a:noFill/>
        </p:spPr>
        <p:txBody>
          <a:bodyPr wrap="none" lIns="0" rIns="0">
            <a:noAutofit/>
          </a:bodyPr>
          <a:lstStyle/>
          <a:p>
            <a:pPr algn="l"/>
            <a:r>
              <a:rPr sz="3400" b="0" i="0">
                <a:solidFill>
                  <a:srgbClr val="0A2240"/>
                </a:solidFill>
                <a:latin typeface="Arial"/>
              </a:rPr>
              <a:t>One path start to end</a:t>
            </a:r>
          </a:p>
        </p:txBody>
      </p:sp>
      <p:sp>
        <p:nvSpPr>
          <p:cNvPr id="8" name="TextBox 7"/>
          <p:cNvSpPr txBox="1"/>
          <p:nvPr/>
        </p:nvSpPr>
        <p:spPr>
          <a:xfrm>
            <a:off x="457200" y="3608831"/>
            <a:ext cx="5501640" cy="609600"/>
          </a:xfrm>
          <a:prstGeom prst="rect">
            <a:avLst/>
          </a:prstGeom>
          <a:noFill/>
        </p:spPr>
        <p:txBody>
          <a:bodyPr wrap="none" lIns="0" rIns="0">
            <a:noAutofit/>
          </a:bodyPr>
          <a:lstStyle/>
          <a:p>
            <a:pPr algn="l"/>
            <a:r>
              <a:rPr sz="3400" b="0" i="0">
                <a:solidFill>
                  <a:srgbClr val="0A2240"/>
                </a:solidFill>
                <a:latin typeface="Arial"/>
              </a:rPr>
              <a:t>Easy to demo</a:t>
            </a:r>
          </a:p>
        </p:txBody>
      </p:sp>
      <p:sp>
        <p:nvSpPr>
          <p:cNvPr id="9" name="TextBox 8"/>
          <p:cNvSpPr txBox="1"/>
          <p:nvPr/>
        </p:nvSpPr>
        <p:spPr>
          <a:xfrm>
            <a:off x="457200" y="4821935"/>
            <a:ext cx="5750064" cy="609600"/>
          </a:xfrm>
          <a:prstGeom prst="rect">
            <a:avLst/>
          </a:prstGeom>
          <a:noFill/>
        </p:spPr>
        <p:txBody>
          <a:bodyPr wrap="none" lIns="0" rIns="0">
            <a:noAutofit/>
          </a:bodyPr>
          <a:lstStyle/>
          <a:p>
            <a:pPr algn="l"/>
            <a:r>
              <a:rPr sz="3400" b="0" i="0">
                <a:solidFill>
                  <a:srgbClr val="0A2240"/>
                </a:solidFill>
                <a:latin typeface="Arial"/>
              </a:rPr>
              <a:t>Pick this for Day 2</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Cases split the path</a:t>
            </a:r>
          </a:p>
        </p:txBody>
      </p:sp>
      <p:sp>
        <p:nvSpPr>
          <p:cNvPr id="11" name="TextBox 10"/>
          <p:cNvSpPr txBox="1"/>
          <p:nvPr/>
        </p:nvSpPr>
        <p:spPr>
          <a:xfrm>
            <a:off x="6233160" y="3608831"/>
            <a:ext cx="5501640" cy="609600"/>
          </a:xfrm>
          <a:prstGeom prst="rect">
            <a:avLst/>
          </a:prstGeom>
          <a:noFill/>
        </p:spPr>
        <p:txBody>
          <a:bodyPr wrap="none" lIns="0" rIns="0">
            <a:noAutofit/>
          </a:bodyPr>
          <a:lstStyle/>
          <a:p>
            <a:pPr algn="l"/>
            <a:r>
              <a:rPr sz="3400" b="0" i="0">
                <a:solidFill>
                  <a:srgbClr val="0A2240"/>
                </a:solidFill>
                <a:latin typeface="Arial"/>
              </a:rPr>
              <a:t>Harder to finish</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Note it, defer it</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The happy path</a:t>
            </a:r>
          </a:p>
        </p:txBody>
      </p:sp>
      <p:sp>
        <p:nvSpPr>
          <p:cNvPr id="4" name="TextBox 3"/>
          <p:cNvSpPr txBox="1"/>
          <p:nvPr/>
        </p:nvSpPr>
        <p:spPr>
          <a:xfrm>
            <a:off x="996696" y="3764280"/>
            <a:ext cx="10738104" cy="609600"/>
          </a:xfrm>
          <a:prstGeom prst="rect">
            <a:avLst/>
          </a:prstGeom>
          <a:noFill/>
        </p:spPr>
        <p:txBody>
          <a:bodyPr wrap="none" lIns="0" rIns="0">
            <a:noAutofit/>
          </a:bodyPr>
          <a:lstStyle/>
          <a:p>
            <a:pPr algn="l"/>
            <a:r>
              <a:rPr sz="3400" b="0" i="0">
                <a:solidFill>
                  <a:srgbClr val="0A2240"/>
                </a:solidFill>
                <a:latin typeface="Arial"/>
              </a:rPr>
              <a:t>The one route where nothing fails.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Mark the Happy Path</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One line through the map</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Every branch labelled later</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Edge cases listed, not built</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"A gap in the map is a gap in Day 2."</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Why the middle matters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Make It an Artifact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Artifact</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Standalone content Claude builds, shared by link.</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Described or Drawn</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Described</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Drawn</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6134635" cy="609600"/>
          </a:xfrm>
          <a:prstGeom prst="rect">
            <a:avLst/>
          </a:prstGeom>
          <a:noFill/>
        </p:spPr>
        <p:txBody>
          <a:bodyPr wrap="none" lIns="0" rIns="0">
            <a:noAutofit/>
          </a:bodyPr>
          <a:lstStyle/>
          <a:p>
            <a:pPr algn="l"/>
            <a:r>
              <a:rPr sz="3400" b="0" i="0">
                <a:solidFill>
                  <a:srgbClr val="0A2240"/>
                </a:solidFill>
                <a:latin typeface="Arial"/>
              </a:rPr>
              <a:t>Lives in a transcript</a:t>
            </a:r>
          </a:p>
        </p:txBody>
      </p:sp>
      <p:sp>
        <p:nvSpPr>
          <p:cNvPr id="8" name="TextBox 7"/>
          <p:cNvSpPr txBox="1"/>
          <p:nvPr/>
        </p:nvSpPr>
        <p:spPr>
          <a:xfrm>
            <a:off x="457200" y="3608831"/>
            <a:ext cx="7210425" cy="609600"/>
          </a:xfrm>
          <a:prstGeom prst="rect">
            <a:avLst/>
          </a:prstGeom>
          <a:noFill/>
        </p:spPr>
        <p:txBody>
          <a:bodyPr wrap="none" lIns="0" rIns="0">
            <a:noAutofit/>
          </a:bodyPr>
          <a:lstStyle/>
          <a:p>
            <a:pPr algn="l"/>
            <a:r>
              <a:rPr sz="3400" b="0" i="0">
                <a:solidFill>
                  <a:srgbClr val="0A2240"/>
                </a:solidFill>
                <a:latin typeface="Arial"/>
              </a:rPr>
              <a:t>Each person pictures it</a:t>
            </a:r>
          </a:p>
        </p:txBody>
      </p:sp>
      <p:sp>
        <p:nvSpPr>
          <p:cNvPr id="9" name="TextBox 8"/>
          <p:cNvSpPr txBox="1"/>
          <p:nvPr/>
        </p:nvSpPr>
        <p:spPr>
          <a:xfrm>
            <a:off x="457200" y="4821935"/>
            <a:ext cx="7441168" cy="609600"/>
          </a:xfrm>
          <a:prstGeom prst="rect">
            <a:avLst/>
          </a:prstGeom>
          <a:noFill/>
        </p:spPr>
        <p:txBody>
          <a:bodyPr wrap="none" lIns="0" rIns="0">
            <a:noAutofit/>
          </a:bodyPr>
          <a:lstStyle/>
          <a:p>
            <a:pPr algn="l"/>
            <a:r>
              <a:rPr sz="3400" b="0" i="0">
                <a:solidFill>
                  <a:srgbClr val="0A2240"/>
                </a:solidFill>
                <a:latin typeface="Arial"/>
              </a:rPr>
              <a:t>Re-explained each time</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 picture, one meaning</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Disagreement shows fast</a:t>
            </a:r>
          </a:p>
        </p:txBody>
      </p:sp>
      <p:sp>
        <p:nvSpPr>
          <p:cNvPr id="12" name="TextBox 11"/>
          <p:cNvSpPr txBox="1"/>
          <p:nvPr/>
        </p:nvSpPr>
        <p:spPr>
          <a:xfrm>
            <a:off x="6233160" y="4821935"/>
            <a:ext cx="5501640" cy="609600"/>
          </a:xfrm>
          <a:prstGeom prst="rect">
            <a:avLst/>
          </a:prstGeom>
          <a:noFill/>
        </p:spPr>
        <p:txBody>
          <a:bodyPr wrap="none" lIns="0" rIns="0">
            <a:noAutofit/>
          </a:bodyPr>
          <a:lstStyle/>
          <a:p>
            <a:pPr algn="l"/>
            <a:r>
              <a:rPr sz="3400" b="0" i="0">
                <a:solidFill>
                  <a:srgbClr val="0A2240"/>
                </a:solidFill>
                <a:latin typeface="Arial"/>
              </a:rPr>
              <a:t>Sent as a link</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an Artifact Gives You</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See</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The whole path at once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Revise</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Change it in seconds</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Share</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One link, whole team</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Build the Diagram</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Paste the steps</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Your list from section one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Ask for a diagram</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Boxes and arrows, top down</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Fix it out loud</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Revise until it matches</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Prompt for the Diagram</a:t>
            </a:r>
          </a:p>
        </p:txBody>
      </p:sp>
      <p:sp>
        <p:nvSpPr>
          <p:cNvPr id="6" name="TextBox 5"/>
          <p:cNvSpPr txBox="1"/>
          <p:nvPr/>
        </p:nvSpPr>
        <p:spPr>
          <a:xfrm>
            <a:off x="457200" y="1837944"/>
            <a:ext cx="8975745" cy="518159"/>
          </a:xfrm>
          <a:prstGeom prst="rect">
            <a:avLst/>
          </a:prstGeom>
          <a:noFill/>
        </p:spPr>
        <p:txBody>
          <a:bodyPr wrap="none" lIns="0" rIns="0">
            <a:noAutofit/>
          </a:bodyPr>
          <a:lstStyle/>
          <a:p>
            <a:pPr algn="l"/>
            <a:r>
              <a:rPr sz="3400" b="0" i="0">
                <a:solidFill>
                  <a:srgbClr val="D4D4D4"/>
                </a:solidFill>
                <a:latin typeface="Arial"/>
              </a:rPr>
              <a:t>Here are our workflow steps:</a:t>
            </a:r>
          </a:p>
        </p:txBody>
      </p:sp>
      <p:sp>
        <p:nvSpPr>
          <p:cNvPr id="7" name="TextBox 6"/>
          <p:cNvSpPr txBox="1"/>
          <p:nvPr/>
        </p:nvSpPr>
        <p:spPr>
          <a:xfrm>
            <a:off x="457200" y="2356103"/>
            <a:ext cx="4868584" cy="518159"/>
          </a:xfrm>
          <a:prstGeom prst="rect">
            <a:avLst/>
          </a:prstGeom>
          <a:noFill/>
        </p:spPr>
        <p:txBody>
          <a:bodyPr wrap="none" lIns="0" rIns="0">
            <a:noAutofit/>
          </a:bodyPr>
          <a:lstStyle/>
          <a:p>
            <a:pPr algn="l"/>
            <a:r>
              <a:rPr sz="3400" b="0" i="0">
                <a:solidFill>
                  <a:srgbClr val="D4D4D4"/>
                </a:solidFill>
                <a:latin typeface="Arial"/>
              </a:rPr>
              <a:t>&lt;paste the list&gt;</a:t>
            </a:r>
          </a:p>
        </p:txBody>
      </p:sp>
      <p:sp>
        <p:nvSpPr>
          <p:cNvPr id="8" name="TextBox 7"/>
          <p:cNvSpPr txBox="1"/>
          <p:nvPr/>
        </p:nvSpPr>
        <p:spPr>
          <a:xfrm>
            <a:off x="457200" y="3392421"/>
            <a:ext cx="7171968" cy="518159"/>
          </a:xfrm>
          <a:prstGeom prst="rect">
            <a:avLst/>
          </a:prstGeom>
          <a:noFill/>
        </p:spPr>
        <p:txBody>
          <a:bodyPr wrap="none" lIns="0" rIns="0">
            <a:noAutofit/>
          </a:bodyPr>
          <a:lstStyle/>
          <a:p>
            <a:pPr algn="l"/>
            <a:r>
              <a:rPr sz="3400" b="0" i="0">
                <a:solidFill>
                  <a:srgbClr val="D4D4D4"/>
                </a:solidFill>
                <a:latin typeface="Arial"/>
              </a:rPr>
              <a:t>Build an Artifact: a flow</a:t>
            </a:r>
          </a:p>
        </p:txBody>
      </p:sp>
      <p:sp>
        <p:nvSpPr>
          <p:cNvPr id="9" name="TextBox 8"/>
          <p:cNvSpPr txBox="1"/>
          <p:nvPr/>
        </p:nvSpPr>
        <p:spPr>
          <a:xfrm>
            <a:off x="457200" y="3910580"/>
            <a:ext cx="7287339" cy="518159"/>
          </a:xfrm>
          <a:prstGeom prst="rect">
            <a:avLst/>
          </a:prstGeom>
          <a:noFill/>
        </p:spPr>
        <p:txBody>
          <a:bodyPr wrap="none" lIns="0" rIns="0">
            <a:noAutofit/>
          </a:bodyPr>
          <a:lstStyle/>
          <a:p>
            <a:pPr algn="l"/>
            <a:r>
              <a:rPr sz="3400" b="0" i="0">
                <a:solidFill>
                  <a:srgbClr val="D4D4D4"/>
                </a:solidFill>
                <a:latin typeface="Arial"/>
              </a:rPr>
              <a:t>diagram, top to bottom.</a:t>
            </a:r>
          </a:p>
        </p:txBody>
      </p:sp>
      <p:sp>
        <p:nvSpPr>
          <p:cNvPr id="10" name="TextBox 9"/>
          <p:cNvSpPr txBox="1"/>
          <p:nvPr/>
        </p:nvSpPr>
        <p:spPr>
          <a:xfrm>
            <a:off x="457200" y="4428739"/>
            <a:ext cx="5674836" cy="518159"/>
          </a:xfrm>
          <a:prstGeom prst="rect">
            <a:avLst/>
          </a:prstGeom>
          <a:noFill/>
        </p:spPr>
        <p:txBody>
          <a:bodyPr wrap="none" lIns="0" rIns="0">
            <a:noAutofit/>
          </a:bodyPr>
          <a:lstStyle/>
          <a:p>
            <a:pPr algn="l"/>
            <a:r>
              <a:rPr sz="3400" b="0" i="0">
                <a:solidFill>
                  <a:srgbClr val="D4D4D4"/>
                </a:solidFill>
                <a:latin typeface="Arial"/>
              </a:rPr>
              <a:t>One box per step.</a:t>
            </a:r>
          </a:p>
        </p:txBody>
      </p:sp>
      <p:sp>
        <p:nvSpPr>
          <p:cNvPr id="11" name="TextBox 10"/>
          <p:cNvSpPr txBox="1"/>
          <p:nvPr/>
        </p:nvSpPr>
        <p:spPr>
          <a:xfrm>
            <a:off x="457200" y="4946898"/>
            <a:ext cx="5866110" cy="518159"/>
          </a:xfrm>
          <a:prstGeom prst="rect">
            <a:avLst/>
          </a:prstGeom>
          <a:noFill/>
        </p:spPr>
        <p:txBody>
          <a:bodyPr wrap="none" lIns="0" rIns="0">
            <a:noAutofit/>
          </a:bodyPr>
          <a:lstStyle/>
          <a:p>
            <a:pPr algn="l"/>
            <a:r>
              <a:rPr sz="3400" b="0" i="0">
                <a:solidFill>
                  <a:srgbClr val="D4D4D4"/>
                </a:solidFill>
                <a:latin typeface="Arial"/>
              </a:rPr>
              <a:t>Label every arrow </a:t>
            </a:r>
          </a:p>
        </p:txBody>
      </p:sp>
      <p:sp>
        <p:nvSpPr>
          <p:cNvPr id="12" name="TextBox 11"/>
          <p:cNvSpPr txBox="1"/>
          <p:nvPr/>
        </p:nvSpPr>
        <p:spPr>
          <a:xfrm>
            <a:off x="4009219" y="4946898"/>
            <a:ext cx="1411486" cy="518159"/>
          </a:xfrm>
          <a:prstGeom prst="rect">
            <a:avLst/>
          </a:prstGeom>
          <a:noFill/>
        </p:spPr>
        <p:txBody>
          <a:bodyPr wrap="none" lIns="0" rIns="0">
            <a:noAutofit/>
          </a:bodyPr>
          <a:lstStyle/>
          <a:p>
            <a:pPr algn="l"/>
            <a:r>
              <a:rPr sz="3400" b="0" i="0">
                <a:solidFill>
                  <a:srgbClr val="C586C0"/>
                </a:solidFill>
                <a:latin typeface="Arial"/>
              </a:rPr>
              <a:t>with</a:t>
            </a:r>
          </a:p>
        </p:txBody>
      </p:sp>
      <p:sp>
        <p:nvSpPr>
          <p:cNvPr id="13" name="TextBox 12"/>
          <p:cNvSpPr txBox="1"/>
          <p:nvPr/>
        </p:nvSpPr>
        <p:spPr>
          <a:xfrm>
            <a:off x="4777098" y="4946898"/>
            <a:ext cx="1834177" cy="518159"/>
          </a:xfrm>
          <a:prstGeom prst="rect">
            <a:avLst/>
          </a:prstGeom>
          <a:noFill/>
        </p:spPr>
        <p:txBody>
          <a:bodyPr wrap="none" lIns="0" rIns="0">
            <a:noAutofit/>
          </a:bodyPr>
          <a:lstStyle/>
          <a:p>
            <a:pPr algn="l"/>
            <a:r>
              <a:rPr sz="3400" b="0" i="0">
                <a:solidFill>
                  <a:srgbClr val="D4D4D4"/>
                </a:solidFill>
                <a:latin typeface="Arial"/>
              </a:rPr>
              <a:t> what</a:t>
            </a:r>
          </a:p>
        </p:txBody>
      </p:sp>
      <p:sp>
        <p:nvSpPr>
          <p:cNvPr id="14" name="TextBox 13"/>
          <p:cNvSpPr txBox="1"/>
          <p:nvPr/>
        </p:nvSpPr>
        <p:spPr>
          <a:xfrm>
            <a:off x="457200" y="5465057"/>
            <a:ext cx="8363465" cy="518159"/>
          </a:xfrm>
          <a:prstGeom prst="rect">
            <a:avLst/>
          </a:prstGeom>
          <a:noFill/>
        </p:spPr>
        <p:txBody>
          <a:bodyPr wrap="none" lIns="0" rIns="0">
            <a:noAutofit/>
          </a:bodyPr>
          <a:lstStyle/>
          <a:p>
            <a:pPr algn="l"/>
            <a:r>
              <a:rPr sz="3400" b="0" i="0">
                <a:solidFill>
                  <a:srgbClr val="D4D4D4"/>
                </a:solidFill>
                <a:latin typeface="Arial"/>
              </a:rPr>
              <a:t>passes between the steps.</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the Diagram Must Show</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Raw input, where it enters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One box per step</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What passes on each arrow</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delivered output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Diagram Conventions</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Top to bottom reads fastest</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One verb per box</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Keep labels under five words</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Revise It in Front of Everyone</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Ask for the change out loud</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Re-read the new version together</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Stop when nobody objects</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Artifact Pitfalls</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 pretty diagram nobody rechecks</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Boxes with no arrow labels</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The link never actually shared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Where the Map Lives</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Chat</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Scrolls away by noon</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Project</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Beside the problem</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1195304" cy="731520"/>
          </a:xfrm>
          <a:prstGeom prst="rect">
            <a:avLst/>
          </a:prstGeom>
          <a:noFill/>
        </p:spPr>
        <p:txBody>
          <a:bodyPr wrap="none" lIns="0" rIns="0">
            <a:noAutofit/>
          </a:bodyPr>
          <a:lstStyle/>
          <a:p>
            <a:pPr algn="l"/>
            <a:r>
              <a:rPr sz="4200" b="1" i="0">
                <a:solidFill>
                  <a:srgbClr val="0072CE"/>
                </a:solidFill>
                <a:latin typeface="Arial"/>
              </a:rPr>
              <a:t>Name What Each Step Needs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Four Kinds of Need</a:t>
            </a:r>
          </a:p>
        </p:txBody>
      </p:sp>
      <p:sp>
        <p:nvSpPr>
          <p:cNvPr id="3" name="TextBox 2"/>
          <p:cNvSpPr txBox="1"/>
          <p:nvPr/>
        </p:nvSpPr>
        <p:spPr>
          <a:xfrm>
            <a:off x="457200" y="1499616"/>
            <a:ext cx="2613660" cy="518159"/>
          </a:xfrm>
          <a:prstGeom prst="rect">
            <a:avLst/>
          </a:prstGeom>
          <a:noFill/>
        </p:spPr>
        <p:txBody>
          <a:bodyPr wrap="none" lIns="0" rIns="0">
            <a:noAutofit/>
          </a:bodyPr>
          <a:lstStyle/>
          <a:p>
            <a:pPr algn="l"/>
            <a:r>
              <a:rPr sz="3400" b="1" i="0">
                <a:solidFill>
                  <a:srgbClr val="0A2240"/>
                </a:solidFill>
                <a:latin typeface="Arial"/>
              </a:rPr>
              <a:t>Data</a:t>
            </a:r>
          </a:p>
        </p:txBody>
      </p:sp>
      <p:sp>
        <p:nvSpPr>
          <p:cNvPr id="4" name="TextBox 3"/>
          <p:cNvSpPr txBox="1"/>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Something must be supplied</a:t>
            </a:r>
          </a:p>
        </p:txBody>
      </p:sp>
      <p:sp>
        <p:nvSpPr>
          <p:cNvPr id="5" name="TextBox 4"/>
          <p:cNvSpPr txBox="1"/>
          <p:nvPr/>
        </p:nvSpPr>
        <p:spPr>
          <a:xfrm>
            <a:off x="3345180" y="1499616"/>
            <a:ext cx="2613660" cy="518159"/>
          </a:xfrm>
          <a:prstGeom prst="rect">
            <a:avLst/>
          </a:prstGeom>
          <a:noFill/>
        </p:spPr>
        <p:txBody>
          <a:bodyPr wrap="none" lIns="0" rIns="0">
            <a:noAutofit/>
          </a:bodyPr>
          <a:lstStyle/>
          <a:p>
            <a:pPr algn="l"/>
            <a:r>
              <a:rPr sz="3400" b="1" i="0">
                <a:solidFill>
                  <a:srgbClr val="0A2240"/>
                </a:solidFill>
                <a:latin typeface="Arial"/>
              </a:rPr>
              <a:t>Tool</a:t>
            </a:r>
          </a:p>
        </p:txBody>
      </p:sp>
      <p:sp>
        <p:nvSpPr>
          <p:cNvPr id="6" name="TextBox 5"/>
          <p:cNvSpPr txBox="1"/>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Code, API, or model call</a:t>
            </a:r>
          </a:p>
        </p:txBody>
      </p:sp>
      <p:sp>
        <p:nvSpPr>
          <p:cNvPr id="7" name="TextBox 6"/>
          <p:cNvSpPr txBox="1"/>
          <p:nvPr/>
        </p:nvSpPr>
        <p:spPr>
          <a:xfrm>
            <a:off x="6233160" y="1499616"/>
            <a:ext cx="2754113" cy="518159"/>
          </a:xfrm>
          <a:prstGeom prst="rect">
            <a:avLst/>
          </a:prstGeom>
          <a:noFill/>
        </p:spPr>
        <p:txBody>
          <a:bodyPr wrap="none" lIns="0" rIns="0">
            <a:noAutofit/>
          </a:bodyPr>
          <a:lstStyle/>
          <a:p>
            <a:pPr algn="l"/>
            <a:r>
              <a:rPr sz="3400" b="1" i="0">
                <a:solidFill>
                  <a:srgbClr val="0A2240"/>
                </a:solidFill>
                <a:latin typeface="Arial"/>
              </a:rPr>
              <a:t>Routine</a:t>
            </a:r>
          </a:p>
        </p:txBody>
      </p:sp>
      <p:sp>
        <p:nvSpPr>
          <p:cNvPr id="8" name="TextBox 7"/>
          <p:cNvSpPr txBox="1"/>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It runs on a schedule</a:t>
            </a:r>
          </a:p>
        </p:txBody>
      </p:sp>
      <p:sp>
        <p:nvSpPr>
          <p:cNvPr id="9" name="TextBox 8"/>
          <p:cNvSpPr txBox="1"/>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Human</a:t>
            </a:r>
          </a:p>
        </p:txBody>
      </p:sp>
      <p:sp>
        <p:nvSpPr>
          <p:cNvPr id="10" name="TextBox 9"/>
          <p:cNvSpPr txBox="1"/>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A person decides</a:t>
            </a:r>
          </a:p>
        </p:txBody>
      </p:sp>
      <p:sp>
        <p:nvSpPr>
          <p:cNvPr id="11" name="TextBox 10"/>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Annotate Every Box</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One need per step, minimum</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Say which of the four it is</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Unknowns get marked, not skipped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Claude Routine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prompt Claude runs on a schedule, unprompted.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When a Step Is a Routine</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It repeats on a clock</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Nobody should have to remember</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Late is worse than imperfect</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TextBox 1"/>
          <p:cNvSpPr txBox="1"/>
          <p:nvPr/>
        </p:nvSpPr>
        <p:spPr>
          <a:xfrm>
            <a:off x="457200" y="457200"/>
            <a:ext cx="11277600" cy="640080"/>
          </a:xfrm>
          <a:prstGeom prst="rect">
            <a:avLst/>
          </a:prstGeom>
          <a:noFill/>
        </p:spPr>
        <p:txBody>
          <a:bodyPr wrap="none" lIns="0" rIns="0">
            <a:noAutofit/>
          </a:bodyPr>
          <a:lstStyle/>
          <a:p>
            <a:pPr algn="l"/>
            <a:r>
              <a:rPr sz="4200" b="0" i="0">
                <a:solidFill>
                  <a:srgbClr val="D4D4D4"/>
                </a:solidFill>
                <a:latin typeface="Arial"/>
              </a:rPr>
              <a:t>A Step as a Routine</a:t>
            </a:r>
          </a:p>
        </p:txBody>
      </p:sp>
      <p:sp>
        <p:nvSpPr>
          <p:cNvPr id="3" name="TextBox 2"/>
          <p:cNvSpPr txBox="1"/>
          <p:nvPr/>
        </p:nvSpPr>
        <p:spPr>
          <a:xfrm>
            <a:off x="457200" y="1371600"/>
            <a:ext cx="5827652" cy="518159"/>
          </a:xfrm>
          <a:prstGeom prst="rect">
            <a:avLst/>
          </a:prstGeom>
          <a:noFill/>
        </p:spPr>
        <p:txBody>
          <a:bodyPr wrap="none" lIns="0" rIns="0">
            <a:noAutofit/>
          </a:bodyPr>
          <a:lstStyle/>
          <a:p>
            <a:pPr algn="l"/>
            <a:r>
              <a:rPr sz="3400" b="0" i="0">
                <a:solidFill>
                  <a:srgbClr val="D4D4D4"/>
                </a:solidFill>
                <a:latin typeface="Arial"/>
              </a:rPr>
              <a:t>Every weekday at </a:t>
            </a:r>
          </a:p>
        </p:txBody>
      </p:sp>
      <p:sp>
        <p:nvSpPr>
          <p:cNvPr id="4" name="TextBox 3"/>
          <p:cNvSpPr txBox="1"/>
          <p:nvPr/>
        </p:nvSpPr>
        <p:spPr>
          <a:xfrm>
            <a:off x="3985183" y="1371600"/>
            <a:ext cx="567115" cy="518159"/>
          </a:xfrm>
          <a:prstGeom prst="rect">
            <a:avLst/>
          </a:prstGeom>
          <a:noFill/>
        </p:spPr>
        <p:txBody>
          <a:bodyPr wrap="none" lIns="0" rIns="0">
            <a:noAutofit/>
          </a:bodyPr>
          <a:lstStyle/>
          <a:p>
            <a:pPr algn="l"/>
            <a:r>
              <a:rPr sz="3400" b="0" i="0">
                <a:solidFill>
                  <a:srgbClr val="B5CEA8"/>
                </a:solidFill>
                <a:latin typeface="Arial"/>
              </a:rPr>
              <a:t>8</a:t>
            </a:r>
          </a:p>
        </p:txBody>
      </p:sp>
      <p:sp>
        <p:nvSpPr>
          <p:cNvPr id="5" name="TextBox 4"/>
          <p:cNvSpPr txBox="1"/>
          <p:nvPr/>
        </p:nvSpPr>
        <p:spPr>
          <a:xfrm>
            <a:off x="4225330" y="1371600"/>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6" name="TextBox 5"/>
          <p:cNvSpPr txBox="1"/>
          <p:nvPr/>
        </p:nvSpPr>
        <p:spPr>
          <a:xfrm>
            <a:off x="4345298" y="1371600"/>
            <a:ext cx="951348" cy="518159"/>
          </a:xfrm>
          <a:prstGeom prst="rect">
            <a:avLst/>
          </a:prstGeom>
          <a:noFill/>
        </p:spPr>
        <p:txBody>
          <a:bodyPr wrap="none" lIns="0" rIns="0">
            <a:noAutofit/>
          </a:bodyPr>
          <a:lstStyle/>
          <a:p>
            <a:pPr algn="l"/>
            <a:r>
              <a:rPr sz="3400" b="0" i="0">
                <a:solidFill>
                  <a:srgbClr val="B5CEA8"/>
                </a:solidFill>
                <a:latin typeface="Arial"/>
              </a:rPr>
              <a:t>00</a:t>
            </a:r>
          </a:p>
        </p:txBody>
      </p:sp>
      <p:sp>
        <p:nvSpPr>
          <p:cNvPr id="7" name="TextBox 6"/>
          <p:cNvSpPr txBox="1"/>
          <p:nvPr/>
        </p:nvSpPr>
        <p:spPr>
          <a:xfrm>
            <a:off x="457200" y="2407918"/>
            <a:ext cx="567115" cy="518159"/>
          </a:xfrm>
          <a:prstGeom prst="rect">
            <a:avLst/>
          </a:prstGeom>
          <a:noFill/>
        </p:spPr>
        <p:txBody>
          <a:bodyPr wrap="none" lIns="0" rIns="0">
            <a:noAutofit/>
          </a:bodyPr>
          <a:lstStyle/>
          <a:p>
            <a:pPr algn="l"/>
            <a:r>
              <a:rPr sz="3400" b="0" i="0">
                <a:solidFill>
                  <a:srgbClr val="B5CEA8"/>
                </a:solidFill>
                <a:latin typeface="Arial"/>
              </a:rPr>
              <a:t>1</a:t>
            </a:r>
          </a:p>
        </p:txBody>
      </p:sp>
      <p:sp>
        <p:nvSpPr>
          <p:cNvPr id="8" name="TextBox 7"/>
          <p:cNvSpPr txBox="1"/>
          <p:nvPr/>
        </p:nvSpPr>
        <p:spPr>
          <a:xfrm>
            <a:off x="697347" y="2407918"/>
            <a:ext cx="5290264" cy="518159"/>
          </a:xfrm>
          <a:prstGeom prst="rect">
            <a:avLst/>
          </a:prstGeom>
          <a:noFill/>
        </p:spPr>
        <p:txBody>
          <a:bodyPr wrap="none" lIns="0" rIns="0">
            <a:noAutofit/>
          </a:bodyPr>
          <a:lstStyle/>
          <a:p>
            <a:pPr algn="l"/>
            <a:r>
              <a:rPr sz="3400" b="0" i="0">
                <a:solidFill>
                  <a:srgbClr val="D4D4D4"/>
                </a:solidFill>
                <a:latin typeface="Arial"/>
              </a:rPr>
              <a:t>. Read new files </a:t>
            </a:r>
          </a:p>
        </p:txBody>
      </p:sp>
      <p:sp>
        <p:nvSpPr>
          <p:cNvPr id="9" name="TextBox 8"/>
          <p:cNvSpPr txBox="1"/>
          <p:nvPr/>
        </p:nvSpPr>
        <p:spPr>
          <a:xfrm>
            <a:off x="3889462" y="2407918"/>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10" name="TextBox 9"/>
          <p:cNvSpPr txBox="1"/>
          <p:nvPr/>
        </p:nvSpPr>
        <p:spPr>
          <a:xfrm>
            <a:off x="4225541" y="2407918"/>
            <a:ext cx="2410360" cy="518159"/>
          </a:xfrm>
          <a:prstGeom prst="rect">
            <a:avLst/>
          </a:prstGeom>
          <a:noFill/>
        </p:spPr>
        <p:txBody>
          <a:bodyPr wrap="none" lIns="0" rIns="0">
            <a:noAutofit/>
          </a:bodyPr>
          <a:lstStyle/>
          <a:p>
            <a:pPr algn="l"/>
            <a:r>
              <a:rPr sz="3400" b="0" i="0">
                <a:solidFill>
                  <a:srgbClr val="D4D4D4"/>
                </a:solidFill>
                <a:latin typeface="Arial"/>
              </a:rPr>
              <a:t> /intake</a:t>
            </a:r>
          </a:p>
        </p:txBody>
      </p:sp>
      <p:sp>
        <p:nvSpPr>
          <p:cNvPr id="11" name="TextBox 10"/>
          <p:cNvSpPr txBox="1"/>
          <p:nvPr/>
        </p:nvSpPr>
        <p:spPr>
          <a:xfrm>
            <a:off x="457200" y="2926077"/>
            <a:ext cx="567115" cy="518159"/>
          </a:xfrm>
          <a:prstGeom prst="rect">
            <a:avLst/>
          </a:prstGeom>
          <a:noFill/>
        </p:spPr>
        <p:txBody>
          <a:bodyPr wrap="none" lIns="0" rIns="0">
            <a:noAutofit/>
          </a:bodyPr>
          <a:lstStyle/>
          <a:p>
            <a:pPr algn="l"/>
            <a:r>
              <a:rPr sz="3400" b="0" i="0">
                <a:solidFill>
                  <a:srgbClr val="B5CEA8"/>
                </a:solidFill>
                <a:latin typeface="Arial"/>
              </a:rPr>
              <a:t>2</a:t>
            </a:r>
          </a:p>
        </p:txBody>
      </p:sp>
      <p:sp>
        <p:nvSpPr>
          <p:cNvPr id="12" name="TextBox 11"/>
          <p:cNvSpPr txBox="1"/>
          <p:nvPr/>
        </p:nvSpPr>
        <p:spPr>
          <a:xfrm>
            <a:off x="697347" y="2926077"/>
            <a:ext cx="8977769" cy="518159"/>
          </a:xfrm>
          <a:prstGeom prst="rect">
            <a:avLst/>
          </a:prstGeom>
          <a:noFill/>
        </p:spPr>
        <p:txBody>
          <a:bodyPr wrap="none" lIns="0" rIns="0">
            <a:noAutofit/>
          </a:bodyPr>
          <a:lstStyle/>
          <a:p>
            <a:pPr algn="l"/>
            <a:r>
              <a:rPr sz="3400" b="0" i="0">
                <a:solidFill>
                  <a:srgbClr val="D4D4D4"/>
                </a:solidFill>
                <a:latin typeface="Arial"/>
              </a:rPr>
              <a:t>. Score each against the role</a:t>
            </a:r>
          </a:p>
        </p:txBody>
      </p:sp>
      <p:sp>
        <p:nvSpPr>
          <p:cNvPr id="13" name="TextBox 12"/>
          <p:cNvSpPr txBox="1"/>
          <p:nvPr/>
        </p:nvSpPr>
        <p:spPr>
          <a:xfrm>
            <a:off x="457200" y="3444236"/>
            <a:ext cx="567115" cy="518159"/>
          </a:xfrm>
          <a:prstGeom prst="rect">
            <a:avLst/>
          </a:prstGeom>
          <a:noFill/>
        </p:spPr>
        <p:txBody>
          <a:bodyPr wrap="none" lIns="0" rIns="0">
            <a:noAutofit/>
          </a:bodyPr>
          <a:lstStyle/>
          <a:p>
            <a:pPr algn="l"/>
            <a:r>
              <a:rPr sz="3400" b="0" i="0">
                <a:solidFill>
                  <a:srgbClr val="B5CEA8"/>
                </a:solidFill>
                <a:latin typeface="Arial"/>
              </a:rPr>
              <a:t>3</a:t>
            </a:r>
          </a:p>
        </p:txBody>
      </p:sp>
      <p:sp>
        <p:nvSpPr>
          <p:cNvPr id="14" name="TextBox 13"/>
          <p:cNvSpPr txBox="1"/>
          <p:nvPr/>
        </p:nvSpPr>
        <p:spPr>
          <a:xfrm>
            <a:off x="697347" y="3444236"/>
            <a:ext cx="9017576" cy="518159"/>
          </a:xfrm>
          <a:prstGeom prst="rect">
            <a:avLst/>
          </a:prstGeom>
          <a:noFill/>
        </p:spPr>
        <p:txBody>
          <a:bodyPr wrap="none" lIns="0" rIns="0">
            <a:noAutofit/>
          </a:bodyPr>
          <a:lstStyle/>
          <a:p>
            <a:pPr algn="l"/>
            <a:r>
              <a:rPr sz="3400" b="0" i="0">
                <a:solidFill>
                  <a:srgbClr val="D4D4D4"/>
                </a:solidFill>
                <a:latin typeface="Arial"/>
              </a:rPr>
              <a:t>. Append to the ranked sheet</a:t>
            </a:r>
          </a:p>
        </p:txBody>
      </p:sp>
      <p:sp>
        <p:nvSpPr>
          <p:cNvPr id="15" name="TextBox 14"/>
          <p:cNvSpPr txBox="1"/>
          <p:nvPr/>
        </p:nvSpPr>
        <p:spPr>
          <a:xfrm>
            <a:off x="457200" y="3962395"/>
            <a:ext cx="567115" cy="518159"/>
          </a:xfrm>
          <a:prstGeom prst="rect">
            <a:avLst/>
          </a:prstGeom>
          <a:noFill/>
        </p:spPr>
        <p:txBody>
          <a:bodyPr wrap="none" lIns="0" rIns="0">
            <a:noAutofit/>
          </a:bodyPr>
          <a:lstStyle/>
          <a:p>
            <a:pPr algn="l"/>
            <a:r>
              <a:rPr sz="3400" b="0" i="0">
                <a:solidFill>
                  <a:srgbClr val="B5CEA8"/>
                </a:solidFill>
                <a:latin typeface="Arial"/>
              </a:rPr>
              <a:t>4</a:t>
            </a:r>
          </a:p>
        </p:txBody>
      </p:sp>
      <p:sp>
        <p:nvSpPr>
          <p:cNvPr id="16" name="TextBox 15"/>
          <p:cNvSpPr txBox="1"/>
          <p:nvPr/>
        </p:nvSpPr>
        <p:spPr>
          <a:xfrm>
            <a:off x="697347" y="3962395"/>
            <a:ext cx="8362454" cy="518159"/>
          </a:xfrm>
          <a:prstGeom prst="rect">
            <a:avLst/>
          </a:prstGeom>
          <a:noFill/>
        </p:spPr>
        <p:txBody>
          <a:bodyPr wrap="none" lIns="0" rIns="0">
            <a:noAutofit/>
          </a:bodyPr>
          <a:lstStyle/>
          <a:p>
            <a:pPr algn="l"/>
            <a:r>
              <a:rPr sz="3400" b="0" i="0">
                <a:solidFill>
                  <a:srgbClr val="D4D4D4"/>
                </a:solidFill>
                <a:latin typeface="Arial"/>
              </a:rPr>
              <a:t>. Flag anything scoring low</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Human decision</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step where a person judges and the system waits.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Keep a Human When</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Being wrong is expensive</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The call needs context you lack</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Someone must be accountable</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Step to Need</a:t>
            </a:r>
          </a:p>
        </p:txBody>
      </p:sp>
      <p:sp>
        <p:nvSpPr>
          <p:cNvPr id="3" name="TextBox 2"/>
          <p:cNvSpPr txBox="1"/>
          <p:nvPr/>
        </p:nvSpPr>
        <p:spPr>
          <a:xfrm>
            <a:off x="457200" y="1499616"/>
            <a:ext cx="2789575" cy="518159"/>
          </a:xfrm>
          <a:prstGeom prst="rect">
            <a:avLst/>
          </a:prstGeom>
          <a:noFill/>
        </p:spPr>
        <p:txBody>
          <a:bodyPr wrap="none" lIns="0" rIns="0">
            <a:noAutofit/>
          </a:bodyPr>
          <a:lstStyle/>
          <a:p>
            <a:pPr algn="l"/>
            <a:r>
              <a:rPr sz="3400" b="1" i="0">
                <a:solidFill>
                  <a:srgbClr val="123A6B"/>
                </a:solidFill>
                <a:latin typeface="Arial"/>
              </a:rPr>
              <a:t>Step</a:t>
            </a:r>
          </a:p>
        </p:txBody>
      </p:sp>
      <p:sp>
        <p:nvSpPr>
          <p:cNvPr id="4" name="TextBox 3"/>
          <p:cNvSpPr txBox="1"/>
          <p:nvPr/>
        </p:nvSpPr>
        <p:spPr>
          <a:xfrm>
            <a:off x="3795415" y="1499616"/>
            <a:ext cx="4673937" cy="518159"/>
          </a:xfrm>
          <a:prstGeom prst="rect">
            <a:avLst/>
          </a:prstGeom>
          <a:noFill/>
        </p:spPr>
        <p:txBody>
          <a:bodyPr wrap="none" lIns="0" rIns="0">
            <a:noAutofit/>
          </a:bodyPr>
          <a:lstStyle/>
          <a:p>
            <a:pPr algn="l"/>
            <a:r>
              <a:rPr sz="3400" b="1" i="0">
                <a:solidFill>
                  <a:srgbClr val="123A6B"/>
                </a:solidFill>
                <a:latin typeface="Arial"/>
              </a:rPr>
              <a:t>What it needs</a:t>
            </a:r>
          </a:p>
        </p:txBody>
      </p:sp>
      <p:sp>
        <p:nvSpPr>
          <p:cNvPr id="5" name="Rectangle 4"/>
          <p:cNvSpPr/>
          <p:nvPr/>
        </p:nvSpPr>
        <p:spPr>
          <a:xfrm>
            <a:off x="457200" y="2072639"/>
            <a:ext cx="7328523"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485475" cy="633984"/>
          </a:xfrm>
          <a:prstGeom prst="rect">
            <a:avLst/>
          </a:prstGeom>
          <a:noFill/>
        </p:spPr>
        <p:txBody>
          <a:bodyPr wrap="none" lIns="0" rIns="0">
            <a:noAutofit/>
          </a:bodyPr>
          <a:lstStyle/>
          <a:p>
            <a:pPr algn="l"/>
            <a:r>
              <a:rPr sz="3400" b="0" i="0">
                <a:solidFill>
                  <a:srgbClr val="0A2240"/>
                </a:solidFill>
                <a:latin typeface="Arial"/>
              </a:rPr>
              <a:t>Intake files</a:t>
            </a:r>
          </a:p>
        </p:txBody>
      </p:sp>
      <p:sp>
        <p:nvSpPr>
          <p:cNvPr id="7" name="TextBox 6"/>
          <p:cNvSpPr txBox="1"/>
          <p:nvPr/>
        </p:nvSpPr>
        <p:spPr>
          <a:xfrm>
            <a:off x="3795415" y="2401823"/>
            <a:ext cx="5982156" cy="633984"/>
          </a:xfrm>
          <a:prstGeom prst="rect">
            <a:avLst/>
          </a:prstGeom>
          <a:noFill/>
        </p:spPr>
        <p:txBody>
          <a:bodyPr wrap="none" lIns="0" rIns="0">
            <a:noAutofit/>
          </a:bodyPr>
          <a:lstStyle/>
          <a:p>
            <a:pPr algn="l"/>
            <a:r>
              <a:rPr sz="3400" b="0" i="0">
                <a:solidFill>
                  <a:srgbClr val="0A2240"/>
                </a:solidFill>
                <a:latin typeface="Arial"/>
              </a:rPr>
              <a:t>Data plus a routine</a:t>
            </a:r>
          </a:p>
        </p:txBody>
      </p:sp>
      <p:sp>
        <p:nvSpPr>
          <p:cNvPr id="8" name="TextBox 7"/>
          <p:cNvSpPr txBox="1"/>
          <p:nvPr/>
        </p:nvSpPr>
        <p:spPr>
          <a:xfrm>
            <a:off x="457200" y="3310127"/>
            <a:ext cx="3293188" cy="633984"/>
          </a:xfrm>
          <a:prstGeom prst="rect">
            <a:avLst/>
          </a:prstGeom>
          <a:noFill/>
        </p:spPr>
        <p:txBody>
          <a:bodyPr wrap="none" lIns="0" rIns="0">
            <a:noAutofit/>
          </a:bodyPr>
          <a:lstStyle/>
          <a:p>
            <a:pPr algn="l"/>
            <a:r>
              <a:rPr sz="3400" b="0" i="0">
                <a:solidFill>
                  <a:srgbClr val="0A2240"/>
                </a:solidFill>
                <a:latin typeface="Arial"/>
              </a:rPr>
              <a:t>Parse text</a:t>
            </a:r>
          </a:p>
        </p:txBody>
      </p:sp>
      <p:sp>
        <p:nvSpPr>
          <p:cNvPr id="9" name="TextBox 8"/>
          <p:cNvSpPr txBox="1"/>
          <p:nvPr/>
        </p:nvSpPr>
        <p:spPr>
          <a:xfrm>
            <a:off x="3795415" y="3310127"/>
            <a:ext cx="3990308" cy="633984"/>
          </a:xfrm>
          <a:prstGeom prst="rect">
            <a:avLst/>
          </a:prstGeom>
          <a:noFill/>
        </p:spPr>
        <p:txBody>
          <a:bodyPr wrap="none" lIns="0" rIns="0">
            <a:noAutofit/>
          </a:bodyPr>
          <a:lstStyle/>
          <a:p>
            <a:pPr algn="l"/>
            <a:r>
              <a:rPr sz="3400" b="0" i="0">
                <a:solidFill>
                  <a:srgbClr val="0A2240"/>
                </a:solidFill>
                <a:latin typeface="Arial"/>
              </a:rPr>
              <a:t>A tool</a:t>
            </a:r>
          </a:p>
        </p:txBody>
      </p:sp>
      <p:sp>
        <p:nvSpPr>
          <p:cNvPr id="10" name="TextBox 9"/>
          <p:cNvSpPr txBox="1"/>
          <p:nvPr/>
        </p:nvSpPr>
        <p:spPr>
          <a:xfrm>
            <a:off x="457200" y="4218431"/>
            <a:ext cx="4060984" cy="633984"/>
          </a:xfrm>
          <a:prstGeom prst="rect">
            <a:avLst/>
          </a:prstGeom>
          <a:noFill/>
        </p:spPr>
        <p:txBody>
          <a:bodyPr wrap="none" lIns="0" rIns="0">
            <a:noAutofit/>
          </a:bodyPr>
          <a:lstStyle/>
          <a:p>
            <a:pPr algn="l"/>
            <a:r>
              <a:rPr sz="3400" b="0" i="0">
                <a:solidFill>
                  <a:srgbClr val="0A2240"/>
                </a:solidFill>
                <a:latin typeface="Arial"/>
              </a:rPr>
              <a:t>Score match</a:t>
            </a:r>
          </a:p>
        </p:txBody>
      </p:sp>
      <p:sp>
        <p:nvSpPr>
          <p:cNvPr id="11" name="TextBox 10"/>
          <p:cNvSpPr txBox="1"/>
          <p:nvPr/>
        </p:nvSpPr>
        <p:spPr>
          <a:xfrm>
            <a:off x="3795415" y="4218431"/>
            <a:ext cx="3990308" cy="633984"/>
          </a:xfrm>
          <a:prstGeom prst="rect">
            <a:avLst/>
          </a:prstGeom>
          <a:noFill/>
        </p:spPr>
        <p:txBody>
          <a:bodyPr wrap="none" lIns="0" rIns="0">
            <a:noAutofit/>
          </a:bodyPr>
          <a:lstStyle/>
          <a:p>
            <a:pPr algn="l"/>
            <a:r>
              <a:rPr sz="3400" b="0" i="0">
                <a:solidFill>
                  <a:srgbClr val="0A2240"/>
                </a:solidFill>
                <a:latin typeface="Arial"/>
              </a:rPr>
              <a:t>A model call</a:t>
            </a:r>
          </a:p>
        </p:txBody>
      </p:sp>
      <p:sp>
        <p:nvSpPr>
          <p:cNvPr id="12" name="TextBox 11"/>
          <p:cNvSpPr txBox="1"/>
          <p:nvPr/>
        </p:nvSpPr>
        <p:spPr>
          <a:xfrm>
            <a:off x="457200" y="5126735"/>
            <a:ext cx="3792457" cy="633984"/>
          </a:xfrm>
          <a:prstGeom prst="rect">
            <a:avLst/>
          </a:prstGeom>
          <a:noFill/>
        </p:spPr>
        <p:txBody>
          <a:bodyPr wrap="none" lIns="0" rIns="0">
            <a:noAutofit/>
          </a:bodyPr>
          <a:lstStyle/>
          <a:p>
            <a:pPr algn="l"/>
            <a:r>
              <a:rPr sz="3400" b="0" i="0">
                <a:solidFill>
                  <a:srgbClr val="0A2240"/>
                </a:solidFill>
                <a:latin typeface="Arial"/>
              </a:rPr>
              <a:t>Approve list</a:t>
            </a:r>
          </a:p>
        </p:txBody>
      </p:sp>
      <p:sp>
        <p:nvSpPr>
          <p:cNvPr id="13" name="TextBox 12"/>
          <p:cNvSpPr txBox="1"/>
          <p:nvPr/>
        </p:nvSpPr>
        <p:spPr>
          <a:xfrm>
            <a:off x="3795415" y="5126735"/>
            <a:ext cx="5636716" cy="633984"/>
          </a:xfrm>
          <a:prstGeom prst="rect">
            <a:avLst/>
          </a:prstGeom>
          <a:noFill/>
        </p:spPr>
        <p:txBody>
          <a:bodyPr wrap="none" lIns="0" rIns="0">
            <a:noAutofit/>
          </a:bodyPr>
          <a:lstStyle/>
          <a:p>
            <a:pPr algn="l"/>
            <a:r>
              <a:rPr sz="3400" b="0" i="0">
                <a:solidFill>
                  <a:srgbClr val="0A2240"/>
                </a:solidFill>
                <a:latin typeface="Arial"/>
              </a:rPr>
              <a:t>A human decision</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The riskiest step</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one whose failure wastes the most time.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Find It</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Mark unknowns</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Boxes you cannot describe</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Ask who blocks</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Which stalls everything after</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Pick one</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Only one gets this attention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Prompt for Failure Modes</a:t>
            </a:r>
          </a:p>
        </p:txBody>
      </p:sp>
      <p:sp>
        <p:nvSpPr>
          <p:cNvPr id="6" name="TextBox 5"/>
          <p:cNvSpPr txBox="1"/>
          <p:nvPr/>
        </p:nvSpPr>
        <p:spPr>
          <a:xfrm>
            <a:off x="457200" y="1837944"/>
            <a:ext cx="5365828" cy="518159"/>
          </a:xfrm>
          <a:prstGeom prst="rect">
            <a:avLst/>
          </a:prstGeom>
          <a:noFill/>
        </p:spPr>
        <p:txBody>
          <a:bodyPr wrap="none" lIns="0" rIns="0">
            <a:noAutofit/>
          </a:bodyPr>
          <a:lstStyle/>
          <a:p>
            <a:pPr algn="l"/>
            <a:r>
              <a:rPr sz="3400" b="0" i="0">
                <a:solidFill>
                  <a:srgbClr val="D4D4D4"/>
                </a:solidFill>
                <a:latin typeface="Arial"/>
              </a:rPr>
              <a:t>Our riskiest step:</a:t>
            </a:r>
          </a:p>
        </p:txBody>
      </p:sp>
      <p:sp>
        <p:nvSpPr>
          <p:cNvPr id="7" name="TextBox 6"/>
          <p:cNvSpPr txBox="1"/>
          <p:nvPr/>
        </p:nvSpPr>
        <p:spPr>
          <a:xfrm>
            <a:off x="457200" y="2356103"/>
            <a:ext cx="6741854" cy="518159"/>
          </a:xfrm>
          <a:prstGeom prst="rect">
            <a:avLst/>
          </a:prstGeom>
          <a:noFill/>
        </p:spPr>
        <p:txBody>
          <a:bodyPr wrap="none" lIns="0" rIns="0">
            <a:noAutofit/>
          </a:bodyPr>
          <a:lstStyle/>
          <a:p>
            <a:pPr algn="l"/>
            <a:r>
              <a:rPr sz="3400" b="0" i="0">
                <a:solidFill>
                  <a:srgbClr val="CE9178"/>
                </a:solidFill>
                <a:latin typeface="Arial"/>
              </a:rPr>
              <a:t>"&lt;describe the step&gt;"</a:t>
            </a:r>
          </a:p>
        </p:txBody>
      </p:sp>
      <p:sp>
        <p:nvSpPr>
          <p:cNvPr id="8" name="TextBox 7"/>
          <p:cNvSpPr txBox="1"/>
          <p:nvPr/>
        </p:nvSpPr>
        <p:spPr>
          <a:xfrm>
            <a:off x="457200" y="3392421"/>
            <a:ext cx="10459382" cy="518159"/>
          </a:xfrm>
          <a:prstGeom prst="rect">
            <a:avLst/>
          </a:prstGeom>
          <a:noFill/>
        </p:spPr>
        <p:txBody>
          <a:bodyPr wrap="none" lIns="0" rIns="0">
            <a:noAutofit/>
          </a:bodyPr>
          <a:lstStyle/>
          <a:p>
            <a:pPr algn="l"/>
            <a:r>
              <a:rPr sz="3400" b="0" i="0">
                <a:solidFill>
                  <a:srgbClr val="D4D4D4"/>
                </a:solidFill>
                <a:latin typeface="Arial"/>
              </a:rPr>
              <a:t>Give the THREE most likely ways</a:t>
            </a:r>
          </a:p>
        </p:txBody>
      </p:sp>
      <p:sp>
        <p:nvSpPr>
          <p:cNvPr id="9" name="TextBox 8"/>
          <p:cNvSpPr txBox="1"/>
          <p:nvPr/>
        </p:nvSpPr>
        <p:spPr>
          <a:xfrm>
            <a:off x="457200" y="3910580"/>
            <a:ext cx="2870497" cy="518159"/>
          </a:xfrm>
          <a:prstGeom prst="rect">
            <a:avLst/>
          </a:prstGeom>
          <a:noFill/>
        </p:spPr>
        <p:txBody>
          <a:bodyPr wrap="none" lIns="0" rIns="0">
            <a:noAutofit/>
          </a:bodyPr>
          <a:lstStyle/>
          <a:p>
            <a:pPr algn="l"/>
            <a:r>
              <a:rPr sz="3400" b="0" i="0">
                <a:solidFill>
                  <a:srgbClr val="D4D4D4"/>
                </a:solidFill>
                <a:latin typeface="Arial"/>
              </a:rPr>
              <a:t>this fails </a:t>
            </a:r>
          </a:p>
        </p:txBody>
      </p:sp>
      <p:sp>
        <p:nvSpPr>
          <p:cNvPr id="10" name="TextBox 9"/>
          <p:cNvSpPr txBox="1"/>
          <p:nvPr/>
        </p:nvSpPr>
        <p:spPr>
          <a:xfrm>
            <a:off x="2136961" y="3910580"/>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11" name="TextBox 10"/>
          <p:cNvSpPr txBox="1"/>
          <p:nvPr/>
        </p:nvSpPr>
        <p:spPr>
          <a:xfrm>
            <a:off x="2473040" y="3910580"/>
            <a:ext cx="2985868" cy="518159"/>
          </a:xfrm>
          <a:prstGeom prst="rect">
            <a:avLst/>
          </a:prstGeom>
          <a:noFill/>
        </p:spPr>
        <p:txBody>
          <a:bodyPr wrap="none" lIns="0" rIns="0">
            <a:noAutofit/>
          </a:bodyPr>
          <a:lstStyle/>
          <a:p>
            <a:pPr algn="l"/>
            <a:r>
              <a:rPr sz="3400" b="0" i="0">
                <a:solidFill>
                  <a:srgbClr val="D4D4D4"/>
                </a:solidFill>
                <a:latin typeface="Arial"/>
              </a:rPr>
              <a:t> practice.</a:t>
            </a:r>
          </a:p>
        </p:txBody>
      </p:sp>
      <p:sp>
        <p:nvSpPr>
          <p:cNvPr id="12" name="TextBox 11"/>
          <p:cNvSpPr txBox="1"/>
          <p:nvPr/>
        </p:nvSpPr>
        <p:spPr>
          <a:xfrm>
            <a:off x="457200" y="4428739"/>
            <a:ext cx="4904342" cy="518159"/>
          </a:xfrm>
          <a:prstGeom prst="rect">
            <a:avLst/>
          </a:prstGeom>
          <a:noFill/>
        </p:spPr>
        <p:txBody>
          <a:bodyPr wrap="none" lIns="0" rIns="0">
            <a:noAutofit/>
          </a:bodyPr>
          <a:lstStyle/>
          <a:p>
            <a:pPr algn="l"/>
            <a:r>
              <a:rPr sz="3400" b="0" i="0">
                <a:solidFill>
                  <a:srgbClr val="D4D4D4"/>
                </a:solidFill>
                <a:latin typeface="Arial"/>
              </a:rPr>
              <a:t>Most likely first.</a:t>
            </a:r>
          </a:p>
        </p:txBody>
      </p:sp>
      <p:sp>
        <p:nvSpPr>
          <p:cNvPr id="13" name="TextBox 12"/>
          <p:cNvSpPr txBox="1"/>
          <p:nvPr/>
        </p:nvSpPr>
        <p:spPr>
          <a:xfrm>
            <a:off x="457200" y="4946898"/>
            <a:ext cx="10205700" cy="518159"/>
          </a:xfrm>
          <a:prstGeom prst="rect">
            <a:avLst/>
          </a:prstGeom>
          <a:noFill/>
        </p:spPr>
        <p:txBody>
          <a:bodyPr wrap="none" lIns="0" rIns="0">
            <a:noAutofit/>
          </a:bodyPr>
          <a:lstStyle/>
          <a:p>
            <a:pPr algn="l"/>
            <a:r>
              <a:rPr sz="3400" b="0" i="0">
                <a:solidFill>
                  <a:srgbClr val="D4D4D4"/>
                </a:solidFill>
                <a:latin typeface="Arial"/>
              </a:rPr>
              <a:t>For each: the early warning sign.</a:t>
            </a:r>
          </a:p>
        </p:txBody>
      </p:sp>
      <p:sp>
        <p:nvSpPr>
          <p:cNvPr id="14" name="TextBox 13"/>
          <p:cNvSpPr txBox="1"/>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No fixes yet.</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Where Steps Usually Fail</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Input</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Arrives wrong or not at all</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Transform</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Works, but not on real data</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Access</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The key, quota, or approval</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What to Do With Three Failures</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Build the warning sign in first</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Stub the step if it may not land</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Give the risky box its best owner</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Which Step Gets the Attention</a:t>
            </a:r>
          </a:p>
        </p:txBody>
      </p:sp>
      <p:sp>
        <p:nvSpPr>
          <p:cNvPr id="3" name="TextBox 2"/>
          <p:cNvSpPr txBox="1"/>
          <p:nvPr/>
        </p:nvSpPr>
        <p:spPr>
          <a:xfrm>
            <a:off x="3889248" y="1499616"/>
            <a:ext cx="2432304" cy="518159"/>
          </a:xfrm>
          <a:prstGeom prst="rect">
            <a:avLst/>
          </a:prstGeom>
          <a:noFill/>
        </p:spPr>
        <p:txBody>
          <a:bodyPr wrap="none" lIns="0" rIns="0">
            <a:noAutofit/>
          </a:bodyPr>
          <a:lstStyle/>
          <a:p>
            <a:pPr algn="ctr"/>
            <a:r>
              <a:rPr sz="3400" b="1" i="0">
                <a:solidFill>
                  <a:srgbClr val="0A2240"/>
                </a:solidFill>
                <a:latin typeface="Arial"/>
              </a:rPr>
              <a:t>Intake</a:t>
            </a:r>
          </a:p>
        </p:txBody>
      </p:sp>
      <p:sp>
        <p:nvSpPr>
          <p:cNvPr id="4" name="TextBox 3"/>
          <p:cNvSpPr txBox="1"/>
          <p:nvPr/>
        </p:nvSpPr>
        <p:spPr>
          <a:xfrm>
            <a:off x="6595872" y="1499616"/>
            <a:ext cx="2432304" cy="518159"/>
          </a:xfrm>
          <a:prstGeom prst="rect">
            <a:avLst/>
          </a:prstGeom>
          <a:noFill/>
        </p:spPr>
        <p:txBody>
          <a:bodyPr wrap="none" lIns="0" rIns="0">
            <a:noAutofit/>
          </a:bodyPr>
          <a:lstStyle/>
          <a:p>
            <a:pPr algn="ctr"/>
            <a:r>
              <a:rPr sz="3400" b="1" i="0">
                <a:solidFill>
                  <a:srgbClr val="0A2240"/>
                </a:solidFill>
                <a:latin typeface="Arial"/>
              </a:rPr>
              <a:t>Parse</a:t>
            </a:r>
          </a:p>
        </p:txBody>
      </p:sp>
      <p:sp>
        <p:nvSpPr>
          <p:cNvPr id="5" name="TextBox 4"/>
          <p:cNvSpPr txBox="1"/>
          <p:nvPr/>
        </p:nvSpPr>
        <p:spPr>
          <a:xfrm>
            <a:off x="9302496" y="1499616"/>
            <a:ext cx="2432304" cy="518159"/>
          </a:xfrm>
          <a:prstGeom prst="rect">
            <a:avLst/>
          </a:prstGeom>
          <a:noFill/>
        </p:spPr>
        <p:txBody>
          <a:bodyPr wrap="none" lIns="0" rIns="0">
            <a:noAutofit/>
          </a:bodyPr>
          <a:lstStyle/>
          <a:p>
            <a:pPr algn="ctr"/>
            <a:r>
              <a:rPr sz="3400" b="1" i="0">
                <a:solidFill>
                  <a:srgbClr val="0A2240"/>
                </a:solidFill>
                <a:latin typeface="Arial"/>
              </a:rPr>
              <a:t>Score</a:t>
            </a:r>
          </a:p>
        </p:txBody>
      </p:sp>
      <p:sp>
        <p:nvSpPr>
          <p:cNvPr id="6" name="Rectangle 5"/>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401823"/>
            <a:ext cx="3291502" cy="936752"/>
          </a:xfrm>
          <a:prstGeom prst="rect">
            <a:avLst/>
          </a:prstGeom>
          <a:noFill/>
        </p:spPr>
        <p:txBody>
          <a:bodyPr wrap="none" lIns="0" rIns="0">
            <a:noAutofit/>
          </a:bodyPr>
          <a:lstStyle/>
          <a:p>
            <a:pPr algn="l"/>
            <a:r>
              <a:rPr sz="3400" b="1" i="0">
                <a:solidFill>
                  <a:srgbClr val="0A2240"/>
                </a:solidFill>
                <a:latin typeface="Arial"/>
              </a:rPr>
              <a:t>Unknown</a:t>
            </a:r>
          </a:p>
        </p:txBody>
      </p:sp>
      <p:sp>
        <p:nvSpPr>
          <p:cNvPr id="8" name="Rectangle 7"/>
          <p:cNvSpPr/>
          <p:nvPr/>
        </p:nvSpPr>
        <p:spPr>
          <a:xfrm>
            <a:off x="4568570" y="2401823"/>
            <a:ext cx="1073659"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8380" y="2401823"/>
            <a:ext cx="1374039" cy="518159"/>
          </a:xfrm>
          <a:prstGeom prst="rect">
            <a:avLst/>
          </a:prstGeom>
          <a:noFill/>
        </p:spPr>
        <p:txBody>
          <a:bodyPr wrap="none" lIns="0" rIns="0">
            <a:noAutofit/>
          </a:bodyPr>
          <a:lstStyle/>
          <a:p>
            <a:pPr algn="ctr"/>
            <a:r>
              <a:rPr sz="3400" b="1" i="0">
                <a:solidFill>
                  <a:srgbClr val="FFFFFF"/>
                </a:solidFill>
                <a:latin typeface="Arial"/>
              </a:rPr>
              <a:t>Yes</a:t>
            </a:r>
          </a:p>
        </p:txBody>
      </p:sp>
      <p:sp>
        <p:nvSpPr>
          <p:cNvPr id="10" name="TextBox 9"/>
          <p:cNvSpPr txBox="1"/>
          <p:nvPr/>
        </p:nvSpPr>
        <p:spPr>
          <a:xfrm>
            <a:off x="6595872" y="2401823"/>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1" name="TextBox 10"/>
          <p:cNvSpPr txBox="1"/>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2" name="TextBox 11"/>
          <p:cNvSpPr txBox="1"/>
          <p:nvPr/>
        </p:nvSpPr>
        <p:spPr>
          <a:xfrm>
            <a:off x="457200" y="3612895"/>
            <a:ext cx="3907830" cy="936752"/>
          </a:xfrm>
          <a:prstGeom prst="rect">
            <a:avLst/>
          </a:prstGeom>
          <a:noFill/>
        </p:spPr>
        <p:txBody>
          <a:bodyPr wrap="none" lIns="0" rIns="0">
            <a:noAutofit/>
          </a:bodyPr>
          <a:lstStyle/>
          <a:p>
            <a:pPr algn="l"/>
            <a:r>
              <a:rPr sz="3400" b="1" i="0">
                <a:solidFill>
                  <a:srgbClr val="0A2240"/>
                </a:solidFill>
                <a:latin typeface="Arial"/>
              </a:rPr>
              <a:t>Blocks rest</a:t>
            </a:r>
          </a:p>
        </p:txBody>
      </p:sp>
      <p:sp>
        <p:nvSpPr>
          <p:cNvPr id="13" name="TextBox 12"/>
          <p:cNvSpPr txBox="1"/>
          <p:nvPr/>
        </p:nvSpPr>
        <p:spPr>
          <a:xfrm>
            <a:off x="3889248" y="3612895"/>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4" name="TextBox 13"/>
          <p:cNvSpPr txBox="1"/>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5" name="TextBox 14"/>
          <p:cNvSpPr txBox="1"/>
          <p:nvPr/>
        </p:nvSpPr>
        <p:spPr>
          <a:xfrm>
            <a:off x="9302496" y="3612895"/>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6" name="TextBox 15"/>
          <p:cNvSpPr txBox="1"/>
          <p:nvPr/>
        </p:nvSpPr>
        <p:spPr>
          <a:xfrm>
            <a:off x="457200" y="4823967"/>
            <a:ext cx="3599160" cy="936752"/>
          </a:xfrm>
          <a:prstGeom prst="rect">
            <a:avLst/>
          </a:prstGeom>
          <a:noFill/>
        </p:spPr>
        <p:txBody>
          <a:bodyPr wrap="none" lIns="0" rIns="0">
            <a:noAutofit/>
          </a:bodyPr>
          <a:lstStyle/>
          <a:p>
            <a:pPr algn="l"/>
            <a:r>
              <a:rPr sz="3400" b="1" i="0">
                <a:solidFill>
                  <a:srgbClr val="0A2240"/>
                </a:solidFill>
                <a:latin typeface="Arial"/>
              </a:rPr>
              <a:t>Hard to fix</a:t>
            </a:r>
          </a:p>
        </p:txBody>
      </p:sp>
      <p:sp>
        <p:nvSpPr>
          <p:cNvPr id="17" name="TextBox 16"/>
          <p:cNvSpPr txBox="1"/>
          <p:nvPr/>
        </p:nvSpPr>
        <p:spPr>
          <a:xfrm>
            <a:off x="3889248" y="4823967"/>
            <a:ext cx="2432304" cy="936752"/>
          </a:xfrm>
          <a:prstGeom prst="rect">
            <a:avLst/>
          </a:prstGeom>
          <a:noFill/>
        </p:spPr>
        <p:txBody>
          <a:bodyPr wrap="none" lIns="0" rIns="0">
            <a:noAutofit/>
          </a:bodyPr>
          <a:lstStyle/>
          <a:p>
            <a:pPr algn="ctr"/>
            <a:r>
              <a:rPr sz="3400" b="0" i="0">
                <a:solidFill>
                  <a:srgbClr val="0A2240"/>
                </a:solidFill>
                <a:latin typeface="Arial"/>
              </a:rPr>
              <a:t>Yes</a:t>
            </a:r>
          </a:p>
        </p:txBody>
      </p:sp>
      <p:sp>
        <p:nvSpPr>
          <p:cNvPr id="18" name="TextBox 17"/>
          <p:cNvSpPr txBox="1"/>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19" name="TextBox 18"/>
          <p:cNvSpPr txBox="1"/>
          <p:nvPr/>
        </p:nvSpPr>
        <p:spPr>
          <a:xfrm>
            <a:off x="9302496" y="4823967"/>
            <a:ext cx="2432304" cy="936752"/>
          </a:xfrm>
          <a:prstGeom prst="rect">
            <a:avLst/>
          </a:prstGeom>
          <a:noFill/>
        </p:spPr>
        <p:txBody>
          <a:bodyPr wrap="none" lIns="0" rIns="0">
            <a:noAutofit/>
          </a:bodyPr>
          <a:lstStyle/>
          <a:p>
            <a:pPr algn="ctr"/>
            <a:r>
              <a:rPr sz="3400" b="0" i="0">
                <a:solidFill>
                  <a:srgbClr val="0A2240"/>
                </a:solidFill>
                <a:latin typeface="Arial"/>
              </a:rPr>
              <a:t>No</a:t>
            </a:r>
          </a:p>
        </p:txBody>
      </p:sp>
      <p:sp>
        <p:nvSpPr>
          <p:cNvPr id="20" name="TextBox 19"/>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the Risk Down</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Put it on the diagram</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Name the warning sign</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Say who is watching for it</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Done With This Session When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map runs input to output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is an Artifact with a link</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Every box names what it needs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riskiest step has three failures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You Leave With</a:t>
            </a:r>
          </a:p>
        </p:txBody>
      </p:sp>
      <p:sp>
        <p:nvSpPr>
          <p:cNvPr id="3" name="TextBox 2"/>
          <p:cNvSpPr txBo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a:t>
            </a:r>
          </a:p>
        </p:txBody>
      </p:sp>
      <p:sp>
        <p:nvSpPr>
          <p:cNvPr id="4" name="TextBox 3"/>
          <p:cNvSpPr txBox="1"/>
          <p:nvPr/>
        </p:nvSpPr>
        <p:spPr>
          <a:xfrm>
            <a:off x="457200" y="3965448"/>
            <a:ext cx="5098652" cy="518159"/>
          </a:xfrm>
          <a:prstGeom prst="rect">
            <a:avLst/>
          </a:prstGeom>
          <a:noFill/>
        </p:spPr>
        <p:txBody>
          <a:bodyPr wrap="none" lIns="0" rIns="0">
            <a:noAutofit/>
          </a:bodyPr>
          <a:lstStyle/>
          <a:p>
            <a:pPr algn="l"/>
            <a:r>
              <a:rPr sz="3400" b="0" i="0">
                <a:solidFill>
                  <a:srgbClr val="0A2240"/>
                </a:solidFill>
                <a:latin typeface="Arial"/>
              </a:rPr>
              <a:t>Shared diagram</a:t>
            </a:r>
          </a:p>
        </p:txBody>
      </p:sp>
      <p:sp>
        <p:nvSpPr>
          <p:cNvPr id="5" name="TextBox 4"/>
          <p:cNvSpPr txBox="1"/>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4</a:t>
            </a:r>
          </a:p>
        </p:txBody>
      </p:sp>
      <p:sp>
        <p:nvSpPr>
          <p:cNvPr id="6" name="TextBox 5"/>
          <p:cNvSpPr txBox="1"/>
          <p:nvPr/>
        </p:nvSpPr>
        <p:spPr>
          <a:xfrm>
            <a:off x="4307840" y="3965448"/>
            <a:ext cx="4408110" cy="518159"/>
          </a:xfrm>
          <a:prstGeom prst="rect">
            <a:avLst/>
          </a:prstGeom>
          <a:noFill/>
        </p:spPr>
        <p:txBody>
          <a:bodyPr wrap="none" lIns="0" rIns="0">
            <a:noAutofit/>
          </a:bodyPr>
          <a:lstStyle/>
          <a:p>
            <a:pPr algn="l"/>
            <a:r>
              <a:rPr sz="3400" b="0" i="0">
                <a:solidFill>
                  <a:srgbClr val="0A2240"/>
                </a:solidFill>
                <a:latin typeface="Arial"/>
              </a:rPr>
              <a:t>Kinds of need</a:t>
            </a:r>
          </a:p>
        </p:txBody>
      </p:sp>
      <p:sp>
        <p:nvSpPr>
          <p:cNvPr id="7" name="TextBox 6"/>
          <p:cNvSpPr txBox="1"/>
          <p:nvPr/>
        </p:nvSpPr>
        <p:spPr>
          <a:xfrm>
            <a:off x="8158480" y="2776728"/>
            <a:ext cx="3576320" cy="914400"/>
          </a:xfrm>
          <a:prstGeom prst="rect">
            <a:avLst/>
          </a:prstGeom>
          <a:noFill/>
        </p:spPr>
        <p:txBody>
          <a:bodyPr wrap="none" lIns="0" rIns="0">
            <a:noAutofit/>
          </a:bodyPr>
          <a:lstStyle/>
          <a:p>
            <a:pPr algn="l"/>
            <a:r>
              <a:rPr sz="6000" b="1" i="0">
                <a:solidFill>
                  <a:srgbClr val="0072CE"/>
                </a:solidFill>
                <a:latin typeface="Arial"/>
              </a:rPr>
              <a:t>3</a:t>
            </a:r>
          </a:p>
        </p:txBody>
      </p:sp>
      <p:sp>
        <p:nvSpPr>
          <p:cNvPr id="8" name="TextBox 7"/>
          <p:cNvSpPr txBox="1"/>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Named failures</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51</a:t>
            </a:fld>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Next: Dividing the Work</a:t>
            </a:r>
          </a:p>
        </p:txBody>
      </p:sp>
      <p:sp>
        <p:nvSpPr>
          <p:cNvPr id="3" name="TextBox 2"/>
          <p:cNvSpPr txBo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Give every step one owner</a:t>
            </a:r>
          </a:p>
        </p:txBody>
      </p:sp>
      <p:sp>
        <p:nvSpPr>
          <p:cNvPr id="4" name="TextBox 3"/>
          <p:cNvSpPr txBox="1"/>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Run workstreams in parallel</a:t>
            </a:r>
          </a:p>
        </p:txBody>
      </p:sp>
      <p:sp>
        <p:nvSpPr>
          <p:cNvPr id="5" name="TextBox 4"/>
          <p:cNvSpPr txBox="1"/>
          <p:nvPr/>
        </p:nvSpPr>
        <p:spPr>
          <a:xfrm>
            <a:off x="457200" y="4346447"/>
            <a:ext cx="11277600" cy="518159"/>
          </a:xfrm>
          <a:prstGeom prst="rect">
            <a:avLst/>
          </a:prstGeom>
          <a:noFill/>
        </p:spPr>
        <p:txBody>
          <a:bodyPr wrap="none" lIns="0" rIns="0">
            <a:noAutofit/>
          </a:bodyPr>
          <a:lstStyle/>
          <a:p>
            <a:pPr algn="l"/>
            <a:r>
              <a:rPr sz="3400" b="0" i="0">
                <a:solidFill>
                  <a:srgbClr val="0A2240"/>
                </a:solidFill>
                <a:latin typeface="Arial"/>
              </a:rPr>
              <a:t>Put the board in GitHub</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52</a:t>
            </a:fld>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Which box comes last?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53</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