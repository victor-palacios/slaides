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session 1.2, Mapping the Workflow. We take the problem you sharpened last hour and turn it into a picture of how the solution actually runs.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fifty-five minutes, and you leave with one thing: a diagram of your workflow that your whole team can see and share.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this hour. We decompose the problem into steps, turn that map into an Artifact, name what each step needs, and finish by finding how the riskiest step fails.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question for your own problem. You can name your input and you can name your output. How do you actually get from one to the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hour you produced one precise sentence about what is wrong. This hour you draw the path that gets it solved.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moves to get there: break the problem into steps, draw them as an Artifact, annotate what each one needs, then stress the map to find where it breaks.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objective: a stepwise path from raw input to delivered output, with no gaps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workflow is the ordered set of steps that carries you from raw input all the way to a delivered output. Both ends of that sentence matter as much as the middle.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 is one change, with a named input and a named output. If you cannot name both, it is not a step yet.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step has three parts: an input, which is what arrives and the shape it arrives in; a transform, the one thing this step does; and an output, what leaves ready for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Decomposing is three moves. Name the output — what the user finally gets. Work backwards, asking what must exist before it. And stop at raw input, meaning whatever you actually receive.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from the output, because working forwards drifts toward whatever is easy. Backwards makes every step earn its place, and you spot the missing middle sooner.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Vague on the left, concrete on the right. “Process the data” becomes “parse CSV to records”; “use AI” becomes “Claude drafts a summary”.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 is the right size when one person could own it, you could test it on its own, and it fits in a morning.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 coarse is “build the pipeline” — it hides the hard part and cannot be assigned. Too fine is “open the file” — twenty trivial boxes, which is noise rather than a map.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prompt. Paste your 1.1 statement, ask it to work backwards from the output, list each step with its input and output, stop at the raw input you have, five to nine steps, no tools yet.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worked example: resume files arrive at intake, parse pulls text out of each file, score matches them against the role, and report produces a ranked list with gaps.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mistakes to watch for: starting after the messy part, one step quietly doing three things, no step for getting the data at all, and an output nobody ever defined.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means one path start to end, easy to demo — that is what you pick for Day 2. Branching means cases split the path; it is harder to finish, so note it and defer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happy path is the one route through your map where nothing fails.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it as one line through the map. Label every branch as later, and list your edge cases without building them.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gap in the map is a gap in Day 2. That is why the middle matters.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objective: turning that list of steps into a picture the whole team can hold.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Claude Artifact is standalone content Claude builds for you, which you share by link.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described workflow lives in a transcript, each person pictures it differently, and it gets re-explained every time. A drawn one is one picture with one meaning, disagreement shows up fast, and you send it as a link.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Artifact gives you three things: you see the whole path at once, you revise it in seconds, and you share it with the whole team through one link.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Paste in your list from section one. Ask for a diagram — boxes and arrows, top down. Then fix it out loud until it matches what you meant.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that prompt. Paste the steps, ask for a flow diagram top to bottom, one box per step, and label every arrow with what passes between the steps.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must appear: raw input and where it enters, one box per step, what passes on each arrow, and the delivered output.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conventions: top to bottom reads fastest, one verb per box, and keep labels under five words.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Revise it together. Ask for the change out loud, re-read the new version as a group, and stop when nobody objects.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pitfalls: a pretty diagram nobody rechecks, boxes with no arrow labels, and a link that never actually got shared.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 that lives in a chat scrolls away by noon. One that lives in your Project sits beside the problem statement, where you will find it again.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objective: every box on that diagram gets annotated with what it actually needs to run.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kinds of need. Data, meaning something must be supplied. A tool — code, an API, or a model call. A routine, meaning it runs on a schedule. Or a human, where a person decides.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Annotate every box: at least one need per step, say which of the four it is, and mark the unknowns rather than skipping them.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Claude Routine is a prompt that Claude runs on a schedule, without anyone asking.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 is a routine when it repeats on a clock, when nobody should have to remember it, and when being late is worse than being imperfect.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written out. Every weekday at eight: read new files in intake, score each against the role, append to the ranked sheet, and flag anything scoring low.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human decision is a step where a person judges and the system waits for them.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a human in the loop when being wrong is expensive, when the call needs context the system does not have, and when someone has to be accountable.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worked example, annotated. Intake needs data plus a routine. Parse needs a tool. Score needs a model call. And approving the list needs a human decision.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riskiest step is the one whose failure would waste the most of your time.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it in three moves. Mark the boxes you cannot describe. Ask which one stalls everything after it. Then pick one — only one gets this attention.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prompt for that. Describe the step, ask for the three most likely ways it fails in practice, most likely first, each with its early warning sign, and no fixes yet.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usually fail in three places. The input arrives wrong or not at all. The transform works, but not on real data. Or access fails — the key, the quota, or the approval.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three things with those failures: build the warning sign in first, stub the step if it might not land, and give the risky box your best owner.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against three criteria. Intake is unknown, blocks the rest, and is hard to fix — it takes all three. Parse blocks the rest but is known. Score is unknown but blocks nothing.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the risk down: put it on the diagram, name the warning sign, and say who is watching for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done when the map runs input to output, it is an Artifact with a link, every box names what it needs, and the riskiest step has three named failures.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leave with one shared diagram, four kinds of need annotated, and three named failures.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session we give every step one owner, run the workstreams in parallel, and put the board in GitHub.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lidekit · Title Slid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914400" y="2971800"/>
            <a:ext cx="11277600" cy="914400"/>
          </a:xfrm>
          <a:prstGeom prst="rect">
            <a:avLst/>
          </a:prstGeom>
          <a:noFill/>
        </p:spPr>
        <p:txBody>
          <a:bodyPr wrap="none" lIns="0" rIns="0">
            <a:noAutofit/>
          </a:bodyPr>
          <a:lstStyle/>
          <a:p>
            <a:pPr algn="l"/>
            <a:r>
              <a:rPr sz="6000" b="1" i="0">
                <a:solidFill>
                  <a:srgbClr val="0072CE"/>
                </a:solidFill>
                <a:latin typeface="Arial"/>
              </a:rPr>
              <a:t>Quarterly Business Review</a:t>
            </a:r>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lidekit · Icon Text Row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Drives Us</a:t>
            </a:r>
          </a:p>
        </p:txBody>
      </p:sp>
      <p:sp>
        <p:nvSpPr>
          <p:cNvPr id="6" name="TextBox 5"/>
          <p:cNvSpPr/>
          <p:nvPr>
            <p:ph type="body" id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Excellence</a:t>
            </a:r>
          </a:p>
        </p:txBody>
      </p:sp>
      <p:sp>
        <p:nvSpPr>
          <p:cNvPr id="7" name="TextBox 6"/>
          <p:cNvSpPr/>
          <p:nvPr>
            <p:ph type="body" idx="2"/>
          </p:nvPr>
        </p:nvSpPr>
        <p:spPr>
          <a:xfrm>
            <a:off x="457200" y="2109215"/>
            <a:ext cx="11734800" cy="627889"/>
          </a:xfrm>
          <a:prstGeom prst="rect">
            <a:avLst/>
          </a:prstGeom>
          <a:noFill/>
        </p:spPr>
        <p:txBody>
          <a:bodyPr wrap="none" lIns="0" rIns="0">
            <a:noAutofit/>
          </a:bodyPr>
          <a:lstStyle/>
          <a:p>
            <a:pPr algn="l"/>
            <a:r>
              <a:rPr sz="3400" b="0" i="0">
                <a:solidFill>
                  <a:srgbClr val="0A2240"/>
                </a:solidFill>
                <a:latin typeface="Arial"/>
              </a:rPr>
              <a:t>High standards in every deliverable we ship.</a:t>
            </a:r>
          </a:p>
        </p:txBody>
      </p:sp>
      <p:sp>
        <p:nvSpPr>
          <p:cNvPr id="8" name="TextBox 7"/>
          <p:cNvSpPr/>
          <p:nvPr>
            <p:ph type="body" idx="3"/>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Integrity</a:t>
            </a:r>
          </a:p>
        </p:txBody>
      </p:sp>
      <p:sp>
        <p:nvSpPr>
          <p:cNvPr id="9" name="TextBox 8"/>
          <p:cNvSpPr/>
          <p:nvPr>
            <p:ph type="body" idx="4"/>
          </p:nvPr>
        </p:nvSpPr>
        <p:spPr>
          <a:xfrm>
            <a:off x="457200" y="3621023"/>
            <a:ext cx="11333440" cy="627889"/>
          </a:xfrm>
          <a:prstGeom prst="rect">
            <a:avLst/>
          </a:prstGeom>
          <a:noFill/>
        </p:spPr>
        <p:txBody>
          <a:bodyPr wrap="none" lIns="0" rIns="0">
            <a:noAutofit/>
          </a:bodyPr>
          <a:lstStyle/>
          <a:p>
            <a:pPr algn="l"/>
            <a:r>
              <a:rPr sz="3400" b="0" i="0">
                <a:solidFill>
                  <a:srgbClr val="0A2240"/>
                </a:solidFill>
                <a:latin typeface="Arial"/>
              </a:rPr>
              <a:t>Transparent and honest in all we do.</a:t>
            </a:r>
          </a:p>
        </p:txBody>
      </p:sp>
      <p:sp>
        <p:nvSpPr>
          <p:cNvPr id="10" name="TextBox 9"/>
          <p:cNvSpPr/>
          <p:nvPr>
            <p:ph type="body" idx="5"/>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Innovation</a:t>
            </a:r>
          </a:p>
        </p:txBody>
      </p:sp>
      <p:sp>
        <p:nvSpPr>
          <p:cNvPr id="11" name="TextBox 10"/>
          <p:cNvSpPr/>
          <p:nvPr>
            <p:ph type="body" idx="6"/>
          </p:nvPr>
        </p:nvSpPr>
        <p:spPr>
          <a:xfrm>
            <a:off x="457200" y="5132831"/>
            <a:ext cx="11734800" cy="627889"/>
          </a:xfrm>
          <a:prstGeom prst="rect">
            <a:avLst/>
          </a:prstGeom>
          <a:noFill/>
        </p:spPr>
        <p:txBody>
          <a:bodyPr wrap="none" lIns="0" rIns="0">
            <a:noAutofit/>
          </a:bodyPr>
          <a:lstStyle/>
          <a:p>
            <a:pPr algn="l"/>
            <a:r>
              <a:rPr sz="3400" b="0" i="0">
                <a:solidFill>
                  <a:srgbClr val="0A2240"/>
                </a:solidFill>
                <a:latin typeface="Arial"/>
              </a:rPr>
              <a:t>Investing in ideas that shape tomorrow.</a:t>
            </a:r>
          </a:p>
        </p:txBody>
      </p:sp>
    </p:spTree>
    <p:extLst>
      <p:ext uri="{BB962C8B-B14F-4D97-AF65-F5344CB8AC3E}">
        <p14:creationId xmlns:p14="http://schemas.microsoft.com/office/powerpoint/2010/main" val="1212999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lidekit · Stat Callou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By the Numbers</a:t>
            </a:r>
          </a:p>
        </p:txBody>
      </p:sp>
      <p:sp>
        <p:nvSpPr>
          <p:cNvPr id="6" name="TextBox 5"/>
          <p:cNvSpPr/>
          <p:nvPr>
            <p:ph type="body" id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127%</a:t>
            </a:r>
          </a:p>
        </p:txBody>
      </p:sp>
      <p:sp>
        <p:nvSpPr>
          <p:cNvPr id="7" name="TextBox 6"/>
          <p:cNvSpPr/>
          <p:nvPr>
            <p:ph type="body" idx="2"/>
          </p:nvPr>
        </p:nvSpPr>
        <p:spPr>
          <a:xfrm>
            <a:off x="457200" y="3965448"/>
            <a:ext cx="5048051" cy="518159"/>
          </a:xfrm>
          <a:prstGeom prst="rect">
            <a:avLst/>
          </a:prstGeom>
          <a:noFill/>
        </p:spPr>
        <p:txBody>
          <a:bodyPr wrap="none" lIns="0" rIns="0">
            <a:noAutofit/>
          </a:bodyPr>
          <a:lstStyle/>
          <a:p>
            <a:pPr algn="l"/>
            <a:r>
              <a:rPr sz="3400" b="0" i="0">
                <a:solidFill>
                  <a:srgbClr val="0A2240"/>
                </a:solidFill>
                <a:latin typeface="Arial"/>
              </a:rPr>
              <a:t>Revenue Target</a:t>
            </a:r>
          </a:p>
        </p:txBody>
      </p:sp>
      <p:sp>
        <p:nvSpPr>
          <p:cNvPr id="8" name="TextBox 7"/>
          <p:cNvSpPr/>
          <p:nvPr>
            <p:ph type="body" idx="3"/>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94%</a:t>
            </a:r>
          </a:p>
        </p:txBody>
      </p:sp>
      <p:sp>
        <p:nvSpPr>
          <p:cNvPr id="9" name="TextBox 8"/>
          <p:cNvSpPr/>
          <p:nvPr>
            <p:ph type="body" idx="4"/>
          </p:nvPr>
        </p:nvSpPr>
        <p:spPr>
          <a:xfrm>
            <a:off x="4307840" y="3965448"/>
            <a:ext cx="4791670" cy="518159"/>
          </a:xfrm>
          <a:prstGeom prst="rect">
            <a:avLst/>
          </a:prstGeom>
          <a:noFill/>
        </p:spPr>
        <p:txBody>
          <a:bodyPr wrap="none" lIns="0" rIns="0">
            <a:noAutofit/>
          </a:bodyPr>
          <a:lstStyle/>
          <a:p>
            <a:pPr algn="l"/>
            <a:r>
              <a:rPr sz="3400" b="0" i="0">
                <a:solidFill>
                  <a:srgbClr val="0A2240"/>
                </a:solidFill>
                <a:latin typeface="Arial"/>
              </a:rPr>
              <a:t>Retention Rate</a:t>
            </a:r>
          </a:p>
        </p:txBody>
      </p:sp>
      <p:sp>
        <p:nvSpPr>
          <p:cNvPr id="10" name="TextBox 9"/>
          <p:cNvSpPr/>
          <p:nvPr>
            <p:ph type="body" idx="5"/>
          </p:nvPr>
        </p:nvSpPr>
        <p:spPr>
          <a:xfrm>
            <a:off x="8158480" y="2776728"/>
            <a:ext cx="4033520" cy="914400"/>
          </a:xfrm>
          <a:prstGeom prst="rect">
            <a:avLst/>
          </a:prstGeom>
          <a:noFill/>
        </p:spPr>
        <p:txBody>
          <a:bodyPr wrap="none" lIns="0" rIns="0">
            <a:noAutofit/>
          </a:bodyPr>
          <a:lstStyle/>
          <a:p>
            <a:pPr algn="l"/>
            <a:r>
              <a:rPr sz="6000" b="1" i="0">
                <a:solidFill>
                  <a:srgbClr val="0072CE"/>
                </a:solidFill>
                <a:latin typeface="Arial"/>
              </a:rPr>
              <a:t>48 NPS</a:t>
            </a:r>
          </a:p>
        </p:txBody>
      </p:sp>
      <p:sp>
        <p:nvSpPr>
          <p:cNvPr id="11" name="TextBox 10"/>
          <p:cNvSpPr/>
          <p:nvPr>
            <p:ph type="body" idx="6"/>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Net Promoter</a:t>
            </a:r>
          </a:p>
        </p:txBody>
      </p:sp>
    </p:spTree>
    <p:extLst>
      <p:ext uri="{BB962C8B-B14F-4D97-AF65-F5344CB8AC3E}">
        <p14:creationId xmlns:p14="http://schemas.microsoft.com/office/powerpoint/2010/main" val="121299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lidekit · Comparison Column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Side-by-Side Evaluation</a:t>
            </a:r>
          </a:p>
        </p:txBody>
      </p:sp>
      <p:sp>
        <p:nvSpPr>
          <p:cNvPr id="6" name="TextBox 5"/>
          <p:cNvSpPr/>
          <p:nvPr>
            <p:ph type="body" idx="1"/>
          </p:nvPr>
        </p:nvSpPr>
        <p:spPr>
          <a:xfrm>
            <a:off x="457200" y="1499616"/>
            <a:ext cx="5558115" cy="621791"/>
          </a:xfrm>
          <a:prstGeom prst="rect">
            <a:avLst/>
          </a:prstGeom>
          <a:noFill/>
        </p:spPr>
        <p:txBody>
          <a:bodyPr wrap="none" lIns="0" rIns="0">
            <a:noAutofit/>
          </a:bodyPr>
          <a:lstStyle/>
          <a:p>
            <a:pPr algn="l"/>
            <a:r>
              <a:rPr sz="3400" b="1" i="0">
                <a:solidFill>
                  <a:srgbClr val="0072CE"/>
                </a:solidFill>
                <a:latin typeface="Arial"/>
              </a:rPr>
              <a:t>Legacy Platform</a:t>
            </a:r>
          </a:p>
        </p:txBody>
      </p:sp>
      <p:sp>
        <p:nvSpPr>
          <p:cNvPr id="7" name="TextBox 6"/>
          <p:cNvSpPr/>
          <p:nvPr>
            <p:ph type="body" idx="2"/>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Modern Stack</a:t>
            </a:r>
          </a:p>
        </p:txBody>
      </p:sp>
      <p:sp>
        <p:nvSpPr>
          <p:cNvPr id="8" name="TextBox 7"/>
          <p:cNvSpPr/>
          <p:nvPr>
            <p:ph type="body" idx="3"/>
          </p:nvPr>
        </p:nvSpPr>
        <p:spPr>
          <a:xfrm>
            <a:off x="457200" y="2395727"/>
            <a:ext cx="6518870" cy="847344"/>
          </a:xfrm>
          <a:prstGeom prst="rect">
            <a:avLst/>
          </a:prstGeom>
          <a:noFill/>
        </p:spPr>
        <p:txBody>
          <a:bodyPr wrap="none" lIns="0" rIns="0">
            <a:noAutofit/>
          </a:bodyPr>
          <a:lstStyle/>
          <a:p>
            <a:pPr algn="l"/>
            <a:r>
              <a:rPr sz="3400" b="0" i="0">
                <a:solidFill>
                  <a:srgbClr val="0A2240"/>
                </a:solidFill>
                <a:latin typeface="Arial"/>
              </a:rPr>
              <a:t>Deploy time: 4 hours</a:t>
            </a:r>
          </a:p>
        </p:txBody>
      </p:sp>
      <p:sp>
        <p:nvSpPr>
          <p:cNvPr id="9" name="TextBox 8"/>
          <p:cNvSpPr/>
          <p:nvPr>
            <p:ph type="body" idx="4"/>
          </p:nvPr>
        </p:nvSpPr>
        <p:spPr>
          <a:xfrm>
            <a:off x="6233160" y="2395727"/>
            <a:ext cx="5903892" cy="847344"/>
          </a:xfrm>
          <a:prstGeom prst="rect">
            <a:avLst/>
          </a:prstGeom>
          <a:noFill/>
        </p:spPr>
        <p:txBody>
          <a:bodyPr wrap="none" lIns="0" rIns="0">
            <a:noAutofit/>
          </a:bodyPr>
          <a:lstStyle/>
          <a:p>
            <a:pPr algn="l"/>
            <a:r>
              <a:rPr sz="3400" b="0" i="0">
                <a:solidFill>
                  <a:srgbClr val="0A2240"/>
                </a:solidFill>
                <a:latin typeface="Arial"/>
              </a:rPr>
              <a:t>Deploy time: 8 min</a:t>
            </a:r>
          </a:p>
        </p:txBody>
      </p:sp>
      <p:sp>
        <p:nvSpPr>
          <p:cNvPr id="10" name="TextBox 9"/>
          <p:cNvSpPr/>
          <p:nvPr>
            <p:ph type="body" idx="5"/>
          </p:nvPr>
        </p:nvSpPr>
        <p:spPr>
          <a:xfrm>
            <a:off x="457200" y="3517391"/>
            <a:ext cx="5501640" cy="847344"/>
          </a:xfrm>
          <a:prstGeom prst="rect">
            <a:avLst/>
          </a:prstGeom>
          <a:noFill/>
        </p:spPr>
        <p:txBody>
          <a:bodyPr wrap="none" lIns="0" rIns="0">
            <a:noAutofit/>
          </a:bodyPr>
          <a:lstStyle/>
          <a:p>
            <a:pPr algn="l"/>
            <a:r>
              <a:rPr sz="3400" b="0" i="0">
                <a:solidFill>
                  <a:srgbClr val="0A2240"/>
                </a:solidFill>
                <a:latin typeface="Arial"/>
              </a:rPr>
              <a:t>Manual scaling</a:t>
            </a:r>
          </a:p>
        </p:txBody>
      </p:sp>
      <p:sp>
        <p:nvSpPr>
          <p:cNvPr id="11" name="TextBox 10"/>
          <p:cNvSpPr/>
          <p:nvPr>
            <p:ph type="body" idx="6"/>
          </p:nvPr>
        </p:nvSpPr>
        <p:spPr>
          <a:xfrm>
            <a:off x="6233160" y="3517391"/>
            <a:ext cx="5501640" cy="847344"/>
          </a:xfrm>
          <a:prstGeom prst="rect">
            <a:avLst/>
          </a:prstGeom>
          <a:noFill/>
        </p:spPr>
        <p:txBody>
          <a:bodyPr wrap="none" lIns="0" rIns="0">
            <a:noAutofit/>
          </a:bodyPr>
          <a:lstStyle/>
          <a:p>
            <a:pPr algn="l"/>
            <a:r>
              <a:rPr sz="3400" b="0" i="0">
                <a:solidFill>
                  <a:srgbClr val="0A2240"/>
                </a:solidFill>
                <a:latin typeface="Arial"/>
              </a:rPr>
              <a:t>Auto-scales fast</a:t>
            </a:r>
          </a:p>
        </p:txBody>
      </p:sp>
      <p:sp>
        <p:nvSpPr>
          <p:cNvPr id="12" name="TextBox 11"/>
          <p:cNvSpPr/>
          <p:nvPr>
            <p:ph type="body" idx="7"/>
          </p:nvPr>
        </p:nvSpPr>
        <p:spPr>
          <a:xfrm>
            <a:off x="457200" y="4639055"/>
            <a:ext cx="6940888" cy="847344"/>
          </a:xfrm>
          <a:prstGeom prst="rect">
            <a:avLst/>
          </a:prstGeom>
          <a:noFill/>
        </p:spPr>
        <p:txBody>
          <a:bodyPr wrap="none" lIns="0" rIns="0">
            <a:noAutofit/>
          </a:bodyPr>
          <a:lstStyle/>
          <a:p>
            <a:pPr algn="l"/>
            <a:r>
              <a:rPr sz="3400" b="0" i="0">
                <a:solidFill>
                  <a:srgbClr val="0A2240"/>
                </a:solidFill>
                <a:latin typeface="Arial"/>
              </a:rPr>
              <a:t>On-premise; high cost</a:t>
            </a:r>
          </a:p>
        </p:txBody>
      </p:sp>
      <p:sp>
        <p:nvSpPr>
          <p:cNvPr id="13" name="TextBox 12"/>
          <p:cNvSpPr/>
          <p:nvPr>
            <p:ph type="body" idx="8"/>
          </p:nvPr>
        </p:nvSpPr>
        <p:spPr>
          <a:xfrm>
            <a:off x="6233160" y="4639055"/>
            <a:ext cx="5958840" cy="847344"/>
          </a:xfrm>
          <a:prstGeom prst="rect">
            <a:avLst/>
          </a:prstGeom>
          <a:noFill/>
        </p:spPr>
        <p:txBody>
          <a:bodyPr wrap="none" lIns="0" rIns="0">
            <a:noAutofit/>
          </a:bodyPr>
          <a:lstStyle/>
          <a:p>
            <a:pPr algn="l"/>
            <a:r>
              <a:rPr sz="3400" b="0" i="0">
                <a:solidFill>
                  <a:srgbClr val="0A2240"/>
                </a:solidFill>
                <a:latin typeface="Arial"/>
              </a:rPr>
              <a:t>Cloud-native; low cost</a:t>
            </a:r>
          </a:p>
        </p:txBody>
      </p:sp>
    </p:spTree>
    <p:extLst>
      <p:ext uri="{BB962C8B-B14F-4D97-AF65-F5344CB8AC3E}">
        <p14:creationId xmlns:p14="http://schemas.microsoft.com/office/powerpoint/2010/main" val="1212999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lidekit · Timelin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Milestones</a:t>
            </a:r>
          </a:p>
        </p:txBody>
      </p:sp>
      <p:sp>
        <p:nvSpPr>
          <p:cNvPr id="6" name="TextBox 5"/>
          <p:cNvSpPr/>
          <p:nvPr>
            <p:ph type="body" idx="1"/>
          </p:nvPr>
        </p:nvSpPr>
        <p:spPr>
          <a:xfrm>
            <a:off x="457200" y="1499616"/>
            <a:ext cx="2613660" cy="381000"/>
          </a:xfrm>
          <a:prstGeom prst="rect">
            <a:avLst/>
          </a:prstGeom>
          <a:noFill/>
        </p:spPr>
        <p:txBody>
          <a:bodyPr wrap="none" lIns="0" rIns="0">
            <a:noAutofit/>
          </a:bodyPr>
          <a:lstStyle/>
          <a:p>
            <a:pPr algn="l"/>
            <a:r>
              <a:rPr sz="2500" b="1" i="0">
                <a:solidFill>
                  <a:srgbClr val="0072CE"/>
                </a:solidFill>
                <a:latin typeface="Arial"/>
              </a:rPr>
              <a:t>Q1</a:t>
            </a:r>
          </a:p>
        </p:txBody>
      </p:sp>
      <p:sp>
        <p:nvSpPr>
          <p:cNvPr id="7" name="TextBox 6"/>
          <p:cNvSpPr/>
          <p:nvPr>
            <p:ph type="body" idx="2"/>
          </p:nvPr>
        </p:nvSpPr>
        <p:spPr>
          <a:xfrm>
            <a:off x="457200" y="2154936"/>
            <a:ext cx="3943251" cy="518159"/>
          </a:xfrm>
          <a:prstGeom prst="rect">
            <a:avLst/>
          </a:prstGeom>
          <a:noFill/>
        </p:spPr>
        <p:txBody>
          <a:bodyPr wrap="none" lIns="0" rIns="0">
            <a:noAutofit/>
          </a:bodyPr>
          <a:lstStyle/>
          <a:p>
            <a:pPr algn="l"/>
            <a:r>
              <a:rPr sz="3400" b="1" i="0">
                <a:solidFill>
                  <a:srgbClr val="0A2240"/>
                </a:solidFill>
                <a:latin typeface="Arial"/>
              </a:rPr>
              <a:t>Foundation</a:t>
            </a:r>
          </a:p>
        </p:txBody>
      </p:sp>
      <p:sp>
        <p:nvSpPr>
          <p:cNvPr id="8" name="TextBox 7"/>
          <p:cNvSpPr/>
          <p:nvPr>
            <p:ph type="body" idx="3"/>
          </p:nvPr>
        </p:nvSpPr>
        <p:spPr>
          <a:xfrm>
            <a:off x="457200" y="2947415"/>
            <a:ext cx="2613660" cy="2813305"/>
          </a:xfrm>
          <a:prstGeom prst="rect">
            <a:avLst/>
          </a:prstGeom>
          <a:noFill/>
        </p:spPr>
        <p:txBody>
          <a:bodyPr wrap="square" lIns="0" rIns="0">
            <a:noAutofit/>
          </a:bodyPr>
          <a:lstStyle/>
          <a:p>
            <a:pPr algn="l"/>
            <a:r>
              <a:rPr sz="3400" b="0" i="0">
                <a:solidFill>
                  <a:srgbClr val="0A2240"/>
                </a:solidFill>
                <a:latin typeface="Arial"/>
              </a:rPr>
              <a:t>Cloud platform migration done.</a:t>
            </a:r>
          </a:p>
        </p:txBody>
      </p:sp>
      <p:sp>
        <p:nvSpPr>
          <p:cNvPr id="9" name="TextBox 8"/>
          <p:cNvSpPr/>
          <p:nvPr>
            <p:ph type="body" idx="4"/>
          </p:nvPr>
        </p:nvSpPr>
        <p:spPr>
          <a:xfrm>
            <a:off x="3345180" y="1499616"/>
            <a:ext cx="2613660" cy="381000"/>
          </a:xfrm>
          <a:prstGeom prst="rect">
            <a:avLst/>
          </a:prstGeom>
          <a:noFill/>
        </p:spPr>
        <p:txBody>
          <a:bodyPr wrap="none" lIns="0" rIns="0">
            <a:noAutofit/>
          </a:bodyPr>
          <a:lstStyle/>
          <a:p>
            <a:pPr algn="l"/>
            <a:r>
              <a:rPr sz="2500" b="1" i="0">
                <a:solidFill>
                  <a:srgbClr val="0072CE"/>
                </a:solidFill>
                <a:latin typeface="Arial"/>
              </a:rPr>
              <a:t>Q2</a:t>
            </a:r>
          </a:p>
        </p:txBody>
      </p:sp>
      <p:sp>
        <p:nvSpPr>
          <p:cNvPr id="10" name="TextBox 9"/>
          <p:cNvSpPr/>
          <p:nvPr>
            <p:ph type="body" idx="5"/>
          </p:nvPr>
        </p:nvSpPr>
        <p:spPr>
          <a:xfrm>
            <a:off x="3345180" y="2154936"/>
            <a:ext cx="3983057" cy="518159"/>
          </a:xfrm>
          <a:prstGeom prst="rect">
            <a:avLst/>
          </a:prstGeom>
          <a:noFill/>
        </p:spPr>
        <p:txBody>
          <a:bodyPr wrap="none" lIns="0" rIns="0">
            <a:noAutofit/>
          </a:bodyPr>
          <a:lstStyle/>
          <a:p>
            <a:pPr algn="l"/>
            <a:r>
              <a:rPr sz="3400" b="1" i="0">
                <a:solidFill>
                  <a:srgbClr val="0A2240"/>
                </a:solidFill>
                <a:latin typeface="Arial"/>
              </a:rPr>
              <a:t>API Launch</a:t>
            </a:r>
          </a:p>
        </p:txBody>
      </p:sp>
      <p:sp>
        <p:nvSpPr>
          <p:cNvPr id="11" name="TextBox 10"/>
          <p:cNvSpPr/>
          <p:nvPr>
            <p:ph type="body" idx="6"/>
          </p:nvPr>
        </p:nvSpPr>
        <p:spPr>
          <a:xfrm>
            <a:off x="3345180" y="2947415"/>
            <a:ext cx="2613660" cy="2813305"/>
          </a:xfrm>
          <a:prstGeom prst="rect">
            <a:avLst/>
          </a:prstGeom>
          <a:noFill/>
        </p:spPr>
        <p:txBody>
          <a:bodyPr wrap="square" lIns="0" rIns="0">
            <a:noAutofit/>
          </a:bodyPr>
          <a:lstStyle/>
          <a:p>
            <a:pPr algn="l"/>
            <a:r>
              <a:rPr sz="3400" b="0" i="0">
                <a:solidFill>
                  <a:srgbClr val="0A2240"/>
                </a:solidFill>
                <a:latin typeface="Arial"/>
              </a:rPr>
              <a:t>REST API live with 99.99% SLA.</a:t>
            </a:r>
          </a:p>
        </p:txBody>
      </p:sp>
      <p:sp>
        <p:nvSpPr>
          <p:cNvPr id="12" name="TextBox 11"/>
          <p:cNvSpPr/>
          <p:nvPr>
            <p:ph type="body" idx="7"/>
          </p:nvPr>
        </p:nvSpPr>
        <p:spPr>
          <a:xfrm>
            <a:off x="6233160" y="1499616"/>
            <a:ext cx="2613660" cy="381000"/>
          </a:xfrm>
          <a:prstGeom prst="rect">
            <a:avLst/>
          </a:prstGeom>
          <a:noFill/>
        </p:spPr>
        <p:txBody>
          <a:bodyPr wrap="none" lIns="0" rIns="0">
            <a:noAutofit/>
          </a:bodyPr>
          <a:lstStyle/>
          <a:p>
            <a:pPr algn="l"/>
            <a:r>
              <a:rPr sz="2500" b="1" i="0">
                <a:solidFill>
                  <a:srgbClr val="0072CE"/>
                </a:solidFill>
                <a:latin typeface="Arial"/>
              </a:rPr>
              <a:t>Q3</a:t>
            </a:r>
          </a:p>
        </p:txBody>
      </p:sp>
      <p:sp>
        <p:nvSpPr>
          <p:cNvPr id="13" name="TextBox 12"/>
          <p:cNvSpPr/>
          <p:nvPr>
            <p:ph type="body" idx="8"/>
          </p:nvPr>
        </p:nvSpPr>
        <p:spPr>
          <a:xfrm>
            <a:off x="6233160" y="2154936"/>
            <a:ext cx="2613660" cy="518159"/>
          </a:xfrm>
          <a:prstGeom prst="rect">
            <a:avLst/>
          </a:prstGeom>
          <a:noFill/>
        </p:spPr>
        <p:txBody>
          <a:bodyPr wrap="none" lIns="0" rIns="0">
            <a:noAutofit/>
          </a:bodyPr>
          <a:lstStyle/>
          <a:p>
            <a:pPr algn="l"/>
            <a:r>
              <a:rPr sz="3400" b="1" i="0">
                <a:solidFill>
                  <a:srgbClr val="0A2240"/>
                </a:solidFill>
                <a:latin typeface="Arial"/>
              </a:rPr>
              <a:t>AI Beta</a:t>
            </a:r>
          </a:p>
        </p:txBody>
      </p:sp>
      <p:sp>
        <p:nvSpPr>
          <p:cNvPr id="14" name="TextBox 13"/>
          <p:cNvSpPr/>
          <p:nvPr>
            <p:ph type="body" idx="9"/>
          </p:nvPr>
        </p:nvSpPr>
        <p:spPr>
          <a:xfrm>
            <a:off x="6233160" y="2947415"/>
            <a:ext cx="2613660" cy="2813305"/>
          </a:xfrm>
          <a:prstGeom prst="rect">
            <a:avLst/>
          </a:prstGeom>
          <a:noFill/>
        </p:spPr>
        <p:txBody>
          <a:bodyPr wrap="square" lIns="0" rIns="0">
            <a:noAutofit/>
          </a:bodyPr>
          <a:lstStyle/>
          <a:p>
            <a:pPr algn="l"/>
            <a:r>
              <a:rPr sz="3400" b="0" i="0">
                <a:solidFill>
                  <a:srgbClr val="0A2240"/>
                </a:solidFill>
                <a:latin typeface="Arial"/>
              </a:rPr>
              <a:t>AI features shipped to 500 partners.</a:t>
            </a:r>
          </a:p>
        </p:txBody>
      </p:sp>
      <p:sp>
        <p:nvSpPr>
          <p:cNvPr id="15" name="TextBox 14"/>
          <p:cNvSpPr/>
          <p:nvPr>
            <p:ph type="body" idx="13"/>
          </p:nvPr>
        </p:nvSpPr>
        <p:spPr>
          <a:xfrm>
            <a:off x="9121140" y="1499616"/>
            <a:ext cx="2613660" cy="381000"/>
          </a:xfrm>
          <a:prstGeom prst="rect">
            <a:avLst/>
          </a:prstGeom>
          <a:noFill/>
        </p:spPr>
        <p:txBody>
          <a:bodyPr wrap="none" lIns="0" rIns="0">
            <a:noAutofit/>
          </a:bodyPr>
          <a:lstStyle/>
          <a:p>
            <a:pPr algn="l"/>
            <a:r>
              <a:rPr sz="2500" b="1" i="0">
                <a:solidFill>
                  <a:srgbClr val="0072CE"/>
                </a:solidFill>
                <a:latin typeface="Arial"/>
              </a:rPr>
              <a:t>Q4</a:t>
            </a:r>
          </a:p>
        </p:txBody>
      </p:sp>
      <p:sp>
        <p:nvSpPr>
          <p:cNvPr id="16" name="TextBox 15"/>
          <p:cNvSpPr/>
          <p:nvPr>
            <p:ph type="body" idx="14"/>
          </p:nvPr>
        </p:nvSpPr>
        <p:spPr>
          <a:xfrm>
            <a:off x="9121140" y="2154936"/>
            <a:ext cx="3070860" cy="518159"/>
          </a:xfrm>
          <a:prstGeom prst="rect">
            <a:avLst/>
          </a:prstGeom>
          <a:noFill/>
        </p:spPr>
        <p:txBody>
          <a:bodyPr wrap="none" lIns="0" rIns="0">
            <a:noAutofit/>
          </a:bodyPr>
          <a:lstStyle/>
          <a:p>
            <a:pPr algn="l"/>
            <a:r>
              <a:rPr sz="3400" b="1" i="0">
                <a:solidFill>
                  <a:srgbClr val="0A2240"/>
                </a:solidFill>
                <a:latin typeface="Arial"/>
              </a:rPr>
              <a:t>Scale Out</a:t>
            </a:r>
          </a:p>
        </p:txBody>
      </p:sp>
      <p:sp>
        <p:nvSpPr>
          <p:cNvPr id="17" name="TextBox 16"/>
          <p:cNvSpPr/>
          <p:nvPr>
            <p:ph type="body" idx="15"/>
          </p:nvPr>
        </p:nvSpPr>
        <p:spPr>
          <a:xfrm>
            <a:off x="9121140" y="2947415"/>
            <a:ext cx="2613660" cy="2813305"/>
          </a:xfrm>
          <a:prstGeom prst="rect">
            <a:avLst/>
          </a:prstGeom>
          <a:noFill/>
        </p:spPr>
        <p:txBody>
          <a:bodyPr wrap="square" lIns="0" rIns="0">
            <a:noAutofit/>
          </a:bodyPr>
          <a:lstStyle/>
          <a:p>
            <a:pPr algn="l"/>
            <a:r>
              <a:rPr sz="3400" b="0" i="0">
                <a:solidFill>
                  <a:srgbClr val="0A2240"/>
                </a:solidFill>
                <a:latin typeface="Arial"/>
              </a:rPr>
              <a:t>APAC regions live; global coverage.</a:t>
            </a:r>
          </a:p>
        </p:txBody>
      </p:sp>
    </p:spTree>
    <p:extLst>
      <p:ext uri="{BB962C8B-B14F-4D97-AF65-F5344CB8AC3E}">
        <p14:creationId xmlns:p14="http://schemas.microsoft.com/office/powerpoint/2010/main" val="121299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lidekit · Image Half Blee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Built in the Field</a:t>
            </a:r>
          </a:p>
        </p:txBody>
      </p:sp>
      <p:sp>
        <p:nvSpPr>
          <p:cNvPr id="6" name="TextBox 5"/>
          <p:cNvSpPr/>
          <p:nvPr>
            <p:ph type="body" idx="1"/>
          </p:nvPr>
        </p:nvSpPr>
        <p:spPr>
          <a:xfrm>
            <a:off x="6233160" y="1499616"/>
            <a:ext cx="5958840" cy="609600"/>
          </a:xfrm>
          <a:prstGeom prst="rect">
            <a:avLst/>
          </a:prstGeom>
          <a:noFill/>
        </p:spPr>
        <p:txBody>
          <a:bodyPr wrap="none" lIns="0" rIns="0">
            <a:noAutofit/>
          </a:bodyPr>
          <a:lstStyle/>
          <a:p>
            <a:pPr algn="l"/>
            <a:r>
              <a:rPr sz="3400" b="0" i="0">
                <a:solidFill>
                  <a:srgbClr val="0A2240"/>
                </a:solidFill>
                <a:latin typeface="Arial"/>
              </a:rPr>
              <a:t>Built with customers.</a:t>
            </a:r>
          </a:p>
        </p:txBody>
      </p:sp>
      <p:sp>
        <p:nvSpPr>
          <p:cNvPr id="7" name="TextBox 6"/>
          <p:cNvSpPr/>
          <p:nvPr>
            <p:ph type="body" idx="2"/>
          </p:nvPr>
        </p:nvSpPr>
        <p:spPr>
          <a:xfrm>
            <a:off x="6233160" y="2383536"/>
            <a:ext cx="5501640" cy="1127760"/>
          </a:xfrm>
          <a:prstGeom prst="rect">
            <a:avLst/>
          </a:prstGeom>
          <a:noFill/>
        </p:spPr>
        <p:txBody>
          <a:bodyPr wrap="square" lIns="0" rIns="0">
            <a:noAutofit/>
          </a:bodyPr>
          <a:lstStyle/>
          <a:p>
            <a:pPr algn="l"/>
            <a:r>
              <a:rPr sz="3400" b="0" i="0">
                <a:solidFill>
                  <a:srgbClr val="0A2240"/>
                </a:solidFill>
                <a:latin typeface="Arial"/>
              </a:rPr>
              <a:t>60% faster; 50% fewer tickets</a:t>
            </a:r>
          </a:p>
        </p:txBody>
      </p:sp>
    </p:spTree>
    <p:extLst>
      <p:ext uri="{BB962C8B-B14F-4D97-AF65-F5344CB8AC3E}">
        <p14:creationId xmlns:p14="http://schemas.microsoft.com/office/powerpoint/2010/main" val="1212999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slidekit · Section Divid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1783080"/>
            <a:ext cx="128016" cy="201168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7" name="TextBox 6"/>
          <p:cNvSpPr/>
          <p:nvPr>
            <p:ph type="body" idx="3"/>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Where We Stand Today</a:t>
            </a:r>
          </a:p>
        </p:txBody>
      </p:sp>
    </p:spTree>
    <p:extLst>
      <p:ext uri="{BB962C8B-B14F-4D97-AF65-F5344CB8AC3E}">
        <p14:creationId xmlns:p14="http://schemas.microsoft.com/office/powerpoint/2010/main" val="12129998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lidekit · Agenda">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We Will Cover</a:t>
            </a:r>
          </a:p>
        </p:txBody>
      </p:sp>
      <p:sp>
        <p:nvSpPr>
          <p:cNvPr id="6" name="Rectangle 5"/>
          <p:cNvSpPr/>
          <p:nvPr>
            <p:ph type="body" idx="1"/>
          </p:nvPr>
        </p:nvSpPr>
        <p:spPr>
          <a:xfrm>
            <a:off x="457200" y="1280160"/>
            <a:ext cx="11277600" cy="64008"/>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8" name="TextBox 7"/>
          <p:cNvSpPr/>
          <p:nvPr>
            <p:ph type="body" idx="3"/>
          </p:nvPr>
        </p:nvSpPr>
        <p:spPr>
          <a:xfrm>
            <a:off x="1371600" y="1618488"/>
            <a:ext cx="10363200" cy="518159"/>
          </a:xfrm>
          <a:prstGeom prst="rect">
            <a:avLst/>
          </a:prstGeom>
          <a:noFill/>
        </p:spPr>
        <p:txBody>
          <a:bodyPr wrap="none" lIns="0" rIns="0">
            <a:noAutofit/>
          </a:bodyPr>
          <a:lstStyle/>
          <a:p>
            <a:pPr algn="l"/>
            <a:r>
              <a:rPr sz="3400" b="0" i="0">
                <a:solidFill>
                  <a:srgbClr val="0A2240"/>
                </a:solidFill>
                <a:latin typeface="Arial"/>
              </a:rPr>
              <a:t>Performance against targets</a:t>
            </a:r>
          </a:p>
        </p:txBody>
      </p:sp>
      <p:sp>
        <p:nvSpPr>
          <p:cNvPr id="9" name="TextBox 8"/>
          <p:cNvSpPr/>
          <p:nvPr>
            <p:ph type="body" idx="4"/>
          </p:nvPr>
        </p:nvSpPr>
        <p:spPr>
          <a:xfrm>
            <a:off x="457200" y="2501798"/>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10" name="TextBox 9"/>
          <p:cNvSpPr/>
          <p:nvPr>
            <p:ph type="body" idx="5"/>
          </p:nvPr>
        </p:nvSpPr>
        <p:spPr>
          <a:xfrm>
            <a:off x="1371600" y="2501798"/>
            <a:ext cx="10363200" cy="518159"/>
          </a:xfrm>
          <a:prstGeom prst="rect">
            <a:avLst/>
          </a:prstGeom>
          <a:noFill/>
        </p:spPr>
        <p:txBody>
          <a:bodyPr wrap="none" lIns="0" rIns="0">
            <a:noAutofit/>
          </a:bodyPr>
          <a:lstStyle/>
          <a:p>
            <a:pPr algn="l"/>
            <a:r>
              <a:rPr sz="3400" b="0" i="0">
                <a:solidFill>
                  <a:srgbClr val="0A2240"/>
                </a:solidFill>
                <a:latin typeface="Arial"/>
              </a:rPr>
              <a:t>Customer and market signals</a:t>
            </a:r>
          </a:p>
        </p:txBody>
      </p:sp>
      <p:sp>
        <p:nvSpPr>
          <p:cNvPr id="11" name="TextBox 10"/>
          <p:cNvSpPr/>
          <p:nvPr>
            <p:ph type="body" idx="6"/>
          </p:nvPr>
        </p:nvSpPr>
        <p:spPr>
          <a:xfrm>
            <a:off x="457200" y="3385108"/>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12" name="TextBox 11"/>
          <p:cNvSpPr/>
          <p:nvPr>
            <p:ph type="body" idx="7"/>
          </p:nvPr>
        </p:nvSpPr>
        <p:spPr>
          <a:xfrm>
            <a:off x="1371600" y="3385108"/>
            <a:ext cx="10363200" cy="518159"/>
          </a:xfrm>
          <a:prstGeom prst="rect">
            <a:avLst/>
          </a:prstGeom>
          <a:noFill/>
        </p:spPr>
        <p:txBody>
          <a:bodyPr wrap="none" lIns="0" rIns="0">
            <a:noAutofit/>
          </a:bodyPr>
          <a:lstStyle/>
          <a:p>
            <a:pPr algn="l"/>
            <a:r>
              <a:rPr sz="3400" b="0" i="0">
                <a:solidFill>
                  <a:srgbClr val="0A2240"/>
                </a:solidFill>
                <a:latin typeface="Arial"/>
              </a:rPr>
              <a:t>Operational health and risks</a:t>
            </a:r>
          </a:p>
        </p:txBody>
      </p:sp>
      <p:sp>
        <p:nvSpPr>
          <p:cNvPr id="13" name="TextBox 12"/>
          <p:cNvSpPr/>
          <p:nvPr>
            <p:ph type="body" idx="8"/>
          </p:nvPr>
        </p:nvSpPr>
        <p:spPr>
          <a:xfrm>
            <a:off x="457200" y="4268418"/>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4" name="TextBox 13"/>
          <p:cNvSpPr/>
          <p:nvPr>
            <p:ph type="body" idx="9"/>
          </p:nvPr>
        </p:nvSpPr>
        <p:spPr>
          <a:xfrm>
            <a:off x="1371600" y="4268418"/>
            <a:ext cx="10363200" cy="518159"/>
          </a:xfrm>
          <a:prstGeom prst="rect">
            <a:avLst/>
          </a:prstGeom>
          <a:noFill/>
        </p:spPr>
        <p:txBody>
          <a:bodyPr wrap="none" lIns="0" rIns="0">
            <a:noAutofit/>
          </a:bodyPr>
          <a:lstStyle/>
          <a:p>
            <a:pPr algn="l"/>
            <a:r>
              <a:rPr sz="3400" b="0" i="0">
                <a:solidFill>
                  <a:srgbClr val="0A2240"/>
                </a:solidFill>
                <a:latin typeface="Arial"/>
              </a:rPr>
              <a:t>Roadmap for next quarter</a:t>
            </a:r>
          </a:p>
        </p:txBody>
      </p:sp>
      <p:sp>
        <p:nvSpPr>
          <p:cNvPr id="15" name="TextBox 14"/>
          <p:cNvSpPr/>
          <p:nvPr>
            <p:ph type="body" idx="13"/>
          </p:nvPr>
        </p:nvSpPr>
        <p:spPr>
          <a:xfrm>
            <a:off x="457200" y="5151728"/>
            <a:ext cx="951348" cy="518159"/>
          </a:xfrm>
          <a:prstGeom prst="rect">
            <a:avLst/>
          </a:prstGeom>
          <a:noFill/>
        </p:spPr>
        <p:txBody>
          <a:bodyPr wrap="none" lIns="0" rIns="0">
            <a:noAutofit/>
          </a:bodyPr>
          <a:lstStyle/>
          <a:p>
            <a:pPr algn="l"/>
            <a:r>
              <a:rPr sz="3400" b="1" i="0">
                <a:solidFill>
                  <a:srgbClr val="0072CE"/>
                </a:solidFill>
                <a:latin typeface="Arial"/>
              </a:rPr>
              <a:t>05</a:t>
            </a:r>
          </a:p>
        </p:txBody>
      </p:sp>
      <p:sp>
        <p:nvSpPr>
          <p:cNvPr id="16" name="TextBox 15"/>
          <p:cNvSpPr/>
          <p:nvPr>
            <p:ph type="body" idx="14"/>
          </p:nvPr>
        </p:nvSpPr>
        <p:spPr>
          <a:xfrm>
            <a:off x="1371600" y="5151728"/>
            <a:ext cx="10363200" cy="518159"/>
          </a:xfrm>
          <a:prstGeom prst="rect">
            <a:avLst/>
          </a:prstGeom>
          <a:noFill/>
        </p:spPr>
        <p:txBody>
          <a:bodyPr wrap="none" lIns="0" rIns="0">
            <a:noAutofit/>
          </a:bodyPr>
          <a:lstStyle/>
          <a:p>
            <a:pPr algn="l"/>
            <a:r>
              <a:rPr sz="3400" b="0" i="0">
                <a:solidFill>
                  <a:srgbClr val="0A2240"/>
                </a:solidFill>
                <a:latin typeface="Arial"/>
              </a:rPr>
              <a:t>Decisions we need today</a:t>
            </a:r>
          </a:p>
        </p:txBody>
      </p:sp>
    </p:spTree>
    <p:extLst>
      <p:ext uri="{BB962C8B-B14F-4D97-AF65-F5344CB8AC3E}">
        <p14:creationId xmlns:p14="http://schemas.microsoft.com/office/powerpoint/2010/main" val="12129998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lidekit · Big Number">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body" idx="1"/>
          </p:nvPr>
        </p:nvSpPr>
        <p:spPr>
          <a:xfrm>
            <a:off x="457200" y="2025396"/>
            <a:ext cx="11277600" cy="1691640"/>
          </a:xfrm>
          <a:prstGeom prst="rect">
            <a:avLst/>
          </a:prstGeom>
          <a:noFill/>
        </p:spPr>
        <p:txBody>
          <a:bodyPr wrap="none" lIns="0" rIns="0">
            <a:noAutofit/>
          </a:bodyPr>
          <a:lstStyle/>
          <a:p>
            <a:pPr algn="ctr"/>
            <a:r>
              <a:rPr sz="10500" b="1" i="0">
                <a:solidFill>
                  <a:srgbClr val="0072CE"/>
                </a:solidFill>
                <a:latin typeface="Arial"/>
              </a:rPr>
              <a:t>3.2M</a:t>
            </a:r>
          </a:p>
        </p:txBody>
      </p:sp>
      <p:sp>
        <p:nvSpPr>
          <p:cNvPr id="6" name="Rectangle 5"/>
          <p:cNvSpPr/>
          <p:nvPr>
            <p:ph type="body" idx="2"/>
          </p:nvPr>
        </p:nvSpPr>
        <p:spPr>
          <a:xfrm>
            <a:off x="5547360" y="3771900"/>
            <a:ext cx="1097280" cy="54864"/>
          </a:xfrm>
          <a:prstGeom prst="rect">
            <a:avLst/>
          </a:prstGeom>
          <a:solidFill>
            <a:srgbClr val="0072CE"/>
          </a:solidFill>
          <a:ln>
            <a:noFill/>
          </a:ln>
          <a:effectLst/>
        </p:spPr>
        <p:txBody>
          <a:bodyPr rtlCol="0" anchor="ctr"/>
          <a:lstStyle/>
          <a:p>
            <a:pPr algn="ctr"/>
          </a:p>
        </p:txBody>
      </p:sp>
      <p:sp>
        <p:nvSpPr>
          <p:cNvPr id="7" name="TextBox 6"/>
          <p:cNvSpPr/>
          <p:nvPr>
            <p:ph type="body" idx="3"/>
          </p:nvPr>
        </p:nvSpPr>
        <p:spPr>
          <a:xfrm>
            <a:off x="457200" y="4101084"/>
            <a:ext cx="11277600" cy="731520"/>
          </a:xfrm>
          <a:prstGeom prst="rect">
            <a:avLst/>
          </a:prstGeom>
          <a:noFill/>
        </p:spPr>
        <p:txBody>
          <a:bodyPr wrap="none" lIns="0" rIns="0">
            <a:noAutofit/>
          </a:bodyPr>
          <a:lstStyle/>
          <a:p>
            <a:pPr algn="ctr"/>
            <a:r>
              <a:rPr sz="4200" b="0" i="0">
                <a:solidFill>
                  <a:srgbClr val="0A2240"/>
                </a:solidFill>
                <a:latin typeface="Arial"/>
              </a:rPr>
              <a:t>Active customers worldwide</a:t>
            </a:r>
          </a:p>
        </p:txBody>
      </p:sp>
    </p:spTree>
    <p:extLst>
      <p:ext uri="{BB962C8B-B14F-4D97-AF65-F5344CB8AC3E}">
        <p14:creationId xmlns:p14="http://schemas.microsoft.com/office/powerpoint/2010/main" val="12129998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lidekit · Pull Quot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621280"/>
            <a:ext cx="128016" cy="16154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"We buy outcomes, not tools."</a:t>
            </a:r>
          </a:p>
        </p:txBody>
      </p:sp>
      <p:sp>
        <p:nvSpPr>
          <p:cNvPr id="7" name="TextBox 6"/>
          <p:cNvSpPr/>
          <p:nvPr>
            <p:ph type="body" idx="3"/>
          </p:nvPr>
        </p:nvSpPr>
        <p:spPr>
          <a:xfrm>
            <a:off x="996696" y="3627120"/>
            <a:ext cx="11195304" cy="609600"/>
          </a:xfrm>
          <a:prstGeom prst="rect">
            <a:avLst/>
          </a:prstGeom>
          <a:noFill/>
        </p:spPr>
        <p:txBody>
          <a:bodyPr wrap="none" lIns="0" rIns="0">
            <a:noAutofit/>
          </a:bodyPr>
          <a:lstStyle/>
          <a:p>
            <a:pPr algn="l"/>
            <a:r>
              <a:rPr sz="3400" b="0" i="0">
                <a:solidFill>
                  <a:srgbClr val="0A2240"/>
                </a:solidFill>
                <a:latin typeface="Arial"/>
              </a:rPr>
              <a:t>- VP of Engineering, enterprise customer</a:t>
            </a:r>
          </a:p>
        </p:txBody>
      </p:sp>
    </p:spTree>
    <p:extLst>
      <p:ext uri="{BB962C8B-B14F-4D97-AF65-F5344CB8AC3E}">
        <p14:creationId xmlns:p14="http://schemas.microsoft.com/office/powerpoint/2010/main" val="121299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lidekit · Defini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484120"/>
            <a:ext cx="128016" cy="188976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484120"/>
            <a:ext cx="11195304" cy="1005840"/>
          </a:xfrm>
          <a:prstGeom prst="rect">
            <a:avLst/>
          </a:prstGeom>
          <a:noFill/>
        </p:spPr>
        <p:txBody>
          <a:bodyPr wrap="none" lIns="0" rIns="0">
            <a:noAutofit/>
          </a:bodyPr>
          <a:lstStyle/>
          <a:p>
            <a:pPr algn="l"/>
            <a:r>
              <a:rPr sz="6000" b="1" i="0">
                <a:solidFill>
                  <a:srgbClr val="0072CE"/>
                </a:solidFill>
                <a:latin typeface="Arial"/>
              </a:rPr>
              <a:t>Net Revenue Retention</a:t>
            </a:r>
          </a:p>
        </p:txBody>
      </p:sp>
      <p:sp>
        <p:nvSpPr>
          <p:cNvPr id="7" name="TextBox 6"/>
          <p:cNvSpPr/>
          <p:nvPr>
            <p:ph type="body" idx="3"/>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Revenue kept from existing customers.</a:t>
            </a:r>
          </a:p>
        </p:txBody>
      </p:sp>
    </p:spTree>
    <p:extLst>
      <p:ext uri="{BB962C8B-B14F-4D97-AF65-F5344CB8AC3E}">
        <p14:creationId xmlns:p14="http://schemas.microsoft.com/office/powerpoint/2010/main" val="1212999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lidekit · Questi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2926080"/>
            <a:ext cx="128016" cy="1005840"/>
          </a:xfrm>
          <a:prstGeom prst="rect">
            <a:avLst/>
          </a:prstGeom>
          <a:solidFill>
            <a:srgbClr val="0072CE"/>
          </a:solidFill>
          <a:ln>
            <a:noFill/>
          </a:ln>
          <a:effectLst/>
        </p:spPr>
        <p:txBody>
          <a:bodyPr rtlCol="0" anchor="ctr"/>
          <a:lstStyle/>
          <a:p>
            <a:pPr algn="ctr"/>
          </a:p>
        </p:txBody>
      </p:sp>
      <p:sp>
        <p:nvSpPr>
          <p:cNvPr id="6" name="TextBox 5"/>
          <p:cNvSpPr/>
          <p:nvPr>
            <p:ph type="body" idx="2"/>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What if we trusted users?</a:t>
            </a:r>
          </a:p>
        </p:txBody>
      </p:sp>
    </p:spTree>
    <p:extLst>
      <p:ext uri="{BB962C8B-B14F-4D97-AF65-F5344CB8AC3E}">
        <p14:creationId xmlns:p14="http://schemas.microsoft.com/office/powerpoint/2010/main" val="1212999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lidekit · Bullet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468040" cy="768096"/>
          </a:xfrm>
          <a:prstGeom prst="rect">
            <a:avLst/>
          </a:prstGeom>
          <a:noFill/>
        </p:spPr>
        <p:txBody>
          <a:bodyPr wrap="none" lIns="0" rIns="0">
            <a:noAutofit/>
          </a:bodyPr>
          <a:lstStyle/>
          <a:p>
            <a:pPr algn="l"/>
            <a:r>
              <a:rPr sz="4200" b="1" i="0">
                <a:solidFill>
                  <a:srgbClr val="0072CE"/>
                </a:solidFill>
                <a:latin typeface="Arial"/>
              </a:rPr>
              <a:t>What Changed This Quarter</a:t>
            </a:r>
          </a:p>
        </p:txBody>
      </p:sp>
      <p:sp>
        <p:nvSpPr>
          <p:cNvPr id="6" name="TextBox 5"/>
          <p:cNvSpPr/>
          <p:nvPr>
            <p:ph type="body" id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Activation time dropped by half</a:t>
            </a:r>
          </a:p>
        </p:txBody>
      </p:sp>
      <p:sp>
        <p:nvSpPr>
          <p:cNvPr id="7" name="TextBox 6"/>
          <p:cNvSpPr/>
          <p:nvPr>
            <p:ph type="body" idx="2"/>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Support tickets fell sharply</a:t>
            </a:r>
          </a:p>
        </p:txBody>
      </p:sp>
      <p:sp>
        <p:nvSpPr>
          <p:cNvPr id="8" name="TextBox 7"/>
          <p:cNvSpPr/>
          <p:nvPr>
            <p:ph type="body" idx="3"/>
          </p:nvPr>
        </p:nvSpPr>
        <p:spPr>
          <a:xfrm>
            <a:off x="457200" y="4346447"/>
            <a:ext cx="11734800" cy="518159"/>
          </a:xfrm>
          <a:prstGeom prst="rect">
            <a:avLst/>
          </a:prstGeom>
          <a:noFill/>
        </p:spPr>
        <p:txBody>
          <a:bodyPr wrap="none" lIns="0" rIns="0">
            <a:noAutofit/>
          </a:bodyPr>
          <a:lstStyle/>
          <a:p>
            <a:pPr algn="l"/>
            <a:r>
              <a:rPr sz="3400" b="0" i="0">
                <a:solidFill>
                  <a:srgbClr val="0A2240"/>
                </a:solidFill>
                <a:latin typeface="Arial"/>
              </a:rPr>
              <a:t>Expansion revenue outpaced new sales</a:t>
            </a:r>
          </a:p>
        </p:txBody>
      </p:sp>
    </p:spTree>
    <p:extLst>
      <p:ext uri="{BB962C8B-B14F-4D97-AF65-F5344CB8AC3E}">
        <p14:creationId xmlns:p14="http://schemas.microsoft.com/office/powerpoint/2010/main" val="1212999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slidekit · Code Block">
    <p:bg>
      <p:bgPr>
        <a:solidFill>
          <a:srgbClr val="0C1A1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Rectangle 4"/>
          <p:cNvSpPr/>
          <p:nvPr>
            <p:ph type="body" idx="1"/>
          </p:nvPr>
        </p:nvSpPr>
        <p:spPr>
          <a:xfrm>
            <a:off x="457200" y="457200"/>
            <a:ext cx="146304" cy="146304"/>
          </a:xfrm>
          <a:prstGeom prst="rect">
            <a:avLst/>
          </a:prstGeom>
          <a:solidFill>
            <a:srgbClr val="FFFFFF"/>
          </a:solidFill>
          <a:ln>
            <a:noFill/>
          </a:ln>
          <a:effectLst/>
        </p:spPr>
        <p:txBody>
          <a:bodyPr rtlCol="0" anchor="ctr"/>
          <a:lstStyle/>
          <a:p>
            <a:pPr algn="ctr"/>
          </a:p>
        </p:txBody>
      </p:sp>
      <p:sp>
        <p:nvSpPr>
          <p:cNvPr id="6" name="Rectangle 5"/>
          <p:cNvSpPr/>
          <p:nvPr>
            <p:ph type="body" idx="2"/>
          </p:nvPr>
        </p:nvSpPr>
        <p:spPr>
          <a:xfrm>
            <a:off x="713232" y="457200"/>
            <a:ext cx="146304" cy="146304"/>
          </a:xfrm>
          <a:prstGeom prst="rect">
            <a:avLst/>
          </a:prstGeom>
          <a:solidFill>
            <a:srgbClr val="FFFFFF"/>
          </a:solidFill>
          <a:ln>
            <a:noFill/>
          </a:ln>
          <a:effectLst/>
        </p:spPr>
        <p:txBody>
          <a:bodyPr rtlCol="0" anchor="ctr"/>
          <a:lstStyle/>
          <a:p>
            <a:pPr algn="ctr"/>
          </a:p>
        </p:txBody>
      </p:sp>
      <p:sp>
        <p:nvSpPr>
          <p:cNvPr id="7" name="Rectangle 6"/>
          <p:cNvSpPr/>
          <p:nvPr>
            <p:ph type="body" idx="3"/>
          </p:nvPr>
        </p:nvSpPr>
        <p:spPr>
          <a:xfrm>
            <a:off x="969264" y="457200"/>
            <a:ext cx="146304" cy="146304"/>
          </a:xfrm>
          <a:prstGeom prst="rect">
            <a:avLst/>
          </a:prstGeom>
          <a:solidFill>
            <a:srgbClr val="FFFFFF"/>
          </a:solidFill>
          <a:ln>
            <a:noFill/>
          </a:ln>
          <a:effectLst/>
        </p:spPr>
        <p:txBody>
          <a:bodyPr rtlCol="0" anchor="ctr"/>
          <a:lstStyle/>
          <a:p>
            <a:pPr algn="ctr"/>
          </a:p>
        </p:txBody>
      </p:sp>
      <p:sp>
        <p:nvSpPr>
          <p:cNvPr id="8" name="TextBox 7"/>
          <p:cNvSpPr/>
          <p:nvPr>
            <p:ph type="body" idx="4"/>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hello.py</a:t>
            </a:r>
          </a:p>
        </p:txBody>
      </p:sp>
      <p:sp>
        <p:nvSpPr>
          <p:cNvPr id="9" name="TextBox 8"/>
          <p:cNvSpPr/>
          <p:nvPr>
            <p:ph type="body" idx="5"/>
          </p:nvPr>
        </p:nvSpPr>
        <p:spPr>
          <a:xfrm>
            <a:off x="457200" y="1837944"/>
            <a:ext cx="7851377" cy="518159"/>
          </a:xfrm>
          <a:prstGeom prst="rect">
            <a:avLst/>
          </a:prstGeom>
          <a:noFill/>
        </p:spPr>
        <p:txBody>
          <a:bodyPr wrap="none" lIns="0" rIns="0">
            <a:noAutofit/>
          </a:bodyPr>
          <a:lstStyle/>
          <a:p>
            <a:pPr algn="l"/>
            <a:r>
              <a:rPr sz="3400" b="0" i="0">
                <a:solidFill>
                  <a:srgbClr val="FFFFFF"/>
                </a:solidFill>
                <a:latin typeface="Arial"/>
              </a:rPr>
              <a:t># The classic, end to end</a:t>
            </a:r>
          </a:p>
        </p:txBody>
      </p:sp>
      <p:sp>
        <p:nvSpPr>
          <p:cNvPr id="10" name="TextBox 9"/>
          <p:cNvSpPr/>
          <p:nvPr>
            <p:ph type="body" idx="6"/>
          </p:nvPr>
        </p:nvSpPr>
        <p:spPr>
          <a:xfrm>
            <a:off x="457200" y="2356103"/>
            <a:ext cx="1143297" cy="518159"/>
          </a:xfrm>
          <a:prstGeom prst="rect">
            <a:avLst/>
          </a:prstGeom>
          <a:noFill/>
        </p:spPr>
        <p:txBody>
          <a:bodyPr wrap="none" lIns="0" rIns="0">
            <a:noAutofit/>
          </a:bodyPr>
          <a:lstStyle/>
          <a:p>
            <a:pPr algn="l"/>
            <a:r>
              <a:rPr sz="3400" b="0" i="0">
                <a:solidFill>
                  <a:srgbClr val="569CD6"/>
                </a:solidFill>
                <a:latin typeface="Arial"/>
              </a:rPr>
              <a:t>def</a:t>
            </a:r>
          </a:p>
        </p:txBody>
      </p:sp>
      <p:sp>
        <p:nvSpPr>
          <p:cNvPr id="11" name="TextBox 10"/>
          <p:cNvSpPr/>
          <p:nvPr>
            <p:ph type="body" idx="7"/>
          </p:nvPr>
        </p:nvSpPr>
        <p:spPr>
          <a:xfrm>
            <a:off x="1057461" y="2356103"/>
            <a:ext cx="2524382" cy="518159"/>
          </a:xfrm>
          <a:prstGeom prst="rect">
            <a:avLst/>
          </a:prstGeom>
          <a:noFill/>
        </p:spPr>
        <p:txBody>
          <a:bodyPr wrap="none" lIns="0" rIns="0">
            <a:noAutofit/>
          </a:bodyPr>
          <a:lstStyle/>
          <a:p>
            <a:pPr algn="l"/>
            <a:r>
              <a:rPr sz="3400" b="0" i="0">
                <a:solidFill>
                  <a:srgbClr val="FFFFFF"/>
                </a:solidFill>
                <a:latin typeface="Arial"/>
              </a:rPr>
              <a:t> main():</a:t>
            </a:r>
          </a:p>
        </p:txBody>
      </p:sp>
      <p:sp>
        <p:nvSpPr>
          <p:cNvPr id="12" name="TextBox 11"/>
          <p:cNvSpPr/>
          <p:nvPr>
            <p:ph type="body" idx="8"/>
          </p:nvPr>
        </p:nvSpPr>
        <p:spPr>
          <a:xfrm>
            <a:off x="457200" y="2874262"/>
            <a:ext cx="7046475" cy="518159"/>
          </a:xfrm>
          <a:prstGeom prst="rect">
            <a:avLst/>
          </a:prstGeom>
          <a:noFill/>
        </p:spPr>
        <p:txBody>
          <a:bodyPr wrap="none" lIns="0" rIns="0">
            <a:noAutofit/>
          </a:bodyPr>
          <a:lstStyle/>
          <a:p>
            <a:pPr algn="l"/>
            <a:r>
              <a:rPr sz="3400" b="0" i="0">
                <a:solidFill>
                  <a:srgbClr val="FFFFFF"/>
                </a:solidFill>
                <a:latin typeface="Arial"/>
              </a:rPr>
              <a:t>    print("Hello, world!")</a:t>
            </a:r>
          </a:p>
        </p:txBody>
      </p:sp>
      <p:sp>
        <p:nvSpPr>
          <p:cNvPr id="13" name="TextBox 12"/>
          <p:cNvSpPr/>
          <p:nvPr>
            <p:ph type="body" idx="9"/>
          </p:nvPr>
        </p:nvSpPr>
        <p:spPr>
          <a:xfrm>
            <a:off x="457200" y="3910580"/>
            <a:ext cx="2140486" cy="518159"/>
          </a:xfrm>
          <a:prstGeom prst="rect">
            <a:avLst/>
          </a:prstGeom>
          <a:noFill/>
        </p:spPr>
        <p:txBody>
          <a:bodyPr wrap="none" lIns="0" rIns="0">
            <a:noAutofit/>
          </a:bodyPr>
          <a:lstStyle/>
          <a:p>
            <a:pPr algn="l"/>
            <a:r>
              <a:rPr sz="3400" b="0" i="0">
                <a:solidFill>
                  <a:srgbClr val="FFFFFF"/>
                </a:solidFill>
                <a:latin typeface="Arial"/>
              </a:rPr>
              <a:t>main()</a:t>
            </a:r>
          </a:p>
        </p:txBody>
      </p:sp>
      <p:sp>
        <p:nvSpPr>
          <p:cNvPr id="14" name="TextBox 13"/>
          <p:cNvSpPr/>
          <p:nvPr>
            <p:ph type="body" idx="13"/>
          </p:nvPr>
        </p:nvSpPr>
        <p:spPr>
          <a:xfrm>
            <a:off x="457200" y="4946898"/>
            <a:ext cx="567115" cy="518159"/>
          </a:xfrm>
          <a:prstGeom prst="rect">
            <a:avLst/>
          </a:prstGeom>
          <a:noFill/>
        </p:spPr>
        <p:txBody>
          <a:bodyPr wrap="none" lIns="0" rIns="0">
            <a:noAutofit/>
          </a:bodyPr>
          <a:lstStyle/>
          <a:p>
            <a:pPr algn="l"/>
            <a:r>
              <a:rPr sz="3400" b="0" i="0">
                <a:solidFill>
                  <a:srgbClr val="569CD6"/>
                </a:solidFill>
                <a:latin typeface="Arial"/>
              </a:rPr>
              <a:t>$</a:t>
            </a:r>
          </a:p>
        </p:txBody>
      </p:sp>
      <p:sp>
        <p:nvSpPr>
          <p:cNvPr id="15" name="TextBox 14"/>
          <p:cNvSpPr/>
          <p:nvPr>
            <p:ph type="body" idx="14"/>
          </p:nvPr>
        </p:nvSpPr>
        <p:spPr>
          <a:xfrm>
            <a:off x="697347" y="4946898"/>
            <a:ext cx="5022412" cy="518159"/>
          </a:xfrm>
          <a:prstGeom prst="rect">
            <a:avLst/>
          </a:prstGeom>
          <a:noFill/>
        </p:spPr>
        <p:txBody>
          <a:bodyPr wrap="none" lIns="0" rIns="0">
            <a:noAutofit/>
          </a:bodyPr>
          <a:lstStyle/>
          <a:p>
            <a:pPr algn="l"/>
            <a:r>
              <a:rPr sz="3400" b="0" i="0">
                <a:solidFill>
                  <a:srgbClr val="FFFFFF"/>
                </a:solidFill>
                <a:latin typeface="Arial"/>
              </a:rPr>
              <a:t> python hello.py</a:t>
            </a:r>
          </a:p>
        </p:txBody>
      </p:sp>
      <p:sp>
        <p:nvSpPr>
          <p:cNvPr id="16" name="TextBox 15"/>
          <p:cNvSpPr/>
          <p:nvPr>
            <p:ph type="body" idx="15"/>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Hello, world!</a:t>
            </a:r>
          </a:p>
        </p:txBody>
      </p:sp>
    </p:spTree>
    <p:extLst>
      <p:ext uri="{BB962C8B-B14F-4D97-AF65-F5344CB8AC3E}">
        <p14:creationId xmlns:p14="http://schemas.microsoft.com/office/powerpoint/2010/main" val="1212999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slidekit · File Tre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Final folder shape</a:t>
            </a:r>
          </a:p>
        </p:txBody>
      </p:sp>
      <p:sp>
        <p:nvSpPr>
          <p:cNvPr id="6" name="Rounded Rectangle 5"/>
          <p:cNvSpPr/>
          <p:nvPr>
            <p:ph type="body" idx="1"/>
          </p:nvPr>
        </p:nvSpPr>
        <p:spPr>
          <a:xfrm>
            <a:off x="457200" y="1499616"/>
            <a:ext cx="11277600" cy="4261104"/>
          </a:xfrm>
          <a:prstGeom prst="roundRect">
            <a:avLst>
              <a:gd name="adj" fmla="val 3004"/>
            </a:avLst>
          </a:prstGeom>
          <a:solidFill>
            <a:srgbClr val="0A2240"/>
          </a:solidFill>
          <a:ln>
            <a:noFill/>
          </a:ln>
          <a:effectLst/>
        </p:spPr>
        <p:txBody>
          <a:bodyPr rtlCol="0" anchor="ctr"/>
          <a:lstStyle/>
          <a:p>
            <a:pPr algn="ctr"/>
          </a:p>
        </p:txBody>
      </p:sp>
      <p:sp>
        <p:nvSpPr>
          <p:cNvPr id="7" name="TextBox 6"/>
          <p:cNvSpPr/>
          <p:nvPr>
            <p:ph type="body" idx="2"/>
          </p:nvPr>
        </p:nvSpPr>
        <p:spPr>
          <a:xfrm>
            <a:off x="822960" y="1819656"/>
            <a:ext cx="6206708" cy="396240"/>
          </a:xfrm>
          <a:prstGeom prst="rect">
            <a:avLst/>
          </a:prstGeom>
          <a:noFill/>
        </p:spPr>
        <p:txBody>
          <a:bodyPr wrap="none" lIns="0" rIns="0">
            <a:noAutofit/>
          </a:bodyPr>
          <a:lstStyle/>
          <a:p>
            <a:pPr algn="l"/>
            <a:r>
              <a:rPr sz="2600" b="1" i="0">
                <a:solidFill>
                  <a:srgbClr val="0072CE"/>
                </a:solidFill>
                <a:latin typeface="Courier New"/>
              </a:rPr>
              <a:t>simple-eda-project/</a:t>
            </a:r>
          </a:p>
        </p:txBody>
      </p:sp>
      <p:sp>
        <p:nvSpPr>
          <p:cNvPr id="8" name="TextBox 7"/>
          <p:cNvSpPr/>
          <p:nvPr>
            <p:ph type="body" idx="3"/>
          </p:nvPr>
        </p:nvSpPr>
        <p:spPr>
          <a:xfrm>
            <a:off x="822960" y="22158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9" name="TextBox 8"/>
          <p:cNvSpPr/>
          <p:nvPr>
            <p:ph type="body" idx="4"/>
          </p:nvPr>
        </p:nvSpPr>
        <p:spPr>
          <a:xfrm>
            <a:off x="1417417" y="2215896"/>
            <a:ext cx="1451054" cy="396240"/>
          </a:xfrm>
          <a:prstGeom prst="rect">
            <a:avLst/>
          </a:prstGeom>
          <a:noFill/>
        </p:spPr>
        <p:txBody>
          <a:bodyPr wrap="none" lIns="0" rIns="0">
            <a:noAutofit/>
          </a:bodyPr>
          <a:lstStyle/>
          <a:p>
            <a:pPr algn="l"/>
            <a:r>
              <a:rPr sz="2600" b="1" i="0">
                <a:solidFill>
                  <a:srgbClr val="0072CE"/>
                </a:solidFill>
                <a:latin typeface="Courier New"/>
              </a:rPr>
              <a:t>src/</a:t>
            </a:r>
          </a:p>
        </p:txBody>
      </p:sp>
      <p:sp>
        <p:nvSpPr>
          <p:cNvPr id="10" name="TextBox 9"/>
          <p:cNvSpPr/>
          <p:nvPr>
            <p:ph type="body" idx="5"/>
          </p:nvPr>
        </p:nvSpPr>
        <p:spPr>
          <a:xfrm>
            <a:off x="822960" y="2612136"/>
            <a:ext cx="2085140"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1" name="TextBox 10"/>
          <p:cNvSpPr/>
          <p:nvPr>
            <p:ph type="body" idx="6"/>
          </p:nvPr>
        </p:nvSpPr>
        <p:spPr>
          <a:xfrm>
            <a:off x="2011873" y="2612136"/>
            <a:ext cx="3670360" cy="396240"/>
          </a:xfrm>
          <a:prstGeom prst="rect">
            <a:avLst/>
          </a:prstGeom>
          <a:noFill/>
        </p:spPr>
        <p:txBody>
          <a:bodyPr wrap="none" lIns="0" rIns="0">
            <a:noAutofit/>
          </a:bodyPr>
          <a:lstStyle/>
          <a:p>
            <a:pPr algn="l"/>
            <a:r>
              <a:rPr sz="2600" b="1" i="0">
                <a:solidFill>
                  <a:srgbClr val="0072CE"/>
                </a:solidFill>
                <a:latin typeface="Courier New"/>
              </a:rPr>
              <a:t>simple_eda/</a:t>
            </a:r>
          </a:p>
        </p:txBody>
      </p:sp>
      <p:sp>
        <p:nvSpPr>
          <p:cNvPr id="12" name="TextBox 11"/>
          <p:cNvSpPr/>
          <p:nvPr>
            <p:ph type="body" idx="7"/>
          </p:nvPr>
        </p:nvSpPr>
        <p:spPr>
          <a:xfrm>
            <a:off x="822960" y="300837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3" name="TextBox 12"/>
          <p:cNvSpPr/>
          <p:nvPr>
            <p:ph type="body" idx="8"/>
          </p:nvPr>
        </p:nvSpPr>
        <p:spPr>
          <a:xfrm>
            <a:off x="2606330" y="3008376"/>
            <a:ext cx="3670360" cy="396240"/>
          </a:xfrm>
          <a:prstGeom prst="rect">
            <a:avLst/>
          </a:prstGeom>
          <a:noFill/>
        </p:spPr>
        <p:txBody>
          <a:bodyPr wrap="none" lIns="0" rIns="0">
            <a:noAutofit/>
          </a:bodyPr>
          <a:lstStyle/>
          <a:p>
            <a:pPr algn="l"/>
            <a:r>
              <a:rPr sz="2600" b="0" i="0">
                <a:solidFill>
                  <a:srgbClr val="FFFFFF"/>
                </a:solidFill>
                <a:latin typeface="Courier New"/>
              </a:rPr>
              <a:t>__init__.py</a:t>
            </a:r>
          </a:p>
        </p:txBody>
      </p:sp>
      <p:sp>
        <p:nvSpPr>
          <p:cNvPr id="14" name="TextBox 13"/>
          <p:cNvSpPr/>
          <p:nvPr>
            <p:ph type="body" idx="9"/>
          </p:nvPr>
        </p:nvSpPr>
        <p:spPr>
          <a:xfrm>
            <a:off x="822960" y="3404616"/>
            <a:ext cx="3036272" cy="396240"/>
          </a:xfrm>
          <a:prstGeom prst="rect">
            <a:avLst/>
          </a:prstGeom>
          <a:noFill/>
        </p:spPr>
        <p:txBody>
          <a:bodyPr wrap="none" lIns="0" rIns="0">
            <a:noAutofit/>
          </a:bodyPr>
          <a:lstStyle/>
          <a:p>
            <a:pPr algn="l"/>
            <a:r>
              <a:rPr sz="2600" b="0" i="0">
                <a:solidFill>
                  <a:srgbClr val="0072CE"/>
                </a:solidFill>
                <a:latin typeface="Courier New"/>
              </a:rPr>
              <a:t>│     └─ </a:t>
            </a:r>
          </a:p>
        </p:txBody>
      </p:sp>
      <p:sp>
        <p:nvSpPr>
          <p:cNvPr id="15" name="TextBox 14"/>
          <p:cNvSpPr/>
          <p:nvPr>
            <p:ph type="body" idx="13"/>
          </p:nvPr>
        </p:nvSpPr>
        <p:spPr>
          <a:xfrm>
            <a:off x="2606330" y="3404616"/>
            <a:ext cx="2402185" cy="396240"/>
          </a:xfrm>
          <a:prstGeom prst="rect">
            <a:avLst/>
          </a:prstGeom>
          <a:noFill/>
        </p:spPr>
        <p:txBody>
          <a:bodyPr wrap="none" lIns="0" rIns="0">
            <a:noAutofit/>
          </a:bodyPr>
          <a:lstStyle/>
          <a:p>
            <a:pPr algn="l"/>
            <a:r>
              <a:rPr sz="2600" b="0" i="0">
                <a:solidFill>
                  <a:srgbClr val="FFFFFF"/>
                </a:solidFill>
                <a:latin typeface="Courier New"/>
              </a:rPr>
              <a:t>core.py</a:t>
            </a:r>
          </a:p>
        </p:txBody>
      </p:sp>
      <p:sp>
        <p:nvSpPr>
          <p:cNvPr id="16" name="TextBox 15"/>
          <p:cNvSpPr/>
          <p:nvPr>
            <p:ph type="body" idx="14"/>
          </p:nvPr>
        </p:nvSpPr>
        <p:spPr>
          <a:xfrm>
            <a:off x="822960" y="380085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7" name="TextBox 16"/>
          <p:cNvSpPr/>
          <p:nvPr>
            <p:ph type="body" idx="15"/>
          </p:nvPr>
        </p:nvSpPr>
        <p:spPr>
          <a:xfrm>
            <a:off x="1417417" y="3800856"/>
            <a:ext cx="3036272" cy="396240"/>
          </a:xfrm>
          <a:prstGeom prst="rect">
            <a:avLst/>
          </a:prstGeom>
          <a:noFill/>
        </p:spPr>
        <p:txBody>
          <a:bodyPr wrap="none" lIns="0" rIns="0">
            <a:noAutofit/>
          </a:bodyPr>
          <a:lstStyle/>
          <a:p>
            <a:pPr algn="l"/>
            <a:r>
              <a:rPr sz="2600" b="0" i="0">
                <a:solidFill>
                  <a:srgbClr val="FFFFFF"/>
                </a:solidFill>
                <a:latin typeface="Courier New"/>
              </a:rPr>
              <a:t>README.md</a:t>
            </a:r>
          </a:p>
        </p:txBody>
      </p:sp>
      <p:sp>
        <p:nvSpPr>
          <p:cNvPr id="18" name="TextBox 17"/>
          <p:cNvSpPr/>
          <p:nvPr>
            <p:ph type="body" idx="16"/>
          </p:nvPr>
        </p:nvSpPr>
        <p:spPr>
          <a:xfrm>
            <a:off x="822960" y="419709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19" name="TextBox 18"/>
          <p:cNvSpPr/>
          <p:nvPr>
            <p:ph type="body" idx="17"/>
          </p:nvPr>
        </p:nvSpPr>
        <p:spPr>
          <a:xfrm>
            <a:off x="1417417" y="4197096"/>
            <a:ext cx="4621489" cy="396240"/>
          </a:xfrm>
          <a:prstGeom prst="rect">
            <a:avLst/>
          </a:prstGeom>
          <a:noFill/>
        </p:spPr>
        <p:txBody>
          <a:bodyPr wrap="none" lIns="0" rIns="0">
            <a:noAutofit/>
          </a:bodyPr>
          <a:lstStyle/>
          <a:p>
            <a:pPr algn="l"/>
            <a:r>
              <a:rPr sz="2600" b="0" i="0">
                <a:solidFill>
                  <a:srgbClr val="FFFFFF"/>
                </a:solidFill>
                <a:latin typeface="Courier New"/>
              </a:rPr>
              <a:t>pyproject.toml</a:t>
            </a:r>
          </a:p>
        </p:txBody>
      </p:sp>
      <p:sp>
        <p:nvSpPr>
          <p:cNvPr id="20" name="TextBox 19"/>
          <p:cNvSpPr/>
          <p:nvPr>
            <p:ph type="body" idx="18"/>
          </p:nvPr>
        </p:nvSpPr>
        <p:spPr>
          <a:xfrm>
            <a:off x="822960" y="4593336"/>
            <a:ext cx="1134011" cy="396240"/>
          </a:xfrm>
          <a:prstGeom prst="rect">
            <a:avLst/>
          </a:prstGeom>
          <a:noFill/>
        </p:spPr>
        <p:txBody>
          <a:bodyPr wrap="none" lIns="0" rIns="0">
            <a:noAutofit/>
          </a:bodyPr>
          <a:lstStyle/>
          <a:p>
            <a:pPr algn="l"/>
            <a:r>
              <a:rPr sz="2600" b="0" i="0">
                <a:solidFill>
                  <a:srgbClr val="0072CE"/>
                </a:solidFill>
                <a:latin typeface="Courier New"/>
              </a:rPr>
              <a:t>└─ </a:t>
            </a:r>
          </a:p>
        </p:txBody>
      </p:sp>
      <p:sp>
        <p:nvSpPr>
          <p:cNvPr id="21" name="TextBox 20"/>
          <p:cNvSpPr/>
          <p:nvPr>
            <p:ph type="body" idx="19"/>
          </p:nvPr>
        </p:nvSpPr>
        <p:spPr>
          <a:xfrm>
            <a:off x="1417417" y="4593336"/>
            <a:ext cx="2402185" cy="396240"/>
          </a:xfrm>
          <a:prstGeom prst="rect">
            <a:avLst/>
          </a:prstGeom>
          <a:noFill/>
        </p:spPr>
        <p:txBody>
          <a:bodyPr wrap="none" lIns="0" rIns="0">
            <a:noAutofit/>
          </a:bodyPr>
          <a:lstStyle/>
          <a:p>
            <a:pPr algn="l"/>
            <a:r>
              <a:rPr sz="2600" b="0" i="0">
                <a:solidFill>
                  <a:srgbClr val="FFFFFF"/>
                </a:solidFill>
                <a:latin typeface="Courier New"/>
              </a:rPr>
              <a:t>LICENSE</a:t>
            </a:r>
          </a:p>
        </p:txBody>
      </p:sp>
    </p:spTree>
    <p:extLst>
      <p:ext uri="{BB962C8B-B14F-4D97-AF65-F5344CB8AC3E}">
        <p14:creationId xmlns:p14="http://schemas.microsoft.com/office/powerpoint/2010/main" val="12129998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lidekit · Numbered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Three Steps to Onboard</a:t>
            </a:r>
          </a:p>
        </p:txBody>
      </p:sp>
      <p:sp>
        <p:nvSpPr>
          <p:cNvPr id="6" name="TextBox 5"/>
          <p:cNvSpPr/>
          <p:nvPr>
            <p:ph type="body" id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TextBox 6"/>
          <p:cNvSpPr/>
          <p:nvPr>
            <p:ph type="body" idx="2"/>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Connect your data</a:t>
            </a:r>
          </a:p>
        </p:txBody>
      </p:sp>
      <p:sp>
        <p:nvSpPr>
          <p:cNvPr id="8" name="TextBox 7"/>
          <p:cNvSpPr/>
          <p:nvPr>
            <p:ph type="body" idx="3"/>
          </p:nvPr>
        </p:nvSpPr>
        <p:spPr>
          <a:xfrm>
            <a:off x="1461983" y="2185416"/>
            <a:ext cx="10730017" cy="551688"/>
          </a:xfrm>
          <a:prstGeom prst="rect">
            <a:avLst/>
          </a:prstGeom>
          <a:noFill/>
        </p:spPr>
        <p:txBody>
          <a:bodyPr wrap="none" lIns="0" rIns="0">
            <a:noAutofit/>
          </a:bodyPr>
          <a:lstStyle/>
          <a:p>
            <a:pPr algn="l"/>
            <a:r>
              <a:rPr sz="3400" b="0" i="0">
                <a:solidFill>
                  <a:srgbClr val="0A2240"/>
                </a:solidFill>
                <a:latin typeface="Arial"/>
              </a:rPr>
              <a:t>Link a source in minutes with a guided wizard.</a:t>
            </a:r>
          </a:p>
        </p:txBody>
      </p:sp>
      <p:sp>
        <p:nvSpPr>
          <p:cNvPr id="9" name="TextBox 8"/>
          <p:cNvSpPr/>
          <p:nvPr>
            <p:ph type="body" idx="4"/>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0" name="TextBox 9"/>
          <p:cNvSpPr/>
          <p:nvPr>
            <p:ph type="body" idx="5"/>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Pick a template</a:t>
            </a:r>
          </a:p>
        </p:txBody>
      </p:sp>
      <p:sp>
        <p:nvSpPr>
          <p:cNvPr id="11" name="TextBox 10"/>
          <p:cNvSpPr/>
          <p:nvPr>
            <p:ph type="body" idx="6"/>
          </p:nvPr>
        </p:nvSpPr>
        <p:spPr>
          <a:xfrm>
            <a:off x="1461983" y="3697224"/>
            <a:ext cx="10730017" cy="551688"/>
          </a:xfrm>
          <a:prstGeom prst="rect">
            <a:avLst/>
          </a:prstGeom>
          <a:noFill/>
        </p:spPr>
        <p:txBody>
          <a:bodyPr wrap="none" lIns="0" rIns="0">
            <a:noAutofit/>
          </a:bodyPr>
          <a:lstStyle/>
          <a:p>
            <a:pPr algn="l"/>
            <a:r>
              <a:rPr sz="3400" b="0" i="0">
                <a:solidFill>
                  <a:srgbClr val="0A2240"/>
                </a:solidFill>
                <a:latin typeface="Arial"/>
              </a:rPr>
              <a:t>Start from a proven layout, then tailor it.</a:t>
            </a:r>
          </a:p>
        </p:txBody>
      </p:sp>
      <p:sp>
        <p:nvSpPr>
          <p:cNvPr id="12" name="TextBox 11"/>
          <p:cNvSpPr/>
          <p:nvPr>
            <p:ph type="body" idx="7"/>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3" name="TextBox 12"/>
          <p:cNvSpPr/>
          <p:nvPr>
            <p:ph type="body" idx="8"/>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Share the result</a:t>
            </a:r>
          </a:p>
        </p:txBody>
      </p:sp>
      <p:sp>
        <p:nvSpPr>
          <p:cNvPr id="14" name="TextBox 13"/>
          <p:cNvSpPr/>
          <p:nvPr>
            <p:ph type="body" idx="9"/>
          </p:nvPr>
        </p:nvSpPr>
        <p:spPr>
          <a:xfrm>
            <a:off x="1461983" y="5209032"/>
            <a:ext cx="10730017" cy="551688"/>
          </a:xfrm>
          <a:prstGeom prst="rect">
            <a:avLst/>
          </a:prstGeom>
          <a:noFill/>
        </p:spPr>
        <p:txBody>
          <a:bodyPr wrap="none" lIns="0" rIns="0">
            <a:noAutofit/>
          </a:bodyPr>
          <a:lstStyle/>
          <a:p>
            <a:pPr algn="l"/>
            <a:r>
              <a:rPr sz="3400" b="0" i="0">
                <a:solidFill>
                  <a:srgbClr val="0A2240"/>
                </a:solidFill>
                <a:latin typeface="Arial"/>
              </a:rPr>
              <a:t>Publish to your team and gather feedback fast.</a:t>
            </a:r>
          </a:p>
        </p:txBody>
      </p:sp>
    </p:spTree>
    <p:extLst>
      <p:ext uri="{BB962C8B-B14F-4D97-AF65-F5344CB8AC3E}">
        <p14:creationId xmlns:p14="http://schemas.microsoft.com/office/powerpoint/2010/main" val="12129998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lidekit · Two Panel Lis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Reworked</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Before</a:t>
            </a:r>
          </a:p>
        </p:txBody>
      </p:sp>
      <p:sp>
        <p:nvSpPr>
          <p:cNvPr id="7" name="Rectangle 6"/>
          <p:cNvSpPr/>
          <p:nvPr>
            <p:ph type="body" idx="2"/>
          </p:nvPr>
        </p:nvSpPr>
        <p:spPr>
          <a:xfrm>
            <a:off x="457200" y="2176271"/>
            <a:ext cx="1367718"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After</a:t>
            </a:r>
          </a:p>
        </p:txBody>
      </p:sp>
      <p:sp>
        <p:nvSpPr>
          <p:cNvPr id="9" name="Rectangle 8"/>
          <p:cNvSpPr/>
          <p:nvPr>
            <p:ph type="body" idx="4"/>
          </p:nvPr>
        </p:nvSpPr>
        <p:spPr>
          <a:xfrm>
            <a:off x="6233160" y="2176271"/>
            <a:ext cx="1007604" cy="54864"/>
          </a:xfrm>
          <a:prstGeom prst="rect">
            <a:avLst/>
          </a:prstGeom>
          <a:solidFill>
            <a:srgbClr val="0A2240"/>
          </a:solidFill>
          <a:ln>
            <a:noFill/>
          </a:ln>
          <a:effectLst/>
        </p:spPr>
        <p:txBody>
          <a:bodyPr rtlCol="0" anchor="ctr"/>
          <a:lstStyle/>
          <a:p>
            <a:pPr algn="ctr"/>
          </a:p>
        </p:txBody>
      </p:sp>
      <p:sp>
        <p:nvSpPr>
          <p:cNvPr id="10" name="TextBox 9"/>
          <p:cNvSpPr/>
          <p:nvPr>
            <p:ph type="body" idx="5"/>
          </p:nvPr>
        </p:nvSpPr>
        <p:spPr>
          <a:xfrm>
            <a:off x="457200" y="2395727"/>
            <a:ext cx="6942574" cy="609600"/>
          </a:xfrm>
          <a:prstGeom prst="rect">
            <a:avLst/>
          </a:prstGeom>
          <a:noFill/>
        </p:spPr>
        <p:txBody>
          <a:bodyPr wrap="none" lIns="0" rIns="0">
            <a:noAutofit/>
          </a:bodyPr>
          <a:lstStyle/>
          <a:p>
            <a:pPr algn="l"/>
            <a:r>
              <a:rPr sz="3400" b="0" i="0">
                <a:solidFill>
                  <a:srgbClr val="0A2240"/>
                </a:solidFill>
                <a:latin typeface="Arial"/>
              </a:rPr>
              <a:t>Manual account setup</a:t>
            </a:r>
          </a:p>
        </p:txBody>
      </p:sp>
      <p:sp>
        <p:nvSpPr>
          <p:cNvPr id="11" name="TextBox 10"/>
          <p:cNvSpPr/>
          <p:nvPr>
            <p:ph type="body" idx="6"/>
          </p:nvPr>
        </p:nvSpPr>
        <p:spPr>
          <a:xfrm>
            <a:off x="457200" y="3608831"/>
            <a:ext cx="7594321" cy="609600"/>
          </a:xfrm>
          <a:prstGeom prst="rect">
            <a:avLst/>
          </a:prstGeom>
          <a:noFill/>
        </p:spPr>
        <p:txBody>
          <a:bodyPr wrap="none" lIns="0" rIns="0">
            <a:noAutofit/>
          </a:bodyPr>
          <a:lstStyle/>
          <a:p>
            <a:pPr algn="l"/>
            <a:r>
              <a:rPr sz="3400" b="0" i="0">
                <a:solidFill>
                  <a:srgbClr val="0A2240"/>
                </a:solidFill>
                <a:latin typeface="Arial"/>
              </a:rPr>
              <a:t>Three-day approval wait</a:t>
            </a:r>
          </a:p>
        </p:txBody>
      </p:sp>
      <p:sp>
        <p:nvSpPr>
          <p:cNvPr id="12" name="TextBox 11"/>
          <p:cNvSpPr/>
          <p:nvPr>
            <p:ph type="body" idx="7"/>
          </p:nvPr>
        </p:nvSpPr>
        <p:spPr>
          <a:xfrm>
            <a:off x="457200" y="4821935"/>
            <a:ext cx="5904230" cy="609600"/>
          </a:xfrm>
          <a:prstGeom prst="rect">
            <a:avLst/>
          </a:prstGeom>
          <a:noFill/>
        </p:spPr>
        <p:txBody>
          <a:bodyPr wrap="none" lIns="0" rIns="0">
            <a:noAutofit/>
          </a:bodyPr>
          <a:lstStyle/>
          <a:p>
            <a:pPr algn="l"/>
            <a:r>
              <a:rPr sz="3400" b="0" i="0">
                <a:solidFill>
                  <a:srgbClr val="0A2240"/>
                </a:solidFill>
                <a:latin typeface="Arial"/>
              </a:rPr>
              <a:t>Email-only support</a:t>
            </a:r>
          </a:p>
        </p:txBody>
      </p:sp>
      <p:sp>
        <p:nvSpPr>
          <p:cNvPr id="13" name="TextBox 12"/>
          <p:cNvSpPr/>
          <p:nvPr>
            <p:ph type="body" idx="8"/>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One-click provisioning</a:t>
            </a:r>
          </a:p>
        </p:txBody>
      </p:sp>
      <p:sp>
        <p:nvSpPr>
          <p:cNvPr id="14" name="TextBox 13"/>
          <p:cNvSpPr/>
          <p:nvPr>
            <p:ph type="body" idx="9"/>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Same-day approval</a:t>
            </a:r>
          </a:p>
        </p:txBody>
      </p:sp>
      <p:sp>
        <p:nvSpPr>
          <p:cNvPr id="15" name="TextBox 14"/>
          <p:cNvSpPr/>
          <p:nvPr>
            <p:ph type="body" idx="13"/>
          </p:nvPr>
        </p:nvSpPr>
        <p:spPr>
          <a:xfrm>
            <a:off x="6233160" y="4821935"/>
            <a:ext cx="5958840" cy="609600"/>
          </a:xfrm>
          <a:prstGeom prst="rect">
            <a:avLst/>
          </a:prstGeom>
          <a:noFill/>
        </p:spPr>
        <p:txBody>
          <a:bodyPr wrap="none" lIns="0" rIns="0">
            <a:noAutofit/>
          </a:bodyPr>
          <a:lstStyle/>
          <a:p>
            <a:pPr algn="l"/>
            <a:r>
              <a:rPr sz="3400" b="0" i="0">
                <a:solidFill>
                  <a:srgbClr val="0A2240"/>
                </a:solidFill>
                <a:latin typeface="Arial"/>
              </a:rPr>
              <a:t>In-product live chat</a:t>
            </a:r>
          </a:p>
        </p:txBody>
      </p:sp>
    </p:spTree>
    <p:extLst>
      <p:ext uri="{BB962C8B-B14F-4D97-AF65-F5344CB8AC3E}">
        <p14:creationId xmlns:p14="http://schemas.microsoft.com/office/powerpoint/2010/main" val="12129998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lidekit · This vs Tha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Cloud or On-Prem</a:t>
            </a:r>
          </a:p>
        </p:txBody>
      </p:sp>
      <p:sp>
        <p:nvSpPr>
          <p:cNvPr id="6" name="TextBox 5"/>
          <p:cNvSpPr/>
          <p:nvPr>
            <p:ph type="body" id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3 wks</a:t>
            </a:r>
          </a:p>
        </p:txBody>
      </p:sp>
      <p:sp>
        <p:nvSpPr>
          <p:cNvPr id="7" name="TextBox 6"/>
          <p:cNvSpPr/>
          <p:nvPr>
            <p:ph type="body" idx="2"/>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Cloud time-to-launch</a:t>
            </a:r>
          </a:p>
        </p:txBody>
      </p:sp>
      <p:sp>
        <p:nvSpPr>
          <p:cNvPr id="8" name="TextBox 7"/>
          <p:cNvSpPr/>
          <p:nvPr>
            <p:ph type="body" idx="3"/>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6 mo</a:t>
            </a:r>
          </a:p>
        </p:txBody>
      </p:sp>
      <p:sp>
        <p:nvSpPr>
          <p:cNvPr id="9" name="TextBox 8"/>
          <p:cNvSpPr/>
          <p:nvPr>
            <p:ph type="body" idx="4"/>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On-prem time-to-launch</a:t>
            </a:r>
          </a:p>
        </p:txBody>
      </p:sp>
      <p:sp>
        <p:nvSpPr>
          <p:cNvPr id="10" name="TextBox 9"/>
          <p:cNvSpPr/>
          <p:nvPr>
            <p:ph type="body" idx="5"/>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Tree>
    <p:extLst>
      <p:ext uri="{BB962C8B-B14F-4D97-AF65-F5344CB8AC3E}">
        <p14:creationId xmlns:p14="http://schemas.microsoft.com/office/powerpoint/2010/main" val="12129998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lidekit · KPI Gr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Key Metrics This Quarter</a:t>
            </a:r>
          </a:p>
        </p:txBody>
      </p:sp>
      <p:sp>
        <p:nvSpPr>
          <p:cNvPr id="6" name="TextBox 5"/>
          <p:cNvSpPr/>
          <p:nvPr>
            <p:ph type="body" idx="1"/>
          </p:nvPr>
        </p:nvSpPr>
        <p:spPr>
          <a:xfrm>
            <a:off x="457200" y="1789176"/>
            <a:ext cx="3576320" cy="640080"/>
          </a:xfrm>
          <a:prstGeom prst="rect">
            <a:avLst/>
          </a:prstGeom>
          <a:noFill/>
        </p:spPr>
        <p:txBody>
          <a:bodyPr wrap="none" lIns="0" rIns="0">
            <a:noAutofit/>
          </a:bodyPr>
          <a:lstStyle/>
          <a:p>
            <a:pPr algn="ctr"/>
            <a:r>
              <a:rPr sz="4200" b="1" i="0">
                <a:solidFill>
                  <a:srgbClr val="0072CE"/>
                </a:solidFill>
                <a:latin typeface="Arial"/>
              </a:rPr>
              <a:t>98.7%</a:t>
            </a:r>
          </a:p>
        </p:txBody>
      </p:sp>
      <p:sp>
        <p:nvSpPr>
          <p:cNvPr id="7" name="Rectangle 6"/>
          <p:cNvSpPr/>
          <p:nvPr>
            <p:ph type="body" idx="2"/>
          </p:nvPr>
        </p:nvSpPr>
        <p:spPr>
          <a:xfrm>
            <a:off x="1708912" y="2484120"/>
            <a:ext cx="1072896"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593848"/>
            <a:ext cx="3576320" cy="609600"/>
          </a:xfrm>
          <a:prstGeom prst="rect">
            <a:avLst/>
          </a:prstGeom>
          <a:noFill/>
        </p:spPr>
        <p:txBody>
          <a:bodyPr wrap="none" lIns="0" rIns="0">
            <a:noAutofit/>
          </a:bodyPr>
          <a:lstStyle/>
          <a:p>
            <a:pPr algn="ctr"/>
            <a:r>
              <a:rPr sz="3400" b="0" i="0">
                <a:solidFill>
                  <a:srgbClr val="0A2240"/>
                </a:solidFill>
                <a:latin typeface="Arial"/>
              </a:rPr>
              <a:t>Uptime</a:t>
            </a:r>
          </a:p>
        </p:txBody>
      </p:sp>
      <p:sp>
        <p:nvSpPr>
          <p:cNvPr id="9" name="TextBox 8"/>
          <p:cNvSpPr/>
          <p:nvPr>
            <p:ph type="body" idx="4"/>
          </p:nvPr>
        </p:nvSpPr>
        <p:spPr>
          <a:xfrm>
            <a:off x="4307840" y="1789176"/>
            <a:ext cx="3576320" cy="640080"/>
          </a:xfrm>
          <a:prstGeom prst="rect">
            <a:avLst/>
          </a:prstGeom>
          <a:noFill/>
        </p:spPr>
        <p:txBody>
          <a:bodyPr wrap="none" lIns="0" rIns="0">
            <a:noAutofit/>
          </a:bodyPr>
          <a:lstStyle/>
          <a:p>
            <a:pPr algn="ctr"/>
            <a:r>
              <a:rPr sz="4200" b="1" i="0">
                <a:solidFill>
                  <a:srgbClr val="0072CE"/>
                </a:solidFill>
                <a:latin typeface="Arial"/>
              </a:rPr>
              <a:t>1,240</a:t>
            </a:r>
          </a:p>
        </p:txBody>
      </p:sp>
      <p:sp>
        <p:nvSpPr>
          <p:cNvPr id="10" name="Rectangle 9"/>
          <p:cNvSpPr/>
          <p:nvPr>
            <p:ph type="body" idx="5"/>
          </p:nvPr>
        </p:nvSpPr>
        <p:spPr>
          <a:xfrm>
            <a:off x="5559552" y="2484120"/>
            <a:ext cx="1072896" cy="54864"/>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3834934" y="2593848"/>
            <a:ext cx="4522132" cy="609600"/>
          </a:xfrm>
          <a:prstGeom prst="rect">
            <a:avLst/>
          </a:prstGeom>
          <a:noFill/>
        </p:spPr>
        <p:txBody>
          <a:bodyPr wrap="none" lIns="0" rIns="0">
            <a:noAutofit/>
          </a:bodyPr>
          <a:lstStyle/>
          <a:p>
            <a:pPr algn="ctr"/>
            <a:r>
              <a:rPr sz="3400" b="0" i="0">
                <a:solidFill>
                  <a:srgbClr val="0A2240"/>
                </a:solidFill>
                <a:latin typeface="Arial"/>
              </a:rPr>
              <a:t>New accounts</a:t>
            </a:r>
          </a:p>
        </p:txBody>
      </p:sp>
      <p:sp>
        <p:nvSpPr>
          <p:cNvPr id="12" name="TextBox 11"/>
          <p:cNvSpPr/>
          <p:nvPr>
            <p:ph type="body" idx="7"/>
          </p:nvPr>
        </p:nvSpPr>
        <p:spPr>
          <a:xfrm>
            <a:off x="8158480" y="1789176"/>
            <a:ext cx="3576320" cy="640080"/>
          </a:xfrm>
          <a:prstGeom prst="rect">
            <a:avLst/>
          </a:prstGeom>
          <a:noFill/>
        </p:spPr>
        <p:txBody>
          <a:bodyPr wrap="none" lIns="0" rIns="0">
            <a:noAutofit/>
          </a:bodyPr>
          <a:lstStyle/>
          <a:p>
            <a:pPr algn="ctr"/>
            <a:r>
              <a:rPr sz="4200" b="1" i="0">
                <a:solidFill>
                  <a:srgbClr val="0072CE"/>
                </a:solidFill>
                <a:latin typeface="Arial"/>
              </a:rPr>
              <a:t>4.6/5</a:t>
            </a:r>
          </a:p>
        </p:txBody>
      </p:sp>
      <p:sp>
        <p:nvSpPr>
          <p:cNvPr id="13" name="Rectangle 12"/>
          <p:cNvSpPr/>
          <p:nvPr>
            <p:ph type="body" idx="8"/>
          </p:nvPr>
        </p:nvSpPr>
        <p:spPr>
          <a:xfrm>
            <a:off x="9410192" y="2484120"/>
            <a:ext cx="1072896"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7701280" y="2593848"/>
            <a:ext cx="4490720" cy="609600"/>
          </a:xfrm>
          <a:prstGeom prst="rect">
            <a:avLst/>
          </a:prstGeom>
          <a:noFill/>
        </p:spPr>
        <p:txBody>
          <a:bodyPr wrap="none" lIns="0" rIns="0">
            <a:noAutofit/>
          </a:bodyPr>
          <a:lstStyle/>
          <a:p>
            <a:pPr algn="ctr"/>
            <a:r>
              <a:rPr sz="3400" b="0" i="0">
                <a:solidFill>
                  <a:srgbClr val="0A2240"/>
                </a:solidFill>
                <a:latin typeface="Arial"/>
              </a:rPr>
              <a:t>Support rating</a:t>
            </a:r>
          </a:p>
        </p:txBody>
      </p:sp>
      <p:sp>
        <p:nvSpPr>
          <p:cNvPr id="15" name="TextBox 14"/>
          <p:cNvSpPr/>
          <p:nvPr>
            <p:ph type="body" idx="13"/>
          </p:nvPr>
        </p:nvSpPr>
        <p:spPr>
          <a:xfrm>
            <a:off x="457200" y="4056888"/>
            <a:ext cx="3576320" cy="640080"/>
          </a:xfrm>
          <a:prstGeom prst="rect">
            <a:avLst/>
          </a:prstGeom>
          <a:noFill/>
        </p:spPr>
        <p:txBody>
          <a:bodyPr wrap="none" lIns="0" rIns="0">
            <a:noAutofit/>
          </a:bodyPr>
          <a:lstStyle/>
          <a:p>
            <a:pPr algn="ctr"/>
            <a:r>
              <a:rPr sz="4200" b="1" i="0">
                <a:solidFill>
                  <a:srgbClr val="0072CE"/>
                </a:solidFill>
                <a:latin typeface="Arial"/>
              </a:rPr>
              <a:t>$2.1M</a:t>
            </a:r>
          </a:p>
        </p:txBody>
      </p:sp>
      <p:sp>
        <p:nvSpPr>
          <p:cNvPr id="16" name="Rectangle 15"/>
          <p:cNvSpPr/>
          <p:nvPr>
            <p:ph type="body" idx="14"/>
          </p:nvPr>
        </p:nvSpPr>
        <p:spPr>
          <a:xfrm>
            <a:off x="1708912" y="4751832"/>
            <a:ext cx="1072896" cy="548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0" y="4861560"/>
            <a:ext cx="4490720" cy="609600"/>
          </a:xfrm>
          <a:prstGeom prst="rect">
            <a:avLst/>
          </a:prstGeom>
          <a:noFill/>
        </p:spPr>
        <p:txBody>
          <a:bodyPr wrap="none" lIns="0" rIns="0">
            <a:noAutofit/>
          </a:bodyPr>
          <a:lstStyle/>
          <a:p>
            <a:pPr algn="ctr"/>
            <a:r>
              <a:rPr sz="3400" b="0" i="0">
                <a:solidFill>
                  <a:srgbClr val="0A2240"/>
                </a:solidFill>
                <a:latin typeface="Arial"/>
              </a:rPr>
              <a:t>Net new revenue</a:t>
            </a:r>
          </a:p>
        </p:txBody>
      </p:sp>
      <p:sp>
        <p:nvSpPr>
          <p:cNvPr id="18" name="TextBox 17"/>
          <p:cNvSpPr/>
          <p:nvPr>
            <p:ph type="body" idx="16"/>
          </p:nvPr>
        </p:nvSpPr>
        <p:spPr>
          <a:xfrm>
            <a:off x="4307840" y="4056888"/>
            <a:ext cx="3576320" cy="640080"/>
          </a:xfrm>
          <a:prstGeom prst="rect">
            <a:avLst/>
          </a:prstGeom>
          <a:noFill/>
        </p:spPr>
        <p:txBody>
          <a:bodyPr wrap="none" lIns="0" rIns="0">
            <a:noAutofit/>
          </a:bodyPr>
          <a:lstStyle/>
          <a:p>
            <a:pPr algn="ctr"/>
            <a:r>
              <a:rPr sz="4200" b="1" i="0">
                <a:solidFill>
                  <a:srgbClr val="0072CE"/>
                </a:solidFill>
                <a:latin typeface="Arial"/>
              </a:rPr>
              <a:t>12 days</a:t>
            </a:r>
          </a:p>
        </p:txBody>
      </p:sp>
      <p:sp>
        <p:nvSpPr>
          <p:cNvPr id="19" name="Rectangle 18"/>
          <p:cNvSpPr/>
          <p:nvPr>
            <p:ph type="body" idx="17"/>
          </p:nvPr>
        </p:nvSpPr>
        <p:spPr>
          <a:xfrm>
            <a:off x="5559552" y="4751832"/>
            <a:ext cx="1072896"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3943896" y="4861560"/>
            <a:ext cx="4304208" cy="609600"/>
          </a:xfrm>
          <a:prstGeom prst="rect">
            <a:avLst/>
          </a:prstGeom>
          <a:noFill/>
        </p:spPr>
        <p:txBody>
          <a:bodyPr wrap="none" lIns="0" rIns="0">
            <a:noAutofit/>
          </a:bodyPr>
          <a:lstStyle/>
          <a:p>
            <a:pPr algn="ctr"/>
            <a:r>
              <a:rPr sz="3400" b="0" i="0">
                <a:solidFill>
                  <a:srgbClr val="0A2240"/>
                </a:solidFill>
                <a:latin typeface="Arial"/>
              </a:rPr>
              <a:t>Time to value</a:t>
            </a:r>
          </a:p>
        </p:txBody>
      </p:sp>
      <p:sp>
        <p:nvSpPr>
          <p:cNvPr id="21" name="TextBox 20"/>
          <p:cNvSpPr/>
          <p:nvPr>
            <p:ph type="body" idx="19"/>
          </p:nvPr>
        </p:nvSpPr>
        <p:spPr>
          <a:xfrm>
            <a:off x="8158480" y="4056888"/>
            <a:ext cx="3576320" cy="640080"/>
          </a:xfrm>
          <a:prstGeom prst="rect">
            <a:avLst/>
          </a:prstGeom>
          <a:noFill/>
        </p:spPr>
        <p:txBody>
          <a:bodyPr wrap="none" lIns="0" rIns="0">
            <a:noAutofit/>
          </a:bodyPr>
          <a:lstStyle/>
          <a:p>
            <a:pPr algn="ctr"/>
            <a:r>
              <a:rPr sz="4200" b="1" i="0">
                <a:solidFill>
                  <a:srgbClr val="0072CE"/>
                </a:solidFill>
                <a:latin typeface="Arial"/>
              </a:rPr>
              <a:t>31%</a:t>
            </a:r>
          </a:p>
        </p:txBody>
      </p:sp>
      <p:sp>
        <p:nvSpPr>
          <p:cNvPr id="22" name="Rectangle 21"/>
          <p:cNvSpPr/>
          <p:nvPr>
            <p:ph type="body" idx="20"/>
          </p:nvPr>
        </p:nvSpPr>
        <p:spPr>
          <a:xfrm>
            <a:off x="9410192" y="4751832"/>
            <a:ext cx="1072896" cy="54864"/>
          </a:xfrm>
          <a:prstGeom prst="rect">
            <a:avLst/>
          </a:prstGeom>
          <a:solidFill>
            <a:srgbClr val="0072CE"/>
          </a:solidFill>
          <a:ln>
            <a:noFill/>
          </a:ln>
          <a:effectLst/>
        </p:spPr>
        <p:txBody>
          <a:bodyPr rtlCol="0" anchor="ctr"/>
          <a:lstStyle/>
          <a:p>
            <a:pPr algn="ctr"/>
          </a:p>
        </p:txBody>
      </p:sp>
      <p:sp>
        <p:nvSpPr>
          <p:cNvPr id="23" name="TextBox 22"/>
          <p:cNvSpPr/>
          <p:nvPr>
            <p:ph type="body" idx="21"/>
          </p:nvPr>
        </p:nvSpPr>
        <p:spPr>
          <a:xfrm>
            <a:off x="7701280" y="4861560"/>
            <a:ext cx="4490720" cy="609600"/>
          </a:xfrm>
          <a:prstGeom prst="rect">
            <a:avLst/>
          </a:prstGeom>
          <a:noFill/>
        </p:spPr>
        <p:txBody>
          <a:bodyPr wrap="none" lIns="0" rIns="0">
            <a:noAutofit/>
          </a:bodyPr>
          <a:lstStyle/>
          <a:p>
            <a:pPr algn="ctr"/>
            <a:r>
              <a:rPr sz="3400" b="0" i="0">
                <a:solidFill>
                  <a:srgbClr val="0A2240"/>
                </a:solidFill>
                <a:latin typeface="Arial"/>
              </a:rPr>
              <a:t>Expansion rate</a:t>
            </a:r>
          </a:p>
        </p:txBody>
      </p:sp>
    </p:spTree>
    <p:extLst>
      <p:ext uri="{BB962C8B-B14F-4D97-AF65-F5344CB8AC3E}">
        <p14:creationId xmlns:p14="http://schemas.microsoft.com/office/powerpoint/2010/main" val="121299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lidekit · Chart With Insigh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Monthly Active Teams</a:t>
            </a:r>
          </a:p>
        </p:txBody>
      </p:sp>
      <p:sp>
        <p:nvSpPr>
          <p:cNvPr id="6" name="TextBox 5"/>
          <p:cNvSpPr/>
          <p:nvPr>
            <p:ph type="body" idx="1"/>
          </p:nvPr>
        </p:nvSpPr>
        <p:spPr>
          <a:xfrm>
            <a:off x="457200" y="3680394"/>
            <a:ext cx="1485900" cy="381000"/>
          </a:xfrm>
          <a:prstGeom prst="rect">
            <a:avLst/>
          </a:prstGeom>
          <a:noFill/>
        </p:spPr>
        <p:txBody>
          <a:bodyPr wrap="none" lIns="0" rIns="0">
            <a:noAutofit/>
          </a:bodyPr>
          <a:lstStyle/>
          <a:p>
            <a:pPr algn="l"/>
            <a:r>
              <a:rPr sz="2500" b="1" i="0">
                <a:solidFill>
                  <a:srgbClr val="0072CE"/>
                </a:solidFill>
                <a:latin typeface="Arial"/>
              </a:rPr>
              <a:t>120</a:t>
            </a:r>
          </a:p>
        </p:txBody>
      </p:sp>
      <p:sp>
        <p:nvSpPr>
          <p:cNvPr id="7" name="Rectangle 6"/>
          <p:cNvSpPr/>
          <p:nvPr>
            <p:ph type="body" idx="2"/>
          </p:nvPr>
        </p:nvSpPr>
        <p:spPr>
          <a:xfrm>
            <a:off x="680085" y="4335714"/>
            <a:ext cx="1040129" cy="769686"/>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5379720"/>
            <a:ext cx="1485900" cy="381000"/>
          </a:xfrm>
          <a:prstGeom prst="rect">
            <a:avLst/>
          </a:prstGeom>
          <a:noFill/>
        </p:spPr>
        <p:txBody>
          <a:bodyPr wrap="none" lIns="0" rIns="0">
            <a:noAutofit/>
          </a:bodyPr>
          <a:lstStyle/>
          <a:p>
            <a:pPr algn="l"/>
            <a:r>
              <a:rPr sz="2500" b="0" i="0">
                <a:solidFill>
                  <a:srgbClr val="0A2240"/>
                </a:solidFill>
                <a:latin typeface="Arial"/>
              </a:rPr>
              <a:t>Jan</a:t>
            </a:r>
          </a:p>
        </p:txBody>
      </p:sp>
      <p:sp>
        <p:nvSpPr>
          <p:cNvPr id="9" name="TextBox 8"/>
          <p:cNvSpPr/>
          <p:nvPr>
            <p:ph type="body" idx="4"/>
          </p:nvPr>
        </p:nvSpPr>
        <p:spPr>
          <a:xfrm>
            <a:off x="2217420" y="3295551"/>
            <a:ext cx="1485900" cy="381000"/>
          </a:xfrm>
          <a:prstGeom prst="rect">
            <a:avLst/>
          </a:prstGeom>
          <a:noFill/>
        </p:spPr>
        <p:txBody>
          <a:bodyPr wrap="none" lIns="0" rIns="0">
            <a:noAutofit/>
          </a:bodyPr>
          <a:lstStyle/>
          <a:p>
            <a:pPr algn="l"/>
            <a:r>
              <a:rPr sz="2500" b="1" i="0">
                <a:solidFill>
                  <a:srgbClr val="0072CE"/>
                </a:solidFill>
                <a:latin typeface="Arial"/>
              </a:rPr>
              <a:t>180</a:t>
            </a:r>
          </a:p>
        </p:txBody>
      </p:sp>
      <p:sp>
        <p:nvSpPr>
          <p:cNvPr id="10" name="Rectangle 9"/>
          <p:cNvSpPr/>
          <p:nvPr>
            <p:ph type="body" idx="5"/>
          </p:nvPr>
        </p:nvSpPr>
        <p:spPr>
          <a:xfrm>
            <a:off x="2440305" y="3950871"/>
            <a:ext cx="1040129" cy="1154529"/>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217420" y="5379720"/>
            <a:ext cx="1485900" cy="381000"/>
          </a:xfrm>
          <a:prstGeom prst="rect">
            <a:avLst/>
          </a:prstGeom>
          <a:noFill/>
        </p:spPr>
        <p:txBody>
          <a:bodyPr wrap="none" lIns="0" rIns="0">
            <a:noAutofit/>
          </a:bodyPr>
          <a:lstStyle/>
          <a:p>
            <a:pPr algn="l"/>
            <a:r>
              <a:rPr sz="2500" b="0" i="0">
                <a:solidFill>
                  <a:srgbClr val="0A2240"/>
                </a:solidFill>
                <a:latin typeface="Arial"/>
              </a:rPr>
              <a:t>Feb</a:t>
            </a:r>
          </a:p>
        </p:txBody>
      </p:sp>
      <p:sp>
        <p:nvSpPr>
          <p:cNvPr id="12" name="TextBox 11"/>
          <p:cNvSpPr/>
          <p:nvPr>
            <p:ph type="body" idx="7"/>
          </p:nvPr>
        </p:nvSpPr>
        <p:spPr>
          <a:xfrm>
            <a:off x="3977640" y="2590005"/>
            <a:ext cx="1485900" cy="381000"/>
          </a:xfrm>
          <a:prstGeom prst="rect">
            <a:avLst/>
          </a:prstGeom>
          <a:noFill/>
        </p:spPr>
        <p:txBody>
          <a:bodyPr wrap="none" lIns="0" rIns="0">
            <a:noAutofit/>
          </a:bodyPr>
          <a:lstStyle/>
          <a:p>
            <a:pPr algn="l"/>
            <a:r>
              <a:rPr sz="2500" b="1" i="0">
                <a:solidFill>
                  <a:srgbClr val="0072CE"/>
                </a:solidFill>
                <a:latin typeface="Arial"/>
              </a:rPr>
              <a:t>290</a:t>
            </a:r>
          </a:p>
        </p:txBody>
      </p:sp>
      <p:sp>
        <p:nvSpPr>
          <p:cNvPr id="13" name="Rectangle 12"/>
          <p:cNvSpPr/>
          <p:nvPr>
            <p:ph type="body" idx="8"/>
          </p:nvPr>
        </p:nvSpPr>
        <p:spPr>
          <a:xfrm>
            <a:off x="4200525" y="3245325"/>
            <a:ext cx="1040129" cy="1860075"/>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3977640" y="5379720"/>
            <a:ext cx="1485900" cy="381000"/>
          </a:xfrm>
          <a:prstGeom prst="rect">
            <a:avLst/>
          </a:prstGeom>
          <a:noFill/>
        </p:spPr>
        <p:txBody>
          <a:bodyPr wrap="none" lIns="0" rIns="0">
            <a:noAutofit/>
          </a:bodyPr>
          <a:lstStyle/>
          <a:p>
            <a:pPr algn="l"/>
            <a:r>
              <a:rPr sz="2500" b="0" i="0">
                <a:solidFill>
                  <a:srgbClr val="0A2240"/>
                </a:solidFill>
                <a:latin typeface="Arial"/>
              </a:rPr>
              <a:t>Mar</a:t>
            </a:r>
          </a:p>
        </p:txBody>
      </p:sp>
      <p:sp>
        <p:nvSpPr>
          <p:cNvPr id="15" name="TextBox 14"/>
          <p:cNvSpPr/>
          <p:nvPr>
            <p:ph type="body" idx="13"/>
          </p:nvPr>
        </p:nvSpPr>
        <p:spPr>
          <a:xfrm>
            <a:off x="5737860" y="1499616"/>
            <a:ext cx="1485900" cy="381000"/>
          </a:xfrm>
          <a:prstGeom prst="rect">
            <a:avLst/>
          </a:prstGeom>
          <a:noFill/>
        </p:spPr>
        <p:txBody>
          <a:bodyPr wrap="none" lIns="0" rIns="0">
            <a:noAutofit/>
          </a:bodyPr>
          <a:lstStyle/>
          <a:p>
            <a:pPr algn="l"/>
            <a:r>
              <a:rPr sz="2500" b="1" i="0">
                <a:solidFill>
                  <a:srgbClr val="0072CE"/>
                </a:solidFill>
                <a:latin typeface="Arial"/>
              </a:rPr>
              <a:t>460</a:t>
            </a:r>
          </a:p>
        </p:txBody>
      </p:sp>
      <p:sp>
        <p:nvSpPr>
          <p:cNvPr id="16" name="Rectangle 15"/>
          <p:cNvSpPr/>
          <p:nvPr>
            <p:ph type="body" idx="14"/>
          </p:nvPr>
        </p:nvSpPr>
        <p:spPr>
          <a:xfrm>
            <a:off x="5960745" y="2154936"/>
            <a:ext cx="1040129" cy="2950464"/>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5737860" y="5379720"/>
            <a:ext cx="1485900" cy="381000"/>
          </a:xfrm>
          <a:prstGeom prst="rect">
            <a:avLst/>
          </a:prstGeom>
          <a:noFill/>
        </p:spPr>
        <p:txBody>
          <a:bodyPr wrap="none" lIns="0" rIns="0">
            <a:noAutofit/>
          </a:bodyPr>
          <a:lstStyle/>
          <a:p>
            <a:pPr algn="l"/>
            <a:r>
              <a:rPr sz="2500" b="0" i="0">
                <a:solidFill>
                  <a:srgbClr val="0A2240"/>
                </a:solidFill>
                <a:latin typeface="Arial"/>
              </a:rPr>
              <a:t>Apr</a:t>
            </a:r>
          </a:p>
        </p:txBody>
      </p:sp>
      <p:sp>
        <p:nvSpPr>
          <p:cNvPr id="18" name="Rectangle 17"/>
          <p:cNvSpPr/>
          <p:nvPr>
            <p:ph type="body" idx="16"/>
          </p:nvPr>
        </p:nvSpPr>
        <p:spPr>
          <a:xfrm>
            <a:off x="7498080" y="3325368"/>
            <a:ext cx="128016" cy="609600"/>
          </a:xfrm>
          <a:prstGeom prst="rect">
            <a:avLst/>
          </a:prstGeom>
          <a:solidFill>
            <a:srgbClr val="0072CE"/>
          </a:solidFill>
          <a:ln>
            <a:noFill/>
          </a:ln>
          <a:effectLst/>
        </p:spPr>
        <p:txBody>
          <a:bodyPr rtlCol="0" anchor="ctr"/>
          <a:lstStyle/>
          <a:p>
            <a:pPr algn="ctr"/>
          </a:p>
        </p:txBody>
      </p:sp>
      <p:sp>
        <p:nvSpPr>
          <p:cNvPr id="19" name="TextBox 18"/>
          <p:cNvSpPr/>
          <p:nvPr>
            <p:ph type="body" idx="17"/>
          </p:nvPr>
        </p:nvSpPr>
        <p:spPr>
          <a:xfrm>
            <a:off x="8037576" y="3325368"/>
            <a:ext cx="4154424" cy="609600"/>
          </a:xfrm>
          <a:prstGeom prst="rect">
            <a:avLst/>
          </a:prstGeom>
          <a:noFill/>
        </p:spPr>
        <p:txBody>
          <a:bodyPr wrap="none" lIns="0" rIns="0">
            <a:noAutofit/>
          </a:bodyPr>
          <a:lstStyle/>
          <a:p>
            <a:pPr algn="l"/>
            <a:r>
              <a:rPr sz="3400" b="1" i="0">
                <a:solidFill>
                  <a:srgbClr val="0A2240"/>
                </a:solidFill>
                <a:latin typeface="Arial"/>
              </a:rPr>
              <a:t>Activations 4x.</a:t>
            </a:r>
          </a:p>
        </p:txBody>
      </p:sp>
    </p:spTree>
    <p:extLst>
      <p:ext uri="{BB962C8B-B14F-4D97-AF65-F5344CB8AC3E}">
        <p14:creationId xmlns:p14="http://schemas.microsoft.com/office/powerpoint/2010/main" val="1212999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lidekit · Table">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Pricing Tiers</a:t>
            </a:r>
          </a:p>
        </p:txBody>
      </p:sp>
      <p:sp>
        <p:nvSpPr>
          <p:cNvPr id="6" name="TextBox 5"/>
          <p:cNvSpPr/>
          <p:nvPr>
            <p:ph type="body" idx="1"/>
          </p:nvPr>
        </p:nvSpPr>
        <p:spPr>
          <a:xfrm>
            <a:off x="457200" y="1499616"/>
            <a:ext cx="2333739" cy="518159"/>
          </a:xfrm>
          <a:prstGeom prst="rect">
            <a:avLst/>
          </a:prstGeom>
          <a:noFill/>
        </p:spPr>
        <p:txBody>
          <a:bodyPr wrap="none" lIns="0" rIns="0">
            <a:noAutofit/>
          </a:bodyPr>
          <a:lstStyle/>
          <a:p>
            <a:pPr algn="l"/>
            <a:r>
              <a:rPr sz="3400" b="1" i="0">
                <a:solidFill>
                  <a:srgbClr val="0072CE"/>
                </a:solidFill>
                <a:latin typeface="Arial"/>
              </a:rPr>
              <a:t>Plan</a:t>
            </a:r>
          </a:p>
        </p:txBody>
      </p:sp>
      <p:sp>
        <p:nvSpPr>
          <p:cNvPr id="7" name="TextBox 6"/>
          <p:cNvSpPr/>
          <p:nvPr>
            <p:ph type="body" idx="2"/>
          </p:nvPr>
        </p:nvSpPr>
        <p:spPr>
          <a:xfrm>
            <a:off x="3339579" y="1499616"/>
            <a:ext cx="2238229" cy="518159"/>
          </a:xfrm>
          <a:prstGeom prst="rect">
            <a:avLst/>
          </a:prstGeom>
          <a:noFill/>
        </p:spPr>
        <p:txBody>
          <a:bodyPr wrap="none" lIns="0" rIns="0">
            <a:noAutofit/>
          </a:bodyPr>
          <a:lstStyle/>
          <a:p>
            <a:pPr algn="l"/>
            <a:r>
              <a:rPr sz="3400" b="1" i="0">
                <a:solidFill>
                  <a:srgbClr val="0072CE"/>
                </a:solidFill>
                <a:latin typeface="Arial"/>
              </a:rPr>
              <a:t>Seats</a:t>
            </a:r>
          </a:p>
        </p:txBody>
      </p:sp>
      <p:sp>
        <p:nvSpPr>
          <p:cNvPr id="8" name="TextBox 7"/>
          <p:cNvSpPr/>
          <p:nvPr>
            <p:ph type="body" idx="3"/>
          </p:nvPr>
        </p:nvSpPr>
        <p:spPr>
          <a:xfrm>
            <a:off x="6126448" y="1499616"/>
            <a:ext cx="2022329" cy="518159"/>
          </a:xfrm>
          <a:prstGeom prst="rect">
            <a:avLst/>
          </a:prstGeom>
          <a:noFill/>
        </p:spPr>
        <p:txBody>
          <a:bodyPr wrap="none" lIns="0" rIns="0">
            <a:noAutofit/>
          </a:bodyPr>
          <a:lstStyle/>
          <a:p>
            <a:pPr algn="l"/>
            <a:r>
              <a:rPr sz="3400" b="1" i="0">
                <a:solidFill>
                  <a:srgbClr val="0072CE"/>
                </a:solidFill>
                <a:latin typeface="Arial"/>
              </a:rPr>
              <a:t>Price</a:t>
            </a:r>
          </a:p>
        </p:txBody>
      </p:sp>
      <p:sp>
        <p:nvSpPr>
          <p:cNvPr id="9" name="Rectangle 8"/>
          <p:cNvSpPr/>
          <p:nvPr>
            <p:ph type="body" idx="4"/>
          </p:nvPr>
        </p:nvSpPr>
        <p:spPr>
          <a:xfrm>
            <a:off x="457200" y="2072639"/>
            <a:ext cx="7691577"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2333739" cy="633984"/>
          </a:xfrm>
          <a:prstGeom prst="rect">
            <a:avLst/>
          </a:prstGeom>
          <a:noFill/>
        </p:spPr>
        <p:txBody>
          <a:bodyPr wrap="none" lIns="0" rIns="0">
            <a:noAutofit/>
          </a:bodyPr>
          <a:lstStyle/>
          <a:p>
            <a:pPr algn="l"/>
            <a:r>
              <a:rPr sz="3400" b="0" i="0">
                <a:solidFill>
                  <a:srgbClr val="0A2240"/>
                </a:solidFill>
                <a:latin typeface="Arial"/>
              </a:rPr>
              <a:t>Starter</a:t>
            </a:r>
          </a:p>
        </p:txBody>
      </p:sp>
      <p:sp>
        <p:nvSpPr>
          <p:cNvPr id="11" name="TextBox 10"/>
          <p:cNvSpPr/>
          <p:nvPr>
            <p:ph type="body" idx="6"/>
          </p:nvPr>
        </p:nvSpPr>
        <p:spPr>
          <a:xfrm>
            <a:off x="3339579" y="2401823"/>
            <a:ext cx="2410360" cy="633984"/>
          </a:xfrm>
          <a:prstGeom prst="rect">
            <a:avLst/>
          </a:prstGeom>
          <a:noFill/>
        </p:spPr>
        <p:txBody>
          <a:bodyPr wrap="none" lIns="0" rIns="0">
            <a:noAutofit/>
          </a:bodyPr>
          <a:lstStyle/>
          <a:p>
            <a:pPr algn="l"/>
            <a:r>
              <a:rPr sz="3400" b="0" i="0">
                <a:solidFill>
                  <a:srgbClr val="0A2240"/>
                </a:solidFill>
                <a:latin typeface="Arial"/>
              </a:rPr>
              <a:t>Up to 5</a:t>
            </a:r>
          </a:p>
        </p:txBody>
      </p:sp>
      <p:sp>
        <p:nvSpPr>
          <p:cNvPr id="12" name="TextBox 11"/>
          <p:cNvSpPr/>
          <p:nvPr>
            <p:ph type="body" idx="7"/>
          </p:nvPr>
        </p:nvSpPr>
        <p:spPr>
          <a:xfrm>
            <a:off x="6126448" y="2401823"/>
            <a:ext cx="2022329" cy="633984"/>
          </a:xfrm>
          <a:prstGeom prst="rect">
            <a:avLst/>
          </a:prstGeom>
          <a:noFill/>
        </p:spPr>
        <p:txBody>
          <a:bodyPr wrap="none" lIns="0" rIns="0">
            <a:noAutofit/>
          </a:bodyPr>
          <a:lstStyle/>
          <a:p>
            <a:pPr algn="l"/>
            <a:r>
              <a:rPr sz="3400" b="0" i="0">
                <a:solidFill>
                  <a:srgbClr val="0A2240"/>
                </a:solidFill>
                <a:latin typeface="Arial"/>
              </a:rPr>
              <a:t>$0</a:t>
            </a:r>
          </a:p>
        </p:txBody>
      </p:sp>
      <p:sp>
        <p:nvSpPr>
          <p:cNvPr id="13" name="TextBox 12"/>
          <p:cNvSpPr/>
          <p:nvPr>
            <p:ph type="body" idx="8"/>
          </p:nvPr>
        </p:nvSpPr>
        <p:spPr>
          <a:xfrm>
            <a:off x="457200" y="3310127"/>
            <a:ext cx="2333739" cy="633984"/>
          </a:xfrm>
          <a:prstGeom prst="rect">
            <a:avLst/>
          </a:prstGeom>
          <a:noFill/>
        </p:spPr>
        <p:txBody>
          <a:bodyPr wrap="none" lIns="0" rIns="0">
            <a:noAutofit/>
          </a:bodyPr>
          <a:lstStyle/>
          <a:p>
            <a:pPr algn="l"/>
            <a:r>
              <a:rPr sz="3400" b="0" i="0">
                <a:solidFill>
                  <a:srgbClr val="0A2240"/>
                </a:solidFill>
                <a:latin typeface="Arial"/>
              </a:rPr>
              <a:t>Team</a:t>
            </a:r>
          </a:p>
        </p:txBody>
      </p:sp>
      <p:sp>
        <p:nvSpPr>
          <p:cNvPr id="14" name="TextBox 13"/>
          <p:cNvSpPr/>
          <p:nvPr>
            <p:ph type="body" idx="9"/>
          </p:nvPr>
        </p:nvSpPr>
        <p:spPr>
          <a:xfrm>
            <a:off x="3339579" y="3310127"/>
            <a:ext cx="2794595" cy="633984"/>
          </a:xfrm>
          <a:prstGeom prst="rect">
            <a:avLst/>
          </a:prstGeom>
          <a:noFill/>
        </p:spPr>
        <p:txBody>
          <a:bodyPr wrap="none" lIns="0" rIns="0">
            <a:noAutofit/>
          </a:bodyPr>
          <a:lstStyle/>
          <a:p>
            <a:pPr algn="l"/>
            <a:r>
              <a:rPr sz="3400" b="0" i="0">
                <a:solidFill>
                  <a:srgbClr val="0A2240"/>
                </a:solidFill>
                <a:latin typeface="Arial"/>
              </a:rPr>
              <a:t>Up to 50</a:t>
            </a:r>
          </a:p>
        </p:txBody>
      </p:sp>
      <p:sp>
        <p:nvSpPr>
          <p:cNvPr id="15" name="TextBox 14"/>
          <p:cNvSpPr/>
          <p:nvPr>
            <p:ph type="body" idx="13"/>
          </p:nvPr>
        </p:nvSpPr>
        <p:spPr>
          <a:xfrm>
            <a:off x="6126448" y="3310127"/>
            <a:ext cx="2833390" cy="633984"/>
          </a:xfrm>
          <a:prstGeom prst="rect">
            <a:avLst/>
          </a:prstGeom>
          <a:noFill/>
        </p:spPr>
        <p:txBody>
          <a:bodyPr wrap="none" lIns="0" rIns="0">
            <a:noAutofit/>
          </a:bodyPr>
          <a:lstStyle/>
          <a:p>
            <a:pPr algn="l"/>
            <a:r>
              <a:rPr sz="3400" b="0" i="0">
                <a:solidFill>
                  <a:srgbClr val="0A2240"/>
                </a:solidFill>
                <a:latin typeface="Arial"/>
              </a:rPr>
              <a:t>$12/seat</a:t>
            </a:r>
          </a:p>
        </p:txBody>
      </p:sp>
      <p:sp>
        <p:nvSpPr>
          <p:cNvPr id="16" name="TextBox 15"/>
          <p:cNvSpPr/>
          <p:nvPr>
            <p:ph type="body" idx="14"/>
          </p:nvPr>
        </p:nvSpPr>
        <p:spPr>
          <a:xfrm>
            <a:off x="457200" y="4218431"/>
            <a:ext cx="2986206" cy="633984"/>
          </a:xfrm>
          <a:prstGeom prst="rect">
            <a:avLst/>
          </a:prstGeom>
          <a:noFill/>
        </p:spPr>
        <p:txBody>
          <a:bodyPr wrap="none" lIns="0" rIns="0">
            <a:noAutofit/>
          </a:bodyPr>
          <a:lstStyle/>
          <a:p>
            <a:pPr algn="l"/>
            <a:r>
              <a:rPr sz="3400" b="0" i="0">
                <a:solidFill>
                  <a:srgbClr val="0A2240"/>
                </a:solidFill>
                <a:latin typeface="Arial"/>
              </a:rPr>
              <a:t>Business</a:t>
            </a:r>
          </a:p>
        </p:txBody>
      </p:sp>
      <p:sp>
        <p:nvSpPr>
          <p:cNvPr id="17" name="TextBox 16"/>
          <p:cNvSpPr/>
          <p:nvPr>
            <p:ph type="body" idx="15"/>
          </p:nvPr>
        </p:nvSpPr>
        <p:spPr>
          <a:xfrm>
            <a:off x="3339579" y="4218431"/>
            <a:ext cx="3178830" cy="633984"/>
          </a:xfrm>
          <a:prstGeom prst="rect">
            <a:avLst/>
          </a:prstGeom>
          <a:noFill/>
        </p:spPr>
        <p:txBody>
          <a:bodyPr wrap="none" lIns="0" rIns="0">
            <a:noAutofit/>
          </a:bodyPr>
          <a:lstStyle/>
          <a:p>
            <a:pPr algn="l"/>
            <a:r>
              <a:rPr sz="3400" b="0" i="0">
                <a:solidFill>
                  <a:srgbClr val="0A2240"/>
                </a:solidFill>
                <a:latin typeface="Arial"/>
              </a:rPr>
              <a:t>Up to 250</a:t>
            </a:r>
          </a:p>
        </p:txBody>
      </p:sp>
      <p:sp>
        <p:nvSpPr>
          <p:cNvPr id="18" name="TextBox 17"/>
          <p:cNvSpPr/>
          <p:nvPr>
            <p:ph type="body" idx="16"/>
          </p:nvPr>
        </p:nvSpPr>
        <p:spPr>
          <a:xfrm>
            <a:off x="6126448" y="4218431"/>
            <a:ext cx="2833390" cy="633984"/>
          </a:xfrm>
          <a:prstGeom prst="rect">
            <a:avLst/>
          </a:prstGeom>
          <a:noFill/>
        </p:spPr>
        <p:txBody>
          <a:bodyPr wrap="none" lIns="0" rIns="0">
            <a:noAutofit/>
          </a:bodyPr>
          <a:lstStyle/>
          <a:p>
            <a:pPr algn="l"/>
            <a:r>
              <a:rPr sz="3400" b="0" i="0">
                <a:solidFill>
                  <a:srgbClr val="0A2240"/>
                </a:solidFill>
                <a:latin typeface="Arial"/>
              </a:rPr>
              <a:t>$20/seat</a:t>
            </a:r>
          </a:p>
        </p:txBody>
      </p:sp>
      <p:sp>
        <p:nvSpPr>
          <p:cNvPr id="19" name="TextBox 18"/>
          <p:cNvSpPr/>
          <p:nvPr>
            <p:ph type="body" idx="17"/>
          </p:nvPr>
        </p:nvSpPr>
        <p:spPr>
          <a:xfrm>
            <a:off x="457200" y="5126735"/>
            <a:ext cx="3331646" cy="633984"/>
          </a:xfrm>
          <a:prstGeom prst="rect">
            <a:avLst/>
          </a:prstGeom>
          <a:noFill/>
        </p:spPr>
        <p:txBody>
          <a:bodyPr wrap="none" lIns="0" rIns="0">
            <a:noAutofit/>
          </a:bodyPr>
          <a:lstStyle/>
          <a:p>
            <a:pPr algn="l"/>
            <a:r>
              <a:rPr sz="3400" b="0" i="0">
                <a:solidFill>
                  <a:srgbClr val="0A2240"/>
                </a:solidFill>
                <a:latin typeface="Arial"/>
              </a:rPr>
              <a:t>Enterprise</a:t>
            </a:r>
          </a:p>
        </p:txBody>
      </p:sp>
      <p:sp>
        <p:nvSpPr>
          <p:cNvPr id="20" name="TextBox 19"/>
          <p:cNvSpPr/>
          <p:nvPr>
            <p:ph type="body" idx="18"/>
          </p:nvPr>
        </p:nvSpPr>
        <p:spPr>
          <a:xfrm>
            <a:off x="3339579" y="5126735"/>
            <a:ext cx="3062446" cy="633984"/>
          </a:xfrm>
          <a:prstGeom prst="rect">
            <a:avLst/>
          </a:prstGeom>
          <a:noFill/>
        </p:spPr>
        <p:txBody>
          <a:bodyPr wrap="none" lIns="0" rIns="0">
            <a:noAutofit/>
          </a:bodyPr>
          <a:lstStyle/>
          <a:p>
            <a:pPr algn="l"/>
            <a:r>
              <a:rPr sz="3400" b="0" i="0">
                <a:solidFill>
                  <a:srgbClr val="0A2240"/>
                </a:solidFill>
                <a:latin typeface="Arial"/>
              </a:rPr>
              <a:t>Unlimited</a:t>
            </a:r>
          </a:p>
        </p:txBody>
      </p:sp>
      <p:sp>
        <p:nvSpPr>
          <p:cNvPr id="21" name="TextBox 20"/>
          <p:cNvSpPr/>
          <p:nvPr>
            <p:ph type="body" idx="19"/>
          </p:nvPr>
        </p:nvSpPr>
        <p:spPr>
          <a:xfrm>
            <a:off x="6126448" y="5126735"/>
            <a:ext cx="2563177" cy="633984"/>
          </a:xfrm>
          <a:prstGeom prst="rect">
            <a:avLst/>
          </a:prstGeom>
          <a:noFill/>
        </p:spPr>
        <p:txBody>
          <a:bodyPr wrap="none" lIns="0" rIns="0">
            <a:noAutofit/>
          </a:bodyPr>
          <a:lstStyle/>
          <a:p>
            <a:pPr algn="l"/>
            <a:r>
              <a:rPr sz="3400" b="0" i="0">
                <a:solidFill>
                  <a:srgbClr val="0A2240"/>
                </a:solidFill>
                <a:latin typeface="Arial"/>
              </a:rPr>
              <a:t>Custom</a:t>
            </a:r>
          </a:p>
        </p:txBody>
      </p:sp>
    </p:spTree>
    <p:extLst>
      <p:ext uri="{BB962C8B-B14F-4D97-AF65-F5344CB8AC3E}">
        <p14:creationId xmlns:p14="http://schemas.microsoft.com/office/powerpoint/2010/main" val="12129998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lidekit · Metric Comparison">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Performance vs Last Year</a:t>
            </a:r>
          </a:p>
        </p:txBody>
      </p:sp>
      <p:sp>
        <p:nvSpPr>
          <p:cNvPr id="6" name="TextBox 5"/>
          <p:cNvSpPr/>
          <p:nvPr>
            <p:ph type="body" idx="1"/>
          </p:nvPr>
        </p:nvSpPr>
        <p:spPr>
          <a:xfrm>
            <a:off x="457200" y="2334768"/>
            <a:ext cx="3576320" cy="914400"/>
          </a:xfrm>
          <a:prstGeom prst="rect">
            <a:avLst/>
          </a:prstGeom>
          <a:noFill/>
        </p:spPr>
        <p:txBody>
          <a:bodyPr wrap="none" lIns="0" rIns="0">
            <a:noAutofit/>
          </a:bodyPr>
          <a:lstStyle/>
          <a:p>
            <a:pPr algn="ctr"/>
            <a:r>
              <a:rPr sz="6000" b="1" i="0">
                <a:solidFill>
                  <a:srgbClr val="0072CE"/>
                </a:solidFill>
                <a:latin typeface="Arial"/>
              </a:rPr>
              <a:t>$8.4M</a:t>
            </a:r>
          </a:p>
        </p:txBody>
      </p:sp>
      <p:sp>
        <p:nvSpPr>
          <p:cNvPr id="7" name="TextBox 6"/>
          <p:cNvSpPr/>
          <p:nvPr>
            <p:ph type="body" idx="2"/>
          </p:nvPr>
        </p:nvSpPr>
        <p:spPr>
          <a:xfrm>
            <a:off x="457200" y="3523488"/>
            <a:ext cx="3576320" cy="609600"/>
          </a:xfrm>
          <a:prstGeom prst="rect">
            <a:avLst/>
          </a:prstGeom>
          <a:noFill/>
        </p:spPr>
        <p:txBody>
          <a:bodyPr wrap="none" lIns="0" rIns="0">
            <a:noAutofit/>
          </a:bodyPr>
          <a:lstStyle/>
          <a:p>
            <a:pPr algn="ctr"/>
            <a:r>
              <a:rPr sz="3400" b="0" i="0">
                <a:solidFill>
                  <a:srgbClr val="0A2240"/>
                </a:solidFill>
                <a:latin typeface="Arial"/>
              </a:rPr>
              <a:t>Revenue</a:t>
            </a:r>
          </a:p>
        </p:txBody>
      </p:sp>
      <p:sp>
        <p:nvSpPr>
          <p:cNvPr id="8" name="Rectangle 7"/>
          <p:cNvSpPr/>
          <p:nvPr>
            <p:ph type="body" idx="3"/>
          </p:nvPr>
        </p:nvSpPr>
        <p:spPr>
          <a:xfrm>
            <a:off x="1522569" y="4407408"/>
            <a:ext cx="1445581" cy="518159"/>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260802" y="4407408"/>
            <a:ext cx="1969115" cy="518159"/>
          </a:xfrm>
          <a:prstGeom prst="rect">
            <a:avLst/>
          </a:prstGeom>
          <a:noFill/>
        </p:spPr>
        <p:txBody>
          <a:bodyPr wrap="none" lIns="0" rIns="0">
            <a:noAutofit/>
          </a:bodyPr>
          <a:lstStyle/>
          <a:p>
            <a:pPr algn="ctr"/>
            <a:r>
              <a:rPr sz="3400" b="1" i="0">
                <a:solidFill>
                  <a:srgbClr val="FFFFFF"/>
                </a:solidFill>
                <a:latin typeface="Arial"/>
              </a:rPr>
              <a:t>+24%</a:t>
            </a:r>
          </a:p>
        </p:txBody>
      </p:sp>
      <p:sp>
        <p:nvSpPr>
          <p:cNvPr id="10" name="TextBox 9"/>
          <p:cNvSpPr/>
          <p:nvPr>
            <p:ph type="body" idx="5"/>
          </p:nvPr>
        </p:nvSpPr>
        <p:spPr>
          <a:xfrm>
            <a:off x="4307840" y="2334768"/>
            <a:ext cx="3576320" cy="914400"/>
          </a:xfrm>
          <a:prstGeom prst="rect">
            <a:avLst/>
          </a:prstGeom>
          <a:noFill/>
        </p:spPr>
        <p:txBody>
          <a:bodyPr wrap="none" lIns="0" rIns="0">
            <a:noAutofit/>
          </a:bodyPr>
          <a:lstStyle/>
          <a:p>
            <a:pPr algn="ctr"/>
            <a:r>
              <a:rPr sz="6000" b="1" i="0">
                <a:solidFill>
                  <a:srgbClr val="0072CE"/>
                </a:solidFill>
                <a:latin typeface="Arial"/>
              </a:rPr>
              <a:t>2.1%</a:t>
            </a:r>
          </a:p>
        </p:txBody>
      </p:sp>
      <p:sp>
        <p:nvSpPr>
          <p:cNvPr id="11" name="TextBox 10"/>
          <p:cNvSpPr/>
          <p:nvPr>
            <p:ph type="body" idx="6"/>
          </p:nvPr>
        </p:nvSpPr>
        <p:spPr>
          <a:xfrm>
            <a:off x="3834934" y="3523488"/>
            <a:ext cx="4522132" cy="609600"/>
          </a:xfrm>
          <a:prstGeom prst="rect">
            <a:avLst/>
          </a:prstGeom>
          <a:noFill/>
        </p:spPr>
        <p:txBody>
          <a:bodyPr wrap="none" lIns="0" rIns="0">
            <a:noAutofit/>
          </a:bodyPr>
          <a:lstStyle/>
          <a:p>
            <a:pPr algn="ctr"/>
            <a:r>
              <a:rPr sz="3400" b="0" i="0">
                <a:solidFill>
                  <a:srgbClr val="0A2240"/>
                </a:solidFill>
                <a:latin typeface="Arial"/>
              </a:rPr>
              <a:t>Monthly churn</a:t>
            </a:r>
          </a:p>
        </p:txBody>
      </p:sp>
      <p:sp>
        <p:nvSpPr>
          <p:cNvPr id="12" name="Rectangle 11"/>
          <p:cNvSpPr/>
          <p:nvPr>
            <p:ph type="body" idx="7"/>
          </p:nvPr>
        </p:nvSpPr>
        <p:spPr>
          <a:xfrm>
            <a:off x="5175547" y="4407408"/>
            <a:ext cx="1840906" cy="518159"/>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795183" y="4407408"/>
            <a:ext cx="2601634" cy="518159"/>
          </a:xfrm>
          <a:prstGeom prst="rect">
            <a:avLst/>
          </a:prstGeom>
          <a:noFill/>
        </p:spPr>
        <p:txBody>
          <a:bodyPr wrap="none" lIns="0" rIns="0">
            <a:noAutofit/>
          </a:bodyPr>
          <a:lstStyle/>
          <a:p>
            <a:pPr algn="ctr"/>
            <a:r>
              <a:rPr sz="3400" b="1" i="0">
                <a:solidFill>
                  <a:srgbClr val="FFFFFF"/>
                </a:solidFill>
                <a:latin typeface="Arial"/>
              </a:rPr>
              <a:t>-0.8 pts</a:t>
            </a:r>
          </a:p>
        </p:txBody>
      </p:sp>
      <p:sp>
        <p:nvSpPr>
          <p:cNvPr id="14" name="TextBox 13"/>
          <p:cNvSpPr/>
          <p:nvPr>
            <p:ph type="body" idx="9"/>
          </p:nvPr>
        </p:nvSpPr>
        <p:spPr>
          <a:xfrm>
            <a:off x="8158480" y="2334768"/>
            <a:ext cx="3576320" cy="914400"/>
          </a:xfrm>
          <a:prstGeom prst="rect">
            <a:avLst/>
          </a:prstGeom>
          <a:noFill/>
        </p:spPr>
        <p:txBody>
          <a:bodyPr wrap="none" lIns="0" rIns="0">
            <a:noAutofit/>
          </a:bodyPr>
          <a:lstStyle/>
          <a:p>
            <a:pPr algn="ctr"/>
            <a:r>
              <a:rPr sz="6000" b="1" i="0">
                <a:solidFill>
                  <a:srgbClr val="0072CE"/>
                </a:solidFill>
                <a:latin typeface="Arial"/>
              </a:rPr>
              <a:t>63</a:t>
            </a:r>
          </a:p>
        </p:txBody>
      </p:sp>
      <p:sp>
        <p:nvSpPr>
          <p:cNvPr id="15" name="TextBox 14"/>
          <p:cNvSpPr/>
          <p:nvPr>
            <p:ph type="body" idx="13"/>
          </p:nvPr>
        </p:nvSpPr>
        <p:spPr>
          <a:xfrm>
            <a:off x="7701280" y="3523488"/>
            <a:ext cx="4490720" cy="609600"/>
          </a:xfrm>
          <a:prstGeom prst="rect">
            <a:avLst/>
          </a:prstGeom>
          <a:noFill/>
        </p:spPr>
        <p:txBody>
          <a:bodyPr wrap="none" lIns="0" rIns="0">
            <a:noAutofit/>
          </a:bodyPr>
          <a:lstStyle/>
          <a:p>
            <a:pPr algn="ctr"/>
            <a:r>
              <a:rPr sz="3400" b="0" i="0">
                <a:solidFill>
                  <a:srgbClr val="0A2240"/>
                </a:solidFill>
                <a:latin typeface="Arial"/>
              </a:rPr>
              <a:t>Promoter score</a:t>
            </a:r>
          </a:p>
        </p:txBody>
      </p:sp>
      <p:sp>
        <p:nvSpPr>
          <p:cNvPr id="16" name="Rectangle 15"/>
          <p:cNvSpPr/>
          <p:nvPr>
            <p:ph type="body" idx="14"/>
          </p:nvPr>
        </p:nvSpPr>
        <p:spPr>
          <a:xfrm>
            <a:off x="9427731" y="4407408"/>
            <a:ext cx="1037817" cy="518159"/>
          </a:xfrm>
          <a:prstGeom prst="rect">
            <a:avLst/>
          </a:prstGeom>
          <a:solidFill>
            <a:srgbClr val="0072CE"/>
          </a:solidFill>
          <a:ln>
            <a:noFill/>
          </a:ln>
          <a:effectLst/>
        </p:spPr>
        <p:txBody>
          <a:bodyPr rtlCol="0" anchor="ctr"/>
          <a:lstStyle/>
          <a:p>
            <a:pPr algn="ctr"/>
          </a:p>
        </p:txBody>
      </p:sp>
      <p:sp>
        <p:nvSpPr>
          <p:cNvPr id="17" name="TextBox 16"/>
          <p:cNvSpPr/>
          <p:nvPr>
            <p:ph type="body" idx="15"/>
          </p:nvPr>
        </p:nvSpPr>
        <p:spPr>
          <a:xfrm>
            <a:off x="9288294" y="4407408"/>
            <a:ext cx="1316691" cy="518159"/>
          </a:xfrm>
          <a:prstGeom prst="rect">
            <a:avLst/>
          </a:prstGeom>
          <a:noFill/>
        </p:spPr>
        <p:txBody>
          <a:bodyPr wrap="none" lIns="0" rIns="0">
            <a:noAutofit/>
          </a:bodyPr>
          <a:lstStyle/>
          <a:p>
            <a:pPr algn="ctr"/>
            <a:r>
              <a:rPr sz="3400" b="1" i="0">
                <a:solidFill>
                  <a:srgbClr val="FFFFFF"/>
                </a:solidFill>
                <a:latin typeface="Arial"/>
              </a:rPr>
              <a:t>+11</a:t>
            </a:r>
          </a:p>
        </p:txBody>
      </p:sp>
    </p:spTree>
    <p:extLst>
      <p:ext uri="{BB962C8B-B14F-4D97-AF65-F5344CB8AC3E}">
        <p14:creationId xmlns:p14="http://schemas.microsoft.com/office/powerpoint/2010/main" val="12129998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lidekit · Process Step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Onboarding Flow</a:t>
            </a:r>
          </a:p>
        </p:txBody>
      </p:sp>
      <p:sp>
        <p:nvSpPr>
          <p:cNvPr id="6" name="TextBox 5"/>
          <p:cNvSpPr/>
          <p:nvPr>
            <p:ph type="body" id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7" name="Rectangle 6"/>
          <p:cNvSpPr/>
          <p:nvPr>
            <p:ph type="body" idx="2"/>
          </p:nvPr>
        </p:nvSpPr>
        <p:spPr>
          <a:xfrm>
            <a:off x="457200" y="2194560"/>
            <a:ext cx="593303"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414016"/>
            <a:ext cx="2715657" cy="518159"/>
          </a:xfrm>
          <a:prstGeom prst="rect">
            <a:avLst/>
          </a:prstGeom>
          <a:noFill/>
        </p:spPr>
        <p:txBody>
          <a:bodyPr wrap="none" lIns="0" rIns="0">
            <a:noAutofit/>
          </a:bodyPr>
          <a:lstStyle/>
          <a:p>
            <a:pPr algn="l"/>
            <a:r>
              <a:rPr sz="3400" b="1" i="0">
                <a:solidFill>
                  <a:srgbClr val="0072CE"/>
                </a:solidFill>
                <a:latin typeface="Arial"/>
              </a:rPr>
              <a:t>Sign up</a:t>
            </a:r>
          </a:p>
        </p:txBody>
      </p:sp>
      <p:sp>
        <p:nvSpPr>
          <p:cNvPr id="9" name="TextBox 8"/>
          <p:cNvSpPr/>
          <p:nvPr>
            <p:ph type="body" idx="4"/>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Create an account</a:t>
            </a:r>
          </a:p>
        </p:txBody>
      </p:sp>
      <p:sp>
        <p:nvSpPr>
          <p:cNvPr id="10" name="TextBox 9"/>
          <p:cNvSpPr/>
          <p:nvPr>
            <p:ph type="body" idx="5"/>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11" name="Rectangle 10"/>
          <p:cNvSpPr/>
          <p:nvPr>
            <p:ph type="body" idx="6"/>
          </p:nvPr>
        </p:nvSpPr>
        <p:spPr>
          <a:xfrm>
            <a:off x="3345180" y="2194560"/>
            <a:ext cx="593303" cy="54864"/>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345180" y="2414016"/>
            <a:ext cx="2946400" cy="518159"/>
          </a:xfrm>
          <a:prstGeom prst="rect">
            <a:avLst/>
          </a:prstGeom>
          <a:noFill/>
        </p:spPr>
        <p:txBody>
          <a:bodyPr wrap="none" lIns="0" rIns="0">
            <a:noAutofit/>
          </a:bodyPr>
          <a:lstStyle/>
          <a:p>
            <a:pPr algn="l"/>
            <a:r>
              <a:rPr sz="3400" b="1" i="0">
                <a:solidFill>
                  <a:srgbClr val="0072CE"/>
                </a:solidFill>
                <a:latin typeface="Arial"/>
              </a:rPr>
              <a:t>Connect</a:t>
            </a:r>
          </a:p>
        </p:txBody>
      </p:sp>
      <p:sp>
        <p:nvSpPr>
          <p:cNvPr id="13" name="TextBox 12"/>
          <p:cNvSpPr/>
          <p:nvPr>
            <p:ph type="body" idx="8"/>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Link your data</a:t>
            </a:r>
          </a:p>
        </p:txBody>
      </p:sp>
      <p:sp>
        <p:nvSpPr>
          <p:cNvPr id="14" name="TextBox 13"/>
          <p:cNvSpPr/>
          <p:nvPr>
            <p:ph type="body" idx="9"/>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5" name="Rectangle 14"/>
          <p:cNvSpPr/>
          <p:nvPr>
            <p:ph type="body" idx="13"/>
          </p:nvPr>
        </p:nvSpPr>
        <p:spPr>
          <a:xfrm>
            <a:off x="6233160" y="2194560"/>
            <a:ext cx="593303" cy="54864"/>
          </a:xfrm>
          <a:prstGeom prst="rect">
            <a:avLst/>
          </a:prstGeom>
          <a:solidFill>
            <a:srgbClr val="0072CE"/>
          </a:solidFill>
          <a:ln>
            <a:noFill/>
          </a:ln>
          <a:effectLst/>
        </p:spPr>
        <p:txBody>
          <a:bodyPr rtlCol="0" anchor="ctr"/>
          <a:lstStyle/>
          <a:p>
            <a:pPr algn="ctr"/>
          </a:p>
        </p:txBody>
      </p:sp>
      <p:sp>
        <p:nvSpPr>
          <p:cNvPr id="16" name="TextBox 15"/>
          <p:cNvSpPr/>
          <p:nvPr>
            <p:ph type="body" idx="14"/>
          </p:nvPr>
        </p:nvSpPr>
        <p:spPr>
          <a:xfrm>
            <a:off x="6233160" y="2414016"/>
            <a:ext cx="3444993" cy="518159"/>
          </a:xfrm>
          <a:prstGeom prst="rect">
            <a:avLst/>
          </a:prstGeom>
          <a:noFill/>
        </p:spPr>
        <p:txBody>
          <a:bodyPr wrap="none" lIns="0" rIns="0">
            <a:noAutofit/>
          </a:bodyPr>
          <a:lstStyle/>
          <a:p>
            <a:pPr algn="l"/>
            <a:r>
              <a:rPr sz="3400" b="1" i="0">
                <a:solidFill>
                  <a:srgbClr val="0072CE"/>
                </a:solidFill>
                <a:latin typeface="Arial"/>
              </a:rPr>
              <a:t>Configure</a:t>
            </a:r>
          </a:p>
        </p:txBody>
      </p:sp>
      <p:sp>
        <p:nvSpPr>
          <p:cNvPr id="17" name="TextBox 16"/>
          <p:cNvSpPr/>
          <p:nvPr>
            <p:ph type="body" idx="15"/>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Pick your metrics</a:t>
            </a:r>
          </a:p>
        </p:txBody>
      </p:sp>
      <p:sp>
        <p:nvSpPr>
          <p:cNvPr id="18" name="TextBox 17"/>
          <p:cNvSpPr/>
          <p:nvPr>
            <p:ph type="body" idx="16"/>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9" name="Rectangle 18"/>
          <p:cNvSpPr/>
          <p:nvPr>
            <p:ph type="body" idx="17"/>
          </p:nvPr>
        </p:nvSpPr>
        <p:spPr>
          <a:xfrm>
            <a:off x="9121140" y="2194560"/>
            <a:ext cx="593303" cy="54864"/>
          </a:xfrm>
          <a:prstGeom prst="rect">
            <a:avLst/>
          </a:prstGeom>
          <a:solidFill>
            <a:srgbClr val="0072CE"/>
          </a:solidFill>
          <a:ln>
            <a:noFill/>
          </a:ln>
          <a:effectLst/>
        </p:spPr>
        <p:txBody>
          <a:bodyPr rtlCol="0" anchor="ctr"/>
          <a:lstStyle/>
          <a:p>
            <a:pPr algn="ctr"/>
          </a:p>
        </p:txBody>
      </p:sp>
      <p:sp>
        <p:nvSpPr>
          <p:cNvPr id="20" name="TextBox 19"/>
          <p:cNvSpPr/>
          <p:nvPr>
            <p:ph type="body" idx="18"/>
          </p:nvPr>
        </p:nvSpPr>
        <p:spPr>
          <a:xfrm>
            <a:off x="9121140" y="2414016"/>
            <a:ext cx="2639417" cy="518159"/>
          </a:xfrm>
          <a:prstGeom prst="rect">
            <a:avLst/>
          </a:prstGeom>
          <a:noFill/>
        </p:spPr>
        <p:txBody>
          <a:bodyPr wrap="none" lIns="0" rIns="0">
            <a:noAutofit/>
          </a:bodyPr>
          <a:lstStyle/>
          <a:p>
            <a:pPr algn="l"/>
            <a:r>
              <a:rPr sz="3400" b="1" i="0">
                <a:solidFill>
                  <a:srgbClr val="0072CE"/>
                </a:solidFill>
                <a:latin typeface="Arial"/>
              </a:rPr>
              <a:t>Launch</a:t>
            </a:r>
          </a:p>
        </p:txBody>
      </p:sp>
      <p:sp>
        <p:nvSpPr>
          <p:cNvPr id="21" name="TextBox 20"/>
          <p:cNvSpPr/>
          <p:nvPr>
            <p:ph type="body" idx="19"/>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Go live in minutes</a:t>
            </a:r>
          </a:p>
        </p:txBody>
      </p:sp>
    </p:spTree>
    <p:extLst>
      <p:ext uri="{BB962C8B-B14F-4D97-AF65-F5344CB8AC3E}">
        <p14:creationId xmlns:p14="http://schemas.microsoft.com/office/powerpoint/2010/main" val="12129998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lidekit · Roadmap">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2026 Plan</a:t>
            </a:r>
          </a:p>
        </p:txBody>
      </p:sp>
      <p:sp>
        <p:nvSpPr>
          <p:cNvPr id="6" name="Rectangle 5"/>
          <p:cNvSpPr/>
          <p:nvPr>
            <p:ph type="body" idx="1"/>
          </p:nvPr>
        </p:nvSpPr>
        <p:spPr>
          <a:xfrm>
            <a:off x="457200" y="1499616"/>
            <a:ext cx="3576320" cy="621791"/>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3576320" cy="621791"/>
          </a:xfrm>
          <a:prstGeom prst="rect">
            <a:avLst/>
          </a:prstGeom>
          <a:noFill/>
        </p:spPr>
        <p:txBody>
          <a:bodyPr wrap="none" lIns="0" rIns="0">
            <a:noAutofit/>
          </a:bodyPr>
          <a:lstStyle/>
          <a:p>
            <a:pPr algn="l"/>
            <a:r>
              <a:rPr sz="3400" b="1" i="0">
                <a:solidFill>
                  <a:srgbClr val="FFFFFF"/>
                </a:solidFill>
                <a:latin typeface="Arial"/>
              </a:rPr>
              <a:t>Q1</a:t>
            </a:r>
          </a:p>
        </p:txBody>
      </p:sp>
      <p:sp>
        <p:nvSpPr>
          <p:cNvPr id="8" name="TextBox 7"/>
          <p:cNvSpPr/>
          <p:nvPr>
            <p:ph type="body" idx="3"/>
          </p:nvPr>
        </p:nvSpPr>
        <p:spPr>
          <a:xfrm>
            <a:off x="457200" y="2395727"/>
            <a:ext cx="3576320" cy="609600"/>
          </a:xfrm>
          <a:prstGeom prst="rect">
            <a:avLst/>
          </a:prstGeom>
          <a:noFill/>
        </p:spPr>
        <p:txBody>
          <a:bodyPr wrap="none" lIns="0" rIns="0">
            <a:noAutofit/>
          </a:bodyPr>
          <a:lstStyle/>
          <a:p>
            <a:pPr algn="l"/>
            <a:r>
              <a:rPr sz="3400" b="0" i="0">
                <a:solidFill>
                  <a:srgbClr val="0A2240"/>
                </a:solidFill>
                <a:latin typeface="Arial"/>
              </a:rPr>
              <a:t>Ship API</a:t>
            </a:r>
          </a:p>
        </p:txBody>
      </p:sp>
      <p:sp>
        <p:nvSpPr>
          <p:cNvPr id="9" name="TextBox 8"/>
          <p:cNvSpPr/>
          <p:nvPr>
            <p:ph type="body" idx="4"/>
          </p:nvPr>
        </p:nvSpPr>
        <p:spPr>
          <a:xfrm>
            <a:off x="457200" y="3279647"/>
            <a:ext cx="3831928" cy="609600"/>
          </a:xfrm>
          <a:prstGeom prst="rect">
            <a:avLst/>
          </a:prstGeom>
          <a:noFill/>
        </p:spPr>
        <p:txBody>
          <a:bodyPr wrap="none" lIns="0" rIns="0">
            <a:noAutofit/>
          </a:bodyPr>
          <a:lstStyle/>
          <a:p>
            <a:pPr algn="l"/>
            <a:r>
              <a:rPr sz="3400" b="0" i="0">
                <a:solidFill>
                  <a:srgbClr val="0A2240"/>
                </a:solidFill>
                <a:latin typeface="Arial"/>
              </a:rPr>
              <a:t>Beta launch</a:t>
            </a:r>
          </a:p>
        </p:txBody>
      </p:sp>
      <p:sp>
        <p:nvSpPr>
          <p:cNvPr id="10" name="Rectangle 9"/>
          <p:cNvSpPr/>
          <p:nvPr>
            <p:ph type="body" idx="5"/>
          </p:nvPr>
        </p:nvSpPr>
        <p:spPr>
          <a:xfrm>
            <a:off x="4307840" y="1499616"/>
            <a:ext cx="3576320" cy="621791"/>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4307840" y="1499616"/>
            <a:ext cx="3576320" cy="621791"/>
          </a:xfrm>
          <a:prstGeom prst="rect">
            <a:avLst/>
          </a:prstGeom>
          <a:noFill/>
        </p:spPr>
        <p:txBody>
          <a:bodyPr wrap="none" lIns="0" rIns="0">
            <a:noAutofit/>
          </a:bodyPr>
          <a:lstStyle/>
          <a:p>
            <a:pPr algn="l"/>
            <a:r>
              <a:rPr sz="3400" b="1" i="0">
                <a:solidFill>
                  <a:srgbClr val="FFFFFF"/>
                </a:solidFill>
                <a:latin typeface="Arial"/>
              </a:rPr>
              <a:t>Q2</a:t>
            </a:r>
          </a:p>
        </p:txBody>
      </p:sp>
      <p:sp>
        <p:nvSpPr>
          <p:cNvPr id="12" name="TextBox 11"/>
          <p:cNvSpPr/>
          <p:nvPr>
            <p:ph type="body" idx="7"/>
          </p:nvPr>
        </p:nvSpPr>
        <p:spPr>
          <a:xfrm>
            <a:off x="4307840" y="2395727"/>
            <a:ext cx="3576320" cy="609600"/>
          </a:xfrm>
          <a:prstGeom prst="rect">
            <a:avLst/>
          </a:prstGeom>
          <a:noFill/>
        </p:spPr>
        <p:txBody>
          <a:bodyPr wrap="none" lIns="0" rIns="0">
            <a:noAutofit/>
          </a:bodyPr>
          <a:lstStyle/>
          <a:p>
            <a:pPr algn="l"/>
            <a:r>
              <a:rPr sz="3400" b="0" i="0">
                <a:solidFill>
                  <a:srgbClr val="0A2240"/>
                </a:solidFill>
                <a:latin typeface="Arial"/>
              </a:rPr>
              <a:t>Mobile app</a:t>
            </a:r>
          </a:p>
        </p:txBody>
      </p:sp>
      <p:sp>
        <p:nvSpPr>
          <p:cNvPr id="13" name="TextBox 12"/>
          <p:cNvSpPr/>
          <p:nvPr>
            <p:ph type="body" idx="8"/>
          </p:nvPr>
        </p:nvSpPr>
        <p:spPr>
          <a:xfrm>
            <a:off x="4307840" y="3279647"/>
            <a:ext cx="3793132" cy="609600"/>
          </a:xfrm>
          <a:prstGeom prst="rect">
            <a:avLst/>
          </a:prstGeom>
          <a:noFill/>
        </p:spPr>
        <p:txBody>
          <a:bodyPr wrap="none" lIns="0" rIns="0">
            <a:noAutofit/>
          </a:bodyPr>
          <a:lstStyle/>
          <a:p>
            <a:pPr algn="l"/>
            <a:r>
              <a:rPr sz="3400" b="0" i="0">
                <a:solidFill>
                  <a:srgbClr val="0A2240"/>
                </a:solidFill>
                <a:latin typeface="Arial"/>
              </a:rPr>
              <a:t>Integrations</a:t>
            </a:r>
          </a:p>
        </p:txBody>
      </p:sp>
      <p:sp>
        <p:nvSpPr>
          <p:cNvPr id="14" name="Rectangle 13"/>
          <p:cNvSpPr/>
          <p:nvPr>
            <p:ph type="body" idx="9"/>
          </p:nvPr>
        </p:nvSpPr>
        <p:spPr>
          <a:xfrm>
            <a:off x="8158480" y="1499616"/>
            <a:ext cx="3576320" cy="621791"/>
          </a:xfrm>
          <a:prstGeom prst="rect">
            <a:avLst/>
          </a:prstGeom>
          <a:solidFill>
            <a:srgbClr val="0072CE"/>
          </a:solidFill>
          <a:ln>
            <a:noFill/>
          </a:ln>
          <a:effectLst/>
        </p:spPr>
        <p:txBody>
          <a:bodyPr rtlCol="0" anchor="ctr"/>
          <a:lstStyle/>
          <a:p>
            <a:pPr algn="ctr"/>
          </a:p>
        </p:txBody>
      </p:sp>
      <p:sp>
        <p:nvSpPr>
          <p:cNvPr id="15" name="TextBox 14"/>
          <p:cNvSpPr/>
          <p:nvPr>
            <p:ph type="body" idx="13"/>
          </p:nvPr>
        </p:nvSpPr>
        <p:spPr>
          <a:xfrm>
            <a:off x="8158480" y="1499616"/>
            <a:ext cx="3576320" cy="621791"/>
          </a:xfrm>
          <a:prstGeom prst="rect">
            <a:avLst/>
          </a:prstGeom>
          <a:noFill/>
        </p:spPr>
        <p:txBody>
          <a:bodyPr wrap="none" lIns="0" rIns="0">
            <a:noAutofit/>
          </a:bodyPr>
          <a:lstStyle/>
          <a:p>
            <a:pPr algn="l"/>
            <a:r>
              <a:rPr sz="3400" b="1" i="0">
                <a:solidFill>
                  <a:srgbClr val="FFFFFF"/>
                </a:solidFill>
                <a:latin typeface="Arial"/>
              </a:rPr>
              <a:t>Q3</a:t>
            </a:r>
          </a:p>
        </p:txBody>
      </p:sp>
      <p:sp>
        <p:nvSpPr>
          <p:cNvPr id="16" name="TextBox 15"/>
          <p:cNvSpPr/>
          <p:nvPr>
            <p:ph type="body" idx="14"/>
          </p:nvPr>
        </p:nvSpPr>
        <p:spPr>
          <a:xfrm>
            <a:off x="8158480" y="2395727"/>
            <a:ext cx="4033520" cy="609600"/>
          </a:xfrm>
          <a:prstGeom prst="rect">
            <a:avLst/>
          </a:prstGeom>
          <a:noFill/>
        </p:spPr>
        <p:txBody>
          <a:bodyPr wrap="none" lIns="0" rIns="0">
            <a:noAutofit/>
          </a:bodyPr>
          <a:lstStyle/>
          <a:p>
            <a:pPr algn="l"/>
            <a:r>
              <a:rPr sz="3400" b="0" i="0">
                <a:solidFill>
                  <a:srgbClr val="0A2240"/>
                </a:solidFill>
                <a:latin typeface="Arial"/>
              </a:rPr>
              <a:t>Enterprise tier</a:t>
            </a:r>
          </a:p>
        </p:txBody>
      </p:sp>
      <p:sp>
        <p:nvSpPr>
          <p:cNvPr id="17" name="TextBox 16"/>
          <p:cNvSpPr/>
          <p:nvPr>
            <p:ph type="body" idx="15"/>
          </p:nvPr>
        </p:nvSpPr>
        <p:spPr>
          <a:xfrm>
            <a:off x="8158480" y="3279647"/>
            <a:ext cx="3576320" cy="609600"/>
          </a:xfrm>
          <a:prstGeom prst="rect">
            <a:avLst/>
          </a:prstGeom>
          <a:noFill/>
        </p:spPr>
        <p:txBody>
          <a:bodyPr wrap="none" lIns="0" rIns="0">
            <a:noAutofit/>
          </a:bodyPr>
          <a:lstStyle/>
          <a:p>
            <a:pPr algn="l"/>
            <a:r>
              <a:rPr sz="3400" b="0" i="0">
                <a:solidFill>
                  <a:srgbClr val="0A2240"/>
                </a:solidFill>
                <a:latin typeface="Arial"/>
              </a:rPr>
              <a:t>SSO</a:t>
            </a:r>
          </a:p>
        </p:txBody>
      </p:sp>
    </p:spTree>
    <p:extLst>
      <p:ext uri="{BB962C8B-B14F-4D97-AF65-F5344CB8AC3E}">
        <p14:creationId xmlns:p14="http://schemas.microsoft.com/office/powerpoint/2010/main" val="1212999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slidekit · Funnel">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Sales Pipeline</a:t>
            </a:r>
          </a:p>
        </p:txBody>
      </p:sp>
      <p:sp>
        <p:nvSpPr>
          <p:cNvPr id="6" name="Rectangle 5"/>
          <p:cNvSpPr/>
          <p:nvPr>
            <p:ph type="body" idx="1"/>
          </p:nvPr>
        </p:nvSpPr>
        <p:spPr>
          <a:xfrm>
            <a:off x="457200" y="1499616"/>
            <a:ext cx="1127760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457200" y="1499616"/>
            <a:ext cx="11277600" cy="859536"/>
          </a:xfrm>
          <a:prstGeom prst="rect">
            <a:avLst/>
          </a:prstGeom>
          <a:noFill/>
        </p:spPr>
        <p:txBody>
          <a:bodyPr wrap="none" lIns="0" rIns="0">
            <a:noAutofit/>
          </a:bodyPr>
          <a:lstStyle/>
          <a:p>
            <a:pPr algn="l"/>
            <a:r>
              <a:rPr sz="3400" b="1" i="0">
                <a:solidFill>
                  <a:srgbClr val="FFFFFF"/>
                </a:solidFill>
                <a:latin typeface="Arial"/>
              </a:rPr>
              <a:t>Visitors · 50,000</a:t>
            </a:r>
          </a:p>
        </p:txBody>
      </p:sp>
      <p:sp>
        <p:nvSpPr>
          <p:cNvPr id="8" name="Rectangle 7"/>
          <p:cNvSpPr/>
          <p:nvPr>
            <p:ph type="body" idx="3"/>
          </p:nvPr>
        </p:nvSpPr>
        <p:spPr>
          <a:xfrm>
            <a:off x="1490980" y="2633472"/>
            <a:ext cx="921004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1490980" y="2633472"/>
            <a:ext cx="9210040" cy="859536"/>
          </a:xfrm>
          <a:prstGeom prst="rect">
            <a:avLst/>
          </a:prstGeom>
          <a:noFill/>
        </p:spPr>
        <p:txBody>
          <a:bodyPr wrap="none" lIns="0" rIns="0">
            <a:noAutofit/>
          </a:bodyPr>
          <a:lstStyle/>
          <a:p>
            <a:pPr algn="l"/>
            <a:r>
              <a:rPr sz="3400" b="1" i="0">
                <a:solidFill>
                  <a:srgbClr val="FFFFFF"/>
                </a:solidFill>
                <a:latin typeface="Arial"/>
              </a:rPr>
              <a:t>Signups · 8,000</a:t>
            </a:r>
          </a:p>
        </p:txBody>
      </p:sp>
      <p:sp>
        <p:nvSpPr>
          <p:cNvPr id="10" name="Rectangle 9"/>
          <p:cNvSpPr/>
          <p:nvPr>
            <p:ph type="body" idx="5"/>
          </p:nvPr>
        </p:nvSpPr>
        <p:spPr>
          <a:xfrm>
            <a:off x="2524760" y="3767328"/>
            <a:ext cx="71424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2524760" y="3767328"/>
            <a:ext cx="7142480" cy="859536"/>
          </a:xfrm>
          <a:prstGeom prst="rect">
            <a:avLst/>
          </a:prstGeom>
          <a:noFill/>
        </p:spPr>
        <p:txBody>
          <a:bodyPr wrap="none" lIns="0" rIns="0">
            <a:noAutofit/>
          </a:bodyPr>
          <a:lstStyle/>
          <a:p>
            <a:pPr algn="l"/>
            <a:r>
              <a:rPr sz="3400" b="1" i="0">
                <a:solidFill>
                  <a:srgbClr val="FFFFFF"/>
                </a:solidFill>
                <a:latin typeface="Arial"/>
              </a:rPr>
              <a:t>Trials · 2,400</a:t>
            </a:r>
          </a:p>
        </p:txBody>
      </p:sp>
      <p:sp>
        <p:nvSpPr>
          <p:cNvPr id="12" name="Rectangle 11"/>
          <p:cNvSpPr/>
          <p:nvPr>
            <p:ph type="body" idx="7"/>
          </p:nvPr>
        </p:nvSpPr>
        <p:spPr>
          <a:xfrm>
            <a:off x="3558540" y="4901184"/>
            <a:ext cx="5074919"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3558540" y="4901184"/>
            <a:ext cx="5558452" cy="859536"/>
          </a:xfrm>
          <a:prstGeom prst="rect">
            <a:avLst/>
          </a:prstGeom>
          <a:noFill/>
        </p:spPr>
        <p:txBody>
          <a:bodyPr wrap="none" lIns="0" rIns="0">
            <a:noAutofit/>
          </a:bodyPr>
          <a:lstStyle/>
          <a:p>
            <a:pPr algn="l"/>
            <a:r>
              <a:rPr sz="3400" b="1" i="0">
                <a:solidFill>
                  <a:srgbClr val="FFFFFF"/>
                </a:solidFill>
                <a:latin typeface="Arial"/>
              </a:rPr>
              <a:t>Customers · 600</a:t>
            </a:r>
          </a:p>
        </p:txBody>
      </p:sp>
    </p:spTree>
    <p:extLst>
      <p:ext uri="{BB962C8B-B14F-4D97-AF65-F5344CB8AC3E}">
        <p14:creationId xmlns:p14="http://schemas.microsoft.com/office/powerpoint/2010/main" val="12129998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slidekit · Nested Circles">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Job Search Funnel (2021)</a:t>
            </a:r>
          </a:p>
        </p:txBody>
      </p:sp>
      <p:sp>
        <p:nvSpPr>
          <p:cNvPr id="6" name="Oval 5"/>
          <p:cNvSpPr/>
          <p:nvPr>
            <p:ph type="body" idx="1"/>
          </p:nvPr>
        </p:nvSpPr>
        <p:spPr>
          <a:xfrm>
            <a:off x="3645408" y="1499616"/>
            <a:ext cx="4901184" cy="4901184"/>
          </a:xfrm>
          <a:prstGeom prst="ellipse">
            <a:avLst/>
          </a:prstGeom>
          <a:solidFill>
            <a:srgbClr val="0A2240"/>
          </a:solidFill>
          <a:ln>
            <a:noFill/>
          </a:ln>
          <a:effectLst/>
        </p:spPr>
        <p:txBody>
          <a:bodyPr rtlCol="0" anchor="ctr"/>
          <a:lstStyle/>
          <a:p>
            <a:pPr algn="ctr"/>
          </a:p>
        </p:txBody>
      </p:sp>
      <p:sp>
        <p:nvSpPr>
          <p:cNvPr id="7" name="Oval 6"/>
          <p:cNvSpPr/>
          <p:nvPr>
            <p:ph type="body" idx="2"/>
          </p:nvPr>
        </p:nvSpPr>
        <p:spPr>
          <a:xfrm>
            <a:off x="4462272" y="3133344"/>
            <a:ext cx="3267456" cy="3267456"/>
          </a:xfrm>
          <a:prstGeom prst="ellipse">
            <a:avLst/>
          </a:prstGeom>
          <a:solidFill>
            <a:srgbClr val="0072CE"/>
          </a:solidFill>
          <a:ln>
            <a:noFill/>
          </a:ln>
          <a:effectLst/>
        </p:spPr>
        <p:txBody>
          <a:bodyPr rtlCol="0" anchor="ctr"/>
          <a:lstStyle/>
          <a:p>
            <a:pPr algn="ctr"/>
          </a:p>
        </p:txBody>
      </p:sp>
      <p:sp>
        <p:nvSpPr>
          <p:cNvPr id="8" name="Oval 7"/>
          <p:cNvSpPr/>
          <p:nvPr>
            <p:ph type="body" idx="3"/>
          </p:nvPr>
        </p:nvSpPr>
        <p:spPr>
          <a:xfrm>
            <a:off x="5279136" y="4767072"/>
            <a:ext cx="1633728" cy="1633728"/>
          </a:xfrm>
          <a:prstGeom prst="ellipse">
            <a:avLst/>
          </a:prstGeom>
          <a:solidFill>
            <a:srgbClr val="0A2240"/>
          </a:solidFill>
          <a:ln>
            <a:noFill/>
          </a:ln>
          <a:effectLst/>
        </p:spPr>
        <p:txBody>
          <a:bodyPr rtlCol="0" anchor="ctr"/>
          <a:lstStyle/>
          <a:p>
            <a:pPr algn="ctr"/>
          </a:p>
        </p:txBody>
      </p:sp>
      <p:sp>
        <p:nvSpPr>
          <p:cNvPr id="9" name="TextBox 8"/>
          <p:cNvSpPr/>
          <p:nvPr>
            <p:ph type="body" idx="4"/>
          </p:nvPr>
        </p:nvSpPr>
        <p:spPr>
          <a:xfrm>
            <a:off x="4577329" y="1645920"/>
            <a:ext cx="3037342" cy="762000"/>
          </a:xfrm>
          <a:prstGeom prst="rect">
            <a:avLst/>
          </a:prstGeom>
          <a:noFill/>
        </p:spPr>
        <p:txBody>
          <a:bodyPr wrap="none" lIns="0" rIns="0">
            <a:noAutofit/>
          </a:bodyPr>
          <a:lstStyle/>
          <a:p>
            <a:pPr algn="ctr"/>
            <a:r>
              <a:rPr sz="5000" b="1" i="0">
                <a:solidFill>
                  <a:srgbClr val="FFFFFF"/>
                </a:solidFill>
                <a:latin typeface="Arial"/>
              </a:rPr>
              <a:t>&gt;700</a:t>
            </a:r>
          </a:p>
        </p:txBody>
      </p:sp>
      <p:sp>
        <p:nvSpPr>
          <p:cNvPr id="10" name="TextBox 9"/>
          <p:cNvSpPr/>
          <p:nvPr>
            <p:ph type="body" idx="5"/>
          </p:nvPr>
        </p:nvSpPr>
        <p:spPr>
          <a:xfrm>
            <a:off x="3594080" y="2316480"/>
            <a:ext cx="5003840" cy="670560"/>
          </a:xfrm>
          <a:prstGeom prst="rect">
            <a:avLst/>
          </a:prstGeom>
          <a:noFill/>
        </p:spPr>
        <p:txBody>
          <a:bodyPr wrap="none" lIns="0" rIns="0">
            <a:noAutofit/>
          </a:bodyPr>
          <a:lstStyle/>
          <a:p>
            <a:pPr algn="ctr"/>
            <a:r>
              <a:rPr sz="4400" b="0" i="0">
                <a:solidFill>
                  <a:srgbClr val="FFFFFF"/>
                </a:solidFill>
                <a:latin typeface="Arial"/>
              </a:rPr>
              <a:t>Applications</a:t>
            </a:r>
          </a:p>
        </p:txBody>
      </p:sp>
      <p:sp>
        <p:nvSpPr>
          <p:cNvPr id="11" name="TextBox 10"/>
          <p:cNvSpPr/>
          <p:nvPr>
            <p:ph type="body" idx="6"/>
          </p:nvPr>
        </p:nvSpPr>
        <p:spPr>
          <a:xfrm>
            <a:off x="4840583" y="3401568"/>
            <a:ext cx="2510834" cy="640080"/>
          </a:xfrm>
          <a:prstGeom prst="rect">
            <a:avLst/>
          </a:prstGeom>
          <a:noFill/>
        </p:spPr>
        <p:txBody>
          <a:bodyPr wrap="none" lIns="0" rIns="0">
            <a:noAutofit/>
          </a:bodyPr>
          <a:lstStyle/>
          <a:p>
            <a:pPr algn="ctr"/>
            <a:r>
              <a:rPr sz="4200" b="1" i="0">
                <a:solidFill>
                  <a:srgbClr val="FFFFFF"/>
                </a:solidFill>
                <a:latin typeface="Arial"/>
              </a:rPr>
              <a:t>6</a:t>
            </a:r>
          </a:p>
        </p:txBody>
      </p:sp>
      <p:sp>
        <p:nvSpPr>
          <p:cNvPr id="12" name="TextBox 11"/>
          <p:cNvSpPr/>
          <p:nvPr>
            <p:ph type="body" idx="7"/>
          </p:nvPr>
        </p:nvSpPr>
        <p:spPr>
          <a:xfrm>
            <a:off x="4358104" y="3950208"/>
            <a:ext cx="3475792" cy="548640"/>
          </a:xfrm>
          <a:prstGeom prst="rect">
            <a:avLst/>
          </a:prstGeom>
          <a:noFill/>
        </p:spPr>
        <p:txBody>
          <a:bodyPr wrap="none" lIns="0" rIns="0">
            <a:noAutofit/>
          </a:bodyPr>
          <a:lstStyle/>
          <a:p>
            <a:pPr algn="ctr"/>
            <a:r>
              <a:rPr sz="3600" b="0" i="0">
                <a:solidFill>
                  <a:srgbClr val="FFFFFF"/>
                </a:solidFill>
                <a:latin typeface="Arial"/>
              </a:rPr>
              <a:t>Interviews</a:t>
            </a:r>
          </a:p>
        </p:txBody>
      </p:sp>
      <p:sp>
        <p:nvSpPr>
          <p:cNvPr id="13" name="TextBox 12"/>
          <p:cNvSpPr/>
          <p:nvPr>
            <p:ph type="body" idx="8"/>
          </p:nvPr>
        </p:nvSpPr>
        <p:spPr>
          <a:xfrm>
            <a:off x="5296524" y="5157216"/>
            <a:ext cx="1598952" cy="518159"/>
          </a:xfrm>
          <a:prstGeom prst="rect">
            <a:avLst/>
          </a:prstGeom>
          <a:noFill/>
        </p:spPr>
        <p:txBody>
          <a:bodyPr wrap="none" lIns="0" rIns="0">
            <a:noAutofit/>
          </a:bodyPr>
          <a:lstStyle/>
          <a:p>
            <a:pPr algn="ctr"/>
            <a:r>
              <a:rPr sz="3400" b="1" i="0">
                <a:solidFill>
                  <a:srgbClr val="FFFFFF"/>
                </a:solidFill>
                <a:latin typeface="Arial"/>
              </a:rPr>
              <a:t>1.5</a:t>
            </a:r>
          </a:p>
        </p:txBody>
      </p:sp>
      <p:sp>
        <p:nvSpPr>
          <p:cNvPr id="14" name="TextBox 13"/>
          <p:cNvSpPr/>
          <p:nvPr>
            <p:ph type="body" idx="9"/>
          </p:nvPr>
        </p:nvSpPr>
        <p:spPr>
          <a:xfrm>
            <a:off x="5235159" y="5583935"/>
            <a:ext cx="1721682" cy="426720"/>
          </a:xfrm>
          <a:prstGeom prst="rect">
            <a:avLst/>
          </a:prstGeom>
          <a:noFill/>
        </p:spPr>
        <p:txBody>
          <a:bodyPr wrap="none" lIns="0" rIns="0">
            <a:noAutofit/>
          </a:bodyPr>
          <a:lstStyle/>
          <a:p>
            <a:pPr algn="ctr"/>
            <a:r>
              <a:rPr sz="2800" b="0" i="0">
                <a:solidFill>
                  <a:srgbClr val="FFFFFF"/>
                </a:solidFill>
                <a:latin typeface="Arial"/>
              </a:rPr>
              <a:t>Offers</a:t>
            </a:r>
          </a:p>
        </p:txBody>
      </p:sp>
    </p:spTree>
    <p:extLst>
      <p:ext uri="{BB962C8B-B14F-4D97-AF65-F5344CB8AC3E}">
        <p14:creationId xmlns:p14="http://schemas.microsoft.com/office/powerpoint/2010/main" val="121299981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slidekit · Pyramid">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Hierarchy of Needs</a:t>
            </a:r>
          </a:p>
        </p:txBody>
      </p:sp>
      <p:sp>
        <p:nvSpPr>
          <p:cNvPr id="6" name="Rectangle 5"/>
          <p:cNvSpPr/>
          <p:nvPr>
            <p:ph type="body" idx="1"/>
          </p:nvPr>
        </p:nvSpPr>
        <p:spPr>
          <a:xfrm>
            <a:off x="3840480" y="1499616"/>
            <a:ext cx="4511040" cy="859536"/>
          </a:xfrm>
          <a:prstGeom prst="rect">
            <a:avLst/>
          </a:prstGeom>
          <a:solidFill>
            <a:srgbClr val="0072CE"/>
          </a:solidFill>
          <a:ln>
            <a:noFill/>
          </a:ln>
          <a:effectLst/>
        </p:spPr>
        <p:txBody>
          <a:bodyPr rtlCol="0" anchor="ctr"/>
          <a:lstStyle/>
          <a:p>
            <a:pPr algn="ctr"/>
          </a:p>
        </p:txBody>
      </p:sp>
      <p:sp>
        <p:nvSpPr>
          <p:cNvPr id="7" name="TextBox 6"/>
          <p:cNvSpPr/>
          <p:nvPr>
            <p:ph type="body" idx="2"/>
          </p:nvPr>
        </p:nvSpPr>
        <p:spPr>
          <a:xfrm>
            <a:off x="3840480" y="1499616"/>
            <a:ext cx="4511040" cy="859536"/>
          </a:xfrm>
          <a:prstGeom prst="rect">
            <a:avLst/>
          </a:prstGeom>
          <a:noFill/>
        </p:spPr>
        <p:txBody>
          <a:bodyPr wrap="none" lIns="0" rIns="0">
            <a:noAutofit/>
          </a:bodyPr>
          <a:lstStyle/>
          <a:p>
            <a:pPr algn="l"/>
            <a:r>
              <a:rPr sz="3400" b="1" i="0">
                <a:solidFill>
                  <a:srgbClr val="FFFFFF"/>
                </a:solidFill>
                <a:latin typeface="Arial"/>
              </a:rPr>
              <a:t>Vision</a:t>
            </a:r>
          </a:p>
        </p:txBody>
      </p:sp>
      <p:sp>
        <p:nvSpPr>
          <p:cNvPr id="8" name="Rectangle 7"/>
          <p:cNvSpPr/>
          <p:nvPr>
            <p:ph type="body" idx="3"/>
          </p:nvPr>
        </p:nvSpPr>
        <p:spPr>
          <a:xfrm>
            <a:off x="2712720" y="2633472"/>
            <a:ext cx="6766560" cy="859536"/>
          </a:xfrm>
          <a:prstGeom prst="rect">
            <a:avLst/>
          </a:prstGeom>
          <a:solidFill>
            <a:srgbClr val="0072CE"/>
          </a:solidFill>
          <a:ln>
            <a:noFill/>
          </a:ln>
          <a:effectLst/>
        </p:spPr>
        <p:txBody>
          <a:bodyPr rtlCol="0" anchor="ctr"/>
          <a:lstStyle/>
          <a:p>
            <a:pPr algn="ctr"/>
          </a:p>
        </p:txBody>
      </p:sp>
      <p:sp>
        <p:nvSpPr>
          <p:cNvPr id="9" name="TextBox 8"/>
          <p:cNvSpPr/>
          <p:nvPr>
            <p:ph type="body" idx="4"/>
          </p:nvPr>
        </p:nvSpPr>
        <p:spPr>
          <a:xfrm>
            <a:off x="2712720" y="2633472"/>
            <a:ext cx="6766560" cy="859536"/>
          </a:xfrm>
          <a:prstGeom prst="rect">
            <a:avLst/>
          </a:prstGeom>
          <a:noFill/>
        </p:spPr>
        <p:txBody>
          <a:bodyPr wrap="none" lIns="0" rIns="0">
            <a:noAutofit/>
          </a:bodyPr>
          <a:lstStyle/>
          <a:p>
            <a:pPr algn="l"/>
            <a:r>
              <a:rPr sz="3400" b="1" i="0">
                <a:solidFill>
                  <a:srgbClr val="FFFFFF"/>
                </a:solidFill>
                <a:latin typeface="Arial"/>
              </a:rPr>
              <a:t>Strategy</a:t>
            </a:r>
          </a:p>
        </p:txBody>
      </p:sp>
      <p:sp>
        <p:nvSpPr>
          <p:cNvPr id="10" name="Rectangle 9"/>
          <p:cNvSpPr/>
          <p:nvPr>
            <p:ph type="body" idx="5"/>
          </p:nvPr>
        </p:nvSpPr>
        <p:spPr>
          <a:xfrm>
            <a:off x="1584960" y="3767328"/>
            <a:ext cx="9022080" cy="859536"/>
          </a:xfrm>
          <a:prstGeom prst="rect">
            <a:avLst/>
          </a:prstGeom>
          <a:solidFill>
            <a:srgbClr val="0072CE"/>
          </a:solidFill>
          <a:ln>
            <a:noFill/>
          </a:ln>
          <a:effectLst/>
        </p:spPr>
        <p:txBody>
          <a:bodyPr rtlCol="0" anchor="ctr"/>
          <a:lstStyle/>
          <a:p>
            <a:pPr algn="ctr"/>
          </a:p>
        </p:txBody>
      </p:sp>
      <p:sp>
        <p:nvSpPr>
          <p:cNvPr id="11" name="TextBox 10"/>
          <p:cNvSpPr/>
          <p:nvPr>
            <p:ph type="body" idx="6"/>
          </p:nvPr>
        </p:nvSpPr>
        <p:spPr>
          <a:xfrm>
            <a:off x="1584960" y="3767328"/>
            <a:ext cx="9022080" cy="859536"/>
          </a:xfrm>
          <a:prstGeom prst="rect">
            <a:avLst/>
          </a:prstGeom>
          <a:noFill/>
        </p:spPr>
        <p:txBody>
          <a:bodyPr wrap="none" lIns="0" rIns="0">
            <a:noAutofit/>
          </a:bodyPr>
          <a:lstStyle/>
          <a:p>
            <a:pPr algn="l"/>
            <a:r>
              <a:rPr sz="3400" b="1" i="0">
                <a:solidFill>
                  <a:srgbClr val="FFFFFF"/>
                </a:solidFill>
                <a:latin typeface="Arial"/>
              </a:rPr>
              <a:t>Goals</a:t>
            </a:r>
          </a:p>
        </p:txBody>
      </p:sp>
      <p:sp>
        <p:nvSpPr>
          <p:cNvPr id="12" name="Rectangle 11"/>
          <p:cNvSpPr/>
          <p:nvPr>
            <p:ph type="body" idx="7"/>
          </p:nvPr>
        </p:nvSpPr>
        <p:spPr>
          <a:xfrm>
            <a:off x="457200" y="4901184"/>
            <a:ext cx="11277600" cy="859536"/>
          </a:xfrm>
          <a:prstGeom prst="rect">
            <a:avLst/>
          </a:prstGeom>
          <a:solidFill>
            <a:srgbClr val="0072CE"/>
          </a:solidFill>
          <a:ln>
            <a:noFill/>
          </a:ln>
          <a:effectLst/>
        </p:spPr>
        <p:txBody>
          <a:bodyPr rtlCol="0" anchor="ctr"/>
          <a:lstStyle/>
          <a:p>
            <a:pPr algn="ctr"/>
          </a:p>
        </p:txBody>
      </p:sp>
      <p:sp>
        <p:nvSpPr>
          <p:cNvPr id="13" name="TextBox 12"/>
          <p:cNvSpPr/>
          <p:nvPr>
            <p:ph type="body" idx="8"/>
          </p:nvPr>
        </p:nvSpPr>
        <p:spPr>
          <a:xfrm>
            <a:off x="457200" y="4901184"/>
            <a:ext cx="11277600" cy="859536"/>
          </a:xfrm>
          <a:prstGeom prst="rect">
            <a:avLst/>
          </a:prstGeom>
          <a:noFill/>
        </p:spPr>
        <p:txBody>
          <a:bodyPr wrap="none" lIns="0" rIns="0">
            <a:noAutofit/>
          </a:bodyPr>
          <a:lstStyle/>
          <a:p>
            <a:pPr algn="l"/>
            <a:r>
              <a:rPr sz="3400" b="1" i="0">
                <a:solidFill>
                  <a:srgbClr val="FFFFFF"/>
                </a:solidFill>
                <a:latin typeface="Arial"/>
              </a:rPr>
              <a:t>Tactics</a:t>
            </a:r>
          </a:p>
        </p:txBody>
      </p:sp>
    </p:spTree>
    <p:extLst>
      <p:ext uri="{BB962C8B-B14F-4D97-AF65-F5344CB8AC3E}">
        <p14:creationId xmlns:p14="http://schemas.microsoft.com/office/powerpoint/2010/main" val="12129998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lidekit · SWOT">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SWOT Analysis</a:t>
            </a:r>
          </a:p>
        </p:txBody>
      </p:sp>
      <p:sp>
        <p:nvSpPr>
          <p:cNvPr id="6" name="TextBox 5"/>
          <p:cNvSpPr/>
          <p:nvPr>
            <p:ph type="body" id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Strengths</a:t>
            </a:r>
          </a:p>
        </p:txBody>
      </p:sp>
      <p:sp>
        <p:nvSpPr>
          <p:cNvPr id="7" name="Rectangle 6"/>
          <p:cNvSpPr/>
          <p:nvPr>
            <p:ph type="body" idx="2"/>
          </p:nvPr>
        </p:nvSpPr>
        <p:spPr>
          <a:xfrm>
            <a:off x="457200" y="2176271"/>
            <a:ext cx="2015207" cy="54864"/>
          </a:xfrm>
          <a:prstGeom prst="rect">
            <a:avLst/>
          </a:prstGeom>
          <a:solidFill>
            <a:srgbClr val="0072CE"/>
          </a:solidFill>
          <a:ln>
            <a:noFill/>
          </a:ln>
          <a:effectLst/>
        </p:spPr>
        <p:txBody>
          <a:bodyPr rtlCol="0" anchor="ctr"/>
          <a:lstStyle/>
          <a:p>
            <a:pPr algn="ctr"/>
          </a:p>
        </p:txBody>
      </p:sp>
      <p:sp>
        <p:nvSpPr>
          <p:cNvPr id="8" name="TextBox 7"/>
          <p:cNvSpPr/>
          <p:nvPr>
            <p:ph type="body" idx="3"/>
          </p:nvPr>
        </p:nvSpPr>
        <p:spPr>
          <a:xfrm>
            <a:off x="457200" y="2395727"/>
            <a:ext cx="7863523" cy="609600"/>
          </a:xfrm>
          <a:prstGeom prst="rect">
            <a:avLst/>
          </a:prstGeom>
          <a:noFill/>
        </p:spPr>
        <p:txBody>
          <a:bodyPr wrap="none" lIns="0" rIns="0">
            <a:noAutofit/>
          </a:bodyPr>
          <a:lstStyle/>
          <a:p>
            <a:pPr algn="l"/>
            <a:r>
              <a:rPr sz="3400" b="0" i="0">
                <a:solidFill>
                  <a:srgbClr val="0A2240"/>
                </a:solidFill>
                <a:latin typeface="Arial"/>
              </a:rPr>
              <a:t>Strong brand, loyal users</a:t>
            </a:r>
          </a:p>
        </p:txBody>
      </p:sp>
      <p:sp>
        <p:nvSpPr>
          <p:cNvPr id="9" name="TextBox 8"/>
          <p:cNvSpPr/>
          <p:nvPr>
            <p:ph type="body" idx="4"/>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Weaknesses</a:t>
            </a:r>
          </a:p>
        </p:txBody>
      </p:sp>
      <p:sp>
        <p:nvSpPr>
          <p:cNvPr id="10" name="Rectangle 9"/>
          <p:cNvSpPr/>
          <p:nvPr>
            <p:ph type="body" idx="5"/>
          </p:nvPr>
        </p:nvSpPr>
        <p:spPr>
          <a:xfrm>
            <a:off x="6233160" y="2176271"/>
            <a:ext cx="2584686" cy="54864"/>
          </a:xfrm>
          <a:prstGeom prst="rect">
            <a:avLst/>
          </a:prstGeom>
          <a:solidFill>
            <a:srgbClr val="0A2240"/>
          </a:solidFill>
          <a:ln>
            <a:noFill/>
          </a:ln>
          <a:effectLst/>
        </p:spPr>
        <p:txBody>
          <a:bodyPr rtlCol="0" anchor="ctr"/>
          <a:lstStyle/>
          <a:p>
            <a:pPr algn="ctr"/>
          </a:p>
        </p:txBody>
      </p:sp>
      <p:sp>
        <p:nvSpPr>
          <p:cNvPr id="11" name="TextBox 10"/>
          <p:cNvSpPr/>
          <p:nvPr>
            <p:ph type="body" idx="6"/>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Thin margins, small team</a:t>
            </a:r>
          </a:p>
        </p:txBody>
      </p:sp>
      <p:sp>
        <p:nvSpPr>
          <p:cNvPr id="12" name="TextBox 11"/>
          <p:cNvSpPr/>
          <p:nvPr>
            <p:ph type="body" idx="7"/>
          </p:nvPr>
        </p:nvSpPr>
        <p:spPr>
          <a:xfrm>
            <a:off x="457200" y="3767328"/>
            <a:ext cx="5501640" cy="621791"/>
          </a:xfrm>
          <a:prstGeom prst="rect">
            <a:avLst/>
          </a:prstGeom>
          <a:noFill/>
        </p:spPr>
        <p:txBody>
          <a:bodyPr wrap="none" lIns="0" rIns="0">
            <a:noAutofit/>
          </a:bodyPr>
          <a:lstStyle/>
          <a:p>
            <a:pPr algn="l"/>
            <a:r>
              <a:rPr sz="3400" b="1" i="0">
                <a:solidFill>
                  <a:srgbClr val="0072CE"/>
                </a:solidFill>
                <a:latin typeface="Arial"/>
              </a:rPr>
              <a:t>Opportunities</a:t>
            </a:r>
          </a:p>
        </p:txBody>
      </p:sp>
      <p:sp>
        <p:nvSpPr>
          <p:cNvPr id="13" name="Rectangle 12"/>
          <p:cNvSpPr/>
          <p:nvPr>
            <p:ph type="body" idx="8"/>
          </p:nvPr>
        </p:nvSpPr>
        <p:spPr>
          <a:xfrm>
            <a:off x="457200" y="4443983"/>
            <a:ext cx="2830525" cy="54864"/>
          </a:xfrm>
          <a:prstGeom prst="rect">
            <a:avLst/>
          </a:prstGeom>
          <a:solidFill>
            <a:srgbClr val="0072CE"/>
          </a:solidFill>
          <a:ln>
            <a:noFill/>
          </a:ln>
          <a:effectLst/>
        </p:spPr>
        <p:txBody>
          <a:bodyPr rtlCol="0" anchor="ctr"/>
          <a:lstStyle/>
          <a:p>
            <a:pPr algn="ctr"/>
          </a:p>
        </p:txBody>
      </p:sp>
      <p:sp>
        <p:nvSpPr>
          <p:cNvPr id="14" name="TextBox 13"/>
          <p:cNvSpPr/>
          <p:nvPr>
            <p:ph type="body" idx="9"/>
          </p:nvPr>
        </p:nvSpPr>
        <p:spPr>
          <a:xfrm>
            <a:off x="457200" y="4663439"/>
            <a:ext cx="8015326" cy="609600"/>
          </a:xfrm>
          <a:prstGeom prst="rect">
            <a:avLst/>
          </a:prstGeom>
          <a:noFill/>
        </p:spPr>
        <p:txBody>
          <a:bodyPr wrap="none" lIns="0" rIns="0">
            <a:noAutofit/>
          </a:bodyPr>
          <a:lstStyle/>
          <a:p>
            <a:pPr algn="l"/>
            <a:r>
              <a:rPr sz="3400" b="0" i="0">
                <a:solidFill>
                  <a:srgbClr val="0A2240"/>
                </a:solidFill>
                <a:latin typeface="Arial"/>
              </a:rPr>
              <a:t>New markets via partners</a:t>
            </a:r>
          </a:p>
        </p:txBody>
      </p:sp>
      <p:sp>
        <p:nvSpPr>
          <p:cNvPr id="15" name="TextBox 14"/>
          <p:cNvSpPr/>
          <p:nvPr>
            <p:ph type="body" idx="13"/>
          </p:nvPr>
        </p:nvSpPr>
        <p:spPr>
          <a:xfrm>
            <a:off x="6233160" y="3767328"/>
            <a:ext cx="5501640" cy="621791"/>
          </a:xfrm>
          <a:prstGeom prst="rect">
            <a:avLst/>
          </a:prstGeom>
          <a:noFill/>
        </p:spPr>
        <p:txBody>
          <a:bodyPr wrap="none" lIns="0" rIns="0">
            <a:noAutofit/>
          </a:bodyPr>
          <a:lstStyle/>
          <a:p>
            <a:pPr algn="l"/>
            <a:r>
              <a:rPr sz="3400" b="1" i="0">
                <a:solidFill>
                  <a:srgbClr val="0A2240"/>
                </a:solidFill>
                <a:latin typeface="Arial"/>
              </a:rPr>
              <a:t>Threats</a:t>
            </a:r>
          </a:p>
        </p:txBody>
      </p:sp>
      <p:sp>
        <p:nvSpPr>
          <p:cNvPr id="16" name="Rectangle 15"/>
          <p:cNvSpPr/>
          <p:nvPr>
            <p:ph type="body" idx="14"/>
          </p:nvPr>
        </p:nvSpPr>
        <p:spPr>
          <a:xfrm>
            <a:off x="6233160" y="4443983"/>
            <a:ext cx="1559793" cy="54864"/>
          </a:xfrm>
          <a:prstGeom prst="rect">
            <a:avLst/>
          </a:prstGeom>
          <a:solidFill>
            <a:srgbClr val="0A2240"/>
          </a:solidFill>
          <a:ln>
            <a:noFill/>
          </a:ln>
          <a:effectLst/>
        </p:spPr>
        <p:txBody>
          <a:bodyPr rtlCol="0" anchor="ctr"/>
          <a:lstStyle/>
          <a:p>
            <a:pPr algn="ctr"/>
          </a:p>
        </p:txBody>
      </p:sp>
      <p:sp>
        <p:nvSpPr>
          <p:cNvPr id="17" name="TextBox 16"/>
          <p:cNvSpPr/>
          <p:nvPr>
            <p:ph type="body" idx="15"/>
          </p:nvPr>
        </p:nvSpPr>
        <p:spPr>
          <a:xfrm>
            <a:off x="6233160" y="4663439"/>
            <a:ext cx="5958840" cy="609600"/>
          </a:xfrm>
          <a:prstGeom prst="rect">
            <a:avLst/>
          </a:prstGeom>
          <a:noFill/>
        </p:spPr>
        <p:txBody>
          <a:bodyPr wrap="none" lIns="0" rIns="0">
            <a:noAutofit/>
          </a:bodyPr>
          <a:lstStyle/>
          <a:p>
            <a:pPr algn="l"/>
            <a:r>
              <a:rPr sz="3400" b="0" i="0">
                <a:solidFill>
                  <a:srgbClr val="0A2240"/>
                </a:solidFill>
                <a:latin typeface="Arial"/>
              </a:rPr>
              <a:t>New entrants cut prices</a:t>
            </a:r>
          </a:p>
        </p:txBody>
      </p:sp>
    </p:spTree>
    <p:extLst>
      <p:ext uri="{BB962C8B-B14F-4D97-AF65-F5344CB8AC3E}">
        <p14:creationId xmlns:p14="http://schemas.microsoft.com/office/powerpoint/2010/main" val="12129998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slidekit · Comparison Matrix">
    <p:bg>
      <p:bgPr>
        <a:solidFill>
          <a:srgbClr val="FFFFFF"/>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186160" y="6035040"/>
            <a:ext cx="548640" cy="365760"/>
          </a:xfrm>
        </p:spPr>
        <p:txBody>
          <a:bodyPr/>
          <a:lstStyle/>
          <a:p>
            <a:fld id="{C1FF6DA9-008F-8B48-92A6-B652298478BF}" type="slidenum">
              <a:rPr lang="en-US" smtClean="0"/>
              <a:t>‹#›</a:t>
            </a:fld>
            <a:endParaRPr lang="en-US"/>
          </a:p>
        </p:txBody>
      </p:sp>
      <p:sp>
        <p:nvSpPr>
          <p:cNvPr id="5" name="TextBox 4"/>
          <p:cNvSpPr/>
          <p:nvPr>
            <p:ph type="title"/>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Evaluation Matrix</a:t>
            </a:r>
          </a:p>
        </p:txBody>
      </p:sp>
      <p:sp>
        <p:nvSpPr>
          <p:cNvPr id="6" name="TextBox 5"/>
          <p:cNvSpPr/>
          <p:nvPr>
            <p:ph type="body" idx="1"/>
          </p:nvPr>
        </p:nvSpPr>
        <p:spPr>
          <a:xfrm>
            <a:off x="3280182" y="1499616"/>
            <a:ext cx="3650436" cy="518159"/>
          </a:xfrm>
          <a:prstGeom prst="rect">
            <a:avLst/>
          </a:prstGeom>
          <a:noFill/>
        </p:spPr>
        <p:txBody>
          <a:bodyPr wrap="none" lIns="0" rIns="0">
            <a:noAutofit/>
          </a:bodyPr>
          <a:lstStyle/>
          <a:p>
            <a:pPr algn="ctr"/>
            <a:r>
              <a:rPr sz="3400" b="1" i="0">
                <a:solidFill>
                  <a:srgbClr val="0A2240"/>
                </a:solidFill>
                <a:latin typeface="Arial"/>
              </a:rPr>
              <a:t>Platform A</a:t>
            </a:r>
          </a:p>
        </p:txBody>
      </p:sp>
      <p:sp>
        <p:nvSpPr>
          <p:cNvPr id="7" name="TextBox 6"/>
          <p:cNvSpPr/>
          <p:nvPr>
            <p:ph type="body" idx="2"/>
          </p:nvPr>
        </p:nvSpPr>
        <p:spPr>
          <a:xfrm>
            <a:off x="5973987" y="1499616"/>
            <a:ext cx="3676074" cy="518159"/>
          </a:xfrm>
          <a:prstGeom prst="rect">
            <a:avLst/>
          </a:prstGeom>
          <a:noFill/>
        </p:spPr>
        <p:txBody>
          <a:bodyPr wrap="none" lIns="0" rIns="0">
            <a:noAutofit/>
          </a:bodyPr>
          <a:lstStyle/>
          <a:p>
            <a:pPr algn="ctr"/>
            <a:r>
              <a:rPr sz="3400" b="1" i="0">
                <a:solidFill>
                  <a:srgbClr val="0A2240"/>
                </a:solidFill>
                <a:latin typeface="Arial"/>
              </a:rPr>
              <a:t>Platform B</a:t>
            </a:r>
          </a:p>
        </p:txBody>
      </p:sp>
      <p:sp>
        <p:nvSpPr>
          <p:cNvPr id="8" name="TextBox 7"/>
          <p:cNvSpPr/>
          <p:nvPr>
            <p:ph type="body" idx="3"/>
          </p:nvPr>
        </p:nvSpPr>
        <p:spPr>
          <a:xfrm>
            <a:off x="8845296" y="1499616"/>
            <a:ext cx="3346704" cy="518159"/>
          </a:xfrm>
          <a:prstGeom prst="rect">
            <a:avLst/>
          </a:prstGeom>
          <a:noFill/>
        </p:spPr>
        <p:txBody>
          <a:bodyPr wrap="none" lIns="0" rIns="0">
            <a:noAutofit/>
          </a:bodyPr>
          <a:lstStyle/>
          <a:p>
            <a:pPr algn="ctr"/>
            <a:r>
              <a:rPr sz="3400" b="1" i="0">
                <a:solidFill>
                  <a:srgbClr val="0A2240"/>
                </a:solidFill>
                <a:latin typeface="Arial"/>
              </a:rPr>
              <a:t>Platform C</a:t>
            </a:r>
          </a:p>
        </p:txBody>
      </p:sp>
      <p:sp>
        <p:nvSpPr>
          <p:cNvPr id="9" name="Rectangle 8"/>
          <p:cNvSpPr/>
          <p:nvPr>
            <p:ph type="body" idx="4"/>
          </p:nvPr>
        </p:nvSpPr>
        <p:spPr>
          <a:xfrm>
            <a:off x="457200" y="2072639"/>
            <a:ext cx="11277600" cy="54864"/>
          </a:xfrm>
          <a:prstGeom prst="rect">
            <a:avLst/>
          </a:prstGeom>
          <a:solidFill>
            <a:srgbClr val="0072CE"/>
          </a:solidFill>
          <a:ln>
            <a:noFill/>
          </a:ln>
          <a:effectLst/>
        </p:spPr>
        <p:txBody>
          <a:bodyPr rtlCol="0" anchor="ctr"/>
          <a:lstStyle/>
          <a:p>
            <a:pPr algn="ctr"/>
          </a:p>
        </p:txBody>
      </p:sp>
      <p:sp>
        <p:nvSpPr>
          <p:cNvPr id="10" name="TextBox 9"/>
          <p:cNvSpPr/>
          <p:nvPr>
            <p:ph type="body" idx="5"/>
          </p:nvPr>
        </p:nvSpPr>
        <p:spPr>
          <a:xfrm>
            <a:off x="457200" y="2401823"/>
            <a:ext cx="3157728" cy="936752"/>
          </a:xfrm>
          <a:prstGeom prst="rect">
            <a:avLst/>
          </a:prstGeom>
          <a:noFill/>
        </p:spPr>
        <p:txBody>
          <a:bodyPr wrap="none" lIns="0" rIns="0">
            <a:noAutofit/>
          </a:bodyPr>
          <a:lstStyle/>
          <a:p>
            <a:pPr algn="l"/>
            <a:r>
              <a:rPr sz="3400" b="1" i="0">
                <a:solidFill>
                  <a:srgbClr val="0A2240"/>
                </a:solidFill>
                <a:latin typeface="Arial"/>
              </a:rPr>
              <a:t>Security</a:t>
            </a:r>
          </a:p>
        </p:txBody>
      </p:sp>
      <p:sp>
        <p:nvSpPr>
          <p:cNvPr id="11" name="Rectangle 10"/>
          <p:cNvSpPr/>
          <p:nvPr>
            <p:ph type="body" idx="6"/>
          </p:nvPr>
        </p:nvSpPr>
        <p:spPr>
          <a:xfrm>
            <a:off x="4245247" y="2401823"/>
            <a:ext cx="1720305" cy="518159"/>
          </a:xfrm>
          <a:prstGeom prst="rect">
            <a:avLst/>
          </a:prstGeom>
          <a:solidFill>
            <a:srgbClr val="0072CE"/>
          </a:solidFill>
          <a:ln>
            <a:noFill/>
          </a:ln>
          <a:effectLst/>
        </p:spPr>
        <p:txBody>
          <a:bodyPr rtlCol="0" anchor="ctr"/>
          <a:lstStyle/>
          <a:p>
            <a:pPr algn="ctr"/>
          </a:p>
        </p:txBody>
      </p:sp>
      <p:sp>
        <p:nvSpPr>
          <p:cNvPr id="12" name="TextBox 11"/>
          <p:cNvSpPr/>
          <p:nvPr>
            <p:ph type="body" idx="7"/>
          </p:nvPr>
        </p:nvSpPr>
        <p:spPr>
          <a:xfrm>
            <a:off x="3901063" y="2401823"/>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13" name="TextBox 12"/>
          <p:cNvSpPr/>
          <p:nvPr>
            <p:ph type="body" idx="8"/>
          </p:nvPr>
        </p:nvSpPr>
        <p:spPr>
          <a:xfrm>
            <a:off x="6491979" y="2401823"/>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4" name="TextBox 13"/>
          <p:cNvSpPr/>
          <p:nvPr>
            <p:ph type="body" idx="9"/>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5" name="TextBox 14"/>
          <p:cNvSpPr/>
          <p:nvPr>
            <p:ph type="body" idx="13"/>
          </p:nvPr>
        </p:nvSpPr>
        <p:spPr>
          <a:xfrm>
            <a:off x="457200" y="3612895"/>
            <a:ext cx="3279020" cy="936752"/>
          </a:xfrm>
          <a:prstGeom prst="rect">
            <a:avLst/>
          </a:prstGeom>
          <a:noFill/>
        </p:spPr>
        <p:txBody>
          <a:bodyPr wrap="none" lIns="0" rIns="0">
            <a:noAutofit/>
          </a:bodyPr>
          <a:lstStyle/>
          <a:p>
            <a:pPr algn="l"/>
            <a:r>
              <a:rPr sz="3400" b="1" i="0">
                <a:solidFill>
                  <a:srgbClr val="0A2240"/>
                </a:solidFill>
                <a:latin typeface="Arial"/>
              </a:rPr>
              <a:t>Workflow</a:t>
            </a:r>
          </a:p>
        </p:txBody>
      </p:sp>
      <p:sp>
        <p:nvSpPr>
          <p:cNvPr id="16" name="TextBox 15"/>
          <p:cNvSpPr/>
          <p:nvPr>
            <p:ph type="body" idx="14"/>
          </p:nvPr>
        </p:nvSpPr>
        <p:spPr>
          <a:xfrm>
            <a:off x="3785355"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7" name="TextBox 16"/>
          <p:cNvSpPr/>
          <p:nvPr>
            <p:ph type="body" idx="15"/>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18" name="TextBox 17"/>
          <p:cNvSpPr/>
          <p:nvPr>
            <p:ph type="body" idx="16"/>
          </p:nvPr>
        </p:nvSpPr>
        <p:spPr>
          <a:xfrm>
            <a:off x="9198603" y="3612895"/>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
        <p:nvSpPr>
          <p:cNvPr id="19" name="TextBox 18"/>
          <p:cNvSpPr/>
          <p:nvPr>
            <p:ph type="body" idx="17"/>
          </p:nvPr>
        </p:nvSpPr>
        <p:spPr>
          <a:xfrm>
            <a:off x="457200" y="4823967"/>
            <a:ext cx="3157728" cy="936752"/>
          </a:xfrm>
          <a:prstGeom prst="rect">
            <a:avLst/>
          </a:prstGeom>
          <a:noFill/>
        </p:spPr>
        <p:txBody>
          <a:bodyPr wrap="none" lIns="0" rIns="0">
            <a:noAutofit/>
          </a:bodyPr>
          <a:lstStyle/>
          <a:p>
            <a:pPr algn="l"/>
            <a:r>
              <a:rPr sz="3400" b="1" i="0">
                <a:solidFill>
                  <a:srgbClr val="0A2240"/>
                </a:solidFill>
                <a:latin typeface="Arial"/>
              </a:rPr>
              <a:t>Support</a:t>
            </a:r>
          </a:p>
        </p:txBody>
      </p:sp>
      <p:sp>
        <p:nvSpPr>
          <p:cNvPr id="20" name="Rectangle 19"/>
          <p:cNvSpPr/>
          <p:nvPr>
            <p:ph type="body" idx="18"/>
          </p:nvPr>
        </p:nvSpPr>
        <p:spPr>
          <a:xfrm>
            <a:off x="4245247" y="4823967"/>
            <a:ext cx="1720305" cy="518159"/>
          </a:xfrm>
          <a:prstGeom prst="rect">
            <a:avLst/>
          </a:prstGeom>
          <a:solidFill>
            <a:srgbClr val="0072CE"/>
          </a:solidFill>
          <a:ln>
            <a:noFill/>
          </a:ln>
          <a:effectLst/>
        </p:spPr>
        <p:txBody>
          <a:bodyPr rtlCol="0" anchor="ctr"/>
          <a:lstStyle/>
          <a:p>
            <a:pPr algn="ctr"/>
          </a:p>
        </p:txBody>
      </p:sp>
      <p:sp>
        <p:nvSpPr>
          <p:cNvPr id="21" name="TextBox 20"/>
          <p:cNvSpPr/>
          <p:nvPr>
            <p:ph type="body" idx="19"/>
          </p:nvPr>
        </p:nvSpPr>
        <p:spPr>
          <a:xfrm>
            <a:off x="3901063" y="4823967"/>
            <a:ext cx="2408673" cy="518159"/>
          </a:xfrm>
          <a:prstGeom prst="rect">
            <a:avLst/>
          </a:prstGeom>
          <a:noFill/>
        </p:spPr>
        <p:txBody>
          <a:bodyPr wrap="none" lIns="0" rIns="0">
            <a:noAutofit/>
          </a:bodyPr>
          <a:lstStyle/>
          <a:p>
            <a:pPr algn="ctr"/>
            <a:r>
              <a:rPr sz="3400" b="1" i="0">
                <a:solidFill>
                  <a:srgbClr val="FFFFFF"/>
                </a:solidFill>
                <a:latin typeface="Arial"/>
              </a:rPr>
              <a:t>Strong</a:t>
            </a:r>
          </a:p>
        </p:txBody>
      </p:sp>
      <p:sp>
        <p:nvSpPr>
          <p:cNvPr id="22" name="TextBox 21"/>
          <p:cNvSpPr/>
          <p:nvPr>
            <p:ph type="body" idx="20"/>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Strong</a:t>
            </a:r>
          </a:p>
        </p:txBody>
      </p:sp>
      <p:sp>
        <p:nvSpPr>
          <p:cNvPr id="23" name="TextBox 22"/>
          <p:cNvSpPr/>
          <p:nvPr>
            <p:ph type="body" idx="21"/>
          </p:nvPr>
        </p:nvSpPr>
        <p:spPr>
          <a:xfrm>
            <a:off x="9198603" y="4823967"/>
            <a:ext cx="2640090" cy="936752"/>
          </a:xfrm>
          <a:prstGeom prst="rect">
            <a:avLst/>
          </a:prstGeom>
          <a:noFill/>
        </p:spPr>
        <p:txBody>
          <a:bodyPr wrap="none" lIns="0" rIns="0">
            <a:noAutofit/>
          </a:bodyPr>
          <a:lstStyle/>
          <a:p>
            <a:pPr algn="ctr"/>
            <a:r>
              <a:rPr sz="3400" b="0" i="0">
                <a:solidFill>
                  <a:srgbClr val="0A2240"/>
                </a:solidFill>
                <a:latin typeface="Arial"/>
              </a:rPr>
              <a:t>Medium</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 id="2147483724" r:id="rId25"/>
    <p:sldLayoutId id="2147483725" r:id="rId26"/>
    <p:sldLayoutId id="2147483726" r:id="rId27"/>
    <p:sldLayoutId id="2147483727" r:id="rId28"/>
    <p:sldLayoutId id="2147483728" r:id="rId29"/>
    <p:sldLayoutId id="2147483729" r:id="rId30"/>
    <p:sldLayoutId id="2147483730" r:id="rId31"/>
    <p:sldLayoutId id="2147483731" r:id="rId32"/>
    <p:sldLayoutId id="2147483732" r:id="rId33"/>
    <p:sldLayoutId id="2147483733" r:id="rId34"/>
    <p:sldLayoutId id="2147483734" r:id="rId35"/>
    <p:sldLayoutId id="2147483735" r:id="rId36"/>
    <p:sldLayoutId id="2147483736" r:id="rId37"/>
    <p:sldLayoutId id="2147483737" r:id="rId38"/>
    <p:sldLayoutId id="2147483738" r:id="rId39"/>
    <p:sldLayoutId id="2147483739" r:id="rId40"/>
    <p:sldLayoutId id="2147483740" r:id="rId4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914400" y="2575560"/>
            <a:ext cx="11277600" cy="914400"/>
          </a:xfrm>
          <a:prstGeom prst="rect">
            <a:avLst/>
          </a:prstGeom>
          <a:noFill/>
        </p:spPr>
        <p:txBody>
          <a:bodyPr wrap="none" lIns="0" rIns="0">
            <a:noAutofit/>
          </a:bodyPr>
          <a:lstStyle/>
          <a:p>
            <a:pPr algn="l"/>
            <a:r>
              <a:rPr sz="6000" b="1" i="0">
                <a:solidFill>
                  <a:srgbClr val="0072CE"/>
                </a:solidFill>
                <a:latin typeface="Arial"/>
              </a:rPr>
              <a:t>Mapping the Workflow</a:t>
            </a:r>
          </a:p>
        </p:txBody>
      </p:sp>
      <p:sp>
        <p:nvSpPr>
          <p:cNvPr id="3" name="TextBox 2"/>
          <p:cNvSpPr txBox="1"/>
          <p:nvPr/>
        </p:nvSpPr>
        <p:spPr>
          <a:xfrm>
            <a:off x="914400" y="3764280"/>
            <a:ext cx="11277600" cy="518159"/>
          </a:xfrm>
          <a:prstGeom prst="rect">
            <a:avLst/>
          </a:prstGeom>
          <a:noFill/>
        </p:spPr>
        <p:txBody>
          <a:bodyPr wrap="none" lIns="0" rIns="0">
            <a:noAutofit/>
          </a:bodyPr>
          <a:lstStyle/>
          <a:p>
            <a:pPr algn="l"/>
            <a:r>
              <a:rPr sz="3400" b="0" i="0">
                <a:solidFill>
                  <a:srgbClr val="0A2240"/>
                </a:solidFill>
                <a:latin typeface="Arial"/>
              </a:rPr>
              <a:t>Immersion Week SF · Day 1 · Session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1583436"/>
            <a:ext cx="11277600" cy="1691640"/>
          </a:xfrm>
          <a:prstGeom prst="rect">
            <a:avLst/>
          </a:prstGeom>
          <a:noFill/>
        </p:spPr>
        <p:txBody>
          <a:bodyPr wrap="none" lIns="0" rIns="0">
            <a:noAutofit/>
          </a:bodyPr>
          <a:lstStyle/>
          <a:p>
            <a:pPr algn="ctr"/>
            <a:r>
              <a:rPr sz="10500" b="1" i="0">
                <a:solidFill>
                  <a:srgbClr val="0072CE"/>
                </a:solidFill>
                <a:latin typeface="Arial"/>
              </a:rPr>
              <a:t>55</a:t>
            </a:r>
          </a:p>
        </p:txBody>
      </p:sp>
      <p:sp>
        <p:nvSpPr>
          <p:cNvPr id="3" name="Rectangle 2"/>
          <p:cNvSpPr/>
          <p:nvPr/>
        </p:nvSpPr>
        <p:spPr>
          <a:xfrm>
            <a:off x="5547360" y="3329940"/>
            <a:ext cx="109728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659124"/>
            <a:ext cx="11277600" cy="731520"/>
          </a:xfrm>
          <a:prstGeom prst="rect">
            <a:avLst/>
          </a:prstGeom>
          <a:noFill/>
        </p:spPr>
        <p:txBody>
          <a:bodyPr wrap="none" lIns="0" rIns="0">
            <a:noAutofit/>
          </a:bodyPr>
          <a:lstStyle/>
          <a:p>
            <a:pPr algn="ctr"/>
            <a:r>
              <a:rPr sz="4200" b="0" i="0">
                <a:solidFill>
                  <a:srgbClr val="0A2240"/>
                </a:solidFill>
                <a:latin typeface="Arial"/>
              </a:rPr>
              <a:t>Minutes</a:t>
            </a:r>
          </a:p>
        </p:txBody>
      </p:sp>
      <p:sp>
        <p:nvSpPr>
          <p:cNvPr id="5" name="TextBox 4"/>
          <p:cNvSpPr txBox="1"/>
          <p:nvPr/>
        </p:nvSpPr>
        <p:spPr>
          <a:xfrm>
            <a:off x="0" y="4664964"/>
            <a:ext cx="12192000" cy="609600"/>
          </a:xfrm>
          <a:prstGeom prst="rect">
            <a:avLst/>
          </a:prstGeom>
          <a:noFill/>
        </p:spPr>
        <p:txBody>
          <a:bodyPr wrap="none" lIns="0" rIns="0">
            <a:noAutofit/>
          </a:bodyPr>
          <a:lstStyle/>
          <a:p>
            <a:pPr algn="ctr"/>
            <a:r>
              <a:rPr sz="3400" b="0" i="0">
                <a:solidFill>
                  <a:srgbClr val="0A2240"/>
                </a:solidFill>
                <a:latin typeface="Arial"/>
              </a:rPr>
              <a:t>You leave with a diagram the team shares</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This Session Covers</a:t>
            </a:r>
          </a:p>
        </p:txBody>
      </p:sp>
      <p:sp>
        <p:nvSpPr>
          <p:cNvPr id="3" name="Rectangle 2"/>
          <p:cNvSpPr/>
          <p:nvPr/>
        </p:nvSpPr>
        <p:spPr>
          <a:xfrm>
            <a:off x="457200" y="1280160"/>
            <a:ext cx="11277600" cy="64008"/>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18488"/>
            <a:ext cx="951348" cy="518159"/>
          </a:xfrm>
          <a:prstGeom prst="rect">
            <a:avLst/>
          </a:prstGeom>
          <a:noFill/>
        </p:spPr>
        <p:txBody>
          <a:bodyPr wrap="none" lIns="0" rIns="0">
            <a:noAutofit/>
          </a:bodyPr>
          <a:lstStyle/>
          <a:p>
            <a:pPr algn="l"/>
            <a:r>
              <a:rPr sz="3400" b="1" i="0">
                <a:solidFill>
                  <a:srgbClr val="0072CE"/>
                </a:solidFill>
                <a:latin typeface="Arial"/>
              </a:rPr>
              <a:t>01</a:t>
            </a:r>
          </a:p>
        </p:txBody>
      </p:sp>
      <p:sp>
        <p:nvSpPr>
          <p:cNvPr id="5" name="TextBox 4"/>
          <p:cNvSpPr txBox="1"/>
          <p:nvPr/>
        </p:nvSpPr>
        <p:spPr>
          <a:xfrm>
            <a:off x="1371600" y="1618488"/>
            <a:ext cx="10820400" cy="518159"/>
          </a:xfrm>
          <a:prstGeom prst="rect">
            <a:avLst/>
          </a:prstGeom>
          <a:noFill/>
        </p:spPr>
        <p:txBody>
          <a:bodyPr wrap="none" lIns="0" rIns="0">
            <a:noAutofit/>
          </a:bodyPr>
          <a:lstStyle/>
          <a:p>
            <a:pPr algn="l"/>
            <a:r>
              <a:rPr sz="3400" b="0" i="0">
                <a:solidFill>
                  <a:srgbClr val="0A2240"/>
                </a:solidFill>
                <a:latin typeface="Arial"/>
              </a:rPr>
              <a:t>Decomposing the problem into steps</a:t>
            </a:r>
          </a:p>
        </p:txBody>
      </p:sp>
      <p:sp>
        <p:nvSpPr>
          <p:cNvPr id="6" name="TextBox 5"/>
          <p:cNvSpPr txBox="1"/>
          <p:nvPr/>
        </p:nvSpPr>
        <p:spPr>
          <a:xfrm>
            <a:off x="457200" y="2722626"/>
            <a:ext cx="951348" cy="518159"/>
          </a:xfrm>
          <a:prstGeom prst="rect">
            <a:avLst/>
          </a:prstGeom>
          <a:noFill/>
        </p:spPr>
        <p:txBody>
          <a:bodyPr wrap="none" lIns="0" rIns="0">
            <a:noAutofit/>
          </a:bodyPr>
          <a:lstStyle/>
          <a:p>
            <a:pPr algn="l"/>
            <a:r>
              <a:rPr sz="3400" b="1" i="0">
                <a:solidFill>
                  <a:srgbClr val="0072CE"/>
                </a:solidFill>
                <a:latin typeface="Arial"/>
              </a:rPr>
              <a:t>02</a:t>
            </a:r>
          </a:p>
        </p:txBody>
      </p:sp>
      <p:sp>
        <p:nvSpPr>
          <p:cNvPr id="7" name="TextBox 6"/>
          <p:cNvSpPr txBox="1"/>
          <p:nvPr/>
        </p:nvSpPr>
        <p:spPr>
          <a:xfrm>
            <a:off x="1371600" y="2722626"/>
            <a:ext cx="10363200" cy="518159"/>
          </a:xfrm>
          <a:prstGeom prst="rect">
            <a:avLst/>
          </a:prstGeom>
          <a:noFill/>
        </p:spPr>
        <p:txBody>
          <a:bodyPr wrap="none" lIns="0" rIns="0">
            <a:noAutofit/>
          </a:bodyPr>
          <a:lstStyle/>
          <a:p>
            <a:pPr algn="l"/>
            <a:r>
              <a:rPr sz="3400" b="0" i="0">
                <a:solidFill>
                  <a:srgbClr val="0A2240"/>
                </a:solidFill>
                <a:latin typeface="Arial"/>
              </a:rPr>
              <a:t>Turning the map into an Artifact</a:t>
            </a:r>
          </a:p>
        </p:txBody>
      </p:sp>
      <p:sp>
        <p:nvSpPr>
          <p:cNvPr id="8" name="TextBox 7"/>
          <p:cNvSpPr txBox="1"/>
          <p:nvPr/>
        </p:nvSpPr>
        <p:spPr>
          <a:xfrm>
            <a:off x="457200" y="3826764"/>
            <a:ext cx="951348" cy="518159"/>
          </a:xfrm>
          <a:prstGeom prst="rect">
            <a:avLst/>
          </a:prstGeom>
          <a:noFill/>
        </p:spPr>
        <p:txBody>
          <a:bodyPr wrap="none" lIns="0" rIns="0">
            <a:noAutofit/>
          </a:bodyPr>
          <a:lstStyle/>
          <a:p>
            <a:pPr algn="l"/>
            <a:r>
              <a:rPr sz="3400" b="1" i="0">
                <a:solidFill>
                  <a:srgbClr val="0072CE"/>
                </a:solidFill>
                <a:latin typeface="Arial"/>
              </a:rPr>
              <a:t>03</a:t>
            </a:r>
          </a:p>
        </p:txBody>
      </p:sp>
      <p:sp>
        <p:nvSpPr>
          <p:cNvPr id="9" name="TextBox 8"/>
          <p:cNvSpPr txBox="1"/>
          <p:nvPr/>
        </p:nvSpPr>
        <p:spPr>
          <a:xfrm>
            <a:off x="1371600" y="3826764"/>
            <a:ext cx="10363200" cy="518159"/>
          </a:xfrm>
          <a:prstGeom prst="rect">
            <a:avLst/>
          </a:prstGeom>
          <a:noFill/>
        </p:spPr>
        <p:txBody>
          <a:bodyPr wrap="none" lIns="0" rIns="0">
            <a:noAutofit/>
          </a:bodyPr>
          <a:lstStyle/>
          <a:p>
            <a:pPr algn="l"/>
            <a:r>
              <a:rPr sz="3400" b="0" i="0">
                <a:solidFill>
                  <a:srgbClr val="0A2240"/>
                </a:solidFill>
                <a:latin typeface="Arial"/>
              </a:rPr>
              <a:t>Naming what each step needs</a:t>
            </a:r>
          </a:p>
        </p:txBody>
      </p:sp>
      <p:sp>
        <p:nvSpPr>
          <p:cNvPr id="10" name="TextBox 9"/>
          <p:cNvSpPr txBox="1"/>
          <p:nvPr/>
        </p:nvSpPr>
        <p:spPr>
          <a:xfrm>
            <a:off x="457200" y="4930902"/>
            <a:ext cx="951348" cy="518159"/>
          </a:xfrm>
          <a:prstGeom prst="rect">
            <a:avLst/>
          </a:prstGeom>
          <a:noFill/>
        </p:spPr>
        <p:txBody>
          <a:bodyPr wrap="none" lIns="0" rIns="0">
            <a:noAutofit/>
          </a:bodyPr>
          <a:lstStyle/>
          <a:p>
            <a:pPr algn="l"/>
            <a:r>
              <a:rPr sz="3400" b="1" i="0">
                <a:solidFill>
                  <a:srgbClr val="0072CE"/>
                </a:solidFill>
                <a:latin typeface="Arial"/>
              </a:rPr>
              <a:t>04</a:t>
            </a:r>
          </a:p>
        </p:txBody>
      </p:sp>
      <p:sp>
        <p:nvSpPr>
          <p:cNvPr id="11" name="TextBox 10"/>
          <p:cNvSpPr txBox="1"/>
          <p:nvPr/>
        </p:nvSpPr>
        <p:spPr>
          <a:xfrm>
            <a:off x="1371600" y="4930902"/>
            <a:ext cx="10363200" cy="518159"/>
          </a:xfrm>
          <a:prstGeom prst="rect">
            <a:avLst/>
          </a:prstGeom>
          <a:noFill/>
        </p:spPr>
        <p:txBody>
          <a:bodyPr wrap="none" lIns="0" rIns="0">
            <a:noAutofit/>
          </a:bodyPr>
          <a:lstStyle/>
          <a:p>
            <a:pPr algn="l"/>
            <a:r>
              <a:rPr sz="3400" b="0" i="0">
                <a:solidFill>
                  <a:srgbClr val="0A2240"/>
                </a:solidFill>
                <a:latin typeface="Arial"/>
              </a:rPr>
              <a:t>Finding how the riskiest step fails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926080"/>
            <a:ext cx="128016" cy="10058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926080"/>
            <a:ext cx="11195304" cy="1005840"/>
          </a:xfrm>
          <a:prstGeom prst="rect">
            <a:avLst/>
          </a:prstGeom>
          <a:noFill/>
        </p:spPr>
        <p:txBody>
          <a:bodyPr wrap="none" lIns="0" rIns="0">
            <a:noAutofit/>
          </a:bodyPr>
          <a:lstStyle/>
          <a:p>
            <a:pPr algn="l"/>
            <a:r>
              <a:rPr sz="6000" b="1" i="0">
                <a:solidFill>
                  <a:srgbClr val="0A2240"/>
                </a:solidFill>
                <a:latin typeface="Arial"/>
              </a:rPr>
              <a:t>From input to output: how?</a:t>
            </a:r>
          </a:p>
        </p:txBody>
      </p:sp>
      <p:sp>
        <p:nvSpPr>
          <p:cNvPr id="4" name="TextBox 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From 1.1 to Now</a:t>
            </a:r>
          </a:p>
        </p:txBody>
      </p:sp>
      <p:sp>
        <p:nvSpPr>
          <p:cNvPr id="3" name="TextBox 2"/>
          <p:cNvSpPr txBox="1"/>
          <p:nvPr/>
        </p:nvSpPr>
        <p:spPr>
          <a:xfrm>
            <a:off x="323255" y="2776728"/>
            <a:ext cx="5060870" cy="914400"/>
          </a:xfrm>
          <a:prstGeom prst="rect">
            <a:avLst/>
          </a:prstGeom>
          <a:noFill/>
        </p:spPr>
        <p:txBody>
          <a:bodyPr wrap="none" lIns="0" rIns="0">
            <a:noAutofit/>
          </a:bodyPr>
          <a:lstStyle/>
          <a:p>
            <a:pPr algn="ctr"/>
            <a:r>
              <a:rPr sz="6000" b="1" i="0">
                <a:solidFill>
                  <a:srgbClr val="0A2240"/>
                </a:solidFill>
                <a:latin typeface="Arial"/>
              </a:rPr>
              <a:t>Problem</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One precise sentence</a:t>
            </a:r>
          </a:p>
        </p:txBody>
      </p:sp>
      <p:sp>
        <p:nvSpPr>
          <p:cNvPr id="5" name="TextBox 4"/>
          <p:cNvSpPr txBox="1"/>
          <p:nvPr/>
        </p:nvSpPr>
        <p:spPr>
          <a:xfrm>
            <a:off x="6514982" y="2776728"/>
            <a:ext cx="5646656" cy="914400"/>
          </a:xfrm>
          <a:prstGeom prst="rect">
            <a:avLst/>
          </a:prstGeom>
          <a:noFill/>
        </p:spPr>
        <p:txBody>
          <a:bodyPr wrap="none" lIns="0" rIns="0">
            <a:noAutofit/>
          </a:bodyPr>
          <a:lstStyle/>
          <a:p>
            <a:pPr algn="ctr"/>
            <a:r>
              <a:rPr sz="6000" b="1" i="0">
                <a:solidFill>
                  <a:srgbClr val="0A2240"/>
                </a:solidFill>
                <a:latin typeface="Arial"/>
              </a:rPr>
              <a:t>Workflow</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The path to solve it</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We Get There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Break</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Split it into steps</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Draw</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Make it an Artifact</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3176468" cy="518159"/>
          </a:xfrm>
          <a:prstGeom prst="rect">
            <a:avLst/>
          </a:prstGeom>
          <a:noFill/>
        </p:spPr>
        <p:txBody>
          <a:bodyPr wrap="none" lIns="0" rIns="0">
            <a:noAutofit/>
          </a:bodyPr>
          <a:lstStyle/>
          <a:p>
            <a:pPr algn="l"/>
            <a:r>
              <a:rPr sz="3400" b="1" i="0">
                <a:solidFill>
                  <a:srgbClr val="0072CE"/>
                </a:solidFill>
                <a:latin typeface="Arial"/>
              </a:rPr>
              <a:t>Annotate</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Name what each needs</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613660" cy="518159"/>
          </a:xfrm>
          <a:prstGeom prst="rect">
            <a:avLst/>
          </a:prstGeom>
          <a:noFill/>
        </p:spPr>
        <p:txBody>
          <a:bodyPr wrap="none" lIns="0" rIns="0">
            <a:noAutofit/>
          </a:bodyPr>
          <a:lstStyle/>
          <a:p>
            <a:pPr algn="l"/>
            <a:r>
              <a:rPr sz="3400" b="1" i="0">
                <a:solidFill>
                  <a:srgbClr val="0072CE"/>
                </a:solidFill>
                <a:latin typeface="Arial"/>
              </a:rPr>
              <a:t>Stress</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Find how it breaks</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01</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Decompose Into Steps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Workflow</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Ordered steps from raw input to delivered output.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Step</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One change, with a named input and output.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330523" cy="768096"/>
          </a:xfrm>
          <a:prstGeom prst="rect">
            <a:avLst/>
          </a:prstGeom>
          <a:noFill/>
        </p:spPr>
        <p:txBody>
          <a:bodyPr wrap="none" lIns="0" rIns="0">
            <a:noAutofit/>
          </a:bodyPr>
          <a:lstStyle/>
          <a:p>
            <a:pPr algn="l"/>
            <a:r>
              <a:rPr sz="4200" b="1" i="0">
                <a:solidFill>
                  <a:srgbClr val="0072CE"/>
                </a:solidFill>
                <a:latin typeface="Arial"/>
              </a:rPr>
              <a:t>Every Step Has Three Parts</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Input</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What arrives, and its shape</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Transform</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The one thing this step does</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Output</a:t>
            </a:r>
          </a:p>
        </p:txBody>
      </p:sp>
      <p:sp>
        <p:nvSpPr>
          <p:cNvPr id="8" name="TextBox 7"/>
          <p:cNvSpPr txBox="1"/>
          <p:nvPr/>
        </p:nvSpPr>
        <p:spPr>
          <a:xfrm>
            <a:off x="457200" y="5132831"/>
            <a:ext cx="11277600" cy="627889"/>
          </a:xfrm>
          <a:prstGeom prst="rect">
            <a:avLst/>
          </a:prstGeom>
          <a:noFill/>
        </p:spPr>
        <p:txBody>
          <a:bodyPr wrap="none" lIns="0" rIns="0">
            <a:noAutofit/>
          </a:bodyPr>
          <a:lstStyle/>
          <a:p>
            <a:pPr algn="l"/>
            <a:r>
              <a:rPr sz="3400" b="0" i="0">
                <a:solidFill>
                  <a:srgbClr val="0A2240"/>
                </a:solidFill>
                <a:latin typeface="Arial"/>
              </a:rPr>
              <a:t>What leaves, ready for next</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How to Decompose</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Name the output</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What the user finally gets</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Work backwards</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What must exist before it</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Stop at raw input</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What you actually receive</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Start From the Output</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Forward drifts toward what is easy</a:t>
            </a:r>
          </a:p>
        </p:txBody>
      </p:sp>
      <p:sp>
        <p:nvSpPr>
          <p:cNvPr id="4" name="TextBox 3"/>
          <p:cNvSpPr txBox="1"/>
          <p:nvPr/>
        </p:nvSpPr>
        <p:spPr>
          <a:xfrm>
            <a:off x="457200" y="3371088"/>
            <a:ext cx="11473100" cy="518159"/>
          </a:xfrm>
          <a:prstGeom prst="rect">
            <a:avLst/>
          </a:prstGeom>
          <a:noFill/>
        </p:spPr>
        <p:txBody>
          <a:bodyPr wrap="none" lIns="0" rIns="0">
            <a:noAutofit/>
          </a:bodyPr>
          <a:lstStyle/>
          <a:p>
            <a:pPr algn="l"/>
            <a:r>
              <a:rPr sz="3400" b="0" i="0">
                <a:solidFill>
                  <a:srgbClr val="0A2240"/>
                </a:solidFill>
                <a:latin typeface="Arial"/>
              </a:rPr>
              <a:t>Backwards keeps every step earning</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You spot the missing middle sooner</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Vague Step, Concrete Step</a:t>
            </a:r>
          </a:p>
        </p:txBody>
      </p:sp>
      <p:sp>
        <p:nvSpPr>
          <p:cNvPr id="3" name="TextBox 2"/>
          <p:cNvSpPr txBox="1"/>
          <p:nvPr/>
        </p:nvSpPr>
        <p:spPr>
          <a:xfrm>
            <a:off x="457200" y="1499616"/>
            <a:ext cx="3606158" cy="518159"/>
          </a:xfrm>
          <a:prstGeom prst="rect">
            <a:avLst/>
          </a:prstGeom>
          <a:noFill/>
        </p:spPr>
        <p:txBody>
          <a:bodyPr wrap="none" lIns="0" rIns="0">
            <a:noAutofit/>
          </a:bodyPr>
          <a:lstStyle/>
          <a:p>
            <a:pPr algn="l"/>
            <a:r>
              <a:rPr sz="3400" b="1" i="0">
                <a:solidFill>
                  <a:srgbClr val="0072CE"/>
                </a:solidFill>
                <a:latin typeface="Arial"/>
              </a:rPr>
              <a:t>Vague</a:t>
            </a:r>
          </a:p>
        </p:txBody>
      </p:sp>
      <p:sp>
        <p:nvSpPr>
          <p:cNvPr id="4" name="TextBox 3"/>
          <p:cNvSpPr txBox="1"/>
          <p:nvPr/>
        </p:nvSpPr>
        <p:spPr>
          <a:xfrm>
            <a:off x="4611998" y="1499616"/>
            <a:ext cx="5189354" cy="518159"/>
          </a:xfrm>
          <a:prstGeom prst="rect">
            <a:avLst/>
          </a:prstGeom>
          <a:noFill/>
        </p:spPr>
        <p:txBody>
          <a:bodyPr wrap="none" lIns="0" rIns="0">
            <a:noAutofit/>
          </a:bodyPr>
          <a:lstStyle/>
          <a:p>
            <a:pPr algn="l"/>
            <a:r>
              <a:rPr sz="3400" b="1" i="0">
                <a:solidFill>
                  <a:srgbClr val="0072CE"/>
                </a:solidFill>
                <a:latin typeface="Arial"/>
              </a:rPr>
              <a:t>Concrete</a:t>
            </a:r>
          </a:p>
        </p:txBody>
      </p:sp>
      <p:sp>
        <p:nvSpPr>
          <p:cNvPr id="5" name="Rectangle 4"/>
          <p:cNvSpPr/>
          <p:nvPr/>
        </p:nvSpPr>
        <p:spPr>
          <a:xfrm>
            <a:off x="457200" y="2072639"/>
            <a:ext cx="934415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5367516" cy="633984"/>
          </a:xfrm>
          <a:prstGeom prst="rect">
            <a:avLst/>
          </a:prstGeom>
          <a:noFill/>
        </p:spPr>
        <p:txBody>
          <a:bodyPr wrap="none" lIns="0" rIns="0">
            <a:noAutofit/>
          </a:bodyPr>
          <a:lstStyle/>
          <a:p>
            <a:pPr algn="l"/>
            <a:r>
              <a:rPr sz="3400" b="0" i="0">
                <a:solidFill>
                  <a:srgbClr val="0A2240"/>
                </a:solidFill>
                <a:latin typeface="Arial"/>
              </a:rPr>
              <a:t>Process the data</a:t>
            </a:r>
          </a:p>
        </p:txBody>
      </p:sp>
      <p:sp>
        <p:nvSpPr>
          <p:cNvPr id="7" name="TextBox 6"/>
          <p:cNvSpPr txBox="1"/>
          <p:nvPr/>
        </p:nvSpPr>
        <p:spPr>
          <a:xfrm>
            <a:off x="4611998" y="2401823"/>
            <a:ext cx="6863972" cy="633984"/>
          </a:xfrm>
          <a:prstGeom prst="rect">
            <a:avLst/>
          </a:prstGeom>
          <a:noFill/>
        </p:spPr>
        <p:txBody>
          <a:bodyPr wrap="none" lIns="0" rIns="0">
            <a:noAutofit/>
          </a:bodyPr>
          <a:lstStyle/>
          <a:p>
            <a:pPr algn="l"/>
            <a:r>
              <a:rPr sz="3400" b="0" i="0">
                <a:solidFill>
                  <a:srgbClr val="0A2240"/>
                </a:solidFill>
                <a:latin typeface="Arial"/>
              </a:rPr>
              <a:t>Parse CSV to records</a:t>
            </a:r>
          </a:p>
        </p:txBody>
      </p:sp>
      <p:sp>
        <p:nvSpPr>
          <p:cNvPr id="8" name="TextBox 7"/>
          <p:cNvSpPr txBox="1"/>
          <p:nvPr/>
        </p:nvSpPr>
        <p:spPr>
          <a:xfrm>
            <a:off x="457200" y="3310127"/>
            <a:ext cx="3606158" cy="633984"/>
          </a:xfrm>
          <a:prstGeom prst="rect">
            <a:avLst/>
          </a:prstGeom>
          <a:noFill/>
        </p:spPr>
        <p:txBody>
          <a:bodyPr wrap="none" lIns="0" rIns="0">
            <a:noAutofit/>
          </a:bodyPr>
          <a:lstStyle/>
          <a:p>
            <a:pPr algn="l"/>
            <a:r>
              <a:rPr sz="3400" b="0" i="0">
                <a:solidFill>
                  <a:srgbClr val="0A2240"/>
                </a:solidFill>
                <a:latin typeface="Arial"/>
              </a:rPr>
              <a:t>Analyze it</a:t>
            </a:r>
          </a:p>
        </p:txBody>
      </p:sp>
      <p:sp>
        <p:nvSpPr>
          <p:cNvPr id="9" name="TextBox 8"/>
          <p:cNvSpPr txBox="1"/>
          <p:nvPr/>
        </p:nvSpPr>
        <p:spPr>
          <a:xfrm>
            <a:off x="4611998" y="3310127"/>
            <a:ext cx="6903441" cy="633984"/>
          </a:xfrm>
          <a:prstGeom prst="rect">
            <a:avLst/>
          </a:prstGeom>
          <a:noFill/>
        </p:spPr>
        <p:txBody>
          <a:bodyPr wrap="none" lIns="0" rIns="0">
            <a:noAutofit/>
          </a:bodyPr>
          <a:lstStyle/>
          <a:p>
            <a:pPr algn="l"/>
            <a:r>
              <a:rPr sz="3400" b="0" i="0">
                <a:solidFill>
                  <a:srgbClr val="0A2240"/>
                </a:solidFill>
                <a:latin typeface="Arial"/>
              </a:rPr>
              <a:t>Score each row 0 to 1</a:t>
            </a:r>
          </a:p>
        </p:txBody>
      </p:sp>
      <p:sp>
        <p:nvSpPr>
          <p:cNvPr id="10" name="TextBox 9"/>
          <p:cNvSpPr txBox="1"/>
          <p:nvPr/>
        </p:nvSpPr>
        <p:spPr>
          <a:xfrm>
            <a:off x="457200" y="4218431"/>
            <a:ext cx="3606158" cy="633984"/>
          </a:xfrm>
          <a:prstGeom prst="rect">
            <a:avLst/>
          </a:prstGeom>
          <a:noFill/>
        </p:spPr>
        <p:txBody>
          <a:bodyPr wrap="none" lIns="0" rIns="0">
            <a:noAutofit/>
          </a:bodyPr>
          <a:lstStyle/>
          <a:p>
            <a:pPr algn="l"/>
            <a:r>
              <a:rPr sz="3400" b="0" i="0">
                <a:solidFill>
                  <a:srgbClr val="0A2240"/>
                </a:solidFill>
                <a:latin typeface="Arial"/>
              </a:rPr>
              <a:t>Use AI</a:t>
            </a:r>
          </a:p>
        </p:txBody>
      </p:sp>
      <p:sp>
        <p:nvSpPr>
          <p:cNvPr id="11" name="TextBox 10"/>
          <p:cNvSpPr txBox="1"/>
          <p:nvPr/>
        </p:nvSpPr>
        <p:spPr>
          <a:xfrm>
            <a:off x="4611998" y="4218431"/>
            <a:ext cx="7580002" cy="633984"/>
          </a:xfrm>
          <a:prstGeom prst="rect">
            <a:avLst/>
          </a:prstGeom>
          <a:noFill/>
        </p:spPr>
        <p:txBody>
          <a:bodyPr wrap="none" lIns="0" rIns="0">
            <a:noAutofit/>
          </a:bodyPr>
          <a:lstStyle/>
          <a:p>
            <a:pPr algn="l"/>
            <a:r>
              <a:rPr sz="3400" b="0" i="0">
                <a:solidFill>
                  <a:srgbClr val="0A2240"/>
                </a:solidFill>
                <a:latin typeface="Arial"/>
              </a:rPr>
              <a:t>Claude drafts a summary</a:t>
            </a:r>
          </a:p>
        </p:txBody>
      </p:sp>
      <p:sp>
        <p:nvSpPr>
          <p:cNvPr id="12" name="TextBox 11"/>
          <p:cNvSpPr txBox="1"/>
          <p:nvPr/>
        </p:nvSpPr>
        <p:spPr>
          <a:xfrm>
            <a:off x="457200" y="5126735"/>
            <a:ext cx="4137897" cy="633984"/>
          </a:xfrm>
          <a:prstGeom prst="rect">
            <a:avLst/>
          </a:prstGeom>
          <a:noFill/>
        </p:spPr>
        <p:txBody>
          <a:bodyPr wrap="none" lIns="0" rIns="0">
            <a:noAutofit/>
          </a:bodyPr>
          <a:lstStyle/>
          <a:p>
            <a:pPr algn="l"/>
            <a:r>
              <a:rPr sz="3400" b="0" i="0">
                <a:solidFill>
                  <a:srgbClr val="0A2240"/>
                </a:solidFill>
                <a:latin typeface="Arial"/>
              </a:rPr>
              <a:t>Show results</a:t>
            </a:r>
          </a:p>
        </p:txBody>
      </p:sp>
      <p:sp>
        <p:nvSpPr>
          <p:cNvPr id="13" name="TextBox 12"/>
          <p:cNvSpPr txBox="1"/>
          <p:nvPr/>
        </p:nvSpPr>
        <p:spPr>
          <a:xfrm>
            <a:off x="4611998" y="5126735"/>
            <a:ext cx="7019488" cy="633984"/>
          </a:xfrm>
          <a:prstGeom prst="rect">
            <a:avLst/>
          </a:prstGeom>
          <a:noFill/>
        </p:spPr>
        <p:txBody>
          <a:bodyPr wrap="none" lIns="0" rIns="0">
            <a:noAutofit/>
          </a:bodyPr>
          <a:lstStyle/>
          <a:p>
            <a:pPr algn="l"/>
            <a:r>
              <a:rPr sz="3400" b="0" i="0">
                <a:solidFill>
                  <a:srgbClr val="0A2240"/>
                </a:solidFill>
                <a:latin typeface="Arial"/>
              </a:rPr>
              <a:t>Render a ranked table</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The Granularity Test</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One person could own it</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You could test it alone</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It fits in a morning</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Too Coarse, Too Fine</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Too coarse</a:t>
            </a:r>
          </a:p>
        </p:txBody>
      </p:sp>
      <p:sp>
        <p:nvSpPr>
          <p:cNvPr id="4" name="TextBox 3"/>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Too fine</a:t>
            </a:r>
          </a:p>
        </p:txBody>
      </p:sp>
      <p:sp>
        <p:nvSpPr>
          <p:cNvPr id="5" name="TextBox 4"/>
          <p:cNvSpPr txBox="1"/>
          <p:nvPr/>
        </p:nvSpPr>
        <p:spPr>
          <a:xfrm>
            <a:off x="457200" y="2395727"/>
            <a:ext cx="5501640" cy="847344"/>
          </a:xfrm>
          <a:prstGeom prst="rect">
            <a:avLst/>
          </a:prstGeom>
          <a:noFill/>
        </p:spPr>
        <p:txBody>
          <a:bodyPr wrap="none" lIns="0" rIns="0">
            <a:noAutofit/>
          </a:bodyPr>
          <a:lstStyle/>
          <a:p>
            <a:pPr algn="l"/>
            <a:r>
              <a:rPr sz="3400" b="0" i="0">
                <a:solidFill>
                  <a:srgbClr val="0A2240"/>
                </a:solidFill>
                <a:latin typeface="Arial"/>
              </a:rPr>
              <a:t>Build the pipeline</a:t>
            </a:r>
          </a:p>
        </p:txBody>
      </p:sp>
      <p:sp>
        <p:nvSpPr>
          <p:cNvPr id="6" name="TextBox 5"/>
          <p:cNvSpPr txBox="1"/>
          <p:nvPr/>
        </p:nvSpPr>
        <p:spPr>
          <a:xfrm>
            <a:off x="6233160" y="2395727"/>
            <a:ext cx="5501640" cy="847344"/>
          </a:xfrm>
          <a:prstGeom prst="rect">
            <a:avLst/>
          </a:prstGeom>
          <a:noFill/>
        </p:spPr>
        <p:txBody>
          <a:bodyPr wrap="none" lIns="0" rIns="0">
            <a:noAutofit/>
          </a:bodyPr>
          <a:lstStyle/>
          <a:p>
            <a:pPr algn="l"/>
            <a:r>
              <a:rPr sz="3400" b="0" i="0">
                <a:solidFill>
                  <a:srgbClr val="0A2240"/>
                </a:solidFill>
                <a:latin typeface="Arial"/>
              </a:rPr>
              <a:t>Open the file</a:t>
            </a:r>
          </a:p>
        </p:txBody>
      </p:sp>
      <p:sp>
        <p:nvSpPr>
          <p:cNvPr id="7" name="TextBox 6"/>
          <p:cNvSpPr txBox="1"/>
          <p:nvPr/>
        </p:nvSpPr>
        <p:spPr>
          <a:xfrm>
            <a:off x="457200" y="3517391"/>
            <a:ext cx="6058732" cy="847344"/>
          </a:xfrm>
          <a:prstGeom prst="rect">
            <a:avLst/>
          </a:prstGeom>
          <a:noFill/>
        </p:spPr>
        <p:txBody>
          <a:bodyPr wrap="none" lIns="0" rIns="0">
            <a:noAutofit/>
          </a:bodyPr>
          <a:lstStyle/>
          <a:p>
            <a:pPr algn="l"/>
            <a:r>
              <a:rPr sz="3400" b="0" i="0">
                <a:solidFill>
                  <a:srgbClr val="0A2240"/>
                </a:solidFill>
                <a:latin typeface="Arial"/>
              </a:rPr>
              <a:t>Hides the hard part</a:t>
            </a:r>
          </a:p>
        </p:txBody>
      </p:sp>
      <p:sp>
        <p:nvSpPr>
          <p:cNvPr id="8" name="TextBox 7"/>
          <p:cNvSpPr txBox="1"/>
          <p:nvPr/>
        </p:nvSpPr>
        <p:spPr>
          <a:xfrm>
            <a:off x="6233160" y="3517391"/>
            <a:ext cx="5958840" cy="847344"/>
          </a:xfrm>
          <a:prstGeom prst="rect">
            <a:avLst/>
          </a:prstGeom>
          <a:noFill/>
        </p:spPr>
        <p:txBody>
          <a:bodyPr wrap="none" lIns="0" rIns="0">
            <a:noAutofit/>
          </a:bodyPr>
          <a:lstStyle/>
          <a:p>
            <a:pPr algn="l"/>
            <a:r>
              <a:rPr sz="3400" b="0" i="0">
                <a:solidFill>
                  <a:srgbClr val="0A2240"/>
                </a:solidFill>
                <a:latin typeface="Arial"/>
              </a:rPr>
              <a:t>Twenty trivial boxes</a:t>
            </a:r>
          </a:p>
        </p:txBody>
      </p:sp>
      <p:sp>
        <p:nvSpPr>
          <p:cNvPr id="9" name="TextBox 8"/>
          <p:cNvSpPr txBox="1"/>
          <p:nvPr/>
        </p:nvSpPr>
        <p:spPr>
          <a:xfrm>
            <a:off x="457200" y="4639055"/>
            <a:ext cx="6328608" cy="847344"/>
          </a:xfrm>
          <a:prstGeom prst="rect">
            <a:avLst/>
          </a:prstGeom>
          <a:noFill/>
        </p:spPr>
        <p:txBody>
          <a:bodyPr wrap="none" lIns="0" rIns="0">
            <a:noAutofit/>
          </a:bodyPr>
          <a:lstStyle/>
          <a:p>
            <a:pPr algn="l"/>
            <a:r>
              <a:rPr sz="3400" b="0" i="0">
                <a:solidFill>
                  <a:srgbClr val="0A2240"/>
                </a:solidFill>
                <a:latin typeface="Arial"/>
              </a:rPr>
              <a:t>Cannot be assigned</a:t>
            </a:r>
          </a:p>
        </p:txBody>
      </p:sp>
      <p:sp>
        <p:nvSpPr>
          <p:cNvPr id="10" name="TextBox 9"/>
          <p:cNvSpPr txBox="1"/>
          <p:nvPr/>
        </p:nvSpPr>
        <p:spPr>
          <a:xfrm>
            <a:off x="6233160" y="4639055"/>
            <a:ext cx="5501640" cy="847344"/>
          </a:xfrm>
          <a:prstGeom prst="rect">
            <a:avLst/>
          </a:prstGeom>
          <a:noFill/>
        </p:spPr>
        <p:txBody>
          <a:bodyPr wrap="none" lIns="0" rIns="0">
            <a:noAutofit/>
          </a:bodyPr>
          <a:lstStyle/>
          <a:p>
            <a:pPr algn="l"/>
            <a:r>
              <a:rPr sz="3400" b="0" i="0">
                <a:solidFill>
                  <a:srgbClr val="0A2240"/>
                </a:solidFill>
                <a:latin typeface="Arial"/>
              </a:rPr>
              <a:t>Noise, not a map</a:t>
            </a:r>
          </a:p>
        </p:txBody>
      </p:sp>
      <p:sp>
        <p:nvSpPr>
          <p:cNvPr id="11" name="TextBox 10"/>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Prompt to Decompose</a:t>
            </a:r>
          </a:p>
        </p:txBody>
      </p:sp>
      <p:sp>
        <p:nvSpPr>
          <p:cNvPr id="6" name="TextBox 5"/>
          <p:cNvSpPr txBox="1"/>
          <p:nvPr/>
        </p:nvSpPr>
        <p:spPr>
          <a:xfrm>
            <a:off x="457200" y="1837944"/>
            <a:ext cx="4214475" cy="518159"/>
          </a:xfrm>
          <a:prstGeom prst="rect">
            <a:avLst/>
          </a:prstGeom>
          <a:noFill/>
        </p:spPr>
        <p:txBody>
          <a:bodyPr wrap="none" lIns="0" rIns="0">
            <a:noAutofit/>
          </a:bodyPr>
          <a:lstStyle/>
          <a:p>
            <a:pPr algn="l"/>
            <a:r>
              <a:rPr sz="3400" b="0" i="0">
                <a:solidFill>
                  <a:srgbClr val="FFFFFF"/>
                </a:solidFill>
                <a:latin typeface="Arial"/>
              </a:rPr>
              <a:t>Our problem:</a:t>
            </a:r>
          </a:p>
        </p:txBody>
      </p:sp>
      <p:sp>
        <p:nvSpPr>
          <p:cNvPr id="7" name="TextBox 6"/>
          <p:cNvSpPr txBox="1"/>
          <p:nvPr/>
        </p:nvSpPr>
        <p:spPr>
          <a:xfrm>
            <a:off x="457200" y="2356103"/>
            <a:ext cx="8700809" cy="518159"/>
          </a:xfrm>
          <a:prstGeom prst="rect">
            <a:avLst/>
          </a:prstGeom>
          <a:noFill/>
        </p:spPr>
        <p:txBody>
          <a:bodyPr wrap="none" lIns="0" rIns="0">
            <a:noAutofit/>
          </a:bodyPr>
          <a:lstStyle/>
          <a:p>
            <a:pPr algn="l"/>
            <a:r>
              <a:rPr sz="3400" b="0" i="0">
                <a:solidFill>
                  <a:srgbClr val="FFFFFF"/>
                </a:solidFill>
                <a:latin typeface="Arial"/>
              </a:rPr>
              <a:t>"&lt;paste the 1.1 statement&gt;"</a:t>
            </a:r>
          </a:p>
        </p:txBody>
      </p:sp>
      <p:sp>
        <p:nvSpPr>
          <p:cNvPr id="8" name="TextBox 7"/>
          <p:cNvSpPr txBox="1"/>
          <p:nvPr/>
        </p:nvSpPr>
        <p:spPr>
          <a:xfrm>
            <a:off x="457200" y="3392421"/>
            <a:ext cx="6593424" cy="518159"/>
          </a:xfrm>
          <a:prstGeom prst="rect">
            <a:avLst/>
          </a:prstGeom>
          <a:noFill/>
        </p:spPr>
        <p:txBody>
          <a:bodyPr wrap="none" lIns="0" rIns="0">
            <a:noAutofit/>
          </a:bodyPr>
          <a:lstStyle/>
          <a:p>
            <a:pPr algn="l"/>
            <a:r>
              <a:rPr sz="3400" b="0" i="0">
                <a:solidFill>
                  <a:srgbClr val="FFFFFF"/>
                </a:solidFill>
                <a:latin typeface="Arial"/>
              </a:rPr>
              <a:t>Work BACKWARDS </a:t>
            </a:r>
          </a:p>
        </p:txBody>
      </p:sp>
      <p:sp>
        <p:nvSpPr>
          <p:cNvPr id="9" name="TextBox 8"/>
          <p:cNvSpPr txBox="1"/>
          <p:nvPr/>
        </p:nvSpPr>
        <p:spPr>
          <a:xfrm>
            <a:off x="4463790" y="3392421"/>
            <a:ext cx="1564640" cy="518159"/>
          </a:xfrm>
          <a:prstGeom prst="rect">
            <a:avLst/>
          </a:prstGeom>
          <a:noFill/>
        </p:spPr>
        <p:txBody>
          <a:bodyPr wrap="none" lIns="0" rIns="0">
            <a:noAutofit/>
          </a:bodyPr>
          <a:lstStyle/>
          <a:p>
            <a:pPr algn="l"/>
            <a:r>
              <a:rPr sz="3400" b="0" i="0">
                <a:solidFill>
                  <a:srgbClr val="569CD6"/>
                </a:solidFill>
                <a:latin typeface="Arial"/>
              </a:rPr>
              <a:t>from</a:t>
            </a:r>
          </a:p>
        </p:txBody>
      </p:sp>
      <p:sp>
        <p:nvSpPr>
          <p:cNvPr id="10" name="TextBox 9"/>
          <p:cNvSpPr txBox="1"/>
          <p:nvPr/>
        </p:nvSpPr>
        <p:spPr>
          <a:xfrm>
            <a:off x="5327390" y="3392421"/>
            <a:ext cx="3639979" cy="518159"/>
          </a:xfrm>
          <a:prstGeom prst="rect">
            <a:avLst/>
          </a:prstGeom>
          <a:noFill/>
        </p:spPr>
        <p:txBody>
          <a:bodyPr wrap="none" lIns="0" rIns="0">
            <a:noAutofit/>
          </a:bodyPr>
          <a:lstStyle/>
          <a:p>
            <a:pPr algn="l"/>
            <a:r>
              <a:rPr sz="3400" b="0" i="0">
                <a:solidFill>
                  <a:srgbClr val="FFFFFF"/>
                </a:solidFill>
                <a:latin typeface="Arial"/>
              </a:rPr>
              <a:t> the output.</a:t>
            </a:r>
          </a:p>
        </p:txBody>
      </p:sp>
      <p:sp>
        <p:nvSpPr>
          <p:cNvPr id="11" name="TextBox 10"/>
          <p:cNvSpPr txBox="1"/>
          <p:nvPr/>
        </p:nvSpPr>
        <p:spPr>
          <a:xfrm>
            <a:off x="457200" y="3910580"/>
            <a:ext cx="6327596" cy="518159"/>
          </a:xfrm>
          <a:prstGeom prst="rect">
            <a:avLst/>
          </a:prstGeom>
          <a:noFill/>
        </p:spPr>
        <p:txBody>
          <a:bodyPr wrap="none" lIns="0" rIns="0">
            <a:noAutofit/>
          </a:bodyPr>
          <a:lstStyle/>
          <a:p>
            <a:pPr algn="l"/>
            <a:r>
              <a:rPr sz="3400" b="0" i="0">
                <a:solidFill>
                  <a:srgbClr val="FFFFFF"/>
                </a:solidFill>
                <a:latin typeface="Arial"/>
              </a:rPr>
              <a:t>List the steps, each </a:t>
            </a:r>
          </a:p>
        </p:txBody>
      </p:sp>
      <p:sp>
        <p:nvSpPr>
          <p:cNvPr id="12" name="TextBox 11"/>
          <p:cNvSpPr txBox="1"/>
          <p:nvPr/>
        </p:nvSpPr>
        <p:spPr>
          <a:xfrm>
            <a:off x="4297648" y="3910580"/>
            <a:ext cx="1411486" cy="518159"/>
          </a:xfrm>
          <a:prstGeom prst="rect">
            <a:avLst/>
          </a:prstGeom>
          <a:noFill/>
        </p:spPr>
        <p:txBody>
          <a:bodyPr wrap="none" lIns="0" rIns="0">
            <a:noAutofit/>
          </a:bodyPr>
          <a:lstStyle/>
          <a:p>
            <a:pPr algn="l"/>
            <a:r>
              <a:rPr sz="3400" b="0" i="0">
                <a:solidFill>
                  <a:srgbClr val="569CD6"/>
                </a:solidFill>
                <a:latin typeface="Arial"/>
              </a:rPr>
              <a:t>with</a:t>
            </a:r>
          </a:p>
        </p:txBody>
      </p:sp>
      <p:sp>
        <p:nvSpPr>
          <p:cNvPr id="13" name="TextBox 12"/>
          <p:cNvSpPr txBox="1"/>
          <p:nvPr/>
        </p:nvSpPr>
        <p:spPr>
          <a:xfrm>
            <a:off x="5065526" y="3910580"/>
            <a:ext cx="1065708" cy="518159"/>
          </a:xfrm>
          <a:prstGeom prst="rect">
            <a:avLst/>
          </a:prstGeom>
          <a:noFill/>
        </p:spPr>
        <p:txBody>
          <a:bodyPr wrap="none" lIns="0" rIns="0">
            <a:noAutofit/>
          </a:bodyPr>
          <a:lstStyle/>
          <a:p>
            <a:pPr algn="l"/>
            <a:r>
              <a:rPr sz="3400" b="0" i="0">
                <a:solidFill>
                  <a:srgbClr val="FFFFFF"/>
                </a:solidFill>
                <a:latin typeface="Arial"/>
              </a:rPr>
              <a:t> its</a:t>
            </a:r>
          </a:p>
        </p:txBody>
      </p:sp>
      <p:sp>
        <p:nvSpPr>
          <p:cNvPr id="14" name="TextBox 13"/>
          <p:cNvSpPr txBox="1"/>
          <p:nvPr/>
        </p:nvSpPr>
        <p:spPr>
          <a:xfrm>
            <a:off x="457200" y="4428739"/>
            <a:ext cx="1872972" cy="518159"/>
          </a:xfrm>
          <a:prstGeom prst="rect">
            <a:avLst/>
          </a:prstGeom>
          <a:noFill/>
        </p:spPr>
        <p:txBody>
          <a:bodyPr wrap="none" lIns="0" rIns="0">
            <a:noAutofit/>
          </a:bodyPr>
          <a:lstStyle/>
          <a:p>
            <a:pPr algn="l"/>
            <a:r>
              <a:rPr sz="3400" b="0" i="0">
                <a:solidFill>
                  <a:srgbClr val="FFFFFF"/>
                </a:solidFill>
                <a:latin typeface="Arial"/>
              </a:rPr>
              <a:t>input </a:t>
            </a:r>
          </a:p>
        </p:txBody>
      </p:sp>
      <p:sp>
        <p:nvSpPr>
          <p:cNvPr id="15" name="TextBox 14"/>
          <p:cNvSpPr txBox="1"/>
          <p:nvPr/>
        </p:nvSpPr>
        <p:spPr>
          <a:xfrm>
            <a:off x="1513508" y="4428739"/>
            <a:ext cx="1335584" cy="518159"/>
          </a:xfrm>
          <a:prstGeom prst="rect">
            <a:avLst/>
          </a:prstGeom>
          <a:noFill/>
        </p:spPr>
        <p:txBody>
          <a:bodyPr wrap="none" lIns="0" rIns="0">
            <a:noAutofit/>
          </a:bodyPr>
          <a:lstStyle/>
          <a:p>
            <a:pPr algn="l"/>
            <a:r>
              <a:rPr sz="3400" b="0" i="0">
                <a:solidFill>
                  <a:srgbClr val="569CD6"/>
                </a:solidFill>
                <a:latin typeface="Arial"/>
              </a:rPr>
              <a:t>and</a:t>
            </a:r>
          </a:p>
        </p:txBody>
      </p:sp>
      <p:sp>
        <p:nvSpPr>
          <p:cNvPr id="16" name="TextBox 15"/>
          <p:cNvSpPr txBox="1"/>
          <p:nvPr/>
        </p:nvSpPr>
        <p:spPr>
          <a:xfrm>
            <a:off x="2233947" y="4428739"/>
            <a:ext cx="2487612" cy="518159"/>
          </a:xfrm>
          <a:prstGeom prst="rect">
            <a:avLst/>
          </a:prstGeom>
          <a:noFill/>
        </p:spPr>
        <p:txBody>
          <a:bodyPr wrap="none" lIns="0" rIns="0">
            <a:noAutofit/>
          </a:bodyPr>
          <a:lstStyle/>
          <a:p>
            <a:pPr algn="l"/>
            <a:r>
              <a:rPr sz="3400" b="0" i="0">
                <a:solidFill>
                  <a:srgbClr val="FFFFFF"/>
                </a:solidFill>
                <a:latin typeface="Arial"/>
              </a:rPr>
              <a:t> output.</a:t>
            </a:r>
          </a:p>
        </p:txBody>
      </p:sp>
      <p:sp>
        <p:nvSpPr>
          <p:cNvPr id="17" name="TextBox 16"/>
          <p:cNvSpPr txBox="1"/>
          <p:nvPr/>
        </p:nvSpPr>
        <p:spPr>
          <a:xfrm>
            <a:off x="457200" y="4946898"/>
            <a:ext cx="9477038" cy="518159"/>
          </a:xfrm>
          <a:prstGeom prst="rect">
            <a:avLst/>
          </a:prstGeom>
          <a:noFill/>
        </p:spPr>
        <p:txBody>
          <a:bodyPr wrap="none" lIns="0" rIns="0">
            <a:noAutofit/>
          </a:bodyPr>
          <a:lstStyle/>
          <a:p>
            <a:pPr algn="l"/>
            <a:r>
              <a:rPr sz="3400" b="0" i="0">
                <a:solidFill>
                  <a:srgbClr val="FFFFFF"/>
                </a:solidFill>
                <a:latin typeface="Arial"/>
              </a:rPr>
              <a:t>Stop at the raw input we have.</a:t>
            </a:r>
          </a:p>
        </p:txBody>
      </p:sp>
      <p:sp>
        <p:nvSpPr>
          <p:cNvPr id="18" name="TextBox 17"/>
          <p:cNvSpPr txBox="1"/>
          <p:nvPr/>
        </p:nvSpPr>
        <p:spPr>
          <a:xfrm>
            <a:off x="457200" y="5465057"/>
            <a:ext cx="7248545" cy="518159"/>
          </a:xfrm>
          <a:prstGeom prst="rect">
            <a:avLst/>
          </a:prstGeom>
          <a:noFill/>
        </p:spPr>
        <p:txBody>
          <a:bodyPr wrap="none" lIns="0" rIns="0">
            <a:noAutofit/>
          </a:bodyPr>
          <a:lstStyle/>
          <a:p>
            <a:pPr algn="l"/>
            <a:r>
              <a:rPr sz="3400" b="0" i="0">
                <a:solidFill>
                  <a:srgbClr val="FFFFFF"/>
                </a:solidFill>
                <a:latin typeface="Arial"/>
              </a:rPr>
              <a:t>5-9 steps. No tools yet.</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 Worked Example</a:t>
            </a:r>
          </a:p>
        </p:txBody>
      </p:sp>
      <p:sp>
        <p:nvSpPr>
          <p:cNvPr id="3" name="TextBox 2"/>
          <p:cNvSpPr txBox="1"/>
          <p:nvPr/>
        </p:nvSpPr>
        <p:spPr>
          <a:xfrm>
            <a:off x="457200" y="1499616"/>
            <a:ext cx="2613660"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Rectangle 3"/>
          <p:cNvSpPr/>
          <p:nvPr/>
        </p:nvSpPr>
        <p:spPr>
          <a:xfrm>
            <a:off x="45720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14016"/>
            <a:ext cx="2613660" cy="518159"/>
          </a:xfrm>
          <a:prstGeom prst="rect">
            <a:avLst/>
          </a:prstGeom>
          <a:noFill/>
        </p:spPr>
        <p:txBody>
          <a:bodyPr wrap="none" lIns="0" rIns="0">
            <a:noAutofit/>
          </a:bodyPr>
          <a:lstStyle/>
          <a:p>
            <a:pPr algn="l"/>
            <a:r>
              <a:rPr sz="3400" b="1" i="0">
                <a:solidFill>
                  <a:srgbClr val="0072CE"/>
                </a:solidFill>
                <a:latin typeface="Arial"/>
              </a:rPr>
              <a:t>Intake</a:t>
            </a:r>
          </a:p>
        </p:txBody>
      </p:sp>
      <p:sp>
        <p:nvSpPr>
          <p:cNvPr id="6" name="TextBox 5"/>
          <p:cNvSpPr txBox="1"/>
          <p:nvPr/>
        </p:nvSpPr>
        <p:spPr>
          <a:xfrm>
            <a:off x="457200" y="3041903"/>
            <a:ext cx="2613660" cy="2718817"/>
          </a:xfrm>
          <a:prstGeom prst="rect">
            <a:avLst/>
          </a:prstGeom>
          <a:noFill/>
        </p:spPr>
        <p:txBody>
          <a:bodyPr wrap="square" lIns="0" rIns="0">
            <a:noAutofit/>
          </a:bodyPr>
          <a:lstStyle/>
          <a:p>
            <a:pPr algn="l"/>
            <a:r>
              <a:rPr sz="3400" b="0" i="0">
                <a:solidFill>
                  <a:srgbClr val="0A2240"/>
                </a:solidFill>
                <a:latin typeface="Arial"/>
              </a:rPr>
              <a:t>Resume files arrive</a:t>
            </a:r>
          </a:p>
        </p:txBody>
      </p:sp>
      <p:sp>
        <p:nvSpPr>
          <p:cNvPr id="7" name="TextBox 6"/>
          <p:cNvSpPr txBox="1"/>
          <p:nvPr/>
        </p:nvSpPr>
        <p:spPr>
          <a:xfrm>
            <a:off x="3345180" y="1499616"/>
            <a:ext cx="2613660"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8" name="Rectangle 7"/>
          <p:cNvSpPr/>
          <p:nvPr/>
        </p:nvSpPr>
        <p:spPr>
          <a:xfrm>
            <a:off x="334518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5180" y="2414016"/>
            <a:ext cx="2613660" cy="518159"/>
          </a:xfrm>
          <a:prstGeom prst="rect">
            <a:avLst/>
          </a:prstGeom>
          <a:noFill/>
        </p:spPr>
        <p:txBody>
          <a:bodyPr wrap="none" lIns="0" rIns="0">
            <a:noAutofit/>
          </a:bodyPr>
          <a:lstStyle/>
          <a:p>
            <a:pPr algn="l"/>
            <a:r>
              <a:rPr sz="3400" b="1" i="0">
                <a:solidFill>
                  <a:srgbClr val="0072CE"/>
                </a:solidFill>
                <a:latin typeface="Arial"/>
              </a:rPr>
              <a:t>Parse</a:t>
            </a:r>
          </a:p>
        </p:txBody>
      </p:sp>
      <p:sp>
        <p:nvSpPr>
          <p:cNvPr id="10" name="TextBox 9"/>
          <p:cNvSpPr txBox="1"/>
          <p:nvPr/>
        </p:nvSpPr>
        <p:spPr>
          <a:xfrm>
            <a:off x="3345180" y="3041903"/>
            <a:ext cx="2613660" cy="2718817"/>
          </a:xfrm>
          <a:prstGeom prst="rect">
            <a:avLst/>
          </a:prstGeom>
          <a:noFill/>
        </p:spPr>
        <p:txBody>
          <a:bodyPr wrap="square" lIns="0" rIns="0">
            <a:noAutofit/>
          </a:bodyPr>
          <a:lstStyle/>
          <a:p>
            <a:pPr algn="l"/>
            <a:r>
              <a:rPr sz="3400" b="0" i="0">
                <a:solidFill>
                  <a:srgbClr val="0A2240"/>
                </a:solidFill>
                <a:latin typeface="Arial"/>
              </a:rPr>
              <a:t>Text out of each file</a:t>
            </a:r>
          </a:p>
        </p:txBody>
      </p:sp>
      <p:sp>
        <p:nvSpPr>
          <p:cNvPr id="11" name="TextBox 10"/>
          <p:cNvSpPr txBox="1"/>
          <p:nvPr/>
        </p:nvSpPr>
        <p:spPr>
          <a:xfrm>
            <a:off x="6233160" y="1499616"/>
            <a:ext cx="2613660"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2" name="Rectangle 11"/>
          <p:cNvSpPr/>
          <p:nvPr/>
        </p:nvSpPr>
        <p:spPr>
          <a:xfrm>
            <a:off x="623316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160" y="2414016"/>
            <a:ext cx="2613660" cy="518159"/>
          </a:xfrm>
          <a:prstGeom prst="rect">
            <a:avLst/>
          </a:prstGeom>
          <a:noFill/>
        </p:spPr>
        <p:txBody>
          <a:bodyPr wrap="none" lIns="0" rIns="0">
            <a:noAutofit/>
          </a:bodyPr>
          <a:lstStyle/>
          <a:p>
            <a:pPr algn="l"/>
            <a:r>
              <a:rPr sz="3400" b="1" i="0">
                <a:solidFill>
                  <a:srgbClr val="0072CE"/>
                </a:solidFill>
                <a:latin typeface="Arial"/>
              </a:rPr>
              <a:t>Score</a:t>
            </a:r>
          </a:p>
        </p:txBody>
      </p:sp>
      <p:sp>
        <p:nvSpPr>
          <p:cNvPr id="14" name="TextBox 13"/>
          <p:cNvSpPr txBox="1"/>
          <p:nvPr/>
        </p:nvSpPr>
        <p:spPr>
          <a:xfrm>
            <a:off x="6233160" y="3041903"/>
            <a:ext cx="2613660" cy="2718817"/>
          </a:xfrm>
          <a:prstGeom prst="rect">
            <a:avLst/>
          </a:prstGeom>
          <a:noFill/>
        </p:spPr>
        <p:txBody>
          <a:bodyPr wrap="square" lIns="0" rIns="0">
            <a:noAutofit/>
          </a:bodyPr>
          <a:lstStyle/>
          <a:p>
            <a:pPr algn="l"/>
            <a:r>
              <a:rPr sz="3400" b="0" i="0">
                <a:solidFill>
                  <a:srgbClr val="0A2240"/>
                </a:solidFill>
                <a:latin typeface="Arial"/>
              </a:rPr>
              <a:t>Match against the role</a:t>
            </a:r>
          </a:p>
        </p:txBody>
      </p:sp>
      <p:sp>
        <p:nvSpPr>
          <p:cNvPr id="15" name="TextBox 14"/>
          <p:cNvSpPr txBox="1"/>
          <p:nvPr/>
        </p:nvSpPr>
        <p:spPr>
          <a:xfrm>
            <a:off x="9121140" y="1499616"/>
            <a:ext cx="2613660" cy="640080"/>
          </a:xfrm>
          <a:prstGeom prst="rect">
            <a:avLst/>
          </a:prstGeom>
          <a:noFill/>
        </p:spPr>
        <p:txBody>
          <a:bodyPr wrap="none" lIns="0" rIns="0">
            <a:noAutofit/>
          </a:bodyPr>
          <a:lstStyle/>
          <a:p>
            <a:pPr algn="l"/>
            <a:r>
              <a:rPr sz="4200" b="1" i="0">
                <a:solidFill>
                  <a:srgbClr val="0072CE"/>
                </a:solidFill>
                <a:latin typeface="Arial"/>
              </a:rPr>
              <a:t>04</a:t>
            </a:r>
          </a:p>
        </p:txBody>
      </p:sp>
      <p:sp>
        <p:nvSpPr>
          <p:cNvPr id="16" name="Rectangle 15"/>
          <p:cNvSpPr/>
          <p:nvPr/>
        </p:nvSpPr>
        <p:spPr>
          <a:xfrm>
            <a:off x="9121140" y="2194560"/>
            <a:ext cx="59330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21140" y="2414016"/>
            <a:ext cx="2613660" cy="518159"/>
          </a:xfrm>
          <a:prstGeom prst="rect">
            <a:avLst/>
          </a:prstGeom>
          <a:noFill/>
        </p:spPr>
        <p:txBody>
          <a:bodyPr wrap="none" lIns="0" rIns="0">
            <a:noAutofit/>
          </a:bodyPr>
          <a:lstStyle/>
          <a:p>
            <a:pPr algn="l"/>
            <a:r>
              <a:rPr sz="3400" b="1" i="0">
                <a:solidFill>
                  <a:srgbClr val="0072CE"/>
                </a:solidFill>
                <a:latin typeface="Arial"/>
              </a:rPr>
              <a:t>Report</a:t>
            </a:r>
          </a:p>
        </p:txBody>
      </p:sp>
      <p:sp>
        <p:nvSpPr>
          <p:cNvPr id="18" name="TextBox 17"/>
          <p:cNvSpPr txBox="1"/>
          <p:nvPr/>
        </p:nvSpPr>
        <p:spPr>
          <a:xfrm>
            <a:off x="9121140" y="3041903"/>
            <a:ext cx="2613660" cy="2718817"/>
          </a:xfrm>
          <a:prstGeom prst="rect">
            <a:avLst/>
          </a:prstGeom>
          <a:noFill/>
        </p:spPr>
        <p:txBody>
          <a:bodyPr wrap="square" lIns="0" rIns="0">
            <a:noAutofit/>
          </a:bodyPr>
          <a:lstStyle/>
          <a:p>
            <a:pPr algn="l"/>
            <a:r>
              <a:rPr sz="3400" b="0" i="0">
                <a:solidFill>
                  <a:srgbClr val="0A2240"/>
                </a:solidFill>
                <a:latin typeface="Arial"/>
              </a:rPr>
              <a:t>Ranked list with gaps</a:t>
            </a:r>
          </a:p>
        </p:txBody>
      </p:sp>
      <p:sp>
        <p:nvSpPr>
          <p:cNvPr id="19" name="TextBox 1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Common Decomposition Mistakes</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Starting after the messy part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One step doing three things</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No step for getting the data</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output nobody defined</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Linear or Branching</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072CE"/>
                </a:solidFill>
                <a:latin typeface="Arial"/>
              </a:rPr>
              <a:t>Linear</a:t>
            </a:r>
          </a:p>
        </p:txBody>
      </p:sp>
      <p:sp>
        <p:nvSpPr>
          <p:cNvPr id="4" name="Rectangle 3"/>
          <p:cNvSpPr/>
          <p:nvPr/>
        </p:nvSpPr>
        <p:spPr>
          <a:xfrm>
            <a:off x="457200" y="2176271"/>
            <a:ext cx="129582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A2240"/>
                </a:solidFill>
                <a:latin typeface="Arial"/>
              </a:rPr>
              <a:t>Branching</a:t>
            </a:r>
          </a:p>
        </p:txBody>
      </p:sp>
      <p:sp>
        <p:nvSpPr>
          <p:cNvPr id="6" name="Rectangle 5"/>
          <p:cNvSpPr/>
          <p:nvPr/>
        </p:nvSpPr>
        <p:spPr>
          <a:xfrm>
            <a:off x="6233160" y="2176271"/>
            <a:ext cx="2135175"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6673710" cy="609600"/>
          </a:xfrm>
          <a:prstGeom prst="rect">
            <a:avLst/>
          </a:prstGeom>
          <a:noFill/>
        </p:spPr>
        <p:txBody>
          <a:bodyPr wrap="none" lIns="0" rIns="0">
            <a:noAutofit/>
          </a:bodyPr>
          <a:lstStyle/>
          <a:p>
            <a:pPr algn="l"/>
            <a:r>
              <a:rPr sz="3400" b="0" i="0">
                <a:solidFill>
                  <a:srgbClr val="0A2240"/>
                </a:solidFill>
                <a:latin typeface="Arial"/>
              </a:rPr>
              <a:t>One path start to end</a:t>
            </a:r>
          </a:p>
        </p:txBody>
      </p:sp>
      <p:sp>
        <p:nvSpPr>
          <p:cNvPr id="8" name="TextBox 7"/>
          <p:cNvSpPr txBox="1"/>
          <p:nvPr/>
        </p:nvSpPr>
        <p:spPr>
          <a:xfrm>
            <a:off x="457200" y="3608831"/>
            <a:ext cx="5501640" cy="609600"/>
          </a:xfrm>
          <a:prstGeom prst="rect">
            <a:avLst/>
          </a:prstGeom>
          <a:noFill/>
        </p:spPr>
        <p:txBody>
          <a:bodyPr wrap="none" lIns="0" rIns="0">
            <a:noAutofit/>
          </a:bodyPr>
          <a:lstStyle/>
          <a:p>
            <a:pPr algn="l"/>
            <a:r>
              <a:rPr sz="3400" b="0" i="0">
                <a:solidFill>
                  <a:srgbClr val="0A2240"/>
                </a:solidFill>
                <a:latin typeface="Arial"/>
              </a:rPr>
              <a:t>Easy to demo</a:t>
            </a:r>
          </a:p>
        </p:txBody>
      </p:sp>
      <p:sp>
        <p:nvSpPr>
          <p:cNvPr id="9" name="TextBox 8"/>
          <p:cNvSpPr txBox="1"/>
          <p:nvPr/>
        </p:nvSpPr>
        <p:spPr>
          <a:xfrm>
            <a:off x="457200" y="4821935"/>
            <a:ext cx="5750064" cy="609600"/>
          </a:xfrm>
          <a:prstGeom prst="rect">
            <a:avLst/>
          </a:prstGeom>
          <a:noFill/>
        </p:spPr>
        <p:txBody>
          <a:bodyPr wrap="none" lIns="0" rIns="0">
            <a:noAutofit/>
          </a:bodyPr>
          <a:lstStyle/>
          <a:p>
            <a:pPr algn="l"/>
            <a:r>
              <a:rPr sz="3400" b="0" i="0">
                <a:solidFill>
                  <a:srgbClr val="0A2240"/>
                </a:solidFill>
                <a:latin typeface="Arial"/>
              </a:rPr>
              <a:t>Pick this for Day 2</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Cases split the path</a:t>
            </a:r>
          </a:p>
        </p:txBody>
      </p:sp>
      <p:sp>
        <p:nvSpPr>
          <p:cNvPr id="11" name="TextBox 10"/>
          <p:cNvSpPr txBox="1"/>
          <p:nvPr/>
        </p:nvSpPr>
        <p:spPr>
          <a:xfrm>
            <a:off x="6233160" y="3608831"/>
            <a:ext cx="5501640" cy="609600"/>
          </a:xfrm>
          <a:prstGeom prst="rect">
            <a:avLst/>
          </a:prstGeom>
          <a:noFill/>
        </p:spPr>
        <p:txBody>
          <a:bodyPr wrap="none" lIns="0" rIns="0">
            <a:noAutofit/>
          </a:bodyPr>
          <a:lstStyle/>
          <a:p>
            <a:pPr algn="l"/>
            <a:r>
              <a:rPr sz="3400" b="0" i="0">
                <a:solidFill>
                  <a:srgbClr val="0A2240"/>
                </a:solidFill>
                <a:latin typeface="Arial"/>
              </a:rPr>
              <a:t>Harder to finish</a:t>
            </a:r>
          </a:p>
        </p:txBody>
      </p:sp>
      <p:sp>
        <p:nvSpPr>
          <p:cNvPr id="12" name="TextBox 11"/>
          <p:cNvSpPr txBox="1"/>
          <p:nvPr/>
        </p:nvSpPr>
        <p:spPr>
          <a:xfrm>
            <a:off x="6233160" y="4821935"/>
            <a:ext cx="5501640" cy="609600"/>
          </a:xfrm>
          <a:prstGeom prst="rect">
            <a:avLst/>
          </a:prstGeom>
          <a:noFill/>
        </p:spPr>
        <p:txBody>
          <a:bodyPr wrap="none" lIns="0" rIns="0">
            <a:noAutofit/>
          </a:bodyPr>
          <a:lstStyle/>
          <a:p>
            <a:pPr algn="l"/>
            <a:r>
              <a:rPr sz="3400" b="0" i="0">
                <a:solidFill>
                  <a:srgbClr val="0A2240"/>
                </a:solidFill>
                <a:latin typeface="Arial"/>
              </a:rPr>
              <a:t>Note it, defer it</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The happy path</a:t>
            </a:r>
          </a:p>
        </p:txBody>
      </p:sp>
      <p:sp>
        <p:nvSpPr>
          <p:cNvPr id="4" name="TextBox 3"/>
          <p:cNvSpPr txBox="1"/>
          <p:nvPr/>
        </p:nvSpPr>
        <p:spPr>
          <a:xfrm>
            <a:off x="996696" y="3764280"/>
            <a:ext cx="10738104" cy="609600"/>
          </a:xfrm>
          <a:prstGeom prst="rect">
            <a:avLst/>
          </a:prstGeom>
          <a:noFill/>
        </p:spPr>
        <p:txBody>
          <a:bodyPr wrap="none" lIns="0" rIns="0">
            <a:noAutofit/>
          </a:bodyPr>
          <a:lstStyle/>
          <a:p>
            <a:pPr algn="l"/>
            <a:r>
              <a:rPr sz="3400" b="0" i="0">
                <a:solidFill>
                  <a:srgbClr val="0A2240"/>
                </a:solidFill>
                <a:latin typeface="Arial"/>
              </a:rPr>
              <a:t>The one route where nothing fails.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Mark the Happy Path</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One line through the map</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Every branch labelled later</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Edge cases listed, not built</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621280"/>
            <a:ext cx="128016" cy="161544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621280"/>
            <a:ext cx="11195304" cy="731520"/>
          </a:xfrm>
          <a:prstGeom prst="rect">
            <a:avLst/>
          </a:prstGeom>
          <a:noFill/>
        </p:spPr>
        <p:txBody>
          <a:bodyPr wrap="none" lIns="0" rIns="0">
            <a:noAutofit/>
          </a:bodyPr>
          <a:lstStyle/>
          <a:p>
            <a:pPr algn="l"/>
            <a:r>
              <a:rPr sz="4200" b="1" i="0">
                <a:solidFill>
                  <a:srgbClr val="0A2240"/>
                </a:solidFill>
                <a:latin typeface="Arial"/>
              </a:rPr>
              <a:t>"A gap in the map is a gap in Day 2."</a:t>
            </a:r>
          </a:p>
        </p:txBody>
      </p:sp>
      <p:sp>
        <p:nvSpPr>
          <p:cNvPr id="4" name="TextBox 3"/>
          <p:cNvSpPr txBox="1"/>
          <p:nvPr/>
        </p:nvSpPr>
        <p:spPr>
          <a:xfrm>
            <a:off x="996696" y="3627120"/>
            <a:ext cx="10738104" cy="609600"/>
          </a:xfrm>
          <a:prstGeom prst="rect">
            <a:avLst/>
          </a:prstGeom>
          <a:noFill/>
        </p:spPr>
        <p:txBody>
          <a:bodyPr wrap="none" lIns="0" rIns="0">
            <a:noAutofit/>
          </a:bodyPr>
          <a:lstStyle/>
          <a:p>
            <a:pPr algn="l"/>
            <a:r>
              <a:rPr sz="3400" b="0" i="0">
                <a:solidFill>
                  <a:srgbClr val="0A2240"/>
                </a:solidFill>
                <a:latin typeface="Arial"/>
              </a:rPr>
              <a:t>- Why the middle matters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02</a:t>
            </a:r>
          </a:p>
        </p:txBody>
      </p:sp>
      <p:sp>
        <p:nvSpPr>
          <p:cNvPr id="4" name="TextBox 3"/>
          <p:cNvSpPr txBox="1"/>
          <p:nvPr/>
        </p:nvSpPr>
        <p:spPr>
          <a:xfrm>
            <a:off x="996696" y="3063240"/>
            <a:ext cx="10738104" cy="731520"/>
          </a:xfrm>
          <a:prstGeom prst="rect">
            <a:avLst/>
          </a:prstGeom>
          <a:noFill/>
        </p:spPr>
        <p:txBody>
          <a:bodyPr wrap="none" lIns="0" rIns="0">
            <a:noAutofit/>
          </a:bodyPr>
          <a:lstStyle/>
          <a:p>
            <a:pPr algn="l"/>
            <a:r>
              <a:rPr sz="4200" b="1" i="0">
                <a:solidFill>
                  <a:srgbClr val="0072CE"/>
                </a:solidFill>
                <a:latin typeface="Arial"/>
              </a:rPr>
              <a:t>Make It an Artifact</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Claude Artifact</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Standalone content Claude builds, shared by link.</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Described or Drawn</a:t>
            </a:r>
          </a:p>
        </p:txBody>
      </p:sp>
      <p:sp>
        <p:nvSpPr>
          <p:cNvPr id="3" name="TextBox 2"/>
          <p:cNvSpPr txBox="1"/>
          <p:nvPr/>
        </p:nvSpPr>
        <p:spPr>
          <a:xfrm>
            <a:off x="457200" y="1499616"/>
            <a:ext cx="5501640" cy="621791"/>
          </a:xfrm>
          <a:prstGeom prst="rect">
            <a:avLst/>
          </a:prstGeom>
          <a:noFill/>
        </p:spPr>
        <p:txBody>
          <a:bodyPr wrap="none" lIns="0" rIns="0">
            <a:noAutofit/>
          </a:bodyPr>
          <a:lstStyle/>
          <a:p>
            <a:pPr algn="l"/>
            <a:r>
              <a:rPr sz="3400" b="1" i="0">
                <a:solidFill>
                  <a:srgbClr val="0A2240"/>
                </a:solidFill>
                <a:latin typeface="Arial"/>
              </a:rPr>
              <a:t>Described</a:t>
            </a:r>
          </a:p>
        </p:txBody>
      </p:sp>
      <p:sp>
        <p:nvSpPr>
          <p:cNvPr id="4" name="Rectangle 3"/>
          <p:cNvSpPr/>
          <p:nvPr/>
        </p:nvSpPr>
        <p:spPr>
          <a:xfrm>
            <a:off x="457200" y="2176271"/>
            <a:ext cx="2087947" cy="54864"/>
          </a:xfrm>
          <a:prstGeom prst="rect">
            <a:avLst/>
          </a:prstGeom>
          <a:solidFill>
            <a:srgbClr val="0A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160" y="1499616"/>
            <a:ext cx="5501640" cy="621791"/>
          </a:xfrm>
          <a:prstGeom prst="rect">
            <a:avLst/>
          </a:prstGeom>
          <a:noFill/>
        </p:spPr>
        <p:txBody>
          <a:bodyPr wrap="none" lIns="0" rIns="0">
            <a:noAutofit/>
          </a:bodyPr>
          <a:lstStyle/>
          <a:p>
            <a:pPr algn="l"/>
            <a:r>
              <a:rPr sz="3400" b="1" i="0">
                <a:solidFill>
                  <a:srgbClr val="0072CE"/>
                </a:solidFill>
                <a:latin typeface="Arial"/>
              </a:rPr>
              <a:t>Drawn</a:t>
            </a:r>
          </a:p>
        </p:txBody>
      </p:sp>
      <p:sp>
        <p:nvSpPr>
          <p:cNvPr id="6" name="Rectangle 5"/>
          <p:cNvSpPr/>
          <p:nvPr/>
        </p:nvSpPr>
        <p:spPr>
          <a:xfrm>
            <a:off x="6233160" y="2176271"/>
            <a:ext cx="1319647"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95727"/>
            <a:ext cx="6134635" cy="609600"/>
          </a:xfrm>
          <a:prstGeom prst="rect">
            <a:avLst/>
          </a:prstGeom>
          <a:noFill/>
        </p:spPr>
        <p:txBody>
          <a:bodyPr wrap="none" lIns="0" rIns="0">
            <a:noAutofit/>
          </a:bodyPr>
          <a:lstStyle/>
          <a:p>
            <a:pPr algn="l"/>
            <a:r>
              <a:rPr sz="3400" b="0" i="0">
                <a:solidFill>
                  <a:srgbClr val="0A2240"/>
                </a:solidFill>
                <a:latin typeface="Arial"/>
              </a:rPr>
              <a:t>Lives in a transcript</a:t>
            </a:r>
          </a:p>
        </p:txBody>
      </p:sp>
      <p:sp>
        <p:nvSpPr>
          <p:cNvPr id="8" name="TextBox 7"/>
          <p:cNvSpPr txBox="1"/>
          <p:nvPr/>
        </p:nvSpPr>
        <p:spPr>
          <a:xfrm>
            <a:off x="457200" y="3608831"/>
            <a:ext cx="7210425" cy="609600"/>
          </a:xfrm>
          <a:prstGeom prst="rect">
            <a:avLst/>
          </a:prstGeom>
          <a:noFill/>
        </p:spPr>
        <p:txBody>
          <a:bodyPr wrap="none" lIns="0" rIns="0">
            <a:noAutofit/>
          </a:bodyPr>
          <a:lstStyle/>
          <a:p>
            <a:pPr algn="l"/>
            <a:r>
              <a:rPr sz="3400" b="0" i="0">
                <a:solidFill>
                  <a:srgbClr val="0A2240"/>
                </a:solidFill>
                <a:latin typeface="Arial"/>
              </a:rPr>
              <a:t>Each person pictures it</a:t>
            </a:r>
          </a:p>
        </p:txBody>
      </p:sp>
      <p:sp>
        <p:nvSpPr>
          <p:cNvPr id="9" name="TextBox 8"/>
          <p:cNvSpPr txBox="1"/>
          <p:nvPr/>
        </p:nvSpPr>
        <p:spPr>
          <a:xfrm>
            <a:off x="457200" y="4821935"/>
            <a:ext cx="7441168" cy="609600"/>
          </a:xfrm>
          <a:prstGeom prst="rect">
            <a:avLst/>
          </a:prstGeom>
          <a:noFill/>
        </p:spPr>
        <p:txBody>
          <a:bodyPr wrap="none" lIns="0" rIns="0">
            <a:noAutofit/>
          </a:bodyPr>
          <a:lstStyle/>
          <a:p>
            <a:pPr algn="l"/>
            <a:r>
              <a:rPr sz="3400" b="0" i="0">
                <a:solidFill>
                  <a:srgbClr val="0A2240"/>
                </a:solidFill>
                <a:latin typeface="Arial"/>
              </a:rPr>
              <a:t>Re-explained each time</a:t>
            </a:r>
          </a:p>
        </p:txBody>
      </p:sp>
      <p:sp>
        <p:nvSpPr>
          <p:cNvPr id="10" name="TextBox 9"/>
          <p:cNvSpPr txBox="1"/>
          <p:nvPr/>
        </p:nvSpPr>
        <p:spPr>
          <a:xfrm>
            <a:off x="6233160" y="2395727"/>
            <a:ext cx="5958840" cy="609600"/>
          </a:xfrm>
          <a:prstGeom prst="rect">
            <a:avLst/>
          </a:prstGeom>
          <a:noFill/>
        </p:spPr>
        <p:txBody>
          <a:bodyPr wrap="none" lIns="0" rIns="0">
            <a:noAutofit/>
          </a:bodyPr>
          <a:lstStyle/>
          <a:p>
            <a:pPr algn="l"/>
            <a:r>
              <a:rPr sz="3400" b="0" i="0">
                <a:solidFill>
                  <a:srgbClr val="0A2240"/>
                </a:solidFill>
                <a:latin typeface="Arial"/>
              </a:rPr>
              <a:t>One picture, one meaning</a:t>
            </a:r>
          </a:p>
        </p:txBody>
      </p:sp>
      <p:sp>
        <p:nvSpPr>
          <p:cNvPr id="11" name="TextBox 10"/>
          <p:cNvSpPr txBox="1"/>
          <p:nvPr/>
        </p:nvSpPr>
        <p:spPr>
          <a:xfrm>
            <a:off x="6233160" y="3608831"/>
            <a:ext cx="5958840" cy="609600"/>
          </a:xfrm>
          <a:prstGeom prst="rect">
            <a:avLst/>
          </a:prstGeom>
          <a:noFill/>
        </p:spPr>
        <p:txBody>
          <a:bodyPr wrap="none" lIns="0" rIns="0">
            <a:noAutofit/>
          </a:bodyPr>
          <a:lstStyle/>
          <a:p>
            <a:pPr algn="l"/>
            <a:r>
              <a:rPr sz="3400" b="0" i="0">
                <a:solidFill>
                  <a:srgbClr val="0A2240"/>
                </a:solidFill>
                <a:latin typeface="Arial"/>
              </a:rPr>
              <a:t>Disagreement shows fast</a:t>
            </a:r>
          </a:p>
        </p:txBody>
      </p:sp>
      <p:sp>
        <p:nvSpPr>
          <p:cNvPr id="12" name="TextBox 11"/>
          <p:cNvSpPr txBox="1"/>
          <p:nvPr/>
        </p:nvSpPr>
        <p:spPr>
          <a:xfrm>
            <a:off x="6233160" y="4821935"/>
            <a:ext cx="5501640" cy="609600"/>
          </a:xfrm>
          <a:prstGeom prst="rect">
            <a:avLst/>
          </a:prstGeom>
          <a:noFill/>
        </p:spPr>
        <p:txBody>
          <a:bodyPr wrap="none" lIns="0" rIns="0">
            <a:noAutofit/>
          </a:bodyPr>
          <a:lstStyle/>
          <a:p>
            <a:pPr algn="l"/>
            <a:r>
              <a:rPr sz="3400" b="0" i="0">
                <a:solidFill>
                  <a:srgbClr val="0A2240"/>
                </a:solidFill>
                <a:latin typeface="Arial"/>
              </a:rPr>
              <a:t>Sent as a link</a:t>
            </a:r>
          </a:p>
        </p:txBody>
      </p:sp>
      <p:sp>
        <p:nvSpPr>
          <p:cNvPr id="13" name="TextBox 12"/>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an Artifact Gives You</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See</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The whole path at once</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Revise</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Change it in seconds</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Share</a:t>
            </a:r>
          </a:p>
        </p:txBody>
      </p:sp>
      <p:sp>
        <p:nvSpPr>
          <p:cNvPr id="8" name="TextBox 7"/>
          <p:cNvSpPr txBox="1"/>
          <p:nvPr/>
        </p:nvSpPr>
        <p:spPr>
          <a:xfrm>
            <a:off x="457200" y="5132831"/>
            <a:ext cx="11277600" cy="627889"/>
          </a:xfrm>
          <a:prstGeom prst="rect">
            <a:avLst/>
          </a:prstGeom>
          <a:noFill/>
        </p:spPr>
        <p:txBody>
          <a:bodyPr wrap="none" lIns="0" rIns="0">
            <a:noAutofit/>
          </a:bodyPr>
          <a:lstStyle/>
          <a:p>
            <a:pPr algn="l"/>
            <a:r>
              <a:rPr sz="3400" b="0" i="0">
                <a:solidFill>
                  <a:srgbClr val="0A2240"/>
                </a:solidFill>
                <a:latin typeface="Arial"/>
              </a:rPr>
              <a:t>One link, whole team</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Build the Diagram</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Paste the steps</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Your list from section one</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Ask for a diagram</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Boxes and arrows, top down</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Fix it out loud</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Revise until it matches</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27</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Prompt for the Diagram</a:t>
            </a:r>
          </a:p>
        </p:txBody>
      </p:sp>
      <p:sp>
        <p:nvSpPr>
          <p:cNvPr id="6" name="TextBox 5"/>
          <p:cNvSpPr txBox="1"/>
          <p:nvPr/>
        </p:nvSpPr>
        <p:spPr>
          <a:xfrm>
            <a:off x="457200" y="1837944"/>
            <a:ext cx="8975745" cy="518159"/>
          </a:xfrm>
          <a:prstGeom prst="rect">
            <a:avLst/>
          </a:prstGeom>
          <a:noFill/>
        </p:spPr>
        <p:txBody>
          <a:bodyPr wrap="none" lIns="0" rIns="0">
            <a:noAutofit/>
          </a:bodyPr>
          <a:lstStyle/>
          <a:p>
            <a:pPr algn="l"/>
            <a:r>
              <a:rPr sz="3400" b="0" i="0">
                <a:solidFill>
                  <a:srgbClr val="FFFFFF"/>
                </a:solidFill>
                <a:latin typeface="Arial"/>
              </a:rPr>
              <a:t>Here are our workflow steps:</a:t>
            </a:r>
          </a:p>
        </p:txBody>
      </p:sp>
      <p:sp>
        <p:nvSpPr>
          <p:cNvPr id="7" name="TextBox 6"/>
          <p:cNvSpPr txBox="1"/>
          <p:nvPr/>
        </p:nvSpPr>
        <p:spPr>
          <a:xfrm>
            <a:off x="457200" y="2356103"/>
            <a:ext cx="4868584" cy="518159"/>
          </a:xfrm>
          <a:prstGeom prst="rect">
            <a:avLst/>
          </a:prstGeom>
          <a:noFill/>
        </p:spPr>
        <p:txBody>
          <a:bodyPr wrap="none" lIns="0" rIns="0">
            <a:noAutofit/>
          </a:bodyPr>
          <a:lstStyle/>
          <a:p>
            <a:pPr algn="l"/>
            <a:r>
              <a:rPr sz="3400" b="0" i="0">
                <a:solidFill>
                  <a:srgbClr val="FFFFFF"/>
                </a:solidFill>
                <a:latin typeface="Arial"/>
              </a:rPr>
              <a:t>&lt;paste the list&gt;</a:t>
            </a:r>
          </a:p>
        </p:txBody>
      </p:sp>
      <p:sp>
        <p:nvSpPr>
          <p:cNvPr id="8" name="TextBox 7"/>
          <p:cNvSpPr txBox="1"/>
          <p:nvPr/>
        </p:nvSpPr>
        <p:spPr>
          <a:xfrm>
            <a:off x="457200" y="3392421"/>
            <a:ext cx="7171968" cy="518159"/>
          </a:xfrm>
          <a:prstGeom prst="rect">
            <a:avLst/>
          </a:prstGeom>
          <a:noFill/>
        </p:spPr>
        <p:txBody>
          <a:bodyPr wrap="none" lIns="0" rIns="0">
            <a:noAutofit/>
          </a:bodyPr>
          <a:lstStyle/>
          <a:p>
            <a:pPr algn="l"/>
            <a:r>
              <a:rPr sz="3400" b="0" i="0">
                <a:solidFill>
                  <a:srgbClr val="FFFFFF"/>
                </a:solidFill>
                <a:latin typeface="Arial"/>
              </a:rPr>
              <a:t>Build an Artifact: a flow</a:t>
            </a:r>
          </a:p>
        </p:txBody>
      </p:sp>
      <p:sp>
        <p:nvSpPr>
          <p:cNvPr id="9" name="TextBox 8"/>
          <p:cNvSpPr txBox="1"/>
          <p:nvPr/>
        </p:nvSpPr>
        <p:spPr>
          <a:xfrm>
            <a:off x="457200" y="3910580"/>
            <a:ext cx="7287339" cy="518159"/>
          </a:xfrm>
          <a:prstGeom prst="rect">
            <a:avLst/>
          </a:prstGeom>
          <a:noFill/>
        </p:spPr>
        <p:txBody>
          <a:bodyPr wrap="none" lIns="0" rIns="0">
            <a:noAutofit/>
          </a:bodyPr>
          <a:lstStyle/>
          <a:p>
            <a:pPr algn="l"/>
            <a:r>
              <a:rPr sz="3400" b="0" i="0">
                <a:solidFill>
                  <a:srgbClr val="FFFFFF"/>
                </a:solidFill>
                <a:latin typeface="Arial"/>
              </a:rPr>
              <a:t>diagram, top to bottom.</a:t>
            </a:r>
          </a:p>
        </p:txBody>
      </p:sp>
      <p:sp>
        <p:nvSpPr>
          <p:cNvPr id="10" name="TextBox 9"/>
          <p:cNvSpPr txBox="1"/>
          <p:nvPr/>
        </p:nvSpPr>
        <p:spPr>
          <a:xfrm>
            <a:off x="457200" y="4428739"/>
            <a:ext cx="5674836" cy="518159"/>
          </a:xfrm>
          <a:prstGeom prst="rect">
            <a:avLst/>
          </a:prstGeom>
          <a:noFill/>
        </p:spPr>
        <p:txBody>
          <a:bodyPr wrap="none" lIns="0" rIns="0">
            <a:noAutofit/>
          </a:bodyPr>
          <a:lstStyle/>
          <a:p>
            <a:pPr algn="l"/>
            <a:r>
              <a:rPr sz="3400" b="0" i="0">
                <a:solidFill>
                  <a:srgbClr val="FFFFFF"/>
                </a:solidFill>
                <a:latin typeface="Arial"/>
              </a:rPr>
              <a:t>One box per step.</a:t>
            </a:r>
          </a:p>
        </p:txBody>
      </p:sp>
      <p:sp>
        <p:nvSpPr>
          <p:cNvPr id="11" name="TextBox 10"/>
          <p:cNvSpPr txBox="1"/>
          <p:nvPr/>
        </p:nvSpPr>
        <p:spPr>
          <a:xfrm>
            <a:off x="457200" y="4946898"/>
            <a:ext cx="5866110" cy="518159"/>
          </a:xfrm>
          <a:prstGeom prst="rect">
            <a:avLst/>
          </a:prstGeom>
          <a:noFill/>
        </p:spPr>
        <p:txBody>
          <a:bodyPr wrap="none" lIns="0" rIns="0">
            <a:noAutofit/>
          </a:bodyPr>
          <a:lstStyle/>
          <a:p>
            <a:pPr algn="l"/>
            <a:r>
              <a:rPr sz="3400" b="0" i="0">
                <a:solidFill>
                  <a:srgbClr val="FFFFFF"/>
                </a:solidFill>
                <a:latin typeface="Arial"/>
              </a:rPr>
              <a:t>Label every arrow </a:t>
            </a:r>
          </a:p>
        </p:txBody>
      </p:sp>
      <p:sp>
        <p:nvSpPr>
          <p:cNvPr id="12" name="TextBox 11"/>
          <p:cNvSpPr txBox="1"/>
          <p:nvPr/>
        </p:nvSpPr>
        <p:spPr>
          <a:xfrm>
            <a:off x="4009219" y="4946898"/>
            <a:ext cx="1411486" cy="518159"/>
          </a:xfrm>
          <a:prstGeom prst="rect">
            <a:avLst/>
          </a:prstGeom>
          <a:noFill/>
        </p:spPr>
        <p:txBody>
          <a:bodyPr wrap="none" lIns="0" rIns="0">
            <a:noAutofit/>
          </a:bodyPr>
          <a:lstStyle/>
          <a:p>
            <a:pPr algn="l"/>
            <a:r>
              <a:rPr sz="3400" b="0" i="0">
                <a:solidFill>
                  <a:srgbClr val="569CD6"/>
                </a:solidFill>
                <a:latin typeface="Arial"/>
              </a:rPr>
              <a:t>with</a:t>
            </a:r>
          </a:p>
        </p:txBody>
      </p:sp>
      <p:sp>
        <p:nvSpPr>
          <p:cNvPr id="13" name="TextBox 12"/>
          <p:cNvSpPr txBox="1"/>
          <p:nvPr/>
        </p:nvSpPr>
        <p:spPr>
          <a:xfrm>
            <a:off x="4777098" y="4946898"/>
            <a:ext cx="1834177" cy="518159"/>
          </a:xfrm>
          <a:prstGeom prst="rect">
            <a:avLst/>
          </a:prstGeom>
          <a:noFill/>
        </p:spPr>
        <p:txBody>
          <a:bodyPr wrap="none" lIns="0" rIns="0">
            <a:noAutofit/>
          </a:bodyPr>
          <a:lstStyle/>
          <a:p>
            <a:pPr algn="l"/>
            <a:r>
              <a:rPr sz="3400" b="0" i="0">
                <a:solidFill>
                  <a:srgbClr val="FFFFFF"/>
                </a:solidFill>
                <a:latin typeface="Arial"/>
              </a:rPr>
              <a:t> what</a:t>
            </a:r>
          </a:p>
        </p:txBody>
      </p:sp>
      <p:sp>
        <p:nvSpPr>
          <p:cNvPr id="14" name="TextBox 13"/>
          <p:cNvSpPr txBox="1"/>
          <p:nvPr/>
        </p:nvSpPr>
        <p:spPr>
          <a:xfrm>
            <a:off x="457200" y="5465057"/>
            <a:ext cx="8363465" cy="518159"/>
          </a:xfrm>
          <a:prstGeom prst="rect">
            <a:avLst/>
          </a:prstGeom>
          <a:noFill/>
        </p:spPr>
        <p:txBody>
          <a:bodyPr wrap="none" lIns="0" rIns="0">
            <a:noAutofit/>
          </a:bodyPr>
          <a:lstStyle/>
          <a:p>
            <a:pPr algn="l"/>
            <a:r>
              <a:rPr sz="3400" b="0" i="0">
                <a:solidFill>
                  <a:srgbClr val="FFFFFF"/>
                </a:solidFill>
                <a:latin typeface="Arial"/>
              </a:rPr>
              <a:t>passes between the steps.</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28</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What the Diagram Must Show</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Raw input, where it enters</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One box per step</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What passes on each arrow</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delivered output</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Diagram Conventions</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Top to bottom reads fastest</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One verb per box</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Keep labels under five words</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30</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Revise It in Front of Everyone</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Ask for the change out loud</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Re-read the new version together</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Stop when nobody objects</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31</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Artifact Pitfalls</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A pretty diagram nobody rechecks</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Boxes with no arrow labels</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The link never actually shared</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32</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Where the Map Lives</a:t>
            </a:r>
          </a:p>
        </p:txBody>
      </p:sp>
      <p:sp>
        <p:nvSpPr>
          <p:cNvPr id="3" name="TextBox 2"/>
          <p:cNvSpPr txBox="1"/>
          <p:nvPr/>
        </p:nvSpPr>
        <p:spPr>
          <a:xfrm>
            <a:off x="457200" y="2776728"/>
            <a:ext cx="4792980" cy="914400"/>
          </a:xfrm>
          <a:prstGeom prst="rect">
            <a:avLst/>
          </a:prstGeom>
          <a:noFill/>
        </p:spPr>
        <p:txBody>
          <a:bodyPr wrap="none" lIns="0" rIns="0">
            <a:noAutofit/>
          </a:bodyPr>
          <a:lstStyle/>
          <a:p>
            <a:pPr algn="ctr"/>
            <a:r>
              <a:rPr sz="6000" b="1" i="0">
                <a:solidFill>
                  <a:srgbClr val="0A2240"/>
                </a:solidFill>
                <a:latin typeface="Arial"/>
              </a:rPr>
              <a:t>Chat</a:t>
            </a:r>
          </a:p>
        </p:txBody>
      </p:sp>
      <p:sp>
        <p:nvSpPr>
          <p:cNvPr id="4" name="TextBox 3"/>
          <p:cNvSpPr txBox="1"/>
          <p:nvPr/>
        </p:nvSpPr>
        <p:spPr>
          <a:xfrm>
            <a:off x="0" y="3965448"/>
            <a:ext cx="5707380" cy="518159"/>
          </a:xfrm>
          <a:prstGeom prst="rect">
            <a:avLst/>
          </a:prstGeom>
          <a:noFill/>
        </p:spPr>
        <p:txBody>
          <a:bodyPr wrap="none" lIns="0" rIns="0">
            <a:noAutofit/>
          </a:bodyPr>
          <a:lstStyle/>
          <a:p>
            <a:pPr algn="ctr"/>
            <a:r>
              <a:rPr sz="3400" b="0" i="0">
                <a:solidFill>
                  <a:srgbClr val="0A2240"/>
                </a:solidFill>
                <a:latin typeface="Arial"/>
              </a:rPr>
              <a:t>Scrolls away by noon</a:t>
            </a:r>
          </a:p>
        </p:txBody>
      </p:sp>
      <p:sp>
        <p:nvSpPr>
          <p:cNvPr id="5" name="TextBox 4"/>
          <p:cNvSpPr txBox="1"/>
          <p:nvPr/>
        </p:nvSpPr>
        <p:spPr>
          <a:xfrm>
            <a:off x="6941820" y="2776728"/>
            <a:ext cx="4792980" cy="914400"/>
          </a:xfrm>
          <a:prstGeom prst="rect">
            <a:avLst/>
          </a:prstGeom>
          <a:noFill/>
        </p:spPr>
        <p:txBody>
          <a:bodyPr wrap="none" lIns="0" rIns="0">
            <a:noAutofit/>
          </a:bodyPr>
          <a:lstStyle/>
          <a:p>
            <a:pPr algn="ctr"/>
            <a:r>
              <a:rPr sz="6000" b="1" i="0">
                <a:solidFill>
                  <a:srgbClr val="0A2240"/>
                </a:solidFill>
                <a:latin typeface="Arial"/>
              </a:rPr>
              <a:t>Project</a:t>
            </a:r>
          </a:p>
        </p:txBody>
      </p:sp>
      <p:sp>
        <p:nvSpPr>
          <p:cNvPr id="6" name="TextBox 5"/>
          <p:cNvSpPr txBox="1"/>
          <p:nvPr/>
        </p:nvSpPr>
        <p:spPr>
          <a:xfrm>
            <a:off x="6484620" y="3965448"/>
            <a:ext cx="5707380" cy="518159"/>
          </a:xfrm>
          <a:prstGeom prst="rect">
            <a:avLst/>
          </a:prstGeom>
          <a:noFill/>
        </p:spPr>
        <p:txBody>
          <a:bodyPr wrap="none" lIns="0" rIns="0">
            <a:noAutofit/>
          </a:bodyPr>
          <a:lstStyle/>
          <a:p>
            <a:pPr algn="ctr"/>
            <a:r>
              <a:rPr sz="3400" b="0" i="0">
                <a:solidFill>
                  <a:srgbClr val="0A2240"/>
                </a:solidFill>
                <a:latin typeface="Arial"/>
              </a:rPr>
              <a:t>Beside the problem</a:t>
            </a:r>
          </a:p>
        </p:txBody>
      </p:sp>
      <p:sp>
        <p:nvSpPr>
          <p:cNvPr id="7" name="TextBox 6"/>
          <p:cNvSpPr txBox="1"/>
          <p:nvPr/>
        </p:nvSpPr>
        <p:spPr>
          <a:xfrm>
            <a:off x="5435323" y="3310127"/>
            <a:ext cx="1321354" cy="640080"/>
          </a:xfrm>
          <a:prstGeom prst="rect">
            <a:avLst/>
          </a:prstGeom>
          <a:noFill/>
        </p:spPr>
        <p:txBody>
          <a:bodyPr wrap="none" lIns="0" rIns="0">
            <a:noAutofit/>
          </a:bodyPr>
          <a:lstStyle/>
          <a:p>
            <a:pPr algn="ctr"/>
            <a:r>
              <a:rPr sz="4200" b="1" i="0">
                <a:solidFill>
                  <a:srgbClr val="0A2240"/>
                </a:solidFill>
                <a:latin typeface="Arial"/>
              </a:rPr>
              <a:t>VS</a:t>
            </a:r>
          </a:p>
        </p:txBody>
      </p:sp>
      <p:sp>
        <p:nvSpPr>
          <p:cNvPr id="8" name="TextBox 7"/>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33</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1783080"/>
            <a:ext cx="128016" cy="201168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1783080"/>
            <a:ext cx="10738104" cy="1005840"/>
          </a:xfrm>
          <a:prstGeom prst="rect">
            <a:avLst/>
          </a:prstGeom>
          <a:noFill/>
        </p:spPr>
        <p:txBody>
          <a:bodyPr wrap="none" lIns="0" rIns="0">
            <a:noAutofit/>
          </a:bodyPr>
          <a:lstStyle/>
          <a:p>
            <a:pPr algn="l"/>
            <a:r>
              <a:rPr sz="6000" b="1" i="0">
                <a:solidFill>
                  <a:srgbClr val="0072CE"/>
                </a:solidFill>
                <a:latin typeface="Arial"/>
              </a:rPr>
              <a:t>03</a:t>
            </a:r>
          </a:p>
        </p:txBody>
      </p:sp>
      <p:sp>
        <p:nvSpPr>
          <p:cNvPr id="4" name="TextBox 3"/>
          <p:cNvSpPr txBox="1"/>
          <p:nvPr/>
        </p:nvSpPr>
        <p:spPr>
          <a:xfrm>
            <a:off x="996696" y="3063240"/>
            <a:ext cx="11195304" cy="731520"/>
          </a:xfrm>
          <a:prstGeom prst="rect">
            <a:avLst/>
          </a:prstGeom>
          <a:noFill/>
        </p:spPr>
        <p:txBody>
          <a:bodyPr wrap="none" lIns="0" rIns="0">
            <a:noAutofit/>
          </a:bodyPr>
          <a:lstStyle/>
          <a:p>
            <a:pPr algn="l"/>
            <a:r>
              <a:rPr sz="4200" b="1" i="0">
                <a:solidFill>
                  <a:srgbClr val="0072CE"/>
                </a:solidFill>
                <a:latin typeface="Arial"/>
              </a:rPr>
              <a:t>Name What Each Step Needs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34</a:t>
            </a:fld>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Four Kinds of Need</a:t>
            </a:r>
          </a:p>
        </p:txBody>
      </p:sp>
      <p:sp>
        <p:nvSpPr>
          <p:cNvPr id="3" name="TextBox 2"/>
          <p:cNvSpPr txBox="1"/>
          <p:nvPr/>
        </p:nvSpPr>
        <p:spPr>
          <a:xfrm>
            <a:off x="457200" y="1499616"/>
            <a:ext cx="1872297" cy="518159"/>
          </a:xfrm>
          <a:prstGeom prst="rect">
            <a:avLst/>
          </a:prstGeom>
          <a:noFill/>
        </p:spPr>
        <p:txBody>
          <a:bodyPr wrap="none" lIns="0" rIns="0">
            <a:noAutofit/>
          </a:bodyPr>
          <a:lstStyle/>
          <a:p>
            <a:pPr algn="l"/>
            <a:r>
              <a:rPr sz="3400" b="1" i="0">
                <a:solidFill>
                  <a:srgbClr val="0072CE"/>
                </a:solidFill>
                <a:latin typeface="Arial"/>
              </a:rPr>
              <a:t>Need</a:t>
            </a:r>
          </a:p>
        </p:txBody>
      </p:sp>
      <p:sp>
        <p:nvSpPr>
          <p:cNvPr id="4" name="TextBox 3"/>
          <p:cNvSpPr txBox="1"/>
          <p:nvPr/>
        </p:nvSpPr>
        <p:spPr>
          <a:xfrm>
            <a:off x="2859918" y="1499616"/>
            <a:ext cx="5814494" cy="518159"/>
          </a:xfrm>
          <a:prstGeom prst="rect">
            <a:avLst/>
          </a:prstGeom>
          <a:noFill/>
        </p:spPr>
        <p:txBody>
          <a:bodyPr wrap="none" lIns="0" rIns="0">
            <a:noAutofit/>
          </a:bodyPr>
          <a:lstStyle/>
          <a:p>
            <a:pPr algn="l"/>
            <a:r>
              <a:rPr sz="3400" b="1" i="0">
                <a:solidFill>
                  <a:srgbClr val="0072CE"/>
                </a:solidFill>
                <a:latin typeface="Arial"/>
              </a:rPr>
              <a:t>What it means</a:t>
            </a:r>
          </a:p>
        </p:txBody>
      </p:sp>
      <p:sp>
        <p:nvSpPr>
          <p:cNvPr id="5" name="Rectangle 4"/>
          <p:cNvSpPr/>
          <p:nvPr/>
        </p:nvSpPr>
        <p:spPr>
          <a:xfrm>
            <a:off x="457200" y="2072639"/>
            <a:ext cx="8217212"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1854078" cy="633984"/>
          </a:xfrm>
          <a:prstGeom prst="rect">
            <a:avLst/>
          </a:prstGeom>
          <a:noFill/>
        </p:spPr>
        <p:txBody>
          <a:bodyPr wrap="none" lIns="0" rIns="0">
            <a:noAutofit/>
          </a:bodyPr>
          <a:lstStyle/>
          <a:p>
            <a:pPr algn="l"/>
            <a:r>
              <a:rPr sz="3400" b="0" i="0">
                <a:solidFill>
                  <a:srgbClr val="0A2240"/>
                </a:solidFill>
                <a:latin typeface="Arial"/>
              </a:rPr>
              <a:t>Data</a:t>
            </a:r>
          </a:p>
        </p:txBody>
      </p:sp>
      <p:sp>
        <p:nvSpPr>
          <p:cNvPr id="7" name="TextBox 6"/>
          <p:cNvSpPr txBox="1"/>
          <p:nvPr/>
        </p:nvSpPr>
        <p:spPr>
          <a:xfrm>
            <a:off x="2859918" y="2401823"/>
            <a:ext cx="8900854" cy="633984"/>
          </a:xfrm>
          <a:prstGeom prst="rect">
            <a:avLst/>
          </a:prstGeom>
          <a:noFill/>
        </p:spPr>
        <p:txBody>
          <a:bodyPr wrap="none" lIns="0" rIns="0">
            <a:noAutofit/>
          </a:bodyPr>
          <a:lstStyle/>
          <a:p>
            <a:pPr algn="l"/>
            <a:r>
              <a:rPr sz="3400" b="0" i="0">
                <a:solidFill>
                  <a:srgbClr val="0A2240"/>
                </a:solidFill>
                <a:latin typeface="Arial"/>
              </a:rPr>
              <a:t>Something must be supplied</a:t>
            </a:r>
          </a:p>
        </p:txBody>
      </p:sp>
      <p:sp>
        <p:nvSpPr>
          <p:cNvPr id="8" name="TextBox 7"/>
          <p:cNvSpPr txBox="1"/>
          <p:nvPr/>
        </p:nvSpPr>
        <p:spPr>
          <a:xfrm>
            <a:off x="457200" y="3310127"/>
            <a:ext cx="1854078" cy="633984"/>
          </a:xfrm>
          <a:prstGeom prst="rect">
            <a:avLst/>
          </a:prstGeom>
          <a:noFill/>
        </p:spPr>
        <p:txBody>
          <a:bodyPr wrap="none" lIns="0" rIns="0">
            <a:noAutofit/>
          </a:bodyPr>
          <a:lstStyle/>
          <a:p>
            <a:pPr algn="l"/>
            <a:r>
              <a:rPr sz="3400" b="0" i="0">
                <a:solidFill>
                  <a:srgbClr val="0A2240"/>
                </a:solidFill>
                <a:latin typeface="Arial"/>
              </a:rPr>
              <a:t>Tool</a:t>
            </a:r>
          </a:p>
        </p:txBody>
      </p:sp>
      <p:sp>
        <p:nvSpPr>
          <p:cNvPr id="9" name="TextBox 8"/>
          <p:cNvSpPr txBox="1"/>
          <p:nvPr/>
        </p:nvSpPr>
        <p:spPr>
          <a:xfrm>
            <a:off x="2859918" y="3310127"/>
            <a:ext cx="7594321" cy="633984"/>
          </a:xfrm>
          <a:prstGeom prst="rect">
            <a:avLst/>
          </a:prstGeom>
          <a:noFill/>
        </p:spPr>
        <p:txBody>
          <a:bodyPr wrap="none" lIns="0" rIns="0">
            <a:noAutofit/>
          </a:bodyPr>
          <a:lstStyle/>
          <a:p>
            <a:pPr algn="l"/>
            <a:r>
              <a:rPr sz="3400" b="0" i="0">
                <a:solidFill>
                  <a:srgbClr val="0A2240"/>
                </a:solidFill>
                <a:latin typeface="Arial"/>
              </a:rPr>
              <a:t>Code, API, or model call</a:t>
            </a:r>
          </a:p>
        </p:txBody>
      </p:sp>
      <p:sp>
        <p:nvSpPr>
          <p:cNvPr id="10" name="TextBox 9"/>
          <p:cNvSpPr txBox="1"/>
          <p:nvPr/>
        </p:nvSpPr>
        <p:spPr>
          <a:xfrm>
            <a:off x="457200" y="4218431"/>
            <a:ext cx="2564188" cy="633984"/>
          </a:xfrm>
          <a:prstGeom prst="rect">
            <a:avLst/>
          </a:prstGeom>
          <a:noFill/>
        </p:spPr>
        <p:txBody>
          <a:bodyPr wrap="none" lIns="0" rIns="0">
            <a:noAutofit/>
          </a:bodyPr>
          <a:lstStyle/>
          <a:p>
            <a:pPr algn="l"/>
            <a:r>
              <a:rPr sz="3400" b="0" i="0">
                <a:solidFill>
                  <a:srgbClr val="0A2240"/>
                </a:solidFill>
                <a:latin typeface="Arial"/>
              </a:rPr>
              <a:t>Routine</a:t>
            </a:r>
          </a:p>
        </p:txBody>
      </p:sp>
      <p:sp>
        <p:nvSpPr>
          <p:cNvPr id="11" name="TextBox 10"/>
          <p:cNvSpPr txBox="1"/>
          <p:nvPr/>
        </p:nvSpPr>
        <p:spPr>
          <a:xfrm>
            <a:off x="2859918" y="4218431"/>
            <a:ext cx="6596796" cy="633984"/>
          </a:xfrm>
          <a:prstGeom prst="rect">
            <a:avLst/>
          </a:prstGeom>
          <a:noFill/>
        </p:spPr>
        <p:txBody>
          <a:bodyPr wrap="none" lIns="0" rIns="0">
            <a:noAutofit/>
          </a:bodyPr>
          <a:lstStyle/>
          <a:p>
            <a:pPr algn="l"/>
            <a:r>
              <a:rPr sz="3400" b="0" i="0">
                <a:solidFill>
                  <a:srgbClr val="0A2240"/>
                </a:solidFill>
                <a:latin typeface="Arial"/>
              </a:rPr>
              <a:t>It runs on a schedule</a:t>
            </a:r>
          </a:p>
        </p:txBody>
      </p:sp>
      <p:sp>
        <p:nvSpPr>
          <p:cNvPr id="12" name="TextBox 11"/>
          <p:cNvSpPr txBox="1"/>
          <p:nvPr/>
        </p:nvSpPr>
        <p:spPr>
          <a:xfrm>
            <a:off x="457200" y="5126735"/>
            <a:ext cx="2410024" cy="633984"/>
          </a:xfrm>
          <a:prstGeom prst="rect">
            <a:avLst/>
          </a:prstGeom>
          <a:noFill/>
        </p:spPr>
        <p:txBody>
          <a:bodyPr wrap="none" lIns="0" rIns="0">
            <a:noAutofit/>
          </a:bodyPr>
          <a:lstStyle/>
          <a:p>
            <a:pPr algn="l"/>
            <a:r>
              <a:rPr sz="3400" b="0" i="0">
                <a:solidFill>
                  <a:srgbClr val="0A2240"/>
                </a:solidFill>
                <a:latin typeface="Arial"/>
              </a:rPr>
              <a:t>Human</a:t>
            </a:r>
          </a:p>
        </p:txBody>
      </p:sp>
      <p:sp>
        <p:nvSpPr>
          <p:cNvPr id="13" name="TextBox 12"/>
          <p:cNvSpPr txBox="1"/>
          <p:nvPr/>
        </p:nvSpPr>
        <p:spPr>
          <a:xfrm>
            <a:off x="2859918" y="5126735"/>
            <a:ext cx="5814494" cy="633984"/>
          </a:xfrm>
          <a:prstGeom prst="rect">
            <a:avLst/>
          </a:prstGeom>
          <a:noFill/>
        </p:spPr>
        <p:txBody>
          <a:bodyPr wrap="none" lIns="0" rIns="0">
            <a:noAutofit/>
          </a:bodyPr>
          <a:lstStyle/>
          <a:p>
            <a:pPr algn="l"/>
            <a:r>
              <a:rPr sz="3400" b="0" i="0">
                <a:solidFill>
                  <a:srgbClr val="0A2240"/>
                </a:solidFill>
                <a:latin typeface="Arial"/>
              </a:rPr>
              <a:t>A person decides</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35</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Annotate Every Box</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One need per step, minimum</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Say which of the four it is</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Unknowns get marked, not skipped</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Claude Routine</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prompt Claude runs on a schedule, unprompted.</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37</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When a Step Is a Routine</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It repeats on a clock</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Nobody should have to remember</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Late is worse than imperfect</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38</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TextBox 1"/>
          <p:cNvSpPr txBox="1"/>
          <p:nvPr/>
        </p:nvSpPr>
        <p:spPr>
          <a:xfrm>
            <a:off x="457200" y="457200"/>
            <a:ext cx="11277600" cy="640080"/>
          </a:xfrm>
          <a:prstGeom prst="rect">
            <a:avLst/>
          </a:prstGeom>
          <a:noFill/>
        </p:spPr>
        <p:txBody>
          <a:bodyPr wrap="none" lIns="0" rIns="0">
            <a:noAutofit/>
          </a:bodyPr>
          <a:lstStyle/>
          <a:p>
            <a:pPr algn="l"/>
            <a:r>
              <a:rPr sz="4200" b="0" i="0">
                <a:solidFill>
                  <a:srgbClr val="FFFFFF"/>
                </a:solidFill>
                <a:latin typeface="Arial"/>
              </a:rPr>
              <a:t>A Step as a Routine</a:t>
            </a:r>
          </a:p>
        </p:txBody>
      </p:sp>
      <p:sp>
        <p:nvSpPr>
          <p:cNvPr id="3" name="TextBox 2"/>
          <p:cNvSpPr txBox="1"/>
          <p:nvPr/>
        </p:nvSpPr>
        <p:spPr>
          <a:xfrm>
            <a:off x="457200" y="1371600"/>
            <a:ext cx="7172305" cy="518159"/>
          </a:xfrm>
          <a:prstGeom prst="rect">
            <a:avLst/>
          </a:prstGeom>
          <a:noFill/>
        </p:spPr>
        <p:txBody>
          <a:bodyPr wrap="none" lIns="0" rIns="0">
            <a:noAutofit/>
          </a:bodyPr>
          <a:lstStyle/>
          <a:p>
            <a:pPr algn="l"/>
            <a:r>
              <a:rPr sz="3400" b="0" i="0">
                <a:solidFill>
                  <a:srgbClr val="FFFFFF"/>
                </a:solidFill>
                <a:latin typeface="Arial"/>
              </a:rPr>
              <a:t>Every weekday at 8:00</a:t>
            </a:r>
          </a:p>
        </p:txBody>
      </p:sp>
      <p:sp>
        <p:nvSpPr>
          <p:cNvPr id="4" name="TextBox 3"/>
          <p:cNvSpPr txBox="1"/>
          <p:nvPr/>
        </p:nvSpPr>
        <p:spPr>
          <a:xfrm>
            <a:off x="457200" y="2407918"/>
            <a:ext cx="5674499" cy="518159"/>
          </a:xfrm>
          <a:prstGeom prst="rect">
            <a:avLst/>
          </a:prstGeom>
          <a:noFill/>
        </p:spPr>
        <p:txBody>
          <a:bodyPr wrap="none" lIns="0" rIns="0">
            <a:noAutofit/>
          </a:bodyPr>
          <a:lstStyle/>
          <a:p>
            <a:pPr algn="l"/>
            <a:r>
              <a:rPr sz="3400" b="0" i="0">
                <a:solidFill>
                  <a:srgbClr val="FFFFFF"/>
                </a:solidFill>
                <a:latin typeface="Arial"/>
              </a:rPr>
              <a:t>1. Read new files </a:t>
            </a:r>
          </a:p>
        </p:txBody>
      </p:sp>
      <p:sp>
        <p:nvSpPr>
          <p:cNvPr id="5" name="TextBox 4"/>
          <p:cNvSpPr txBox="1"/>
          <p:nvPr/>
        </p:nvSpPr>
        <p:spPr>
          <a:xfrm>
            <a:off x="3889462" y="2407918"/>
            <a:ext cx="720606" cy="518159"/>
          </a:xfrm>
          <a:prstGeom prst="rect">
            <a:avLst/>
          </a:prstGeom>
          <a:noFill/>
        </p:spPr>
        <p:txBody>
          <a:bodyPr wrap="none" lIns="0" rIns="0">
            <a:noAutofit/>
          </a:bodyPr>
          <a:lstStyle/>
          <a:p>
            <a:pPr algn="l"/>
            <a:r>
              <a:rPr sz="3400" b="0" i="0">
                <a:solidFill>
                  <a:srgbClr val="569CD6"/>
                </a:solidFill>
                <a:latin typeface="Arial"/>
              </a:rPr>
              <a:t>in</a:t>
            </a:r>
          </a:p>
        </p:txBody>
      </p:sp>
      <p:sp>
        <p:nvSpPr>
          <p:cNvPr id="6" name="TextBox 5"/>
          <p:cNvSpPr txBox="1"/>
          <p:nvPr/>
        </p:nvSpPr>
        <p:spPr>
          <a:xfrm>
            <a:off x="4225541" y="2407918"/>
            <a:ext cx="2410360" cy="518159"/>
          </a:xfrm>
          <a:prstGeom prst="rect">
            <a:avLst/>
          </a:prstGeom>
          <a:noFill/>
        </p:spPr>
        <p:txBody>
          <a:bodyPr wrap="none" lIns="0" rIns="0">
            <a:noAutofit/>
          </a:bodyPr>
          <a:lstStyle/>
          <a:p>
            <a:pPr algn="l"/>
            <a:r>
              <a:rPr sz="3400" b="0" i="0">
                <a:solidFill>
                  <a:srgbClr val="FFFFFF"/>
                </a:solidFill>
                <a:latin typeface="Arial"/>
              </a:rPr>
              <a:t> /intake</a:t>
            </a:r>
          </a:p>
        </p:txBody>
      </p:sp>
      <p:sp>
        <p:nvSpPr>
          <p:cNvPr id="7" name="TextBox 6"/>
          <p:cNvSpPr txBox="1"/>
          <p:nvPr/>
        </p:nvSpPr>
        <p:spPr>
          <a:xfrm>
            <a:off x="457200" y="2926077"/>
            <a:ext cx="9362003" cy="518159"/>
          </a:xfrm>
          <a:prstGeom prst="rect">
            <a:avLst/>
          </a:prstGeom>
          <a:noFill/>
        </p:spPr>
        <p:txBody>
          <a:bodyPr wrap="none" lIns="0" rIns="0">
            <a:noAutofit/>
          </a:bodyPr>
          <a:lstStyle/>
          <a:p>
            <a:pPr algn="l"/>
            <a:r>
              <a:rPr sz="3400" b="0" i="0">
                <a:solidFill>
                  <a:srgbClr val="FFFFFF"/>
                </a:solidFill>
                <a:latin typeface="Arial"/>
              </a:rPr>
              <a:t>2. Score each against the role</a:t>
            </a:r>
          </a:p>
        </p:txBody>
      </p:sp>
      <p:sp>
        <p:nvSpPr>
          <p:cNvPr id="8" name="TextBox 7"/>
          <p:cNvSpPr txBox="1"/>
          <p:nvPr/>
        </p:nvSpPr>
        <p:spPr>
          <a:xfrm>
            <a:off x="457200" y="3444236"/>
            <a:ext cx="9401809" cy="518159"/>
          </a:xfrm>
          <a:prstGeom prst="rect">
            <a:avLst/>
          </a:prstGeom>
          <a:noFill/>
        </p:spPr>
        <p:txBody>
          <a:bodyPr wrap="none" lIns="0" rIns="0">
            <a:noAutofit/>
          </a:bodyPr>
          <a:lstStyle/>
          <a:p>
            <a:pPr algn="l"/>
            <a:r>
              <a:rPr sz="3400" b="0" i="0">
                <a:solidFill>
                  <a:srgbClr val="FFFFFF"/>
                </a:solidFill>
                <a:latin typeface="Arial"/>
              </a:rPr>
              <a:t>3. Append to the ranked sheet</a:t>
            </a:r>
          </a:p>
        </p:txBody>
      </p:sp>
      <p:sp>
        <p:nvSpPr>
          <p:cNvPr id="9" name="TextBox 8"/>
          <p:cNvSpPr txBox="1"/>
          <p:nvPr/>
        </p:nvSpPr>
        <p:spPr>
          <a:xfrm>
            <a:off x="457200" y="3962395"/>
            <a:ext cx="8746688" cy="518159"/>
          </a:xfrm>
          <a:prstGeom prst="rect">
            <a:avLst/>
          </a:prstGeom>
          <a:noFill/>
        </p:spPr>
        <p:txBody>
          <a:bodyPr wrap="none" lIns="0" rIns="0">
            <a:noAutofit/>
          </a:bodyPr>
          <a:lstStyle/>
          <a:p>
            <a:pPr algn="l"/>
            <a:r>
              <a:rPr sz="3400" b="0" i="0">
                <a:solidFill>
                  <a:srgbClr val="FFFFFF"/>
                </a:solidFill>
                <a:latin typeface="Arial"/>
              </a:rPr>
              <a:t>4. Flag anything scoring low</a:t>
            </a:r>
          </a:p>
        </p:txBody>
      </p:sp>
      <p:sp>
        <p:nvSpPr>
          <p:cNvPr id="10" name="TextBox 9"/>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39</a:t>
            </a:fld>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Human decision</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A step where a person judges and the system waits.</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40</a:t>
            </a:fld>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Keep a Human When</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Being wrong is expensive</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The call needs context you lack</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Someone must be accountable</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Step to Need</a:t>
            </a:r>
          </a:p>
        </p:txBody>
      </p:sp>
      <p:sp>
        <p:nvSpPr>
          <p:cNvPr id="3" name="TextBox 2"/>
          <p:cNvSpPr txBox="1"/>
          <p:nvPr/>
        </p:nvSpPr>
        <p:spPr>
          <a:xfrm>
            <a:off x="457200" y="1499616"/>
            <a:ext cx="2789575" cy="518159"/>
          </a:xfrm>
          <a:prstGeom prst="rect">
            <a:avLst/>
          </a:prstGeom>
          <a:noFill/>
        </p:spPr>
        <p:txBody>
          <a:bodyPr wrap="none" lIns="0" rIns="0">
            <a:noAutofit/>
          </a:bodyPr>
          <a:lstStyle/>
          <a:p>
            <a:pPr algn="l"/>
            <a:r>
              <a:rPr sz="3400" b="1" i="0">
                <a:solidFill>
                  <a:srgbClr val="0072CE"/>
                </a:solidFill>
                <a:latin typeface="Arial"/>
              </a:rPr>
              <a:t>Step</a:t>
            </a:r>
          </a:p>
        </p:txBody>
      </p:sp>
      <p:sp>
        <p:nvSpPr>
          <p:cNvPr id="4" name="TextBox 3"/>
          <p:cNvSpPr txBox="1"/>
          <p:nvPr/>
        </p:nvSpPr>
        <p:spPr>
          <a:xfrm>
            <a:off x="3795415" y="1499616"/>
            <a:ext cx="4673937" cy="518159"/>
          </a:xfrm>
          <a:prstGeom prst="rect">
            <a:avLst/>
          </a:prstGeom>
          <a:noFill/>
        </p:spPr>
        <p:txBody>
          <a:bodyPr wrap="none" lIns="0" rIns="0">
            <a:noAutofit/>
          </a:bodyPr>
          <a:lstStyle/>
          <a:p>
            <a:pPr algn="l"/>
            <a:r>
              <a:rPr sz="3400" b="1" i="0">
                <a:solidFill>
                  <a:srgbClr val="0072CE"/>
                </a:solidFill>
                <a:latin typeface="Arial"/>
              </a:rPr>
              <a:t>What it needs</a:t>
            </a:r>
          </a:p>
        </p:txBody>
      </p:sp>
      <p:sp>
        <p:nvSpPr>
          <p:cNvPr id="5" name="Rectangle 4"/>
          <p:cNvSpPr/>
          <p:nvPr/>
        </p:nvSpPr>
        <p:spPr>
          <a:xfrm>
            <a:off x="457200" y="2072639"/>
            <a:ext cx="7328523"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401823"/>
            <a:ext cx="3485475" cy="633984"/>
          </a:xfrm>
          <a:prstGeom prst="rect">
            <a:avLst/>
          </a:prstGeom>
          <a:noFill/>
        </p:spPr>
        <p:txBody>
          <a:bodyPr wrap="none" lIns="0" rIns="0">
            <a:noAutofit/>
          </a:bodyPr>
          <a:lstStyle/>
          <a:p>
            <a:pPr algn="l"/>
            <a:r>
              <a:rPr sz="3400" b="0" i="0">
                <a:solidFill>
                  <a:srgbClr val="0A2240"/>
                </a:solidFill>
                <a:latin typeface="Arial"/>
              </a:rPr>
              <a:t>Intake files</a:t>
            </a:r>
          </a:p>
        </p:txBody>
      </p:sp>
      <p:sp>
        <p:nvSpPr>
          <p:cNvPr id="7" name="TextBox 6"/>
          <p:cNvSpPr txBox="1"/>
          <p:nvPr/>
        </p:nvSpPr>
        <p:spPr>
          <a:xfrm>
            <a:off x="3795415" y="2401823"/>
            <a:ext cx="5982156" cy="633984"/>
          </a:xfrm>
          <a:prstGeom prst="rect">
            <a:avLst/>
          </a:prstGeom>
          <a:noFill/>
        </p:spPr>
        <p:txBody>
          <a:bodyPr wrap="none" lIns="0" rIns="0">
            <a:noAutofit/>
          </a:bodyPr>
          <a:lstStyle/>
          <a:p>
            <a:pPr algn="l"/>
            <a:r>
              <a:rPr sz="3400" b="0" i="0">
                <a:solidFill>
                  <a:srgbClr val="0A2240"/>
                </a:solidFill>
                <a:latin typeface="Arial"/>
              </a:rPr>
              <a:t>Data plus a routine</a:t>
            </a:r>
          </a:p>
        </p:txBody>
      </p:sp>
      <p:sp>
        <p:nvSpPr>
          <p:cNvPr id="8" name="TextBox 7"/>
          <p:cNvSpPr txBox="1"/>
          <p:nvPr/>
        </p:nvSpPr>
        <p:spPr>
          <a:xfrm>
            <a:off x="457200" y="3310127"/>
            <a:ext cx="3293188" cy="633984"/>
          </a:xfrm>
          <a:prstGeom prst="rect">
            <a:avLst/>
          </a:prstGeom>
          <a:noFill/>
        </p:spPr>
        <p:txBody>
          <a:bodyPr wrap="none" lIns="0" rIns="0">
            <a:noAutofit/>
          </a:bodyPr>
          <a:lstStyle/>
          <a:p>
            <a:pPr algn="l"/>
            <a:r>
              <a:rPr sz="3400" b="0" i="0">
                <a:solidFill>
                  <a:srgbClr val="0A2240"/>
                </a:solidFill>
                <a:latin typeface="Arial"/>
              </a:rPr>
              <a:t>Parse text</a:t>
            </a:r>
          </a:p>
        </p:txBody>
      </p:sp>
      <p:sp>
        <p:nvSpPr>
          <p:cNvPr id="9" name="TextBox 8"/>
          <p:cNvSpPr txBox="1"/>
          <p:nvPr/>
        </p:nvSpPr>
        <p:spPr>
          <a:xfrm>
            <a:off x="3795415" y="3310127"/>
            <a:ext cx="3990308" cy="633984"/>
          </a:xfrm>
          <a:prstGeom prst="rect">
            <a:avLst/>
          </a:prstGeom>
          <a:noFill/>
        </p:spPr>
        <p:txBody>
          <a:bodyPr wrap="none" lIns="0" rIns="0">
            <a:noAutofit/>
          </a:bodyPr>
          <a:lstStyle/>
          <a:p>
            <a:pPr algn="l"/>
            <a:r>
              <a:rPr sz="3400" b="0" i="0">
                <a:solidFill>
                  <a:srgbClr val="0A2240"/>
                </a:solidFill>
                <a:latin typeface="Arial"/>
              </a:rPr>
              <a:t>A tool</a:t>
            </a:r>
          </a:p>
        </p:txBody>
      </p:sp>
      <p:sp>
        <p:nvSpPr>
          <p:cNvPr id="10" name="TextBox 9"/>
          <p:cNvSpPr txBox="1"/>
          <p:nvPr/>
        </p:nvSpPr>
        <p:spPr>
          <a:xfrm>
            <a:off x="457200" y="4218431"/>
            <a:ext cx="4060984" cy="633984"/>
          </a:xfrm>
          <a:prstGeom prst="rect">
            <a:avLst/>
          </a:prstGeom>
          <a:noFill/>
        </p:spPr>
        <p:txBody>
          <a:bodyPr wrap="none" lIns="0" rIns="0">
            <a:noAutofit/>
          </a:bodyPr>
          <a:lstStyle/>
          <a:p>
            <a:pPr algn="l"/>
            <a:r>
              <a:rPr sz="3400" b="0" i="0">
                <a:solidFill>
                  <a:srgbClr val="0A2240"/>
                </a:solidFill>
                <a:latin typeface="Arial"/>
              </a:rPr>
              <a:t>Score match</a:t>
            </a:r>
          </a:p>
        </p:txBody>
      </p:sp>
      <p:sp>
        <p:nvSpPr>
          <p:cNvPr id="11" name="TextBox 10"/>
          <p:cNvSpPr txBox="1"/>
          <p:nvPr/>
        </p:nvSpPr>
        <p:spPr>
          <a:xfrm>
            <a:off x="3795415" y="4218431"/>
            <a:ext cx="3990308" cy="633984"/>
          </a:xfrm>
          <a:prstGeom prst="rect">
            <a:avLst/>
          </a:prstGeom>
          <a:noFill/>
        </p:spPr>
        <p:txBody>
          <a:bodyPr wrap="none" lIns="0" rIns="0">
            <a:noAutofit/>
          </a:bodyPr>
          <a:lstStyle/>
          <a:p>
            <a:pPr algn="l"/>
            <a:r>
              <a:rPr sz="3400" b="0" i="0">
                <a:solidFill>
                  <a:srgbClr val="0A2240"/>
                </a:solidFill>
                <a:latin typeface="Arial"/>
              </a:rPr>
              <a:t>A model call</a:t>
            </a:r>
          </a:p>
        </p:txBody>
      </p:sp>
      <p:sp>
        <p:nvSpPr>
          <p:cNvPr id="12" name="TextBox 11"/>
          <p:cNvSpPr txBox="1"/>
          <p:nvPr/>
        </p:nvSpPr>
        <p:spPr>
          <a:xfrm>
            <a:off x="457200" y="5126735"/>
            <a:ext cx="3792457" cy="633984"/>
          </a:xfrm>
          <a:prstGeom prst="rect">
            <a:avLst/>
          </a:prstGeom>
          <a:noFill/>
        </p:spPr>
        <p:txBody>
          <a:bodyPr wrap="none" lIns="0" rIns="0">
            <a:noAutofit/>
          </a:bodyPr>
          <a:lstStyle/>
          <a:p>
            <a:pPr algn="l"/>
            <a:r>
              <a:rPr sz="3400" b="0" i="0">
                <a:solidFill>
                  <a:srgbClr val="0A2240"/>
                </a:solidFill>
                <a:latin typeface="Arial"/>
              </a:rPr>
              <a:t>Approve list</a:t>
            </a:r>
          </a:p>
        </p:txBody>
      </p:sp>
      <p:sp>
        <p:nvSpPr>
          <p:cNvPr id="13" name="TextBox 12"/>
          <p:cNvSpPr txBox="1"/>
          <p:nvPr/>
        </p:nvSpPr>
        <p:spPr>
          <a:xfrm>
            <a:off x="3795415" y="5126735"/>
            <a:ext cx="5636716" cy="633984"/>
          </a:xfrm>
          <a:prstGeom prst="rect">
            <a:avLst/>
          </a:prstGeom>
          <a:noFill/>
        </p:spPr>
        <p:txBody>
          <a:bodyPr wrap="none" lIns="0" rIns="0">
            <a:noAutofit/>
          </a:bodyPr>
          <a:lstStyle/>
          <a:p>
            <a:pPr algn="l"/>
            <a:r>
              <a:rPr sz="3400" b="0" i="0">
                <a:solidFill>
                  <a:srgbClr val="0A2240"/>
                </a:solidFill>
                <a:latin typeface="Arial"/>
              </a:rPr>
              <a:t>A human decision</a:t>
            </a:r>
          </a:p>
        </p:txBody>
      </p:sp>
      <p:sp>
        <p:nvSpPr>
          <p:cNvPr id="14" name="TextBox 13"/>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Rectangle 1"/>
          <p:cNvSpPr/>
          <p:nvPr/>
        </p:nvSpPr>
        <p:spPr>
          <a:xfrm>
            <a:off x="457200" y="2484120"/>
            <a:ext cx="128016" cy="1889760"/>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 y="2484120"/>
            <a:ext cx="10738104" cy="1005840"/>
          </a:xfrm>
          <a:prstGeom prst="rect">
            <a:avLst/>
          </a:prstGeom>
          <a:noFill/>
        </p:spPr>
        <p:txBody>
          <a:bodyPr wrap="none" lIns="0" rIns="0">
            <a:noAutofit/>
          </a:bodyPr>
          <a:lstStyle/>
          <a:p>
            <a:pPr algn="l"/>
            <a:r>
              <a:rPr sz="6000" b="1" i="0">
                <a:solidFill>
                  <a:srgbClr val="0072CE"/>
                </a:solidFill>
                <a:latin typeface="Arial"/>
              </a:rPr>
              <a:t>The riskiest step</a:t>
            </a:r>
          </a:p>
        </p:txBody>
      </p:sp>
      <p:sp>
        <p:nvSpPr>
          <p:cNvPr id="4" name="TextBox 3"/>
          <p:cNvSpPr txBox="1"/>
          <p:nvPr/>
        </p:nvSpPr>
        <p:spPr>
          <a:xfrm>
            <a:off x="996696" y="3764280"/>
            <a:ext cx="11195304" cy="609600"/>
          </a:xfrm>
          <a:prstGeom prst="rect">
            <a:avLst/>
          </a:prstGeom>
          <a:noFill/>
        </p:spPr>
        <p:txBody>
          <a:bodyPr wrap="none" lIns="0" rIns="0">
            <a:noAutofit/>
          </a:bodyPr>
          <a:lstStyle/>
          <a:p>
            <a:pPr algn="l"/>
            <a:r>
              <a:rPr sz="3400" b="0" i="0">
                <a:solidFill>
                  <a:srgbClr val="0A2240"/>
                </a:solidFill>
                <a:latin typeface="Arial"/>
              </a:rPr>
              <a:t>The one whose failure wastes the most time.</a:t>
            </a:r>
          </a:p>
        </p:txBody>
      </p:sp>
      <p:sp>
        <p:nvSpPr>
          <p:cNvPr id="5" name="TextBox 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43</a:t>
            </a:fld>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Find It</a:t>
            </a:r>
          </a:p>
        </p:txBody>
      </p:sp>
      <p:sp>
        <p:nvSpPr>
          <p:cNvPr id="3" name="TextBox 2"/>
          <p:cNvSpPr txBox="1"/>
          <p:nvPr/>
        </p:nvSpPr>
        <p:spPr>
          <a:xfrm>
            <a:off x="457200" y="1499616"/>
            <a:ext cx="1132164" cy="640080"/>
          </a:xfrm>
          <a:prstGeom prst="rect">
            <a:avLst/>
          </a:prstGeom>
          <a:noFill/>
        </p:spPr>
        <p:txBody>
          <a:bodyPr wrap="none" lIns="0" rIns="0">
            <a:noAutofit/>
          </a:bodyPr>
          <a:lstStyle/>
          <a:p>
            <a:pPr algn="l"/>
            <a:r>
              <a:rPr sz="4200" b="1" i="0">
                <a:solidFill>
                  <a:srgbClr val="0072CE"/>
                </a:solidFill>
                <a:latin typeface="Arial"/>
              </a:rPr>
              <a:t>01</a:t>
            </a:r>
          </a:p>
        </p:txBody>
      </p:sp>
      <p:sp>
        <p:nvSpPr>
          <p:cNvPr id="4" name="TextBox 3"/>
          <p:cNvSpPr txBox="1"/>
          <p:nvPr/>
        </p:nvSpPr>
        <p:spPr>
          <a:xfrm>
            <a:off x="1461983" y="1499616"/>
            <a:ext cx="10272817" cy="640080"/>
          </a:xfrm>
          <a:prstGeom prst="rect">
            <a:avLst/>
          </a:prstGeom>
          <a:noFill/>
        </p:spPr>
        <p:txBody>
          <a:bodyPr wrap="none" lIns="0" rIns="0">
            <a:noAutofit/>
          </a:bodyPr>
          <a:lstStyle/>
          <a:p>
            <a:pPr algn="l"/>
            <a:r>
              <a:rPr sz="4200" b="1" i="0">
                <a:solidFill>
                  <a:srgbClr val="0072CE"/>
                </a:solidFill>
                <a:latin typeface="Arial"/>
              </a:rPr>
              <a:t>Mark unknowns</a:t>
            </a:r>
          </a:p>
        </p:txBody>
      </p:sp>
      <p:sp>
        <p:nvSpPr>
          <p:cNvPr id="5" name="TextBox 4"/>
          <p:cNvSpPr txBox="1"/>
          <p:nvPr/>
        </p:nvSpPr>
        <p:spPr>
          <a:xfrm>
            <a:off x="1461983" y="2185416"/>
            <a:ext cx="10272817" cy="551688"/>
          </a:xfrm>
          <a:prstGeom prst="rect">
            <a:avLst/>
          </a:prstGeom>
          <a:noFill/>
        </p:spPr>
        <p:txBody>
          <a:bodyPr wrap="none" lIns="0" rIns="0">
            <a:noAutofit/>
          </a:bodyPr>
          <a:lstStyle/>
          <a:p>
            <a:pPr algn="l"/>
            <a:r>
              <a:rPr sz="3400" b="0" i="0">
                <a:solidFill>
                  <a:srgbClr val="0A2240"/>
                </a:solidFill>
                <a:latin typeface="Arial"/>
              </a:rPr>
              <a:t>Boxes you cannot describe</a:t>
            </a:r>
          </a:p>
        </p:txBody>
      </p:sp>
      <p:sp>
        <p:nvSpPr>
          <p:cNvPr id="6" name="TextBox 5"/>
          <p:cNvSpPr txBox="1"/>
          <p:nvPr/>
        </p:nvSpPr>
        <p:spPr>
          <a:xfrm>
            <a:off x="457200" y="3011424"/>
            <a:ext cx="1132164" cy="640080"/>
          </a:xfrm>
          <a:prstGeom prst="rect">
            <a:avLst/>
          </a:prstGeom>
          <a:noFill/>
        </p:spPr>
        <p:txBody>
          <a:bodyPr wrap="none" lIns="0" rIns="0">
            <a:noAutofit/>
          </a:bodyPr>
          <a:lstStyle/>
          <a:p>
            <a:pPr algn="l"/>
            <a:r>
              <a:rPr sz="4200" b="1" i="0">
                <a:solidFill>
                  <a:srgbClr val="0072CE"/>
                </a:solidFill>
                <a:latin typeface="Arial"/>
              </a:rPr>
              <a:t>02</a:t>
            </a:r>
          </a:p>
        </p:txBody>
      </p:sp>
      <p:sp>
        <p:nvSpPr>
          <p:cNvPr id="7" name="TextBox 6"/>
          <p:cNvSpPr txBox="1"/>
          <p:nvPr/>
        </p:nvSpPr>
        <p:spPr>
          <a:xfrm>
            <a:off x="1461983" y="3011424"/>
            <a:ext cx="10272817" cy="640080"/>
          </a:xfrm>
          <a:prstGeom prst="rect">
            <a:avLst/>
          </a:prstGeom>
          <a:noFill/>
        </p:spPr>
        <p:txBody>
          <a:bodyPr wrap="none" lIns="0" rIns="0">
            <a:noAutofit/>
          </a:bodyPr>
          <a:lstStyle/>
          <a:p>
            <a:pPr algn="l"/>
            <a:r>
              <a:rPr sz="4200" b="1" i="0">
                <a:solidFill>
                  <a:srgbClr val="0072CE"/>
                </a:solidFill>
                <a:latin typeface="Arial"/>
              </a:rPr>
              <a:t>Ask who blocks</a:t>
            </a:r>
          </a:p>
        </p:txBody>
      </p:sp>
      <p:sp>
        <p:nvSpPr>
          <p:cNvPr id="8" name="TextBox 7"/>
          <p:cNvSpPr txBox="1"/>
          <p:nvPr/>
        </p:nvSpPr>
        <p:spPr>
          <a:xfrm>
            <a:off x="1461983" y="3697224"/>
            <a:ext cx="10272817" cy="551688"/>
          </a:xfrm>
          <a:prstGeom prst="rect">
            <a:avLst/>
          </a:prstGeom>
          <a:noFill/>
        </p:spPr>
        <p:txBody>
          <a:bodyPr wrap="none" lIns="0" rIns="0">
            <a:noAutofit/>
          </a:bodyPr>
          <a:lstStyle/>
          <a:p>
            <a:pPr algn="l"/>
            <a:r>
              <a:rPr sz="3400" b="0" i="0">
                <a:solidFill>
                  <a:srgbClr val="0A2240"/>
                </a:solidFill>
                <a:latin typeface="Arial"/>
              </a:rPr>
              <a:t>Which stalls everything after</a:t>
            </a:r>
          </a:p>
        </p:txBody>
      </p:sp>
      <p:sp>
        <p:nvSpPr>
          <p:cNvPr id="9" name="TextBox 8"/>
          <p:cNvSpPr txBox="1"/>
          <p:nvPr/>
        </p:nvSpPr>
        <p:spPr>
          <a:xfrm>
            <a:off x="457200" y="4523232"/>
            <a:ext cx="1132164" cy="640080"/>
          </a:xfrm>
          <a:prstGeom prst="rect">
            <a:avLst/>
          </a:prstGeom>
          <a:noFill/>
        </p:spPr>
        <p:txBody>
          <a:bodyPr wrap="none" lIns="0" rIns="0">
            <a:noAutofit/>
          </a:bodyPr>
          <a:lstStyle/>
          <a:p>
            <a:pPr algn="l"/>
            <a:r>
              <a:rPr sz="4200" b="1" i="0">
                <a:solidFill>
                  <a:srgbClr val="0072CE"/>
                </a:solidFill>
                <a:latin typeface="Arial"/>
              </a:rPr>
              <a:t>03</a:t>
            </a:r>
          </a:p>
        </p:txBody>
      </p:sp>
      <p:sp>
        <p:nvSpPr>
          <p:cNvPr id="10" name="TextBox 9"/>
          <p:cNvSpPr txBox="1"/>
          <p:nvPr/>
        </p:nvSpPr>
        <p:spPr>
          <a:xfrm>
            <a:off x="1461983" y="4523232"/>
            <a:ext cx="10272817" cy="640080"/>
          </a:xfrm>
          <a:prstGeom prst="rect">
            <a:avLst/>
          </a:prstGeom>
          <a:noFill/>
        </p:spPr>
        <p:txBody>
          <a:bodyPr wrap="none" lIns="0" rIns="0">
            <a:noAutofit/>
          </a:bodyPr>
          <a:lstStyle/>
          <a:p>
            <a:pPr algn="l"/>
            <a:r>
              <a:rPr sz="4200" b="1" i="0">
                <a:solidFill>
                  <a:srgbClr val="0072CE"/>
                </a:solidFill>
                <a:latin typeface="Arial"/>
              </a:rPr>
              <a:t>Pick one</a:t>
            </a:r>
          </a:p>
        </p:txBody>
      </p:sp>
      <p:sp>
        <p:nvSpPr>
          <p:cNvPr id="11" name="TextBox 10"/>
          <p:cNvSpPr txBox="1"/>
          <p:nvPr/>
        </p:nvSpPr>
        <p:spPr>
          <a:xfrm>
            <a:off x="1461983" y="5209032"/>
            <a:ext cx="10272817" cy="551688"/>
          </a:xfrm>
          <a:prstGeom prst="rect">
            <a:avLst/>
          </a:prstGeom>
          <a:noFill/>
        </p:spPr>
        <p:txBody>
          <a:bodyPr wrap="none" lIns="0" rIns="0">
            <a:noAutofit/>
          </a:bodyPr>
          <a:lstStyle/>
          <a:p>
            <a:pPr algn="l"/>
            <a:r>
              <a:rPr sz="3400" b="0" i="0">
                <a:solidFill>
                  <a:srgbClr val="0A2240"/>
                </a:solidFill>
                <a:latin typeface="Arial"/>
              </a:rPr>
              <a:t>Only one gets this attention</a:t>
            </a:r>
          </a:p>
        </p:txBody>
      </p:sp>
      <p:sp>
        <p:nvSpPr>
          <p:cNvPr id="12" name="TextBox 11"/>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44</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p:cSld>
    <p:bg>
      <p:bgPr>
        <a:solidFill>
          <a:srgbClr val="0C1A1C"/>
        </a:solidFill>
        <a:effectLst/>
      </p:bgPr>
    </p:bg>
    <p:spTree>
      <p:nvGrpSpPr>
        <p:cNvPr id="1" name=""/>
        <p:cNvGrpSpPr/>
        <p:nvPr/>
      </p:nvGrpSpPr>
      <p:grpSpPr/>
      <p:sp>
        <p:nvSpPr>
          <p:cNvPr id="2" name="Rectangle 1"/>
          <p:cNvSpPr/>
          <p:nvPr/>
        </p:nvSpPr>
        <p:spPr>
          <a:xfrm>
            <a:off x="457200"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9264" y="457200"/>
            <a:ext cx="146304"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23544"/>
            <a:ext cx="11277600" cy="640080"/>
          </a:xfrm>
          <a:prstGeom prst="rect">
            <a:avLst/>
          </a:prstGeom>
          <a:noFill/>
        </p:spPr>
        <p:txBody>
          <a:bodyPr wrap="none" lIns="0" rIns="0">
            <a:noAutofit/>
          </a:bodyPr>
          <a:lstStyle/>
          <a:p>
            <a:pPr algn="l"/>
            <a:r>
              <a:rPr sz="4200" b="0" i="0">
                <a:solidFill>
                  <a:srgbClr val="FFFFFF"/>
                </a:solidFill>
                <a:latin typeface="Arial"/>
              </a:rPr>
              <a:t>Prompt for Failure Modes</a:t>
            </a:r>
          </a:p>
        </p:txBody>
      </p:sp>
      <p:sp>
        <p:nvSpPr>
          <p:cNvPr id="6" name="TextBox 5"/>
          <p:cNvSpPr txBox="1"/>
          <p:nvPr/>
        </p:nvSpPr>
        <p:spPr>
          <a:xfrm>
            <a:off x="457200" y="1837944"/>
            <a:ext cx="5365828" cy="518159"/>
          </a:xfrm>
          <a:prstGeom prst="rect">
            <a:avLst/>
          </a:prstGeom>
          <a:noFill/>
        </p:spPr>
        <p:txBody>
          <a:bodyPr wrap="none" lIns="0" rIns="0">
            <a:noAutofit/>
          </a:bodyPr>
          <a:lstStyle/>
          <a:p>
            <a:pPr algn="l"/>
            <a:r>
              <a:rPr sz="3400" b="0" i="0">
                <a:solidFill>
                  <a:srgbClr val="FFFFFF"/>
                </a:solidFill>
                <a:latin typeface="Arial"/>
              </a:rPr>
              <a:t>Our riskiest step:</a:t>
            </a:r>
          </a:p>
        </p:txBody>
      </p:sp>
      <p:sp>
        <p:nvSpPr>
          <p:cNvPr id="7" name="TextBox 6"/>
          <p:cNvSpPr txBox="1"/>
          <p:nvPr/>
        </p:nvSpPr>
        <p:spPr>
          <a:xfrm>
            <a:off x="457200" y="2356103"/>
            <a:ext cx="6741854" cy="518159"/>
          </a:xfrm>
          <a:prstGeom prst="rect">
            <a:avLst/>
          </a:prstGeom>
          <a:noFill/>
        </p:spPr>
        <p:txBody>
          <a:bodyPr wrap="none" lIns="0" rIns="0">
            <a:noAutofit/>
          </a:bodyPr>
          <a:lstStyle/>
          <a:p>
            <a:pPr algn="l"/>
            <a:r>
              <a:rPr sz="3400" b="0" i="0">
                <a:solidFill>
                  <a:srgbClr val="FFFFFF"/>
                </a:solidFill>
                <a:latin typeface="Arial"/>
              </a:rPr>
              <a:t>"&lt;describe the step&gt;"</a:t>
            </a:r>
          </a:p>
        </p:txBody>
      </p:sp>
      <p:sp>
        <p:nvSpPr>
          <p:cNvPr id="8" name="TextBox 7"/>
          <p:cNvSpPr txBox="1"/>
          <p:nvPr/>
        </p:nvSpPr>
        <p:spPr>
          <a:xfrm>
            <a:off x="457200" y="3392421"/>
            <a:ext cx="10459382" cy="518159"/>
          </a:xfrm>
          <a:prstGeom prst="rect">
            <a:avLst/>
          </a:prstGeom>
          <a:noFill/>
        </p:spPr>
        <p:txBody>
          <a:bodyPr wrap="none" lIns="0" rIns="0">
            <a:noAutofit/>
          </a:bodyPr>
          <a:lstStyle/>
          <a:p>
            <a:pPr algn="l"/>
            <a:r>
              <a:rPr sz="3400" b="0" i="0">
                <a:solidFill>
                  <a:srgbClr val="FFFFFF"/>
                </a:solidFill>
                <a:latin typeface="Arial"/>
              </a:rPr>
              <a:t>Give the THREE most likely ways</a:t>
            </a:r>
          </a:p>
        </p:txBody>
      </p:sp>
      <p:sp>
        <p:nvSpPr>
          <p:cNvPr id="9" name="TextBox 8"/>
          <p:cNvSpPr txBox="1"/>
          <p:nvPr/>
        </p:nvSpPr>
        <p:spPr>
          <a:xfrm>
            <a:off x="457200" y="3910580"/>
            <a:ext cx="2870497" cy="518159"/>
          </a:xfrm>
          <a:prstGeom prst="rect">
            <a:avLst/>
          </a:prstGeom>
          <a:noFill/>
        </p:spPr>
        <p:txBody>
          <a:bodyPr wrap="none" lIns="0" rIns="0">
            <a:noAutofit/>
          </a:bodyPr>
          <a:lstStyle/>
          <a:p>
            <a:pPr algn="l"/>
            <a:r>
              <a:rPr sz="3400" b="0" i="0">
                <a:solidFill>
                  <a:srgbClr val="FFFFFF"/>
                </a:solidFill>
                <a:latin typeface="Arial"/>
              </a:rPr>
              <a:t>this fails </a:t>
            </a:r>
          </a:p>
        </p:txBody>
      </p:sp>
      <p:sp>
        <p:nvSpPr>
          <p:cNvPr id="10" name="TextBox 9"/>
          <p:cNvSpPr txBox="1"/>
          <p:nvPr/>
        </p:nvSpPr>
        <p:spPr>
          <a:xfrm>
            <a:off x="2136961" y="3910580"/>
            <a:ext cx="720606" cy="518159"/>
          </a:xfrm>
          <a:prstGeom prst="rect">
            <a:avLst/>
          </a:prstGeom>
          <a:noFill/>
        </p:spPr>
        <p:txBody>
          <a:bodyPr wrap="none" lIns="0" rIns="0">
            <a:noAutofit/>
          </a:bodyPr>
          <a:lstStyle/>
          <a:p>
            <a:pPr algn="l"/>
            <a:r>
              <a:rPr sz="3400" b="0" i="0">
                <a:solidFill>
                  <a:srgbClr val="569CD6"/>
                </a:solidFill>
                <a:latin typeface="Arial"/>
              </a:rPr>
              <a:t>in</a:t>
            </a:r>
          </a:p>
        </p:txBody>
      </p:sp>
      <p:sp>
        <p:nvSpPr>
          <p:cNvPr id="11" name="TextBox 10"/>
          <p:cNvSpPr txBox="1"/>
          <p:nvPr/>
        </p:nvSpPr>
        <p:spPr>
          <a:xfrm>
            <a:off x="2473040" y="3910580"/>
            <a:ext cx="2985868" cy="518159"/>
          </a:xfrm>
          <a:prstGeom prst="rect">
            <a:avLst/>
          </a:prstGeom>
          <a:noFill/>
        </p:spPr>
        <p:txBody>
          <a:bodyPr wrap="none" lIns="0" rIns="0">
            <a:noAutofit/>
          </a:bodyPr>
          <a:lstStyle/>
          <a:p>
            <a:pPr algn="l"/>
            <a:r>
              <a:rPr sz="3400" b="0" i="0">
                <a:solidFill>
                  <a:srgbClr val="FFFFFF"/>
                </a:solidFill>
                <a:latin typeface="Arial"/>
              </a:rPr>
              <a:t> practice.</a:t>
            </a:r>
          </a:p>
        </p:txBody>
      </p:sp>
      <p:sp>
        <p:nvSpPr>
          <p:cNvPr id="12" name="TextBox 11"/>
          <p:cNvSpPr txBox="1"/>
          <p:nvPr/>
        </p:nvSpPr>
        <p:spPr>
          <a:xfrm>
            <a:off x="457200" y="4428739"/>
            <a:ext cx="4904342" cy="518159"/>
          </a:xfrm>
          <a:prstGeom prst="rect">
            <a:avLst/>
          </a:prstGeom>
          <a:noFill/>
        </p:spPr>
        <p:txBody>
          <a:bodyPr wrap="none" lIns="0" rIns="0">
            <a:noAutofit/>
          </a:bodyPr>
          <a:lstStyle/>
          <a:p>
            <a:pPr algn="l"/>
            <a:r>
              <a:rPr sz="3400" b="0" i="0">
                <a:solidFill>
                  <a:srgbClr val="FFFFFF"/>
                </a:solidFill>
                <a:latin typeface="Arial"/>
              </a:rPr>
              <a:t>Most likely first.</a:t>
            </a:r>
          </a:p>
        </p:txBody>
      </p:sp>
      <p:sp>
        <p:nvSpPr>
          <p:cNvPr id="13" name="TextBox 12"/>
          <p:cNvSpPr txBox="1"/>
          <p:nvPr/>
        </p:nvSpPr>
        <p:spPr>
          <a:xfrm>
            <a:off x="457200" y="4946898"/>
            <a:ext cx="10205700" cy="518159"/>
          </a:xfrm>
          <a:prstGeom prst="rect">
            <a:avLst/>
          </a:prstGeom>
          <a:noFill/>
        </p:spPr>
        <p:txBody>
          <a:bodyPr wrap="none" lIns="0" rIns="0">
            <a:noAutofit/>
          </a:bodyPr>
          <a:lstStyle/>
          <a:p>
            <a:pPr algn="l"/>
            <a:r>
              <a:rPr sz="3400" b="0" i="0">
                <a:solidFill>
                  <a:srgbClr val="FFFFFF"/>
                </a:solidFill>
                <a:latin typeface="Arial"/>
              </a:rPr>
              <a:t>For each: the early warning sign.</a:t>
            </a:r>
          </a:p>
        </p:txBody>
      </p:sp>
      <p:sp>
        <p:nvSpPr>
          <p:cNvPr id="14" name="TextBox 13"/>
          <p:cNvSpPr txBox="1"/>
          <p:nvPr/>
        </p:nvSpPr>
        <p:spPr>
          <a:xfrm>
            <a:off x="457200" y="5465057"/>
            <a:ext cx="3984068" cy="518159"/>
          </a:xfrm>
          <a:prstGeom prst="rect">
            <a:avLst/>
          </a:prstGeom>
          <a:noFill/>
        </p:spPr>
        <p:txBody>
          <a:bodyPr wrap="none" lIns="0" rIns="0">
            <a:noAutofit/>
          </a:bodyPr>
          <a:lstStyle/>
          <a:p>
            <a:pPr algn="l"/>
            <a:r>
              <a:rPr sz="3400" b="0" i="0">
                <a:solidFill>
                  <a:srgbClr val="FFFFFF"/>
                </a:solidFill>
                <a:latin typeface="Arial"/>
              </a:rPr>
              <a:t>No fixes yet.</a:t>
            </a:r>
          </a:p>
        </p:txBody>
      </p:sp>
      <p:sp>
        <p:nvSpPr>
          <p:cNvPr id="15" name="TextBox 14"/>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Where Steps Usually Fail</a:t>
            </a:r>
          </a:p>
        </p:txBody>
      </p:sp>
      <p:sp>
        <p:nvSpPr>
          <p:cNvPr id="3" name="TextBox 2"/>
          <p:cNvSpPr txBox="1"/>
          <p:nvPr/>
        </p:nvSpPr>
        <p:spPr>
          <a:xfrm>
            <a:off x="457200" y="1499616"/>
            <a:ext cx="11277600" cy="518159"/>
          </a:xfrm>
          <a:prstGeom prst="rect">
            <a:avLst/>
          </a:prstGeom>
          <a:noFill/>
        </p:spPr>
        <p:txBody>
          <a:bodyPr wrap="none" lIns="0" rIns="0">
            <a:noAutofit/>
          </a:bodyPr>
          <a:lstStyle/>
          <a:p>
            <a:pPr algn="l"/>
            <a:r>
              <a:rPr sz="3400" b="1" i="0">
                <a:solidFill>
                  <a:srgbClr val="0A2240"/>
                </a:solidFill>
                <a:latin typeface="Arial"/>
              </a:rPr>
              <a:t>Input</a:t>
            </a:r>
          </a:p>
        </p:txBody>
      </p:sp>
      <p:sp>
        <p:nvSpPr>
          <p:cNvPr id="4" name="TextBox 3"/>
          <p:cNvSpPr txBox="1"/>
          <p:nvPr/>
        </p:nvSpPr>
        <p:spPr>
          <a:xfrm>
            <a:off x="457200" y="2109215"/>
            <a:ext cx="11277600" cy="627889"/>
          </a:xfrm>
          <a:prstGeom prst="rect">
            <a:avLst/>
          </a:prstGeom>
          <a:noFill/>
        </p:spPr>
        <p:txBody>
          <a:bodyPr wrap="none" lIns="0" rIns="0">
            <a:noAutofit/>
          </a:bodyPr>
          <a:lstStyle/>
          <a:p>
            <a:pPr algn="l"/>
            <a:r>
              <a:rPr sz="3400" b="0" i="0">
                <a:solidFill>
                  <a:srgbClr val="0A2240"/>
                </a:solidFill>
                <a:latin typeface="Arial"/>
              </a:rPr>
              <a:t>Arrives wrong or not at all</a:t>
            </a:r>
          </a:p>
        </p:txBody>
      </p:sp>
      <p:sp>
        <p:nvSpPr>
          <p:cNvPr id="5" name="TextBox 4"/>
          <p:cNvSpPr txBox="1"/>
          <p:nvPr/>
        </p:nvSpPr>
        <p:spPr>
          <a:xfrm>
            <a:off x="457200" y="3011424"/>
            <a:ext cx="11277600" cy="518159"/>
          </a:xfrm>
          <a:prstGeom prst="rect">
            <a:avLst/>
          </a:prstGeom>
          <a:noFill/>
        </p:spPr>
        <p:txBody>
          <a:bodyPr wrap="none" lIns="0" rIns="0">
            <a:noAutofit/>
          </a:bodyPr>
          <a:lstStyle/>
          <a:p>
            <a:pPr algn="l"/>
            <a:r>
              <a:rPr sz="3400" b="1" i="0">
                <a:solidFill>
                  <a:srgbClr val="0A2240"/>
                </a:solidFill>
                <a:latin typeface="Arial"/>
              </a:rPr>
              <a:t>Transform</a:t>
            </a:r>
          </a:p>
        </p:txBody>
      </p:sp>
      <p:sp>
        <p:nvSpPr>
          <p:cNvPr id="6" name="TextBox 5"/>
          <p:cNvSpPr txBox="1"/>
          <p:nvPr/>
        </p:nvSpPr>
        <p:spPr>
          <a:xfrm>
            <a:off x="457200" y="3621023"/>
            <a:ext cx="11277600" cy="627889"/>
          </a:xfrm>
          <a:prstGeom prst="rect">
            <a:avLst/>
          </a:prstGeom>
          <a:noFill/>
        </p:spPr>
        <p:txBody>
          <a:bodyPr wrap="none" lIns="0" rIns="0">
            <a:noAutofit/>
          </a:bodyPr>
          <a:lstStyle/>
          <a:p>
            <a:pPr algn="l"/>
            <a:r>
              <a:rPr sz="3400" b="0" i="0">
                <a:solidFill>
                  <a:srgbClr val="0A2240"/>
                </a:solidFill>
                <a:latin typeface="Arial"/>
              </a:rPr>
              <a:t>Works, but not on real data</a:t>
            </a:r>
          </a:p>
        </p:txBody>
      </p:sp>
      <p:sp>
        <p:nvSpPr>
          <p:cNvPr id="7" name="TextBox 6"/>
          <p:cNvSpPr txBox="1"/>
          <p:nvPr/>
        </p:nvSpPr>
        <p:spPr>
          <a:xfrm>
            <a:off x="457200" y="4523232"/>
            <a:ext cx="11277600" cy="518159"/>
          </a:xfrm>
          <a:prstGeom prst="rect">
            <a:avLst/>
          </a:prstGeom>
          <a:noFill/>
        </p:spPr>
        <p:txBody>
          <a:bodyPr wrap="none" lIns="0" rIns="0">
            <a:noAutofit/>
          </a:bodyPr>
          <a:lstStyle/>
          <a:p>
            <a:pPr algn="l"/>
            <a:r>
              <a:rPr sz="3400" b="1" i="0">
                <a:solidFill>
                  <a:srgbClr val="0A2240"/>
                </a:solidFill>
                <a:latin typeface="Arial"/>
              </a:rPr>
              <a:t>Access</a:t>
            </a:r>
          </a:p>
        </p:txBody>
      </p:sp>
      <p:sp>
        <p:nvSpPr>
          <p:cNvPr id="8" name="TextBox 7"/>
          <p:cNvSpPr txBox="1"/>
          <p:nvPr/>
        </p:nvSpPr>
        <p:spPr>
          <a:xfrm>
            <a:off x="457200" y="5132831"/>
            <a:ext cx="11277600" cy="627889"/>
          </a:xfrm>
          <a:prstGeom prst="rect">
            <a:avLst/>
          </a:prstGeom>
          <a:noFill/>
        </p:spPr>
        <p:txBody>
          <a:bodyPr wrap="none" lIns="0" rIns="0">
            <a:noAutofit/>
          </a:bodyPr>
          <a:lstStyle/>
          <a:p>
            <a:pPr algn="l"/>
            <a:r>
              <a:rPr sz="3400" b="0" i="0">
                <a:solidFill>
                  <a:srgbClr val="0A2240"/>
                </a:solidFill>
                <a:latin typeface="Arial"/>
              </a:rPr>
              <a:t>The key, quota, or approval</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46</a:t>
            </a:fld>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What to Do With Three Failures</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Build the warning sign in first</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Stub the step if it may not land</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Give the risky box its best owner</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47</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Which Step Gets the Attention</a:t>
            </a:r>
          </a:p>
        </p:txBody>
      </p:sp>
      <p:sp>
        <p:nvSpPr>
          <p:cNvPr id="3" name="TextBox 2"/>
          <p:cNvSpPr txBox="1"/>
          <p:nvPr/>
        </p:nvSpPr>
        <p:spPr>
          <a:xfrm>
            <a:off x="3889248" y="1499616"/>
            <a:ext cx="2432304" cy="518159"/>
          </a:xfrm>
          <a:prstGeom prst="rect">
            <a:avLst/>
          </a:prstGeom>
          <a:noFill/>
        </p:spPr>
        <p:txBody>
          <a:bodyPr wrap="none" lIns="0" rIns="0">
            <a:noAutofit/>
          </a:bodyPr>
          <a:lstStyle/>
          <a:p>
            <a:pPr algn="ctr"/>
            <a:r>
              <a:rPr sz="3400" b="1" i="0">
                <a:solidFill>
                  <a:srgbClr val="0A2240"/>
                </a:solidFill>
                <a:latin typeface="Arial"/>
              </a:rPr>
              <a:t>Intake</a:t>
            </a:r>
          </a:p>
        </p:txBody>
      </p:sp>
      <p:sp>
        <p:nvSpPr>
          <p:cNvPr id="4" name="TextBox 3"/>
          <p:cNvSpPr txBox="1"/>
          <p:nvPr/>
        </p:nvSpPr>
        <p:spPr>
          <a:xfrm>
            <a:off x="6595872" y="1499616"/>
            <a:ext cx="2432304" cy="518159"/>
          </a:xfrm>
          <a:prstGeom prst="rect">
            <a:avLst/>
          </a:prstGeom>
          <a:noFill/>
        </p:spPr>
        <p:txBody>
          <a:bodyPr wrap="none" lIns="0" rIns="0">
            <a:noAutofit/>
          </a:bodyPr>
          <a:lstStyle/>
          <a:p>
            <a:pPr algn="ctr"/>
            <a:r>
              <a:rPr sz="3400" b="1" i="0">
                <a:solidFill>
                  <a:srgbClr val="0A2240"/>
                </a:solidFill>
                <a:latin typeface="Arial"/>
              </a:rPr>
              <a:t>Parse</a:t>
            </a:r>
          </a:p>
        </p:txBody>
      </p:sp>
      <p:sp>
        <p:nvSpPr>
          <p:cNvPr id="5" name="TextBox 4"/>
          <p:cNvSpPr txBox="1"/>
          <p:nvPr/>
        </p:nvSpPr>
        <p:spPr>
          <a:xfrm>
            <a:off x="9302496" y="1499616"/>
            <a:ext cx="2432304" cy="518159"/>
          </a:xfrm>
          <a:prstGeom prst="rect">
            <a:avLst/>
          </a:prstGeom>
          <a:noFill/>
        </p:spPr>
        <p:txBody>
          <a:bodyPr wrap="none" lIns="0" rIns="0">
            <a:noAutofit/>
          </a:bodyPr>
          <a:lstStyle/>
          <a:p>
            <a:pPr algn="ctr"/>
            <a:r>
              <a:rPr sz="3400" b="1" i="0">
                <a:solidFill>
                  <a:srgbClr val="0A2240"/>
                </a:solidFill>
                <a:latin typeface="Arial"/>
              </a:rPr>
              <a:t>Score</a:t>
            </a:r>
          </a:p>
        </p:txBody>
      </p:sp>
      <p:sp>
        <p:nvSpPr>
          <p:cNvPr id="6" name="Rectangle 5"/>
          <p:cNvSpPr/>
          <p:nvPr/>
        </p:nvSpPr>
        <p:spPr>
          <a:xfrm>
            <a:off x="457200" y="2072639"/>
            <a:ext cx="11277600" cy="54864"/>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401823"/>
            <a:ext cx="3291502" cy="936752"/>
          </a:xfrm>
          <a:prstGeom prst="rect">
            <a:avLst/>
          </a:prstGeom>
          <a:noFill/>
        </p:spPr>
        <p:txBody>
          <a:bodyPr wrap="none" lIns="0" rIns="0">
            <a:noAutofit/>
          </a:bodyPr>
          <a:lstStyle/>
          <a:p>
            <a:pPr algn="l"/>
            <a:r>
              <a:rPr sz="3400" b="1" i="0">
                <a:solidFill>
                  <a:srgbClr val="0A2240"/>
                </a:solidFill>
                <a:latin typeface="Arial"/>
              </a:rPr>
              <a:t>Unknown</a:t>
            </a:r>
          </a:p>
        </p:txBody>
      </p:sp>
      <p:sp>
        <p:nvSpPr>
          <p:cNvPr id="8" name="Rectangle 7"/>
          <p:cNvSpPr/>
          <p:nvPr/>
        </p:nvSpPr>
        <p:spPr>
          <a:xfrm>
            <a:off x="4568570" y="2401823"/>
            <a:ext cx="1073659" cy="518159"/>
          </a:xfrm>
          <a:prstGeom prst="rect">
            <a:avLst/>
          </a:prstGeom>
          <a:solidFill>
            <a:srgbClr val="007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18380" y="2401823"/>
            <a:ext cx="1374039" cy="518159"/>
          </a:xfrm>
          <a:prstGeom prst="rect">
            <a:avLst/>
          </a:prstGeom>
          <a:noFill/>
        </p:spPr>
        <p:txBody>
          <a:bodyPr wrap="none" lIns="0" rIns="0">
            <a:noAutofit/>
          </a:bodyPr>
          <a:lstStyle/>
          <a:p>
            <a:pPr algn="ctr"/>
            <a:r>
              <a:rPr sz="3400" b="1" i="0">
                <a:solidFill>
                  <a:srgbClr val="FFFFFF"/>
                </a:solidFill>
                <a:latin typeface="Arial"/>
              </a:rPr>
              <a:t>Yes</a:t>
            </a:r>
          </a:p>
        </p:txBody>
      </p:sp>
      <p:sp>
        <p:nvSpPr>
          <p:cNvPr id="10" name="TextBox 9"/>
          <p:cNvSpPr txBox="1"/>
          <p:nvPr/>
        </p:nvSpPr>
        <p:spPr>
          <a:xfrm>
            <a:off x="6595872" y="2401823"/>
            <a:ext cx="2432304" cy="936752"/>
          </a:xfrm>
          <a:prstGeom prst="rect">
            <a:avLst/>
          </a:prstGeom>
          <a:noFill/>
        </p:spPr>
        <p:txBody>
          <a:bodyPr wrap="none" lIns="0" rIns="0">
            <a:noAutofit/>
          </a:bodyPr>
          <a:lstStyle/>
          <a:p>
            <a:pPr algn="ctr"/>
            <a:r>
              <a:rPr sz="3400" b="0" i="0">
                <a:solidFill>
                  <a:srgbClr val="0A2240"/>
                </a:solidFill>
                <a:latin typeface="Arial"/>
              </a:rPr>
              <a:t>Yes</a:t>
            </a:r>
          </a:p>
        </p:txBody>
      </p:sp>
      <p:sp>
        <p:nvSpPr>
          <p:cNvPr id="11" name="TextBox 10"/>
          <p:cNvSpPr txBox="1"/>
          <p:nvPr/>
        </p:nvSpPr>
        <p:spPr>
          <a:xfrm>
            <a:off x="9302496" y="2401823"/>
            <a:ext cx="2432304" cy="936752"/>
          </a:xfrm>
          <a:prstGeom prst="rect">
            <a:avLst/>
          </a:prstGeom>
          <a:noFill/>
        </p:spPr>
        <p:txBody>
          <a:bodyPr wrap="none" lIns="0" rIns="0">
            <a:noAutofit/>
          </a:bodyPr>
          <a:lstStyle/>
          <a:p>
            <a:pPr algn="ctr"/>
            <a:r>
              <a:rPr sz="3400" b="0" i="0">
                <a:solidFill>
                  <a:srgbClr val="0A2240"/>
                </a:solidFill>
                <a:latin typeface="Arial"/>
              </a:rPr>
              <a:t>Yes</a:t>
            </a:r>
          </a:p>
        </p:txBody>
      </p:sp>
      <p:sp>
        <p:nvSpPr>
          <p:cNvPr id="12" name="TextBox 11"/>
          <p:cNvSpPr txBox="1"/>
          <p:nvPr/>
        </p:nvSpPr>
        <p:spPr>
          <a:xfrm>
            <a:off x="457200" y="3612895"/>
            <a:ext cx="3907830" cy="936752"/>
          </a:xfrm>
          <a:prstGeom prst="rect">
            <a:avLst/>
          </a:prstGeom>
          <a:noFill/>
        </p:spPr>
        <p:txBody>
          <a:bodyPr wrap="none" lIns="0" rIns="0">
            <a:noAutofit/>
          </a:bodyPr>
          <a:lstStyle/>
          <a:p>
            <a:pPr algn="l"/>
            <a:r>
              <a:rPr sz="3400" b="1" i="0">
                <a:solidFill>
                  <a:srgbClr val="0A2240"/>
                </a:solidFill>
                <a:latin typeface="Arial"/>
              </a:rPr>
              <a:t>Blocks rest</a:t>
            </a:r>
          </a:p>
        </p:txBody>
      </p:sp>
      <p:sp>
        <p:nvSpPr>
          <p:cNvPr id="13" name="TextBox 12"/>
          <p:cNvSpPr txBox="1"/>
          <p:nvPr/>
        </p:nvSpPr>
        <p:spPr>
          <a:xfrm>
            <a:off x="3889248" y="3612895"/>
            <a:ext cx="2432304" cy="936752"/>
          </a:xfrm>
          <a:prstGeom prst="rect">
            <a:avLst/>
          </a:prstGeom>
          <a:noFill/>
        </p:spPr>
        <p:txBody>
          <a:bodyPr wrap="none" lIns="0" rIns="0">
            <a:noAutofit/>
          </a:bodyPr>
          <a:lstStyle/>
          <a:p>
            <a:pPr algn="ctr"/>
            <a:r>
              <a:rPr sz="3400" b="0" i="0">
                <a:solidFill>
                  <a:srgbClr val="0A2240"/>
                </a:solidFill>
                <a:latin typeface="Arial"/>
              </a:rPr>
              <a:t>No</a:t>
            </a:r>
          </a:p>
        </p:txBody>
      </p:sp>
      <p:sp>
        <p:nvSpPr>
          <p:cNvPr id="14" name="TextBox 13"/>
          <p:cNvSpPr txBox="1"/>
          <p:nvPr/>
        </p:nvSpPr>
        <p:spPr>
          <a:xfrm>
            <a:off x="6595872" y="3612895"/>
            <a:ext cx="2432304" cy="936752"/>
          </a:xfrm>
          <a:prstGeom prst="rect">
            <a:avLst/>
          </a:prstGeom>
          <a:noFill/>
        </p:spPr>
        <p:txBody>
          <a:bodyPr wrap="none" lIns="0" rIns="0">
            <a:noAutofit/>
          </a:bodyPr>
          <a:lstStyle/>
          <a:p>
            <a:pPr algn="ctr"/>
            <a:r>
              <a:rPr sz="3400" b="0" i="0">
                <a:solidFill>
                  <a:srgbClr val="0A2240"/>
                </a:solidFill>
                <a:latin typeface="Arial"/>
              </a:rPr>
              <a:t>Yes</a:t>
            </a:r>
          </a:p>
        </p:txBody>
      </p:sp>
      <p:sp>
        <p:nvSpPr>
          <p:cNvPr id="15" name="TextBox 14"/>
          <p:cNvSpPr txBox="1"/>
          <p:nvPr/>
        </p:nvSpPr>
        <p:spPr>
          <a:xfrm>
            <a:off x="9302496" y="3612895"/>
            <a:ext cx="2432304" cy="936752"/>
          </a:xfrm>
          <a:prstGeom prst="rect">
            <a:avLst/>
          </a:prstGeom>
          <a:noFill/>
        </p:spPr>
        <p:txBody>
          <a:bodyPr wrap="none" lIns="0" rIns="0">
            <a:noAutofit/>
          </a:bodyPr>
          <a:lstStyle/>
          <a:p>
            <a:pPr algn="ctr"/>
            <a:r>
              <a:rPr sz="3400" b="0" i="0">
                <a:solidFill>
                  <a:srgbClr val="0A2240"/>
                </a:solidFill>
                <a:latin typeface="Arial"/>
              </a:rPr>
              <a:t>No</a:t>
            </a:r>
          </a:p>
        </p:txBody>
      </p:sp>
      <p:sp>
        <p:nvSpPr>
          <p:cNvPr id="16" name="TextBox 15"/>
          <p:cNvSpPr txBox="1"/>
          <p:nvPr/>
        </p:nvSpPr>
        <p:spPr>
          <a:xfrm>
            <a:off x="457200" y="4823967"/>
            <a:ext cx="3599160" cy="936752"/>
          </a:xfrm>
          <a:prstGeom prst="rect">
            <a:avLst/>
          </a:prstGeom>
          <a:noFill/>
        </p:spPr>
        <p:txBody>
          <a:bodyPr wrap="none" lIns="0" rIns="0">
            <a:noAutofit/>
          </a:bodyPr>
          <a:lstStyle/>
          <a:p>
            <a:pPr algn="l"/>
            <a:r>
              <a:rPr sz="3400" b="1" i="0">
                <a:solidFill>
                  <a:srgbClr val="0A2240"/>
                </a:solidFill>
                <a:latin typeface="Arial"/>
              </a:rPr>
              <a:t>Hard to fix</a:t>
            </a:r>
          </a:p>
        </p:txBody>
      </p:sp>
      <p:sp>
        <p:nvSpPr>
          <p:cNvPr id="17" name="TextBox 16"/>
          <p:cNvSpPr txBox="1"/>
          <p:nvPr/>
        </p:nvSpPr>
        <p:spPr>
          <a:xfrm>
            <a:off x="3889248" y="4823967"/>
            <a:ext cx="2432304" cy="936752"/>
          </a:xfrm>
          <a:prstGeom prst="rect">
            <a:avLst/>
          </a:prstGeom>
          <a:noFill/>
        </p:spPr>
        <p:txBody>
          <a:bodyPr wrap="none" lIns="0" rIns="0">
            <a:noAutofit/>
          </a:bodyPr>
          <a:lstStyle/>
          <a:p>
            <a:pPr algn="ctr"/>
            <a:r>
              <a:rPr sz="3400" b="0" i="0">
                <a:solidFill>
                  <a:srgbClr val="0A2240"/>
                </a:solidFill>
                <a:latin typeface="Arial"/>
              </a:rPr>
              <a:t>Yes</a:t>
            </a:r>
          </a:p>
        </p:txBody>
      </p:sp>
      <p:sp>
        <p:nvSpPr>
          <p:cNvPr id="18" name="TextBox 17"/>
          <p:cNvSpPr txBox="1"/>
          <p:nvPr/>
        </p:nvSpPr>
        <p:spPr>
          <a:xfrm>
            <a:off x="6595872" y="4823967"/>
            <a:ext cx="2432304" cy="936752"/>
          </a:xfrm>
          <a:prstGeom prst="rect">
            <a:avLst/>
          </a:prstGeom>
          <a:noFill/>
        </p:spPr>
        <p:txBody>
          <a:bodyPr wrap="none" lIns="0" rIns="0">
            <a:noAutofit/>
          </a:bodyPr>
          <a:lstStyle/>
          <a:p>
            <a:pPr algn="ctr"/>
            <a:r>
              <a:rPr sz="3400" b="0" i="0">
                <a:solidFill>
                  <a:srgbClr val="0A2240"/>
                </a:solidFill>
                <a:latin typeface="Arial"/>
              </a:rPr>
              <a:t>No</a:t>
            </a:r>
          </a:p>
        </p:txBody>
      </p:sp>
      <p:sp>
        <p:nvSpPr>
          <p:cNvPr id="19" name="TextBox 18"/>
          <p:cNvSpPr txBox="1"/>
          <p:nvPr/>
        </p:nvSpPr>
        <p:spPr>
          <a:xfrm>
            <a:off x="9302496" y="4823967"/>
            <a:ext cx="2432304" cy="936752"/>
          </a:xfrm>
          <a:prstGeom prst="rect">
            <a:avLst/>
          </a:prstGeom>
          <a:noFill/>
        </p:spPr>
        <p:txBody>
          <a:bodyPr wrap="none" lIns="0" rIns="0">
            <a:noAutofit/>
          </a:bodyPr>
          <a:lstStyle/>
          <a:p>
            <a:pPr algn="ctr"/>
            <a:r>
              <a:rPr sz="3400" b="0" i="0">
                <a:solidFill>
                  <a:srgbClr val="0A2240"/>
                </a:solidFill>
                <a:latin typeface="Arial"/>
              </a:rPr>
              <a:t>No</a:t>
            </a:r>
          </a:p>
        </p:txBody>
      </p:sp>
      <p:sp>
        <p:nvSpPr>
          <p:cNvPr id="20" name="TextBox 19"/>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Write the Risk Down</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Put it on the diagram</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Name the warning sign</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Say who is watching for it</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49</a:t>
            </a:fld>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734800" cy="768096"/>
          </a:xfrm>
          <a:prstGeom prst="rect">
            <a:avLst/>
          </a:prstGeom>
          <a:noFill/>
        </p:spPr>
        <p:txBody>
          <a:bodyPr wrap="none" lIns="0" rIns="0">
            <a:noAutofit/>
          </a:bodyPr>
          <a:lstStyle/>
          <a:p>
            <a:pPr algn="l"/>
            <a:r>
              <a:rPr sz="4200" b="1" i="0">
                <a:solidFill>
                  <a:srgbClr val="0072CE"/>
                </a:solidFill>
                <a:latin typeface="Arial"/>
              </a:rPr>
              <a:t>Done With This Session When</a:t>
            </a:r>
          </a:p>
        </p:txBody>
      </p:sp>
      <p:sp>
        <p:nvSpPr>
          <p:cNvPr id="3" name="TextBox 2"/>
          <p:cNvSpPr txBox="1"/>
          <p:nvPr/>
        </p:nvSpPr>
        <p:spPr>
          <a:xfrm>
            <a:off x="457200" y="1908050"/>
            <a:ext cx="11277600" cy="518159"/>
          </a:xfrm>
          <a:prstGeom prst="rect">
            <a:avLst/>
          </a:prstGeom>
          <a:noFill/>
        </p:spPr>
        <p:txBody>
          <a:bodyPr wrap="none" lIns="0" rIns="0">
            <a:noAutofit/>
          </a:bodyPr>
          <a:lstStyle/>
          <a:p>
            <a:pPr algn="l"/>
            <a:r>
              <a:rPr sz="3400" b="0" i="0">
                <a:solidFill>
                  <a:srgbClr val="0A2240"/>
                </a:solidFill>
                <a:latin typeface="Arial"/>
              </a:rPr>
              <a:t>The map runs input to output</a:t>
            </a:r>
          </a:p>
        </p:txBody>
      </p:sp>
      <p:sp>
        <p:nvSpPr>
          <p:cNvPr id="4" name="TextBox 3"/>
          <p:cNvSpPr txBox="1"/>
          <p:nvPr/>
        </p:nvSpPr>
        <p:spPr>
          <a:xfrm>
            <a:off x="457200" y="2883409"/>
            <a:ext cx="11277600" cy="518159"/>
          </a:xfrm>
          <a:prstGeom prst="rect">
            <a:avLst/>
          </a:prstGeom>
          <a:noFill/>
        </p:spPr>
        <p:txBody>
          <a:bodyPr wrap="none" lIns="0" rIns="0">
            <a:noAutofit/>
          </a:bodyPr>
          <a:lstStyle/>
          <a:p>
            <a:pPr algn="l"/>
            <a:r>
              <a:rPr sz="3400" b="0" i="0">
                <a:solidFill>
                  <a:srgbClr val="0A2240"/>
                </a:solidFill>
                <a:latin typeface="Arial"/>
              </a:rPr>
              <a:t>It is an Artifact with a link</a:t>
            </a:r>
          </a:p>
        </p:txBody>
      </p:sp>
      <p:sp>
        <p:nvSpPr>
          <p:cNvPr id="5" name="TextBox 4"/>
          <p:cNvSpPr txBox="1"/>
          <p:nvPr/>
        </p:nvSpPr>
        <p:spPr>
          <a:xfrm>
            <a:off x="457200" y="3858768"/>
            <a:ext cx="11277600" cy="518159"/>
          </a:xfrm>
          <a:prstGeom prst="rect">
            <a:avLst/>
          </a:prstGeom>
          <a:noFill/>
        </p:spPr>
        <p:txBody>
          <a:bodyPr wrap="none" lIns="0" rIns="0">
            <a:noAutofit/>
          </a:bodyPr>
          <a:lstStyle/>
          <a:p>
            <a:pPr algn="l"/>
            <a:r>
              <a:rPr sz="3400" b="0" i="0">
                <a:solidFill>
                  <a:srgbClr val="0A2240"/>
                </a:solidFill>
                <a:latin typeface="Arial"/>
              </a:rPr>
              <a:t>Every box names what it needs</a:t>
            </a:r>
          </a:p>
        </p:txBody>
      </p:sp>
      <p:sp>
        <p:nvSpPr>
          <p:cNvPr id="6" name="TextBox 5"/>
          <p:cNvSpPr txBox="1"/>
          <p:nvPr/>
        </p:nvSpPr>
        <p:spPr>
          <a:xfrm>
            <a:off x="457200" y="4834127"/>
            <a:ext cx="11277600" cy="518159"/>
          </a:xfrm>
          <a:prstGeom prst="rect">
            <a:avLst/>
          </a:prstGeom>
          <a:noFill/>
        </p:spPr>
        <p:txBody>
          <a:bodyPr wrap="none" lIns="0" rIns="0">
            <a:noAutofit/>
          </a:bodyPr>
          <a:lstStyle/>
          <a:p>
            <a:pPr algn="l"/>
            <a:r>
              <a:rPr sz="3400" b="0" i="0">
                <a:solidFill>
                  <a:srgbClr val="0A2240"/>
                </a:solidFill>
                <a:latin typeface="Arial"/>
              </a:rPr>
              <a:t>The riskiest step has three failures</a:t>
            </a:r>
          </a:p>
        </p:txBody>
      </p:sp>
      <p:sp>
        <p:nvSpPr>
          <p:cNvPr id="7" name="TextBox 6"/>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50</a:t>
            </a:fld>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What You Leave With</a:t>
            </a:r>
          </a:p>
        </p:txBody>
      </p:sp>
      <p:sp>
        <p:nvSpPr>
          <p:cNvPr id="3" name="TextBox 2"/>
          <p:cNvSpPr txBox="1"/>
          <p:nvPr/>
        </p:nvSpPr>
        <p:spPr>
          <a:xfrm>
            <a:off x="457200" y="2776728"/>
            <a:ext cx="3576320" cy="914400"/>
          </a:xfrm>
          <a:prstGeom prst="rect">
            <a:avLst/>
          </a:prstGeom>
          <a:noFill/>
        </p:spPr>
        <p:txBody>
          <a:bodyPr wrap="none" lIns="0" rIns="0">
            <a:noAutofit/>
          </a:bodyPr>
          <a:lstStyle/>
          <a:p>
            <a:pPr algn="l"/>
            <a:r>
              <a:rPr sz="6000" b="1" i="0">
                <a:solidFill>
                  <a:srgbClr val="0072CE"/>
                </a:solidFill>
                <a:latin typeface="Arial"/>
              </a:rPr>
              <a:t>1</a:t>
            </a:r>
          </a:p>
        </p:txBody>
      </p:sp>
      <p:sp>
        <p:nvSpPr>
          <p:cNvPr id="4" name="TextBox 3"/>
          <p:cNvSpPr txBox="1"/>
          <p:nvPr/>
        </p:nvSpPr>
        <p:spPr>
          <a:xfrm>
            <a:off x="457200" y="3965448"/>
            <a:ext cx="5098652" cy="518159"/>
          </a:xfrm>
          <a:prstGeom prst="rect">
            <a:avLst/>
          </a:prstGeom>
          <a:noFill/>
        </p:spPr>
        <p:txBody>
          <a:bodyPr wrap="none" lIns="0" rIns="0">
            <a:noAutofit/>
          </a:bodyPr>
          <a:lstStyle/>
          <a:p>
            <a:pPr algn="l"/>
            <a:r>
              <a:rPr sz="3400" b="0" i="0">
                <a:solidFill>
                  <a:srgbClr val="0A2240"/>
                </a:solidFill>
                <a:latin typeface="Arial"/>
              </a:rPr>
              <a:t>Shared diagram</a:t>
            </a:r>
          </a:p>
        </p:txBody>
      </p:sp>
      <p:sp>
        <p:nvSpPr>
          <p:cNvPr id="5" name="TextBox 4"/>
          <p:cNvSpPr txBox="1"/>
          <p:nvPr/>
        </p:nvSpPr>
        <p:spPr>
          <a:xfrm>
            <a:off x="4307840" y="2776728"/>
            <a:ext cx="3576320" cy="914400"/>
          </a:xfrm>
          <a:prstGeom prst="rect">
            <a:avLst/>
          </a:prstGeom>
          <a:noFill/>
        </p:spPr>
        <p:txBody>
          <a:bodyPr wrap="none" lIns="0" rIns="0">
            <a:noAutofit/>
          </a:bodyPr>
          <a:lstStyle/>
          <a:p>
            <a:pPr algn="l"/>
            <a:r>
              <a:rPr sz="6000" b="1" i="0">
                <a:solidFill>
                  <a:srgbClr val="0072CE"/>
                </a:solidFill>
                <a:latin typeface="Arial"/>
              </a:rPr>
              <a:t>4</a:t>
            </a:r>
          </a:p>
        </p:txBody>
      </p:sp>
      <p:sp>
        <p:nvSpPr>
          <p:cNvPr id="6" name="TextBox 5"/>
          <p:cNvSpPr txBox="1"/>
          <p:nvPr/>
        </p:nvSpPr>
        <p:spPr>
          <a:xfrm>
            <a:off x="4307840" y="3965448"/>
            <a:ext cx="4408110" cy="518159"/>
          </a:xfrm>
          <a:prstGeom prst="rect">
            <a:avLst/>
          </a:prstGeom>
          <a:noFill/>
        </p:spPr>
        <p:txBody>
          <a:bodyPr wrap="none" lIns="0" rIns="0">
            <a:noAutofit/>
          </a:bodyPr>
          <a:lstStyle/>
          <a:p>
            <a:pPr algn="l"/>
            <a:r>
              <a:rPr sz="3400" b="0" i="0">
                <a:solidFill>
                  <a:srgbClr val="0A2240"/>
                </a:solidFill>
                <a:latin typeface="Arial"/>
              </a:rPr>
              <a:t>Kinds of need</a:t>
            </a:r>
          </a:p>
        </p:txBody>
      </p:sp>
      <p:sp>
        <p:nvSpPr>
          <p:cNvPr id="7" name="TextBox 6"/>
          <p:cNvSpPr txBox="1"/>
          <p:nvPr/>
        </p:nvSpPr>
        <p:spPr>
          <a:xfrm>
            <a:off x="8158480" y="2776728"/>
            <a:ext cx="3576320" cy="914400"/>
          </a:xfrm>
          <a:prstGeom prst="rect">
            <a:avLst/>
          </a:prstGeom>
          <a:noFill/>
        </p:spPr>
        <p:txBody>
          <a:bodyPr wrap="none" lIns="0" rIns="0">
            <a:noAutofit/>
          </a:bodyPr>
          <a:lstStyle/>
          <a:p>
            <a:pPr algn="l"/>
            <a:r>
              <a:rPr sz="6000" b="1" i="0">
                <a:solidFill>
                  <a:srgbClr val="0072CE"/>
                </a:solidFill>
                <a:latin typeface="Arial"/>
              </a:rPr>
              <a:t>3</a:t>
            </a:r>
          </a:p>
        </p:txBody>
      </p:sp>
      <p:sp>
        <p:nvSpPr>
          <p:cNvPr id="8" name="TextBox 7"/>
          <p:cNvSpPr txBox="1"/>
          <p:nvPr/>
        </p:nvSpPr>
        <p:spPr>
          <a:xfrm>
            <a:off x="8158480" y="3965448"/>
            <a:ext cx="4033520" cy="518159"/>
          </a:xfrm>
          <a:prstGeom prst="rect">
            <a:avLst/>
          </a:prstGeom>
          <a:noFill/>
        </p:spPr>
        <p:txBody>
          <a:bodyPr wrap="none" lIns="0" rIns="0">
            <a:noAutofit/>
          </a:bodyPr>
          <a:lstStyle/>
          <a:p>
            <a:pPr algn="l"/>
            <a:r>
              <a:rPr sz="3400" b="0" i="0">
                <a:solidFill>
                  <a:srgbClr val="0A2240"/>
                </a:solidFill>
                <a:latin typeface="Arial"/>
              </a:rPr>
              <a:t>Named failures</a:t>
            </a:r>
          </a:p>
        </p:txBody>
      </p:sp>
      <p:sp>
        <p:nvSpPr>
          <p:cNvPr id="9" name="TextBox 8"/>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51</a:t>
            </a:fld>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MasterSp="0">
  <p:cSld>
    <p:bg>
      <p:bgPr>
        <a:solidFill>
          <a:srgbClr val="FFFFFF"/>
        </a:solidFill>
        <a:effectLst/>
      </p:bgPr>
    </p:bg>
    <p:spTree>
      <p:nvGrpSpPr>
        <p:cNvPr id="1" name=""/>
        <p:cNvGrpSpPr/>
        <p:nvPr/>
      </p:nvGrpSpPr>
      <p:grpSpPr/>
      <p:sp>
        <p:nvSpPr>
          <p:cNvPr id="2" name="TextBox 1"/>
          <p:cNvSpPr txBox="1"/>
          <p:nvPr/>
        </p:nvSpPr>
        <p:spPr>
          <a:xfrm>
            <a:off x="457200" y="457200"/>
            <a:ext cx="11277600" cy="768096"/>
          </a:xfrm>
          <a:prstGeom prst="rect">
            <a:avLst/>
          </a:prstGeom>
          <a:noFill/>
        </p:spPr>
        <p:txBody>
          <a:bodyPr wrap="none" lIns="0" rIns="0">
            <a:noAutofit/>
          </a:bodyPr>
          <a:lstStyle/>
          <a:p>
            <a:pPr algn="l"/>
            <a:r>
              <a:rPr sz="4200" b="1" i="0">
                <a:solidFill>
                  <a:srgbClr val="0072CE"/>
                </a:solidFill>
                <a:latin typeface="Arial"/>
              </a:rPr>
              <a:t>Next: Dividing the Work</a:t>
            </a:r>
          </a:p>
        </p:txBody>
      </p:sp>
      <p:sp>
        <p:nvSpPr>
          <p:cNvPr id="3" name="TextBox 2"/>
          <p:cNvSpPr txBox="1"/>
          <p:nvPr/>
        </p:nvSpPr>
        <p:spPr>
          <a:xfrm>
            <a:off x="457200" y="2395729"/>
            <a:ext cx="11277600" cy="518159"/>
          </a:xfrm>
          <a:prstGeom prst="rect">
            <a:avLst/>
          </a:prstGeom>
          <a:noFill/>
        </p:spPr>
        <p:txBody>
          <a:bodyPr wrap="none" lIns="0" rIns="0">
            <a:noAutofit/>
          </a:bodyPr>
          <a:lstStyle/>
          <a:p>
            <a:pPr algn="l"/>
            <a:r>
              <a:rPr sz="3400" b="0" i="0">
                <a:solidFill>
                  <a:srgbClr val="0A2240"/>
                </a:solidFill>
                <a:latin typeface="Arial"/>
              </a:rPr>
              <a:t>Give every step one owner</a:t>
            </a:r>
          </a:p>
        </p:txBody>
      </p:sp>
      <p:sp>
        <p:nvSpPr>
          <p:cNvPr id="4" name="TextBox 3"/>
          <p:cNvSpPr txBox="1"/>
          <p:nvPr/>
        </p:nvSpPr>
        <p:spPr>
          <a:xfrm>
            <a:off x="457200" y="3371088"/>
            <a:ext cx="11277600" cy="518159"/>
          </a:xfrm>
          <a:prstGeom prst="rect">
            <a:avLst/>
          </a:prstGeom>
          <a:noFill/>
        </p:spPr>
        <p:txBody>
          <a:bodyPr wrap="none" lIns="0" rIns="0">
            <a:noAutofit/>
          </a:bodyPr>
          <a:lstStyle/>
          <a:p>
            <a:pPr algn="l"/>
            <a:r>
              <a:rPr sz="3400" b="0" i="0">
                <a:solidFill>
                  <a:srgbClr val="0A2240"/>
                </a:solidFill>
                <a:latin typeface="Arial"/>
              </a:rPr>
              <a:t>Run workstreams in parallel</a:t>
            </a:r>
          </a:p>
        </p:txBody>
      </p:sp>
      <p:sp>
        <p:nvSpPr>
          <p:cNvPr id="5" name="TextBox 4"/>
          <p:cNvSpPr txBox="1"/>
          <p:nvPr/>
        </p:nvSpPr>
        <p:spPr>
          <a:xfrm>
            <a:off x="457200" y="4346447"/>
            <a:ext cx="11277600" cy="518159"/>
          </a:xfrm>
          <a:prstGeom prst="rect">
            <a:avLst/>
          </a:prstGeom>
          <a:noFill/>
        </p:spPr>
        <p:txBody>
          <a:bodyPr wrap="none" lIns="0" rIns="0">
            <a:noAutofit/>
          </a:bodyPr>
          <a:lstStyle/>
          <a:p>
            <a:pPr algn="l"/>
            <a:r>
              <a:rPr sz="3400" b="0" i="0">
                <a:solidFill>
                  <a:srgbClr val="0A2240"/>
                </a:solidFill>
                <a:latin typeface="Arial"/>
              </a:rPr>
              <a:t>Put the board in GitHub</a:t>
            </a:r>
          </a:p>
        </p:txBody>
      </p:sp>
      <p:sp>
        <p:nvSpPr>
          <p:cNvPr id="6" name="TextBox 5"/>
          <p:cNvSpPr/>
          <p:nvPr>
            <p:ph type="sldNum" idx="12"/>
          </p:nvPr>
        </p:nvSpPr>
        <p:spPr>
          <a:xfrm>
            <a:off x="11186160" y="6035040"/>
            <a:ext cx="548640" cy="365760"/>
          </a:xfrm>
          <a:prstGeom prst="rect">
            <a:avLst/>
          </a:prstGeom>
          <a:noFill/>
        </p:spPr>
        <p:txBody>
          <a:bodyPr wrap="none" lIns="0" rIns="0">
            <a:noAutofit/>
          </a:bodyPr>
          <a:lstStyle/>
          <a:p>
            <a:pPr algn="r"/>
            <a:fld id="{4B0E1F8A-6C1D-4E2A-9F3B-7A5C8D2E1F60}" type="slidenum">
              <a:rPr sz="1600" b="0" i="0">
                <a:solidFill>
                  <a:srgbClr val="0A2240"/>
                </a:solidFill>
                <a:latin typeface="Arial"/>
              </a:rPr>
              <a:t>52</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