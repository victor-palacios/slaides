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learn what an MCP server is, and then we build one, following a single tutorial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reference is a thirty-minute video by Tech With Tim called MCP Servers Explained and Built. We follow it in the same order, so you can rewatch any part of it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the same as the video: what an MCP server is, local versus remote, who may call your tools, building a notes server, and adding a real login to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MCP server is a program that gives an AI model a list of functions it is allowed to call. That really is the whole idea; everything else is detail.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its own, a model takes text in and gives text out. It can't read your files, it can't check your calendar, and it can't query your database.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give it tools. A tool is just a function with a name, a description and some inputs, which the model can ask to 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tool call takes three steps. The model asks for a tool by name, with its inputs. Your code runs it — the model itself never runs anything. Then the result goes back, and the model carries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MCP, every app had to rebuild the same tool plumbing, so a GitHub tool written for Claude didn't work in Cursor. With MCP you write the tools once, and any app that speaks MCP can use them — one plug that fits everywhere, like USB-C.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sides. The client is the app the model lives in, like Claude Code or Cursor, and it asks what tools exist. The server is your code: it sends back its tool list and runs whichever tool is asked for.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server runs one of two ways. A local server runs on your laptop, Claude starts it for you, and only you can use it. A remote server runs on the internet behind a URL, and anyone who has that URL can reach it — which is how GitHub, Notion and Stripe offer theirs.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your server is on the internet, every request has to answer three questions: which app is calling, which person it is acting for, and what they are allowed to do — read, write, or delete.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servers answer those questions with one shared key, and it fails all three. Every agent using the key looks the same, there is no person behind any request, and if one copy leaks you have to replace the key for everyone.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answer is OAuth, the login standard the MCP spec builds on. Claude calls with no token, and the server replies 401 with where to log in. You log in and approve on a separate login service, and Claude gets a token. Claude sends that token with every request, and the server checks it before running the tool.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token answers all three questions. The client id says which app is calling, the user id says who it acts for, and the scopes say what they may do. It also names the one server it was made for, so it can't be reused anywhere else.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build. The tutorial's code is on GitHub as three versions of one notes server: version one is local with no login, version two is on a URL with no login, and version three is on a URL with a real login.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version one, trimmed. We create a server called notes, mark an ordinary Python function as a tool with one decorator, and run it. The FastMCP library handles the rest of the protocol for 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only knows what you tell it. The docstring becomes the tool's description, and the type hints tell it what to pass and what comes back, so write both on every tool.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connect it locally, we tell Claude Code the command that starts the server. Then you can simply ask what your notes server can do, and Claude lists the three tools.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two changes one line: the server now runs over HTTP, so it lives at a URL. We connect Claude Code to that URL, and the slash mcp at the end is required. But now anyone with the URL can read and delete the notes.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version three the tutorial uses a login service called Descope. You add your server with its URL ending in slash mcp, add two scopes for reading and writing notes, and copy the config URL into your env file.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code, the gate is one object. We point it at the login service and list the two scopes, then hand it to the server, which now turns away any request without a valid token.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tool then checks the token itself. Adding a note needs the write scope, and the note is saved under the user's own id instead of the word local.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test it with two accounts. Run slash mcp in Claude Code, sign in and approve both scopes, and add the note "Tim is the best". Sign in as someone else, list the notes, and they see none, because every user now has their 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Login protects your server from callers, but the danger also runs the other way. In September 2025, a fake email server called postmark-mcp worked honestly for fifteen versions, then quietly copied every email it sent to a stranger.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tutorial and its code come from Tech With Tim. We checked the login rules against the MCP specification, the commands against the Claude Code docs, and the attack against Snyk's report.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you build or connect a server: a remote server needs a real login, each tool should need only the scope it uses, connect only servers you trust, and pin the version you checked so an update can't change it behind your 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0072CE"/>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958840" cy="609600"/>
          </a:xfrm>
          <a:prstGeom prst="rect">
            <a:avLst/>
          </a:prstGeom>
          <a:noFill/>
        </p:spPr>
        <p:txBody>
          <a:bodyPr wrap="none" lIns="0" rIns="0">
            <a:noAutofit/>
          </a:bodyPr>
          <a:lstStyle/>
          <a:p>
            <a:pPr algn="l"/>
            <a:r>
              <a:rPr sz="3400" b="0" i="0">
                <a:solidFill>
                  <a:srgbClr val="0A2240"/>
                </a:solidFill>
                <a:latin typeface="Arial"/>
              </a:rPr>
              <a:t>Built with customers.</a:t>
            </a:r>
          </a:p>
        </p:txBody>
      </p:sp>
      <p:sp>
        <p:nvSpPr>
          <p:cNvPr id="7" name="TextBox 6"/>
          <p:cNvSpPr/>
          <p:nvPr>
            <p:ph type="body" idx="2"/>
          </p:nvPr>
        </p:nvSpPr>
        <p:spPr>
          <a:xfrm>
            <a:off x="6233160" y="2383536"/>
            <a:ext cx="5501640" cy="1127760"/>
          </a:xfrm>
          <a:prstGeom prst="rect">
            <a:avLst/>
          </a:prstGeom>
          <a:noFill/>
        </p:spPr>
        <p:txBody>
          <a:bodyPr wrap="square" lIns="0" rIns="0">
            <a:noAutofit/>
          </a:bodyPr>
          <a:lstStyle/>
          <a:p>
            <a:pPr algn="l"/>
            <a:r>
              <a:rPr sz="3400" b="0" i="0">
                <a:solidFill>
                  <a:srgbClr val="0A2240"/>
                </a:solidFill>
                <a:latin typeface="Arial"/>
              </a:rPr>
              <a:t>60% faster;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621280"/>
            <a:ext cx="128016" cy="16154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"We buy outcomes, not tools."</a:t>
            </a:r>
          </a:p>
        </p:txBody>
      </p:sp>
      <p:sp>
        <p:nvSpPr>
          <p:cNvPr id="7" name="TextBox 6"/>
          <p:cNvSpPr/>
          <p:nvPr>
            <p:ph type="body" idx="3"/>
          </p:nvPr>
        </p:nvSpPr>
        <p:spPr>
          <a:xfrm>
            <a:off x="996696" y="3627120"/>
            <a:ext cx="11195304" cy="609600"/>
          </a:xfrm>
          <a:prstGeom prst="rect">
            <a:avLst/>
          </a:prstGeom>
          <a:noFill/>
        </p:spPr>
        <p:txBody>
          <a:bodyPr wrap="none" lIns="0" rIns="0">
            <a:noAutofit/>
          </a:bodyPr>
          <a:lstStyle/>
          <a:p>
            <a:pPr algn="l"/>
            <a:r>
              <a:rPr sz="3400" b="0" i="0">
                <a:solidFill>
                  <a:srgbClr val="0A2240"/>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484120"/>
            <a:ext cx="128016" cy="188976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Revenue kept from existing customers.</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926080"/>
            <a:ext cx="128016" cy="10058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if we trusted users?</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FFFF"/>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FFFF"/>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FFFFF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FFFFFF"/>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2524382" cy="518159"/>
          </a:xfrm>
          <a:prstGeom prst="rect">
            <a:avLst/>
          </a:prstGeom>
          <a:noFill/>
        </p:spPr>
        <p:txBody>
          <a:bodyPr wrap="none" lIns="0" rIns="0">
            <a:noAutofit/>
          </a:bodyPr>
          <a:lstStyle/>
          <a:p>
            <a:pPr algn="l"/>
            <a:r>
              <a:rPr sz="3400" b="0" i="0">
                <a:solidFill>
                  <a:srgbClr val="FFFFFF"/>
                </a:solidFill>
                <a:latin typeface="Arial"/>
              </a:rPr>
              <a:t> main():</a:t>
            </a:r>
          </a:p>
        </p:txBody>
      </p:sp>
      <p:sp>
        <p:nvSpPr>
          <p:cNvPr id="12" name="TextBox 11"/>
          <p:cNvSpPr/>
          <p:nvPr>
            <p:ph type="body" idx="8"/>
          </p:nvPr>
        </p:nvSpPr>
        <p:spPr>
          <a:xfrm>
            <a:off x="457200" y="2874262"/>
            <a:ext cx="7046475" cy="518159"/>
          </a:xfrm>
          <a:prstGeom prst="rect">
            <a:avLst/>
          </a:prstGeom>
          <a:noFill/>
        </p:spPr>
        <p:txBody>
          <a:bodyPr wrap="none" lIns="0" rIns="0">
            <a:noAutofit/>
          </a:bodyPr>
          <a:lstStyle/>
          <a:p>
            <a:pPr algn="l"/>
            <a:r>
              <a:rPr sz="3400" b="0" i="0">
                <a:solidFill>
                  <a:srgbClr val="FFFFFF"/>
                </a:solidFill>
                <a:latin typeface="Arial"/>
              </a:rPr>
              <a:t>    print("Hello, world!")</a:t>
            </a:r>
          </a:p>
        </p:txBody>
      </p:sp>
      <p:sp>
        <p:nvSpPr>
          <p:cNvPr id="13" name="TextBox 12"/>
          <p:cNvSpPr/>
          <p:nvPr>
            <p:ph type="body" idx="9"/>
          </p:nvPr>
        </p:nvSpPr>
        <p:spPr>
          <a:xfrm>
            <a:off x="457200" y="3910580"/>
            <a:ext cx="2140486" cy="518159"/>
          </a:xfrm>
          <a:prstGeom prst="rect">
            <a:avLst/>
          </a:prstGeom>
          <a:noFill/>
        </p:spPr>
        <p:txBody>
          <a:bodyPr wrap="none" lIns="0" rIns="0">
            <a:noAutofit/>
          </a:bodyPr>
          <a:lstStyle/>
          <a:p>
            <a:pPr algn="l"/>
            <a:r>
              <a:rPr sz="3400" b="0" i="0">
                <a:solidFill>
                  <a:srgbClr val="FFFFFF"/>
                </a:solidFill>
                <a:latin typeface="Arial"/>
              </a:rPr>
              <a:t>main()</a:t>
            </a:r>
          </a:p>
        </p:txBody>
      </p:sp>
      <p:sp>
        <p:nvSpPr>
          <p:cNvPr id="14" name="TextBox 13"/>
          <p:cNvSpPr/>
          <p:nvPr>
            <p:ph type="body" idx="13"/>
          </p:nvPr>
        </p:nvSpPr>
        <p:spPr>
          <a:xfrm>
            <a:off x="457200" y="4946898"/>
            <a:ext cx="567115" cy="518159"/>
          </a:xfrm>
          <a:prstGeom prst="rect">
            <a:avLst/>
          </a:prstGeom>
          <a:noFill/>
        </p:spPr>
        <p:txBody>
          <a:bodyPr wrap="none" lIns="0" rIns="0">
            <a:noAutofit/>
          </a:bodyPr>
          <a:lstStyle/>
          <a:p>
            <a:pPr algn="l"/>
            <a:r>
              <a:rPr sz="3400" b="0" i="0">
                <a:solidFill>
                  <a:srgbClr val="569CD6"/>
                </a:solidFill>
                <a:latin typeface="Arial"/>
              </a:rPr>
              <a:t>$</a:t>
            </a:r>
          </a:p>
        </p:txBody>
      </p:sp>
      <p:sp>
        <p:nvSpPr>
          <p:cNvPr id="15" name="TextBox 14"/>
          <p:cNvSpPr/>
          <p:nvPr>
            <p:ph type="body" idx="14"/>
          </p:nvPr>
        </p:nvSpPr>
        <p:spPr>
          <a:xfrm>
            <a:off x="697347" y="4946898"/>
            <a:ext cx="5022412" cy="518159"/>
          </a:xfrm>
          <a:prstGeom prst="rect">
            <a:avLst/>
          </a:prstGeom>
          <a:noFill/>
        </p:spPr>
        <p:txBody>
          <a:bodyPr wrap="none" lIns="0" rIns="0">
            <a:noAutofit/>
          </a:bodyPr>
          <a:lstStyle/>
          <a:p>
            <a:pPr algn="l"/>
            <a:r>
              <a:rPr sz="3400" b="0" i="0">
                <a:solidFill>
                  <a:srgbClr val="FFFFFF"/>
                </a:solidFill>
                <a:latin typeface="Arial"/>
              </a:rPr>
              <a:t> python hello.py</a:t>
            </a:r>
          </a:p>
        </p:txBody>
      </p:sp>
      <p:sp>
        <p:nvSpPr>
          <p:cNvPr id="16" name="TextBox 15"/>
          <p:cNvSpPr/>
          <p:nvPr>
            <p:ph type="body" idx="15"/>
          </p:nvPr>
        </p:nvSpPr>
        <p:spPr>
          <a:xfrm>
            <a:off x="457200" y="5465057"/>
            <a:ext cx="3984068" cy="518159"/>
          </a:xfrm>
          <a:prstGeom prst="rect">
            <a:avLst/>
          </a:prstGeom>
          <a:noFill/>
        </p:spPr>
        <p:txBody>
          <a:bodyPr wrap="none" lIns="0" rIns="0">
            <a:noAutofit/>
          </a:bodyPr>
          <a:lstStyle/>
          <a:p>
            <a:pPr algn="l"/>
            <a:r>
              <a:rPr sz="3400" b="0" i="0">
                <a:solidFill>
                  <a:srgbClr val="FFFFFF"/>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A2240"/>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0072CE"/>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0072CE"/>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0072CE"/>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0072CE"/>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0072CE"/>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FFFFFF"/>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0072CE"/>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FFFFFF"/>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FFFFFF"/>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FFFFFF"/>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0072CE"/>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FFFFFF"/>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0072CE"/>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Before</a:t>
            </a:r>
          </a:p>
        </p:txBody>
      </p:sp>
      <p:sp>
        <p:nvSpPr>
          <p:cNvPr id="7" name="Rectangle 6"/>
          <p:cNvSpPr/>
          <p:nvPr>
            <p:ph type="body" idx="2"/>
          </p:nvPr>
        </p:nvSpPr>
        <p:spPr>
          <a:xfrm>
            <a:off x="457200" y="2176271"/>
            <a:ext cx="1367718"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0A2240"/>
                </a:solidFill>
                <a:latin typeface="Arial"/>
              </a:rPr>
              <a:t>After</a:t>
            </a:r>
          </a:p>
        </p:txBody>
      </p:sp>
      <p:sp>
        <p:nvSpPr>
          <p:cNvPr id="9" name="Rectangle 8"/>
          <p:cNvSpPr/>
          <p:nvPr>
            <p:ph type="body" idx="4"/>
          </p:nvPr>
        </p:nvSpPr>
        <p:spPr>
          <a:xfrm>
            <a:off x="6233160" y="2176271"/>
            <a:ext cx="1007604" cy="54864"/>
          </a:xfrm>
          <a:prstGeom prst="rect">
            <a:avLst/>
          </a:prstGeom>
          <a:solidFill>
            <a:srgbClr val="0A2240"/>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0A2240"/>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405688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75183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3943896" y="4861560"/>
            <a:ext cx="4304208" cy="609600"/>
          </a:xfrm>
          <a:prstGeom prst="rect">
            <a:avLst/>
          </a:prstGeom>
          <a:noFill/>
        </p:spPr>
        <p:txBody>
          <a:bodyPr wrap="none" lIns="0" rIns="0">
            <a:noAutofit/>
          </a:bodyPr>
          <a:lstStyle/>
          <a:p>
            <a:pPr algn="ctr"/>
            <a:r>
              <a:rPr sz="3400" b="0" i="0">
                <a:solidFill>
                  <a:srgbClr val="0A2240"/>
                </a:solidFill>
                <a:latin typeface="Arial"/>
              </a:rPr>
              <a:t>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0A2240"/>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0A2240"/>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0A2240"/>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0A2240"/>
                </a:solidFill>
                <a:latin typeface="Arial"/>
              </a:rPr>
              <a:t>Apr</a:t>
            </a:r>
          </a:p>
        </p:txBody>
      </p:sp>
      <p:sp>
        <p:nvSpPr>
          <p:cNvPr id="18" name="Rectangle 17"/>
          <p:cNvSpPr/>
          <p:nvPr>
            <p:ph type="body" idx="16"/>
          </p:nvPr>
        </p:nvSpPr>
        <p:spPr>
          <a:xfrm>
            <a:off x="7498080" y="3325368"/>
            <a:ext cx="128016" cy="60960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3325368"/>
            <a:ext cx="4154424" cy="609600"/>
          </a:xfrm>
          <a:prstGeom prst="rect">
            <a:avLst/>
          </a:prstGeom>
          <a:noFill/>
        </p:spPr>
        <p:txBody>
          <a:bodyPr wrap="none" lIns="0" rIns="0">
            <a:noAutofit/>
          </a:bodyPr>
          <a:lstStyle/>
          <a:p>
            <a:pPr algn="l"/>
            <a:r>
              <a:rPr sz="3400" b="1" i="0">
                <a:solidFill>
                  <a:srgbClr val="0A2240"/>
                </a:solidFill>
                <a:latin typeface="Arial"/>
              </a:rPr>
              <a:t>Activations 4x.</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0072CE"/>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0072CE"/>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0072CE"/>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33476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523488"/>
            <a:ext cx="3576320" cy="609600"/>
          </a:xfrm>
          <a:prstGeom prst="rect">
            <a:avLst/>
          </a:prstGeom>
          <a:noFill/>
        </p:spPr>
        <p:txBody>
          <a:bodyPr wrap="none" lIns="0" rIns="0">
            <a:noAutofit/>
          </a:bodyPr>
          <a:lstStyle/>
          <a:p>
            <a:pPr algn="ctr"/>
            <a:r>
              <a:rPr sz="3400" b="0" i="0">
                <a:solidFill>
                  <a:srgbClr val="0A2240"/>
                </a:solidFill>
                <a:latin typeface="Arial"/>
              </a:rPr>
              <a:t>Revenue</a:t>
            </a:r>
          </a:p>
        </p:txBody>
      </p:sp>
      <p:sp>
        <p:nvSpPr>
          <p:cNvPr id="8" name="Rectangle 7"/>
          <p:cNvSpPr/>
          <p:nvPr>
            <p:ph type="body" idx="3"/>
          </p:nvPr>
        </p:nvSpPr>
        <p:spPr>
          <a:xfrm>
            <a:off x="1522569" y="440740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40740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33476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523488"/>
            <a:ext cx="4522132" cy="60960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40740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40740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33476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7701280" y="3523488"/>
            <a:ext cx="4490720" cy="609600"/>
          </a:xfrm>
          <a:prstGeom prst="rect">
            <a:avLst/>
          </a:prstGeom>
          <a:noFill/>
        </p:spPr>
        <p:txBody>
          <a:bodyPr wrap="none" lIns="0" rIns="0">
            <a:noAutofit/>
          </a:bodyPr>
          <a:lstStyle/>
          <a:p>
            <a:pPr algn="ctr"/>
            <a:r>
              <a:rPr sz="3400" b="0" i="0">
                <a:solidFill>
                  <a:srgbClr val="0A2240"/>
                </a:solidFill>
                <a:latin typeface="Arial"/>
              </a:rPr>
              <a:t>Promoter score</a:t>
            </a:r>
          </a:p>
        </p:txBody>
      </p:sp>
      <p:sp>
        <p:nvSpPr>
          <p:cNvPr id="16" name="Rectangle 15"/>
          <p:cNvSpPr/>
          <p:nvPr>
            <p:ph type="body" idx="14"/>
          </p:nvPr>
        </p:nvSpPr>
        <p:spPr>
          <a:xfrm>
            <a:off x="9427731" y="440740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40740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7" name="Rectangle 6"/>
          <p:cNvSpPr/>
          <p:nvPr>
            <p:ph type="body" idx="2"/>
          </p:nvPr>
        </p:nvSpPr>
        <p:spPr>
          <a:xfrm>
            <a:off x="457200" y="2194560"/>
            <a:ext cx="593303"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0072CE"/>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11" name="Rectangle 10"/>
          <p:cNvSpPr/>
          <p:nvPr>
            <p:ph type="body" idx="6"/>
          </p:nvPr>
        </p:nvSpPr>
        <p:spPr>
          <a:xfrm>
            <a:off x="3345180" y="2194560"/>
            <a:ext cx="593303" cy="54864"/>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0072CE"/>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5" name="Rectangle 14"/>
          <p:cNvSpPr/>
          <p:nvPr>
            <p:ph type="body" idx="13"/>
          </p:nvPr>
        </p:nvSpPr>
        <p:spPr>
          <a:xfrm>
            <a:off x="6233160" y="2194560"/>
            <a:ext cx="593303" cy="54864"/>
          </a:xfrm>
          <a:prstGeom prst="rect">
            <a:avLst/>
          </a:prstGeom>
          <a:solidFill>
            <a:srgbClr val="0072CE"/>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0072CE"/>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0072CE"/>
                </a:solidFill>
                <a:latin typeface="Arial"/>
              </a:rPr>
              <a:t>04</a:t>
            </a:r>
          </a:p>
        </p:txBody>
      </p:sp>
      <p:sp>
        <p:nvSpPr>
          <p:cNvPr id="19" name="Rectangle 18"/>
          <p:cNvSpPr/>
          <p:nvPr>
            <p:ph type="body" idx="17"/>
          </p:nvPr>
        </p:nvSpPr>
        <p:spPr>
          <a:xfrm>
            <a:off x="9121140" y="2194560"/>
            <a:ext cx="593303"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0072CE"/>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0A2240"/>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0A2240"/>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2015207"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7863523" cy="609600"/>
          </a:xfrm>
          <a:prstGeom prst="rect">
            <a:avLst/>
          </a:prstGeom>
          <a:noFill/>
        </p:spPr>
        <p:txBody>
          <a:bodyPr wrap="none" lIns="0" rIns="0">
            <a:noAutofit/>
          </a:bodyPr>
          <a:lstStyle/>
          <a:p>
            <a:pPr algn="l"/>
            <a:r>
              <a:rPr sz="3400" b="0" i="0">
                <a:solidFill>
                  <a:srgbClr val="0A2240"/>
                </a:solidFill>
                <a:latin typeface="Arial"/>
              </a:rPr>
              <a:t>Strong brand,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0A2240"/>
                </a:solidFill>
                <a:latin typeface="Arial"/>
              </a:rPr>
              <a:t>Weaknesses</a:t>
            </a:r>
          </a:p>
        </p:txBody>
      </p:sp>
      <p:sp>
        <p:nvSpPr>
          <p:cNvPr id="10" name="Rectangle 9"/>
          <p:cNvSpPr/>
          <p:nvPr>
            <p:ph type="body" idx="5"/>
          </p:nvPr>
        </p:nvSpPr>
        <p:spPr>
          <a:xfrm>
            <a:off x="6233160" y="2176271"/>
            <a:ext cx="2584686" cy="54864"/>
          </a:xfrm>
          <a:prstGeom prst="rect">
            <a:avLst/>
          </a:prstGeom>
          <a:solidFill>
            <a:srgbClr val="0A2240"/>
          </a:solidFill>
          <a:ln>
            <a:noFill/>
          </a:ln>
          <a:effectLst/>
        </p:spPr>
        <p:txBody>
          <a:bodyPr rtlCol="0" anchor="ctr"/>
          <a:lstStyle/>
          <a:p>
            <a:pPr algn="ctr"/>
          </a:p>
        </p:txBody>
      </p:sp>
      <p:sp>
        <p:nvSpPr>
          <p:cNvPr id="11" name="TextBox 10"/>
          <p:cNvSpPr/>
          <p:nvPr>
            <p:ph type="body" idx="6"/>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Thin margins,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2830525"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8015326" cy="609600"/>
          </a:xfrm>
          <a:prstGeom prst="rect">
            <a:avLst/>
          </a:prstGeom>
          <a:noFill/>
        </p:spPr>
        <p:txBody>
          <a:bodyPr wrap="none" lIns="0" rIns="0">
            <a:noAutofit/>
          </a:bodyPr>
          <a:lstStyle/>
          <a:p>
            <a:pPr algn="l"/>
            <a:r>
              <a:rPr sz="3400" b="0" i="0">
                <a:solidFill>
                  <a:srgbClr val="0A2240"/>
                </a:solidFill>
                <a:latin typeface="Arial"/>
              </a:rPr>
              <a:t>New markets via partners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0A2240"/>
                </a:solidFill>
                <a:latin typeface="Arial"/>
              </a:rPr>
              <a:t>Threats</a:t>
            </a:r>
          </a:p>
        </p:txBody>
      </p:sp>
      <p:sp>
        <p:nvSpPr>
          <p:cNvPr id="16" name="Rectangle 15"/>
          <p:cNvSpPr/>
          <p:nvPr>
            <p:ph type="body" idx="14"/>
          </p:nvPr>
        </p:nvSpPr>
        <p:spPr>
          <a:xfrm>
            <a:off x="6233160" y="4443983"/>
            <a:ext cx="1559793" cy="54864"/>
          </a:xfrm>
          <a:prstGeom prst="rect">
            <a:avLst/>
          </a:prstGeom>
          <a:solidFill>
            <a:srgbClr val="0A2240"/>
          </a:solidFill>
          <a:ln>
            <a:noFill/>
          </a:ln>
          <a:effectLst/>
        </p:spPr>
        <p:txBody>
          <a:bodyPr rtlCol="0" anchor="ctr"/>
          <a:lstStyle/>
          <a:p>
            <a:pPr algn="ctr"/>
          </a:p>
        </p:txBody>
      </p:sp>
      <p:sp>
        <p:nvSpPr>
          <p:cNvPr id="17" name="TextBox 16"/>
          <p:cNvSpPr/>
          <p:nvPr>
            <p:ph type="body" idx="15"/>
          </p:nvPr>
        </p:nvSpPr>
        <p:spPr>
          <a:xfrm>
            <a:off x="6233160" y="4663439"/>
            <a:ext cx="5958840" cy="609600"/>
          </a:xfrm>
          <a:prstGeom prst="rect">
            <a:avLst/>
          </a:prstGeom>
          <a:noFill/>
        </p:spPr>
        <p:txBody>
          <a:bodyPr wrap="none" lIns="0" rIns="0">
            <a:noAutofit/>
          </a:bodyPr>
          <a:lstStyle/>
          <a:p>
            <a:pPr algn="l"/>
            <a:r>
              <a:rPr sz="3400" b="0" i="0">
                <a:solidFill>
                  <a:srgbClr val="0A2240"/>
                </a:solidFill>
                <a:latin typeface="Arial"/>
              </a:rPr>
              <a:t>New entrants cut prices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hyperlink" Target="https://www.youtube.com/watch?v=He8tUwLzLnU"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2.png"/><Relationship Id="rId3" Type="http://schemas.openxmlformats.org/officeDocument/2006/relationships/hyperlink" Target="https://github.com/techwithtim/descope-mcp-video"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3.png"/><Relationship Id="rId3" Type="http://schemas.openxmlformats.org/officeDocument/2006/relationships/hyperlink" Target="https://snyk.io/blog/malicious-mcp-server-on-npm-postmark-mcp-harvests-emails/"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MCP, Explained and Built</a:t>
            </a:r>
          </a:p>
        </p:txBody>
      </p:sp>
      <p:sp>
        <p:nvSpPr>
          <p:cNvPr id="3" name="TextBox 2"/>
          <p:cNvSpPr txBox="1"/>
          <p:nvPr/>
        </p:nvSpPr>
        <p:spPr>
          <a:xfrm>
            <a:off x="914400" y="3764280"/>
            <a:ext cx="10820678" cy="518159"/>
          </a:xfrm>
          <a:prstGeom prst="rect">
            <a:avLst/>
          </a:prstGeom>
          <a:noFill/>
        </p:spPr>
        <p:txBody>
          <a:bodyPr wrap="none" lIns="0" rIns="0">
            <a:noAutofit/>
          </a:bodyPr>
          <a:lstStyle/>
          <a:p>
            <a:pPr algn="l"/>
            <a:r>
              <a:rPr sz="3400" b="0" i="0">
                <a:solidFill>
                  <a:srgbClr val="0A2240"/>
                </a:solidFill>
                <a:latin typeface="Arial"/>
              </a:rPr>
              <a:t>Following one tutorial, step by step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Our Reference</a:t>
            </a:r>
          </a:p>
        </p:txBody>
      </p:sp>
      <p:pic>
        <p:nvPicPr>
          <p:cNvPr id="3" name="Picture 2" descr="video.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7504251" cy="609600"/>
          </a:xfrm>
          <a:prstGeom prst="rect">
            <a:avLst/>
          </a:prstGeom>
          <a:noFill/>
        </p:spPr>
        <p:txBody>
          <a:bodyPr wrap="none" lIns="0" rIns="0">
            <a:noAutofit/>
          </a:bodyPr>
          <a:lstStyle/>
          <a:p>
            <a:pPr algn="l"/>
            <a:r>
              <a:rPr sz="3400" b="0" i="0">
                <a:solidFill>
                  <a:srgbClr val="0A2240"/>
                </a:solidFill>
                <a:latin typeface="Arial"/>
              </a:rPr>
              <a:t>MCP Servers Explained</a:t>
            </a:r>
          </a:p>
        </p:txBody>
      </p:sp>
      <p:sp>
        <p:nvSpPr>
          <p:cNvPr id="5" name="TextBox 4"/>
          <p:cNvSpPr txBox="1"/>
          <p:nvPr/>
        </p:nvSpPr>
        <p:spPr>
          <a:xfrm>
            <a:off x="457200" y="2383536"/>
            <a:ext cx="6978332" cy="609600"/>
          </a:xfrm>
          <a:prstGeom prst="rect">
            <a:avLst/>
          </a:prstGeom>
          <a:noFill/>
        </p:spPr>
        <p:txBody>
          <a:bodyPr wrap="none" lIns="0" rIns="0">
            <a:noAutofit/>
          </a:bodyPr>
          <a:lstStyle/>
          <a:p>
            <a:pPr algn="l"/>
            <a:r>
              <a:rPr sz="3400" b="0" i="0">
                <a:solidFill>
                  <a:srgbClr val="0A2240"/>
                </a:solidFill>
                <a:latin typeface="Arial"/>
              </a:rPr>
              <a:t>Tech With Tim, 30 min</a:t>
            </a:r>
          </a:p>
        </p:txBody>
      </p:sp>
      <p:sp>
        <p:nvSpPr>
          <p:cNvPr id="6" name="TextBox 5"/>
          <p:cNvSpPr txBox="1"/>
          <p:nvPr/>
        </p:nvSpPr>
        <p:spPr>
          <a:xfrm>
            <a:off x="457200" y="3267456"/>
            <a:ext cx="5852616" cy="609600"/>
          </a:xfrm>
          <a:prstGeom prst="rect">
            <a:avLst/>
          </a:prstGeom>
          <a:noFill/>
        </p:spPr>
        <p:txBody>
          <a:bodyPr wrap="none" lIns="0" rIns="0">
            <a:noAutofit/>
          </a:bodyPr>
          <a:lstStyle/>
          <a:p>
            <a:pPr algn="l"/>
            <a:r>
              <a:rPr sz="3400" b="0" i="0">
                <a:solidFill>
                  <a:srgbClr val="0A2240"/>
                </a:solidFill>
                <a:latin typeface="Arial"/>
              </a:rPr>
              <a:t>We follow its order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What an MCP server is</a:t>
            </a:r>
          </a:p>
        </p:txBody>
      </p:sp>
      <p:sp>
        <p:nvSpPr>
          <p:cNvPr id="6" name="TextBox 5"/>
          <p:cNvSpPr txBox="1"/>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Local versus remote</a:t>
            </a:r>
          </a:p>
        </p:txBody>
      </p:sp>
      <p:sp>
        <p:nvSpPr>
          <p:cNvPr id="8" name="TextBox 7"/>
          <p:cNvSpPr txBox="1"/>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Who may call your tools</a:t>
            </a:r>
          </a:p>
        </p:txBody>
      </p:sp>
      <p:sp>
        <p:nvSpPr>
          <p:cNvPr id="10" name="TextBox 9"/>
          <p:cNvSpPr txBox="1"/>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Build a notes server</a:t>
            </a:r>
          </a:p>
        </p:txBody>
      </p:sp>
      <p:sp>
        <p:nvSpPr>
          <p:cNvPr id="12" name="TextBox 11"/>
          <p:cNvSpPr txBox="1"/>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3" name="TextBox 12"/>
          <p:cNvSpPr txBox="1"/>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Add a real login</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MCP Server</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Gives an AI model a list of functions it may call.</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A Model Alone Only Writes Text</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It can't read your files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It can't check your calendar</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It can't query your database</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Tool</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function with a name, a description and inputs.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a Tool Call Works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4" name="TextBox 3"/>
          <p:cNvSpPr txBox="1"/>
          <p:nvPr/>
        </p:nvSpPr>
        <p:spPr>
          <a:xfrm>
            <a:off x="1461983" y="1499616"/>
            <a:ext cx="10473748" cy="640080"/>
          </a:xfrm>
          <a:prstGeom prst="rect">
            <a:avLst/>
          </a:prstGeom>
          <a:noFill/>
        </p:spPr>
        <p:txBody>
          <a:bodyPr wrap="none" lIns="0" rIns="0">
            <a:noAutofit/>
          </a:bodyPr>
          <a:lstStyle/>
          <a:p>
            <a:pPr algn="l"/>
            <a:r>
              <a:rPr sz="4200" b="1" i="0">
                <a:solidFill>
                  <a:srgbClr val="0072CE"/>
                </a:solidFill>
                <a:latin typeface="Arial"/>
              </a:rPr>
              <a:t>The model asks for a tool</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By name, with its inputs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Your code runs it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model never runs anything</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The result goes back</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And the model carries on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a Standard Helps</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Before</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Each app built its own</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MCP</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One server, every app</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0A2240"/>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Sides</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MCP client</a:t>
            </a:r>
          </a:p>
        </p:txBody>
      </p:sp>
      <p:sp>
        <p:nvSpPr>
          <p:cNvPr id="4" name="Rectangle 3"/>
          <p:cNvSpPr/>
          <p:nvPr/>
        </p:nvSpPr>
        <p:spPr>
          <a:xfrm>
            <a:off x="457200" y="2176271"/>
            <a:ext cx="2199481"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A2240"/>
                </a:solidFill>
                <a:latin typeface="Arial"/>
              </a:rPr>
              <a:t>MCP server</a:t>
            </a:r>
          </a:p>
        </p:txBody>
      </p:sp>
      <p:sp>
        <p:nvSpPr>
          <p:cNvPr id="6" name="Rectangle 5"/>
          <p:cNvSpPr/>
          <p:nvPr/>
        </p:nvSpPr>
        <p:spPr>
          <a:xfrm>
            <a:off x="6233160" y="2176271"/>
            <a:ext cx="2368364" cy="54864"/>
          </a:xfrm>
          <a:prstGeom prst="rect">
            <a:avLst/>
          </a:prstGeom>
          <a:solidFill>
            <a:srgbClr val="0A2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7364590" cy="609600"/>
          </a:xfrm>
          <a:prstGeom prst="rect">
            <a:avLst/>
          </a:prstGeom>
          <a:noFill/>
        </p:spPr>
        <p:txBody>
          <a:bodyPr wrap="none" lIns="0" rIns="0">
            <a:noAutofit/>
          </a:bodyPr>
          <a:lstStyle/>
          <a:p>
            <a:pPr algn="l"/>
            <a:r>
              <a:rPr sz="3400" b="0" i="0">
                <a:solidFill>
                  <a:srgbClr val="0A2240"/>
                </a:solidFill>
                <a:latin typeface="Arial"/>
              </a:rPr>
              <a:t>The app the model is in</a:t>
            </a:r>
          </a:p>
        </p:txBody>
      </p:sp>
      <p:sp>
        <p:nvSpPr>
          <p:cNvPr id="8" name="TextBox 7"/>
          <p:cNvSpPr txBox="1"/>
          <p:nvPr/>
        </p:nvSpPr>
        <p:spPr>
          <a:xfrm>
            <a:off x="457200" y="3608831"/>
            <a:ext cx="6672699" cy="609600"/>
          </a:xfrm>
          <a:prstGeom prst="rect">
            <a:avLst/>
          </a:prstGeom>
          <a:noFill/>
        </p:spPr>
        <p:txBody>
          <a:bodyPr wrap="none" lIns="0" rIns="0">
            <a:noAutofit/>
          </a:bodyPr>
          <a:lstStyle/>
          <a:p>
            <a:pPr algn="l"/>
            <a:r>
              <a:rPr sz="3400" b="0" i="0">
                <a:solidFill>
                  <a:srgbClr val="0A2240"/>
                </a:solidFill>
                <a:latin typeface="Arial"/>
              </a:rPr>
              <a:t>Claude Code, Cursor</a:t>
            </a:r>
          </a:p>
        </p:txBody>
      </p:sp>
      <p:sp>
        <p:nvSpPr>
          <p:cNvPr id="9" name="TextBox 8"/>
          <p:cNvSpPr txBox="1"/>
          <p:nvPr/>
        </p:nvSpPr>
        <p:spPr>
          <a:xfrm>
            <a:off x="457200" y="4821935"/>
            <a:ext cx="6172755" cy="609600"/>
          </a:xfrm>
          <a:prstGeom prst="rect">
            <a:avLst/>
          </a:prstGeom>
          <a:noFill/>
        </p:spPr>
        <p:txBody>
          <a:bodyPr wrap="none" lIns="0" rIns="0">
            <a:noAutofit/>
          </a:bodyPr>
          <a:lstStyle/>
          <a:p>
            <a:pPr algn="l"/>
            <a:r>
              <a:rPr sz="3400" b="0" i="0">
                <a:solidFill>
                  <a:srgbClr val="0A2240"/>
                </a:solidFill>
                <a:latin typeface="Arial"/>
              </a:rPr>
              <a:t>Asks for the tool list</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Your code</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Sends its tool list</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Runs the tool asked for</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Local Versus Remote</a:t>
            </a:r>
          </a:p>
        </p:txBody>
      </p:sp>
      <p:sp>
        <p:nvSpPr>
          <p:cNvPr id="3" name="TextBox 2"/>
          <p:cNvSpPr txBox="1"/>
          <p:nvPr/>
        </p:nvSpPr>
        <p:spPr>
          <a:xfrm>
            <a:off x="457200" y="1499616"/>
            <a:ext cx="2629519" cy="518159"/>
          </a:xfrm>
          <a:prstGeom prst="rect">
            <a:avLst/>
          </a:prstGeom>
          <a:noFill/>
        </p:spPr>
        <p:txBody>
          <a:bodyPr wrap="none" lIns="0" rIns="0">
            <a:noAutofit/>
          </a:bodyPr>
          <a:lstStyle/>
          <a:p>
            <a:pPr algn="l"/>
            <a:r>
              <a:rPr sz="3400" b="1" i="0">
                <a:solidFill>
                  <a:srgbClr val="0072CE"/>
                </a:solidFill>
                <a:latin typeface="Arial"/>
              </a:rPr>
              <a:t/>
            </a:r>
          </a:p>
        </p:txBody>
      </p:sp>
      <p:sp>
        <p:nvSpPr>
          <p:cNvPr id="4" name="TextBox 3"/>
          <p:cNvSpPr txBox="1"/>
          <p:nvPr/>
        </p:nvSpPr>
        <p:spPr>
          <a:xfrm>
            <a:off x="3635359" y="1499616"/>
            <a:ext cx="3196127" cy="518159"/>
          </a:xfrm>
          <a:prstGeom prst="rect">
            <a:avLst/>
          </a:prstGeom>
          <a:noFill/>
        </p:spPr>
        <p:txBody>
          <a:bodyPr wrap="none" lIns="0" rIns="0">
            <a:noAutofit/>
          </a:bodyPr>
          <a:lstStyle/>
          <a:p>
            <a:pPr algn="l"/>
            <a:r>
              <a:rPr sz="3400" b="1" i="0">
                <a:solidFill>
                  <a:srgbClr val="0072CE"/>
                </a:solidFill>
                <a:latin typeface="Arial"/>
              </a:rPr>
              <a:t>Local</a:t>
            </a:r>
          </a:p>
        </p:txBody>
      </p:sp>
      <p:sp>
        <p:nvSpPr>
          <p:cNvPr id="5" name="TextBox 4"/>
          <p:cNvSpPr txBox="1"/>
          <p:nvPr/>
        </p:nvSpPr>
        <p:spPr>
          <a:xfrm>
            <a:off x="7380126" y="1499616"/>
            <a:ext cx="4354673" cy="518159"/>
          </a:xfrm>
          <a:prstGeom prst="rect">
            <a:avLst/>
          </a:prstGeom>
          <a:noFill/>
        </p:spPr>
        <p:txBody>
          <a:bodyPr wrap="none" lIns="0" rIns="0">
            <a:noAutofit/>
          </a:bodyPr>
          <a:lstStyle/>
          <a:p>
            <a:pPr algn="l"/>
            <a:r>
              <a:rPr sz="3400" b="1" i="0">
                <a:solidFill>
                  <a:srgbClr val="0072CE"/>
                </a:solidFill>
                <a:latin typeface="Arial"/>
              </a:rPr>
              <a:t>Remote</a:t>
            </a:r>
          </a:p>
        </p:txBody>
      </p:sp>
      <p:sp>
        <p:nvSpPr>
          <p:cNvPr id="6" name="Rectangle 5"/>
          <p:cNvSpPr/>
          <p:nvPr/>
        </p:nvSpPr>
        <p:spPr>
          <a:xfrm>
            <a:off x="457200" y="2072639"/>
            <a:ext cx="1127759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01823"/>
            <a:ext cx="2756137" cy="936752"/>
          </a:xfrm>
          <a:prstGeom prst="rect">
            <a:avLst/>
          </a:prstGeom>
          <a:noFill/>
        </p:spPr>
        <p:txBody>
          <a:bodyPr wrap="none" lIns="0" rIns="0">
            <a:noAutofit/>
          </a:bodyPr>
          <a:lstStyle/>
          <a:p>
            <a:pPr algn="l"/>
            <a:r>
              <a:rPr sz="3400" b="0" i="0">
                <a:solidFill>
                  <a:srgbClr val="0A2240"/>
                </a:solidFill>
                <a:latin typeface="Arial"/>
              </a:rPr>
              <a:t>Runs on</a:t>
            </a:r>
          </a:p>
        </p:txBody>
      </p:sp>
      <p:sp>
        <p:nvSpPr>
          <p:cNvPr id="8" name="TextBox 7"/>
          <p:cNvSpPr txBox="1"/>
          <p:nvPr/>
        </p:nvSpPr>
        <p:spPr>
          <a:xfrm>
            <a:off x="3635359" y="2401823"/>
            <a:ext cx="3653134" cy="936752"/>
          </a:xfrm>
          <a:prstGeom prst="rect">
            <a:avLst/>
          </a:prstGeom>
          <a:noFill/>
        </p:spPr>
        <p:txBody>
          <a:bodyPr wrap="none" lIns="0" rIns="0">
            <a:noAutofit/>
          </a:bodyPr>
          <a:lstStyle/>
          <a:p>
            <a:pPr algn="l"/>
            <a:r>
              <a:rPr sz="3400" b="0" i="0">
                <a:solidFill>
                  <a:srgbClr val="0A2240"/>
                </a:solidFill>
                <a:latin typeface="Arial"/>
              </a:rPr>
              <a:t>Your laptop</a:t>
            </a:r>
          </a:p>
        </p:txBody>
      </p:sp>
      <p:sp>
        <p:nvSpPr>
          <p:cNvPr id="9" name="TextBox 8"/>
          <p:cNvSpPr txBox="1"/>
          <p:nvPr/>
        </p:nvSpPr>
        <p:spPr>
          <a:xfrm>
            <a:off x="7380126" y="2401823"/>
            <a:ext cx="4354673" cy="936752"/>
          </a:xfrm>
          <a:prstGeom prst="rect">
            <a:avLst/>
          </a:prstGeom>
          <a:noFill/>
        </p:spPr>
        <p:txBody>
          <a:bodyPr wrap="none" lIns="0" rIns="0">
            <a:noAutofit/>
          </a:bodyPr>
          <a:lstStyle/>
          <a:p>
            <a:pPr algn="l"/>
            <a:r>
              <a:rPr sz="3400" b="0" i="0">
                <a:solidFill>
                  <a:srgbClr val="0A2240"/>
                </a:solidFill>
                <a:latin typeface="Arial"/>
              </a:rPr>
              <a:t>The internet</a:t>
            </a:r>
          </a:p>
        </p:txBody>
      </p:sp>
      <p:sp>
        <p:nvSpPr>
          <p:cNvPr id="10" name="TextBox 9"/>
          <p:cNvSpPr txBox="1"/>
          <p:nvPr/>
        </p:nvSpPr>
        <p:spPr>
          <a:xfrm>
            <a:off x="457200" y="3612895"/>
            <a:ext cx="3870046" cy="936752"/>
          </a:xfrm>
          <a:prstGeom prst="rect">
            <a:avLst/>
          </a:prstGeom>
          <a:noFill/>
        </p:spPr>
        <p:txBody>
          <a:bodyPr wrap="none" lIns="0" rIns="0">
            <a:noAutofit/>
          </a:bodyPr>
          <a:lstStyle/>
          <a:p>
            <a:pPr algn="l"/>
            <a:r>
              <a:rPr sz="3400" b="0" i="0">
                <a:solidFill>
                  <a:srgbClr val="0A2240"/>
                </a:solidFill>
                <a:latin typeface="Arial"/>
              </a:rPr>
              <a:t>Reached by</a:t>
            </a:r>
          </a:p>
        </p:txBody>
      </p:sp>
      <p:sp>
        <p:nvSpPr>
          <p:cNvPr id="11" name="TextBox 10"/>
          <p:cNvSpPr txBox="1"/>
          <p:nvPr/>
        </p:nvSpPr>
        <p:spPr>
          <a:xfrm>
            <a:off x="3635359" y="3612895"/>
            <a:ext cx="4790657" cy="936752"/>
          </a:xfrm>
          <a:prstGeom prst="rect">
            <a:avLst/>
          </a:prstGeom>
          <a:noFill/>
        </p:spPr>
        <p:txBody>
          <a:bodyPr wrap="none" lIns="0" rIns="0">
            <a:noAutofit/>
          </a:bodyPr>
          <a:lstStyle/>
          <a:p>
            <a:pPr algn="l"/>
            <a:r>
              <a:rPr sz="3400" b="0" i="0">
                <a:solidFill>
                  <a:srgbClr val="0A2240"/>
                </a:solidFill>
                <a:latin typeface="Arial"/>
              </a:rPr>
              <a:t>Claude starts it</a:t>
            </a:r>
          </a:p>
        </p:txBody>
      </p:sp>
      <p:sp>
        <p:nvSpPr>
          <p:cNvPr id="12" name="TextBox 11"/>
          <p:cNvSpPr txBox="1"/>
          <p:nvPr/>
        </p:nvSpPr>
        <p:spPr>
          <a:xfrm>
            <a:off x="7380126" y="3612895"/>
            <a:ext cx="4354673" cy="936752"/>
          </a:xfrm>
          <a:prstGeom prst="rect">
            <a:avLst/>
          </a:prstGeom>
          <a:noFill/>
        </p:spPr>
        <p:txBody>
          <a:bodyPr wrap="none" lIns="0" rIns="0">
            <a:noAutofit/>
          </a:bodyPr>
          <a:lstStyle/>
          <a:p>
            <a:pPr algn="l"/>
            <a:r>
              <a:rPr sz="3400" b="0" i="0">
                <a:solidFill>
                  <a:srgbClr val="0A2240"/>
                </a:solidFill>
                <a:latin typeface="Arial"/>
              </a:rPr>
              <a:t>A URL</a:t>
            </a:r>
          </a:p>
        </p:txBody>
      </p:sp>
      <p:sp>
        <p:nvSpPr>
          <p:cNvPr id="13" name="TextBox 12"/>
          <p:cNvSpPr txBox="1"/>
          <p:nvPr/>
        </p:nvSpPr>
        <p:spPr>
          <a:xfrm>
            <a:off x="457200" y="4823967"/>
            <a:ext cx="2717344" cy="936752"/>
          </a:xfrm>
          <a:prstGeom prst="rect">
            <a:avLst/>
          </a:prstGeom>
          <a:noFill/>
        </p:spPr>
        <p:txBody>
          <a:bodyPr wrap="none" lIns="0" rIns="0">
            <a:noAutofit/>
          </a:bodyPr>
          <a:lstStyle/>
          <a:p>
            <a:pPr algn="l"/>
            <a:r>
              <a:rPr sz="3400" b="0" i="0">
                <a:solidFill>
                  <a:srgbClr val="0A2240"/>
                </a:solidFill>
                <a:latin typeface="Arial"/>
              </a:rPr>
              <a:t>Used by</a:t>
            </a:r>
          </a:p>
        </p:txBody>
      </p:sp>
      <p:sp>
        <p:nvSpPr>
          <p:cNvPr id="14" name="TextBox 13"/>
          <p:cNvSpPr txBox="1"/>
          <p:nvPr/>
        </p:nvSpPr>
        <p:spPr>
          <a:xfrm>
            <a:off x="3635359" y="4823967"/>
            <a:ext cx="3196127" cy="936752"/>
          </a:xfrm>
          <a:prstGeom prst="rect">
            <a:avLst/>
          </a:prstGeom>
          <a:noFill/>
        </p:spPr>
        <p:txBody>
          <a:bodyPr wrap="none" lIns="0" rIns="0">
            <a:noAutofit/>
          </a:bodyPr>
          <a:lstStyle/>
          <a:p>
            <a:pPr algn="l"/>
            <a:r>
              <a:rPr sz="3400" b="0" i="0">
                <a:solidFill>
                  <a:srgbClr val="0A2240"/>
                </a:solidFill>
                <a:latin typeface="Arial"/>
              </a:rPr>
              <a:t>Only you</a:t>
            </a:r>
          </a:p>
        </p:txBody>
      </p:sp>
      <p:sp>
        <p:nvSpPr>
          <p:cNvPr id="15" name="TextBox 14"/>
          <p:cNvSpPr txBox="1"/>
          <p:nvPr/>
        </p:nvSpPr>
        <p:spPr>
          <a:xfrm>
            <a:off x="7380126" y="4823967"/>
            <a:ext cx="4811874" cy="936752"/>
          </a:xfrm>
          <a:prstGeom prst="rect">
            <a:avLst/>
          </a:prstGeom>
          <a:noFill/>
        </p:spPr>
        <p:txBody>
          <a:bodyPr wrap="none" lIns="0" rIns="0">
            <a:noAutofit/>
          </a:bodyPr>
          <a:lstStyle/>
          <a:p>
            <a:pPr algn="l"/>
            <a:r>
              <a:rPr sz="3400" b="0" i="0">
                <a:solidFill>
                  <a:srgbClr val="0A2240"/>
                </a:solidFill>
                <a:latin typeface="Arial"/>
              </a:rPr>
              <a:t>Anyone with the URL</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Remote Means Three Questions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Who is calling?</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Which app sent this</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On whose behalf?</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Which person it acts for</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What may they do?</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Read, write, or delete</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Why One Shared Key Fails</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Every agent looks the same</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No person behind a request</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One leak breaks everyone</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a Real Login Works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4" name="TextBox 3"/>
          <p:cNvSpPr txBox="1"/>
          <p:nvPr/>
        </p:nvSpPr>
        <p:spPr>
          <a:xfrm>
            <a:off x="1461983" y="1499616"/>
            <a:ext cx="10730017" cy="640080"/>
          </a:xfrm>
          <a:prstGeom prst="rect">
            <a:avLst/>
          </a:prstGeom>
          <a:noFill/>
        </p:spPr>
        <p:txBody>
          <a:bodyPr wrap="none" lIns="0" rIns="0">
            <a:noAutofit/>
          </a:bodyPr>
          <a:lstStyle/>
          <a:p>
            <a:pPr algn="l"/>
            <a:r>
              <a:rPr sz="4200" b="1" i="0">
                <a:solidFill>
                  <a:srgbClr val="0072CE"/>
                </a:solidFill>
                <a:latin typeface="Arial"/>
              </a:rPr>
              <a:t>Claude calls with no token</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Server says 401: log in here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You log in and approve</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Claude gets a token</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Claude sends the token</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The server checks, then runs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the Token Answers</a:t>
            </a:r>
          </a:p>
        </p:txBody>
      </p:sp>
      <p:sp>
        <p:nvSpPr>
          <p:cNvPr id="3" name="TextBox 2"/>
          <p:cNvSpPr txBox="1"/>
          <p:nvPr/>
        </p:nvSpPr>
        <p:spPr>
          <a:xfrm>
            <a:off x="457200" y="1499616"/>
            <a:ext cx="4085818" cy="518159"/>
          </a:xfrm>
          <a:prstGeom prst="rect">
            <a:avLst/>
          </a:prstGeom>
          <a:noFill/>
        </p:spPr>
        <p:txBody>
          <a:bodyPr wrap="none" lIns="0" rIns="0">
            <a:noAutofit/>
          </a:bodyPr>
          <a:lstStyle/>
          <a:p>
            <a:pPr algn="l"/>
            <a:r>
              <a:rPr sz="3400" b="1" i="0">
                <a:solidFill>
                  <a:srgbClr val="0072CE"/>
                </a:solidFill>
                <a:latin typeface="Arial"/>
              </a:rPr>
              <a:t>Question</a:t>
            </a:r>
          </a:p>
        </p:txBody>
      </p:sp>
      <p:sp>
        <p:nvSpPr>
          <p:cNvPr id="4" name="TextBox 3"/>
          <p:cNvSpPr txBox="1"/>
          <p:nvPr/>
        </p:nvSpPr>
        <p:spPr>
          <a:xfrm>
            <a:off x="5091658" y="1499616"/>
            <a:ext cx="4059633" cy="518159"/>
          </a:xfrm>
          <a:prstGeom prst="rect">
            <a:avLst/>
          </a:prstGeom>
          <a:noFill/>
        </p:spPr>
        <p:txBody>
          <a:bodyPr wrap="none" lIns="0" rIns="0">
            <a:noAutofit/>
          </a:bodyPr>
          <a:lstStyle/>
          <a:p>
            <a:pPr algn="l"/>
            <a:r>
              <a:rPr sz="3400" b="1" i="0">
                <a:solidFill>
                  <a:srgbClr val="0072CE"/>
                </a:solidFill>
                <a:latin typeface="Arial"/>
              </a:rPr>
              <a:t>In the token</a:t>
            </a:r>
          </a:p>
        </p:txBody>
      </p:sp>
      <p:sp>
        <p:nvSpPr>
          <p:cNvPr id="5" name="Rectangle 4"/>
          <p:cNvSpPr/>
          <p:nvPr/>
        </p:nvSpPr>
        <p:spPr>
          <a:xfrm>
            <a:off x="457200" y="2072639"/>
            <a:ext cx="7568458"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829115" cy="633984"/>
          </a:xfrm>
          <a:prstGeom prst="rect">
            <a:avLst/>
          </a:prstGeom>
          <a:noFill/>
        </p:spPr>
        <p:txBody>
          <a:bodyPr wrap="none" lIns="0" rIns="0">
            <a:noAutofit/>
          </a:bodyPr>
          <a:lstStyle/>
          <a:p>
            <a:pPr algn="l"/>
            <a:r>
              <a:rPr sz="3400" b="0" i="0">
                <a:solidFill>
                  <a:srgbClr val="0A2240"/>
                </a:solidFill>
                <a:latin typeface="Arial"/>
              </a:rPr>
              <a:t>Who is calling?</a:t>
            </a:r>
          </a:p>
        </p:txBody>
      </p:sp>
      <p:sp>
        <p:nvSpPr>
          <p:cNvPr id="7" name="TextBox 6"/>
          <p:cNvSpPr txBox="1"/>
          <p:nvPr/>
        </p:nvSpPr>
        <p:spPr>
          <a:xfrm>
            <a:off x="5091658" y="2401823"/>
            <a:ext cx="3907830" cy="633984"/>
          </a:xfrm>
          <a:prstGeom prst="rect">
            <a:avLst/>
          </a:prstGeom>
          <a:noFill/>
        </p:spPr>
        <p:txBody>
          <a:bodyPr wrap="none" lIns="0" rIns="0">
            <a:noAutofit/>
          </a:bodyPr>
          <a:lstStyle/>
          <a:p>
            <a:pPr algn="l"/>
            <a:r>
              <a:rPr sz="3400" b="0" i="0">
                <a:solidFill>
                  <a:srgbClr val="0A2240"/>
                </a:solidFill>
                <a:latin typeface="Arial"/>
              </a:rPr>
              <a:t>The client id</a:t>
            </a:r>
          </a:p>
        </p:txBody>
      </p:sp>
      <p:sp>
        <p:nvSpPr>
          <p:cNvPr id="8" name="TextBox 7"/>
          <p:cNvSpPr txBox="1"/>
          <p:nvPr/>
        </p:nvSpPr>
        <p:spPr>
          <a:xfrm>
            <a:off x="457200" y="3310127"/>
            <a:ext cx="5752088" cy="633984"/>
          </a:xfrm>
          <a:prstGeom prst="rect">
            <a:avLst/>
          </a:prstGeom>
          <a:noFill/>
        </p:spPr>
        <p:txBody>
          <a:bodyPr wrap="none" lIns="0" rIns="0">
            <a:noAutofit/>
          </a:bodyPr>
          <a:lstStyle/>
          <a:p>
            <a:pPr algn="l"/>
            <a:r>
              <a:rPr sz="3400" b="0" i="0">
                <a:solidFill>
                  <a:srgbClr val="0A2240"/>
                </a:solidFill>
                <a:latin typeface="Arial"/>
              </a:rPr>
              <a:t>On whose behalf?</a:t>
            </a:r>
          </a:p>
        </p:txBody>
      </p:sp>
      <p:sp>
        <p:nvSpPr>
          <p:cNvPr id="9" name="TextBox 8"/>
          <p:cNvSpPr txBox="1"/>
          <p:nvPr/>
        </p:nvSpPr>
        <p:spPr>
          <a:xfrm>
            <a:off x="5091658" y="3310127"/>
            <a:ext cx="3638966" cy="633984"/>
          </a:xfrm>
          <a:prstGeom prst="rect">
            <a:avLst/>
          </a:prstGeom>
          <a:noFill/>
        </p:spPr>
        <p:txBody>
          <a:bodyPr wrap="none" lIns="0" rIns="0">
            <a:noAutofit/>
          </a:bodyPr>
          <a:lstStyle/>
          <a:p>
            <a:pPr algn="l"/>
            <a:r>
              <a:rPr sz="3400" b="0" i="0">
                <a:solidFill>
                  <a:srgbClr val="0A2240"/>
                </a:solidFill>
                <a:latin typeface="Arial"/>
              </a:rPr>
              <a:t>The user id</a:t>
            </a:r>
          </a:p>
        </p:txBody>
      </p:sp>
      <p:sp>
        <p:nvSpPr>
          <p:cNvPr id="10" name="TextBox 9"/>
          <p:cNvSpPr txBox="1"/>
          <p:nvPr/>
        </p:nvSpPr>
        <p:spPr>
          <a:xfrm>
            <a:off x="457200" y="4218431"/>
            <a:ext cx="6134972" cy="633984"/>
          </a:xfrm>
          <a:prstGeom prst="rect">
            <a:avLst/>
          </a:prstGeom>
          <a:noFill/>
        </p:spPr>
        <p:txBody>
          <a:bodyPr wrap="none" lIns="0" rIns="0">
            <a:noAutofit/>
          </a:bodyPr>
          <a:lstStyle/>
          <a:p>
            <a:pPr algn="l"/>
            <a:r>
              <a:rPr sz="3400" b="0" i="0">
                <a:solidFill>
                  <a:srgbClr val="0A2240"/>
                </a:solidFill>
                <a:latin typeface="Arial"/>
              </a:rPr>
              <a:t>What may they do?</a:t>
            </a:r>
          </a:p>
        </p:txBody>
      </p:sp>
      <p:sp>
        <p:nvSpPr>
          <p:cNvPr id="11" name="TextBox 10"/>
          <p:cNvSpPr txBox="1"/>
          <p:nvPr/>
        </p:nvSpPr>
        <p:spPr>
          <a:xfrm>
            <a:off x="5091658" y="4218431"/>
            <a:ext cx="3754337" cy="633984"/>
          </a:xfrm>
          <a:prstGeom prst="rect">
            <a:avLst/>
          </a:prstGeom>
          <a:noFill/>
        </p:spPr>
        <p:txBody>
          <a:bodyPr wrap="none" lIns="0" rIns="0">
            <a:noAutofit/>
          </a:bodyPr>
          <a:lstStyle/>
          <a:p>
            <a:pPr algn="l"/>
            <a:r>
              <a:rPr sz="3400" b="0" i="0">
                <a:solidFill>
                  <a:srgbClr val="0A2240"/>
                </a:solidFill>
                <a:latin typeface="Arial"/>
              </a:rPr>
              <a:t>The scopes</a:t>
            </a:r>
          </a:p>
        </p:txBody>
      </p:sp>
      <p:sp>
        <p:nvSpPr>
          <p:cNvPr id="12" name="TextBox 11"/>
          <p:cNvSpPr txBox="1"/>
          <p:nvPr/>
        </p:nvSpPr>
        <p:spPr>
          <a:xfrm>
            <a:off x="457200" y="5126735"/>
            <a:ext cx="5673148" cy="633984"/>
          </a:xfrm>
          <a:prstGeom prst="rect">
            <a:avLst/>
          </a:prstGeom>
          <a:noFill/>
        </p:spPr>
        <p:txBody>
          <a:bodyPr wrap="none" lIns="0" rIns="0">
            <a:noAutofit/>
          </a:bodyPr>
          <a:lstStyle/>
          <a:p>
            <a:pPr algn="l"/>
            <a:r>
              <a:rPr sz="3400" b="0" i="0">
                <a:solidFill>
                  <a:srgbClr val="0A2240"/>
                </a:solidFill>
                <a:latin typeface="Arial"/>
              </a:rPr>
              <a:t>For which server?</a:t>
            </a:r>
          </a:p>
        </p:txBody>
      </p:sp>
      <p:sp>
        <p:nvSpPr>
          <p:cNvPr id="13" name="TextBox 12"/>
          <p:cNvSpPr txBox="1"/>
          <p:nvPr/>
        </p:nvSpPr>
        <p:spPr>
          <a:xfrm>
            <a:off x="5091658" y="5126735"/>
            <a:ext cx="4292064" cy="633984"/>
          </a:xfrm>
          <a:prstGeom prst="rect">
            <a:avLst/>
          </a:prstGeom>
          <a:noFill/>
        </p:spPr>
        <p:txBody>
          <a:bodyPr wrap="none" lIns="0" rIns="0">
            <a:noAutofit/>
          </a:bodyPr>
          <a:lstStyle/>
          <a:p>
            <a:pPr algn="l"/>
            <a:r>
              <a:rPr sz="3400" b="0" i="0">
                <a:solidFill>
                  <a:srgbClr val="0A2240"/>
                </a:solidFill>
                <a:latin typeface="Arial"/>
              </a:rPr>
              <a:t>This one only</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330523" cy="768096"/>
          </a:xfrm>
          <a:prstGeom prst="rect">
            <a:avLst/>
          </a:prstGeom>
          <a:noFill/>
        </p:spPr>
        <p:txBody>
          <a:bodyPr wrap="none" lIns="0" rIns="0">
            <a:noAutofit/>
          </a:bodyPr>
          <a:lstStyle/>
          <a:p>
            <a:pPr algn="l"/>
            <a:r>
              <a:rPr sz="4200" b="1" i="0">
                <a:solidFill>
                  <a:srgbClr val="0072CE"/>
                </a:solidFill>
                <a:latin typeface="Arial"/>
              </a:rPr>
              <a:t>Three Versions, One Server</a:t>
            </a:r>
          </a:p>
        </p:txBody>
      </p:sp>
      <p:pic>
        <p:nvPicPr>
          <p:cNvPr id="3" name="Picture 2" descr="repo.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5521345" cy="609600"/>
          </a:xfrm>
          <a:prstGeom prst="rect">
            <a:avLst/>
          </a:prstGeom>
          <a:noFill/>
        </p:spPr>
        <p:txBody>
          <a:bodyPr wrap="none" lIns="0" rIns="0">
            <a:noAutofit/>
          </a:bodyPr>
          <a:lstStyle/>
          <a:p>
            <a:pPr algn="l"/>
            <a:r>
              <a:rPr sz="3400" b="0" i="0">
                <a:solidFill>
                  <a:srgbClr val="0A2240"/>
                </a:solidFill>
                <a:latin typeface="Arial"/>
              </a:rPr>
              <a:t>v1: local, no login</a:t>
            </a:r>
          </a:p>
        </p:txBody>
      </p:sp>
      <p:sp>
        <p:nvSpPr>
          <p:cNvPr id="5" name="TextBox 4"/>
          <p:cNvSpPr txBox="1"/>
          <p:nvPr/>
        </p:nvSpPr>
        <p:spPr>
          <a:xfrm>
            <a:off x="457200" y="2383536"/>
            <a:ext cx="6058732" cy="609600"/>
          </a:xfrm>
          <a:prstGeom prst="rect">
            <a:avLst/>
          </a:prstGeom>
          <a:noFill/>
        </p:spPr>
        <p:txBody>
          <a:bodyPr wrap="none" lIns="0" rIns="0">
            <a:noAutofit/>
          </a:bodyPr>
          <a:lstStyle/>
          <a:p>
            <a:pPr algn="l"/>
            <a:r>
              <a:rPr sz="3400" b="0" i="0">
                <a:solidFill>
                  <a:srgbClr val="0A2240"/>
                </a:solidFill>
                <a:latin typeface="Arial"/>
              </a:rPr>
              <a:t>v2: a URL, no login</a:t>
            </a:r>
          </a:p>
        </p:txBody>
      </p:sp>
      <p:sp>
        <p:nvSpPr>
          <p:cNvPr id="6" name="TextBox 5"/>
          <p:cNvSpPr txBox="1"/>
          <p:nvPr/>
        </p:nvSpPr>
        <p:spPr>
          <a:xfrm>
            <a:off x="457200" y="3267456"/>
            <a:ext cx="6301283" cy="609600"/>
          </a:xfrm>
          <a:prstGeom prst="rect">
            <a:avLst/>
          </a:prstGeom>
          <a:noFill/>
        </p:spPr>
        <p:txBody>
          <a:bodyPr wrap="none" lIns="0" rIns="0">
            <a:noAutofit/>
          </a:bodyPr>
          <a:lstStyle/>
          <a:p>
            <a:pPr algn="l"/>
            <a:r>
              <a:rPr sz="3400" b="0" i="0">
                <a:solidFill>
                  <a:srgbClr val="0A2240"/>
                </a:solidFill>
                <a:latin typeface="Arial"/>
              </a:rPr>
              <a:t>v3: a URL with login</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15</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v1_local.py</a:t>
            </a:r>
          </a:p>
        </p:txBody>
      </p:sp>
      <p:sp>
        <p:nvSpPr>
          <p:cNvPr id="6" name="TextBox 5"/>
          <p:cNvSpPr txBox="1"/>
          <p:nvPr/>
        </p:nvSpPr>
        <p:spPr>
          <a:xfrm>
            <a:off x="457200" y="1837944"/>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7" name="TextBox 6"/>
          <p:cNvSpPr txBox="1"/>
          <p:nvPr/>
        </p:nvSpPr>
        <p:spPr>
          <a:xfrm>
            <a:off x="1320800" y="1837944"/>
            <a:ext cx="2985531" cy="518159"/>
          </a:xfrm>
          <a:prstGeom prst="rect">
            <a:avLst/>
          </a:prstGeom>
          <a:noFill/>
        </p:spPr>
        <p:txBody>
          <a:bodyPr wrap="none" lIns="0" rIns="0">
            <a:noAutofit/>
          </a:bodyPr>
          <a:lstStyle/>
          <a:p>
            <a:pPr algn="l"/>
            <a:r>
              <a:rPr sz="3400" b="0" i="0">
                <a:solidFill>
                  <a:srgbClr val="FFFFFF"/>
                </a:solidFill>
                <a:latin typeface="Arial"/>
              </a:rPr>
              <a:t> fastmcp </a:t>
            </a:r>
          </a:p>
        </p:txBody>
      </p:sp>
      <p:sp>
        <p:nvSpPr>
          <p:cNvPr id="8" name="TextBox 7"/>
          <p:cNvSpPr txBox="1"/>
          <p:nvPr/>
        </p:nvSpPr>
        <p:spPr>
          <a:xfrm>
            <a:off x="3072457" y="1837944"/>
            <a:ext cx="2102366" cy="518159"/>
          </a:xfrm>
          <a:prstGeom prst="rect">
            <a:avLst/>
          </a:prstGeom>
          <a:noFill/>
        </p:spPr>
        <p:txBody>
          <a:bodyPr wrap="none" lIns="0" rIns="0">
            <a:noAutofit/>
          </a:bodyPr>
          <a:lstStyle/>
          <a:p>
            <a:pPr algn="l"/>
            <a:r>
              <a:rPr sz="3400" b="0" i="0">
                <a:solidFill>
                  <a:srgbClr val="569CD6"/>
                </a:solidFill>
                <a:latin typeface="Arial"/>
              </a:rPr>
              <a:t>import</a:t>
            </a:r>
          </a:p>
        </p:txBody>
      </p:sp>
      <p:sp>
        <p:nvSpPr>
          <p:cNvPr id="9" name="TextBox 8"/>
          <p:cNvSpPr txBox="1"/>
          <p:nvPr/>
        </p:nvSpPr>
        <p:spPr>
          <a:xfrm>
            <a:off x="4272136" y="1837944"/>
            <a:ext cx="3253720" cy="518159"/>
          </a:xfrm>
          <a:prstGeom prst="rect">
            <a:avLst/>
          </a:prstGeom>
          <a:noFill/>
        </p:spPr>
        <p:txBody>
          <a:bodyPr wrap="none" lIns="0" rIns="0">
            <a:noAutofit/>
          </a:bodyPr>
          <a:lstStyle/>
          <a:p>
            <a:pPr algn="l"/>
            <a:r>
              <a:rPr sz="3400" b="0" i="0">
                <a:solidFill>
                  <a:srgbClr val="FFFFFF"/>
                </a:solidFill>
                <a:latin typeface="Arial"/>
              </a:rPr>
              <a:t> FastMCP</a:t>
            </a:r>
          </a:p>
        </p:txBody>
      </p:sp>
      <p:sp>
        <p:nvSpPr>
          <p:cNvPr id="10" name="TextBox 9"/>
          <p:cNvSpPr txBox="1"/>
          <p:nvPr/>
        </p:nvSpPr>
        <p:spPr>
          <a:xfrm>
            <a:off x="457200" y="2356103"/>
            <a:ext cx="7795041" cy="518159"/>
          </a:xfrm>
          <a:prstGeom prst="rect">
            <a:avLst/>
          </a:prstGeom>
          <a:noFill/>
        </p:spPr>
        <p:txBody>
          <a:bodyPr wrap="none" lIns="0" rIns="0">
            <a:noAutofit/>
          </a:bodyPr>
          <a:lstStyle/>
          <a:p>
            <a:pPr algn="l"/>
            <a:r>
              <a:rPr sz="3400" b="0" i="0">
                <a:solidFill>
                  <a:srgbClr val="FFFFFF"/>
                </a:solidFill>
                <a:latin typeface="Arial"/>
              </a:rPr>
              <a:t>mcp = FastMCP("notes")</a:t>
            </a:r>
          </a:p>
        </p:txBody>
      </p:sp>
      <p:sp>
        <p:nvSpPr>
          <p:cNvPr id="11" name="TextBox 10"/>
          <p:cNvSpPr txBox="1"/>
          <p:nvPr/>
        </p:nvSpPr>
        <p:spPr>
          <a:xfrm>
            <a:off x="457200" y="3392421"/>
            <a:ext cx="3955395" cy="518159"/>
          </a:xfrm>
          <a:prstGeom prst="rect">
            <a:avLst/>
          </a:prstGeom>
          <a:noFill/>
        </p:spPr>
        <p:txBody>
          <a:bodyPr wrap="none" lIns="0" rIns="0">
            <a:noAutofit/>
          </a:bodyPr>
          <a:lstStyle/>
          <a:p>
            <a:pPr algn="l"/>
            <a:r>
              <a:rPr sz="3400" b="0" i="0">
                <a:solidFill>
                  <a:srgbClr val="FFFFFF"/>
                </a:solidFill>
                <a:latin typeface="Arial"/>
              </a:rPr>
              <a:t>@mcp.tool()</a:t>
            </a:r>
          </a:p>
        </p:txBody>
      </p:sp>
      <p:sp>
        <p:nvSpPr>
          <p:cNvPr id="12" name="TextBox 11"/>
          <p:cNvSpPr txBox="1"/>
          <p:nvPr/>
        </p:nvSpPr>
        <p:spPr>
          <a:xfrm>
            <a:off x="457200" y="3910580"/>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3" name="TextBox 12"/>
          <p:cNvSpPr txBox="1"/>
          <p:nvPr/>
        </p:nvSpPr>
        <p:spPr>
          <a:xfrm>
            <a:off x="1057461" y="3910580"/>
            <a:ext cx="6941899" cy="518159"/>
          </a:xfrm>
          <a:prstGeom prst="rect">
            <a:avLst/>
          </a:prstGeom>
          <a:noFill/>
        </p:spPr>
        <p:txBody>
          <a:bodyPr wrap="none" lIns="0" rIns="0">
            <a:noAutofit/>
          </a:bodyPr>
          <a:lstStyle/>
          <a:p>
            <a:pPr algn="l"/>
            <a:r>
              <a:rPr sz="3400" b="0" i="0">
                <a:solidFill>
                  <a:srgbClr val="FFFFFF"/>
                </a:solidFill>
                <a:latin typeface="Arial"/>
              </a:rPr>
              <a:t> add_a_note(text: str):</a:t>
            </a:r>
          </a:p>
        </p:txBody>
      </p:sp>
      <p:sp>
        <p:nvSpPr>
          <p:cNvPr id="14" name="TextBox 13"/>
          <p:cNvSpPr txBox="1"/>
          <p:nvPr/>
        </p:nvSpPr>
        <p:spPr>
          <a:xfrm>
            <a:off x="457200" y="4428739"/>
            <a:ext cx="7760969" cy="518159"/>
          </a:xfrm>
          <a:prstGeom prst="rect">
            <a:avLst/>
          </a:prstGeom>
          <a:noFill/>
        </p:spPr>
        <p:txBody>
          <a:bodyPr wrap="none" lIns="0" rIns="0">
            <a:noAutofit/>
          </a:bodyPr>
          <a:lstStyle/>
          <a:p>
            <a:pPr algn="l"/>
            <a:r>
              <a:rPr sz="3400" b="0" i="0">
                <a:solidFill>
                  <a:srgbClr val="FFFFFF"/>
                </a:solidFill>
                <a:latin typeface="Arial"/>
              </a:rPr>
              <a:t>    """Save a new note."""</a:t>
            </a:r>
          </a:p>
        </p:txBody>
      </p:sp>
      <p:sp>
        <p:nvSpPr>
          <p:cNvPr id="15" name="TextBox 14"/>
          <p:cNvSpPr txBox="1"/>
          <p:nvPr/>
        </p:nvSpPr>
        <p:spPr>
          <a:xfrm>
            <a:off x="457200" y="4946898"/>
            <a:ext cx="662751" cy="518159"/>
          </a:xfrm>
          <a:prstGeom prst="rect">
            <a:avLst/>
          </a:prstGeom>
          <a:noFill/>
        </p:spPr>
        <p:txBody>
          <a:bodyPr wrap="none" lIns="0" rIns="0">
            <a:noAutofit/>
          </a:bodyPr>
          <a:lstStyle/>
          <a:p>
            <a:pPr algn="l"/>
            <a:r>
              <a:rPr sz="3400" b="0" i="0">
                <a:solidFill>
                  <a:srgbClr val="FFFFFF"/>
                </a:solidFill>
                <a:latin typeface="Arial"/>
              </a:rPr>
              <a:t>    </a:t>
            </a:r>
          </a:p>
        </p:txBody>
      </p:sp>
      <p:sp>
        <p:nvSpPr>
          <p:cNvPr id="16" name="TextBox 15"/>
          <p:cNvSpPr txBox="1"/>
          <p:nvPr/>
        </p:nvSpPr>
        <p:spPr>
          <a:xfrm>
            <a:off x="937071" y="4946898"/>
            <a:ext cx="1987668" cy="518159"/>
          </a:xfrm>
          <a:prstGeom prst="rect">
            <a:avLst/>
          </a:prstGeom>
          <a:noFill/>
        </p:spPr>
        <p:txBody>
          <a:bodyPr wrap="none" lIns="0" rIns="0">
            <a:noAutofit/>
          </a:bodyPr>
          <a:lstStyle/>
          <a:p>
            <a:pPr algn="l"/>
            <a:r>
              <a:rPr sz="3400" b="0" i="0">
                <a:solidFill>
                  <a:srgbClr val="569CD6"/>
                </a:solidFill>
                <a:latin typeface="Arial"/>
              </a:rPr>
              <a:t>return</a:t>
            </a:r>
          </a:p>
        </p:txBody>
      </p:sp>
      <p:sp>
        <p:nvSpPr>
          <p:cNvPr id="17" name="TextBox 16"/>
          <p:cNvSpPr txBox="1"/>
          <p:nvPr/>
        </p:nvSpPr>
        <p:spPr>
          <a:xfrm>
            <a:off x="2065065" y="4946898"/>
            <a:ext cx="7125414" cy="518159"/>
          </a:xfrm>
          <a:prstGeom prst="rect">
            <a:avLst/>
          </a:prstGeom>
          <a:noFill/>
        </p:spPr>
        <p:txBody>
          <a:bodyPr wrap="none" lIns="0" rIns="0">
            <a:noAutofit/>
          </a:bodyPr>
          <a:lstStyle/>
          <a:p>
            <a:pPr algn="l"/>
            <a:r>
              <a:rPr sz="3400" b="0" i="0">
                <a:solidFill>
                  <a:srgbClr val="FFFFFF"/>
                </a:solidFill>
                <a:latin typeface="Arial"/>
              </a:rPr>
              <a:t> add_note("local", text)</a:t>
            </a:r>
          </a:p>
        </p:txBody>
      </p:sp>
      <p:sp>
        <p:nvSpPr>
          <p:cNvPr id="18" name="TextBox 17"/>
          <p:cNvSpPr txBox="1"/>
          <p:nvPr/>
        </p:nvSpPr>
        <p:spPr>
          <a:xfrm>
            <a:off x="457200" y="5465057"/>
            <a:ext cx="3138686" cy="518159"/>
          </a:xfrm>
          <a:prstGeom prst="rect">
            <a:avLst/>
          </a:prstGeom>
          <a:noFill/>
        </p:spPr>
        <p:txBody>
          <a:bodyPr wrap="none" lIns="0" rIns="0">
            <a:noAutofit/>
          </a:bodyPr>
          <a:lstStyle/>
          <a:p>
            <a:pPr algn="l"/>
            <a:r>
              <a:rPr sz="3400" b="0" i="0">
                <a:solidFill>
                  <a:srgbClr val="FFFFFF"/>
                </a:solidFill>
                <a:latin typeface="Arial"/>
              </a:rPr>
              <a:t>mcp.run()</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the Model Reads</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The docstring is the description</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Type hints say what to pass</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Write both on every tool</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Connect it locally</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569CD6"/>
                </a:solidFill>
                <a:latin typeface="Arial"/>
              </a:rPr>
              <a:t>$</a:t>
            </a:r>
          </a:p>
        </p:txBody>
      </p:sp>
      <p:sp>
        <p:nvSpPr>
          <p:cNvPr id="7" name="TextBox 6"/>
          <p:cNvSpPr txBox="1"/>
          <p:nvPr/>
        </p:nvSpPr>
        <p:spPr>
          <a:xfrm>
            <a:off x="697347" y="1837944"/>
            <a:ext cx="7518419" cy="518159"/>
          </a:xfrm>
          <a:prstGeom prst="rect">
            <a:avLst/>
          </a:prstGeom>
          <a:noFill/>
        </p:spPr>
        <p:txBody>
          <a:bodyPr wrap="none" lIns="0" rIns="0">
            <a:noAutofit/>
          </a:bodyPr>
          <a:lstStyle/>
          <a:p>
            <a:pPr algn="l"/>
            <a:r>
              <a:rPr sz="3400" b="0" i="0">
                <a:solidFill>
                  <a:srgbClr val="FFFFFF"/>
                </a:solidFill>
                <a:latin typeface="Arial"/>
              </a:rPr>
              <a:t> claude mcp add notes \</a:t>
            </a:r>
          </a:p>
        </p:txBody>
      </p:sp>
      <p:sp>
        <p:nvSpPr>
          <p:cNvPr id="8" name="TextBox 7"/>
          <p:cNvSpPr txBox="1"/>
          <p:nvPr/>
        </p:nvSpPr>
        <p:spPr>
          <a:xfrm>
            <a:off x="457200" y="2356103"/>
            <a:ext cx="7171292" cy="518159"/>
          </a:xfrm>
          <a:prstGeom prst="rect">
            <a:avLst/>
          </a:prstGeom>
          <a:noFill/>
        </p:spPr>
        <p:txBody>
          <a:bodyPr wrap="none" lIns="0" rIns="0">
            <a:noAutofit/>
          </a:bodyPr>
          <a:lstStyle/>
          <a:p>
            <a:pPr algn="l"/>
            <a:r>
              <a:rPr sz="3400" b="0" i="0">
                <a:solidFill>
                  <a:srgbClr val="FFFFFF"/>
                </a:solidFill>
                <a:latin typeface="Arial"/>
              </a:rPr>
              <a:t>    -- uv run v1_local.py</a:t>
            </a:r>
          </a:p>
        </p:txBody>
      </p:sp>
      <p:sp>
        <p:nvSpPr>
          <p:cNvPr id="9" name="TextBox 8"/>
          <p:cNvSpPr txBox="1"/>
          <p:nvPr/>
        </p:nvSpPr>
        <p:spPr>
          <a:xfrm>
            <a:off x="457200" y="3392421"/>
            <a:ext cx="6691590" cy="518159"/>
          </a:xfrm>
          <a:prstGeom prst="rect">
            <a:avLst/>
          </a:prstGeom>
          <a:noFill/>
        </p:spPr>
        <p:txBody>
          <a:bodyPr wrap="none" lIns="0" rIns="0">
            <a:noAutofit/>
          </a:bodyPr>
          <a:lstStyle/>
          <a:p>
            <a:pPr algn="l"/>
            <a:r>
              <a:rPr sz="3400" b="0" i="0">
                <a:solidFill>
                  <a:srgbClr val="FFFFFF"/>
                </a:solidFill>
                <a:latin typeface="Arial"/>
              </a:rPr>
              <a:t>&gt; What can my notes</a:t>
            </a:r>
          </a:p>
        </p:txBody>
      </p:sp>
      <p:sp>
        <p:nvSpPr>
          <p:cNvPr id="10" name="TextBox 9"/>
          <p:cNvSpPr txBox="1"/>
          <p:nvPr/>
        </p:nvSpPr>
        <p:spPr>
          <a:xfrm>
            <a:off x="457200" y="3910580"/>
            <a:ext cx="3830915" cy="518159"/>
          </a:xfrm>
          <a:prstGeom prst="rect">
            <a:avLst/>
          </a:prstGeom>
          <a:noFill/>
        </p:spPr>
        <p:txBody>
          <a:bodyPr wrap="none" lIns="0" rIns="0">
            <a:noAutofit/>
          </a:bodyPr>
          <a:lstStyle/>
          <a:p>
            <a:pPr algn="l"/>
            <a:r>
              <a:rPr sz="3400" b="0" i="0">
                <a:solidFill>
                  <a:srgbClr val="FFFFFF"/>
                </a:solidFill>
                <a:latin typeface="Arial"/>
              </a:rPr>
              <a:t>  server do?</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v2_remote.py</a:t>
            </a:r>
          </a:p>
        </p:txBody>
      </p:sp>
      <p:sp>
        <p:nvSpPr>
          <p:cNvPr id="6" name="TextBox 5"/>
          <p:cNvSpPr txBox="1"/>
          <p:nvPr/>
        </p:nvSpPr>
        <p:spPr>
          <a:xfrm>
            <a:off x="457200" y="1837944"/>
            <a:ext cx="7873305" cy="518159"/>
          </a:xfrm>
          <a:prstGeom prst="rect">
            <a:avLst/>
          </a:prstGeom>
          <a:noFill/>
        </p:spPr>
        <p:txBody>
          <a:bodyPr wrap="none" lIns="0" rIns="0">
            <a:noAutofit/>
          </a:bodyPr>
          <a:lstStyle/>
          <a:p>
            <a:pPr algn="l"/>
            <a:r>
              <a:rPr sz="3400" b="0" i="0">
                <a:solidFill>
                  <a:srgbClr val="FFFFFF"/>
                </a:solidFill>
                <a:latin typeface="Arial"/>
              </a:rPr>
              <a:t>mcp.run(transport="http",</a:t>
            </a:r>
          </a:p>
        </p:txBody>
      </p:sp>
      <p:sp>
        <p:nvSpPr>
          <p:cNvPr id="7" name="TextBox 6"/>
          <p:cNvSpPr txBox="1"/>
          <p:nvPr/>
        </p:nvSpPr>
        <p:spPr>
          <a:xfrm>
            <a:off x="457200" y="2356103"/>
            <a:ext cx="5079424" cy="518159"/>
          </a:xfrm>
          <a:prstGeom prst="rect">
            <a:avLst/>
          </a:prstGeom>
          <a:noFill/>
        </p:spPr>
        <p:txBody>
          <a:bodyPr wrap="none" lIns="0" rIns="0">
            <a:noAutofit/>
          </a:bodyPr>
          <a:lstStyle/>
          <a:p>
            <a:pPr algn="l"/>
            <a:r>
              <a:rPr sz="3400" b="0" i="0">
                <a:solidFill>
                  <a:srgbClr val="FFFFFF"/>
                </a:solidFill>
                <a:latin typeface="Arial"/>
              </a:rPr>
              <a:t>        port=8000)</a:t>
            </a:r>
          </a:p>
        </p:txBody>
      </p:sp>
      <p:sp>
        <p:nvSpPr>
          <p:cNvPr id="8" name="TextBox 7"/>
          <p:cNvSpPr txBox="1"/>
          <p:nvPr/>
        </p:nvSpPr>
        <p:spPr>
          <a:xfrm>
            <a:off x="457200" y="3392421"/>
            <a:ext cx="567115" cy="518159"/>
          </a:xfrm>
          <a:prstGeom prst="rect">
            <a:avLst/>
          </a:prstGeom>
          <a:noFill/>
        </p:spPr>
        <p:txBody>
          <a:bodyPr wrap="none" lIns="0" rIns="0">
            <a:noAutofit/>
          </a:bodyPr>
          <a:lstStyle/>
          <a:p>
            <a:pPr algn="l"/>
            <a:r>
              <a:rPr sz="3400" b="0" i="0">
                <a:solidFill>
                  <a:srgbClr val="569CD6"/>
                </a:solidFill>
                <a:latin typeface="Arial"/>
              </a:rPr>
              <a:t>$</a:t>
            </a:r>
          </a:p>
        </p:txBody>
      </p:sp>
      <p:sp>
        <p:nvSpPr>
          <p:cNvPr id="9" name="TextBox 8"/>
          <p:cNvSpPr txBox="1"/>
          <p:nvPr/>
        </p:nvSpPr>
        <p:spPr>
          <a:xfrm>
            <a:off x="697347" y="3392421"/>
            <a:ext cx="5636379" cy="518159"/>
          </a:xfrm>
          <a:prstGeom prst="rect">
            <a:avLst/>
          </a:prstGeom>
          <a:noFill/>
        </p:spPr>
        <p:txBody>
          <a:bodyPr wrap="none" lIns="0" rIns="0">
            <a:noAutofit/>
          </a:bodyPr>
          <a:lstStyle/>
          <a:p>
            <a:pPr algn="l"/>
            <a:r>
              <a:rPr sz="3400" b="0" i="0">
                <a:solidFill>
                  <a:srgbClr val="FFFFFF"/>
                </a:solidFill>
                <a:latin typeface="Arial"/>
              </a:rPr>
              <a:t> claude mcp add \</a:t>
            </a:r>
          </a:p>
        </p:txBody>
      </p:sp>
      <p:sp>
        <p:nvSpPr>
          <p:cNvPr id="10" name="TextBox 9"/>
          <p:cNvSpPr txBox="1"/>
          <p:nvPr/>
        </p:nvSpPr>
        <p:spPr>
          <a:xfrm>
            <a:off x="457200" y="3910580"/>
            <a:ext cx="5865435" cy="518159"/>
          </a:xfrm>
          <a:prstGeom prst="rect">
            <a:avLst/>
          </a:prstGeom>
          <a:noFill/>
        </p:spPr>
        <p:txBody>
          <a:bodyPr wrap="none" lIns="0" rIns="0">
            <a:noAutofit/>
          </a:bodyPr>
          <a:lstStyle/>
          <a:p>
            <a:pPr algn="l"/>
            <a:r>
              <a:rPr sz="3400" b="0" i="0">
                <a:solidFill>
                  <a:srgbClr val="FFFFFF"/>
                </a:solidFill>
                <a:latin typeface="Arial"/>
              </a:rPr>
              <a:t>    --transport http \</a:t>
            </a:r>
          </a:p>
        </p:txBody>
      </p:sp>
      <p:sp>
        <p:nvSpPr>
          <p:cNvPr id="11" name="TextBox 10"/>
          <p:cNvSpPr txBox="1"/>
          <p:nvPr/>
        </p:nvSpPr>
        <p:spPr>
          <a:xfrm>
            <a:off x="457200" y="4428739"/>
            <a:ext cx="3024664" cy="518159"/>
          </a:xfrm>
          <a:prstGeom prst="rect">
            <a:avLst/>
          </a:prstGeom>
          <a:noFill/>
        </p:spPr>
        <p:txBody>
          <a:bodyPr wrap="none" lIns="0" rIns="0">
            <a:noAutofit/>
          </a:bodyPr>
          <a:lstStyle/>
          <a:p>
            <a:pPr algn="l"/>
            <a:r>
              <a:rPr sz="3400" b="0" i="0">
                <a:solidFill>
                  <a:srgbClr val="FFFFFF"/>
                </a:solidFill>
                <a:latin typeface="Arial"/>
              </a:rPr>
              <a:t>    notes \</a:t>
            </a:r>
          </a:p>
        </p:txBody>
      </p:sp>
      <p:sp>
        <p:nvSpPr>
          <p:cNvPr id="12" name="TextBox 11"/>
          <p:cNvSpPr txBox="1"/>
          <p:nvPr/>
        </p:nvSpPr>
        <p:spPr>
          <a:xfrm>
            <a:off x="457200" y="4946898"/>
            <a:ext cx="8631654" cy="518159"/>
          </a:xfrm>
          <a:prstGeom prst="rect">
            <a:avLst/>
          </a:prstGeom>
          <a:noFill/>
        </p:spPr>
        <p:txBody>
          <a:bodyPr wrap="none" lIns="0" rIns="0">
            <a:noAutofit/>
          </a:bodyPr>
          <a:lstStyle/>
          <a:p>
            <a:pPr algn="l"/>
            <a:r>
              <a:rPr sz="3400" b="0" i="0">
                <a:solidFill>
                  <a:srgbClr val="FFFFFF"/>
                </a:solidFill>
                <a:latin typeface="Arial"/>
              </a:rPr>
              <a:t>    http://localhost:8000/mcp</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Set Up the Login Service</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0072CE"/>
                </a:solidFill>
                <a:latin typeface="Arial"/>
              </a:rPr>
              <a:t>Add your server</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Its URL, ending in /mcp</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Add two scopes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notes:read and notes:write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Copy the config URL</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Into your .env file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v3_auth.py: the gate</a:t>
            </a:r>
          </a:p>
        </p:txBody>
      </p:sp>
      <p:sp>
        <p:nvSpPr>
          <p:cNvPr id="6" name="TextBox 5"/>
          <p:cNvSpPr txBox="1"/>
          <p:nvPr/>
        </p:nvSpPr>
        <p:spPr>
          <a:xfrm>
            <a:off x="457200" y="1837944"/>
            <a:ext cx="7844294" cy="518159"/>
          </a:xfrm>
          <a:prstGeom prst="rect">
            <a:avLst/>
          </a:prstGeom>
          <a:noFill/>
        </p:spPr>
        <p:txBody>
          <a:bodyPr wrap="none" lIns="0" rIns="0">
            <a:noAutofit/>
          </a:bodyPr>
          <a:lstStyle/>
          <a:p>
            <a:pPr algn="l"/>
            <a:r>
              <a:rPr sz="3400" b="0" i="0">
                <a:solidFill>
                  <a:srgbClr val="FFFFFF"/>
                </a:solidFill>
                <a:latin typeface="Arial"/>
              </a:rPr>
              <a:t>auth = DescopeProvider(</a:t>
            </a:r>
          </a:p>
        </p:txBody>
      </p:sp>
      <p:sp>
        <p:nvSpPr>
          <p:cNvPr id="7" name="TextBox 6"/>
          <p:cNvSpPr txBox="1"/>
          <p:nvPr/>
        </p:nvSpPr>
        <p:spPr>
          <a:xfrm>
            <a:off x="457200" y="2356103"/>
            <a:ext cx="8994636" cy="518159"/>
          </a:xfrm>
          <a:prstGeom prst="rect">
            <a:avLst/>
          </a:prstGeom>
          <a:noFill/>
        </p:spPr>
        <p:txBody>
          <a:bodyPr wrap="none" lIns="0" rIns="0">
            <a:noAutofit/>
          </a:bodyPr>
          <a:lstStyle/>
          <a:p>
            <a:pPr algn="l"/>
            <a:r>
              <a:rPr sz="3400" b="0" i="0">
                <a:solidFill>
                  <a:srgbClr val="FFFFFF"/>
                </a:solidFill>
                <a:latin typeface="Arial"/>
              </a:rPr>
              <a:t>    config_url=CONFIG_URL,</a:t>
            </a:r>
          </a:p>
        </p:txBody>
      </p:sp>
      <p:sp>
        <p:nvSpPr>
          <p:cNvPr id="8" name="TextBox 7"/>
          <p:cNvSpPr txBox="1"/>
          <p:nvPr/>
        </p:nvSpPr>
        <p:spPr>
          <a:xfrm>
            <a:off x="457200" y="2874262"/>
            <a:ext cx="7805836" cy="518159"/>
          </a:xfrm>
          <a:prstGeom prst="rect">
            <a:avLst/>
          </a:prstGeom>
          <a:noFill/>
        </p:spPr>
        <p:txBody>
          <a:bodyPr wrap="none" lIns="0" rIns="0">
            <a:noAutofit/>
          </a:bodyPr>
          <a:lstStyle/>
          <a:p>
            <a:pPr algn="l"/>
            <a:r>
              <a:rPr sz="3400" b="0" i="0">
                <a:solidFill>
                  <a:srgbClr val="FFFFFF"/>
                </a:solidFill>
                <a:latin typeface="Arial"/>
              </a:rPr>
              <a:t>    base_url=BASE_URL,</a:t>
            </a:r>
          </a:p>
        </p:txBody>
      </p:sp>
      <p:sp>
        <p:nvSpPr>
          <p:cNvPr id="9" name="TextBox 8"/>
          <p:cNvSpPr txBox="1"/>
          <p:nvPr/>
        </p:nvSpPr>
        <p:spPr>
          <a:xfrm>
            <a:off x="457200" y="3392421"/>
            <a:ext cx="7192208" cy="518159"/>
          </a:xfrm>
          <a:prstGeom prst="rect">
            <a:avLst/>
          </a:prstGeom>
          <a:noFill/>
        </p:spPr>
        <p:txBody>
          <a:bodyPr wrap="none" lIns="0" rIns="0">
            <a:noAutofit/>
          </a:bodyPr>
          <a:lstStyle/>
          <a:p>
            <a:pPr algn="l"/>
            <a:r>
              <a:rPr sz="3400" b="0" i="0">
                <a:solidFill>
                  <a:srgbClr val="FFFFFF"/>
                </a:solidFill>
                <a:latin typeface="Arial"/>
              </a:rPr>
              <a:t>    scopes_supported=[</a:t>
            </a:r>
          </a:p>
        </p:txBody>
      </p:sp>
      <p:sp>
        <p:nvSpPr>
          <p:cNvPr id="10" name="TextBox 9"/>
          <p:cNvSpPr txBox="1"/>
          <p:nvPr/>
        </p:nvSpPr>
        <p:spPr>
          <a:xfrm>
            <a:off x="457200" y="3910580"/>
            <a:ext cx="5665728" cy="518159"/>
          </a:xfrm>
          <a:prstGeom prst="rect">
            <a:avLst/>
          </a:prstGeom>
          <a:noFill/>
        </p:spPr>
        <p:txBody>
          <a:bodyPr wrap="none" lIns="0" rIns="0">
            <a:noAutofit/>
          </a:bodyPr>
          <a:lstStyle/>
          <a:p>
            <a:pPr algn="l"/>
            <a:r>
              <a:rPr sz="3400" b="0" i="0">
                <a:solidFill>
                  <a:srgbClr val="FFFFFF"/>
                </a:solidFill>
                <a:latin typeface="Arial"/>
              </a:rPr>
              <a:t>        "notes:read",</a:t>
            </a:r>
          </a:p>
        </p:txBody>
      </p:sp>
      <p:sp>
        <p:nvSpPr>
          <p:cNvPr id="11" name="TextBox 10"/>
          <p:cNvSpPr txBox="1"/>
          <p:nvPr/>
        </p:nvSpPr>
        <p:spPr>
          <a:xfrm>
            <a:off x="457200" y="4428739"/>
            <a:ext cx="5971699" cy="518159"/>
          </a:xfrm>
          <a:prstGeom prst="rect">
            <a:avLst/>
          </a:prstGeom>
          <a:noFill/>
        </p:spPr>
        <p:txBody>
          <a:bodyPr wrap="none" lIns="0" rIns="0">
            <a:noAutofit/>
          </a:bodyPr>
          <a:lstStyle/>
          <a:p>
            <a:pPr algn="l"/>
            <a:r>
              <a:rPr sz="3400" b="0" i="0">
                <a:solidFill>
                  <a:srgbClr val="FFFFFF"/>
                </a:solidFill>
                <a:latin typeface="Arial"/>
              </a:rPr>
              <a:t>        "notes:write"])</a:t>
            </a:r>
          </a:p>
        </p:txBody>
      </p:sp>
      <p:sp>
        <p:nvSpPr>
          <p:cNvPr id="12" name="TextBox 11"/>
          <p:cNvSpPr txBox="1"/>
          <p:nvPr/>
        </p:nvSpPr>
        <p:spPr>
          <a:xfrm>
            <a:off x="457200" y="4946898"/>
            <a:ext cx="11271707" cy="518159"/>
          </a:xfrm>
          <a:prstGeom prst="rect">
            <a:avLst/>
          </a:prstGeom>
          <a:noFill/>
        </p:spPr>
        <p:txBody>
          <a:bodyPr wrap="none" lIns="0" rIns="0">
            <a:noAutofit/>
          </a:bodyPr>
          <a:lstStyle/>
          <a:p>
            <a:pPr algn="l"/>
            <a:r>
              <a:rPr sz="3400" b="0" i="0">
                <a:solidFill>
                  <a:srgbClr val="FFFFFF"/>
                </a:solidFill>
                <a:latin typeface="Arial"/>
              </a:rPr>
              <a:t>mcp = FastMCP("notes", auth=auth)</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FFFFFF"/>
                </a:solidFill>
                <a:latin typeface="Arial"/>
              </a:rPr>
              <a:t>v3_auth.py: each tool</a:t>
            </a:r>
          </a:p>
        </p:txBody>
      </p:sp>
      <p:sp>
        <p:nvSpPr>
          <p:cNvPr id="6" name="TextBox 5"/>
          <p:cNvSpPr txBox="1"/>
          <p:nvPr/>
        </p:nvSpPr>
        <p:spPr>
          <a:xfrm>
            <a:off x="457200" y="1837944"/>
            <a:ext cx="3955395" cy="518159"/>
          </a:xfrm>
          <a:prstGeom prst="rect">
            <a:avLst/>
          </a:prstGeom>
          <a:noFill/>
        </p:spPr>
        <p:txBody>
          <a:bodyPr wrap="none" lIns="0" rIns="0">
            <a:noAutofit/>
          </a:bodyPr>
          <a:lstStyle/>
          <a:p>
            <a:pPr algn="l"/>
            <a:r>
              <a:rPr sz="3400" b="0" i="0">
                <a:solidFill>
                  <a:srgbClr val="FFFFFF"/>
                </a:solidFill>
                <a:latin typeface="Arial"/>
              </a:rPr>
              <a:t>@mcp.tool()</a:t>
            </a:r>
          </a:p>
        </p:txBody>
      </p:sp>
      <p:sp>
        <p:nvSpPr>
          <p:cNvPr id="7" name="TextBox 6"/>
          <p:cNvSpPr txBox="1"/>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8" name="TextBox 7"/>
          <p:cNvSpPr txBox="1"/>
          <p:nvPr/>
        </p:nvSpPr>
        <p:spPr>
          <a:xfrm>
            <a:off x="1057461" y="2356103"/>
            <a:ext cx="6941899" cy="518159"/>
          </a:xfrm>
          <a:prstGeom prst="rect">
            <a:avLst/>
          </a:prstGeom>
          <a:noFill/>
        </p:spPr>
        <p:txBody>
          <a:bodyPr wrap="none" lIns="0" rIns="0">
            <a:noAutofit/>
          </a:bodyPr>
          <a:lstStyle/>
          <a:p>
            <a:pPr algn="l"/>
            <a:r>
              <a:rPr sz="3400" b="0" i="0">
                <a:solidFill>
                  <a:srgbClr val="FFFFFF"/>
                </a:solidFill>
                <a:latin typeface="Arial"/>
              </a:rPr>
              <a:t> add_a_note(text: str):</a:t>
            </a:r>
          </a:p>
        </p:txBody>
      </p:sp>
      <p:sp>
        <p:nvSpPr>
          <p:cNvPr id="9" name="TextBox 8"/>
          <p:cNvSpPr txBox="1"/>
          <p:nvPr/>
        </p:nvSpPr>
        <p:spPr>
          <a:xfrm>
            <a:off x="457200" y="2874262"/>
            <a:ext cx="7920532" cy="518159"/>
          </a:xfrm>
          <a:prstGeom prst="rect">
            <a:avLst/>
          </a:prstGeom>
          <a:noFill/>
        </p:spPr>
        <p:txBody>
          <a:bodyPr wrap="none" lIns="0" rIns="0">
            <a:noAutofit/>
          </a:bodyPr>
          <a:lstStyle/>
          <a:p>
            <a:pPr algn="l"/>
            <a:r>
              <a:rPr sz="3400" b="0" i="0">
                <a:solidFill>
                  <a:srgbClr val="FFFFFF"/>
                </a:solidFill>
                <a:latin typeface="Arial"/>
              </a:rPr>
              <a:t>    user, _ = current_user(</a:t>
            </a:r>
          </a:p>
        </p:txBody>
      </p:sp>
      <p:sp>
        <p:nvSpPr>
          <p:cNvPr id="10" name="TextBox 9"/>
          <p:cNvSpPr txBox="1"/>
          <p:nvPr/>
        </p:nvSpPr>
        <p:spPr>
          <a:xfrm>
            <a:off x="457200" y="3392421"/>
            <a:ext cx="5779750" cy="518159"/>
          </a:xfrm>
          <a:prstGeom prst="rect">
            <a:avLst/>
          </a:prstGeom>
          <a:noFill/>
        </p:spPr>
        <p:txBody>
          <a:bodyPr wrap="none" lIns="0" rIns="0">
            <a:noAutofit/>
          </a:bodyPr>
          <a:lstStyle/>
          <a:p>
            <a:pPr algn="l"/>
            <a:r>
              <a:rPr sz="3400" b="0" i="0">
                <a:solidFill>
                  <a:srgbClr val="FFFFFF"/>
                </a:solidFill>
                <a:latin typeface="Arial"/>
              </a:rPr>
              <a:t>        "notes:write")</a:t>
            </a:r>
          </a:p>
        </p:txBody>
      </p:sp>
      <p:sp>
        <p:nvSpPr>
          <p:cNvPr id="11" name="TextBox 10"/>
          <p:cNvSpPr txBox="1"/>
          <p:nvPr/>
        </p:nvSpPr>
        <p:spPr>
          <a:xfrm>
            <a:off x="457200" y="3910580"/>
            <a:ext cx="662751" cy="518159"/>
          </a:xfrm>
          <a:prstGeom prst="rect">
            <a:avLst/>
          </a:prstGeom>
          <a:noFill/>
        </p:spPr>
        <p:txBody>
          <a:bodyPr wrap="none" lIns="0" rIns="0">
            <a:noAutofit/>
          </a:bodyPr>
          <a:lstStyle/>
          <a:p>
            <a:pPr algn="l"/>
            <a:r>
              <a:rPr sz="3400" b="0" i="0">
                <a:solidFill>
                  <a:srgbClr val="FFFFFF"/>
                </a:solidFill>
                <a:latin typeface="Arial"/>
              </a:rPr>
              <a:t>    </a:t>
            </a:r>
          </a:p>
        </p:txBody>
      </p:sp>
      <p:sp>
        <p:nvSpPr>
          <p:cNvPr id="12" name="TextBox 11"/>
          <p:cNvSpPr txBox="1"/>
          <p:nvPr/>
        </p:nvSpPr>
        <p:spPr>
          <a:xfrm>
            <a:off x="937071" y="3910580"/>
            <a:ext cx="1987668" cy="518159"/>
          </a:xfrm>
          <a:prstGeom prst="rect">
            <a:avLst/>
          </a:prstGeom>
          <a:noFill/>
        </p:spPr>
        <p:txBody>
          <a:bodyPr wrap="none" lIns="0" rIns="0">
            <a:noAutofit/>
          </a:bodyPr>
          <a:lstStyle/>
          <a:p>
            <a:pPr algn="l"/>
            <a:r>
              <a:rPr sz="3400" b="0" i="0">
                <a:solidFill>
                  <a:srgbClr val="569CD6"/>
                </a:solidFill>
                <a:latin typeface="Arial"/>
              </a:rPr>
              <a:t>return</a:t>
            </a:r>
          </a:p>
        </p:txBody>
      </p:sp>
      <p:sp>
        <p:nvSpPr>
          <p:cNvPr id="13" name="TextBox 12"/>
          <p:cNvSpPr txBox="1"/>
          <p:nvPr/>
        </p:nvSpPr>
        <p:spPr>
          <a:xfrm>
            <a:off x="2065065" y="3910580"/>
            <a:ext cx="6519881" cy="518159"/>
          </a:xfrm>
          <a:prstGeom prst="rect">
            <a:avLst/>
          </a:prstGeom>
          <a:noFill/>
        </p:spPr>
        <p:txBody>
          <a:bodyPr wrap="none" lIns="0" rIns="0">
            <a:noAutofit/>
          </a:bodyPr>
          <a:lstStyle/>
          <a:p>
            <a:pPr algn="l"/>
            <a:r>
              <a:rPr sz="3400" b="0" i="0">
                <a:solidFill>
                  <a:srgbClr val="FFFFFF"/>
                </a:solidFill>
                <a:latin typeface="Arial"/>
              </a:rPr>
              <a:t> add_note(user, text)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Test It With Two Accounts</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0072CE"/>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0072CE"/>
                </a:solidFill>
                <a:latin typeface="Arial"/>
              </a:rPr>
              <a:t>Run /mcp and sign in</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Add "Tim is the best"</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0072CE"/>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0072CE"/>
                </a:solidFill>
                <a:latin typeface="Arial"/>
              </a:rPr>
              <a:t>Sign in as someone else</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A second account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0072CE"/>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0072CE"/>
                </a:solidFill>
                <a:latin typeface="Arial"/>
              </a:rPr>
              <a:t>List the notes</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They see none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Other Direction</a:t>
            </a:r>
          </a:p>
        </p:txBody>
      </p:sp>
      <p:pic>
        <p:nvPicPr>
          <p:cNvPr id="3" name="Picture 2" descr="postmark-case.png"/>
          <p:cNvPicPr>
            <a:picLocks noChangeAspect="1"/>
          </p:cNvPicPr>
          <p:nvPr/>
        </p:nvPicPr>
        <p:blipFill>
          <a:blip r:embed="rId2"/>
          <a:stretch>
            <a:fillRect/>
          </a:stretch>
        </p:blipFill>
        <p:spPr>
          <a:xfrm>
            <a:off x="6233160" y="1499616"/>
            <a:ext cx="5501640" cy="4261104"/>
          </a:xfrm>
          <a:prstGeom prst="rect">
            <a:avLst/>
          </a:prstGeom>
        </p:spPr>
      </p:pic>
      <p:sp>
        <p:nvSpPr>
          <p:cNvPr id="4" name="TextBox 3"/>
          <p:cNvSpPr txBox="1"/>
          <p:nvPr/>
        </p:nvSpPr>
        <p:spPr>
          <a:xfrm>
            <a:off x="457200" y="1499616"/>
            <a:ext cx="7363916" cy="609600"/>
          </a:xfrm>
          <a:prstGeom prst="rect">
            <a:avLst/>
          </a:prstGeom>
          <a:noFill/>
        </p:spPr>
        <p:txBody>
          <a:bodyPr wrap="none" lIns="0" rIns="0">
            <a:noAutofit/>
          </a:bodyPr>
          <a:lstStyle/>
          <a:p>
            <a:pPr algn="l"/>
            <a:r>
              <a:rPr sz="3400" b="0" i="0">
                <a:solidFill>
                  <a:srgbClr val="0A2240"/>
                </a:solidFill>
                <a:latin typeface="Arial"/>
              </a:rPr>
              <a:t>A server can attack you</a:t>
            </a:r>
          </a:p>
        </p:txBody>
      </p:sp>
      <p:sp>
        <p:nvSpPr>
          <p:cNvPr id="5" name="TextBox 4"/>
          <p:cNvSpPr txBox="1"/>
          <p:nvPr/>
        </p:nvSpPr>
        <p:spPr>
          <a:xfrm>
            <a:off x="457200" y="2383536"/>
            <a:ext cx="8093252" cy="609600"/>
          </a:xfrm>
          <a:prstGeom prst="rect">
            <a:avLst/>
          </a:prstGeom>
          <a:noFill/>
        </p:spPr>
        <p:txBody>
          <a:bodyPr wrap="none" lIns="0" rIns="0">
            <a:noAutofit/>
          </a:bodyPr>
          <a:lstStyle/>
          <a:p>
            <a:pPr algn="l"/>
            <a:r>
              <a:rPr sz="3400" b="0" i="0">
                <a:solidFill>
                  <a:srgbClr val="0A2240"/>
                </a:solidFill>
                <a:latin typeface="Arial"/>
              </a:rPr>
              <a:t>postmark-mcp, Sept 2025</a:t>
            </a:r>
          </a:p>
        </p:txBody>
      </p:sp>
      <p:sp>
        <p:nvSpPr>
          <p:cNvPr id="6" name="TextBox 5"/>
          <p:cNvSpPr txBox="1"/>
          <p:nvPr/>
        </p:nvSpPr>
        <p:spPr>
          <a:xfrm>
            <a:off x="457200" y="3267456"/>
            <a:ext cx="6518870" cy="609600"/>
          </a:xfrm>
          <a:prstGeom prst="rect">
            <a:avLst/>
          </a:prstGeom>
          <a:noFill/>
        </p:spPr>
        <p:txBody>
          <a:bodyPr wrap="none" lIns="0" rIns="0">
            <a:noAutofit/>
          </a:bodyPr>
          <a:lstStyle/>
          <a:p>
            <a:pPr algn="l"/>
            <a:r>
              <a:rPr sz="3400" b="0" i="0">
                <a:solidFill>
                  <a:srgbClr val="0A2240"/>
                </a:solidFill>
                <a:latin typeface="Arial"/>
              </a:rPr>
              <a:t>It copied every email</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24</a:t>
            </a:fld>
          </a:p>
        </p:txBody>
      </p:sp>
      <p:sp>
        <p:nvSpPr>
          <p:cNvPr id="8" name="TextBox 7"/>
          <p:cNvSpPr txBox="1"/>
          <p:nvPr/>
        </p:nvSpPr>
        <p:spPr>
          <a:xfrm>
            <a:off x="10085130" y="6035040"/>
            <a:ext cx="1213008" cy="365760"/>
          </a:xfrm>
          <a:prstGeom prst="rect">
            <a:avLst/>
          </a:prstGeom>
          <a:noFill/>
        </p:spPr>
        <p:txBody>
          <a:bodyPr wrap="none" lIns="0" rIns="0">
            <a:noAutofit/>
          </a:bodyPr>
          <a:lstStyle/>
          <a:p>
            <a:pPr algn="l"/>
            <a:r>
              <a:rPr sz="1600" b="0" i="0" u="sng">
                <a:solidFill>
                  <a:srgbClr val="0072CE"/>
                </a:solidFill>
                <a:latin typeface="Arial"/>
                <a:hlinkClick r:id="rId3"/>
              </a:rPr>
              <a:t>Source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Sources</a:t>
            </a:r>
          </a:p>
        </p:txBody>
      </p:sp>
      <p:sp>
        <p:nvSpPr>
          <p:cNvPr id="3" name="TextBox 2"/>
          <p:cNvSpPr txBox="1"/>
          <p:nvPr/>
        </p:nvSpPr>
        <p:spPr>
          <a:xfrm>
            <a:off x="457200" y="1499616"/>
            <a:ext cx="3965850" cy="518159"/>
          </a:xfrm>
          <a:prstGeom prst="rect">
            <a:avLst/>
          </a:prstGeom>
          <a:noFill/>
        </p:spPr>
        <p:txBody>
          <a:bodyPr wrap="none" lIns="0" rIns="0">
            <a:noAutofit/>
          </a:bodyPr>
          <a:lstStyle/>
          <a:p>
            <a:pPr algn="l"/>
            <a:r>
              <a:rPr sz="3400" b="1" i="0">
                <a:solidFill>
                  <a:srgbClr val="0072CE"/>
                </a:solidFill>
                <a:latin typeface="Arial"/>
              </a:rPr>
              <a:t>Part</a:t>
            </a:r>
          </a:p>
        </p:txBody>
      </p:sp>
      <p:sp>
        <p:nvSpPr>
          <p:cNvPr id="4" name="TextBox 3"/>
          <p:cNvSpPr txBox="1"/>
          <p:nvPr/>
        </p:nvSpPr>
        <p:spPr>
          <a:xfrm>
            <a:off x="4971690" y="1499616"/>
            <a:ext cx="5781392" cy="518159"/>
          </a:xfrm>
          <a:prstGeom prst="rect">
            <a:avLst/>
          </a:prstGeom>
          <a:noFill/>
        </p:spPr>
        <p:txBody>
          <a:bodyPr wrap="none" lIns="0" rIns="0">
            <a:noAutofit/>
          </a:bodyPr>
          <a:lstStyle/>
          <a:p>
            <a:pPr algn="l"/>
            <a:r>
              <a:rPr sz="3400" b="1" i="0">
                <a:solidFill>
                  <a:srgbClr val="0072CE"/>
                </a:solidFill>
                <a:latin typeface="Arial"/>
              </a:rPr>
              <a:t>Taken from</a:t>
            </a:r>
          </a:p>
        </p:txBody>
      </p:sp>
      <p:sp>
        <p:nvSpPr>
          <p:cNvPr id="5" name="Rectangle 4"/>
          <p:cNvSpPr/>
          <p:nvPr/>
        </p:nvSpPr>
        <p:spPr>
          <a:xfrm>
            <a:off x="457200" y="2072639"/>
            <a:ext cx="1029588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965850" cy="452323"/>
          </a:xfrm>
          <a:prstGeom prst="rect">
            <a:avLst/>
          </a:prstGeom>
          <a:noFill/>
        </p:spPr>
        <p:txBody>
          <a:bodyPr wrap="none" lIns="0" rIns="0">
            <a:noAutofit/>
          </a:bodyPr>
          <a:lstStyle/>
          <a:p>
            <a:pPr algn="l"/>
            <a:r>
              <a:rPr sz="3400" b="0" i="0">
                <a:solidFill>
                  <a:srgbClr val="0A2240"/>
                </a:solidFill>
                <a:latin typeface="Arial"/>
              </a:rPr>
              <a:t>The tutorial</a:t>
            </a:r>
          </a:p>
        </p:txBody>
      </p:sp>
      <p:sp>
        <p:nvSpPr>
          <p:cNvPr id="7" name="TextBox 6"/>
          <p:cNvSpPr txBox="1"/>
          <p:nvPr/>
        </p:nvSpPr>
        <p:spPr>
          <a:xfrm>
            <a:off x="4971690" y="2401823"/>
            <a:ext cx="7220310" cy="452323"/>
          </a:xfrm>
          <a:prstGeom prst="rect">
            <a:avLst/>
          </a:prstGeom>
          <a:noFill/>
        </p:spPr>
        <p:txBody>
          <a:bodyPr wrap="none" lIns="0" rIns="0">
            <a:noAutofit/>
          </a:bodyPr>
          <a:lstStyle/>
          <a:p>
            <a:pPr algn="l"/>
            <a:r>
              <a:rPr sz="3400" b="0" i="0">
                <a:solidFill>
                  <a:srgbClr val="0A2240"/>
                </a:solidFill>
                <a:latin typeface="Arial"/>
              </a:rPr>
              <a:t>youtube.com, Tech With Tim</a:t>
            </a:r>
          </a:p>
        </p:txBody>
      </p:sp>
      <p:sp>
        <p:nvSpPr>
          <p:cNvPr id="8" name="TextBox 7"/>
          <p:cNvSpPr txBox="1"/>
          <p:nvPr/>
        </p:nvSpPr>
        <p:spPr>
          <a:xfrm>
            <a:off x="457200" y="3128466"/>
            <a:ext cx="3965850" cy="452323"/>
          </a:xfrm>
          <a:prstGeom prst="rect">
            <a:avLst/>
          </a:prstGeom>
          <a:noFill/>
        </p:spPr>
        <p:txBody>
          <a:bodyPr wrap="none" lIns="0" rIns="0">
            <a:noAutofit/>
          </a:bodyPr>
          <a:lstStyle/>
          <a:p>
            <a:pPr algn="l"/>
            <a:r>
              <a:rPr sz="3400" b="0" i="0">
                <a:solidFill>
                  <a:srgbClr val="0A2240"/>
                </a:solidFill>
                <a:latin typeface="Arial"/>
              </a:rPr>
              <a:t>Its code</a:t>
            </a:r>
          </a:p>
        </p:txBody>
      </p:sp>
      <p:sp>
        <p:nvSpPr>
          <p:cNvPr id="9" name="TextBox 8"/>
          <p:cNvSpPr txBox="1"/>
          <p:nvPr/>
        </p:nvSpPr>
        <p:spPr>
          <a:xfrm>
            <a:off x="4971690" y="3128466"/>
            <a:ext cx="7209750" cy="452323"/>
          </a:xfrm>
          <a:prstGeom prst="rect">
            <a:avLst/>
          </a:prstGeom>
          <a:noFill/>
        </p:spPr>
        <p:txBody>
          <a:bodyPr wrap="none" lIns="0" rIns="0">
            <a:noAutofit/>
          </a:bodyPr>
          <a:lstStyle/>
          <a:p>
            <a:pPr algn="l"/>
            <a:r>
              <a:rPr sz="3400" b="0" i="0">
                <a:solidFill>
                  <a:srgbClr val="0A2240"/>
                </a:solidFill>
                <a:latin typeface="Arial"/>
              </a:rPr>
              <a:t>github.com/techwithtim</a:t>
            </a:r>
          </a:p>
        </p:txBody>
      </p:sp>
      <p:sp>
        <p:nvSpPr>
          <p:cNvPr id="10" name="TextBox 9"/>
          <p:cNvSpPr txBox="1"/>
          <p:nvPr/>
        </p:nvSpPr>
        <p:spPr>
          <a:xfrm>
            <a:off x="457200" y="3855109"/>
            <a:ext cx="3965850" cy="452323"/>
          </a:xfrm>
          <a:prstGeom prst="rect">
            <a:avLst/>
          </a:prstGeom>
          <a:noFill/>
        </p:spPr>
        <p:txBody>
          <a:bodyPr wrap="none" lIns="0" rIns="0">
            <a:noAutofit/>
          </a:bodyPr>
          <a:lstStyle/>
          <a:p>
            <a:pPr algn="l"/>
            <a:r>
              <a:rPr sz="3400" b="0" i="0">
                <a:solidFill>
                  <a:srgbClr val="0A2240"/>
                </a:solidFill>
                <a:latin typeface="Arial"/>
              </a:rPr>
              <a:t>Login rules</a:t>
            </a:r>
          </a:p>
        </p:txBody>
      </p:sp>
      <p:sp>
        <p:nvSpPr>
          <p:cNvPr id="11" name="TextBox 10"/>
          <p:cNvSpPr txBox="1"/>
          <p:nvPr/>
        </p:nvSpPr>
        <p:spPr>
          <a:xfrm>
            <a:off x="4971690" y="3855109"/>
            <a:ext cx="7220310" cy="452323"/>
          </a:xfrm>
          <a:prstGeom prst="rect">
            <a:avLst/>
          </a:prstGeom>
          <a:noFill/>
        </p:spPr>
        <p:txBody>
          <a:bodyPr wrap="none" lIns="0" rIns="0">
            <a:noAutofit/>
          </a:bodyPr>
          <a:lstStyle/>
          <a:p>
            <a:pPr algn="l"/>
            <a:r>
              <a:rPr sz="3400" b="0" i="0">
                <a:solidFill>
                  <a:srgbClr val="0A2240"/>
                </a:solidFill>
                <a:latin typeface="Arial"/>
              </a:rPr>
              <a:t>modelcontextprotocol.io</a:t>
            </a:r>
          </a:p>
        </p:txBody>
      </p:sp>
      <p:sp>
        <p:nvSpPr>
          <p:cNvPr id="12" name="TextBox 11"/>
          <p:cNvSpPr txBox="1"/>
          <p:nvPr/>
        </p:nvSpPr>
        <p:spPr>
          <a:xfrm>
            <a:off x="457200" y="4581752"/>
            <a:ext cx="5943024" cy="452323"/>
          </a:xfrm>
          <a:prstGeom prst="rect">
            <a:avLst/>
          </a:prstGeom>
          <a:noFill/>
        </p:spPr>
        <p:txBody>
          <a:bodyPr wrap="none" lIns="0" rIns="0">
            <a:noAutofit/>
          </a:bodyPr>
          <a:lstStyle/>
          <a:p>
            <a:pPr algn="l"/>
            <a:r>
              <a:rPr sz="3400" b="0" i="0">
                <a:solidFill>
                  <a:srgbClr val="0A2240"/>
                </a:solidFill>
                <a:latin typeface="Arial"/>
              </a:rPr>
              <a:t>Claude commands</a:t>
            </a:r>
          </a:p>
        </p:txBody>
      </p:sp>
      <p:sp>
        <p:nvSpPr>
          <p:cNvPr id="13" name="TextBox 12"/>
          <p:cNvSpPr txBox="1"/>
          <p:nvPr/>
        </p:nvSpPr>
        <p:spPr>
          <a:xfrm>
            <a:off x="4971690" y="4581752"/>
            <a:ext cx="7057270" cy="452323"/>
          </a:xfrm>
          <a:prstGeom prst="rect">
            <a:avLst/>
          </a:prstGeom>
          <a:noFill/>
        </p:spPr>
        <p:txBody>
          <a:bodyPr wrap="none" lIns="0" rIns="0">
            <a:noAutofit/>
          </a:bodyPr>
          <a:lstStyle/>
          <a:p>
            <a:pPr algn="l"/>
            <a:r>
              <a:rPr sz="3400" b="0" i="0">
                <a:solidFill>
                  <a:srgbClr val="0A2240"/>
                </a:solidFill>
                <a:latin typeface="Arial"/>
              </a:rPr>
              <a:t>code.claude.com/docs</a:t>
            </a:r>
          </a:p>
        </p:txBody>
      </p:sp>
      <p:sp>
        <p:nvSpPr>
          <p:cNvPr id="14" name="TextBox 13"/>
          <p:cNvSpPr txBox="1"/>
          <p:nvPr/>
        </p:nvSpPr>
        <p:spPr>
          <a:xfrm>
            <a:off x="457200" y="5308395"/>
            <a:ext cx="3965850" cy="452323"/>
          </a:xfrm>
          <a:prstGeom prst="rect">
            <a:avLst/>
          </a:prstGeom>
          <a:noFill/>
        </p:spPr>
        <p:txBody>
          <a:bodyPr wrap="none" lIns="0" rIns="0">
            <a:noAutofit/>
          </a:bodyPr>
          <a:lstStyle/>
          <a:p>
            <a:pPr algn="l"/>
            <a:r>
              <a:rPr sz="3400" b="0" i="0">
                <a:solidFill>
                  <a:srgbClr val="0A2240"/>
                </a:solidFill>
                <a:latin typeface="Arial"/>
              </a:rPr>
              <a:t>The attack</a:t>
            </a:r>
          </a:p>
        </p:txBody>
      </p:sp>
      <p:sp>
        <p:nvSpPr>
          <p:cNvPr id="15" name="TextBox 14"/>
          <p:cNvSpPr txBox="1"/>
          <p:nvPr/>
        </p:nvSpPr>
        <p:spPr>
          <a:xfrm>
            <a:off x="4971690" y="5308395"/>
            <a:ext cx="5781392" cy="452323"/>
          </a:xfrm>
          <a:prstGeom prst="rect">
            <a:avLst/>
          </a:prstGeom>
          <a:noFill/>
        </p:spPr>
        <p:txBody>
          <a:bodyPr wrap="none" lIns="0" rIns="0">
            <a:noAutofit/>
          </a:bodyPr>
          <a:lstStyle/>
          <a:p>
            <a:pPr algn="l"/>
            <a:r>
              <a:rPr sz="3400" b="0" i="0">
                <a:solidFill>
                  <a:srgbClr val="0A2240"/>
                </a:solidFill>
                <a:latin typeface="Arial"/>
              </a:rPr>
              <a:t>snyk.io/blog</a:t>
            </a:r>
          </a:p>
        </p:txBody>
      </p:sp>
      <p:sp>
        <p:nvSpPr>
          <p:cNvPr id="16" name="TextBox 1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Before You Build or Connect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remote server needs a login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Give each tool one scope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Connect only servers you trust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Pin the version you checked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0A2240"/>
                </a:solidFill>
                <a:latin typeface="Arial"/>
              </a:rPr>
              <a:t>26</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