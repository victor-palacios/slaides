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entry-level tour of MCP, the Model Context Protocol, using the protocol's own documentation and Anthropic's announcement as 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its own, an AI app only knows what you type into it. The question MCP answers is how it reaches everything else — your files, your tools, your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an open standard for connecting AI applications to the external systems where your information and tools actually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protocol's own site puts it this way: MCP is like a USB-C port for AI applications. One standard plug connects many devices, and one protocol connects an AI app to many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open-sourced MCP in November 2024. Before it, every data source needed its own custom connection, and the announcement describes MCP as replacing those fragmented links with a single protocol.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participants. The host is the AI application, such as Claude Code. A client is one connection to one server. And a server is a program that offers context to the 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 creates one client for each server it connects to. A server on your own machine talks over standard input and output, called stdio, and a remote server talks over HTTP.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server offers three kinds of thing: tools, which are actions the AI can take; resources, which are data it can read; and prompts, which are ready-made templates for common tasks.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one has a different owner. The model decides when to call a tool, the application decides which resources to include, and the user chooses a prompt — those are the documentation's own examples.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call happens in three steps. The app asks the server which tools it has, the model picks one that fits the task, and the server runs it and sends the result back into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the messages are JSON-RPC 2.0. Every request carries the protocol version, servers announce what they support, and the format is identical whether the server is local or remote.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rarely start from nothing. The protocol's reference servers are open source on GitHub, with ninety-one thousand stars on the day these screenshots were taken.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 is one host you can try today. Its documentation says it can connect to hundreds of external tools this way, and once a server is connected you simply ask Claude to use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commands do most of the work: claude mcp add to connect a server and claude mcp list to see what you have. A remote server such as Notion uses the HTTP transport, and a local one such as Airtable uses stdio.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own advice is to verify you trust each server before you connect it, because content a server fetches can carry hidden instructions. Approve only the tool calls you expect, and remember a local server runs with your access.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a protocol for sharing context, it is open source, and it works the same for every app. It is not a model, not an app you install, and it says nothing about how an app should use its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try it: pick a server you trust from the reference list, add it to your host — in Claude Code that is claude mcp add — then ask for something only that server can do, and approve the call.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screenshot was captured on the twenty-first of October 2026 from the pages listed here, the architecture diagram is redrawn from the protocol's own, and each slide's Source link opens the exact page.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question for your own work: what would you connect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501640" cy="1127760"/>
          </a:xfrm>
          <a:prstGeom prst="rect">
            <a:avLst/>
          </a:prstGeom>
          <a:noFill/>
        </p:spPr>
        <p:txBody>
          <a:bodyPr wrap="square" lIns="0" rIns="0">
            <a:noAutofit/>
          </a:bodyPr>
          <a:lstStyle/>
          <a:p>
            <a:pPr algn="l"/>
            <a:r>
              <a:rPr sz="3400" b="0" i="0">
                <a:solidFill>
                  <a:srgbClr val="0A2240"/>
                </a:solidFill>
                <a:latin typeface="Arial"/>
              </a:rPr>
              <a:t>Built with customers, not just for them.</a:t>
            </a:r>
          </a:p>
        </p:txBody>
      </p:sp>
      <p:sp>
        <p:nvSpPr>
          <p:cNvPr id="7" name="TextBox 6"/>
          <p:cNvSpPr/>
          <p:nvPr>
            <p:ph type="body" idx="2"/>
          </p:nvPr>
        </p:nvSpPr>
        <p:spPr>
          <a:xfrm>
            <a:off x="6233160" y="2901696"/>
            <a:ext cx="5501640" cy="1127760"/>
          </a:xfrm>
          <a:prstGeom prst="rect">
            <a:avLst/>
          </a:prstGeom>
          <a:noFill/>
        </p:spPr>
        <p:txBody>
          <a:bodyPr wrap="square" lIns="0" rIns="0">
            <a:noAutofit/>
          </a:bodyPr>
          <a:lstStyle/>
          <a:p>
            <a:pPr algn="l"/>
            <a:r>
              <a:rPr sz="3400" b="0" i="0">
                <a:solidFill>
                  <a:srgbClr val="0A2240"/>
                </a:solidFill>
                <a:latin typeface="Arial"/>
              </a:rPr>
              <a:t>60% faster rollout;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Card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Offer</a:t>
            </a:r>
          </a:p>
        </p:txBody>
      </p:sp>
      <p:sp>
        <p:nvSpPr>
          <p:cNvPr id="6" name="TextBox 5"/>
          <p:cNvSpPr/>
          <p:nvPr>
            <p:ph type="body" idx="1"/>
          </p:nvPr>
        </p:nvSpPr>
        <p:spPr>
          <a:xfrm>
            <a:off x="457200" y="1499616"/>
            <a:ext cx="2831366" cy="518159"/>
          </a:xfrm>
          <a:prstGeom prst="rect">
            <a:avLst/>
          </a:prstGeom>
          <a:noFill/>
        </p:spPr>
        <p:txBody>
          <a:bodyPr wrap="none" lIns="0" rIns="0">
            <a:noAutofit/>
          </a:bodyPr>
          <a:lstStyle/>
          <a:p>
            <a:pPr algn="l"/>
            <a:r>
              <a:rPr sz="3400" b="1" i="0">
                <a:solidFill>
                  <a:srgbClr val="0A2240"/>
                </a:solidFill>
                <a:latin typeface="Arial"/>
              </a:rPr>
              <a:t>Insights</a:t>
            </a:r>
          </a:p>
        </p:txBody>
      </p:sp>
      <p:sp>
        <p:nvSpPr>
          <p:cNvPr id="7" name="TextBox 6"/>
          <p:cNvSpPr/>
          <p:nvPr>
            <p:ph type="body" idx="2"/>
          </p:nvPr>
        </p:nvSpPr>
        <p:spPr>
          <a:xfrm>
            <a:off x="457200" y="2154935"/>
            <a:ext cx="2613660" cy="3605785"/>
          </a:xfrm>
          <a:prstGeom prst="rect">
            <a:avLst/>
          </a:prstGeom>
          <a:noFill/>
        </p:spPr>
        <p:txBody>
          <a:bodyPr wrap="square" lIns="0" rIns="0">
            <a:noAutofit/>
          </a:bodyPr>
          <a:lstStyle/>
          <a:p>
            <a:pPr algn="l"/>
            <a:r>
              <a:rPr sz="3400" b="0" i="0">
                <a:solidFill>
                  <a:srgbClr val="0A2240"/>
                </a:solidFill>
                <a:latin typeface="Arial"/>
              </a:rPr>
              <a:t>Live data and AI analytics.</a:t>
            </a:r>
          </a:p>
        </p:txBody>
      </p:sp>
      <p:sp>
        <p:nvSpPr>
          <p:cNvPr id="8" name="TextBox 7"/>
          <p:cNvSpPr/>
          <p:nvPr>
            <p:ph type="body" idx="3"/>
          </p:nvPr>
        </p:nvSpPr>
        <p:spPr>
          <a:xfrm>
            <a:off x="3345180" y="1499616"/>
            <a:ext cx="2909292" cy="518159"/>
          </a:xfrm>
          <a:prstGeom prst="rect">
            <a:avLst/>
          </a:prstGeom>
          <a:noFill/>
        </p:spPr>
        <p:txBody>
          <a:bodyPr wrap="none" lIns="0" rIns="0">
            <a:noAutofit/>
          </a:bodyPr>
          <a:lstStyle/>
          <a:p>
            <a:pPr algn="l"/>
            <a:r>
              <a:rPr sz="3400" b="1" i="0">
                <a:solidFill>
                  <a:srgbClr val="0A2240"/>
                </a:solidFill>
                <a:latin typeface="Arial"/>
              </a:rPr>
              <a:t>Security</a:t>
            </a:r>
          </a:p>
        </p:txBody>
      </p:sp>
      <p:sp>
        <p:nvSpPr>
          <p:cNvPr id="9" name="TextBox 8"/>
          <p:cNvSpPr/>
          <p:nvPr>
            <p:ph type="body" idx="4"/>
          </p:nvPr>
        </p:nvSpPr>
        <p:spPr>
          <a:xfrm>
            <a:off x="3345180" y="2154935"/>
            <a:ext cx="2613660" cy="3605785"/>
          </a:xfrm>
          <a:prstGeom prst="rect">
            <a:avLst/>
          </a:prstGeom>
          <a:noFill/>
        </p:spPr>
        <p:txBody>
          <a:bodyPr wrap="square" lIns="0" rIns="0">
            <a:noAutofit/>
          </a:bodyPr>
          <a:lstStyle/>
          <a:p>
            <a:pPr algn="l"/>
            <a:r>
              <a:rPr sz="3400" b="0" i="0">
                <a:solidFill>
                  <a:srgbClr val="0A2240"/>
                </a:solidFill>
                <a:latin typeface="Arial"/>
              </a:rPr>
              <a:t>Zero-trust, SOC 2 ready.</a:t>
            </a:r>
          </a:p>
        </p:txBody>
      </p:sp>
      <p:sp>
        <p:nvSpPr>
          <p:cNvPr id="10" name="TextBox 9"/>
          <p:cNvSpPr/>
          <p:nvPr>
            <p:ph type="body" idx="5"/>
          </p:nvPr>
        </p:nvSpPr>
        <p:spPr>
          <a:xfrm>
            <a:off x="6233160" y="1499616"/>
            <a:ext cx="2613660" cy="518159"/>
          </a:xfrm>
          <a:prstGeom prst="rect">
            <a:avLst/>
          </a:prstGeom>
          <a:noFill/>
        </p:spPr>
        <p:txBody>
          <a:bodyPr wrap="none" lIns="0" rIns="0">
            <a:noAutofit/>
          </a:bodyPr>
          <a:lstStyle/>
          <a:p>
            <a:pPr algn="l"/>
            <a:r>
              <a:rPr sz="3400" b="1" i="0">
                <a:solidFill>
                  <a:srgbClr val="0A2240"/>
                </a:solidFill>
                <a:latin typeface="Arial"/>
              </a:rPr>
              <a:t>Speed</a:t>
            </a:r>
          </a:p>
        </p:txBody>
      </p:sp>
      <p:sp>
        <p:nvSpPr>
          <p:cNvPr id="11" name="TextBox 10"/>
          <p:cNvSpPr/>
          <p:nvPr>
            <p:ph type="body" idx="6"/>
          </p:nvPr>
        </p:nvSpPr>
        <p:spPr>
          <a:xfrm>
            <a:off x="6233160" y="2154935"/>
            <a:ext cx="2613660" cy="3605785"/>
          </a:xfrm>
          <a:prstGeom prst="rect">
            <a:avLst/>
          </a:prstGeom>
          <a:noFill/>
        </p:spPr>
        <p:txBody>
          <a:bodyPr wrap="square" lIns="0" rIns="0">
            <a:noAutofit/>
          </a:bodyPr>
          <a:lstStyle/>
          <a:p>
            <a:pPr algn="l"/>
            <a:r>
              <a:rPr sz="3400" b="0" i="0">
                <a:solidFill>
                  <a:srgbClr val="0A2240"/>
                </a:solidFill>
                <a:latin typeface="Arial"/>
              </a:rPr>
              <a:t>Sub-100ms p99 latency.</a:t>
            </a:r>
          </a:p>
        </p:txBody>
      </p:sp>
      <p:sp>
        <p:nvSpPr>
          <p:cNvPr id="12" name="TextBox 11"/>
          <p:cNvSpPr/>
          <p:nvPr>
            <p:ph type="body" idx="7"/>
          </p:nvPr>
        </p:nvSpPr>
        <p:spPr>
          <a:xfrm>
            <a:off x="9121140" y="1499616"/>
            <a:ext cx="2613660" cy="518159"/>
          </a:xfrm>
          <a:prstGeom prst="rect">
            <a:avLst/>
          </a:prstGeom>
          <a:noFill/>
        </p:spPr>
        <p:txBody>
          <a:bodyPr wrap="none" lIns="0" rIns="0">
            <a:noAutofit/>
          </a:bodyPr>
          <a:lstStyle/>
          <a:p>
            <a:pPr algn="l"/>
            <a:r>
              <a:rPr sz="3400" b="1" i="0">
                <a:solidFill>
                  <a:srgbClr val="0A2240"/>
                </a:solidFill>
                <a:latin typeface="Arial"/>
              </a:rPr>
              <a:t>APIs</a:t>
            </a:r>
          </a:p>
        </p:txBody>
      </p:sp>
      <p:sp>
        <p:nvSpPr>
          <p:cNvPr id="13" name="TextBox 12"/>
          <p:cNvSpPr/>
          <p:nvPr>
            <p:ph type="body" idx="8"/>
          </p:nvPr>
        </p:nvSpPr>
        <p:spPr>
          <a:xfrm>
            <a:off x="9121140" y="2154935"/>
            <a:ext cx="2613660" cy="3605785"/>
          </a:xfrm>
          <a:prstGeom prst="rect">
            <a:avLst/>
          </a:prstGeom>
          <a:noFill/>
        </p:spPr>
        <p:txBody>
          <a:bodyPr wrap="square" lIns="0" rIns="0">
            <a:noAutofit/>
          </a:bodyPr>
          <a:lstStyle/>
          <a:p>
            <a:pPr algn="l"/>
            <a:r>
              <a:rPr sz="3400" b="0" i="0">
                <a:solidFill>
                  <a:srgbClr val="0A2240"/>
                </a:solidFill>
                <a:latin typeface="Arial"/>
              </a:rPr>
              <a:t>300+ open connectors.</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301240"/>
            <a:ext cx="128016" cy="225552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301240"/>
            <a:ext cx="10738104" cy="1371600"/>
          </a:xfrm>
          <a:prstGeom prst="rect">
            <a:avLst/>
          </a:prstGeom>
          <a:noFill/>
        </p:spPr>
        <p:txBody>
          <a:bodyPr wrap="square" lIns="0" rIns="0">
            <a:noAutofit/>
          </a:bodyPr>
          <a:lstStyle/>
          <a:p>
            <a:pPr algn="l"/>
            <a:r>
              <a:rPr sz="4200" b="1" i="0">
                <a:solidFill>
                  <a:srgbClr val="0A2240"/>
                </a:solidFill>
                <a:latin typeface="Arial"/>
              </a:rPr>
              <a:t>"We stopped buying tools and started buying outcomes."</a:t>
            </a:r>
          </a:p>
        </p:txBody>
      </p:sp>
      <p:sp>
        <p:nvSpPr>
          <p:cNvPr id="7" name="TextBox 6"/>
          <p:cNvSpPr/>
          <p:nvPr>
            <p:ph type="body" idx="3"/>
          </p:nvPr>
        </p:nvSpPr>
        <p:spPr>
          <a:xfrm>
            <a:off x="996696" y="394716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965960"/>
            <a:ext cx="128016" cy="29260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96596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246120"/>
            <a:ext cx="10738104" cy="1645920"/>
          </a:xfrm>
          <a:prstGeom prst="rect">
            <a:avLst/>
          </a:prstGeom>
          <a:noFill/>
        </p:spPr>
        <p:txBody>
          <a:bodyPr wrap="square" lIns="0" rIns="0">
            <a:noAutofit/>
          </a:bodyPr>
          <a:lstStyle/>
          <a:p>
            <a:pPr algn="l"/>
            <a:r>
              <a:rPr sz="3400" b="0" i="0">
                <a:solidFill>
                  <a:srgbClr val="0A2240"/>
                </a:solidFill>
                <a:latin typeface="Arial"/>
              </a:rPr>
              <a:t>The percentage of recurring revenue retained from existing customers over a period, including expansion and after churn.</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011680"/>
            <a:ext cx="128016" cy="28346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011680"/>
            <a:ext cx="10738104" cy="2834640"/>
          </a:xfrm>
          <a:prstGeom prst="rect">
            <a:avLst/>
          </a:prstGeom>
          <a:noFill/>
        </p:spPr>
        <p:txBody>
          <a:bodyPr wrap="square" lIns="0" rIns="0">
            <a:noAutofit/>
          </a:bodyPr>
          <a:lstStyle/>
          <a:p>
            <a:pPr algn="l"/>
            <a:r>
              <a:rPr sz="6000" b="1" i="0">
                <a:solidFill>
                  <a:srgbClr val="0A2240"/>
                </a:solidFill>
                <a:latin typeface="Arial"/>
              </a:rPr>
              <a:t>What would we build if we trusted our customers completely?</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5F56"/>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BD2E"/>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27C93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D4D4D4"/>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6A9955"/>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302848" cy="518159"/>
          </a:xfrm>
          <a:prstGeom prst="rect">
            <a:avLst/>
          </a:prstGeom>
          <a:noFill/>
        </p:spPr>
        <p:txBody>
          <a:bodyPr wrap="none" lIns="0" rIns="0">
            <a:noAutofit/>
          </a:bodyPr>
          <a:lstStyle/>
          <a:p>
            <a:pPr algn="l"/>
            <a:r>
              <a:rPr sz="3400" b="0" i="0">
                <a:solidFill>
                  <a:srgbClr val="D4D4D4"/>
                </a:solidFill>
                <a:latin typeface="Arial"/>
              </a:rPr>
              <a:t> </a:t>
            </a:r>
          </a:p>
        </p:txBody>
      </p:sp>
      <p:sp>
        <p:nvSpPr>
          <p:cNvPr id="12" name="TextBox 11"/>
          <p:cNvSpPr/>
          <p:nvPr>
            <p:ph type="body" idx="8"/>
          </p:nvPr>
        </p:nvSpPr>
        <p:spPr>
          <a:xfrm>
            <a:off x="1177429" y="2356103"/>
            <a:ext cx="1680348" cy="518159"/>
          </a:xfrm>
          <a:prstGeom prst="rect">
            <a:avLst/>
          </a:prstGeom>
          <a:noFill/>
        </p:spPr>
        <p:txBody>
          <a:bodyPr wrap="none" lIns="0" rIns="0">
            <a:noAutofit/>
          </a:bodyPr>
          <a:lstStyle/>
          <a:p>
            <a:pPr algn="l"/>
            <a:r>
              <a:rPr sz="3400" b="0" i="0">
                <a:solidFill>
                  <a:srgbClr val="DCDCAA"/>
                </a:solidFill>
                <a:latin typeface="Arial"/>
              </a:rPr>
              <a:t>main</a:t>
            </a:r>
          </a:p>
        </p:txBody>
      </p:sp>
      <p:sp>
        <p:nvSpPr>
          <p:cNvPr id="13" name="TextBox 12"/>
          <p:cNvSpPr/>
          <p:nvPr>
            <p:ph type="body" idx="9"/>
          </p:nvPr>
        </p:nvSpPr>
        <p:spPr>
          <a:xfrm>
            <a:off x="2113347" y="2356103"/>
            <a:ext cx="834964" cy="518159"/>
          </a:xfrm>
          <a:prstGeom prst="rect">
            <a:avLst/>
          </a:prstGeom>
          <a:noFill/>
        </p:spPr>
        <p:txBody>
          <a:bodyPr wrap="none" lIns="0" rIns="0">
            <a:noAutofit/>
          </a:bodyPr>
          <a:lstStyle/>
          <a:p>
            <a:pPr algn="l"/>
            <a:r>
              <a:rPr sz="3400" b="0" i="0">
                <a:solidFill>
                  <a:srgbClr val="D4D4D4"/>
                </a:solidFill>
                <a:latin typeface="Arial"/>
              </a:rPr>
              <a:t>():</a:t>
            </a:r>
          </a:p>
        </p:txBody>
      </p:sp>
      <p:sp>
        <p:nvSpPr>
          <p:cNvPr id="14" name="TextBox 13"/>
          <p:cNvSpPr/>
          <p:nvPr>
            <p:ph type="body" idx="13"/>
          </p:nvPr>
        </p:nvSpPr>
        <p:spPr>
          <a:xfrm>
            <a:off x="457200" y="2874262"/>
            <a:ext cx="662751" cy="518159"/>
          </a:xfrm>
          <a:prstGeom prst="rect">
            <a:avLst/>
          </a:prstGeom>
          <a:noFill/>
        </p:spPr>
        <p:txBody>
          <a:bodyPr wrap="none" lIns="0" rIns="0">
            <a:noAutofit/>
          </a:bodyPr>
          <a:lstStyle/>
          <a:p>
            <a:pPr algn="l"/>
            <a:r>
              <a:rPr sz="3400" b="0" i="0">
                <a:solidFill>
                  <a:srgbClr val="D4D4D4"/>
                </a:solidFill>
                <a:latin typeface="Arial"/>
              </a:rPr>
              <a:t>    </a:t>
            </a:r>
          </a:p>
        </p:txBody>
      </p:sp>
      <p:sp>
        <p:nvSpPr>
          <p:cNvPr id="15" name="TextBox 14"/>
          <p:cNvSpPr/>
          <p:nvPr>
            <p:ph type="body" idx="14"/>
          </p:nvPr>
        </p:nvSpPr>
        <p:spPr>
          <a:xfrm>
            <a:off x="937071" y="2874262"/>
            <a:ext cx="1526857" cy="518159"/>
          </a:xfrm>
          <a:prstGeom prst="rect">
            <a:avLst/>
          </a:prstGeom>
          <a:noFill/>
        </p:spPr>
        <p:txBody>
          <a:bodyPr wrap="none" lIns="0" rIns="0">
            <a:noAutofit/>
          </a:bodyPr>
          <a:lstStyle/>
          <a:p>
            <a:pPr algn="l"/>
            <a:r>
              <a:rPr sz="3400" b="0" i="0">
                <a:solidFill>
                  <a:srgbClr val="DCDCAA"/>
                </a:solidFill>
                <a:latin typeface="Arial"/>
              </a:rPr>
              <a:t>print</a:t>
            </a:r>
          </a:p>
        </p:txBody>
      </p:sp>
      <p:sp>
        <p:nvSpPr>
          <p:cNvPr id="16" name="TextBox 15"/>
          <p:cNvSpPr/>
          <p:nvPr>
            <p:ph type="body" idx="15"/>
          </p:nvPr>
        </p:nvSpPr>
        <p:spPr>
          <a:xfrm>
            <a:off x="1777057" y="2874262"/>
            <a:ext cx="412948" cy="518159"/>
          </a:xfrm>
          <a:prstGeom prst="rect">
            <a:avLst/>
          </a:prstGeom>
          <a:noFill/>
        </p:spPr>
        <p:txBody>
          <a:bodyPr wrap="none" lIns="0" rIns="0">
            <a:noAutofit/>
          </a:bodyPr>
          <a:lstStyle/>
          <a:p>
            <a:pPr algn="l"/>
            <a:r>
              <a:rPr sz="3400" b="0" i="0">
                <a:solidFill>
                  <a:srgbClr val="D4D4D4"/>
                </a:solidFill>
                <a:latin typeface="Arial"/>
              </a:rPr>
              <a:t>(</a:t>
            </a:r>
          </a:p>
        </p:txBody>
      </p:sp>
      <p:sp>
        <p:nvSpPr>
          <p:cNvPr id="17" name="TextBox 16"/>
          <p:cNvSpPr/>
          <p:nvPr>
            <p:ph type="body" idx="16"/>
          </p:nvPr>
        </p:nvSpPr>
        <p:spPr>
          <a:xfrm>
            <a:off x="1920850" y="2874262"/>
            <a:ext cx="4474566" cy="518159"/>
          </a:xfrm>
          <a:prstGeom prst="rect">
            <a:avLst/>
          </a:prstGeom>
          <a:noFill/>
        </p:spPr>
        <p:txBody>
          <a:bodyPr wrap="none" lIns="0" rIns="0">
            <a:noAutofit/>
          </a:bodyPr>
          <a:lstStyle/>
          <a:p>
            <a:pPr algn="l"/>
            <a:r>
              <a:rPr sz="3400" b="0" i="0">
                <a:solidFill>
                  <a:srgbClr val="CE9178"/>
                </a:solidFill>
                <a:latin typeface="Arial"/>
              </a:rPr>
              <a:t>"Hello, world!"</a:t>
            </a:r>
          </a:p>
        </p:txBody>
      </p:sp>
      <p:sp>
        <p:nvSpPr>
          <p:cNvPr id="18" name="TextBox 17"/>
          <p:cNvSpPr/>
          <p:nvPr>
            <p:ph type="body" idx="17"/>
          </p:nvPr>
        </p:nvSpPr>
        <p:spPr>
          <a:xfrm>
            <a:off x="4603155" y="2874262"/>
            <a:ext cx="412948" cy="518159"/>
          </a:xfrm>
          <a:prstGeom prst="rect">
            <a:avLst/>
          </a:prstGeom>
          <a:noFill/>
        </p:spPr>
        <p:txBody>
          <a:bodyPr wrap="none" lIns="0" rIns="0">
            <a:noAutofit/>
          </a:bodyPr>
          <a:lstStyle/>
          <a:p>
            <a:pPr algn="l"/>
            <a:r>
              <a:rPr sz="3400" b="0" i="0">
                <a:solidFill>
                  <a:srgbClr val="D4D4D4"/>
                </a:solidFill>
                <a:latin typeface="Arial"/>
              </a:rPr>
              <a:t>)</a:t>
            </a:r>
          </a:p>
        </p:txBody>
      </p:sp>
      <p:sp>
        <p:nvSpPr>
          <p:cNvPr id="19" name="TextBox 18"/>
          <p:cNvSpPr/>
          <p:nvPr>
            <p:ph type="body" idx="18"/>
          </p:nvPr>
        </p:nvSpPr>
        <p:spPr>
          <a:xfrm>
            <a:off x="457200" y="3910580"/>
            <a:ext cx="1680348" cy="518159"/>
          </a:xfrm>
          <a:prstGeom prst="rect">
            <a:avLst/>
          </a:prstGeom>
          <a:noFill/>
        </p:spPr>
        <p:txBody>
          <a:bodyPr wrap="none" lIns="0" rIns="0">
            <a:noAutofit/>
          </a:bodyPr>
          <a:lstStyle/>
          <a:p>
            <a:pPr algn="l"/>
            <a:r>
              <a:rPr sz="3400" b="0" i="0">
                <a:solidFill>
                  <a:srgbClr val="DCDCAA"/>
                </a:solidFill>
                <a:latin typeface="Arial"/>
              </a:rPr>
              <a:t>main</a:t>
            </a:r>
          </a:p>
        </p:txBody>
      </p:sp>
      <p:sp>
        <p:nvSpPr>
          <p:cNvPr id="20" name="TextBox 19"/>
          <p:cNvSpPr/>
          <p:nvPr>
            <p:ph type="body" idx="19"/>
          </p:nvPr>
        </p:nvSpPr>
        <p:spPr>
          <a:xfrm>
            <a:off x="1393118" y="3910580"/>
            <a:ext cx="643017" cy="518159"/>
          </a:xfrm>
          <a:prstGeom prst="rect">
            <a:avLst/>
          </a:prstGeom>
          <a:noFill/>
        </p:spPr>
        <p:txBody>
          <a:bodyPr wrap="none" lIns="0" rIns="0">
            <a:noAutofit/>
          </a:bodyPr>
          <a:lstStyle/>
          <a:p>
            <a:pPr algn="l"/>
            <a:r>
              <a:rPr sz="3400" b="0" i="0">
                <a:solidFill>
                  <a:srgbClr val="D4D4D4"/>
                </a:solidFill>
                <a:latin typeface="Arial"/>
              </a:rPr>
              <a:t>()</a:t>
            </a:r>
          </a:p>
        </p:txBody>
      </p:sp>
      <p:sp>
        <p:nvSpPr>
          <p:cNvPr id="21" name="TextBox 20"/>
          <p:cNvSpPr/>
          <p:nvPr>
            <p:ph type="body" idx="20"/>
          </p:nvPr>
        </p:nvSpPr>
        <p:spPr>
          <a:xfrm>
            <a:off x="457200" y="4946898"/>
            <a:ext cx="567115" cy="518159"/>
          </a:xfrm>
          <a:prstGeom prst="rect">
            <a:avLst/>
          </a:prstGeom>
          <a:noFill/>
        </p:spPr>
        <p:txBody>
          <a:bodyPr wrap="none" lIns="0" rIns="0">
            <a:noAutofit/>
          </a:bodyPr>
          <a:lstStyle/>
          <a:p>
            <a:pPr algn="l"/>
            <a:r>
              <a:rPr sz="3400" b="0" i="0">
                <a:solidFill>
                  <a:srgbClr val="4EC9B0"/>
                </a:solidFill>
                <a:latin typeface="Arial"/>
              </a:rPr>
              <a:t>$</a:t>
            </a:r>
          </a:p>
        </p:txBody>
      </p:sp>
      <p:sp>
        <p:nvSpPr>
          <p:cNvPr id="22" name="TextBox 21"/>
          <p:cNvSpPr/>
          <p:nvPr>
            <p:ph type="body" idx="21"/>
          </p:nvPr>
        </p:nvSpPr>
        <p:spPr>
          <a:xfrm>
            <a:off x="697347" y="4946898"/>
            <a:ext cx="5022412" cy="518159"/>
          </a:xfrm>
          <a:prstGeom prst="rect">
            <a:avLst/>
          </a:prstGeom>
          <a:noFill/>
        </p:spPr>
        <p:txBody>
          <a:bodyPr wrap="none" lIns="0" rIns="0">
            <a:noAutofit/>
          </a:bodyPr>
          <a:lstStyle/>
          <a:p>
            <a:pPr algn="l"/>
            <a:r>
              <a:rPr sz="3400" b="0" i="0">
                <a:solidFill>
                  <a:srgbClr val="D4D4D4"/>
                </a:solidFill>
                <a:latin typeface="Arial"/>
              </a:rPr>
              <a:t> python hello.py</a:t>
            </a:r>
          </a:p>
        </p:txBody>
      </p:sp>
      <p:sp>
        <p:nvSpPr>
          <p:cNvPr id="23" name="TextBox 22"/>
          <p:cNvSpPr/>
          <p:nvPr>
            <p:ph type="body" idx="22"/>
          </p:nvPr>
        </p:nvSpPr>
        <p:spPr>
          <a:xfrm>
            <a:off x="457200" y="5465057"/>
            <a:ext cx="3984068" cy="518159"/>
          </a:xfrm>
          <a:prstGeom prst="rect">
            <a:avLst/>
          </a:prstGeom>
          <a:noFill/>
        </p:spPr>
        <p:txBody>
          <a:bodyPr wrap="none" lIns="0" rIns="0">
            <a:noAutofit/>
          </a:bodyPr>
          <a:lstStyle/>
          <a:p>
            <a:pPr algn="l"/>
            <a:r>
              <a:rPr sz="3400" b="0" i="0">
                <a:solidFill>
                  <a:srgbClr val="D4D4D4"/>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C1A1C"/>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569CD6"/>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569CD6"/>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55707A"/>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569CD6"/>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55707A"/>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D4D4D4"/>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55707A"/>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D4D4D4"/>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D4D4D4"/>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D4D4D4"/>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55707A"/>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D4D4D4"/>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548640" y="2176271"/>
            <a:ext cx="1650492"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324600" y="2176271"/>
            <a:ext cx="1650492"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379780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49275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4307840" y="4602480"/>
            <a:ext cx="3576320" cy="1127760"/>
          </a:xfrm>
          <a:prstGeom prst="rect">
            <a:avLst/>
          </a:prstGeom>
          <a:noFill/>
        </p:spPr>
        <p:txBody>
          <a:bodyPr wrap="square" lIns="0" rIns="0">
            <a:noAutofit/>
          </a:bodyPr>
          <a:lstStyle/>
          <a:p>
            <a:pPr algn="ctr"/>
            <a:r>
              <a:rPr sz="3400" b="0" i="0">
                <a:solidFill>
                  <a:srgbClr val="0A2240"/>
                </a:solidFill>
                <a:latin typeface="Arial"/>
              </a:rPr>
              <a:t>Avg. 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1770888"/>
            <a:ext cx="128016" cy="371856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1770888"/>
            <a:ext cx="3697224" cy="3718560"/>
          </a:xfrm>
          <a:prstGeom prst="rect">
            <a:avLst/>
          </a:prstGeom>
          <a:noFill/>
        </p:spPr>
        <p:txBody>
          <a:bodyPr wrap="square" lIns="0" rIns="0">
            <a:noAutofit/>
          </a:bodyPr>
          <a:lstStyle/>
          <a:p>
            <a:pPr algn="l"/>
            <a:r>
              <a:rPr sz="3400" b="1" i="0">
                <a:solidFill>
                  <a:srgbClr val="0A2240"/>
                </a:solidFill>
                <a:latin typeface="Arial"/>
              </a:rPr>
              <a:t>Activations nearly quadrupled once self-serve onboarding shipped in February.</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07568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264408"/>
            <a:ext cx="3576320" cy="1127760"/>
          </a:xfrm>
          <a:prstGeom prst="rect">
            <a:avLst/>
          </a:prstGeom>
          <a:noFill/>
        </p:spPr>
        <p:txBody>
          <a:bodyPr wrap="square" lIns="0" rIns="0">
            <a:noAutofit/>
          </a:bodyPr>
          <a:lstStyle/>
          <a:p>
            <a:pPr algn="ctr"/>
            <a:r>
              <a:rPr sz="3400" b="0" i="0">
                <a:solidFill>
                  <a:srgbClr val="0A2240"/>
                </a:solidFill>
                <a:latin typeface="Arial"/>
              </a:rPr>
              <a:t>Annual recurring revenue</a:t>
            </a:r>
          </a:p>
        </p:txBody>
      </p:sp>
      <p:sp>
        <p:nvSpPr>
          <p:cNvPr id="8" name="Rectangle 7"/>
          <p:cNvSpPr/>
          <p:nvPr>
            <p:ph type="body" idx="3"/>
          </p:nvPr>
        </p:nvSpPr>
        <p:spPr>
          <a:xfrm>
            <a:off x="1522569" y="466648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66648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07568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264408"/>
            <a:ext cx="4522132" cy="112776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66648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66648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07568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8158480" y="3264408"/>
            <a:ext cx="3576320" cy="1127760"/>
          </a:xfrm>
          <a:prstGeom prst="rect">
            <a:avLst/>
          </a:prstGeom>
          <a:noFill/>
        </p:spPr>
        <p:txBody>
          <a:bodyPr wrap="square" lIns="0" rIns="0">
            <a:noAutofit/>
          </a:bodyPr>
          <a:lstStyle/>
          <a:p>
            <a:pPr algn="ctr"/>
            <a:r>
              <a:rPr sz="3400" b="0" i="0">
                <a:solidFill>
                  <a:srgbClr val="0A2240"/>
                </a:solidFill>
                <a:latin typeface="Arial"/>
              </a:rPr>
              <a:t>Net promoter score</a:t>
            </a:r>
          </a:p>
        </p:txBody>
      </p:sp>
      <p:sp>
        <p:nvSpPr>
          <p:cNvPr id="16" name="Rectangle 15"/>
          <p:cNvSpPr/>
          <p:nvPr>
            <p:ph type="body" idx="14"/>
          </p:nvPr>
        </p:nvSpPr>
        <p:spPr>
          <a:xfrm>
            <a:off x="9427731" y="466648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66648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78409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784098"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784098"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784098"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072CE"/>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1650492"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5501640" cy="1097281"/>
          </a:xfrm>
          <a:prstGeom prst="rect">
            <a:avLst/>
          </a:prstGeom>
          <a:noFill/>
        </p:spPr>
        <p:txBody>
          <a:bodyPr wrap="square" lIns="0" rIns="0">
            <a:noAutofit/>
          </a:bodyPr>
          <a:lstStyle/>
          <a:p>
            <a:pPr algn="l"/>
            <a:r>
              <a:rPr sz="3400" b="0" i="0">
                <a:solidFill>
                  <a:srgbClr val="0A2240"/>
                </a:solidFill>
                <a:latin typeface="Arial"/>
              </a:rPr>
              <a:t>A strong brand with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1650492"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501640" cy="1097281"/>
          </a:xfrm>
          <a:prstGeom prst="rect">
            <a:avLst/>
          </a:prstGeom>
          <a:noFill/>
        </p:spPr>
        <p:txBody>
          <a:bodyPr wrap="square" lIns="0" rIns="0">
            <a:noAutofit/>
          </a:bodyPr>
          <a:lstStyle/>
          <a:p>
            <a:pPr algn="l"/>
            <a:r>
              <a:rPr sz="3400" b="0" i="0">
                <a:solidFill>
                  <a:srgbClr val="0A2240"/>
                </a:solidFill>
                <a:latin typeface="Arial"/>
              </a:rPr>
              <a:t>Thin margins and a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1650492"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5501640" cy="1097281"/>
          </a:xfrm>
          <a:prstGeom prst="rect">
            <a:avLst/>
          </a:prstGeom>
          <a:noFill/>
        </p:spPr>
        <p:txBody>
          <a:bodyPr wrap="square" lIns="0" rIns="0">
            <a:noAutofit/>
          </a:bodyPr>
          <a:lstStyle/>
          <a:p>
            <a:pPr algn="l"/>
            <a:r>
              <a:rPr sz="3400" b="0" i="0">
                <a:solidFill>
                  <a:srgbClr val="0A2240"/>
                </a:solidFill>
                <a:latin typeface="Arial"/>
              </a:rPr>
              <a:t>New markets through partnerships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650492"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501640" cy="1097281"/>
          </a:xfrm>
          <a:prstGeom prst="rect">
            <a:avLst/>
          </a:prstGeom>
          <a:noFill/>
        </p:spPr>
        <p:txBody>
          <a:bodyPr wrap="square" lIns="0" rIns="0">
            <a:noAutofit/>
          </a:bodyPr>
          <a:lstStyle/>
          <a:p>
            <a:pPr algn="l"/>
            <a:r>
              <a:rPr sz="3400" b="0" i="0">
                <a:solidFill>
                  <a:srgbClr val="0A2240"/>
                </a:solidFill>
                <a:latin typeface="Arial"/>
              </a:rPr>
              <a:t>New entrants driving price pressure</a:t>
            </a:r>
          </a:p>
        </p:txBody>
      </p:sp>
    </p:spTree>
    <p:extLst>
      <p:ext uri="{BB962C8B-B14F-4D97-AF65-F5344CB8AC3E}">
        <p14:creationId xmlns:p14="http://schemas.microsoft.com/office/powerpoint/2010/main" val="12129998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 id="2147483741" r:id="rId4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png"/><Relationship Id="rId3" Type="http://schemas.openxmlformats.org/officeDocument/2006/relationships/hyperlink" Target="https://modelcontextprotocol.io/docs/getting-started/intro"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png"/><Relationship Id="rId3" Type="http://schemas.openxmlformats.org/officeDocument/2006/relationships/hyperlink" Target="https://www.anthropic.com/news/model-context-protocol"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 Id="rId3" Type="http://schemas.openxmlformats.org/officeDocument/2006/relationships/hyperlink" Target="https://modelcontextprotocol.io/docs/learn/architecture"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png"/><Relationship Id="rId3" Type="http://schemas.openxmlformats.org/officeDocument/2006/relationships/hyperlink" Target="https://modelcontextprotocol.io/docs/learn/server-concepts"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png"/><Relationship Id="rId3" Type="http://schemas.openxmlformats.org/officeDocument/2006/relationships/hyperlink" Target="https://github.com/modelcontextprotocol/servers"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png"/><Relationship Id="rId3" Type="http://schemas.openxmlformats.org/officeDocument/2006/relationships/hyperlink" Target="https://code.claude.com/docs/en/mcp"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0363200" cy="914400"/>
          </a:xfrm>
          <a:prstGeom prst="rect">
            <a:avLst/>
          </a:prstGeom>
          <a:noFill/>
        </p:spPr>
        <p:txBody>
          <a:bodyPr wrap="none" lIns="0" rIns="0">
            <a:noAutofit/>
          </a:bodyPr>
          <a:lstStyle/>
          <a:p>
            <a:pPr algn="l"/>
            <a:r>
              <a:rPr sz="6000" b="1" i="0">
                <a:solidFill>
                  <a:srgbClr val="0072CE"/>
                </a:solidFill>
                <a:latin typeface="Arial"/>
              </a:rPr>
              <a:t>What Is MCP?</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The Model Context Protocol, from the 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can an AI app reach?</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MCP</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An open standard for connecting AI apps to systems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Official Analogy</a:t>
            </a:r>
          </a:p>
        </p:txBody>
      </p:sp>
      <p:pic>
        <p:nvPicPr>
          <p:cNvPr id="3" name="Picture 2" descr="intro.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134299" cy="609600"/>
          </a:xfrm>
          <a:prstGeom prst="rect">
            <a:avLst/>
          </a:prstGeom>
          <a:noFill/>
        </p:spPr>
        <p:txBody>
          <a:bodyPr wrap="none" lIns="0" rIns="0">
            <a:noAutofit/>
          </a:bodyPr>
          <a:lstStyle/>
          <a:p>
            <a:pPr algn="l"/>
            <a:r>
              <a:rPr sz="3400" b="0" i="0">
                <a:solidFill>
                  <a:srgbClr val="0A2240"/>
                </a:solidFill>
                <a:latin typeface="Arial"/>
              </a:rPr>
              <a:t>A USB-C port for AI</a:t>
            </a:r>
          </a:p>
        </p:txBody>
      </p:sp>
      <p:sp>
        <p:nvSpPr>
          <p:cNvPr id="5" name="TextBox 4"/>
          <p:cNvSpPr txBox="1"/>
          <p:nvPr/>
        </p:nvSpPr>
        <p:spPr>
          <a:xfrm>
            <a:off x="457200" y="2383536"/>
            <a:ext cx="7594659" cy="609600"/>
          </a:xfrm>
          <a:prstGeom prst="rect">
            <a:avLst/>
          </a:prstGeom>
          <a:noFill/>
        </p:spPr>
        <p:txBody>
          <a:bodyPr wrap="none" lIns="0" rIns="0">
            <a:noAutofit/>
          </a:bodyPr>
          <a:lstStyle/>
          <a:p>
            <a:pPr algn="l"/>
            <a:r>
              <a:rPr sz="3400" b="0" i="0">
                <a:solidFill>
                  <a:srgbClr val="0A2240"/>
                </a:solidFill>
                <a:latin typeface="Arial"/>
              </a:rPr>
              <a:t>One plug, many devices</a:t>
            </a:r>
          </a:p>
        </p:txBody>
      </p:sp>
      <p:sp>
        <p:nvSpPr>
          <p:cNvPr id="6" name="TextBox 5"/>
          <p:cNvSpPr txBox="1"/>
          <p:nvPr/>
        </p:nvSpPr>
        <p:spPr>
          <a:xfrm>
            <a:off x="457200" y="3267456"/>
            <a:ext cx="7863185" cy="609600"/>
          </a:xfrm>
          <a:prstGeom prst="rect">
            <a:avLst/>
          </a:prstGeom>
          <a:noFill/>
        </p:spPr>
        <p:txBody>
          <a:bodyPr wrap="none" lIns="0" rIns="0">
            <a:noAutofit/>
          </a:bodyPr>
          <a:lstStyle/>
          <a:p>
            <a:pPr algn="l"/>
            <a:r>
              <a:rPr sz="3400" b="0" i="0">
                <a:solidFill>
                  <a:srgbClr val="0A2240"/>
                </a:solidFill>
                <a:latin typeface="Arial"/>
              </a:rPr>
              <a:t>One protocol, many tools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Where It Came From</a:t>
            </a:r>
          </a:p>
        </p:txBody>
      </p:sp>
      <p:pic>
        <p:nvPicPr>
          <p:cNvPr id="3" name="Picture 2" descr="announce.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8401248" cy="609600"/>
          </a:xfrm>
          <a:prstGeom prst="rect">
            <a:avLst/>
          </a:prstGeom>
          <a:noFill/>
        </p:spPr>
        <p:txBody>
          <a:bodyPr wrap="none" lIns="0" rIns="0">
            <a:noAutofit/>
          </a:bodyPr>
          <a:lstStyle/>
          <a:p>
            <a:pPr algn="l"/>
            <a:r>
              <a:rPr sz="3400" b="0" i="0">
                <a:solidFill>
                  <a:srgbClr val="0A2240"/>
                </a:solidFill>
                <a:latin typeface="Arial"/>
              </a:rPr>
              <a:t>Anthropic, November 2024</a:t>
            </a:r>
          </a:p>
        </p:txBody>
      </p:sp>
      <p:sp>
        <p:nvSpPr>
          <p:cNvPr id="5" name="TextBox 4"/>
          <p:cNvSpPr txBox="1"/>
          <p:nvPr/>
        </p:nvSpPr>
        <p:spPr>
          <a:xfrm>
            <a:off x="457200" y="2383536"/>
            <a:ext cx="8362792" cy="609600"/>
          </a:xfrm>
          <a:prstGeom prst="rect">
            <a:avLst/>
          </a:prstGeom>
          <a:noFill/>
        </p:spPr>
        <p:txBody>
          <a:bodyPr wrap="none" lIns="0" rIns="0">
            <a:noAutofit/>
          </a:bodyPr>
          <a:lstStyle/>
          <a:p>
            <a:pPr algn="l"/>
            <a:r>
              <a:rPr sz="3400" b="0" i="0">
                <a:solidFill>
                  <a:srgbClr val="0A2240"/>
                </a:solidFill>
                <a:latin typeface="Arial"/>
              </a:rPr>
              <a:t>Open source from day one</a:t>
            </a:r>
          </a:p>
        </p:txBody>
      </p:sp>
      <p:sp>
        <p:nvSpPr>
          <p:cNvPr id="6" name="TextBox 5"/>
          <p:cNvSpPr txBox="1"/>
          <p:nvPr/>
        </p:nvSpPr>
        <p:spPr>
          <a:xfrm>
            <a:off x="457200" y="3267456"/>
            <a:ext cx="7006332" cy="609600"/>
          </a:xfrm>
          <a:prstGeom prst="rect">
            <a:avLst/>
          </a:prstGeom>
          <a:noFill/>
        </p:spPr>
        <p:txBody>
          <a:bodyPr wrap="none" lIns="0" rIns="0">
            <a:noAutofit/>
          </a:bodyPr>
          <a:lstStyle/>
          <a:p>
            <a:pPr algn="l"/>
            <a:r>
              <a:rPr sz="3400" b="0" i="0">
                <a:solidFill>
                  <a:srgbClr val="0A2240"/>
                </a:solidFill>
                <a:latin typeface="Arial"/>
              </a:rPr>
              <a:t>Replaced one-off links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Participants</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Host</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The AI app, such as Claude Code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Client</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One connection to one server</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Server</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A program that offers context</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They Connect</a:t>
            </a:r>
          </a:p>
        </p:txBody>
      </p:sp>
      <p:pic>
        <p:nvPicPr>
          <p:cNvPr id="3" name="Picture 2" descr="architecture.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595448" cy="609600"/>
          </a:xfrm>
          <a:prstGeom prst="rect">
            <a:avLst/>
          </a:prstGeom>
          <a:noFill/>
        </p:spPr>
        <p:txBody>
          <a:bodyPr wrap="none" lIns="0" rIns="0">
            <a:noAutofit/>
          </a:bodyPr>
          <a:lstStyle/>
          <a:p>
            <a:pPr algn="l"/>
            <a:r>
              <a:rPr sz="3400" b="0" i="0">
                <a:solidFill>
                  <a:srgbClr val="0A2240"/>
                </a:solidFill>
                <a:latin typeface="Arial"/>
              </a:rPr>
              <a:t>One client per server</a:t>
            </a:r>
          </a:p>
        </p:txBody>
      </p:sp>
      <p:sp>
        <p:nvSpPr>
          <p:cNvPr id="5" name="TextBox 4"/>
          <p:cNvSpPr txBox="1"/>
          <p:nvPr/>
        </p:nvSpPr>
        <p:spPr>
          <a:xfrm>
            <a:off x="457200" y="2383536"/>
            <a:ext cx="7248545" cy="609600"/>
          </a:xfrm>
          <a:prstGeom prst="rect">
            <a:avLst/>
          </a:prstGeom>
          <a:noFill/>
        </p:spPr>
        <p:txBody>
          <a:bodyPr wrap="none" lIns="0" rIns="0">
            <a:noAutofit/>
          </a:bodyPr>
          <a:lstStyle/>
          <a:p>
            <a:pPr algn="l"/>
            <a:r>
              <a:rPr sz="3400" b="0" i="0">
                <a:solidFill>
                  <a:srgbClr val="0A2240"/>
                </a:solidFill>
                <a:latin typeface="Arial"/>
              </a:rPr>
              <a:t>Local servers use stdio</a:t>
            </a:r>
          </a:p>
        </p:txBody>
      </p:sp>
      <p:sp>
        <p:nvSpPr>
          <p:cNvPr id="6" name="TextBox 5"/>
          <p:cNvSpPr txBox="1"/>
          <p:nvPr/>
        </p:nvSpPr>
        <p:spPr>
          <a:xfrm>
            <a:off x="457200" y="3267456"/>
            <a:ext cx="8360430" cy="609600"/>
          </a:xfrm>
          <a:prstGeom prst="rect">
            <a:avLst/>
          </a:prstGeom>
          <a:noFill/>
        </p:spPr>
        <p:txBody>
          <a:bodyPr wrap="none" lIns="0" rIns="0">
            <a:noAutofit/>
          </a:bodyPr>
          <a:lstStyle/>
          <a:p>
            <a:pPr algn="l"/>
            <a:r>
              <a:rPr sz="3400" b="0" i="0">
                <a:solidFill>
                  <a:srgbClr val="0A2240"/>
                </a:solidFill>
                <a:latin typeface="Arial"/>
              </a:rPr>
              <a:t>Remote servers use HTTP</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a Server Offers</a:t>
            </a:r>
          </a:p>
        </p:txBody>
      </p:sp>
      <p:pic>
        <p:nvPicPr>
          <p:cNvPr id="3" name="Picture 2" descr="server.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6634579" cy="609600"/>
          </a:xfrm>
          <a:prstGeom prst="rect">
            <a:avLst/>
          </a:prstGeom>
          <a:noFill/>
        </p:spPr>
        <p:txBody>
          <a:bodyPr wrap="none" lIns="0" rIns="0">
            <a:noAutofit/>
          </a:bodyPr>
          <a:lstStyle/>
          <a:p>
            <a:pPr algn="l"/>
            <a:r>
              <a:rPr sz="3400" b="0" i="0">
                <a:solidFill>
                  <a:srgbClr val="0A2240"/>
                </a:solidFill>
                <a:latin typeface="Arial"/>
              </a:rPr>
              <a:t>Tools: actions to take</a:t>
            </a:r>
          </a:p>
        </p:txBody>
      </p:sp>
      <p:sp>
        <p:nvSpPr>
          <p:cNvPr id="5" name="TextBox 4"/>
          <p:cNvSpPr txBox="1"/>
          <p:nvPr/>
        </p:nvSpPr>
        <p:spPr>
          <a:xfrm>
            <a:off x="457200" y="2383536"/>
            <a:ext cx="7556539" cy="609600"/>
          </a:xfrm>
          <a:prstGeom prst="rect">
            <a:avLst/>
          </a:prstGeom>
          <a:noFill/>
        </p:spPr>
        <p:txBody>
          <a:bodyPr wrap="none" lIns="0" rIns="0">
            <a:noAutofit/>
          </a:bodyPr>
          <a:lstStyle/>
          <a:p>
            <a:pPr algn="l"/>
            <a:r>
              <a:rPr sz="3400" b="0" i="0">
                <a:solidFill>
                  <a:srgbClr val="0A2240"/>
                </a:solidFill>
                <a:latin typeface="Arial"/>
              </a:rPr>
              <a:t>Resources: data to read</a:t>
            </a:r>
          </a:p>
        </p:txBody>
      </p:sp>
      <p:sp>
        <p:nvSpPr>
          <p:cNvPr id="6" name="TextBox 5"/>
          <p:cNvSpPr txBox="1"/>
          <p:nvPr/>
        </p:nvSpPr>
        <p:spPr>
          <a:xfrm>
            <a:off x="457200" y="3267456"/>
            <a:ext cx="8054459" cy="609600"/>
          </a:xfrm>
          <a:prstGeom prst="rect">
            <a:avLst/>
          </a:prstGeom>
          <a:noFill/>
        </p:spPr>
        <p:txBody>
          <a:bodyPr wrap="none" lIns="0" rIns="0">
            <a:noAutofit/>
          </a:bodyPr>
          <a:lstStyle/>
          <a:p>
            <a:pPr algn="l"/>
            <a:r>
              <a:rPr sz="3400" b="0" i="0">
                <a:solidFill>
                  <a:srgbClr val="0A2240"/>
                </a:solidFill>
                <a:latin typeface="Arial"/>
              </a:rPr>
              <a:t>Prompts: ready templates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Who Controls Each One</a:t>
            </a:r>
          </a:p>
        </p:txBody>
      </p:sp>
      <p:sp>
        <p:nvSpPr>
          <p:cNvPr id="3" name="TextBox 2"/>
          <p:cNvSpPr txBox="1"/>
          <p:nvPr/>
        </p:nvSpPr>
        <p:spPr>
          <a:xfrm>
            <a:off x="457200" y="1499616"/>
            <a:ext cx="2678548" cy="518159"/>
          </a:xfrm>
          <a:prstGeom prst="rect">
            <a:avLst/>
          </a:prstGeom>
          <a:noFill/>
        </p:spPr>
        <p:txBody>
          <a:bodyPr wrap="none" lIns="0" rIns="0">
            <a:noAutofit/>
          </a:bodyPr>
          <a:lstStyle/>
          <a:p>
            <a:pPr algn="l"/>
            <a:r>
              <a:rPr sz="3400" b="1" i="0">
                <a:solidFill>
                  <a:srgbClr val="0072CE"/>
                </a:solidFill>
                <a:latin typeface="Arial"/>
              </a:rPr>
              <a:t>Feature</a:t>
            </a:r>
          </a:p>
        </p:txBody>
      </p:sp>
      <p:sp>
        <p:nvSpPr>
          <p:cNvPr id="4" name="TextBox 3"/>
          <p:cNvSpPr txBox="1"/>
          <p:nvPr/>
        </p:nvSpPr>
        <p:spPr>
          <a:xfrm>
            <a:off x="3435511" y="1499616"/>
            <a:ext cx="4635142" cy="518159"/>
          </a:xfrm>
          <a:prstGeom prst="rect">
            <a:avLst/>
          </a:prstGeom>
          <a:noFill/>
        </p:spPr>
        <p:txBody>
          <a:bodyPr wrap="none" lIns="0" rIns="0">
            <a:noAutofit/>
          </a:bodyPr>
          <a:lstStyle/>
          <a:p>
            <a:pPr algn="l"/>
            <a:r>
              <a:rPr sz="3400" b="1" i="0">
                <a:solidFill>
                  <a:srgbClr val="0072CE"/>
                </a:solidFill>
                <a:latin typeface="Arial"/>
              </a:rPr>
              <a:t>Controlled by</a:t>
            </a:r>
          </a:p>
        </p:txBody>
      </p:sp>
      <p:sp>
        <p:nvSpPr>
          <p:cNvPr id="5" name="TextBox 4"/>
          <p:cNvSpPr txBox="1"/>
          <p:nvPr/>
        </p:nvSpPr>
        <p:spPr>
          <a:xfrm>
            <a:off x="7278476" y="1499616"/>
            <a:ext cx="3534472" cy="518159"/>
          </a:xfrm>
          <a:prstGeom prst="rect">
            <a:avLst/>
          </a:prstGeom>
          <a:noFill/>
        </p:spPr>
        <p:txBody>
          <a:bodyPr wrap="none" lIns="0" rIns="0">
            <a:noAutofit/>
          </a:bodyPr>
          <a:lstStyle/>
          <a:p>
            <a:pPr algn="l"/>
            <a:r>
              <a:rPr sz="3400" b="1" i="0">
                <a:solidFill>
                  <a:srgbClr val="0072CE"/>
                </a:solidFill>
                <a:latin typeface="Arial"/>
              </a:rPr>
              <a:t>Example</a:t>
            </a:r>
          </a:p>
        </p:txBody>
      </p:sp>
      <p:sp>
        <p:nvSpPr>
          <p:cNvPr id="6" name="Rectangle 5"/>
          <p:cNvSpPr/>
          <p:nvPr/>
        </p:nvSpPr>
        <p:spPr>
          <a:xfrm>
            <a:off x="457200" y="2072639"/>
            <a:ext cx="10355748"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01823"/>
            <a:ext cx="2429671" cy="936752"/>
          </a:xfrm>
          <a:prstGeom prst="rect">
            <a:avLst/>
          </a:prstGeom>
          <a:noFill/>
        </p:spPr>
        <p:txBody>
          <a:bodyPr wrap="none" lIns="0" rIns="0">
            <a:noAutofit/>
          </a:bodyPr>
          <a:lstStyle/>
          <a:p>
            <a:pPr algn="l"/>
            <a:r>
              <a:rPr sz="3400" b="0" i="0">
                <a:solidFill>
                  <a:srgbClr val="0A2240"/>
                </a:solidFill>
                <a:latin typeface="Arial"/>
              </a:rPr>
              <a:t>Tools</a:t>
            </a:r>
          </a:p>
        </p:txBody>
      </p:sp>
      <p:sp>
        <p:nvSpPr>
          <p:cNvPr id="8" name="TextBox 7"/>
          <p:cNvSpPr txBox="1"/>
          <p:nvPr/>
        </p:nvSpPr>
        <p:spPr>
          <a:xfrm>
            <a:off x="3435511" y="2401823"/>
            <a:ext cx="3447017" cy="936752"/>
          </a:xfrm>
          <a:prstGeom prst="rect">
            <a:avLst/>
          </a:prstGeom>
          <a:noFill/>
        </p:spPr>
        <p:txBody>
          <a:bodyPr wrap="none" lIns="0" rIns="0">
            <a:noAutofit/>
          </a:bodyPr>
          <a:lstStyle/>
          <a:p>
            <a:pPr algn="l"/>
            <a:r>
              <a:rPr sz="3400" b="0" i="0">
                <a:solidFill>
                  <a:srgbClr val="0A2240"/>
                </a:solidFill>
                <a:latin typeface="Arial"/>
              </a:rPr>
              <a:t>The model</a:t>
            </a:r>
          </a:p>
        </p:txBody>
      </p:sp>
      <p:sp>
        <p:nvSpPr>
          <p:cNvPr id="9" name="TextBox 8"/>
          <p:cNvSpPr txBox="1"/>
          <p:nvPr/>
        </p:nvSpPr>
        <p:spPr>
          <a:xfrm>
            <a:off x="7278476" y="2401823"/>
            <a:ext cx="4368641" cy="936752"/>
          </a:xfrm>
          <a:prstGeom prst="rect">
            <a:avLst/>
          </a:prstGeom>
          <a:noFill/>
        </p:spPr>
        <p:txBody>
          <a:bodyPr wrap="none" lIns="0" rIns="0">
            <a:noAutofit/>
          </a:bodyPr>
          <a:lstStyle/>
          <a:p>
            <a:pPr algn="l"/>
            <a:r>
              <a:rPr sz="3400" b="0" i="0">
                <a:solidFill>
                  <a:srgbClr val="0A2240"/>
                </a:solidFill>
                <a:latin typeface="Arial"/>
              </a:rPr>
              <a:t>Search flights</a:t>
            </a:r>
          </a:p>
        </p:txBody>
      </p:sp>
      <p:sp>
        <p:nvSpPr>
          <p:cNvPr id="10" name="TextBox 9"/>
          <p:cNvSpPr txBox="1"/>
          <p:nvPr/>
        </p:nvSpPr>
        <p:spPr>
          <a:xfrm>
            <a:off x="457200" y="3612895"/>
            <a:ext cx="3485137" cy="936752"/>
          </a:xfrm>
          <a:prstGeom prst="rect">
            <a:avLst/>
          </a:prstGeom>
          <a:noFill/>
        </p:spPr>
        <p:txBody>
          <a:bodyPr wrap="none" lIns="0" rIns="0">
            <a:noAutofit/>
          </a:bodyPr>
          <a:lstStyle/>
          <a:p>
            <a:pPr algn="l"/>
            <a:r>
              <a:rPr sz="3400" b="0" i="0">
                <a:solidFill>
                  <a:srgbClr val="0A2240"/>
                </a:solidFill>
                <a:latin typeface="Arial"/>
              </a:rPr>
              <a:t>Resources</a:t>
            </a:r>
          </a:p>
        </p:txBody>
      </p:sp>
      <p:sp>
        <p:nvSpPr>
          <p:cNvPr id="11" name="TextBox 10"/>
          <p:cNvSpPr txBox="1"/>
          <p:nvPr/>
        </p:nvSpPr>
        <p:spPr>
          <a:xfrm>
            <a:off x="3435511" y="3612895"/>
            <a:ext cx="4868584" cy="936752"/>
          </a:xfrm>
          <a:prstGeom prst="rect">
            <a:avLst/>
          </a:prstGeom>
          <a:noFill/>
        </p:spPr>
        <p:txBody>
          <a:bodyPr wrap="none" lIns="0" rIns="0">
            <a:noAutofit/>
          </a:bodyPr>
          <a:lstStyle/>
          <a:p>
            <a:pPr algn="l"/>
            <a:r>
              <a:rPr sz="3400" b="0" i="0">
                <a:solidFill>
                  <a:srgbClr val="0A2240"/>
                </a:solidFill>
                <a:latin typeface="Arial"/>
              </a:rPr>
              <a:t>The application</a:t>
            </a:r>
          </a:p>
        </p:txBody>
      </p:sp>
      <p:sp>
        <p:nvSpPr>
          <p:cNvPr id="12" name="TextBox 11"/>
          <p:cNvSpPr txBox="1"/>
          <p:nvPr/>
        </p:nvSpPr>
        <p:spPr>
          <a:xfrm>
            <a:off x="7278476" y="3612895"/>
            <a:ext cx="4913524" cy="936752"/>
          </a:xfrm>
          <a:prstGeom prst="rect">
            <a:avLst/>
          </a:prstGeom>
          <a:noFill/>
        </p:spPr>
        <p:txBody>
          <a:bodyPr wrap="none" lIns="0" rIns="0">
            <a:noAutofit/>
          </a:bodyPr>
          <a:lstStyle/>
          <a:p>
            <a:pPr algn="l"/>
            <a:r>
              <a:rPr sz="3400" b="0" i="0">
                <a:solidFill>
                  <a:srgbClr val="0A2240"/>
                </a:solidFill>
                <a:latin typeface="Arial"/>
              </a:rPr>
              <a:t>Read a calendar</a:t>
            </a:r>
          </a:p>
        </p:txBody>
      </p:sp>
      <p:sp>
        <p:nvSpPr>
          <p:cNvPr id="13" name="TextBox 12"/>
          <p:cNvSpPr txBox="1"/>
          <p:nvPr/>
        </p:nvSpPr>
        <p:spPr>
          <a:xfrm>
            <a:off x="457200" y="4823967"/>
            <a:ext cx="2755126" cy="936752"/>
          </a:xfrm>
          <a:prstGeom prst="rect">
            <a:avLst/>
          </a:prstGeom>
          <a:noFill/>
        </p:spPr>
        <p:txBody>
          <a:bodyPr wrap="none" lIns="0" rIns="0">
            <a:noAutofit/>
          </a:bodyPr>
          <a:lstStyle/>
          <a:p>
            <a:pPr algn="l"/>
            <a:r>
              <a:rPr sz="3400" b="0" i="0">
                <a:solidFill>
                  <a:srgbClr val="0A2240"/>
                </a:solidFill>
                <a:latin typeface="Arial"/>
              </a:rPr>
              <a:t>Prompts</a:t>
            </a:r>
          </a:p>
        </p:txBody>
      </p:sp>
      <p:sp>
        <p:nvSpPr>
          <p:cNvPr id="14" name="TextBox 13"/>
          <p:cNvSpPr txBox="1"/>
          <p:nvPr/>
        </p:nvSpPr>
        <p:spPr>
          <a:xfrm>
            <a:off x="3435511" y="4823967"/>
            <a:ext cx="3294325" cy="936752"/>
          </a:xfrm>
          <a:prstGeom prst="rect">
            <a:avLst/>
          </a:prstGeom>
          <a:noFill/>
        </p:spPr>
        <p:txBody>
          <a:bodyPr wrap="none" lIns="0" rIns="0">
            <a:noAutofit/>
          </a:bodyPr>
          <a:lstStyle/>
          <a:p>
            <a:pPr algn="l"/>
            <a:r>
              <a:rPr sz="3400" b="0" i="0">
                <a:solidFill>
                  <a:srgbClr val="0A2240"/>
                </a:solidFill>
                <a:latin typeface="Arial"/>
              </a:rPr>
              <a:t>The user</a:t>
            </a:r>
          </a:p>
        </p:txBody>
      </p:sp>
      <p:sp>
        <p:nvSpPr>
          <p:cNvPr id="15" name="TextBox 14"/>
          <p:cNvSpPr txBox="1"/>
          <p:nvPr/>
        </p:nvSpPr>
        <p:spPr>
          <a:xfrm>
            <a:off x="7278476" y="4823967"/>
            <a:ext cx="4907041" cy="936752"/>
          </a:xfrm>
          <a:prstGeom prst="rect">
            <a:avLst/>
          </a:prstGeom>
          <a:noFill/>
        </p:spPr>
        <p:txBody>
          <a:bodyPr wrap="none" lIns="0" rIns="0">
            <a:noAutofit/>
          </a:bodyPr>
          <a:lstStyle/>
          <a:p>
            <a:pPr algn="l"/>
            <a:r>
              <a:rPr sz="3400" b="0" i="0">
                <a:solidFill>
                  <a:srgbClr val="0A2240"/>
                </a:solidFill>
                <a:latin typeface="Arial"/>
              </a:rPr>
              <a:t>Plan a vacation</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One Tool Call, Step by Step</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Discover</a:t>
            </a:r>
          </a:p>
        </p:txBody>
      </p:sp>
      <p:sp>
        <p:nvSpPr>
          <p:cNvPr id="5" name="TextBox 4"/>
          <p:cNvSpPr txBox="1"/>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The app asks the server for its tools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Decide</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The model picks one for the task</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Call</a:t>
            </a:r>
          </a:p>
        </p:txBody>
      </p:sp>
      <p:sp>
        <p:nvSpPr>
          <p:cNvPr id="11" name="TextBox 10"/>
          <p:cNvSpPr txBox="1"/>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The server runs it and sends back a result</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07654" cy="768096"/>
          </a:xfrm>
          <a:prstGeom prst="rect">
            <a:avLst/>
          </a:prstGeom>
          <a:noFill/>
        </p:spPr>
        <p:txBody>
          <a:bodyPr wrap="none" lIns="0" rIns="0">
            <a:noAutofit/>
          </a:bodyPr>
          <a:lstStyle/>
          <a:p>
            <a:pPr algn="l"/>
            <a:r>
              <a:rPr sz="4200" b="1" i="0">
                <a:solidFill>
                  <a:srgbClr val="0072CE"/>
                </a:solidFill>
                <a:latin typeface="Arial"/>
              </a:rPr>
              <a:t>What Travels Between Them</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JSON-RPC 2.0 messages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Each request carries the version</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Servers say what they support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Same format, local or remote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Ready-Made Servers</a:t>
            </a:r>
          </a:p>
        </p:txBody>
      </p:sp>
      <p:pic>
        <p:nvPicPr>
          <p:cNvPr id="3" name="Picture 2" descr="servers.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7325459" cy="609600"/>
          </a:xfrm>
          <a:prstGeom prst="rect">
            <a:avLst/>
          </a:prstGeom>
          <a:noFill/>
        </p:spPr>
        <p:txBody>
          <a:bodyPr wrap="none" lIns="0" rIns="0">
            <a:noAutofit/>
          </a:bodyPr>
          <a:lstStyle/>
          <a:p>
            <a:pPr algn="l"/>
            <a:r>
              <a:rPr sz="3400" b="0" i="0">
                <a:solidFill>
                  <a:srgbClr val="0A2240"/>
                </a:solidFill>
                <a:latin typeface="Arial"/>
              </a:rPr>
              <a:t>Open-source examples</a:t>
            </a:r>
          </a:p>
        </p:txBody>
      </p:sp>
      <p:sp>
        <p:nvSpPr>
          <p:cNvPr id="5" name="TextBox 4"/>
          <p:cNvSpPr txBox="1"/>
          <p:nvPr/>
        </p:nvSpPr>
        <p:spPr>
          <a:xfrm>
            <a:off x="457200" y="2383536"/>
            <a:ext cx="6864648" cy="609600"/>
          </a:xfrm>
          <a:prstGeom prst="rect">
            <a:avLst/>
          </a:prstGeom>
          <a:noFill/>
        </p:spPr>
        <p:txBody>
          <a:bodyPr wrap="none" lIns="0" rIns="0">
            <a:noAutofit/>
          </a:bodyPr>
          <a:lstStyle/>
          <a:p>
            <a:pPr algn="l"/>
            <a:r>
              <a:rPr sz="3400" b="0" i="0">
                <a:solidFill>
                  <a:srgbClr val="0A2240"/>
                </a:solidFill>
                <a:latin typeface="Arial"/>
              </a:rPr>
              <a:t>91.4k stars on GitHub</a:t>
            </a:r>
          </a:p>
        </p:txBody>
      </p:sp>
      <p:sp>
        <p:nvSpPr>
          <p:cNvPr id="6" name="TextBox 5"/>
          <p:cNvSpPr txBox="1"/>
          <p:nvPr/>
        </p:nvSpPr>
        <p:spPr>
          <a:xfrm>
            <a:off x="457200" y="3267456"/>
            <a:ext cx="7210425" cy="609600"/>
          </a:xfrm>
          <a:prstGeom prst="rect">
            <a:avLst/>
          </a:prstGeom>
          <a:noFill/>
        </p:spPr>
        <p:txBody>
          <a:bodyPr wrap="none" lIns="0" rIns="0">
            <a:noAutofit/>
          </a:bodyPr>
          <a:lstStyle/>
          <a:p>
            <a:pPr algn="l"/>
            <a:r>
              <a:rPr sz="3400" b="0" i="0">
                <a:solidFill>
                  <a:srgbClr val="0A2240"/>
                </a:solidFill>
                <a:latin typeface="Arial"/>
              </a:rPr>
              <a:t>Start from one of these</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Using It From Claude Code</a:t>
            </a:r>
          </a:p>
        </p:txBody>
      </p:sp>
      <p:pic>
        <p:nvPicPr>
          <p:cNvPr id="3" name="Picture 2" descr="cc.png"/>
          <p:cNvPicPr>
            <a:picLocks noChangeAspect="1"/>
          </p:cNvPicPr>
          <p:nvPr/>
        </p:nvPicPr>
        <p:blipFill>
          <a:blip r:embed="rId2"/>
          <a:stretch>
            <a:fillRect/>
          </a:stretch>
        </p:blipFill>
        <p:spPr>
          <a:xfrm>
            <a:off x="6233160" y="1499616"/>
            <a:ext cx="5501640" cy="4261104"/>
          </a:xfrm>
          <a:prstGeom prst="rect">
            <a:avLst/>
          </a:prstGeom>
        </p:spPr>
      </p:pic>
      <p:sp>
        <p:nvSpPr>
          <p:cNvPr id="4" name="TextBox 3"/>
          <p:cNvSpPr txBox="1"/>
          <p:nvPr/>
        </p:nvSpPr>
        <p:spPr>
          <a:xfrm>
            <a:off x="457200" y="1499616"/>
            <a:ext cx="5597921" cy="609600"/>
          </a:xfrm>
          <a:prstGeom prst="rect">
            <a:avLst/>
          </a:prstGeom>
          <a:noFill/>
        </p:spPr>
        <p:txBody>
          <a:bodyPr wrap="none" lIns="0" rIns="0">
            <a:noAutofit/>
          </a:bodyPr>
          <a:lstStyle/>
          <a:p>
            <a:pPr algn="l"/>
            <a:r>
              <a:rPr sz="3400" b="0" i="0">
                <a:solidFill>
                  <a:srgbClr val="0A2240"/>
                </a:solidFill>
                <a:latin typeface="Arial"/>
              </a:rPr>
              <a:t>Hundreds of tools</a:t>
            </a:r>
          </a:p>
        </p:txBody>
      </p:sp>
      <p:sp>
        <p:nvSpPr>
          <p:cNvPr id="5" name="TextBox 4"/>
          <p:cNvSpPr txBox="1"/>
          <p:nvPr/>
        </p:nvSpPr>
        <p:spPr>
          <a:xfrm>
            <a:off x="457200" y="2383536"/>
            <a:ext cx="7018814" cy="609600"/>
          </a:xfrm>
          <a:prstGeom prst="rect">
            <a:avLst/>
          </a:prstGeom>
          <a:noFill/>
        </p:spPr>
        <p:txBody>
          <a:bodyPr wrap="none" lIns="0" rIns="0">
            <a:noAutofit/>
          </a:bodyPr>
          <a:lstStyle/>
          <a:p>
            <a:pPr algn="l"/>
            <a:r>
              <a:rPr sz="3400" b="0" i="0">
                <a:solidFill>
                  <a:srgbClr val="0A2240"/>
                </a:solidFill>
                <a:latin typeface="Arial"/>
              </a:rPr>
              <a:t>Connect, then just ask</a:t>
            </a:r>
          </a:p>
        </p:txBody>
      </p:sp>
      <p:sp>
        <p:nvSpPr>
          <p:cNvPr id="6" name="TextBox 5"/>
          <p:cNvSpPr txBox="1"/>
          <p:nvPr/>
        </p:nvSpPr>
        <p:spPr>
          <a:xfrm>
            <a:off x="457200" y="3267456"/>
            <a:ext cx="8094265" cy="609600"/>
          </a:xfrm>
          <a:prstGeom prst="rect">
            <a:avLst/>
          </a:prstGeom>
          <a:noFill/>
        </p:spPr>
        <p:txBody>
          <a:bodyPr wrap="none" lIns="0" rIns="0">
            <a:noAutofit/>
          </a:bodyPr>
          <a:lstStyle/>
          <a:p>
            <a:pPr algn="l"/>
            <a:r>
              <a:rPr sz="3400" b="0" i="0">
                <a:solidFill>
                  <a:srgbClr val="0A2240"/>
                </a:solidFill>
                <a:latin typeface="Arial"/>
              </a:rPr>
              <a:t>Documented by Anthropic</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
        <p:nvSpPr>
          <p:cNvPr id="8" name="TextBox 7"/>
          <p:cNvSpPr txBox="1"/>
          <p:nvPr/>
        </p:nvSpPr>
        <p:spPr>
          <a:xfrm>
            <a:off x="10085130" y="6035040"/>
            <a:ext cx="1213008" cy="365760"/>
          </a:xfrm>
          <a:prstGeom prst="rect">
            <a:avLst/>
          </a:prstGeom>
          <a:noFill/>
        </p:spPr>
        <p:txBody>
          <a:bodyPr wrap="none" lIns="0" rIns="0">
            <a:noAutofit/>
          </a:bodyPr>
          <a:lstStyle/>
          <a:p>
            <a:pPr algn="l"/>
            <a:r>
              <a:rPr sz="1600" b="0" i="0" u="sng">
                <a:solidFill>
                  <a:srgbClr val="0072CE"/>
                </a:solidFill>
                <a:latin typeface="Arial"/>
                <a:hlinkClick r:id="rId3"/>
              </a:rPr>
              <a:t>Source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Adding a Server</a:t>
            </a:r>
          </a:p>
        </p:txBody>
      </p:sp>
      <p:sp>
        <p:nvSpPr>
          <p:cNvPr id="3" name="TextBox 2"/>
          <p:cNvSpPr txBox="1"/>
          <p:nvPr/>
        </p:nvSpPr>
        <p:spPr>
          <a:xfrm>
            <a:off x="457200" y="1499616"/>
            <a:ext cx="4205997" cy="518159"/>
          </a:xfrm>
          <a:prstGeom prst="rect">
            <a:avLst/>
          </a:prstGeom>
          <a:noFill/>
        </p:spPr>
        <p:txBody>
          <a:bodyPr wrap="none" lIns="0" rIns="0">
            <a:noAutofit/>
          </a:bodyPr>
          <a:lstStyle/>
          <a:p>
            <a:pPr algn="l"/>
            <a:r>
              <a:rPr sz="3400" b="1" i="0">
                <a:solidFill>
                  <a:srgbClr val="0072CE"/>
                </a:solidFill>
                <a:latin typeface="Arial"/>
              </a:rPr>
              <a:t>To do this</a:t>
            </a:r>
          </a:p>
        </p:txBody>
      </p:sp>
      <p:sp>
        <p:nvSpPr>
          <p:cNvPr id="4" name="TextBox 3"/>
          <p:cNvSpPr txBox="1"/>
          <p:nvPr/>
        </p:nvSpPr>
        <p:spPr>
          <a:xfrm>
            <a:off x="5211837" y="1499616"/>
            <a:ext cx="3414293" cy="518159"/>
          </a:xfrm>
          <a:prstGeom prst="rect">
            <a:avLst/>
          </a:prstGeom>
          <a:noFill/>
        </p:spPr>
        <p:txBody>
          <a:bodyPr wrap="none" lIns="0" rIns="0">
            <a:noAutofit/>
          </a:bodyPr>
          <a:lstStyle/>
          <a:p>
            <a:pPr algn="l"/>
            <a:r>
              <a:rPr sz="3400" b="1" i="0">
                <a:solidFill>
                  <a:srgbClr val="0072CE"/>
                </a:solidFill>
                <a:latin typeface="Arial"/>
              </a:rPr>
              <a:t>Use</a:t>
            </a:r>
          </a:p>
        </p:txBody>
      </p:sp>
      <p:sp>
        <p:nvSpPr>
          <p:cNvPr id="5" name="Rectangle 4"/>
          <p:cNvSpPr/>
          <p:nvPr/>
        </p:nvSpPr>
        <p:spPr>
          <a:xfrm>
            <a:off x="457200" y="2072639"/>
            <a:ext cx="816893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4205997" cy="633984"/>
          </a:xfrm>
          <a:prstGeom prst="rect">
            <a:avLst/>
          </a:prstGeom>
          <a:noFill/>
        </p:spPr>
        <p:txBody>
          <a:bodyPr wrap="none" lIns="0" rIns="0">
            <a:noAutofit/>
          </a:bodyPr>
          <a:lstStyle/>
          <a:p>
            <a:pPr algn="l"/>
            <a:r>
              <a:rPr sz="3400" b="0" i="0">
                <a:solidFill>
                  <a:srgbClr val="0A2240"/>
                </a:solidFill>
                <a:latin typeface="Arial"/>
              </a:rPr>
              <a:t>Add a server</a:t>
            </a:r>
          </a:p>
        </p:txBody>
      </p:sp>
      <p:sp>
        <p:nvSpPr>
          <p:cNvPr id="7" name="TextBox 6"/>
          <p:cNvSpPr txBox="1"/>
          <p:nvPr/>
        </p:nvSpPr>
        <p:spPr>
          <a:xfrm>
            <a:off x="5211837" y="2401823"/>
            <a:ext cx="5060532" cy="633984"/>
          </a:xfrm>
          <a:prstGeom prst="rect">
            <a:avLst/>
          </a:prstGeom>
          <a:noFill/>
        </p:spPr>
        <p:txBody>
          <a:bodyPr wrap="none" lIns="0" rIns="0">
            <a:noAutofit/>
          </a:bodyPr>
          <a:lstStyle/>
          <a:p>
            <a:pPr algn="l"/>
            <a:r>
              <a:rPr sz="3400" b="0" i="0">
                <a:solidFill>
                  <a:srgbClr val="0A2240"/>
                </a:solidFill>
                <a:latin typeface="Arial"/>
              </a:rPr>
              <a:t>claude mcp add</a:t>
            </a:r>
          </a:p>
        </p:txBody>
      </p:sp>
      <p:sp>
        <p:nvSpPr>
          <p:cNvPr id="8" name="TextBox 7"/>
          <p:cNvSpPr txBox="1"/>
          <p:nvPr/>
        </p:nvSpPr>
        <p:spPr>
          <a:xfrm>
            <a:off x="457200" y="3310127"/>
            <a:ext cx="5404961" cy="633984"/>
          </a:xfrm>
          <a:prstGeom prst="rect">
            <a:avLst/>
          </a:prstGeom>
          <a:noFill/>
        </p:spPr>
        <p:txBody>
          <a:bodyPr wrap="none" lIns="0" rIns="0">
            <a:noAutofit/>
          </a:bodyPr>
          <a:lstStyle/>
          <a:p>
            <a:pPr algn="l"/>
            <a:r>
              <a:rPr sz="3400" b="0" i="0">
                <a:solidFill>
                  <a:srgbClr val="0A2240"/>
                </a:solidFill>
                <a:latin typeface="Arial"/>
              </a:rPr>
              <a:t>See your servers</a:t>
            </a:r>
          </a:p>
        </p:txBody>
      </p:sp>
      <p:sp>
        <p:nvSpPr>
          <p:cNvPr id="9" name="TextBox 8"/>
          <p:cNvSpPr txBox="1"/>
          <p:nvPr/>
        </p:nvSpPr>
        <p:spPr>
          <a:xfrm>
            <a:off x="5211837" y="3310127"/>
            <a:ext cx="4752201" cy="633984"/>
          </a:xfrm>
          <a:prstGeom prst="rect">
            <a:avLst/>
          </a:prstGeom>
          <a:noFill/>
        </p:spPr>
        <p:txBody>
          <a:bodyPr wrap="none" lIns="0" rIns="0">
            <a:noAutofit/>
          </a:bodyPr>
          <a:lstStyle/>
          <a:p>
            <a:pPr algn="l"/>
            <a:r>
              <a:rPr sz="3400" b="0" i="0">
                <a:solidFill>
                  <a:srgbClr val="0A2240"/>
                </a:solidFill>
                <a:latin typeface="Arial"/>
              </a:rPr>
              <a:t>claude mcp list</a:t>
            </a:r>
          </a:p>
        </p:txBody>
      </p:sp>
      <p:sp>
        <p:nvSpPr>
          <p:cNvPr id="10" name="TextBox 9"/>
          <p:cNvSpPr txBox="1"/>
          <p:nvPr/>
        </p:nvSpPr>
        <p:spPr>
          <a:xfrm>
            <a:off x="457200" y="4218431"/>
            <a:ext cx="6327259" cy="633984"/>
          </a:xfrm>
          <a:prstGeom prst="rect">
            <a:avLst/>
          </a:prstGeom>
          <a:noFill/>
        </p:spPr>
        <p:txBody>
          <a:bodyPr wrap="none" lIns="0" rIns="0">
            <a:noAutofit/>
          </a:bodyPr>
          <a:lstStyle/>
          <a:p>
            <a:pPr algn="l"/>
            <a:r>
              <a:rPr sz="3400" b="0" i="0">
                <a:solidFill>
                  <a:srgbClr val="0A2240"/>
                </a:solidFill>
                <a:latin typeface="Arial"/>
              </a:rPr>
              <a:t>Remote, e.g. Notion</a:t>
            </a:r>
          </a:p>
        </p:txBody>
      </p:sp>
      <p:sp>
        <p:nvSpPr>
          <p:cNvPr id="11" name="TextBox 10"/>
          <p:cNvSpPr txBox="1"/>
          <p:nvPr/>
        </p:nvSpPr>
        <p:spPr>
          <a:xfrm>
            <a:off x="5211837" y="4218431"/>
            <a:ext cx="4713744" cy="633984"/>
          </a:xfrm>
          <a:prstGeom prst="rect">
            <a:avLst/>
          </a:prstGeom>
          <a:noFill/>
        </p:spPr>
        <p:txBody>
          <a:bodyPr wrap="none" lIns="0" rIns="0">
            <a:noAutofit/>
          </a:bodyPr>
          <a:lstStyle/>
          <a:p>
            <a:pPr algn="l"/>
            <a:r>
              <a:rPr sz="3400" b="0" i="0">
                <a:solidFill>
                  <a:srgbClr val="0A2240"/>
                </a:solidFill>
                <a:latin typeface="Arial"/>
              </a:rPr>
              <a:t>--transport http</a:t>
            </a:r>
          </a:p>
        </p:txBody>
      </p:sp>
      <p:sp>
        <p:nvSpPr>
          <p:cNvPr id="12" name="TextBox 11"/>
          <p:cNvSpPr txBox="1"/>
          <p:nvPr/>
        </p:nvSpPr>
        <p:spPr>
          <a:xfrm>
            <a:off x="457200" y="5126735"/>
            <a:ext cx="5867121" cy="633984"/>
          </a:xfrm>
          <a:prstGeom prst="rect">
            <a:avLst/>
          </a:prstGeom>
          <a:noFill/>
        </p:spPr>
        <p:txBody>
          <a:bodyPr wrap="none" lIns="0" rIns="0">
            <a:noAutofit/>
          </a:bodyPr>
          <a:lstStyle/>
          <a:p>
            <a:pPr algn="l"/>
            <a:r>
              <a:rPr sz="3400" b="0" i="0">
                <a:solidFill>
                  <a:srgbClr val="0A2240"/>
                </a:solidFill>
                <a:latin typeface="Arial"/>
              </a:rPr>
              <a:t>Local, e.g. Airtable</a:t>
            </a:r>
          </a:p>
        </p:txBody>
      </p:sp>
      <p:sp>
        <p:nvSpPr>
          <p:cNvPr id="13" name="TextBox 12"/>
          <p:cNvSpPr txBox="1"/>
          <p:nvPr/>
        </p:nvSpPr>
        <p:spPr>
          <a:xfrm>
            <a:off x="5211837" y="5126735"/>
            <a:ext cx="5020726" cy="633984"/>
          </a:xfrm>
          <a:prstGeom prst="rect">
            <a:avLst/>
          </a:prstGeom>
          <a:noFill/>
        </p:spPr>
        <p:txBody>
          <a:bodyPr wrap="none" lIns="0" rIns="0">
            <a:noAutofit/>
          </a:bodyPr>
          <a:lstStyle/>
          <a:p>
            <a:pPr algn="l"/>
            <a:r>
              <a:rPr sz="3400" b="0" i="0">
                <a:solidFill>
                  <a:srgbClr val="0A2240"/>
                </a:solidFill>
                <a:latin typeface="Arial"/>
              </a:rPr>
              <a:t>--transport stdio</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Use It Safely</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Only connect servers you trust</a:t>
            </a:r>
          </a:p>
        </p:txBody>
      </p:sp>
      <p:sp>
        <p:nvSpPr>
          <p:cNvPr id="4" name="TextBox 3"/>
          <p:cNvSpPr txBox="1"/>
          <p:nvPr/>
        </p:nvSpPr>
        <p:spPr>
          <a:xfrm>
            <a:off x="457200" y="2883409"/>
            <a:ext cx="11734800" cy="518159"/>
          </a:xfrm>
          <a:prstGeom prst="rect">
            <a:avLst/>
          </a:prstGeom>
          <a:noFill/>
        </p:spPr>
        <p:txBody>
          <a:bodyPr wrap="none" lIns="0" rIns="0">
            <a:noAutofit/>
          </a:bodyPr>
          <a:lstStyle/>
          <a:p>
            <a:pPr algn="l"/>
            <a:r>
              <a:rPr sz="3400" b="0" i="0">
                <a:solidFill>
                  <a:srgbClr val="0A2240"/>
                </a:solidFill>
                <a:latin typeface="Arial"/>
              </a:rPr>
              <a:t>Fetched content can carry instructions</a:t>
            </a:r>
          </a:p>
        </p:txBody>
      </p:sp>
      <p:sp>
        <p:nvSpPr>
          <p:cNvPr id="5" name="TextBox 4"/>
          <p:cNvSpPr txBox="1"/>
          <p:nvPr/>
        </p:nvSpPr>
        <p:spPr>
          <a:xfrm>
            <a:off x="457200" y="3858768"/>
            <a:ext cx="11435656" cy="518159"/>
          </a:xfrm>
          <a:prstGeom prst="rect">
            <a:avLst/>
          </a:prstGeom>
          <a:noFill/>
        </p:spPr>
        <p:txBody>
          <a:bodyPr wrap="none" lIns="0" rIns="0">
            <a:noAutofit/>
          </a:bodyPr>
          <a:lstStyle/>
          <a:p>
            <a:pPr algn="l"/>
            <a:r>
              <a:rPr sz="3400" b="0" i="0">
                <a:solidFill>
                  <a:srgbClr val="0A2240"/>
                </a:solidFill>
                <a:latin typeface="Arial"/>
              </a:rPr>
              <a:t>Approve tool calls you did not expect</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A local server runs with your access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MCP Is, and Is Not</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It is</a:t>
            </a:r>
          </a:p>
        </p:txBody>
      </p:sp>
      <p:sp>
        <p:nvSpPr>
          <p:cNvPr id="4" name="Rectangle 3"/>
          <p:cNvSpPr/>
          <p:nvPr/>
        </p:nvSpPr>
        <p:spPr>
          <a:xfrm>
            <a:off x="548640" y="2176271"/>
            <a:ext cx="165049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It is not</a:t>
            </a:r>
          </a:p>
        </p:txBody>
      </p:sp>
      <p:sp>
        <p:nvSpPr>
          <p:cNvPr id="6" name="Rectangle 5"/>
          <p:cNvSpPr/>
          <p:nvPr/>
        </p:nvSpPr>
        <p:spPr>
          <a:xfrm>
            <a:off x="6324600" y="2176271"/>
            <a:ext cx="1650492"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673036" cy="609600"/>
          </a:xfrm>
          <a:prstGeom prst="rect">
            <a:avLst/>
          </a:prstGeom>
          <a:noFill/>
        </p:spPr>
        <p:txBody>
          <a:bodyPr wrap="none" lIns="0" rIns="0">
            <a:noAutofit/>
          </a:bodyPr>
          <a:lstStyle/>
          <a:p>
            <a:pPr algn="l"/>
            <a:r>
              <a:rPr sz="3400" b="0" i="0">
                <a:solidFill>
                  <a:srgbClr val="0A2240"/>
                </a:solidFill>
                <a:latin typeface="Arial"/>
              </a:rPr>
              <a:t>A protocol for context</a:t>
            </a:r>
          </a:p>
        </p:txBody>
      </p:sp>
      <p:sp>
        <p:nvSpPr>
          <p:cNvPr id="8" name="TextBox 7"/>
          <p:cNvSpPr txBox="1"/>
          <p:nvPr/>
        </p:nvSpPr>
        <p:spPr>
          <a:xfrm>
            <a:off x="457200" y="3608831"/>
            <a:ext cx="5501640" cy="609600"/>
          </a:xfrm>
          <a:prstGeom prst="rect">
            <a:avLst/>
          </a:prstGeom>
          <a:noFill/>
        </p:spPr>
        <p:txBody>
          <a:bodyPr wrap="none" lIns="0" rIns="0">
            <a:noAutofit/>
          </a:bodyPr>
          <a:lstStyle/>
          <a:p>
            <a:pPr algn="l"/>
            <a:r>
              <a:rPr sz="3400" b="0" i="0">
                <a:solidFill>
                  <a:srgbClr val="0A2240"/>
                </a:solidFill>
                <a:latin typeface="Arial"/>
              </a:rPr>
              <a:t>Open source</a:t>
            </a:r>
          </a:p>
        </p:txBody>
      </p:sp>
      <p:sp>
        <p:nvSpPr>
          <p:cNvPr id="9" name="TextBox 8"/>
          <p:cNvSpPr txBox="1"/>
          <p:nvPr/>
        </p:nvSpPr>
        <p:spPr>
          <a:xfrm>
            <a:off x="457200" y="4821935"/>
            <a:ext cx="7478950" cy="609600"/>
          </a:xfrm>
          <a:prstGeom prst="rect">
            <a:avLst/>
          </a:prstGeom>
          <a:noFill/>
        </p:spPr>
        <p:txBody>
          <a:bodyPr wrap="none" lIns="0" rIns="0">
            <a:noAutofit/>
          </a:bodyPr>
          <a:lstStyle/>
          <a:p>
            <a:pPr algn="l"/>
            <a:r>
              <a:rPr sz="3400" b="0" i="0">
                <a:solidFill>
                  <a:srgbClr val="0A2240"/>
                </a:solidFill>
                <a:latin typeface="Arial"/>
              </a:rPr>
              <a:t>The same for every app</a:t>
            </a:r>
          </a:p>
        </p:txBody>
      </p:sp>
      <p:sp>
        <p:nvSpPr>
          <p:cNvPr id="10" name="TextBox 9"/>
          <p:cNvSpPr txBox="1"/>
          <p:nvPr/>
        </p:nvSpPr>
        <p:spPr>
          <a:xfrm>
            <a:off x="6233160" y="2395727"/>
            <a:ext cx="5501640" cy="609600"/>
          </a:xfrm>
          <a:prstGeom prst="rect">
            <a:avLst/>
          </a:prstGeom>
          <a:noFill/>
        </p:spPr>
        <p:txBody>
          <a:bodyPr wrap="none" lIns="0" rIns="0">
            <a:noAutofit/>
          </a:bodyPr>
          <a:lstStyle/>
          <a:p>
            <a:pPr algn="l"/>
            <a:r>
              <a:rPr sz="3400" b="0" i="0">
                <a:solidFill>
                  <a:srgbClr val="0A2240"/>
                </a:solidFill>
                <a:latin typeface="Arial"/>
              </a:rPr>
              <a:t>An AI model</a:t>
            </a:r>
          </a:p>
        </p:txBody>
      </p:sp>
      <p:sp>
        <p:nvSpPr>
          <p:cNvPr id="11" name="TextBox 10"/>
          <p:cNvSpPr txBox="1"/>
          <p:nvPr/>
        </p:nvSpPr>
        <p:spPr>
          <a:xfrm>
            <a:off x="6233160" y="3608831"/>
            <a:ext cx="5636716" cy="609600"/>
          </a:xfrm>
          <a:prstGeom prst="rect">
            <a:avLst/>
          </a:prstGeom>
          <a:noFill/>
        </p:spPr>
        <p:txBody>
          <a:bodyPr wrap="none" lIns="0" rIns="0">
            <a:noAutofit/>
          </a:bodyPr>
          <a:lstStyle/>
          <a:p>
            <a:pPr algn="l"/>
            <a:r>
              <a:rPr sz="3400" b="0" i="0">
                <a:solidFill>
                  <a:srgbClr val="0A2240"/>
                </a:solidFill>
                <a:latin typeface="Arial"/>
              </a:rPr>
              <a:t>An app you install</a:t>
            </a:r>
          </a:p>
        </p:txBody>
      </p:sp>
      <p:sp>
        <p:nvSpPr>
          <p:cNvPr id="12" name="TextBox 11"/>
          <p:cNvSpPr txBox="1"/>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A rule for using models</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Your First Ten Minutes</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Pick a server you trust</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Start from the reference list</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Add it to your host</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In Claude Code, claude mcp add</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662523" cy="640080"/>
          </a:xfrm>
          <a:prstGeom prst="rect">
            <a:avLst/>
          </a:prstGeom>
          <a:noFill/>
        </p:spPr>
        <p:txBody>
          <a:bodyPr wrap="none" lIns="0" rIns="0">
            <a:noAutofit/>
          </a:bodyPr>
          <a:lstStyle/>
          <a:p>
            <a:pPr algn="l"/>
            <a:r>
              <a:rPr sz="4200" b="1" i="0">
                <a:solidFill>
                  <a:srgbClr val="0072CE"/>
                </a:solidFill>
                <a:latin typeface="Arial"/>
              </a:rPr>
              <a:t>Ask for something it does</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And approve the tool call</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Sources, Captured 21 Oct 2026</a:t>
            </a:r>
          </a:p>
        </p:txBody>
      </p:sp>
      <p:sp>
        <p:nvSpPr>
          <p:cNvPr id="3" name="TextBox 2"/>
          <p:cNvSpPr txBox="1"/>
          <p:nvPr/>
        </p:nvSpPr>
        <p:spPr>
          <a:xfrm>
            <a:off x="457200" y="1499616"/>
            <a:ext cx="4390060" cy="518159"/>
          </a:xfrm>
          <a:prstGeom prst="rect">
            <a:avLst/>
          </a:prstGeom>
          <a:noFill/>
        </p:spPr>
        <p:txBody>
          <a:bodyPr wrap="none" lIns="0" rIns="0">
            <a:noAutofit/>
          </a:bodyPr>
          <a:lstStyle/>
          <a:p>
            <a:pPr algn="l"/>
            <a:r>
              <a:rPr sz="3400" b="1" i="0">
                <a:solidFill>
                  <a:srgbClr val="0072CE"/>
                </a:solidFill>
                <a:latin typeface="Arial"/>
              </a:rPr>
              <a:t>Slide</a:t>
            </a:r>
          </a:p>
        </p:txBody>
      </p:sp>
      <p:sp>
        <p:nvSpPr>
          <p:cNvPr id="4" name="TextBox 3"/>
          <p:cNvSpPr txBox="1"/>
          <p:nvPr/>
        </p:nvSpPr>
        <p:spPr>
          <a:xfrm>
            <a:off x="5395900" y="1499616"/>
            <a:ext cx="4926226" cy="518159"/>
          </a:xfrm>
          <a:prstGeom prst="rect">
            <a:avLst/>
          </a:prstGeom>
          <a:noFill/>
        </p:spPr>
        <p:txBody>
          <a:bodyPr wrap="none" lIns="0" rIns="0">
            <a:noAutofit/>
          </a:bodyPr>
          <a:lstStyle/>
          <a:p>
            <a:pPr algn="l"/>
            <a:r>
              <a:rPr sz="3400" b="1" i="0">
                <a:solidFill>
                  <a:srgbClr val="0072CE"/>
                </a:solidFill>
                <a:latin typeface="Arial"/>
              </a:rPr>
              <a:t>Taken from</a:t>
            </a:r>
          </a:p>
        </p:txBody>
      </p:sp>
      <p:sp>
        <p:nvSpPr>
          <p:cNvPr id="5" name="Rectangle 4"/>
          <p:cNvSpPr/>
          <p:nvPr/>
        </p:nvSpPr>
        <p:spPr>
          <a:xfrm>
            <a:off x="457200" y="2072639"/>
            <a:ext cx="9864926"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6621760" cy="452323"/>
          </a:xfrm>
          <a:prstGeom prst="rect">
            <a:avLst/>
          </a:prstGeom>
          <a:noFill/>
        </p:spPr>
        <p:txBody>
          <a:bodyPr wrap="none" lIns="0" rIns="0">
            <a:noAutofit/>
          </a:bodyPr>
          <a:lstStyle/>
          <a:p>
            <a:pPr algn="l"/>
            <a:r>
              <a:rPr sz="3400" b="0" i="0">
                <a:solidFill>
                  <a:srgbClr val="0A2240"/>
                </a:solidFill>
                <a:latin typeface="Arial"/>
              </a:rPr>
              <a:t>Analogy, architecture</a:t>
            </a:r>
          </a:p>
        </p:txBody>
      </p:sp>
      <p:sp>
        <p:nvSpPr>
          <p:cNvPr id="7" name="TextBox 6"/>
          <p:cNvSpPr txBox="1"/>
          <p:nvPr/>
        </p:nvSpPr>
        <p:spPr>
          <a:xfrm>
            <a:off x="5395900" y="2401823"/>
            <a:ext cx="6796100" cy="452323"/>
          </a:xfrm>
          <a:prstGeom prst="rect">
            <a:avLst/>
          </a:prstGeom>
          <a:noFill/>
        </p:spPr>
        <p:txBody>
          <a:bodyPr wrap="none" lIns="0" rIns="0">
            <a:noAutofit/>
          </a:bodyPr>
          <a:lstStyle/>
          <a:p>
            <a:pPr algn="l"/>
            <a:r>
              <a:rPr sz="3400" b="0" i="0">
                <a:solidFill>
                  <a:srgbClr val="0A2240"/>
                </a:solidFill>
                <a:latin typeface="Arial"/>
              </a:rPr>
              <a:t>modelcontextprotocol.io</a:t>
            </a:r>
          </a:p>
        </p:txBody>
      </p:sp>
      <p:sp>
        <p:nvSpPr>
          <p:cNvPr id="8" name="TextBox 7"/>
          <p:cNvSpPr txBox="1"/>
          <p:nvPr/>
        </p:nvSpPr>
        <p:spPr>
          <a:xfrm>
            <a:off x="457200" y="3128466"/>
            <a:ext cx="4906030" cy="452323"/>
          </a:xfrm>
          <a:prstGeom prst="rect">
            <a:avLst/>
          </a:prstGeom>
          <a:noFill/>
        </p:spPr>
        <p:txBody>
          <a:bodyPr wrap="none" lIns="0" rIns="0">
            <a:noAutofit/>
          </a:bodyPr>
          <a:lstStyle/>
          <a:p>
            <a:pPr algn="l"/>
            <a:r>
              <a:rPr sz="3400" b="0" i="0">
                <a:solidFill>
                  <a:srgbClr val="0A2240"/>
                </a:solidFill>
                <a:latin typeface="Arial"/>
              </a:rPr>
              <a:t>Server features</a:t>
            </a:r>
          </a:p>
        </p:txBody>
      </p:sp>
      <p:sp>
        <p:nvSpPr>
          <p:cNvPr id="9" name="TextBox 8"/>
          <p:cNvSpPr txBox="1"/>
          <p:nvPr/>
        </p:nvSpPr>
        <p:spPr>
          <a:xfrm>
            <a:off x="5395900" y="3128466"/>
            <a:ext cx="6796100" cy="452323"/>
          </a:xfrm>
          <a:prstGeom prst="rect">
            <a:avLst/>
          </a:prstGeom>
          <a:noFill/>
        </p:spPr>
        <p:txBody>
          <a:bodyPr wrap="none" lIns="0" rIns="0">
            <a:noAutofit/>
          </a:bodyPr>
          <a:lstStyle/>
          <a:p>
            <a:pPr algn="l"/>
            <a:r>
              <a:rPr sz="3400" b="0" i="0">
                <a:solidFill>
                  <a:srgbClr val="0A2240"/>
                </a:solidFill>
                <a:latin typeface="Arial"/>
              </a:rPr>
              <a:t>modelcontextprotocol.io</a:t>
            </a:r>
          </a:p>
        </p:txBody>
      </p:sp>
      <p:sp>
        <p:nvSpPr>
          <p:cNvPr id="10" name="TextBox 9"/>
          <p:cNvSpPr txBox="1"/>
          <p:nvPr/>
        </p:nvSpPr>
        <p:spPr>
          <a:xfrm>
            <a:off x="457200" y="3855109"/>
            <a:ext cx="4830465" cy="452323"/>
          </a:xfrm>
          <a:prstGeom prst="rect">
            <a:avLst/>
          </a:prstGeom>
          <a:noFill/>
        </p:spPr>
        <p:txBody>
          <a:bodyPr wrap="none" lIns="0" rIns="0">
            <a:noAutofit/>
          </a:bodyPr>
          <a:lstStyle/>
          <a:p>
            <a:pPr algn="l"/>
            <a:r>
              <a:rPr sz="3400" b="0" i="0">
                <a:solidFill>
                  <a:srgbClr val="0A2240"/>
                </a:solidFill>
                <a:latin typeface="Arial"/>
              </a:rPr>
              <a:t>Announcement</a:t>
            </a:r>
          </a:p>
        </p:txBody>
      </p:sp>
      <p:sp>
        <p:nvSpPr>
          <p:cNvPr id="11" name="TextBox 10"/>
          <p:cNvSpPr txBox="1"/>
          <p:nvPr/>
        </p:nvSpPr>
        <p:spPr>
          <a:xfrm>
            <a:off x="5395900" y="3855109"/>
            <a:ext cx="6326921" cy="452323"/>
          </a:xfrm>
          <a:prstGeom prst="rect">
            <a:avLst/>
          </a:prstGeom>
          <a:noFill/>
        </p:spPr>
        <p:txBody>
          <a:bodyPr wrap="none" lIns="0" rIns="0">
            <a:noAutofit/>
          </a:bodyPr>
          <a:lstStyle/>
          <a:p>
            <a:pPr algn="l"/>
            <a:r>
              <a:rPr sz="3400" b="0" i="0">
                <a:solidFill>
                  <a:srgbClr val="0A2240"/>
                </a:solidFill>
                <a:latin typeface="Arial"/>
              </a:rPr>
              <a:t>anthropic.com/news</a:t>
            </a:r>
          </a:p>
        </p:txBody>
      </p:sp>
      <p:sp>
        <p:nvSpPr>
          <p:cNvPr id="12" name="TextBox 11"/>
          <p:cNvSpPr txBox="1"/>
          <p:nvPr/>
        </p:nvSpPr>
        <p:spPr>
          <a:xfrm>
            <a:off x="457200" y="4581752"/>
            <a:ext cx="5827315" cy="452323"/>
          </a:xfrm>
          <a:prstGeom prst="rect">
            <a:avLst/>
          </a:prstGeom>
          <a:noFill/>
        </p:spPr>
        <p:txBody>
          <a:bodyPr wrap="none" lIns="0" rIns="0">
            <a:noAutofit/>
          </a:bodyPr>
          <a:lstStyle/>
          <a:p>
            <a:pPr algn="l"/>
            <a:r>
              <a:rPr sz="3400" b="0" i="0">
                <a:solidFill>
                  <a:srgbClr val="0A2240"/>
                </a:solidFill>
                <a:latin typeface="Arial"/>
              </a:rPr>
              <a:t>Reference servers</a:t>
            </a:r>
          </a:p>
        </p:txBody>
      </p:sp>
      <p:sp>
        <p:nvSpPr>
          <p:cNvPr id="13" name="TextBox 12"/>
          <p:cNvSpPr txBox="1"/>
          <p:nvPr/>
        </p:nvSpPr>
        <p:spPr>
          <a:xfrm>
            <a:off x="5395900" y="4581752"/>
            <a:ext cx="4926226" cy="452323"/>
          </a:xfrm>
          <a:prstGeom prst="rect">
            <a:avLst/>
          </a:prstGeom>
          <a:noFill/>
        </p:spPr>
        <p:txBody>
          <a:bodyPr wrap="none" lIns="0" rIns="0">
            <a:noAutofit/>
          </a:bodyPr>
          <a:lstStyle/>
          <a:p>
            <a:pPr algn="l"/>
            <a:r>
              <a:rPr sz="3400" b="0" i="0">
                <a:solidFill>
                  <a:srgbClr val="0A2240"/>
                </a:solidFill>
                <a:latin typeface="Arial"/>
              </a:rPr>
              <a:t>github.com</a:t>
            </a:r>
          </a:p>
        </p:txBody>
      </p:sp>
      <p:sp>
        <p:nvSpPr>
          <p:cNvPr id="14" name="TextBox 13"/>
          <p:cNvSpPr txBox="1"/>
          <p:nvPr/>
        </p:nvSpPr>
        <p:spPr>
          <a:xfrm>
            <a:off x="457200" y="5308395"/>
            <a:ext cx="4390060" cy="452323"/>
          </a:xfrm>
          <a:prstGeom prst="rect">
            <a:avLst/>
          </a:prstGeom>
          <a:noFill/>
        </p:spPr>
        <p:txBody>
          <a:bodyPr wrap="none" lIns="0" rIns="0">
            <a:noAutofit/>
          </a:bodyPr>
          <a:lstStyle/>
          <a:p>
            <a:pPr algn="l"/>
            <a:r>
              <a:rPr sz="3400" b="0" i="0">
                <a:solidFill>
                  <a:srgbClr val="0A2240"/>
                </a:solidFill>
                <a:latin typeface="Arial"/>
              </a:rPr>
              <a:t>Claude Code</a:t>
            </a:r>
          </a:p>
        </p:txBody>
      </p:sp>
      <p:sp>
        <p:nvSpPr>
          <p:cNvPr id="15" name="TextBox 14"/>
          <p:cNvSpPr txBox="1"/>
          <p:nvPr/>
        </p:nvSpPr>
        <p:spPr>
          <a:xfrm>
            <a:off x="5395900" y="5308395"/>
            <a:ext cx="6796100" cy="452323"/>
          </a:xfrm>
          <a:prstGeom prst="rect">
            <a:avLst/>
          </a:prstGeom>
          <a:noFill/>
        </p:spPr>
        <p:txBody>
          <a:bodyPr wrap="none" lIns="0" rIns="0">
            <a:noAutofit/>
          </a:bodyPr>
          <a:lstStyle/>
          <a:p>
            <a:pPr algn="l"/>
            <a:r>
              <a:rPr sz="3400" b="0" i="0">
                <a:solidFill>
                  <a:srgbClr val="0A2240"/>
                </a:solidFill>
                <a:latin typeface="Arial"/>
              </a:rPr>
              <a:t>code.claude.com/docs</a:t>
            </a:r>
          </a:p>
        </p:txBody>
      </p:sp>
      <p:sp>
        <p:nvSpPr>
          <p:cNvPr id="16" name="TextBox 1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would you connect?</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