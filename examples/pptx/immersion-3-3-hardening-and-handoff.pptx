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3.3, Hardening and Handoff — the last session of the week. You are holding a log of your own failures, written by people with no reason to be gentle.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 minutes, and you leave with the failures above the cut line fixed and proven, everything pushed, and a schedule of checks running after you go home.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this session. We triage severity against cost, commit to a cut line, fix and re-run and push, and schedule checks that outlive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here: what will you not fix? In fifty minutes you cannot fix everything, and the teams that end strongest decided that on purpose rather than by running out of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log is a pile of facts, and it produces anxiety. A cut line turns the same pile into a plan.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triage on severity against cost to fix, draw the cut line out loud, fix and re-run the exact test, then schedule it to keep testing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hour runs in four blocks, and 11:40 is the gate — stop fixing then, whatever is left. The scheduled checks are the only part of this hour that keeps working after the week ends.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Deciding what to ignore is the work. Anyone can rank a list; committing to leave the bottom of it alone is what makes the ranking mean anything.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objective: two axes, one line, twelve minutes — done as a whole team with the log on a shared screen.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Triage means sorting by what to do, not by what is worst. It is ranking by where your limited effort does the most good, which is a different order.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before ranking anything. Read the whole log. Merge findings that share one cause. Reproduce anything unclear. Then start ranking.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per finding, thirty seconds each. Severity: how bad is it if a judge hits it? Cost: how long to fix, honestly? Resist adding a third axis.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grid. A critical finding is fixed now whether it is cheap or costly — severity beats cost at the top. A high one is fixed if cheap and debated if costly. A low one is maybe if cheap and never if costly.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cut line is the point below which you fix nothing today. Not tonight, and not quietly during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Rank by the grid — fix now, decide, maybe, never. Add up the hours against the time you actually have. Then draw the line where the time runs out, and say the number out loud.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stay above the line regardless of cost: confidently wrong output, anything that hangs forever, a crash on a normal input, and anything that leaks a secret.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you can leave alone with a clear conscience: it looks rough, it is slow but finishes, it fails on an absurd input, or it is already in your caveats.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buckets, no finer. Under ten minutes: just do it. Under an hour: it needs the line. Over an hour: not today. Unknown: treat it as over an hour.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 line you fix what is nearest, run out of time surprised, and the critical one survives. With a line you fix what matters most, run out of time on purpose, and know exactly what is left.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ways the twelve minutes disappear: fixing the interesting one first, softening severity to feel better, arguing whether something counts, and re-litigating their findings.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Drawn against real time — sum the estimates rather than aspiring. Agreed out loud, so everyone hears where it landed. And held once drawn, because moving it later is how the hour is lost.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it into the repo as TRIAGE.md — what is above the line, and what is below it on purpose. The lower list is the more valuable one, because it goes straight into your demo caveats.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objective: twenty-two minutes of fixing, and every fix proven by re-running the exact test that caught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 means the test that caught it now passes. Not “I changed the code”, not “it should be better”.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Reproduce it first, and see the failure before you change anything. Change one thing, the smallest edit that could work. Then re-run that exact input — the one from the log, not a similar 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that feel slow and are faster: one finding one change, re-run before starting the next, commit each fix separately, and never batch three and hope.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proof looks like — the exact input from the log, the new behaviour on screen, and a note tying it back to the finding number.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done. You believe it should work now. Or you re-ran it and watched it work. Every unproven fix is a finding you have moved out of sight.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now: do not refactor while fixing, do not add a feature nobody asked for, do not restyle anything, and do not start on a second input.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Commit per finding, with the message naming the finding it closes. Push after each one rather than once at the end when it is rushed. And update the caveats — fixed comes off, below-the-line goes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 paths, the finding number in the message, and the caveat update as part of the same move. Anyone reading the history later can trace a fix back to the log entry that caused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rows a stranger can read in ten seconds. Two fixed and re-ran, two below the line. Note that the below-the-line entries stay on the record rather than disappearing.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ones you did not fix go into the caveats, into the demo script, and into the next sprint. They are not failures — every shipped system has a list like this.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unproven fix is still a bug. If there is time for one but not both, fix fewer things and prove them.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objective, and the one that outlives the week. Everything so far was tested because people were watching.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who tests it next week? For most prototypes the honest answer is nobody, which is why they quietly stop working.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Routine is a prompt that runs on a schedule, without you. It is a scheduled agent run — the same instructions you would type, fired on a timer.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to schedule checks. Things break with nobody touching them. A key expires, a service moves. You will not think to look. And a dead demo gets found by a judge.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Write the check as a prompt — exactly what you would do by hand. Pick a schedule, and daily is right for almost everything. Then say where it reports, somewhere you will actually see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and it is just your happy path run by somebody else. Open the URL, upload the fixture, click Run, and say so in one line if the output is missing or wrong — otherwise say OK.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schedule: the happy path end to end, the findings you fixed today, whether the URL still loads at all, and anything with a key or a quota.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weak check says “check if it works”, reports only on failure, and goes where nobody looks. A strong one has one input and one expectation, reports either way, and lands where you look daily.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constraint is not the count — the syllabus says unlimited. One per fix you made today, one for the happy path, one for each external dependency. Be generous with checks and strict about them reporting something you can act 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only set up three, make it these. Is it alive — the URL loads and returns a page. Does it still work — the happy path daily, start to finish. And did the fixes hold — today's findings, re-run on a timer.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files, and together they are the handoff. README says what it does. CAVEATS says what it does not. TRIAGE says what you chose. And the checks say it still runs.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days of work in one screen. Four of these files are prose rather than code — the record of what you chose and what you know is as much of the deliverable as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binary checks before 11:50. Everything pushed, nothing only local. Fixes proven, each test re-run. Caveats current, matching reality today. And checks running, with at least one already fired.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stop fixing at 11:40 and whatever is left goes into the caveats. Push what is proven, and leave an unproven change uncommitted. But never skip the schedule — it is the only part that outlives today.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leaving with a cut line written and held, the fixes above it each re-run, everything pushed to GitHub, and checks running without you.</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four answers of the week: where the line landed, what you fixed and proved, the biggest thing left, and what the checks are watching.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built this week: a problem stated precisely, a workflow mapped and owned, a prototype at a public URL, and proof that you tested it. Plenty of people can show a demo; far fewer can show what they did to break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1277600" cy="914400"/>
          </a:xfrm>
          <a:prstGeom prst="rect">
            <a:avLst/>
          </a:prstGeom>
          <a:noFill/>
        </p:spPr>
        <p:txBody>
          <a:bodyPr wrap="none" lIns="0" rIns="0">
            <a:noAutofit/>
          </a:bodyPr>
          <a:lstStyle/>
          <a:p>
            <a:pPr algn="l"/>
            <a:r>
              <a:rPr sz="6000" b="1" i="0">
                <a:solidFill>
                  <a:srgbClr val="0072CE"/>
                </a:solidFill>
                <a:latin typeface="Arial"/>
              </a:rPr>
              <a:t>Hardening and Handoff</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Immersion Week SF · Day 3 · Session 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1583436"/>
            <a:ext cx="11277600" cy="1691640"/>
          </a:xfrm>
          <a:prstGeom prst="rect">
            <a:avLst/>
          </a:prstGeom>
          <a:noFill/>
        </p:spPr>
        <p:txBody>
          <a:bodyPr wrap="none" lIns="0" rIns="0">
            <a:noAutofit/>
          </a:bodyPr>
          <a:lstStyle/>
          <a:p>
            <a:pPr algn="ctr"/>
            <a:r>
              <a:rPr sz="10500" b="1" i="0">
                <a:solidFill>
                  <a:srgbClr val="0072CE"/>
                </a:solidFill>
                <a:latin typeface="Arial"/>
              </a:rPr>
              <a:t>50</a:t>
            </a:r>
          </a:p>
        </p:txBody>
      </p:sp>
      <p:sp>
        <p:nvSpPr>
          <p:cNvPr id="3" name="Rectangle 2"/>
          <p:cNvSpPr/>
          <p:nvPr/>
        </p:nvSpPr>
        <p:spPr>
          <a:xfrm>
            <a:off x="5547360" y="3329940"/>
            <a:ext cx="10972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9124"/>
            <a:ext cx="11277600" cy="731520"/>
          </a:xfrm>
          <a:prstGeom prst="rect">
            <a:avLst/>
          </a:prstGeom>
          <a:noFill/>
        </p:spPr>
        <p:txBody>
          <a:bodyPr wrap="none" lIns="0" rIns="0">
            <a:noAutofit/>
          </a:bodyPr>
          <a:lstStyle/>
          <a:p>
            <a:pPr algn="ctr"/>
            <a:r>
              <a:rPr sz="4200" b="0" i="0">
                <a:solidFill>
                  <a:srgbClr val="0A2240"/>
                </a:solidFill>
                <a:latin typeface="Arial"/>
              </a:rPr>
              <a:t>Minutes</a:t>
            </a:r>
          </a:p>
        </p:txBody>
      </p:sp>
      <p:sp>
        <p:nvSpPr>
          <p:cNvPr id="5" name="TextBox 4"/>
          <p:cNvSpPr txBox="1"/>
          <p:nvPr/>
        </p:nvSpPr>
        <p:spPr>
          <a:xfrm>
            <a:off x="457200" y="4664964"/>
            <a:ext cx="11277600" cy="609600"/>
          </a:xfrm>
          <a:prstGeom prst="rect">
            <a:avLst/>
          </a:prstGeom>
          <a:noFill/>
        </p:spPr>
        <p:txBody>
          <a:bodyPr wrap="none" lIns="0" rIns="0">
            <a:noAutofit/>
          </a:bodyPr>
          <a:lstStyle/>
          <a:p>
            <a:pPr algn="ctr"/>
            <a:r>
              <a:rPr sz="3400" b="0" i="0">
                <a:solidFill>
                  <a:srgbClr val="0A2240"/>
                </a:solidFill>
                <a:latin typeface="Arial"/>
              </a:rPr>
              <a:t>You leave with it hardened</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This Session Covers</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Triage severity against cost</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Commit to a cut line</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Fix, re-run, and push</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Schedule checks that outlive you</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will you not fix?</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From 3.2 to Now</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A log</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Everything that broke</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A line</a:t>
            </a:r>
          </a:p>
        </p:txBody>
      </p:sp>
      <p:sp>
        <p:nvSpPr>
          <p:cNvPr id="6" name="TextBox 5"/>
          <p:cNvSpPr txBox="1"/>
          <p:nvPr/>
        </p:nvSpPr>
        <p:spPr>
          <a:xfrm>
            <a:off x="6770598" y="3965448"/>
            <a:ext cx="5135424" cy="518159"/>
          </a:xfrm>
          <a:prstGeom prst="rect">
            <a:avLst/>
          </a:prstGeom>
          <a:noFill/>
        </p:spPr>
        <p:txBody>
          <a:bodyPr wrap="none" lIns="0" rIns="0">
            <a:noAutofit/>
          </a:bodyPr>
          <a:lstStyle/>
          <a:p>
            <a:pPr algn="ctr"/>
            <a:r>
              <a:rPr sz="3400" b="0" i="0">
                <a:solidFill>
                  <a:srgbClr val="0A2240"/>
                </a:solidFill>
                <a:latin typeface="Arial"/>
              </a:rPr>
              <a:t>What you will fix</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We Get There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Triage</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Severity against cost to fix</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Cut</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Draw the line, out loud</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2613660" cy="518159"/>
          </a:xfrm>
          <a:prstGeom prst="rect">
            <a:avLst/>
          </a:prstGeom>
          <a:noFill/>
        </p:spPr>
        <p:txBody>
          <a:bodyPr wrap="none" lIns="0" rIns="0">
            <a:noAutofit/>
          </a:bodyPr>
          <a:lstStyle/>
          <a:p>
            <a:pPr algn="l"/>
            <a:r>
              <a:rPr sz="3400" b="1" i="0">
                <a:solidFill>
                  <a:srgbClr val="0072CE"/>
                </a:solidFill>
                <a:latin typeface="Arial"/>
              </a:rPr>
              <a:t>Fix</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Re-run the exact test</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613660" cy="518159"/>
          </a:xfrm>
          <a:prstGeom prst="rect">
            <a:avLst/>
          </a:prstGeom>
          <a:noFill/>
        </p:spPr>
        <p:txBody>
          <a:bodyPr wrap="none" lIns="0" rIns="0">
            <a:noAutofit/>
          </a:bodyPr>
          <a:lstStyle/>
          <a:p>
            <a:pPr algn="l"/>
            <a:r>
              <a:rPr sz="3400" b="1" i="0">
                <a:solidFill>
                  <a:srgbClr val="0072CE"/>
                </a:solidFill>
                <a:latin typeface="Arial"/>
              </a:rPr>
              <a:t>Watch</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Schedule it to keep testing</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Next 50 Minutes</a:t>
            </a:r>
          </a:p>
        </p:txBody>
      </p:sp>
      <p:sp>
        <p:nvSpPr>
          <p:cNvPr id="3" name="TextBox 2"/>
          <p:cNvSpPr txBo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11:00</a:t>
            </a:r>
          </a:p>
        </p:txBody>
      </p:sp>
      <p:sp>
        <p:nvSpPr>
          <p:cNvPr id="4" name="TextBox 3"/>
          <p:cNvSpPr txBox="1"/>
          <p:nvPr/>
        </p:nvSpPr>
        <p:spPr>
          <a:xfrm>
            <a:off x="457200" y="2154936"/>
            <a:ext cx="2613660" cy="518159"/>
          </a:xfrm>
          <a:prstGeom prst="rect">
            <a:avLst/>
          </a:prstGeom>
          <a:noFill/>
        </p:spPr>
        <p:txBody>
          <a:bodyPr wrap="none" lIns="0" rIns="0">
            <a:noAutofit/>
          </a:bodyPr>
          <a:lstStyle/>
          <a:p>
            <a:pPr algn="l"/>
            <a:r>
              <a:rPr sz="3400" b="1" i="0">
                <a:solidFill>
                  <a:srgbClr val="0A2240"/>
                </a:solidFill>
                <a:latin typeface="Arial"/>
              </a:rPr>
              <a:t>Triage</a:t>
            </a:r>
          </a:p>
        </p:txBody>
      </p:sp>
      <p:sp>
        <p:nvSpPr>
          <p:cNvPr id="5" name="TextBox 4"/>
          <p:cNvSpPr txBox="1"/>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Every finding placed on two axes</a:t>
            </a:r>
          </a:p>
        </p:txBody>
      </p:sp>
      <p:sp>
        <p:nvSpPr>
          <p:cNvPr id="6" name="TextBox 5"/>
          <p:cNvSpPr txBox="1"/>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11:12</a:t>
            </a:r>
          </a:p>
        </p:txBody>
      </p:sp>
      <p:sp>
        <p:nvSpPr>
          <p:cNvPr id="7" name="TextBox 6"/>
          <p:cNvSpPr txBox="1"/>
          <p:nvPr/>
        </p:nvSpPr>
        <p:spPr>
          <a:xfrm>
            <a:off x="3345180" y="2154936"/>
            <a:ext cx="2793246" cy="518159"/>
          </a:xfrm>
          <a:prstGeom prst="rect">
            <a:avLst/>
          </a:prstGeom>
          <a:noFill/>
        </p:spPr>
        <p:txBody>
          <a:bodyPr wrap="none" lIns="0" rIns="0">
            <a:noAutofit/>
          </a:bodyPr>
          <a:lstStyle/>
          <a:p>
            <a:pPr algn="l"/>
            <a:r>
              <a:rPr sz="3400" b="1" i="0">
                <a:solidFill>
                  <a:srgbClr val="0A2240"/>
                </a:solidFill>
                <a:latin typeface="Arial"/>
              </a:rPr>
              <a:t>The line</a:t>
            </a:r>
          </a:p>
        </p:txBody>
      </p:sp>
      <p:sp>
        <p:nvSpPr>
          <p:cNvPr id="8" name="TextBox 7"/>
          <p:cNvSpPr txBox="1"/>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Agreed, written, committed to</a:t>
            </a:r>
          </a:p>
        </p:txBody>
      </p:sp>
      <p:sp>
        <p:nvSpPr>
          <p:cNvPr id="9" name="TextBox 8"/>
          <p:cNvSpPr txBox="1"/>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11:18</a:t>
            </a:r>
          </a:p>
        </p:txBody>
      </p:sp>
      <p:sp>
        <p:nvSpPr>
          <p:cNvPr id="10" name="TextBox 9"/>
          <p:cNvSpPr txBox="1"/>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Fix</a:t>
            </a:r>
          </a:p>
        </p:txBody>
      </p:sp>
      <p:sp>
        <p:nvSpPr>
          <p:cNvPr id="11" name="TextBox 10"/>
          <p:cNvSpPr txBox="1"/>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One at a time, re-run each</a:t>
            </a:r>
          </a:p>
        </p:txBody>
      </p:sp>
      <p:sp>
        <p:nvSpPr>
          <p:cNvPr id="12" name="TextBox 11"/>
          <p:cNvSpPr txBox="1"/>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11:40</a:t>
            </a:r>
          </a:p>
        </p:txBody>
      </p:sp>
      <p:sp>
        <p:nvSpPr>
          <p:cNvPr id="13" name="TextBox 12"/>
          <p:cNvSpPr txBox="1"/>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Schedule</a:t>
            </a:r>
          </a:p>
        </p:txBody>
      </p:sp>
      <p:sp>
        <p:nvSpPr>
          <p:cNvPr id="14" name="TextBox 13"/>
          <p:cNvSpPr txBox="1"/>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Checks that run without you</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"Deciding what to ignore is the work."</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The triage rule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The Cut Line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Triage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Sorting by what to do, not by what is worst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Before You Sort Anything</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Read the whole log, all of it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Merge findings with one cause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Reproduce anything unclear</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Then start ranking</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Axes, Nothing Else</a:t>
            </a:r>
          </a:p>
        </p:txBody>
      </p:sp>
      <p:sp>
        <p:nvSpPr>
          <p:cNvPr id="3" name="TextBox 2"/>
          <p:cNvSpPr txBox="1"/>
          <p:nvPr/>
        </p:nvSpPr>
        <p:spPr>
          <a:xfrm>
            <a:off x="457200" y="1499616"/>
            <a:ext cx="1925553" cy="518159"/>
          </a:xfrm>
          <a:prstGeom prst="rect">
            <a:avLst/>
          </a:prstGeom>
          <a:noFill/>
        </p:spPr>
        <p:txBody>
          <a:bodyPr wrap="none" lIns="0" rIns="0">
            <a:noAutofit/>
          </a:bodyPr>
          <a:lstStyle/>
          <a:p>
            <a:pPr algn="l"/>
            <a:r>
              <a:rPr sz="3400" b="1" i="0">
                <a:solidFill>
                  <a:srgbClr val="0072CE"/>
                </a:solidFill>
                <a:latin typeface="Arial"/>
              </a:rPr>
              <a:t>Axis</a:t>
            </a:r>
          </a:p>
        </p:txBody>
      </p:sp>
      <p:sp>
        <p:nvSpPr>
          <p:cNvPr id="4" name="TextBox 3"/>
          <p:cNvSpPr txBox="1"/>
          <p:nvPr/>
        </p:nvSpPr>
        <p:spPr>
          <a:xfrm>
            <a:off x="2931393" y="1499616"/>
            <a:ext cx="5621997" cy="518159"/>
          </a:xfrm>
          <a:prstGeom prst="rect">
            <a:avLst/>
          </a:prstGeom>
          <a:noFill/>
        </p:spPr>
        <p:txBody>
          <a:bodyPr wrap="none" lIns="0" rIns="0">
            <a:noAutofit/>
          </a:bodyPr>
          <a:lstStyle/>
          <a:p>
            <a:pPr algn="l"/>
            <a:r>
              <a:rPr sz="3400" b="1" i="0">
                <a:solidFill>
                  <a:srgbClr val="0072CE"/>
                </a:solidFill>
                <a:latin typeface="Arial"/>
              </a:rPr>
              <a:t>The question</a:t>
            </a:r>
          </a:p>
        </p:txBody>
      </p:sp>
      <p:sp>
        <p:nvSpPr>
          <p:cNvPr id="5" name="Rectangle 4"/>
          <p:cNvSpPr/>
          <p:nvPr/>
        </p:nvSpPr>
        <p:spPr>
          <a:xfrm>
            <a:off x="457200" y="2072639"/>
            <a:ext cx="809619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678548" cy="1542288"/>
          </a:xfrm>
          <a:prstGeom prst="rect">
            <a:avLst/>
          </a:prstGeom>
          <a:noFill/>
        </p:spPr>
        <p:txBody>
          <a:bodyPr wrap="none" lIns="0" rIns="0">
            <a:noAutofit/>
          </a:bodyPr>
          <a:lstStyle/>
          <a:p>
            <a:pPr algn="l"/>
            <a:r>
              <a:rPr sz="3400" b="0" i="0">
                <a:solidFill>
                  <a:srgbClr val="0A2240"/>
                </a:solidFill>
                <a:latin typeface="Arial"/>
              </a:rPr>
              <a:t>Severity</a:t>
            </a:r>
          </a:p>
        </p:txBody>
      </p:sp>
      <p:sp>
        <p:nvSpPr>
          <p:cNvPr id="7" name="TextBox 6"/>
          <p:cNvSpPr txBox="1"/>
          <p:nvPr/>
        </p:nvSpPr>
        <p:spPr>
          <a:xfrm>
            <a:off x="2931393" y="2401823"/>
            <a:ext cx="8094265" cy="1542288"/>
          </a:xfrm>
          <a:prstGeom prst="rect">
            <a:avLst/>
          </a:prstGeom>
          <a:noFill/>
        </p:spPr>
        <p:txBody>
          <a:bodyPr wrap="none" lIns="0" rIns="0">
            <a:noAutofit/>
          </a:bodyPr>
          <a:lstStyle/>
          <a:p>
            <a:pPr algn="l"/>
            <a:r>
              <a:rPr sz="3400" b="0" i="0">
                <a:solidFill>
                  <a:srgbClr val="0A2240"/>
                </a:solidFill>
                <a:latin typeface="Arial"/>
              </a:rPr>
              <a:t>How bad if a judge hits it?</a:t>
            </a:r>
          </a:p>
        </p:txBody>
      </p:sp>
      <p:sp>
        <p:nvSpPr>
          <p:cNvPr id="8" name="TextBox 7"/>
          <p:cNvSpPr txBox="1"/>
          <p:nvPr/>
        </p:nvSpPr>
        <p:spPr>
          <a:xfrm>
            <a:off x="457200" y="4218431"/>
            <a:ext cx="1925553" cy="1542288"/>
          </a:xfrm>
          <a:prstGeom prst="rect">
            <a:avLst/>
          </a:prstGeom>
          <a:noFill/>
        </p:spPr>
        <p:txBody>
          <a:bodyPr wrap="none" lIns="0" rIns="0">
            <a:noAutofit/>
          </a:bodyPr>
          <a:lstStyle/>
          <a:p>
            <a:pPr algn="l"/>
            <a:r>
              <a:rPr sz="3400" b="0" i="0">
                <a:solidFill>
                  <a:srgbClr val="0A2240"/>
                </a:solidFill>
                <a:latin typeface="Arial"/>
              </a:rPr>
              <a:t>Cost</a:t>
            </a:r>
          </a:p>
        </p:txBody>
      </p:sp>
      <p:sp>
        <p:nvSpPr>
          <p:cNvPr id="9" name="TextBox 8"/>
          <p:cNvSpPr txBox="1"/>
          <p:nvPr/>
        </p:nvSpPr>
        <p:spPr>
          <a:xfrm>
            <a:off x="2931393" y="4218431"/>
            <a:ext cx="8592859" cy="1542288"/>
          </a:xfrm>
          <a:prstGeom prst="rect">
            <a:avLst/>
          </a:prstGeom>
          <a:noFill/>
        </p:spPr>
        <p:txBody>
          <a:bodyPr wrap="none" lIns="0" rIns="0">
            <a:noAutofit/>
          </a:bodyPr>
          <a:lstStyle/>
          <a:p>
            <a:pPr algn="l"/>
            <a:r>
              <a:rPr sz="3400" b="0" i="0">
                <a:solidFill>
                  <a:srgbClr val="0A2240"/>
                </a:solidFill>
                <a:latin typeface="Arial"/>
              </a:rPr>
              <a:t>How long to fix it, honestly?</a:t>
            </a:r>
          </a:p>
        </p:txBody>
      </p:sp>
      <p:sp>
        <p:nvSpPr>
          <p:cNvPr id="10" name="TextBox 9"/>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Where Each Finding Lands</a:t>
            </a:r>
          </a:p>
        </p:txBody>
      </p:sp>
      <p:sp>
        <p:nvSpPr>
          <p:cNvPr id="3" name="TextBox 2"/>
          <p:cNvSpPr txBox="1"/>
          <p:nvPr/>
        </p:nvSpPr>
        <p:spPr>
          <a:xfrm>
            <a:off x="3889248" y="1499616"/>
            <a:ext cx="3785616" cy="518159"/>
          </a:xfrm>
          <a:prstGeom prst="rect">
            <a:avLst/>
          </a:prstGeom>
          <a:noFill/>
        </p:spPr>
        <p:txBody>
          <a:bodyPr wrap="none" lIns="0" rIns="0">
            <a:noAutofit/>
          </a:bodyPr>
          <a:lstStyle/>
          <a:p>
            <a:pPr algn="ctr"/>
            <a:r>
              <a:rPr sz="3400" b="1" i="0">
                <a:solidFill>
                  <a:srgbClr val="0A2240"/>
                </a:solidFill>
                <a:latin typeface="Arial"/>
              </a:rPr>
              <a:t>Cheap fix</a:t>
            </a:r>
          </a:p>
        </p:txBody>
      </p:sp>
      <p:sp>
        <p:nvSpPr>
          <p:cNvPr id="4" name="TextBox 3"/>
          <p:cNvSpPr txBox="1"/>
          <p:nvPr/>
        </p:nvSpPr>
        <p:spPr>
          <a:xfrm>
            <a:off x="7949184" y="1499616"/>
            <a:ext cx="3785616" cy="518159"/>
          </a:xfrm>
          <a:prstGeom prst="rect">
            <a:avLst/>
          </a:prstGeom>
          <a:noFill/>
        </p:spPr>
        <p:txBody>
          <a:bodyPr wrap="none" lIns="0" rIns="0">
            <a:noAutofit/>
          </a:bodyPr>
          <a:lstStyle/>
          <a:p>
            <a:pPr algn="ctr"/>
            <a:r>
              <a:rPr sz="3400" b="1" i="0">
                <a:solidFill>
                  <a:srgbClr val="0A2240"/>
                </a:solidFill>
                <a:latin typeface="Arial"/>
              </a:rPr>
              <a:t>Costly fix</a:t>
            </a:r>
          </a:p>
        </p:txBody>
      </p:sp>
      <p:sp>
        <p:nvSpPr>
          <p:cNvPr id="5" name="Rectangle 4"/>
          <p:cNvSpPr/>
          <p:nvPr/>
        </p:nvSpPr>
        <p:spPr>
          <a:xfrm>
            <a:off x="457200" y="2072639"/>
            <a:ext cx="112776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Critical</a:t>
            </a:r>
          </a:p>
        </p:txBody>
      </p:sp>
      <p:sp>
        <p:nvSpPr>
          <p:cNvPr id="7" name="TextBox 6"/>
          <p:cNvSpPr txBox="1"/>
          <p:nvPr/>
        </p:nvSpPr>
        <p:spPr>
          <a:xfrm>
            <a:off x="3889248" y="2401823"/>
            <a:ext cx="3785616" cy="936752"/>
          </a:xfrm>
          <a:prstGeom prst="rect">
            <a:avLst/>
          </a:prstGeom>
          <a:noFill/>
        </p:spPr>
        <p:txBody>
          <a:bodyPr wrap="none" lIns="0" rIns="0">
            <a:noAutofit/>
          </a:bodyPr>
          <a:lstStyle/>
          <a:p>
            <a:pPr algn="ctr"/>
            <a:r>
              <a:rPr sz="3400" b="0" i="0">
                <a:solidFill>
                  <a:srgbClr val="0A2240"/>
                </a:solidFill>
                <a:latin typeface="Arial"/>
              </a:rPr>
              <a:t>Fix now</a:t>
            </a:r>
          </a:p>
        </p:txBody>
      </p:sp>
      <p:sp>
        <p:nvSpPr>
          <p:cNvPr id="8" name="Rectangle 7"/>
          <p:cNvSpPr/>
          <p:nvPr/>
        </p:nvSpPr>
        <p:spPr>
          <a:xfrm>
            <a:off x="8873784" y="2401823"/>
            <a:ext cx="1936416"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64767" y="2401823"/>
            <a:ext cx="2754450" cy="518159"/>
          </a:xfrm>
          <a:prstGeom prst="rect">
            <a:avLst/>
          </a:prstGeom>
          <a:noFill/>
        </p:spPr>
        <p:txBody>
          <a:bodyPr wrap="none" lIns="0" rIns="0">
            <a:noAutofit/>
          </a:bodyPr>
          <a:lstStyle/>
          <a:p>
            <a:pPr algn="ctr"/>
            <a:r>
              <a:rPr sz="3400" b="1" i="0">
                <a:solidFill>
                  <a:srgbClr val="FFFFFF"/>
                </a:solidFill>
                <a:latin typeface="Arial"/>
              </a:rPr>
              <a:t>Fix now</a:t>
            </a:r>
          </a:p>
        </p:txBody>
      </p:sp>
      <p:sp>
        <p:nvSpPr>
          <p:cNvPr id="10" name="TextBox 9"/>
          <p:cNvSpPr txBox="1"/>
          <p:nvPr/>
        </p:nvSpPr>
        <p:spPr>
          <a:xfrm>
            <a:off x="457200" y="3612895"/>
            <a:ext cx="3157728" cy="936752"/>
          </a:xfrm>
          <a:prstGeom prst="rect">
            <a:avLst/>
          </a:prstGeom>
          <a:noFill/>
        </p:spPr>
        <p:txBody>
          <a:bodyPr wrap="none" lIns="0" rIns="0">
            <a:noAutofit/>
          </a:bodyPr>
          <a:lstStyle/>
          <a:p>
            <a:pPr algn="l"/>
            <a:r>
              <a:rPr sz="3400" b="1" i="0">
                <a:solidFill>
                  <a:srgbClr val="0A2240"/>
                </a:solidFill>
                <a:latin typeface="Arial"/>
              </a:rPr>
              <a:t>High</a:t>
            </a:r>
          </a:p>
        </p:txBody>
      </p:sp>
      <p:sp>
        <p:nvSpPr>
          <p:cNvPr id="11" name="TextBox 10"/>
          <p:cNvSpPr txBox="1"/>
          <p:nvPr/>
        </p:nvSpPr>
        <p:spPr>
          <a:xfrm>
            <a:off x="3889248" y="3612895"/>
            <a:ext cx="3785616" cy="936752"/>
          </a:xfrm>
          <a:prstGeom prst="rect">
            <a:avLst/>
          </a:prstGeom>
          <a:noFill/>
        </p:spPr>
        <p:txBody>
          <a:bodyPr wrap="none" lIns="0" rIns="0">
            <a:noAutofit/>
          </a:bodyPr>
          <a:lstStyle/>
          <a:p>
            <a:pPr algn="ctr"/>
            <a:r>
              <a:rPr sz="3400" b="0" i="0">
                <a:solidFill>
                  <a:srgbClr val="0A2240"/>
                </a:solidFill>
                <a:latin typeface="Arial"/>
              </a:rPr>
              <a:t>Fix now</a:t>
            </a:r>
          </a:p>
        </p:txBody>
      </p:sp>
      <p:sp>
        <p:nvSpPr>
          <p:cNvPr id="12" name="Rectangle 11"/>
          <p:cNvSpPr/>
          <p:nvPr/>
        </p:nvSpPr>
        <p:spPr>
          <a:xfrm>
            <a:off x="8969400" y="3612895"/>
            <a:ext cx="1745184"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17752" y="3612895"/>
            <a:ext cx="2448480" cy="518159"/>
          </a:xfrm>
          <a:prstGeom prst="rect">
            <a:avLst/>
          </a:prstGeom>
          <a:noFill/>
        </p:spPr>
        <p:txBody>
          <a:bodyPr wrap="none" lIns="0" rIns="0">
            <a:noAutofit/>
          </a:bodyPr>
          <a:lstStyle/>
          <a:p>
            <a:pPr algn="ctr"/>
            <a:r>
              <a:rPr sz="3400" b="1" i="0">
                <a:solidFill>
                  <a:srgbClr val="FFFFFF"/>
                </a:solidFill>
                <a:latin typeface="Arial"/>
              </a:rPr>
              <a:t>Decide</a:t>
            </a:r>
          </a:p>
        </p:txBody>
      </p:sp>
      <p:sp>
        <p:nvSpPr>
          <p:cNvPr id="14" name="TextBox 13"/>
          <p:cNvSpPr txBox="1"/>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Low</a:t>
            </a:r>
          </a:p>
        </p:txBody>
      </p:sp>
      <p:sp>
        <p:nvSpPr>
          <p:cNvPr id="15" name="TextBox 14"/>
          <p:cNvSpPr txBox="1"/>
          <p:nvPr/>
        </p:nvSpPr>
        <p:spPr>
          <a:xfrm>
            <a:off x="3889248" y="4823967"/>
            <a:ext cx="3785616" cy="936752"/>
          </a:xfrm>
          <a:prstGeom prst="rect">
            <a:avLst/>
          </a:prstGeom>
          <a:noFill/>
        </p:spPr>
        <p:txBody>
          <a:bodyPr wrap="none" lIns="0" rIns="0">
            <a:noAutofit/>
          </a:bodyPr>
          <a:lstStyle/>
          <a:p>
            <a:pPr algn="ctr"/>
            <a:r>
              <a:rPr sz="3400" b="0" i="0">
                <a:solidFill>
                  <a:srgbClr val="0A2240"/>
                </a:solidFill>
                <a:latin typeface="Arial"/>
              </a:rPr>
              <a:t>Maybe</a:t>
            </a:r>
          </a:p>
        </p:txBody>
      </p:sp>
      <p:sp>
        <p:nvSpPr>
          <p:cNvPr id="16" name="TextBox 15"/>
          <p:cNvSpPr txBox="1"/>
          <p:nvPr/>
        </p:nvSpPr>
        <p:spPr>
          <a:xfrm>
            <a:off x="7949184" y="4823967"/>
            <a:ext cx="3785616" cy="936752"/>
          </a:xfrm>
          <a:prstGeom prst="rect">
            <a:avLst/>
          </a:prstGeom>
          <a:noFill/>
        </p:spPr>
        <p:txBody>
          <a:bodyPr wrap="none" lIns="0" rIns="0">
            <a:noAutofit/>
          </a:bodyPr>
          <a:lstStyle/>
          <a:p>
            <a:pPr algn="ctr"/>
            <a:r>
              <a:rPr sz="3400" b="0" i="0">
                <a:solidFill>
                  <a:srgbClr val="0A2240"/>
                </a:solidFill>
                <a:latin typeface="Arial"/>
              </a:rPr>
              <a:t>Never</a:t>
            </a:r>
          </a:p>
        </p:txBody>
      </p:sp>
      <p:sp>
        <p:nvSpPr>
          <p:cNvPr id="17" name="TextBox 1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Cut line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The point below which you fix nothing today</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Drawing It</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Rank by the grid</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Fix now, decide, maybe, never</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Add up the hours</a:t>
            </a:r>
          </a:p>
        </p:txBody>
      </p:sp>
      <p:sp>
        <p:nvSpPr>
          <p:cNvPr id="8" name="TextBox 7"/>
          <p:cNvSpPr txBox="1"/>
          <p:nvPr/>
        </p:nvSpPr>
        <p:spPr>
          <a:xfrm>
            <a:off x="1461983" y="3697224"/>
            <a:ext cx="10667187" cy="551688"/>
          </a:xfrm>
          <a:prstGeom prst="rect">
            <a:avLst/>
          </a:prstGeom>
          <a:noFill/>
        </p:spPr>
        <p:txBody>
          <a:bodyPr wrap="none" lIns="0" rIns="0">
            <a:noAutofit/>
          </a:bodyPr>
          <a:lstStyle/>
          <a:p>
            <a:pPr algn="l"/>
            <a:r>
              <a:rPr sz="3400" b="0" i="0">
                <a:solidFill>
                  <a:srgbClr val="0A2240"/>
                </a:solidFill>
                <a:latin typeface="Arial"/>
              </a:rPr>
              <a:t>Against the time you actually have</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730017" cy="640080"/>
          </a:xfrm>
          <a:prstGeom prst="rect">
            <a:avLst/>
          </a:prstGeom>
          <a:noFill/>
        </p:spPr>
        <p:txBody>
          <a:bodyPr wrap="none" lIns="0" rIns="0">
            <a:noAutofit/>
          </a:bodyPr>
          <a:lstStyle/>
          <a:p>
            <a:pPr algn="l"/>
            <a:r>
              <a:rPr sz="4200" b="1" i="0">
                <a:solidFill>
                  <a:srgbClr val="0072CE"/>
                </a:solidFill>
                <a:latin typeface="Arial"/>
              </a:rPr>
              <a:t>Draw where the time runs out</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Then stop, and say the number</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Always Above the Line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Confidently wrong output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Anything that hangs forever</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crash on a normal input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Anything that leaks a secret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Usually Below the Line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It looks rough</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It is slow but finishes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It fails on an absurd input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Something already in caveats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Estimating Cost Fast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Under 10 minutes: just do it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Under an hour: needs the line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Over an hour: today, no</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Unknown: treat it as over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Two Ways to Spend the Hour</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Without a line</a:t>
            </a:r>
          </a:p>
        </p:txBody>
      </p:sp>
      <p:sp>
        <p:nvSpPr>
          <p:cNvPr id="4" name="Rectangle 3"/>
          <p:cNvSpPr/>
          <p:nvPr/>
        </p:nvSpPr>
        <p:spPr>
          <a:xfrm>
            <a:off x="457200" y="2176271"/>
            <a:ext cx="2826519"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With a line</a:t>
            </a:r>
          </a:p>
        </p:txBody>
      </p:sp>
      <p:sp>
        <p:nvSpPr>
          <p:cNvPr id="6" name="Rectangle 5"/>
          <p:cNvSpPr/>
          <p:nvPr/>
        </p:nvSpPr>
        <p:spPr>
          <a:xfrm>
            <a:off x="6233160" y="2176271"/>
            <a:ext cx="2155205"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5942350" cy="609600"/>
          </a:xfrm>
          <a:prstGeom prst="rect">
            <a:avLst/>
          </a:prstGeom>
          <a:noFill/>
        </p:spPr>
        <p:txBody>
          <a:bodyPr wrap="none" lIns="0" rIns="0">
            <a:noAutofit/>
          </a:bodyPr>
          <a:lstStyle/>
          <a:p>
            <a:pPr algn="l"/>
            <a:r>
              <a:rPr sz="3400" b="0" i="0">
                <a:solidFill>
                  <a:srgbClr val="0A2240"/>
                </a:solidFill>
                <a:latin typeface="Arial"/>
              </a:rPr>
              <a:t>Fix what is nearest</a:t>
            </a:r>
          </a:p>
        </p:txBody>
      </p:sp>
      <p:sp>
        <p:nvSpPr>
          <p:cNvPr id="8" name="TextBox 7"/>
          <p:cNvSpPr txBox="1"/>
          <p:nvPr/>
        </p:nvSpPr>
        <p:spPr>
          <a:xfrm>
            <a:off x="457200" y="3608831"/>
            <a:ext cx="7901305" cy="609600"/>
          </a:xfrm>
          <a:prstGeom prst="rect">
            <a:avLst/>
          </a:prstGeom>
          <a:noFill/>
        </p:spPr>
        <p:txBody>
          <a:bodyPr wrap="none" lIns="0" rIns="0">
            <a:noAutofit/>
          </a:bodyPr>
          <a:lstStyle/>
          <a:p>
            <a:pPr algn="l"/>
            <a:r>
              <a:rPr sz="3400" b="0" i="0">
                <a:solidFill>
                  <a:srgbClr val="0A2240"/>
                </a:solidFill>
                <a:latin typeface="Arial"/>
              </a:rPr>
              <a:t>Run out of time surprised</a:t>
            </a:r>
          </a:p>
        </p:txBody>
      </p:sp>
      <p:sp>
        <p:nvSpPr>
          <p:cNvPr id="9" name="TextBox 8"/>
          <p:cNvSpPr txBox="1"/>
          <p:nvPr/>
        </p:nvSpPr>
        <p:spPr>
          <a:xfrm>
            <a:off x="457200" y="4821935"/>
            <a:ext cx="7593310" cy="609600"/>
          </a:xfrm>
          <a:prstGeom prst="rect">
            <a:avLst/>
          </a:prstGeom>
          <a:noFill/>
        </p:spPr>
        <p:txBody>
          <a:bodyPr wrap="none" lIns="0" rIns="0">
            <a:noAutofit/>
          </a:bodyPr>
          <a:lstStyle/>
          <a:p>
            <a:pPr algn="l"/>
            <a:r>
              <a:rPr sz="3400" b="0" i="0">
                <a:solidFill>
                  <a:srgbClr val="0A2240"/>
                </a:solidFill>
                <a:latin typeface="Arial"/>
              </a:rPr>
              <a:t>The critical one survives</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Fix what matters most</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Run out of time on purpose</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Know exactly what is left</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Traps in Triage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Fixing the interesting one first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Softening severity to feel better</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Arguing whether it counts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Re-litigating their findings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Rules for the Line</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Drawn against real time</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Sum the estimates; do not aspire</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Agreed out loud</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Everyone hears where it landed</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Held once drawn</a:t>
            </a:r>
          </a:p>
        </p:txBody>
      </p:sp>
      <p:sp>
        <p:nvSpPr>
          <p:cNvPr id="8" name="TextBox 7"/>
          <p:cNvSpPr txBox="1"/>
          <p:nvPr/>
        </p:nvSpPr>
        <p:spPr>
          <a:xfrm>
            <a:off x="457200" y="5132831"/>
            <a:ext cx="11318596" cy="627889"/>
          </a:xfrm>
          <a:prstGeom prst="rect">
            <a:avLst/>
          </a:prstGeom>
          <a:noFill/>
        </p:spPr>
        <p:txBody>
          <a:bodyPr wrap="none" lIns="0" rIns="0">
            <a:noAutofit/>
          </a:bodyPr>
          <a:lstStyle/>
          <a:p>
            <a:pPr algn="l"/>
            <a:r>
              <a:rPr sz="3400" b="0" i="0">
                <a:solidFill>
                  <a:srgbClr val="0A2240"/>
                </a:solidFill>
                <a:latin typeface="Arial"/>
              </a:rPr>
              <a:t>Moving it later is how the hour is lost</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The line, written into the repo</a:t>
            </a:r>
          </a:p>
        </p:txBody>
      </p:sp>
      <p:sp>
        <p:nvSpPr>
          <p:cNvPr id="6" name="TextBox 5"/>
          <p:cNvSpPr txBox="1"/>
          <p:nvPr/>
        </p:nvSpPr>
        <p:spPr>
          <a:xfrm>
            <a:off x="457200" y="1837944"/>
            <a:ext cx="4470182" cy="518159"/>
          </a:xfrm>
          <a:prstGeom prst="rect">
            <a:avLst/>
          </a:prstGeom>
          <a:noFill/>
        </p:spPr>
        <p:txBody>
          <a:bodyPr wrap="none" lIns="0" rIns="0">
            <a:noAutofit/>
          </a:bodyPr>
          <a:lstStyle/>
          <a:p>
            <a:pPr algn="l"/>
            <a:r>
              <a:rPr sz="3400" b="0" i="0">
                <a:solidFill>
                  <a:srgbClr val="FFFFFF"/>
                </a:solidFill>
                <a:latin typeface="Arial"/>
              </a:rPr>
              <a:t># TRIAGE.md</a:t>
            </a:r>
          </a:p>
        </p:txBody>
      </p:sp>
      <p:sp>
        <p:nvSpPr>
          <p:cNvPr id="7" name="TextBox 6"/>
          <p:cNvSpPr txBox="1"/>
          <p:nvPr/>
        </p:nvSpPr>
        <p:spPr>
          <a:xfrm>
            <a:off x="457200" y="2356103"/>
            <a:ext cx="6479739" cy="518159"/>
          </a:xfrm>
          <a:prstGeom prst="rect">
            <a:avLst/>
          </a:prstGeom>
          <a:noFill/>
        </p:spPr>
        <p:txBody>
          <a:bodyPr wrap="none" lIns="0" rIns="0">
            <a:noAutofit/>
          </a:bodyPr>
          <a:lstStyle/>
          <a:p>
            <a:pPr algn="l"/>
            <a:r>
              <a:rPr sz="3400" b="0" i="0">
                <a:solidFill>
                  <a:srgbClr val="FFFFFF"/>
                </a:solidFill>
                <a:latin typeface="Arial"/>
              </a:rPr>
              <a:t>ABOVE (fixing now):</a:t>
            </a:r>
          </a:p>
        </p:txBody>
      </p:sp>
      <p:sp>
        <p:nvSpPr>
          <p:cNvPr id="8" name="TextBox 7"/>
          <p:cNvSpPr txBox="1"/>
          <p:nvPr/>
        </p:nvSpPr>
        <p:spPr>
          <a:xfrm>
            <a:off x="457200" y="2874262"/>
            <a:ext cx="11510883" cy="518159"/>
          </a:xfrm>
          <a:prstGeom prst="rect">
            <a:avLst/>
          </a:prstGeom>
          <a:noFill/>
        </p:spPr>
        <p:txBody>
          <a:bodyPr wrap="none" lIns="0" rIns="0">
            <a:noAutofit/>
          </a:bodyPr>
          <a:lstStyle/>
          <a:p>
            <a:pPr algn="l"/>
            <a:r>
              <a:rPr sz="3400" b="0" i="0">
                <a:solidFill>
                  <a:srgbClr val="FFFFFF"/>
                </a:solidFill>
                <a:latin typeface="Arial"/>
              </a:rPr>
              <a:t>  F-03 wrong year, F-07 empty hangs</a:t>
            </a:r>
          </a:p>
        </p:txBody>
      </p:sp>
      <p:sp>
        <p:nvSpPr>
          <p:cNvPr id="9" name="TextBox 8"/>
          <p:cNvSpPr txBox="1"/>
          <p:nvPr/>
        </p:nvSpPr>
        <p:spPr>
          <a:xfrm>
            <a:off x="457200" y="3392421"/>
            <a:ext cx="3100228" cy="518159"/>
          </a:xfrm>
          <a:prstGeom prst="rect">
            <a:avLst/>
          </a:prstGeom>
          <a:noFill/>
        </p:spPr>
        <p:txBody>
          <a:bodyPr wrap="none" lIns="0" rIns="0">
            <a:noAutofit/>
          </a:bodyPr>
          <a:lstStyle/>
          <a:p>
            <a:pPr algn="l"/>
            <a:r>
              <a:rPr sz="3400" b="0" i="0">
                <a:solidFill>
                  <a:srgbClr val="FFFFFF"/>
                </a:solidFill>
                <a:latin typeface="Arial"/>
              </a:rPr>
              <a:t>BELOW (</a:t>
            </a:r>
          </a:p>
        </p:txBody>
      </p:sp>
      <p:sp>
        <p:nvSpPr>
          <p:cNvPr id="10" name="TextBox 9"/>
          <p:cNvSpPr txBox="1"/>
          <p:nvPr/>
        </p:nvSpPr>
        <p:spPr>
          <a:xfrm>
            <a:off x="2280543" y="3392421"/>
            <a:ext cx="1143297" cy="518159"/>
          </a:xfrm>
          <a:prstGeom prst="rect">
            <a:avLst/>
          </a:prstGeom>
          <a:noFill/>
        </p:spPr>
        <p:txBody>
          <a:bodyPr wrap="none" lIns="0" rIns="0">
            <a:noAutofit/>
          </a:bodyPr>
          <a:lstStyle/>
          <a:p>
            <a:pPr algn="l"/>
            <a:r>
              <a:rPr sz="3400" b="0" i="0">
                <a:solidFill>
                  <a:srgbClr val="569CD6"/>
                </a:solidFill>
                <a:latin typeface="Arial"/>
              </a:rPr>
              <a:t>not</a:t>
            </a:r>
          </a:p>
        </p:txBody>
      </p:sp>
      <p:sp>
        <p:nvSpPr>
          <p:cNvPr id="11" name="TextBox 10"/>
          <p:cNvSpPr txBox="1"/>
          <p:nvPr/>
        </p:nvSpPr>
        <p:spPr>
          <a:xfrm>
            <a:off x="2880804" y="3392421"/>
            <a:ext cx="6276657" cy="518159"/>
          </a:xfrm>
          <a:prstGeom prst="rect">
            <a:avLst/>
          </a:prstGeom>
          <a:noFill/>
        </p:spPr>
        <p:txBody>
          <a:bodyPr wrap="none" lIns="0" rIns="0">
            <a:noAutofit/>
          </a:bodyPr>
          <a:lstStyle/>
          <a:p>
            <a:pPr algn="l"/>
            <a:r>
              <a:rPr sz="3400" b="0" i="0">
                <a:solidFill>
                  <a:srgbClr val="FFFFFF"/>
                </a:solidFill>
                <a:latin typeface="Arial"/>
              </a:rPr>
              <a:t> today, on purpose):</a:t>
            </a:r>
          </a:p>
        </p:txBody>
      </p:sp>
      <p:sp>
        <p:nvSpPr>
          <p:cNvPr id="12" name="TextBox 11"/>
          <p:cNvSpPr txBox="1"/>
          <p:nvPr/>
        </p:nvSpPr>
        <p:spPr>
          <a:xfrm>
            <a:off x="457200" y="3910580"/>
            <a:ext cx="8975070" cy="518159"/>
          </a:xfrm>
          <a:prstGeom prst="rect">
            <a:avLst/>
          </a:prstGeom>
          <a:noFill/>
        </p:spPr>
        <p:txBody>
          <a:bodyPr wrap="none" lIns="0" rIns="0">
            <a:noAutofit/>
          </a:bodyPr>
          <a:lstStyle/>
          <a:p>
            <a:pPr algn="l"/>
            <a:r>
              <a:rPr sz="3400" b="0" i="0">
                <a:solidFill>
                  <a:srgbClr val="FFFFFF"/>
                </a:solidFill>
                <a:latin typeface="Arial"/>
              </a:rPr>
              <a:t>  F-01 slow, F-05 ugly errors,</a:t>
            </a:r>
          </a:p>
        </p:txBody>
      </p:sp>
      <p:sp>
        <p:nvSpPr>
          <p:cNvPr id="13" name="TextBox 12"/>
          <p:cNvSpPr txBox="1"/>
          <p:nvPr/>
        </p:nvSpPr>
        <p:spPr>
          <a:xfrm>
            <a:off x="457200" y="4428739"/>
            <a:ext cx="9170054" cy="518159"/>
          </a:xfrm>
          <a:prstGeom prst="rect">
            <a:avLst/>
          </a:prstGeom>
          <a:noFill/>
        </p:spPr>
        <p:txBody>
          <a:bodyPr wrap="none" lIns="0" rIns="0">
            <a:noAutofit/>
          </a:bodyPr>
          <a:lstStyle/>
          <a:p>
            <a:pPr algn="l"/>
            <a:r>
              <a:rPr sz="3400" b="0" i="0">
                <a:solidFill>
                  <a:srgbClr val="FFFFFF"/>
                </a:solidFill>
                <a:latin typeface="Arial"/>
              </a:rPr>
              <a:t>  F-09 fails on 400-page input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Fix and Prove It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Fixed</a:t>
            </a:r>
          </a:p>
        </p:txBody>
      </p:sp>
      <p:sp>
        <p:nvSpPr>
          <p:cNvPr id="4" name="TextBox 3"/>
          <p:cNvSpPr txBox="1"/>
          <p:nvPr/>
        </p:nvSpPr>
        <p:spPr>
          <a:xfrm>
            <a:off x="996696" y="3764280"/>
            <a:ext cx="10738104" cy="609600"/>
          </a:xfrm>
          <a:prstGeom prst="rect">
            <a:avLst/>
          </a:prstGeom>
          <a:noFill/>
        </p:spPr>
        <p:txBody>
          <a:bodyPr wrap="none" lIns="0" rIns="0">
            <a:noAutofit/>
          </a:bodyPr>
          <a:lstStyle/>
          <a:p>
            <a:pPr algn="l"/>
            <a:r>
              <a:rPr sz="3400" b="0" i="0">
                <a:solidFill>
                  <a:srgbClr val="0A2240"/>
                </a:solidFill>
                <a:latin typeface="Arial"/>
              </a:rPr>
              <a:t>The test that caught it now passes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Fix Loop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Reproduce it first</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See the failure before you change anything</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Change one thing</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The smallest edit that could work</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Re-run that exact input</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The one from the log, not a similar one</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One at a Time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One finding, one change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Re-run before starting the next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Commit each fix separately</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Never batch three and hope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Prove it, one line</a:t>
            </a:r>
          </a:p>
        </p:txBody>
      </p:sp>
      <p:sp>
        <p:nvSpPr>
          <p:cNvPr id="6" name="TextBox 5"/>
          <p:cNvSpPr txBox="1"/>
          <p:nvPr/>
        </p:nvSpPr>
        <p:spPr>
          <a:xfrm>
            <a:off x="457200" y="1837944"/>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7" name="TextBox 6"/>
          <p:cNvSpPr txBox="1"/>
          <p:nvPr/>
        </p:nvSpPr>
        <p:spPr>
          <a:xfrm>
            <a:off x="697347" y="1837944"/>
            <a:ext cx="11494653" cy="518159"/>
          </a:xfrm>
          <a:prstGeom prst="rect">
            <a:avLst/>
          </a:prstGeom>
          <a:noFill/>
        </p:spPr>
        <p:txBody>
          <a:bodyPr wrap="none" lIns="0" rIns="0">
            <a:noAutofit/>
          </a:bodyPr>
          <a:lstStyle/>
          <a:p>
            <a:pPr algn="l"/>
            <a:r>
              <a:rPr sz="3400" b="0" i="0">
                <a:solidFill>
                  <a:srgbClr val="FFFFFF"/>
                </a:solidFill>
                <a:latin typeface="Arial"/>
              </a:rPr>
              <a:t> python run.py fixtures/report-2019.pdf</a:t>
            </a:r>
          </a:p>
        </p:txBody>
      </p:sp>
      <p:sp>
        <p:nvSpPr>
          <p:cNvPr id="8" name="TextBox 7"/>
          <p:cNvSpPr txBox="1"/>
          <p:nvPr/>
        </p:nvSpPr>
        <p:spPr>
          <a:xfrm>
            <a:off x="457200" y="2356103"/>
            <a:ext cx="8554739" cy="518159"/>
          </a:xfrm>
          <a:prstGeom prst="rect">
            <a:avLst/>
          </a:prstGeom>
          <a:noFill/>
        </p:spPr>
        <p:txBody>
          <a:bodyPr wrap="none" lIns="0" rIns="0">
            <a:noAutofit/>
          </a:bodyPr>
          <a:lstStyle/>
          <a:p>
            <a:pPr algn="l"/>
            <a:r>
              <a:rPr sz="3400" b="0" i="0">
                <a:solidFill>
                  <a:srgbClr val="FFFFFF"/>
                </a:solidFill>
                <a:latin typeface="Arial"/>
              </a:rPr>
              <a:t>Refused: this covers 2019, </a:t>
            </a:r>
          </a:p>
        </p:txBody>
      </p:sp>
      <p:sp>
        <p:nvSpPr>
          <p:cNvPr id="9" name="TextBox 8"/>
          <p:cNvSpPr txBox="1"/>
          <p:nvPr/>
        </p:nvSpPr>
        <p:spPr>
          <a:xfrm>
            <a:off x="5689612" y="2356103"/>
            <a:ext cx="1143297" cy="518159"/>
          </a:xfrm>
          <a:prstGeom prst="rect">
            <a:avLst/>
          </a:prstGeom>
          <a:noFill/>
        </p:spPr>
        <p:txBody>
          <a:bodyPr wrap="none" lIns="0" rIns="0">
            <a:noAutofit/>
          </a:bodyPr>
          <a:lstStyle/>
          <a:p>
            <a:pPr algn="l"/>
            <a:r>
              <a:rPr sz="3400" b="0" i="0">
                <a:solidFill>
                  <a:srgbClr val="569CD6"/>
                </a:solidFill>
                <a:latin typeface="Arial"/>
              </a:rPr>
              <a:t>not</a:t>
            </a:r>
          </a:p>
        </p:txBody>
      </p:sp>
      <p:sp>
        <p:nvSpPr>
          <p:cNvPr id="10" name="TextBox 9"/>
          <p:cNvSpPr txBox="1"/>
          <p:nvPr/>
        </p:nvSpPr>
        <p:spPr>
          <a:xfrm>
            <a:off x="6289873" y="2356103"/>
            <a:ext cx="2103715" cy="518159"/>
          </a:xfrm>
          <a:prstGeom prst="rect">
            <a:avLst/>
          </a:prstGeom>
          <a:noFill/>
        </p:spPr>
        <p:txBody>
          <a:bodyPr wrap="none" lIns="0" rIns="0">
            <a:noAutofit/>
          </a:bodyPr>
          <a:lstStyle/>
          <a:p>
            <a:pPr algn="l"/>
            <a:r>
              <a:rPr sz="3400" b="0" i="0">
                <a:solidFill>
                  <a:srgbClr val="FFFFFF"/>
                </a:solidFill>
                <a:latin typeface="Arial"/>
              </a:rPr>
              <a:t> 2024.</a:t>
            </a:r>
          </a:p>
        </p:txBody>
      </p:sp>
      <p:sp>
        <p:nvSpPr>
          <p:cNvPr id="11" name="TextBox 10"/>
          <p:cNvSpPr txBox="1"/>
          <p:nvPr/>
        </p:nvSpPr>
        <p:spPr>
          <a:xfrm>
            <a:off x="457200" y="3392421"/>
            <a:ext cx="11734800" cy="518159"/>
          </a:xfrm>
          <a:prstGeom prst="rect">
            <a:avLst/>
          </a:prstGeom>
          <a:noFill/>
        </p:spPr>
        <p:txBody>
          <a:bodyPr wrap="none" lIns="0" rIns="0">
            <a:noAutofit/>
          </a:bodyPr>
          <a:lstStyle/>
          <a:p>
            <a:pPr algn="l"/>
            <a:r>
              <a:rPr sz="3400" b="0" i="0">
                <a:solidFill>
                  <a:srgbClr val="FFFFFF"/>
                </a:solidFill>
                <a:latin typeface="Arial"/>
              </a:rPr>
              <a:t># F-03 was: a confident 2024 summary.</a:t>
            </a:r>
          </a:p>
        </p:txBody>
      </p:sp>
      <p:sp>
        <p:nvSpPr>
          <p:cNvPr id="12" name="TextBox 11"/>
          <p:cNvSpPr txBox="1"/>
          <p:nvPr/>
        </p:nvSpPr>
        <p:spPr>
          <a:xfrm>
            <a:off x="457200" y="3910580"/>
            <a:ext cx="11318259" cy="518159"/>
          </a:xfrm>
          <a:prstGeom prst="rect">
            <a:avLst/>
          </a:prstGeom>
          <a:noFill/>
        </p:spPr>
        <p:txBody>
          <a:bodyPr wrap="none" lIns="0" rIns="0">
            <a:noAutofit/>
          </a:bodyPr>
          <a:lstStyle/>
          <a:p>
            <a:pPr algn="l"/>
            <a:r>
              <a:rPr sz="3400" b="0" i="0">
                <a:solidFill>
                  <a:srgbClr val="FFFFFF"/>
                </a:solidFill>
                <a:latin typeface="Arial"/>
              </a:rPr>
              <a:t># Now it refuses. Re-ran, watched it.</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Kinds of Done</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Believe</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It should work now</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Re-ran</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You watched it work</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Not Now</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Do not refactor while fixing</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Do not add a feature nobody asked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Do not restyle anything</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Do not start a second input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Pushing It</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Commit per finding</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Message names the finding it closes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Push after each one</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Not once at the end, when it is rushed</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Update the caveats</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Fixed comes off, below-the-line goes on</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472624" cy="640080"/>
          </a:xfrm>
          <a:prstGeom prst="rect">
            <a:avLst/>
          </a:prstGeom>
          <a:noFill/>
        </p:spPr>
        <p:txBody>
          <a:bodyPr wrap="none" lIns="0" rIns="0">
            <a:noAutofit/>
          </a:bodyPr>
          <a:lstStyle/>
          <a:p>
            <a:pPr algn="l"/>
            <a:r>
              <a:rPr sz="4200" b="0" i="0">
                <a:solidFill>
                  <a:srgbClr val="FFFFFF"/>
                </a:solidFill>
                <a:latin typeface="Arial"/>
              </a:rPr>
              <a:t>A commit that closes a finding</a:t>
            </a:r>
          </a:p>
        </p:txBody>
      </p:sp>
      <p:sp>
        <p:nvSpPr>
          <p:cNvPr id="6" name="TextBox 5"/>
          <p:cNvSpPr txBox="1"/>
          <p:nvPr/>
        </p:nvSpPr>
        <p:spPr>
          <a:xfrm>
            <a:off x="457200" y="1837944"/>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7" name="TextBox 6"/>
          <p:cNvSpPr txBox="1"/>
          <p:nvPr/>
        </p:nvSpPr>
        <p:spPr>
          <a:xfrm>
            <a:off x="697347" y="1837944"/>
            <a:ext cx="7479288" cy="518159"/>
          </a:xfrm>
          <a:prstGeom prst="rect">
            <a:avLst/>
          </a:prstGeom>
          <a:noFill/>
        </p:spPr>
        <p:txBody>
          <a:bodyPr wrap="none" lIns="0" rIns="0">
            <a:noAutofit/>
          </a:bodyPr>
          <a:lstStyle/>
          <a:p>
            <a:pPr algn="l"/>
            <a:r>
              <a:rPr sz="3400" b="0" i="0">
                <a:solidFill>
                  <a:srgbClr val="FFFFFF"/>
                </a:solidFill>
                <a:latin typeface="Arial"/>
              </a:rPr>
              <a:t> git add steps/extract.py</a:t>
            </a:r>
          </a:p>
        </p:txBody>
      </p:sp>
      <p:sp>
        <p:nvSpPr>
          <p:cNvPr id="8" name="TextBox 7"/>
          <p:cNvSpPr txBox="1"/>
          <p:nvPr/>
        </p:nvSpPr>
        <p:spPr>
          <a:xfrm>
            <a:off x="457200" y="2356103"/>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9" name="TextBox 8"/>
          <p:cNvSpPr txBox="1"/>
          <p:nvPr/>
        </p:nvSpPr>
        <p:spPr>
          <a:xfrm>
            <a:off x="697347" y="2356103"/>
            <a:ext cx="11494653" cy="518159"/>
          </a:xfrm>
          <a:prstGeom prst="rect">
            <a:avLst/>
          </a:prstGeom>
          <a:noFill/>
        </p:spPr>
        <p:txBody>
          <a:bodyPr wrap="none" lIns="0" rIns="0">
            <a:noAutofit/>
          </a:bodyPr>
          <a:lstStyle/>
          <a:p>
            <a:pPr algn="l"/>
            <a:r>
              <a:rPr sz="3400" b="0" i="0">
                <a:solidFill>
                  <a:srgbClr val="FFFFFF"/>
                </a:solidFill>
                <a:latin typeface="Arial"/>
              </a:rPr>
              <a:t> git commit -m "F-03: refuse mismatched year"</a:t>
            </a:r>
          </a:p>
        </p:txBody>
      </p:sp>
      <p:sp>
        <p:nvSpPr>
          <p:cNvPr id="10" name="TextBox 9"/>
          <p:cNvSpPr txBox="1"/>
          <p:nvPr/>
        </p:nvSpPr>
        <p:spPr>
          <a:xfrm>
            <a:off x="457200" y="2874262"/>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1" name="TextBox 10"/>
          <p:cNvSpPr txBox="1"/>
          <p:nvPr/>
        </p:nvSpPr>
        <p:spPr>
          <a:xfrm>
            <a:off x="697347" y="2874262"/>
            <a:ext cx="2794595" cy="518159"/>
          </a:xfrm>
          <a:prstGeom prst="rect">
            <a:avLst/>
          </a:prstGeom>
          <a:noFill/>
        </p:spPr>
        <p:txBody>
          <a:bodyPr wrap="none" lIns="0" rIns="0">
            <a:noAutofit/>
          </a:bodyPr>
          <a:lstStyle/>
          <a:p>
            <a:pPr algn="l"/>
            <a:r>
              <a:rPr sz="3400" b="0" i="0">
                <a:solidFill>
                  <a:srgbClr val="FFFFFF"/>
                </a:solidFill>
                <a:latin typeface="Arial"/>
              </a:rPr>
              <a:t> git push</a:t>
            </a:r>
          </a:p>
        </p:txBody>
      </p:sp>
      <p:sp>
        <p:nvSpPr>
          <p:cNvPr id="12" name="TextBox 11"/>
          <p:cNvSpPr txBox="1"/>
          <p:nvPr/>
        </p:nvSpPr>
        <p:spPr>
          <a:xfrm>
            <a:off x="457200" y="3392421"/>
            <a:ext cx="11734800" cy="518159"/>
          </a:xfrm>
          <a:prstGeom prst="rect">
            <a:avLst/>
          </a:prstGeom>
          <a:noFill/>
        </p:spPr>
        <p:txBody>
          <a:bodyPr wrap="none" lIns="0" rIns="0">
            <a:noAutofit/>
          </a:bodyPr>
          <a:lstStyle/>
          <a:p>
            <a:pPr algn="l"/>
            <a:r>
              <a:rPr sz="3400" b="0" i="0">
                <a:solidFill>
                  <a:srgbClr val="FFFFFF"/>
                </a:solidFill>
                <a:latin typeface="Arial"/>
              </a:rPr>
              <a:t># then: strike F-03 from CAVEATS.md</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the Record Shows</a:t>
            </a:r>
          </a:p>
        </p:txBody>
      </p:sp>
      <p:sp>
        <p:nvSpPr>
          <p:cNvPr id="3" name="TextBox 2"/>
          <p:cNvSpPr txBox="1"/>
          <p:nvPr/>
        </p:nvSpPr>
        <p:spPr>
          <a:xfrm>
            <a:off x="457200" y="1499616"/>
            <a:ext cx="3845882" cy="518159"/>
          </a:xfrm>
          <a:prstGeom prst="rect">
            <a:avLst/>
          </a:prstGeom>
          <a:noFill/>
        </p:spPr>
        <p:txBody>
          <a:bodyPr wrap="none" lIns="0" rIns="0">
            <a:noAutofit/>
          </a:bodyPr>
          <a:lstStyle/>
          <a:p>
            <a:pPr algn="l"/>
            <a:r>
              <a:rPr sz="3400" b="1" i="0">
                <a:solidFill>
                  <a:srgbClr val="0072CE"/>
                </a:solidFill>
                <a:latin typeface="Arial"/>
              </a:rPr>
              <a:t>Finding</a:t>
            </a:r>
          </a:p>
        </p:txBody>
      </p:sp>
      <p:sp>
        <p:nvSpPr>
          <p:cNvPr id="4" name="TextBox 3"/>
          <p:cNvSpPr txBox="1"/>
          <p:nvPr/>
        </p:nvSpPr>
        <p:spPr>
          <a:xfrm>
            <a:off x="4851722" y="1499616"/>
            <a:ext cx="3054179" cy="518159"/>
          </a:xfrm>
          <a:prstGeom prst="rect">
            <a:avLst/>
          </a:prstGeom>
          <a:noFill/>
        </p:spPr>
        <p:txBody>
          <a:bodyPr wrap="none" lIns="0" rIns="0">
            <a:noAutofit/>
          </a:bodyPr>
          <a:lstStyle/>
          <a:p>
            <a:pPr algn="l"/>
            <a:r>
              <a:rPr sz="3400" b="1" i="0">
                <a:solidFill>
                  <a:srgbClr val="0072CE"/>
                </a:solidFill>
                <a:latin typeface="Arial"/>
              </a:rPr>
              <a:t>State</a:t>
            </a:r>
          </a:p>
        </p:txBody>
      </p:sp>
      <p:sp>
        <p:nvSpPr>
          <p:cNvPr id="5" name="Rectangle 4"/>
          <p:cNvSpPr/>
          <p:nvPr/>
        </p:nvSpPr>
        <p:spPr>
          <a:xfrm>
            <a:off x="457200" y="2072639"/>
            <a:ext cx="7448701"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5213012" cy="633984"/>
          </a:xfrm>
          <a:prstGeom prst="rect">
            <a:avLst/>
          </a:prstGeom>
          <a:noFill/>
        </p:spPr>
        <p:txBody>
          <a:bodyPr wrap="none" lIns="0" rIns="0">
            <a:noAutofit/>
          </a:bodyPr>
          <a:lstStyle/>
          <a:p>
            <a:pPr algn="l"/>
            <a:r>
              <a:rPr sz="3400" b="0" i="0">
                <a:solidFill>
                  <a:srgbClr val="0A2240"/>
                </a:solidFill>
                <a:latin typeface="Arial"/>
              </a:rPr>
              <a:t>F-03 wrong year</a:t>
            </a:r>
          </a:p>
        </p:txBody>
      </p:sp>
      <p:sp>
        <p:nvSpPr>
          <p:cNvPr id="7" name="TextBox 6"/>
          <p:cNvSpPr txBox="1"/>
          <p:nvPr/>
        </p:nvSpPr>
        <p:spPr>
          <a:xfrm>
            <a:off x="4851722" y="2401823"/>
            <a:ext cx="4099104" cy="633984"/>
          </a:xfrm>
          <a:prstGeom prst="rect">
            <a:avLst/>
          </a:prstGeom>
          <a:noFill/>
        </p:spPr>
        <p:txBody>
          <a:bodyPr wrap="none" lIns="0" rIns="0">
            <a:noAutofit/>
          </a:bodyPr>
          <a:lstStyle/>
          <a:p>
            <a:pPr algn="l"/>
            <a:r>
              <a:rPr sz="3400" b="0" i="0">
                <a:solidFill>
                  <a:srgbClr val="0A2240"/>
                </a:solidFill>
                <a:latin typeface="Arial"/>
              </a:rPr>
              <a:t>Fixed, re-ran</a:t>
            </a:r>
          </a:p>
        </p:txBody>
      </p:sp>
      <p:sp>
        <p:nvSpPr>
          <p:cNvPr id="8" name="TextBox 7"/>
          <p:cNvSpPr txBox="1"/>
          <p:nvPr/>
        </p:nvSpPr>
        <p:spPr>
          <a:xfrm>
            <a:off x="457200" y="3310127"/>
            <a:ext cx="5751075" cy="633984"/>
          </a:xfrm>
          <a:prstGeom prst="rect">
            <a:avLst/>
          </a:prstGeom>
          <a:noFill/>
        </p:spPr>
        <p:txBody>
          <a:bodyPr wrap="none" lIns="0" rIns="0">
            <a:noAutofit/>
          </a:bodyPr>
          <a:lstStyle/>
          <a:p>
            <a:pPr algn="l"/>
            <a:r>
              <a:rPr sz="3400" b="0" i="0">
                <a:solidFill>
                  <a:srgbClr val="0A2240"/>
                </a:solidFill>
                <a:latin typeface="Arial"/>
              </a:rPr>
              <a:t>F-07 empty hangs</a:t>
            </a:r>
          </a:p>
        </p:txBody>
      </p:sp>
      <p:sp>
        <p:nvSpPr>
          <p:cNvPr id="9" name="TextBox 8"/>
          <p:cNvSpPr txBox="1"/>
          <p:nvPr/>
        </p:nvSpPr>
        <p:spPr>
          <a:xfrm>
            <a:off x="4851722" y="3310127"/>
            <a:ext cx="4099104" cy="633984"/>
          </a:xfrm>
          <a:prstGeom prst="rect">
            <a:avLst/>
          </a:prstGeom>
          <a:noFill/>
        </p:spPr>
        <p:txBody>
          <a:bodyPr wrap="none" lIns="0" rIns="0">
            <a:noAutofit/>
          </a:bodyPr>
          <a:lstStyle/>
          <a:p>
            <a:pPr algn="l"/>
            <a:r>
              <a:rPr sz="3400" b="0" i="0">
                <a:solidFill>
                  <a:srgbClr val="0A2240"/>
                </a:solidFill>
                <a:latin typeface="Arial"/>
              </a:rPr>
              <a:t>Fixed, re-ran</a:t>
            </a:r>
          </a:p>
        </p:txBody>
      </p:sp>
      <p:sp>
        <p:nvSpPr>
          <p:cNvPr id="10" name="TextBox 9"/>
          <p:cNvSpPr txBox="1"/>
          <p:nvPr/>
        </p:nvSpPr>
        <p:spPr>
          <a:xfrm>
            <a:off x="457200" y="4218431"/>
            <a:ext cx="3845882" cy="633984"/>
          </a:xfrm>
          <a:prstGeom prst="rect">
            <a:avLst/>
          </a:prstGeom>
          <a:noFill/>
        </p:spPr>
        <p:txBody>
          <a:bodyPr wrap="none" lIns="0" rIns="0">
            <a:noAutofit/>
          </a:bodyPr>
          <a:lstStyle/>
          <a:p>
            <a:pPr algn="l"/>
            <a:r>
              <a:rPr sz="3400" b="0" i="0">
                <a:solidFill>
                  <a:srgbClr val="0A2240"/>
                </a:solidFill>
                <a:latin typeface="Arial"/>
              </a:rPr>
              <a:t>F-01 slow</a:t>
            </a:r>
          </a:p>
        </p:txBody>
      </p:sp>
      <p:sp>
        <p:nvSpPr>
          <p:cNvPr id="11" name="TextBox 10"/>
          <p:cNvSpPr txBox="1"/>
          <p:nvPr/>
        </p:nvSpPr>
        <p:spPr>
          <a:xfrm>
            <a:off x="4851722" y="4218431"/>
            <a:ext cx="4484350" cy="633984"/>
          </a:xfrm>
          <a:prstGeom prst="rect">
            <a:avLst/>
          </a:prstGeom>
          <a:noFill/>
        </p:spPr>
        <p:txBody>
          <a:bodyPr wrap="none" lIns="0" rIns="0">
            <a:noAutofit/>
          </a:bodyPr>
          <a:lstStyle/>
          <a:p>
            <a:pPr algn="l"/>
            <a:r>
              <a:rPr sz="3400" b="0" i="0">
                <a:solidFill>
                  <a:srgbClr val="0A2240"/>
                </a:solidFill>
                <a:latin typeface="Arial"/>
              </a:rPr>
              <a:t>Below the line</a:t>
            </a:r>
          </a:p>
        </p:txBody>
      </p:sp>
      <p:sp>
        <p:nvSpPr>
          <p:cNvPr id="12" name="TextBox 11"/>
          <p:cNvSpPr txBox="1"/>
          <p:nvPr/>
        </p:nvSpPr>
        <p:spPr>
          <a:xfrm>
            <a:off x="457200" y="5126735"/>
            <a:ext cx="5022412" cy="633984"/>
          </a:xfrm>
          <a:prstGeom prst="rect">
            <a:avLst/>
          </a:prstGeom>
          <a:noFill/>
        </p:spPr>
        <p:txBody>
          <a:bodyPr wrap="none" lIns="0" rIns="0">
            <a:noAutofit/>
          </a:bodyPr>
          <a:lstStyle/>
          <a:p>
            <a:pPr algn="l"/>
            <a:r>
              <a:rPr sz="3400" b="0" i="0">
                <a:solidFill>
                  <a:srgbClr val="0A2240"/>
                </a:solidFill>
                <a:latin typeface="Arial"/>
              </a:rPr>
              <a:t>F-09 huge input</a:t>
            </a:r>
          </a:p>
        </p:txBody>
      </p:sp>
      <p:sp>
        <p:nvSpPr>
          <p:cNvPr id="13" name="TextBox 12"/>
          <p:cNvSpPr txBox="1"/>
          <p:nvPr/>
        </p:nvSpPr>
        <p:spPr>
          <a:xfrm>
            <a:off x="4851722" y="5126735"/>
            <a:ext cx="4484350" cy="633984"/>
          </a:xfrm>
          <a:prstGeom prst="rect">
            <a:avLst/>
          </a:prstGeom>
          <a:noFill/>
        </p:spPr>
        <p:txBody>
          <a:bodyPr wrap="none" lIns="0" rIns="0">
            <a:noAutofit/>
          </a:bodyPr>
          <a:lstStyle/>
          <a:p>
            <a:pPr algn="l"/>
            <a:r>
              <a:rPr sz="3400" b="0" i="0">
                <a:solidFill>
                  <a:srgbClr val="0A2240"/>
                </a:solidFill>
                <a:latin typeface="Arial"/>
              </a:rPr>
              <a:t>Below the line</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Ones You Did Not Fix</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They go into the caveats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They go into the demo script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They become the next sprint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They are not failures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"An unproven fix is still a bug."</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Objective two, restated</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After You Stop Looking</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Who tests it next week?</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Routine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prompt that runs on a schedule, without you</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580971" cy="768096"/>
          </a:xfrm>
          <a:prstGeom prst="rect">
            <a:avLst/>
          </a:prstGeom>
          <a:noFill/>
        </p:spPr>
        <p:txBody>
          <a:bodyPr wrap="none" lIns="0" rIns="0">
            <a:noAutofit/>
          </a:bodyPr>
          <a:lstStyle/>
          <a:p>
            <a:pPr algn="l"/>
            <a:r>
              <a:rPr sz="4200" b="1" i="0">
                <a:solidFill>
                  <a:srgbClr val="0072CE"/>
                </a:solidFill>
                <a:latin typeface="Arial"/>
              </a:rPr>
              <a:t>Why Schedule Checks at All</a:t>
            </a:r>
          </a:p>
        </p:txBody>
      </p:sp>
      <p:sp>
        <p:nvSpPr>
          <p:cNvPr id="3" name="TextBox 2"/>
          <p:cNvSpPr txBox="1"/>
          <p:nvPr/>
        </p:nvSpPr>
        <p:spPr>
          <a:xfrm>
            <a:off x="457200" y="1908050"/>
            <a:ext cx="11734800" cy="518159"/>
          </a:xfrm>
          <a:prstGeom prst="rect">
            <a:avLst/>
          </a:prstGeom>
          <a:noFill/>
        </p:spPr>
        <p:txBody>
          <a:bodyPr wrap="none" lIns="0" rIns="0">
            <a:noAutofit/>
          </a:bodyPr>
          <a:lstStyle/>
          <a:p>
            <a:pPr algn="l"/>
            <a:r>
              <a:rPr sz="3400" b="0" i="0">
                <a:solidFill>
                  <a:srgbClr val="0A2240"/>
                </a:solidFill>
                <a:latin typeface="Arial"/>
              </a:rPr>
              <a:t>Things break with nobody touching them</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key expires, a service moves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 will not think to look</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 dead demo is found by a judge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Setting One Up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730017" cy="640080"/>
          </a:xfrm>
          <a:prstGeom prst="rect">
            <a:avLst/>
          </a:prstGeom>
          <a:noFill/>
        </p:spPr>
        <p:txBody>
          <a:bodyPr wrap="none" lIns="0" rIns="0">
            <a:noAutofit/>
          </a:bodyPr>
          <a:lstStyle/>
          <a:p>
            <a:pPr algn="l"/>
            <a:r>
              <a:rPr sz="4200" b="1" i="0">
                <a:solidFill>
                  <a:srgbClr val="0072CE"/>
                </a:solidFill>
                <a:latin typeface="Arial"/>
              </a:rPr>
              <a:t>Write the check as a prompt</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Exactly what you would do by hand</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schedule</a:t>
            </a:r>
          </a:p>
        </p:txBody>
      </p:sp>
      <p:sp>
        <p:nvSpPr>
          <p:cNvPr id="8" name="TextBox 7"/>
          <p:cNvSpPr txBox="1"/>
          <p:nvPr/>
        </p:nvSpPr>
        <p:spPr>
          <a:xfrm>
            <a:off x="1461983" y="3697224"/>
            <a:ext cx="10549790" cy="551688"/>
          </a:xfrm>
          <a:prstGeom prst="rect">
            <a:avLst/>
          </a:prstGeom>
          <a:noFill/>
        </p:spPr>
        <p:txBody>
          <a:bodyPr wrap="none" lIns="0" rIns="0">
            <a:noAutofit/>
          </a:bodyPr>
          <a:lstStyle/>
          <a:p>
            <a:pPr algn="l"/>
            <a:r>
              <a:rPr sz="3400" b="0" i="0">
                <a:solidFill>
                  <a:srgbClr val="0A2240"/>
                </a:solidFill>
                <a:latin typeface="Arial"/>
              </a:rPr>
              <a:t>Daily is right for almost everything</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Say where it reports</a:t>
            </a:r>
          </a:p>
        </p:txBody>
      </p:sp>
      <p:sp>
        <p:nvSpPr>
          <p:cNvPr id="11" name="TextBox 10"/>
          <p:cNvSpPr txBox="1"/>
          <p:nvPr/>
        </p:nvSpPr>
        <p:spPr>
          <a:xfrm>
            <a:off x="1461983" y="5209032"/>
            <a:ext cx="10704294" cy="551688"/>
          </a:xfrm>
          <a:prstGeom prst="rect">
            <a:avLst/>
          </a:prstGeom>
          <a:noFill/>
        </p:spPr>
        <p:txBody>
          <a:bodyPr wrap="none" lIns="0" rIns="0">
            <a:noAutofit/>
          </a:bodyPr>
          <a:lstStyle/>
          <a:p>
            <a:pPr algn="l"/>
            <a:r>
              <a:rPr sz="3400" b="0" i="0">
                <a:solidFill>
                  <a:srgbClr val="0A2240"/>
                </a:solidFill>
                <a:latin typeface="Arial"/>
              </a:rPr>
              <a:t>Somewhere you will actually see it</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A check worth scheduling</a:t>
            </a:r>
          </a:p>
        </p:txBody>
      </p:sp>
      <p:sp>
        <p:nvSpPr>
          <p:cNvPr id="6" name="TextBox 5"/>
          <p:cNvSpPr txBox="1"/>
          <p:nvPr/>
        </p:nvSpPr>
        <p:spPr>
          <a:xfrm>
            <a:off x="457200" y="1837944"/>
            <a:ext cx="6173092" cy="518159"/>
          </a:xfrm>
          <a:prstGeom prst="rect">
            <a:avLst/>
          </a:prstGeom>
          <a:noFill/>
        </p:spPr>
        <p:txBody>
          <a:bodyPr wrap="none" lIns="0" rIns="0">
            <a:noAutofit/>
          </a:bodyPr>
          <a:lstStyle/>
          <a:p>
            <a:pPr algn="l"/>
            <a:r>
              <a:rPr sz="3400" b="0" i="0">
                <a:solidFill>
                  <a:srgbClr val="FFFFFF"/>
                </a:solidFill>
                <a:latin typeface="Arial"/>
              </a:rPr>
              <a:t>Every morning at 8:</a:t>
            </a:r>
          </a:p>
        </p:txBody>
      </p:sp>
      <p:sp>
        <p:nvSpPr>
          <p:cNvPr id="7" name="TextBox 6"/>
          <p:cNvSpPr txBox="1"/>
          <p:nvPr/>
        </p:nvSpPr>
        <p:spPr>
          <a:xfrm>
            <a:off x="457200" y="2356103"/>
            <a:ext cx="7633454" cy="518159"/>
          </a:xfrm>
          <a:prstGeom prst="rect">
            <a:avLst/>
          </a:prstGeom>
          <a:noFill/>
        </p:spPr>
        <p:txBody>
          <a:bodyPr wrap="none" lIns="0" rIns="0">
            <a:noAutofit/>
          </a:bodyPr>
          <a:lstStyle/>
          <a:p>
            <a:pPr algn="l"/>
            <a:r>
              <a:rPr sz="3400" b="0" i="0">
                <a:solidFill>
                  <a:srgbClr val="FFFFFF"/>
                </a:solidFill>
                <a:latin typeface="Arial"/>
              </a:rPr>
              <a:t>Open &lt;our public URL&gt;.</a:t>
            </a:r>
          </a:p>
        </p:txBody>
      </p:sp>
      <p:sp>
        <p:nvSpPr>
          <p:cNvPr id="8" name="TextBox 7"/>
          <p:cNvSpPr txBox="1"/>
          <p:nvPr/>
        </p:nvSpPr>
        <p:spPr>
          <a:xfrm>
            <a:off x="457200" y="2874262"/>
            <a:ext cx="11318596" cy="518159"/>
          </a:xfrm>
          <a:prstGeom prst="rect">
            <a:avLst/>
          </a:prstGeom>
          <a:noFill/>
        </p:spPr>
        <p:txBody>
          <a:bodyPr wrap="none" lIns="0" rIns="0">
            <a:noAutofit/>
          </a:bodyPr>
          <a:lstStyle/>
          <a:p>
            <a:pPr algn="l"/>
            <a:r>
              <a:rPr sz="3400" b="0" i="0">
                <a:solidFill>
                  <a:srgbClr val="FFFFFF"/>
                </a:solidFill>
                <a:latin typeface="Arial"/>
              </a:rPr>
              <a:t>Upload fixtures/report.pdf, click Run.</a:t>
            </a:r>
          </a:p>
        </p:txBody>
      </p:sp>
      <p:sp>
        <p:nvSpPr>
          <p:cNvPr id="9" name="TextBox 8"/>
          <p:cNvSpPr txBox="1"/>
          <p:nvPr/>
        </p:nvSpPr>
        <p:spPr>
          <a:xfrm>
            <a:off x="457200" y="3392421"/>
            <a:ext cx="4023875" cy="518159"/>
          </a:xfrm>
          <a:prstGeom prst="rect">
            <a:avLst/>
          </a:prstGeom>
          <a:noFill/>
        </p:spPr>
        <p:txBody>
          <a:bodyPr wrap="none" lIns="0" rIns="0">
            <a:noAutofit/>
          </a:bodyPr>
          <a:lstStyle/>
          <a:p>
            <a:pPr algn="l"/>
            <a:r>
              <a:rPr sz="3400" b="0" i="0">
                <a:solidFill>
                  <a:srgbClr val="FFFFFF"/>
                </a:solidFill>
                <a:latin typeface="Arial"/>
              </a:rPr>
              <a:t>If the output </a:t>
            </a:r>
          </a:p>
        </p:txBody>
      </p:sp>
      <p:sp>
        <p:nvSpPr>
          <p:cNvPr id="10" name="TextBox 9"/>
          <p:cNvSpPr txBox="1"/>
          <p:nvPr/>
        </p:nvSpPr>
        <p:spPr>
          <a:xfrm>
            <a:off x="2857822" y="3392421"/>
            <a:ext cx="681811" cy="518159"/>
          </a:xfrm>
          <a:prstGeom prst="rect">
            <a:avLst/>
          </a:prstGeom>
          <a:noFill/>
        </p:spPr>
        <p:txBody>
          <a:bodyPr wrap="none" lIns="0" rIns="0">
            <a:noAutofit/>
          </a:bodyPr>
          <a:lstStyle/>
          <a:p>
            <a:pPr algn="l"/>
            <a:r>
              <a:rPr sz="3400" b="0" i="0">
                <a:solidFill>
                  <a:srgbClr val="569CD6"/>
                </a:solidFill>
                <a:latin typeface="Arial"/>
              </a:rPr>
              <a:t>is</a:t>
            </a:r>
          </a:p>
        </p:txBody>
      </p:sp>
      <p:sp>
        <p:nvSpPr>
          <p:cNvPr id="11" name="TextBox 10"/>
          <p:cNvSpPr txBox="1"/>
          <p:nvPr/>
        </p:nvSpPr>
        <p:spPr>
          <a:xfrm>
            <a:off x="3169655" y="3392421"/>
            <a:ext cx="2908617" cy="518159"/>
          </a:xfrm>
          <a:prstGeom prst="rect">
            <a:avLst/>
          </a:prstGeom>
          <a:noFill/>
        </p:spPr>
        <p:txBody>
          <a:bodyPr wrap="none" lIns="0" rIns="0">
            <a:noAutofit/>
          </a:bodyPr>
          <a:lstStyle/>
          <a:p>
            <a:pPr algn="l"/>
            <a:r>
              <a:rPr sz="3400" b="0" i="0">
                <a:solidFill>
                  <a:srgbClr val="FFFFFF"/>
                </a:solidFill>
                <a:latin typeface="Arial"/>
              </a:rPr>
              <a:t> missing </a:t>
            </a:r>
          </a:p>
        </p:txBody>
      </p:sp>
      <p:sp>
        <p:nvSpPr>
          <p:cNvPr id="12" name="TextBox 11"/>
          <p:cNvSpPr txBox="1"/>
          <p:nvPr/>
        </p:nvSpPr>
        <p:spPr>
          <a:xfrm>
            <a:off x="4873241" y="3392421"/>
            <a:ext cx="797182" cy="518159"/>
          </a:xfrm>
          <a:prstGeom prst="rect">
            <a:avLst/>
          </a:prstGeom>
          <a:noFill/>
        </p:spPr>
        <p:txBody>
          <a:bodyPr wrap="none" lIns="0" rIns="0">
            <a:noAutofit/>
          </a:bodyPr>
          <a:lstStyle/>
          <a:p>
            <a:pPr algn="l"/>
            <a:r>
              <a:rPr sz="3400" b="0" i="0">
                <a:solidFill>
                  <a:srgbClr val="569CD6"/>
                </a:solidFill>
                <a:latin typeface="Arial"/>
              </a:rPr>
              <a:t>or</a:t>
            </a:r>
          </a:p>
        </p:txBody>
      </p:sp>
      <p:sp>
        <p:nvSpPr>
          <p:cNvPr id="13" name="TextBox 12"/>
          <p:cNvSpPr txBox="1"/>
          <p:nvPr/>
        </p:nvSpPr>
        <p:spPr>
          <a:xfrm>
            <a:off x="5257180" y="3392421"/>
            <a:ext cx="2448480" cy="518159"/>
          </a:xfrm>
          <a:prstGeom prst="rect">
            <a:avLst/>
          </a:prstGeom>
          <a:noFill/>
        </p:spPr>
        <p:txBody>
          <a:bodyPr wrap="none" lIns="0" rIns="0">
            <a:noAutofit/>
          </a:bodyPr>
          <a:lstStyle/>
          <a:p>
            <a:pPr algn="l"/>
            <a:r>
              <a:rPr sz="3400" b="0" i="0">
                <a:solidFill>
                  <a:srgbClr val="FFFFFF"/>
                </a:solidFill>
                <a:latin typeface="Arial"/>
              </a:rPr>
              <a:t> wrong,</a:t>
            </a:r>
          </a:p>
        </p:txBody>
      </p:sp>
      <p:sp>
        <p:nvSpPr>
          <p:cNvPr id="14" name="TextBox 13"/>
          <p:cNvSpPr txBox="1"/>
          <p:nvPr/>
        </p:nvSpPr>
        <p:spPr>
          <a:xfrm>
            <a:off x="457200" y="3910580"/>
            <a:ext cx="2371566" cy="518159"/>
          </a:xfrm>
          <a:prstGeom prst="rect">
            <a:avLst/>
          </a:prstGeom>
          <a:noFill/>
        </p:spPr>
        <p:txBody>
          <a:bodyPr wrap="none" lIns="0" rIns="0">
            <a:noAutofit/>
          </a:bodyPr>
          <a:lstStyle/>
          <a:p>
            <a:pPr algn="l"/>
            <a:r>
              <a:rPr sz="3400" b="0" i="0">
                <a:solidFill>
                  <a:srgbClr val="FFFFFF"/>
                </a:solidFill>
                <a:latin typeface="Arial"/>
              </a:rPr>
              <a:t>say so </a:t>
            </a:r>
          </a:p>
        </p:txBody>
      </p:sp>
      <p:sp>
        <p:nvSpPr>
          <p:cNvPr id="15" name="TextBox 14"/>
          <p:cNvSpPr txBox="1"/>
          <p:nvPr/>
        </p:nvSpPr>
        <p:spPr>
          <a:xfrm>
            <a:off x="1825129" y="3910580"/>
            <a:ext cx="720606" cy="518159"/>
          </a:xfrm>
          <a:prstGeom prst="rect">
            <a:avLst/>
          </a:prstGeom>
          <a:noFill/>
        </p:spPr>
        <p:txBody>
          <a:bodyPr wrap="none" lIns="0" rIns="0">
            <a:noAutofit/>
          </a:bodyPr>
          <a:lstStyle/>
          <a:p>
            <a:pPr algn="l"/>
            <a:r>
              <a:rPr sz="3400" b="0" i="0">
                <a:solidFill>
                  <a:srgbClr val="569CD6"/>
                </a:solidFill>
                <a:latin typeface="Arial"/>
              </a:rPr>
              <a:t>in</a:t>
            </a:r>
          </a:p>
        </p:txBody>
      </p:sp>
      <p:sp>
        <p:nvSpPr>
          <p:cNvPr id="16" name="TextBox 15"/>
          <p:cNvSpPr txBox="1"/>
          <p:nvPr/>
        </p:nvSpPr>
        <p:spPr>
          <a:xfrm>
            <a:off x="2161208" y="3910580"/>
            <a:ext cx="8937961" cy="518159"/>
          </a:xfrm>
          <a:prstGeom prst="rect">
            <a:avLst/>
          </a:prstGeom>
          <a:noFill/>
        </p:spPr>
        <p:txBody>
          <a:bodyPr wrap="none" lIns="0" rIns="0">
            <a:noAutofit/>
          </a:bodyPr>
          <a:lstStyle/>
          <a:p>
            <a:pPr algn="l"/>
            <a:r>
              <a:rPr sz="3400" b="0" i="0">
                <a:solidFill>
                  <a:srgbClr val="FFFFFF"/>
                </a:solidFill>
                <a:latin typeface="Arial"/>
              </a:rPr>
              <a:t> one line. Otherwise say OK.</a:t>
            </a:r>
          </a:p>
        </p:txBody>
      </p:sp>
      <p:sp>
        <p:nvSpPr>
          <p:cNvPr id="17" name="TextBox 1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to Schedule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happy path, end to end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 findings you fixed today</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URL still loads at all</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Anything with a key or a quota</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Kinds of Check</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Weak</a:t>
            </a:r>
          </a:p>
        </p:txBody>
      </p:sp>
      <p:sp>
        <p:nvSpPr>
          <p:cNvPr id="4" name="Rectangle 3"/>
          <p:cNvSpPr/>
          <p:nvPr/>
        </p:nvSpPr>
        <p:spPr>
          <a:xfrm>
            <a:off x="457200" y="2176271"/>
            <a:ext cx="1120192"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Strong</a:t>
            </a:r>
          </a:p>
        </p:txBody>
      </p:sp>
      <p:sp>
        <p:nvSpPr>
          <p:cNvPr id="6" name="Rectangle 5"/>
          <p:cNvSpPr/>
          <p:nvPr/>
        </p:nvSpPr>
        <p:spPr>
          <a:xfrm>
            <a:off x="6233160" y="2176271"/>
            <a:ext cx="1391121"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5702499" cy="609600"/>
          </a:xfrm>
          <a:prstGeom prst="rect">
            <a:avLst/>
          </a:prstGeom>
          <a:noFill/>
        </p:spPr>
        <p:txBody>
          <a:bodyPr wrap="none" lIns="0" rIns="0">
            <a:noAutofit/>
          </a:bodyPr>
          <a:lstStyle/>
          <a:p>
            <a:pPr algn="l"/>
            <a:r>
              <a:rPr sz="3400" b="0" i="0">
                <a:solidFill>
                  <a:srgbClr val="0A2240"/>
                </a:solidFill>
                <a:latin typeface="Arial"/>
              </a:rPr>
              <a:t>"Check if it works"</a:t>
            </a:r>
          </a:p>
        </p:txBody>
      </p:sp>
      <p:sp>
        <p:nvSpPr>
          <p:cNvPr id="8" name="TextBox 7"/>
          <p:cNvSpPr txBox="1"/>
          <p:nvPr/>
        </p:nvSpPr>
        <p:spPr>
          <a:xfrm>
            <a:off x="457200" y="3608831"/>
            <a:ext cx="7095390" cy="609600"/>
          </a:xfrm>
          <a:prstGeom prst="rect">
            <a:avLst/>
          </a:prstGeom>
          <a:noFill/>
        </p:spPr>
        <p:txBody>
          <a:bodyPr wrap="none" lIns="0" rIns="0">
            <a:noAutofit/>
          </a:bodyPr>
          <a:lstStyle/>
          <a:p>
            <a:pPr algn="l"/>
            <a:r>
              <a:rPr sz="3400" b="0" i="0">
                <a:solidFill>
                  <a:srgbClr val="0A2240"/>
                </a:solidFill>
                <a:latin typeface="Arial"/>
              </a:rPr>
              <a:t>Reports only on failure</a:t>
            </a:r>
          </a:p>
        </p:txBody>
      </p:sp>
      <p:sp>
        <p:nvSpPr>
          <p:cNvPr id="9" name="TextBox 8"/>
          <p:cNvSpPr txBox="1"/>
          <p:nvPr/>
        </p:nvSpPr>
        <p:spPr>
          <a:xfrm>
            <a:off x="457200" y="4821935"/>
            <a:ext cx="8171180" cy="609600"/>
          </a:xfrm>
          <a:prstGeom prst="rect">
            <a:avLst/>
          </a:prstGeom>
          <a:noFill/>
        </p:spPr>
        <p:txBody>
          <a:bodyPr wrap="none" lIns="0" rIns="0">
            <a:noAutofit/>
          </a:bodyPr>
          <a:lstStyle/>
          <a:p>
            <a:pPr algn="l"/>
            <a:r>
              <a:rPr sz="3400" b="0" i="0">
                <a:solidFill>
                  <a:srgbClr val="0A2240"/>
                </a:solidFill>
                <a:latin typeface="Arial"/>
              </a:rPr>
              <a:t>Goes where nobody looks</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 input, one expectation</a:t>
            </a:r>
          </a:p>
        </p:txBody>
      </p:sp>
      <p:sp>
        <p:nvSpPr>
          <p:cNvPr id="11" name="TextBox 10"/>
          <p:cNvSpPr txBox="1"/>
          <p:nvPr/>
        </p:nvSpPr>
        <p:spPr>
          <a:xfrm>
            <a:off x="6233160" y="3608831"/>
            <a:ext cx="5942686" cy="609600"/>
          </a:xfrm>
          <a:prstGeom prst="rect">
            <a:avLst/>
          </a:prstGeom>
          <a:noFill/>
        </p:spPr>
        <p:txBody>
          <a:bodyPr wrap="none" lIns="0" rIns="0">
            <a:noAutofit/>
          </a:bodyPr>
          <a:lstStyle/>
          <a:p>
            <a:pPr algn="l"/>
            <a:r>
              <a:rPr sz="3400" b="0" i="0">
                <a:solidFill>
                  <a:srgbClr val="0A2240"/>
                </a:solidFill>
                <a:latin typeface="Arial"/>
              </a:rPr>
              <a:t>Reports either way</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Lands where you look daily</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Schedule as Many as It Needs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One per fix you made today</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One for the happy path</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One for each external thing</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Cheap enough to be generous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43</a:t>
            </a:fld>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Three Every Prototype Needs</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Is it alive</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The URL loads and returns a page</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Does it still work</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The happy path, start to finish, daily</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Did the fixes hold</a:t>
            </a:r>
          </a:p>
        </p:txBody>
      </p:sp>
      <p:sp>
        <p:nvSpPr>
          <p:cNvPr id="8" name="TextBox 7"/>
          <p:cNvSpPr txBox="1"/>
          <p:nvPr/>
        </p:nvSpPr>
        <p:spPr>
          <a:xfrm>
            <a:off x="457200" y="5132831"/>
            <a:ext cx="11277600" cy="627889"/>
          </a:xfrm>
          <a:prstGeom prst="rect">
            <a:avLst/>
          </a:prstGeom>
          <a:noFill/>
        </p:spPr>
        <p:txBody>
          <a:bodyPr wrap="none" lIns="0" rIns="0">
            <a:noAutofit/>
          </a:bodyPr>
          <a:lstStyle/>
          <a:p>
            <a:pPr algn="l"/>
            <a:r>
              <a:rPr sz="3400" b="0" i="0">
                <a:solidFill>
                  <a:srgbClr val="0A2240"/>
                </a:solidFill>
                <a:latin typeface="Arial"/>
              </a:rPr>
              <a:t>Today's findings, re-run on a timer</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44</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Handoff</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README says what it does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CAVEATS says what it does not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TRIAGE says what you chose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checks say it still runs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The repo at the end of the week</a:t>
            </a:r>
          </a:p>
        </p:txBody>
      </p:sp>
      <p:sp>
        <p:nvSpPr>
          <p:cNvPr id="3" name="Rounded Rectangle 2"/>
          <p:cNvSpPr/>
          <p:nvPr/>
        </p:nvSpPr>
        <p:spPr>
          <a:xfrm>
            <a:off x="457200" y="1499616"/>
            <a:ext cx="11277600" cy="4261104"/>
          </a:xfrm>
          <a:prstGeom prst="roundRect">
            <a:avLst>
              <a:gd name="adj" fmla="val 3004"/>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19656"/>
            <a:ext cx="3402091" cy="365759"/>
          </a:xfrm>
          <a:prstGeom prst="rect">
            <a:avLst/>
          </a:prstGeom>
          <a:noFill/>
        </p:spPr>
        <p:txBody>
          <a:bodyPr wrap="none" lIns="0" rIns="0">
            <a:noAutofit/>
          </a:bodyPr>
          <a:lstStyle/>
          <a:p>
            <a:pPr algn="l"/>
            <a:r>
              <a:rPr sz="2400" b="1" i="0">
                <a:solidFill>
                  <a:srgbClr val="0072CE"/>
                </a:solidFill>
                <a:latin typeface="Courier New"/>
              </a:rPr>
              <a:t>happy-path/</a:t>
            </a:r>
          </a:p>
        </p:txBody>
      </p:sp>
      <p:sp>
        <p:nvSpPr>
          <p:cNvPr id="5" name="TextBox 4"/>
          <p:cNvSpPr txBox="1"/>
          <p:nvPr/>
        </p:nvSpPr>
        <p:spPr>
          <a:xfrm>
            <a:off x="822960" y="2185415"/>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6" name="TextBox 5"/>
          <p:cNvSpPr txBox="1"/>
          <p:nvPr/>
        </p:nvSpPr>
        <p:spPr>
          <a:xfrm>
            <a:off x="1371689" y="2185415"/>
            <a:ext cx="1646158" cy="365759"/>
          </a:xfrm>
          <a:prstGeom prst="rect">
            <a:avLst/>
          </a:prstGeom>
          <a:noFill/>
        </p:spPr>
        <p:txBody>
          <a:bodyPr wrap="none" lIns="0" rIns="0">
            <a:noAutofit/>
          </a:bodyPr>
          <a:lstStyle/>
          <a:p>
            <a:pPr algn="l"/>
            <a:r>
              <a:rPr sz="2400" b="1" i="0">
                <a:solidFill>
                  <a:srgbClr val="0072CE"/>
                </a:solidFill>
                <a:latin typeface="Courier New"/>
              </a:rPr>
              <a:t>docs/</a:t>
            </a:r>
          </a:p>
        </p:txBody>
      </p:sp>
      <p:sp>
        <p:nvSpPr>
          <p:cNvPr id="7" name="TextBox 6"/>
          <p:cNvSpPr txBox="1"/>
          <p:nvPr/>
        </p:nvSpPr>
        <p:spPr>
          <a:xfrm>
            <a:off x="822960" y="2551174"/>
            <a:ext cx="1938814" cy="365759"/>
          </a:xfrm>
          <a:prstGeom prst="rect">
            <a:avLst/>
          </a:prstGeom>
          <a:noFill/>
        </p:spPr>
        <p:txBody>
          <a:bodyPr wrap="none" lIns="0" rIns="0">
            <a:noAutofit/>
          </a:bodyPr>
          <a:lstStyle/>
          <a:p>
            <a:pPr algn="l"/>
            <a:r>
              <a:rPr sz="2400" b="0" i="0">
                <a:solidFill>
                  <a:srgbClr val="0072CE"/>
                </a:solidFill>
                <a:latin typeface="Courier New"/>
              </a:rPr>
              <a:t>│  └─ </a:t>
            </a:r>
          </a:p>
        </p:txBody>
      </p:sp>
      <p:sp>
        <p:nvSpPr>
          <p:cNvPr id="8" name="TextBox 7"/>
          <p:cNvSpPr txBox="1"/>
          <p:nvPr/>
        </p:nvSpPr>
        <p:spPr>
          <a:xfrm>
            <a:off x="1920419" y="2551174"/>
            <a:ext cx="3109436" cy="365759"/>
          </a:xfrm>
          <a:prstGeom prst="rect">
            <a:avLst/>
          </a:prstGeom>
          <a:noFill/>
        </p:spPr>
        <p:txBody>
          <a:bodyPr wrap="none" lIns="0" rIns="0">
            <a:noAutofit/>
          </a:bodyPr>
          <a:lstStyle/>
          <a:p>
            <a:pPr algn="l"/>
            <a:r>
              <a:rPr sz="2400" b="0" i="0">
                <a:solidFill>
                  <a:srgbClr val="FFFFFF"/>
                </a:solidFill>
                <a:latin typeface="Courier New"/>
              </a:rPr>
              <a:t>index.html</a:t>
            </a:r>
          </a:p>
        </p:txBody>
      </p:sp>
      <p:sp>
        <p:nvSpPr>
          <p:cNvPr id="9" name="TextBox 8"/>
          <p:cNvSpPr txBox="1"/>
          <p:nvPr/>
        </p:nvSpPr>
        <p:spPr>
          <a:xfrm>
            <a:off x="822960" y="2916933"/>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10" name="TextBox 9"/>
          <p:cNvSpPr txBox="1"/>
          <p:nvPr/>
        </p:nvSpPr>
        <p:spPr>
          <a:xfrm>
            <a:off x="1371689" y="2916933"/>
            <a:ext cx="2816780" cy="365759"/>
          </a:xfrm>
          <a:prstGeom prst="rect">
            <a:avLst/>
          </a:prstGeom>
          <a:noFill/>
        </p:spPr>
        <p:txBody>
          <a:bodyPr wrap="none" lIns="0" rIns="0">
            <a:noAutofit/>
          </a:bodyPr>
          <a:lstStyle/>
          <a:p>
            <a:pPr algn="l"/>
            <a:r>
              <a:rPr sz="2400" b="1" i="0">
                <a:solidFill>
                  <a:srgbClr val="0072CE"/>
                </a:solidFill>
                <a:latin typeface="Courier New"/>
              </a:rPr>
              <a:t>fixtures/</a:t>
            </a:r>
          </a:p>
        </p:txBody>
      </p:sp>
      <p:sp>
        <p:nvSpPr>
          <p:cNvPr id="11" name="TextBox 10"/>
          <p:cNvSpPr txBox="1"/>
          <p:nvPr/>
        </p:nvSpPr>
        <p:spPr>
          <a:xfrm>
            <a:off x="822960" y="3282692"/>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12" name="TextBox 11"/>
          <p:cNvSpPr txBox="1"/>
          <p:nvPr/>
        </p:nvSpPr>
        <p:spPr>
          <a:xfrm>
            <a:off x="1371689" y="3282692"/>
            <a:ext cx="1938814" cy="365759"/>
          </a:xfrm>
          <a:prstGeom prst="rect">
            <a:avLst/>
          </a:prstGeom>
          <a:noFill/>
        </p:spPr>
        <p:txBody>
          <a:bodyPr wrap="none" lIns="0" rIns="0">
            <a:noAutofit/>
          </a:bodyPr>
          <a:lstStyle/>
          <a:p>
            <a:pPr algn="l"/>
            <a:r>
              <a:rPr sz="2400" b="1" i="0">
                <a:solidFill>
                  <a:srgbClr val="0072CE"/>
                </a:solidFill>
                <a:latin typeface="Courier New"/>
              </a:rPr>
              <a:t>steps/</a:t>
            </a:r>
          </a:p>
        </p:txBody>
      </p:sp>
      <p:sp>
        <p:nvSpPr>
          <p:cNvPr id="13" name="TextBox 12"/>
          <p:cNvSpPr txBox="1"/>
          <p:nvPr/>
        </p:nvSpPr>
        <p:spPr>
          <a:xfrm>
            <a:off x="822960" y="3648451"/>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14" name="TextBox 13"/>
          <p:cNvSpPr txBox="1"/>
          <p:nvPr/>
        </p:nvSpPr>
        <p:spPr>
          <a:xfrm>
            <a:off x="1371689" y="3648451"/>
            <a:ext cx="1938814" cy="365759"/>
          </a:xfrm>
          <a:prstGeom prst="rect">
            <a:avLst/>
          </a:prstGeom>
          <a:noFill/>
        </p:spPr>
        <p:txBody>
          <a:bodyPr wrap="none" lIns="0" rIns="0">
            <a:noAutofit/>
          </a:bodyPr>
          <a:lstStyle/>
          <a:p>
            <a:pPr algn="l"/>
            <a:r>
              <a:rPr sz="2400" b="1" i="0">
                <a:solidFill>
                  <a:srgbClr val="0072CE"/>
                </a:solidFill>
                <a:latin typeface="Courier New"/>
              </a:rPr>
              <a:t>tests/</a:t>
            </a:r>
          </a:p>
        </p:txBody>
      </p:sp>
      <p:sp>
        <p:nvSpPr>
          <p:cNvPr id="15" name="TextBox 14"/>
          <p:cNvSpPr txBox="1"/>
          <p:nvPr/>
        </p:nvSpPr>
        <p:spPr>
          <a:xfrm>
            <a:off x="822960" y="4014210"/>
            <a:ext cx="1938814" cy="365759"/>
          </a:xfrm>
          <a:prstGeom prst="rect">
            <a:avLst/>
          </a:prstGeom>
          <a:noFill/>
        </p:spPr>
        <p:txBody>
          <a:bodyPr wrap="none" lIns="0" rIns="0">
            <a:noAutofit/>
          </a:bodyPr>
          <a:lstStyle/>
          <a:p>
            <a:pPr algn="l"/>
            <a:r>
              <a:rPr sz="2400" b="0" i="0">
                <a:solidFill>
                  <a:srgbClr val="0072CE"/>
                </a:solidFill>
                <a:latin typeface="Courier New"/>
              </a:rPr>
              <a:t>│  └─ </a:t>
            </a:r>
          </a:p>
        </p:txBody>
      </p:sp>
      <p:sp>
        <p:nvSpPr>
          <p:cNvPr id="16" name="TextBox 15"/>
          <p:cNvSpPr txBox="1"/>
          <p:nvPr/>
        </p:nvSpPr>
        <p:spPr>
          <a:xfrm>
            <a:off x="1920419" y="4014210"/>
            <a:ext cx="3987403" cy="365759"/>
          </a:xfrm>
          <a:prstGeom prst="rect">
            <a:avLst/>
          </a:prstGeom>
          <a:noFill/>
        </p:spPr>
        <p:txBody>
          <a:bodyPr wrap="none" lIns="0" rIns="0">
            <a:noAutofit/>
          </a:bodyPr>
          <a:lstStyle/>
          <a:p>
            <a:pPr algn="l"/>
            <a:r>
              <a:rPr sz="2400" b="0" i="0">
                <a:solidFill>
                  <a:srgbClr val="FFFFFF"/>
                </a:solidFill>
                <a:latin typeface="Courier New"/>
              </a:rPr>
              <a:t>edge-cases.md</a:t>
            </a:r>
          </a:p>
        </p:txBody>
      </p:sp>
      <p:sp>
        <p:nvSpPr>
          <p:cNvPr id="17" name="TextBox 16"/>
          <p:cNvSpPr txBox="1"/>
          <p:nvPr/>
        </p:nvSpPr>
        <p:spPr>
          <a:xfrm>
            <a:off x="822960" y="4379969"/>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18" name="TextBox 17"/>
          <p:cNvSpPr txBox="1"/>
          <p:nvPr/>
        </p:nvSpPr>
        <p:spPr>
          <a:xfrm>
            <a:off x="1371689" y="4379969"/>
            <a:ext cx="1938814" cy="365759"/>
          </a:xfrm>
          <a:prstGeom prst="rect">
            <a:avLst/>
          </a:prstGeom>
          <a:noFill/>
        </p:spPr>
        <p:txBody>
          <a:bodyPr wrap="none" lIns="0" rIns="0">
            <a:noAutofit/>
          </a:bodyPr>
          <a:lstStyle/>
          <a:p>
            <a:pPr algn="l"/>
            <a:r>
              <a:rPr sz="2400" b="0" i="0">
                <a:solidFill>
                  <a:srgbClr val="FFFFFF"/>
                </a:solidFill>
                <a:latin typeface="Courier New"/>
              </a:rPr>
              <a:t>run.py</a:t>
            </a:r>
          </a:p>
        </p:txBody>
      </p:sp>
      <p:sp>
        <p:nvSpPr>
          <p:cNvPr id="19" name="TextBox 18"/>
          <p:cNvSpPr txBox="1"/>
          <p:nvPr/>
        </p:nvSpPr>
        <p:spPr>
          <a:xfrm>
            <a:off x="822960" y="4745728"/>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20" name="TextBox 19"/>
          <p:cNvSpPr txBox="1"/>
          <p:nvPr/>
        </p:nvSpPr>
        <p:spPr>
          <a:xfrm>
            <a:off x="1371689" y="4745728"/>
            <a:ext cx="3109436" cy="365759"/>
          </a:xfrm>
          <a:prstGeom prst="rect">
            <a:avLst/>
          </a:prstGeom>
          <a:noFill/>
        </p:spPr>
        <p:txBody>
          <a:bodyPr wrap="none" lIns="0" rIns="0">
            <a:noAutofit/>
          </a:bodyPr>
          <a:lstStyle/>
          <a:p>
            <a:pPr algn="l"/>
            <a:r>
              <a:rPr sz="2400" b="0" i="0">
                <a:solidFill>
                  <a:srgbClr val="FFFFFF"/>
                </a:solidFill>
                <a:latin typeface="Courier New"/>
              </a:rPr>
              <a:t>CAVEATS.md</a:t>
            </a:r>
          </a:p>
        </p:txBody>
      </p:sp>
      <p:sp>
        <p:nvSpPr>
          <p:cNvPr id="21" name="TextBox 20"/>
          <p:cNvSpPr txBox="1"/>
          <p:nvPr/>
        </p:nvSpPr>
        <p:spPr>
          <a:xfrm>
            <a:off x="822960" y="5111487"/>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22" name="TextBox 21"/>
          <p:cNvSpPr txBox="1"/>
          <p:nvPr/>
        </p:nvSpPr>
        <p:spPr>
          <a:xfrm>
            <a:off x="1371689" y="5111487"/>
            <a:ext cx="3402091" cy="365759"/>
          </a:xfrm>
          <a:prstGeom prst="rect">
            <a:avLst/>
          </a:prstGeom>
          <a:noFill/>
        </p:spPr>
        <p:txBody>
          <a:bodyPr wrap="none" lIns="0" rIns="0">
            <a:noAutofit/>
          </a:bodyPr>
          <a:lstStyle/>
          <a:p>
            <a:pPr algn="l"/>
            <a:r>
              <a:rPr sz="2400" b="0" i="0">
                <a:solidFill>
                  <a:srgbClr val="FFFFFF"/>
                </a:solidFill>
                <a:latin typeface="Courier New"/>
              </a:rPr>
              <a:t>FINDINGS.md</a:t>
            </a:r>
          </a:p>
        </p:txBody>
      </p:sp>
      <p:sp>
        <p:nvSpPr>
          <p:cNvPr id="23" name="TextBox 22"/>
          <p:cNvSpPr txBox="1"/>
          <p:nvPr/>
        </p:nvSpPr>
        <p:spPr>
          <a:xfrm>
            <a:off x="822960" y="5477246"/>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24" name="TextBox 23"/>
          <p:cNvSpPr txBox="1"/>
          <p:nvPr/>
        </p:nvSpPr>
        <p:spPr>
          <a:xfrm>
            <a:off x="1371689" y="5477246"/>
            <a:ext cx="2816780" cy="365759"/>
          </a:xfrm>
          <a:prstGeom prst="rect">
            <a:avLst/>
          </a:prstGeom>
          <a:noFill/>
        </p:spPr>
        <p:txBody>
          <a:bodyPr wrap="none" lIns="0" rIns="0">
            <a:noAutofit/>
          </a:bodyPr>
          <a:lstStyle/>
          <a:p>
            <a:pPr algn="l"/>
            <a:r>
              <a:rPr sz="2400" b="0" i="0">
                <a:solidFill>
                  <a:srgbClr val="FFFFFF"/>
                </a:solidFill>
                <a:latin typeface="Courier New"/>
              </a:rPr>
              <a:t>TRIAGE.md</a:t>
            </a:r>
          </a:p>
        </p:txBody>
      </p:sp>
      <p:sp>
        <p:nvSpPr>
          <p:cNvPr id="25" name="TextBox 24"/>
          <p:cNvSpPr txBox="1"/>
          <p:nvPr/>
        </p:nvSpPr>
        <p:spPr>
          <a:xfrm>
            <a:off x="822960" y="5843005"/>
            <a:ext cx="1060846" cy="365759"/>
          </a:xfrm>
          <a:prstGeom prst="rect">
            <a:avLst/>
          </a:prstGeom>
          <a:noFill/>
        </p:spPr>
        <p:txBody>
          <a:bodyPr wrap="none" lIns="0" rIns="0">
            <a:noAutofit/>
          </a:bodyPr>
          <a:lstStyle/>
          <a:p>
            <a:pPr algn="l"/>
            <a:r>
              <a:rPr sz="2400" b="0" i="0">
                <a:solidFill>
                  <a:srgbClr val="0072CE"/>
                </a:solidFill>
                <a:latin typeface="Courier New"/>
              </a:rPr>
              <a:t>└─ </a:t>
            </a:r>
          </a:p>
        </p:txBody>
      </p:sp>
      <p:sp>
        <p:nvSpPr>
          <p:cNvPr id="26" name="TextBox 25"/>
          <p:cNvSpPr txBox="1"/>
          <p:nvPr/>
        </p:nvSpPr>
        <p:spPr>
          <a:xfrm>
            <a:off x="1371689" y="5843005"/>
            <a:ext cx="2816780" cy="365759"/>
          </a:xfrm>
          <a:prstGeom prst="rect">
            <a:avLst/>
          </a:prstGeom>
          <a:noFill/>
        </p:spPr>
        <p:txBody>
          <a:bodyPr wrap="none" lIns="0" rIns="0">
            <a:noAutofit/>
          </a:bodyPr>
          <a:lstStyle/>
          <a:p>
            <a:pPr algn="l"/>
            <a:r>
              <a:rPr sz="2400" b="0" i="0">
                <a:solidFill>
                  <a:srgbClr val="FFFFFF"/>
                </a:solidFill>
                <a:latin typeface="Courier New"/>
              </a:rPr>
              <a:t>README.md</a:t>
            </a:r>
          </a:p>
        </p:txBody>
      </p:sp>
      <p:sp>
        <p:nvSpPr>
          <p:cNvPr id="27" name="TextBox 2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46</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Handoff Checklist</a:t>
            </a:r>
          </a:p>
        </p:txBody>
      </p:sp>
      <p:sp>
        <p:nvSpPr>
          <p:cNvPr id="3" name="TextBox 2"/>
          <p:cNvSpPr txBox="1"/>
          <p:nvPr/>
        </p:nvSpPr>
        <p:spPr>
          <a:xfrm>
            <a:off x="457200" y="1499616"/>
            <a:ext cx="3942447" cy="518159"/>
          </a:xfrm>
          <a:prstGeom prst="rect">
            <a:avLst/>
          </a:prstGeom>
          <a:noFill/>
        </p:spPr>
        <p:txBody>
          <a:bodyPr wrap="none" lIns="0" rIns="0">
            <a:noAutofit/>
          </a:bodyPr>
          <a:lstStyle/>
          <a:p>
            <a:pPr algn="l"/>
            <a:r>
              <a:rPr sz="3400" b="1" i="0">
                <a:solidFill>
                  <a:srgbClr val="0072CE"/>
                </a:solidFill>
                <a:latin typeface="Arial"/>
              </a:rPr>
              <a:t>Item</a:t>
            </a:r>
          </a:p>
        </p:txBody>
      </p:sp>
      <p:sp>
        <p:nvSpPr>
          <p:cNvPr id="4" name="TextBox 3"/>
          <p:cNvSpPr txBox="1"/>
          <p:nvPr/>
        </p:nvSpPr>
        <p:spPr>
          <a:xfrm>
            <a:off x="4948287" y="1499616"/>
            <a:ext cx="4445722" cy="518159"/>
          </a:xfrm>
          <a:prstGeom prst="rect">
            <a:avLst/>
          </a:prstGeom>
          <a:noFill/>
        </p:spPr>
        <p:txBody>
          <a:bodyPr wrap="none" lIns="0" rIns="0">
            <a:noAutofit/>
          </a:bodyPr>
          <a:lstStyle/>
          <a:p>
            <a:pPr algn="l"/>
            <a:r>
              <a:rPr sz="3400" b="1" i="0">
                <a:solidFill>
                  <a:srgbClr val="0072CE"/>
                </a:solidFill>
                <a:latin typeface="Arial"/>
              </a:rPr>
              <a:t>Done means</a:t>
            </a:r>
          </a:p>
        </p:txBody>
      </p:sp>
      <p:sp>
        <p:nvSpPr>
          <p:cNvPr id="5" name="Rectangle 4"/>
          <p:cNvSpPr/>
          <p:nvPr/>
        </p:nvSpPr>
        <p:spPr>
          <a:xfrm>
            <a:off x="457200" y="2072639"/>
            <a:ext cx="8936809"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5905579" cy="633984"/>
          </a:xfrm>
          <a:prstGeom prst="rect">
            <a:avLst/>
          </a:prstGeom>
          <a:noFill/>
        </p:spPr>
        <p:txBody>
          <a:bodyPr wrap="none" lIns="0" rIns="0">
            <a:noAutofit/>
          </a:bodyPr>
          <a:lstStyle/>
          <a:p>
            <a:pPr algn="l"/>
            <a:r>
              <a:rPr sz="3400" b="0" i="0">
                <a:solidFill>
                  <a:srgbClr val="0A2240"/>
                </a:solidFill>
                <a:latin typeface="Arial"/>
              </a:rPr>
              <a:t>Everything pushed</a:t>
            </a:r>
          </a:p>
        </p:txBody>
      </p:sp>
      <p:sp>
        <p:nvSpPr>
          <p:cNvPr id="7" name="TextBox 6"/>
          <p:cNvSpPr txBox="1"/>
          <p:nvPr/>
        </p:nvSpPr>
        <p:spPr>
          <a:xfrm>
            <a:off x="4948287" y="2401823"/>
            <a:ext cx="5636379" cy="633984"/>
          </a:xfrm>
          <a:prstGeom prst="rect">
            <a:avLst/>
          </a:prstGeom>
          <a:noFill/>
        </p:spPr>
        <p:txBody>
          <a:bodyPr wrap="none" lIns="0" rIns="0">
            <a:noAutofit/>
          </a:bodyPr>
          <a:lstStyle/>
          <a:p>
            <a:pPr algn="l"/>
            <a:r>
              <a:rPr sz="3400" b="0" i="0">
                <a:solidFill>
                  <a:srgbClr val="0A2240"/>
                </a:solidFill>
                <a:latin typeface="Arial"/>
              </a:rPr>
              <a:t>Nothing only local</a:t>
            </a:r>
          </a:p>
        </p:txBody>
      </p:sp>
      <p:sp>
        <p:nvSpPr>
          <p:cNvPr id="8" name="TextBox 7"/>
          <p:cNvSpPr txBox="1"/>
          <p:nvPr/>
        </p:nvSpPr>
        <p:spPr>
          <a:xfrm>
            <a:off x="457200" y="3310127"/>
            <a:ext cx="4137897" cy="633984"/>
          </a:xfrm>
          <a:prstGeom prst="rect">
            <a:avLst/>
          </a:prstGeom>
          <a:noFill/>
        </p:spPr>
        <p:txBody>
          <a:bodyPr wrap="none" lIns="0" rIns="0">
            <a:noAutofit/>
          </a:bodyPr>
          <a:lstStyle/>
          <a:p>
            <a:pPr algn="l"/>
            <a:r>
              <a:rPr sz="3400" b="0" i="0">
                <a:solidFill>
                  <a:srgbClr val="0A2240"/>
                </a:solidFill>
                <a:latin typeface="Arial"/>
              </a:rPr>
              <a:t>Fixes proven</a:t>
            </a:r>
          </a:p>
        </p:txBody>
      </p:sp>
      <p:sp>
        <p:nvSpPr>
          <p:cNvPr id="9" name="TextBox 8"/>
          <p:cNvSpPr txBox="1"/>
          <p:nvPr/>
        </p:nvSpPr>
        <p:spPr>
          <a:xfrm>
            <a:off x="4948287" y="3310127"/>
            <a:ext cx="5097979" cy="633984"/>
          </a:xfrm>
          <a:prstGeom prst="rect">
            <a:avLst/>
          </a:prstGeom>
          <a:noFill/>
        </p:spPr>
        <p:txBody>
          <a:bodyPr wrap="none" lIns="0" rIns="0">
            <a:noAutofit/>
          </a:bodyPr>
          <a:lstStyle/>
          <a:p>
            <a:pPr algn="l"/>
            <a:r>
              <a:rPr sz="3400" b="0" i="0">
                <a:solidFill>
                  <a:srgbClr val="0A2240"/>
                </a:solidFill>
                <a:latin typeface="Arial"/>
              </a:rPr>
              <a:t>Each test re-run</a:t>
            </a:r>
          </a:p>
        </p:txBody>
      </p:sp>
      <p:sp>
        <p:nvSpPr>
          <p:cNvPr id="10" name="TextBox 9"/>
          <p:cNvSpPr txBox="1"/>
          <p:nvPr/>
        </p:nvSpPr>
        <p:spPr>
          <a:xfrm>
            <a:off x="457200" y="4218431"/>
            <a:ext cx="5059521" cy="633984"/>
          </a:xfrm>
          <a:prstGeom prst="rect">
            <a:avLst/>
          </a:prstGeom>
          <a:noFill/>
        </p:spPr>
        <p:txBody>
          <a:bodyPr wrap="none" lIns="0" rIns="0">
            <a:noAutofit/>
          </a:bodyPr>
          <a:lstStyle/>
          <a:p>
            <a:pPr algn="l"/>
            <a:r>
              <a:rPr sz="3400" b="0" i="0">
                <a:solidFill>
                  <a:srgbClr val="0A2240"/>
                </a:solidFill>
                <a:latin typeface="Arial"/>
              </a:rPr>
              <a:t>Caveats current</a:t>
            </a:r>
          </a:p>
        </p:txBody>
      </p:sp>
      <p:sp>
        <p:nvSpPr>
          <p:cNvPr id="11" name="TextBox 10"/>
          <p:cNvSpPr txBox="1"/>
          <p:nvPr/>
        </p:nvSpPr>
        <p:spPr>
          <a:xfrm>
            <a:off x="4948287" y="4218431"/>
            <a:ext cx="6710819" cy="633984"/>
          </a:xfrm>
          <a:prstGeom prst="rect">
            <a:avLst/>
          </a:prstGeom>
          <a:noFill/>
        </p:spPr>
        <p:txBody>
          <a:bodyPr wrap="none" lIns="0" rIns="0">
            <a:noAutofit/>
          </a:bodyPr>
          <a:lstStyle/>
          <a:p>
            <a:pPr algn="l"/>
            <a:r>
              <a:rPr sz="3400" b="0" i="0">
                <a:solidFill>
                  <a:srgbClr val="0A2240"/>
                </a:solidFill>
                <a:latin typeface="Arial"/>
              </a:rPr>
              <a:t>Matches reality today</a:t>
            </a:r>
          </a:p>
        </p:txBody>
      </p:sp>
      <p:sp>
        <p:nvSpPr>
          <p:cNvPr id="12" name="TextBox 11"/>
          <p:cNvSpPr txBox="1"/>
          <p:nvPr/>
        </p:nvSpPr>
        <p:spPr>
          <a:xfrm>
            <a:off x="457200" y="5126735"/>
            <a:ext cx="4983281" cy="633984"/>
          </a:xfrm>
          <a:prstGeom prst="rect">
            <a:avLst/>
          </a:prstGeom>
          <a:noFill/>
        </p:spPr>
        <p:txBody>
          <a:bodyPr wrap="none" lIns="0" rIns="0">
            <a:noAutofit/>
          </a:bodyPr>
          <a:lstStyle/>
          <a:p>
            <a:pPr algn="l"/>
            <a:r>
              <a:rPr sz="3400" b="0" i="0">
                <a:solidFill>
                  <a:srgbClr val="0A2240"/>
                </a:solidFill>
                <a:latin typeface="Arial"/>
              </a:rPr>
              <a:t>Checks running</a:t>
            </a:r>
          </a:p>
        </p:txBody>
      </p:sp>
      <p:sp>
        <p:nvSpPr>
          <p:cNvPr id="13" name="TextBox 12"/>
          <p:cNvSpPr txBox="1"/>
          <p:nvPr/>
        </p:nvSpPr>
        <p:spPr>
          <a:xfrm>
            <a:off x="4948287" y="5126735"/>
            <a:ext cx="5482550" cy="633984"/>
          </a:xfrm>
          <a:prstGeom prst="rect">
            <a:avLst/>
          </a:prstGeom>
          <a:noFill/>
        </p:spPr>
        <p:txBody>
          <a:bodyPr wrap="none" lIns="0" rIns="0">
            <a:noAutofit/>
          </a:bodyPr>
          <a:lstStyle/>
          <a:p>
            <a:pPr algn="l"/>
            <a:r>
              <a:rPr sz="3400" b="0" i="0">
                <a:solidFill>
                  <a:srgbClr val="0A2240"/>
                </a:solidFill>
                <a:latin typeface="Arial"/>
              </a:rPr>
              <a:t>One fired already</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47</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If You Are Behind</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Stop fixing at 11:40</a:t>
            </a:r>
          </a:p>
        </p:txBody>
      </p:sp>
      <p:sp>
        <p:nvSpPr>
          <p:cNvPr id="5" name="TextBox 4"/>
          <p:cNvSpPr txBox="1"/>
          <p:nvPr/>
        </p:nvSpPr>
        <p:spPr>
          <a:xfrm>
            <a:off x="1461983" y="2185416"/>
            <a:ext cx="10512683" cy="551688"/>
          </a:xfrm>
          <a:prstGeom prst="rect">
            <a:avLst/>
          </a:prstGeom>
          <a:noFill/>
        </p:spPr>
        <p:txBody>
          <a:bodyPr wrap="none" lIns="0" rIns="0">
            <a:noAutofit/>
          </a:bodyPr>
          <a:lstStyle/>
          <a:p>
            <a:pPr algn="l"/>
            <a:r>
              <a:rPr sz="3400" b="0" i="0">
                <a:solidFill>
                  <a:srgbClr val="0A2240"/>
                </a:solidFill>
                <a:latin typeface="Arial"/>
              </a:rPr>
              <a:t>Whatever is left goes into caveats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Push what is proven</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An unproven change stays uncommitted</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Never skip the schedule</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It is the only part that outlives today</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Leaving This Session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cut line, written and held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Fixes above it, each re-run</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Everything pushed to GitHub</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Checks running without you</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49</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This Down Now</a:t>
            </a:r>
          </a:p>
        </p:txBody>
      </p:sp>
      <p:sp>
        <p:nvSpPr>
          <p:cNvPr id="3" name="TextBox 2"/>
          <p:cNvSpPr txBox="1"/>
          <p:nvPr/>
        </p:nvSpPr>
        <p:spPr>
          <a:xfrm>
            <a:off x="457200" y="1499616"/>
            <a:ext cx="4805625" cy="518159"/>
          </a:xfrm>
          <a:prstGeom prst="rect">
            <a:avLst/>
          </a:prstGeom>
          <a:noFill/>
        </p:spPr>
        <p:txBody>
          <a:bodyPr wrap="none" lIns="0" rIns="0">
            <a:noAutofit/>
          </a:bodyPr>
          <a:lstStyle/>
          <a:p>
            <a:pPr algn="l"/>
            <a:r>
              <a:rPr sz="3400" b="1" i="0">
                <a:solidFill>
                  <a:srgbClr val="0072CE"/>
                </a:solidFill>
                <a:latin typeface="Arial"/>
              </a:rPr>
              <a:t>Question</a:t>
            </a:r>
          </a:p>
        </p:txBody>
      </p:sp>
      <p:sp>
        <p:nvSpPr>
          <p:cNvPr id="4" name="TextBox 3"/>
          <p:cNvSpPr txBox="1"/>
          <p:nvPr/>
        </p:nvSpPr>
        <p:spPr>
          <a:xfrm>
            <a:off x="5811465" y="1499616"/>
            <a:ext cx="4278233" cy="518159"/>
          </a:xfrm>
          <a:prstGeom prst="rect">
            <a:avLst/>
          </a:prstGeom>
          <a:noFill/>
        </p:spPr>
        <p:txBody>
          <a:bodyPr wrap="none" lIns="0" rIns="0">
            <a:noAutofit/>
          </a:bodyPr>
          <a:lstStyle/>
          <a:p>
            <a:pPr algn="l"/>
            <a:r>
              <a:rPr sz="3400" b="1" i="0">
                <a:solidFill>
                  <a:srgbClr val="0072CE"/>
                </a:solidFill>
                <a:latin typeface="Arial"/>
              </a:rPr>
              <a:t>Your answer</a:t>
            </a:r>
          </a:p>
        </p:txBody>
      </p:sp>
      <p:sp>
        <p:nvSpPr>
          <p:cNvPr id="5" name="Rectangle 4"/>
          <p:cNvSpPr/>
          <p:nvPr/>
        </p:nvSpPr>
        <p:spPr>
          <a:xfrm>
            <a:off x="457200" y="2072639"/>
            <a:ext cx="8279621"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6904116" cy="633984"/>
          </a:xfrm>
          <a:prstGeom prst="rect">
            <a:avLst/>
          </a:prstGeom>
          <a:noFill/>
        </p:spPr>
        <p:txBody>
          <a:bodyPr wrap="none" lIns="0" rIns="0">
            <a:noAutofit/>
          </a:bodyPr>
          <a:lstStyle/>
          <a:p>
            <a:pPr algn="l"/>
            <a:r>
              <a:rPr sz="3400" b="0" i="0">
                <a:solidFill>
                  <a:srgbClr val="0A2240"/>
                </a:solidFill>
                <a:latin typeface="Arial"/>
              </a:rPr>
              <a:t>Where the line landed</a:t>
            </a:r>
          </a:p>
        </p:txBody>
      </p:sp>
      <p:sp>
        <p:nvSpPr>
          <p:cNvPr id="7" name="TextBox 6"/>
          <p:cNvSpPr txBox="1"/>
          <p:nvPr/>
        </p:nvSpPr>
        <p:spPr>
          <a:xfrm>
            <a:off x="5811465" y="2401823"/>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8" name="TextBox 7"/>
          <p:cNvSpPr txBox="1"/>
          <p:nvPr/>
        </p:nvSpPr>
        <p:spPr>
          <a:xfrm>
            <a:off x="457200" y="3310127"/>
            <a:ext cx="5521345" cy="633984"/>
          </a:xfrm>
          <a:prstGeom prst="rect">
            <a:avLst/>
          </a:prstGeom>
          <a:noFill/>
        </p:spPr>
        <p:txBody>
          <a:bodyPr wrap="none" lIns="0" rIns="0">
            <a:noAutofit/>
          </a:bodyPr>
          <a:lstStyle/>
          <a:p>
            <a:pPr algn="l"/>
            <a:r>
              <a:rPr sz="3400" b="0" i="0">
                <a:solidFill>
                  <a:srgbClr val="0A2240"/>
                </a:solidFill>
                <a:latin typeface="Arial"/>
              </a:rPr>
              <a:t>Fixed and proven</a:t>
            </a:r>
          </a:p>
        </p:txBody>
      </p:sp>
      <p:sp>
        <p:nvSpPr>
          <p:cNvPr id="9" name="TextBox 8"/>
          <p:cNvSpPr txBox="1"/>
          <p:nvPr/>
        </p:nvSpPr>
        <p:spPr>
          <a:xfrm>
            <a:off x="5811465" y="3310127"/>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0" name="TextBox 9"/>
          <p:cNvSpPr txBox="1"/>
          <p:nvPr/>
        </p:nvSpPr>
        <p:spPr>
          <a:xfrm>
            <a:off x="457200" y="4218431"/>
            <a:ext cx="5290939" cy="633984"/>
          </a:xfrm>
          <a:prstGeom prst="rect">
            <a:avLst/>
          </a:prstGeom>
          <a:noFill/>
        </p:spPr>
        <p:txBody>
          <a:bodyPr wrap="none" lIns="0" rIns="0">
            <a:noAutofit/>
          </a:bodyPr>
          <a:lstStyle/>
          <a:p>
            <a:pPr algn="l"/>
            <a:r>
              <a:rPr sz="3400" b="0" i="0">
                <a:solidFill>
                  <a:srgbClr val="0A2240"/>
                </a:solidFill>
                <a:latin typeface="Arial"/>
              </a:rPr>
              <a:t>Biggest thing left</a:t>
            </a:r>
          </a:p>
        </p:txBody>
      </p:sp>
      <p:sp>
        <p:nvSpPr>
          <p:cNvPr id="11" name="TextBox 10"/>
          <p:cNvSpPr txBox="1"/>
          <p:nvPr/>
        </p:nvSpPr>
        <p:spPr>
          <a:xfrm>
            <a:off x="5811465" y="4218431"/>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2" name="TextBox 11"/>
          <p:cNvSpPr txBox="1"/>
          <p:nvPr/>
        </p:nvSpPr>
        <p:spPr>
          <a:xfrm>
            <a:off x="457200" y="5126735"/>
            <a:ext cx="7286664" cy="633984"/>
          </a:xfrm>
          <a:prstGeom prst="rect">
            <a:avLst/>
          </a:prstGeom>
          <a:noFill/>
        </p:spPr>
        <p:txBody>
          <a:bodyPr wrap="none" lIns="0" rIns="0">
            <a:noAutofit/>
          </a:bodyPr>
          <a:lstStyle/>
          <a:p>
            <a:pPr algn="l"/>
            <a:r>
              <a:rPr sz="3400" b="0" i="0">
                <a:solidFill>
                  <a:srgbClr val="0A2240"/>
                </a:solidFill>
                <a:latin typeface="Arial"/>
              </a:rPr>
              <a:t>What the checks watch</a:t>
            </a:r>
          </a:p>
        </p:txBody>
      </p:sp>
      <p:sp>
        <p:nvSpPr>
          <p:cNvPr id="13" name="TextBox 12"/>
          <p:cNvSpPr txBox="1"/>
          <p:nvPr/>
        </p:nvSpPr>
        <p:spPr>
          <a:xfrm>
            <a:off x="5811465" y="5126735"/>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50</a:t>
            </a:fld>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You Built This Week</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problem stated precisely</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workflow mapped and owned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prototype at a public URL</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Proof that you tested it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