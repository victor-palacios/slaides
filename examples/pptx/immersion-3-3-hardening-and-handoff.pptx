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session of the week. They are holding a log of their own failures written by people with no reason to be gentle. This hour turns that into a better prototype and something that keeps testing itself.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deliverable in one line: the failures above the cut line fixed, proven by re-running the exact tests that caught them, pushed, and a schedule of checks running after everyone goes home.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syllabus objectives across four moves. The second is a separate move on purpose — deciding what you will not fix is a distinct act from ranking, and teams that skip it fix whatever is nearest.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rather than with the log. In fifty minutes they cannot fix everything, and the teams that end the week strongest are the ones that decided that on purpose rather than by running out of time.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A log is a pile of facts and produces anxiety. A cut line turns the same pile into a plan, and the pile stops being frightening the moment the line exists.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of the hour. Note that fixing is only the third move — most of the value is in the first two, and teams that dive straight into code fix the easy things and leave the critical ones.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is 11:40. Stop fixing then regardless of what is left — the scheduled checks are the only part of this hour that keeps working after the week ends, and they need the full ten minutes.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for the session. Anyone can rank a list; committing to leave the bottom of it alone is what makes the ranking mean something. That commitment is the deliverable of the first twelve minutes.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objective. Two axes, one line, twelve minutes. Do this as a whole team with the log on a shared screen, not by splitting the list between people.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Borrowed from medicine, and the borrowing is exact. Triage is not ranking by severity — it is ranking by where your limited effort does the most good, which is a different order.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steps first. The second usually shrinks a twenty-entry log to eight real problems, and doing it before ranking stops the same bug being fixed three times.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questions per finding, thirty seconds each. Resist adding a third axis — elegance, interest, whose fault it was. Every extra axis is a way of arriving at the answer you already wanted.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grid that does the work. Note the top-right cell: a critical failure gets fixed even when it is expensive, because severity beats cost at the top. Everything else trades.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hard half out loud: below the line means not today, not tonight, not quietly during the demo. A line people cross privately is not a line.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is the honest one. Teams rank well and then plan to fix nine things in thirty minutes. Adding the estimates up is what forces the line to land somewhere real.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non-negotiables regardless of cost. The first outranks the rest — a system that is wrong while looking right damages trust in a way a crash never does.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things to leave alone with a clear conscience. The last is why yesterday's caveat list pays off twice — a documented limit is a decision already made, not a bug rediscovered.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buckets, no finer. The fourth is the discipline — an unknown estimate is not a small one, and teams systematically guess low on things they have not looked 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teams run out of time; only one of them chose where. The third row is the one that decides how the demo goes, because an unfixed critical finding does not stay hidden.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ways the twelve minutes disappear. The last two are the same instinct 3.2 asked them to suppress, arriving late. If a finding is disputed, rank it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is where discipline breaks. A team that keeps sliding the line downward as they finish things ends up mid-fix at 11:50 with nothing pushed and nothing scheduled.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not remembered. The lower list is the more valuable one — it goes straight into the demo caveats and answers the question a judge is about to ask.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objective. Twenty-two minutes of fixing, and the syllabus is specific that each fix must be proven by re-running the exact test that caught it. That word exact is doing real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it so it cannot drift. Not "I changed the code", not "it should be better" — the specific input from the log goes in and the right thing comes out, watched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is skipped constantly and it is the one that saves time. A fix applied to a failure you never reproduced is a guess, and about half of those guesses are wrong.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rules that feel slow and are faster. Batched fixes that do not work leave you unable to tell which change broke what, at the worst possible point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proof looks like — the exact input from the log, the new behaviour on screen, and a note tying it to the finding number. Thirty seconds, and it makes the commit message write itself.</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distinction the objective turns on. Every unproven fix is a finding you have merely moved out of sight, and Day 3 exists precisely because things out of sight get found by someone else.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ban list as Day 2, for the same reason. There are thirty minutes left in the week; every one spent on something not on the log is taken from something that 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three is the one that gets forgotten. A stale caveat list is worse than none, because it tells a judge you are not tracking your own system accurately.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Explicit paths, the finding number in the message, and the caveat update as part of the same move. Anyone reading the history later can trace a fix back to the log entry that caused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rows a stranger can read in ten seconds. Note that below-the-line entries stay on the record rather than disappearing — that is the difference between a known limit and an unknown one.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destinations. The last line matters for morale on the final afternoon: a documented, deliberate limit is a scoping decision, and every shipped system has a list like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repeat when a team is running short and tempted to push a change they have not re-run. If there is time for one but not both, fix fewer things and prove them.</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objective, and the one that outlives the week. Everything so far was tested because people were watching. This section is about what happens when they are not.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it and let the silence sit. The honest answer for most prototypes is nobody, which is exactly why they quietly stop working and nobody finds out until they are opened in front of someone.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it plainly. A Routine is a scheduled agent run — the same instructions they would type, fired on a timer, reporting what it found. That is the whole idea.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reasons. The second is the most common in practice — prototypes rarely break because of code changes, they break because something they depend on changed underneath them.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a few minutes each. Step three decides whether any of this matters — a check reporting into a place nobody opens is the same as no check at all.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lines, and it is just the happy path from 2.2 run by somebody else. The last line matters — a check that reports nothing when healthy is a check you stop trusting.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checks, and the second is the point of the whole session. A fix that silently regresses is worse than the original bug, because you have stopped watching for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specificity lesson as the whole week, applied one last time. A vague scheduled prompt produces a vague daily message that everybody learns to ignore within a week.</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syllabus says unlimited, so the constraint is not count — it is whether each one is worth reading. Generous with checks, strict about them reporting something a person can act 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team only sets up three, these are the three. The first catches the dead-demo case, the second catches silent breakage, and the third catches regression of everything they did this hour.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files, and together they are the handoff. Anyone picking this up in a month — including them — can understand the system without a conversation, which is what handoff means.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days of work in one screen. Point out that four of these files are prose rather than code — the record of what they chose and what they know is as much of the deliverable as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binary checks to run as a team before 11:50. The last is the one to verify rather than assume — a Routine that was created but never fired has not been tested either.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at 11:38. The order of sacrifice is fixes first, the schedule last — a prototype with two fixes and a working daily check is in better shape than one with five fixes and nobody watching.</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exit checklist for the session and for the week. Four lines, all binary, all verifiable in the repo by someone who was not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four answers of the week. The third is what they should say out loud in the demo before anyone asks, which turns their largest remaining weakness into evidence that they know their own system.</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week here. Four lines covering three days. The last is the one most teams never have — plenty of people can show a demo, far fewer can show what they did to try to break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question of the week. Everything below the cut line, everything in the caveats and everything the red team found is already the answer — they leave with a backlog rather than a blank page.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kit · Title Slid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914400" y="2971800"/>
            <a:ext cx="11277600" cy="914400"/>
          </a:xfrm>
          <a:prstGeom prst="rect">
            <a:avLst/>
          </a:prstGeom>
          <a:noFill/>
        </p:spPr>
        <p:txBody>
          <a:bodyPr wrap="none" lIns="0" rIns="0">
            <a:noAutofit/>
          </a:bodyPr>
          <a:lstStyle/>
          <a:p>
            <a:pPr algn="l"/>
            <a:r>
              <a:rPr sz="6000" b="1" i="0">
                <a:solidFill>
                  <a:srgbClr val="0072CE"/>
                </a:solidFill>
                <a:latin typeface="Arial"/>
              </a:rPr>
              <a:t>Quarterly Business Review</a:t>
            </a:r>
          </a:p>
        </p:txBody>
      </p:sp>
    </p:spTree>
    <p:extLst>
      <p:ext uri="{BB962C8B-B14F-4D97-AF65-F5344CB8AC3E}">
        <p14:creationId xmlns:p14="http://schemas.microsoft.com/office/powerpoint/2010/main" val="12129998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slidekit · Icon Text Row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Drives Us</a:t>
            </a:r>
          </a:p>
        </p:txBody>
      </p:sp>
      <p:sp>
        <p:nvSpPr>
          <p:cNvPr id="6" name="TextBox 5"/>
          <p:cNvSpPr/>
          <p:nvPr>
            <p:ph type="body" id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Excellence</a:t>
            </a:r>
          </a:p>
        </p:txBody>
      </p:sp>
      <p:sp>
        <p:nvSpPr>
          <p:cNvPr id="7" name="TextBox 6"/>
          <p:cNvSpPr/>
          <p:nvPr>
            <p:ph type="body" idx="2"/>
          </p:nvPr>
        </p:nvSpPr>
        <p:spPr>
          <a:xfrm>
            <a:off x="457200" y="2109215"/>
            <a:ext cx="11734800" cy="627889"/>
          </a:xfrm>
          <a:prstGeom prst="rect">
            <a:avLst/>
          </a:prstGeom>
          <a:noFill/>
        </p:spPr>
        <p:txBody>
          <a:bodyPr wrap="none" lIns="0" rIns="0">
            <a:noAutofit/>
          </a:bodyPr>
          <a:lstStyle/>
          <a:p>
            <a:pPr algn="l"/>
            <a:r>
              <a:rPr sz="3400" b="0" i="0">
                <a:solidFill>
                  <a:srgbClr val="0A2240"/>
                </a:solidFill>
                <a:latin typeface="Arial"/>
              </a:rPr>
              <a:t>High standards in every deliverable we ship.</a:t>
            </a:r>
          </a:p>
        </p:txBody>
      </p:sp>
      <p:sp>
        <p:nvSpPr>
          <p:cNvPr id="8" name="TextBox 7"/>
          <p:cNvSpPr/>
          <p:nvPr>
            <p:ph type="body" idx="3"/>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Integrity</a:t>
            </a:r>
          </a:p>
        </p:txBody>
      </p:sp>
      <p:sp>
        <p:nvSpPr>
          <p:cNvPr id="9" name="TextBox 8"/>
          <p:cNvSpPr/>
          <p:nvPr>
            <p:ph type="body" idx="4"/>
          </p:nvPr>
        </p:nvSpPr>
        <p:spPr>
          <a:xfrm>
            <a:off x="457200" y="3621023"/>
            <a:ext cx="11333440" cy="627889"/>
          </a:xfrm>
          <a:prstGeom prst="rect">
            <a:avLst/>
          </a:prstGeom>
          <a:noFill/>
        </p:spPr>
        <p:txBody>
          <a:bodyPr wrap="none" lIns="0" rIns="0">
            <a:noAutofit/>
          </a:bodyPr>
          <a:lstStyle/>
          <a:p>
            <a:pPr algn="l"/>
            <a:r>
              <a:rPr sz="3400" b="0" i="0">
                <a:solidFill>
                  <a:srgbClr val="0A2240"/>
                </a:solidFill>
                <a:latin typeface="Arial"/>
              </a:rPr>
              <a:t>Transparent and honest in all we do.</a:t>
            </a:r>
          </a:p>
        </p:txBody>
      </p:sp>
      <p:sp>
        <p:nvSpPr>
          <p:cNvPr id="10" name="TextBox 9"/>
          <p:cNvSpPr/>
          <p:nvPr>
            <p:ph type="body" idx="5"/>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Innovation</a:t>
            </a:r>
          </a:p>
        </p:txBody>
      </p:sp>
      <p:sp>
        <p:nvSpPr>
          <p:cNvPr id="11" name="TextBox 10"/>
          <p:cNvSpPr/>
          <p:nvPr>
            <p:ph type="body" idx="6"/>
          </p:nvPr>
        </p:nvSpPr>
        <p:spPr>
          <a:xfrm>
            <a:off x="457200" y="5132831"/>
            <a:ext cx="11734800" cy="627889"/>
          </a:xfrm>
          <a:prstGeom prst="rect">
            <a:avLst/>
          </a:prstGeom>
          <a:noFill/>
        </p:spPr>
        <p:txBody>
          <a:bodyPr wrap="none" lIns="0" rIns="0">
            <a:noAutofit/>
          </a:bodyPr>
          <a:lstStyle/>
          <a:p>
            <a:pPr algn="l"/>
            <a:r>
              <a:rPr sz="3400" b="0" i="0">
                <a:solidFill>
                  <a:srgbClr val="0A2240"/>
                </a:solidFill>
                <a:latin typeface="Arial"/>
              </a:rPr>
              <a:t>Investing in ideas that shape tomorrow.</a:t>
            </a:r>
          </a:p>
        </p:txBody>
      </p:sp>
    </p:spTree>
    <p:extLst>
      <p:ext uri="{BB962C8B-B14F-4D97-AF65-F5344CB8AC3E}">
        <p14:creationId xmlns:p14="http://schemas.microsoft.com/office/powerpoint/2010/main" val="121299981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slidekit · Stat Callou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By the Numbers</a:t>
            </a:r>
          </a:p>
        </p:txBody>
      </p:sp>
      <p:sp>
        <p:nvSpPr>
          <p:cNvPr id="6" name="TextBox 5"/>
          <p:cNvSpPr/>
          <p:nvPr>
            <p:ph type="body" idx="1"/>
          </p:nvPr>
        </p:nvSpPr>
        <p:spPr>
          <a:xfrm>
            <a:off x="457200" y="2776728"/>
            <a:ext cx="3576320" cy="914400"/>
          </a:xfrm>
          <a:prstGeom prst="rect">
            <a:avLst/>
          </a:prstGeom>
          <a:noFill/>
        </p:spPr>
        <p:txBody>
          <a:bodyPr wrap="none" lIns="0" rIns="0">
            <a:noAutofit/>
          </a:bodyPr>
          <a:lstStyle/>
          <a:p>
            <a:pPr algn="l"/>
            <a:r>
              <a:rPr sz="6000" b="1" i="0">
                <a:solidFill>
                  <a:srgbClr val="0072CE"/>
                </a:solidFill>
                <a:latin typeface="Arial"/>
              </a:rPr>
              <a:t>127%</a:t>
            </a:r>
          </a:p>
        </p:txBody>
      </p:sp>
      <p:sp>
        <p:nvSpPr>
          <p:cNvPr id="7" name="TextBox 6"/>
          <p:cNvSpPr/>
          <p:nvPr>
            <p:ph type="body" idx="2"/>
          </p:nvPr>
        </p:nvSpPr>
        <p:spPr>
          <a:xfrm>
            <a:off x="457200" y="3965448"/>
            <a:ext cx="5048051" cy="518159"/>
          </a:xfrm>
          <a:prstGeom prst="rect">
            <a:avLst/>
          </a:prstGeom>
          <a:noFill/>
        </p:spPr>
        <p:txBody>
          <a:bodyPr wrap="none" lIns="0" rIns="0">
            <a:noAutofit/>
          </a:bodyPr>
          <a:lstStyle/>
          <a:p>
            <a:pPr algn="l"/>
            <a:r>
              <a:rPr sz="3400" b="0" i="0">
                <a:solidFill>
                  <a:srgbClr val="0A2240"/>
                </a:solidFill>
                <a:latin typeface="Arial"/>
              </a:rPr>
              <a:t>Revenue Target</a:t>
            </a:r>
          </a:p>
        </p:txBody>
      </p:sp>
      <p:sp>
        <p:nvSpPr>
          <p:cNvPr id="8" name="TextBox 7"/>
          <p:cNvSpPr/>
          <p:nvPr>
            <p:ph type="body" idx="3"/>
          </p:nvPr>
        </p:nvSpPr>
        <p:spPr>
          <a:xfrm>
            <a:off x="4307840" y="2776728"/>
            <a:ext cx="3576320" cy="914400"/>
          </a:xfrm>
          <a:prstGeom prst="rect">
            <a:avLst/>
          </a:prstGeom>
          <a:noFill/>
        </p:spPr>
        <p:txBody>
          <a:bodyPr wrap="none" lIns="0" rIns="0">
            <a:noAutofit/>
          </a:bodyPr>
          <a:lstStyle/>
          <a:p>
            <a:pPr algn="l"/>
            <a:r>
              <a:rPr sz="6000" b="1" i="0">
                <a:solidFill>
                  <a:srgbClr val="0072CE"/>
                </a:solidFill>
                <a:latin typeface="Arial"/>
              </a:rPr>
              <a:t>94%</a:t>
            </a:r>
          </a:p>
        </p:txBody>
      </p:sp>
      <p:sp>
        <p:nvSpPr>
          <p:cNvPr id="9" name="TextBox 8"/>
          <p:cNvSpPr/>
          <p:nvPr>
            <p:ph type="body" idx="4"/>
          </p:nvPr>
        </p:nvSpPr>
        <p:spPr>
          <a:xfrm>
            <a:off x="4307840" y="3965448"/>
            <a:ext cx="4791670" cy="518159"/>
          </a:xfrm>
          <a:prstGeom prst="rect">
            <a:avLst/>
          </a:prstGeom>
          <a:noFill/>
        </p:spPr>
        <p:txBody>
          <a:bodyPr wrap="none" lIns="0" rIns="0">
            <a:noAutofit/>
          </a:bodyPr>
          <a:lstStyle/>
          <a:p>
            <a:pPr algn="l"/>
            <a:r>
              <a:rPr sz="3400" b="0" i="0">
                <a:solidFill>
                  <a:srgbClr val="0A2240"/>
                </a:solidFill>
                <a:latin typeface="Arial"/>
              </a:rPr>
              <a:t>Retention Rate</a:t>
            </a:r>
          </a:p>
        </p:txBody>
      </p:sp>
      <p:sp>
        <p:nvSpPr>
          <p:cNvPr id="10" name="TextBox 9"/>
          <p:cNvSpPr/>
          <p:nvPr>
            <p:ph type="body" idx="5"/>
          </p:nvPr>
        </p:nvSpPr>
        <p:spPr>
          <a:xfrm>
            <a:off x="8158480" y="2776728"/>
            <a:ext cx="4033520" cy="914400"/>
          </a:xfrm>
          <a:prstGeom prst="rect">
            <a:avLst/>
          </a:prstGeom>
          <a:noFill/>
        </p:spPr>
        <p:txBody>
          <a:bodyPr wrap="none" lIns="0" rIns="0">
            <a:noAutofit/>
          </a:bodyPr>
          <a:lstStyle/>
          <a:p>
            <a:pPr algn="l"/>
            <a:r>
              <a:rPr sz="6000" b="1" i="0">
                <a:solidFill>
                  <a:srgbClr val="0072CE"/>
                </a:solidFill>
                <a:latin typeface="Arial"/>
              </a:rPr>
              <a:t>48 NPS</a:t>
            </a:r>
          </a:p>
        </p:txBody>
      </p:sp>
      <p:sp>
        <p:nvSpPr>
          <p:cNvPr id="11" name="TextBox 10"/>
          <p:cNvSpPr/>
          <p:nvPr>
            <p:ph type="body" idx="6"/>
          </p:nvPr>
        </p:nvSpPr>
        <p:spPr>
          <a:xfrm>
            <a:off x="8158480" y="3965448"/>
            <a:ext cx="4033520" cy="518159"/>
          </a:xfrm>
          <a:prstGeom prst="rect">
            <a:avLst/>
          </a:prstGeom>
          <a:noFill/>
        </p:spPr>
        <p:txBody>
          <a:bodyPr wrap="none" lIns="0" rIns="0">
            <a:noAutofit/>
          </a:bodyPr>
          <a:lstStyle/>
          <a:p>
            <a:pPr algn="l"/>
            <a:r>
              <a:rPr sz="3400" b="0" i="0">
                <a:solidFill>
                  <a:srgbClr val="0A2240"/>
                </a:solidFill>
                <a:latin typeface="Arial"/>
              </a:rPr>
              <a:t>Net Promoter</a:t>
            </a:r>
          </a:p>
        </p:txBody>
      </p:sp>
    </p:spTree>
    <p:extLst>
      <p:ext uri="{BB962C8B-B14F-4D97-AF65-F5344CB8AC3E}">
        <p14:creationId xmlns:p14="http://schemas.microsoft.com/office/powerpoint/2010/main" val="12129998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slidekit · Comparison Column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Side-by-Side Evaluation</a:t>
            </a:r>
          </a:p>
        </p:txBody>
      </p:sp>
      <p:sp>
        <p:nvSpPr>
          <p:cNvPr id="6" name="TextBox 5"/>
          <p:cNvSpPr/>
          <p:nvPr>
            <p:ph type="body" idx="1"/>
          </p:nvPr>
        </p:nvSpPr>
        <p:spPr>
          <a:xfrm>
            <a:off x="457200" y="1499616"/>
            <a:ext cx="5558115" cy="621791"/>
          </a:xfrm>
          <a:prstGeom prst="rect">
            <a:avLst/>
          </a:prstGeom>
          <a:noFill/>
        </p:spPr>
        <p:txBody>
          <a:bodyPr wrap="none" lIns="0" rIns="0">
            <a:noAutofit/>
          </a:bodyPr>
          <a:lstStyle/>
          <a:p>
            <a:pPr algn="l"/>
            <a:r>
              <a:rPr sz="3400" b="1" i="0">
                <a:solidFill>
                  <a:srgbClr val="123A6B"/>
                </a:solidFill>
                <a:latin typeface="Arial"/>
              </a:rPr>
              <a:t>Legacy Platform</a:t>
            </a:r>
          </a:p>
        </p:txBody>
      </p:sp>
      <p:sp>
        <p:nvSpPr>
          <p:cNvPr id="7" name="TextBox 6"/>
          <p:cNvSpPr/>
          <p:nvPr>
            <p:ph type="body" idx="2"/>
          </p:nvPr>
        </p:nvSpPr>
        <p:spPr>
          <a:xfrm>
            <a:off x="6233160" y="1499616"/>
            <a:ext cx="5501640" cy="621791"/>
          </a:xfrm>
          <a:prstGeom prst="rect">
            <a:avLst/>
          </a:prstGeom>
          <a:noFill/>
        </p:spPr>
        <p:txBody>
          <a:bodyPr wrap="none" lIns="0" rIns="0">
            <a:noAutofit/>
          </a:bodyPr>
          <a:lstStyle/>
          <a:p>
            <a:pPr algn="l"/>
            <a:r>
              <a:rPr sz="3400" b="1" i="0">
                <a:solidFill>
                  <a:srgbClr val="123A6B"/>
                </a:solidFill>
                <a:latin typeface="Arial"/>
              </a:rPr>
              <a:t>Modern Stack</a:t>
            </a:r>
          </a:p>
        </p:txBody>
      </p:sp>
      <p:sp>
        <p:nvSpPr>
          <p:cNvPr id="8" name="TextBox 7"/>
          <p:cNvSpPr/>
          <p:nvPr>
            <p:ph type="body" idx="3"/>
          </p:nvPr>
        </p:nvSpPr>
        <p:spPr>
          <a:xfrm>
            <a:off x="457200" y="2395727"/>
            <a:ext cx="6518870" cy="847344"/>
          </a:xfrm>
          <a:prstGeom prst="rect">
            <a:avLst/>
          </a:prstGeom>
          <a:noFill/>
        </p:spPr>
        <p:txBody>
          <a:bodyPr wrap="none" lIns="0" rIns="0">
            <a:noAutofit/>
          </a:bodyPr>
          <a:lstStyle/>
          <a:p>
            <a:pPr algn="l"/>
            <a:r>
              <a:rPr sz="3400" b="0" i="0">
                <a:solidFill>
                  <a:srgbClr val="0A2240"/>
                </a:solidFill>
                <a:latin typeface="Arial"/>
              </a:rPr>
              <a:t>Deploy time: 4 hours</a:t>
            </a:r>
          </a:p>
        </p:txBody>
      </p:sp>
      <p:sp>
        <p:nvSpPr>
          <p:cNvPr id="9" name="TextBox 8"/>
          <p:cNvSpPr/>
          <p:nvPr>
            <p:ph type="body" idx="4"/>
          </p:nvPr>
        </p:nvSpPr>
        <p:spPr>
          <a:xfrm>
            <a:off x="6233160" y="2395727"/>
            <a:ext cx="5903892" cy="847344"/>
          </a:xfrm>
          <a:prstGeom prst="rect">
            <a:avLst/>
          </a:prstGeom>
          <a:noFill/>
        </p:spPr>
        <p:txBody>
          <a:bodyPr wrap="none" lIns="0" rIns="0">
            <a:noAutofit/>
          </a:bodyPr>
          <a:lstStyle/>
          <a:p>
            <a:pPr algn="l"/>
            <a:r>
              <a:rPr sz="3400" b="0" i="0">
                <a:solidFill>
                  <a:srgbClr val="0A2240"/>
                </a:solidFill>
                <a:latin typeface="Arial"/>
              </a:rPr>
              <a:t>Deploy time: 8 min</a:t>
            </a:r>
          </a:p>
        </p:txBody>
      </p:sp>
      <p:sp>
        <p:nvSpPr>
          <p:cNvPr id="10" name="TextBox 9"/>
          <p:cNvSpPr/>
          <p:nvPr>
            <p:ph type="body" idx="5"/>
          </p:nvPr>
        </p:nvSpPr>
        <p:spPr>
          <a:xfrm>
            <a:off x="457200" y="3517391"/>
            <a:ext cx="5501640" cy="847344"/>
          </a:xfrm>
          <a:prstGeom prst="rect">
            <a:avLst/>
          </a:prstGeom>
          <a:noFill/>
        </p:spPr>
        <p:txBody>
          <a:bodyPr wrap="none" lIns="0" rIns="0">
            <a:noAutofit/>
          </a:bodyPr>
          <a:lstStyle/>
          <a:p>
            <a:pPr algn="l"/>
            <a:r>
              <a:rPr sz="3400" b="0" i="0">
                <a:solidFill>
                  <a:srgbClr val="0A2240"/>
                </a:solidFill>
                <a:latin typeface="Arial"/>
              </a:rPr>
              <a:t>Manual scaling</a:t>
            </a:r>
          </a:p>
        </p:txBody>
      </p:sp>
      <p:sp>
        <p:nvSpPr>
          <p:cNvPr id="11" name="TextBox 10"/>
          <p:cNvSpPr/>
          <p:nvPr>
            <p:ph type="body" idx="6"/>
          </p:nvPr>
        </p:nvSpPr>
        <p:spPr>
          <a:xfrm>
            <a:off x="6233160" y="3517391"/>
            <a:ext cx="5501640" cy="847344"/>
          </a:xfrm>
          <a:prstGeom prst="rect">
            <a:avLst/>
          </a:prstGeom>
          <a:noFill/>
        </p:spPr>
        <p:txBody>
          <a:bodyPr wrap="none" lIns="0" rIns="0">
            <a:noAutofit/>
          </a:bodyPr>
          <a:lstStyle/>
          <a:p>
            <a:pPr algn="l"/>
            <a:r>
              <a:rPr sz="3400" b="0" i="0">
                <a:solidFill>
                  <a:srgbClr val="0A2240"/>
                </a:solidFill>
                <a:latin typeface="Arial"/>
              </a:rPr>
              <a:t>Auto-scales fast</a:t>
            </a:r>
          </a:p>
        </p:txBody>
      </p:sp>
      <p:sp>
        <p:nvSpPr>
          <p:cNvPr id="12" name="TextBox 11"/>
          <p:cNvSpPr/>
          <p:nvPr>
            <p:ph type="body" idx="7"/>
          </p:nvPr>
        </p:nvSpPr>
        <p:spPr>
          <a:xfrm>
            <a:off x="457200" y="4639055"/>
            <a:ext cx="6940888" cy="847344"/>
          </a:xfrm>
          <a:prstGeom prst="rect">
            <a:avLst/>
          </a:prstGeom>
          <a:noFill/>
        </p:spPr>
        <p:txBody>
          <a:bodyPr wrap="none" lIns="0" rIns="0">
            <a:noAutofit/>
          </a:bodyPr>
          <a:lstStyle/>
          <a:p>
            <a:pPr algn="l"/>
            <a:r>
              <a:rPr sz="3400" b="0" i="0">
                <a:solidFill>
                  <a:srgbClr val="0A2240"/>
                </a:solidFill>
                <a:latin typeface="Arial"/>
              </a:rPr>
              <a:t>On-premise; high cost</a:t>
            </a:r>
          </a:p>
        </p:txBody>
      </p:sp>
      <p:sp>
        <p:nvSpPr>
          <p:cNvPr id="13" name="TextBox 12"/>
          <p:cNvSpPr/>
          <p:nvPr>
            <p:ph type="body" idx="8"/>
          </p:nvPr>
        </p:nvSpPr>
        <p:spPr>
          <a:xfrm>
            <a:off x="6233160" y="4639055"/>
            <a:ext cx="5958840" cy="847344"/>
          </a:xfrm>
          <a:prstGeom prst="rect">
            <a:avLst/>
          </a:prstGeom>
          <a:noFill/>
        </p:spPr>
        <p:txBody>
          <a:bodyPr wrap="none" lIns="0" rIns="0">
            <a:noAutofit/>
          </a:bodyPr>
          <a:lstStyle/>
          <a:p>
            <a:pPr algn="l"/>
            <a:r>
              <a:rPr sz="3400" b="0" i="0">
                <a:solidFill>
                  <a:srgbClr val="0A2240"/>
                </a:solidFill>
                <a:latin typeface="Arial"/>
              </a:rPr>
              <a:t>Cloud-native; low cost</a:t>
            </a:r>
          </a:p>
        </p:txBody>
      </p:sp>
    </p:spTree>
    <p:extLst>
      <p:ext uri="{BB962C8B-B14F-4D97-AF65-F5344CB8AC3E}">
        <p14:creationId xmlns:p14="http://schemas.microsoft.com/office/powerpoint/2010/main" val="12129998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slidekit · Timelin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Milestones</a:t>
            </a:r>
          </a:p>
        </p:txBody>
      </p:sp>
      <p:sp>
        <p:nvSpPr>
          <p:cNvPr id="6" name="TextBox 5"/>
          <p:cNvSpPr/>
          <p:nvPr>
            <p:ph type="body" id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Q1</a:t>
            </a:r>
          </a:p>
        </p:txBody>
      </p:sp>
      <p:sp>
        <p:nvSpPr>
          <p:cNvPr id="7" name="TextBox 6"/>
          <p:cNvSpPr/>
          <p:nvPr>
            <p:ph type="body" idx="2"/>
          </p:nvPr>
        </p:nvSpPr>
        <p:spPr>
          <a:xfrm>
            <a:off x="457200" y="2154936"/>
            <a:ext cx="3943251" cy="518159"/>
          </a:xfrm>
          <a:prstGeom prst="rect">
            <a:avLst/>
          </a:prstGeom>
          <a:noFill/>
        </p:spPr>
        <p:txBody>
          <a:bodyPr wrap="none" lIns="0" rIns="0">
            <a:noAutofit/>
          </a:bodyPr>
          <a:lstStyle/>
          <a:p>
            <a:pPr algn="l"/>
            <a:r>
              <a:rPr sz="3400" b="1" i="0">
                <a:solidFill>
                  <a:srgbClr val="0A2240"/>
                </a:solidFill>
                <a:latin typeface="Arial"/>
              </a:rPr>
              <a:t>Foundation</a:t>
            </a:r>
          </a:p>
        </p:txBody>
      </p:sp>
      <p:sp>
        <p:nvSpPr>
          <p:cNvPr id="8" name="TextBox 7"/>
          <p:cNvSpPr/>
          <p:nvPr>
            <p:ph type="body" idx="3"/>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Cloud platform migration done.</a:t>
            </a:r>
          </a:p>
        </p:txBody>
      </p:sp>
      <p:sp>
        <p:nvSpPr>
          <p:cNvPr id="9" name="TextBox 8"/>
          <p:cNvSpPr/>
          <p:nvPr>
            <p:ph type="body" idx="4"/>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Q2</a:t>
            </a:r>
          </a:p>
        </p:txBody>
      </p:sp>
      <p:sp>
        <p:nvSpPr>
          <p:cNvPr id="10" name="TextBox 9"/>
          <p:cNvSpPr/>
          <p:nvPr>
            <p:ph type="body" idx="5"/>
          </p:nvPr>
        </p:nvSpPr>
        <p:spPr>
          <a:xfrm>
            <a:off x="3345180" y="2154936"/>
            <a:ext cx="3983057" cy="518159"/>
          </a:xfrm>
          <a:prstGeom prst="rect">
            <a:avLst/>
          </a:prstGeom>
          <a:noFill/>
        </p:spPr>
        <p:txBody>
          <a:bodyPr wrap="none" lIns="0" rIns="0">
            <a:noAutofit/>
          </a:bodyPr>
          <a:lstStyle/>
          <a:p>
            <a:pPr algn="l"/>
            <a:r>
              <a:rPr sz="3400" b="1" i="0">
                <a:solidFill>
                  <a:srgbClr val="0A2240"/>
                </a:solidFill>
                <a:latin typeface="Arial"/>
              </a:rPr>
              <a:t>API Launch</a:t>
            </a:r>
          </a:p>
        </p:txBody>
      </p:sp>
      <p:sp>
        <p:nvSpPr>
          <p:cNvPr id="11" name="TextBox 10"/>
          <p:cNvSpPr/>
          <p:nvPr>
            <p:ph type="body" idx="6"/>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REST API live with 99.99% SLA.</a:t>
            </a:r>
          </a:p>
        </p:txBody>
      </p:sp>
      <p:sp>
        <p:nvSpPr>
          <p:cNvPr id="12" name="TextBox 11"/>
          <p:cNvSpPr/>
          <p:nvPr>
            <p:ph type="body" idx="7"/>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Q3</a:t>
            </a:r>
          </a:p>
        </p:txBody>
      </p:sp>
      <p:sp>
        <p:nvSpPr>
          <p:cNvPr id="13" name="TextBox 12"/>
          <p:cNvSpPr/>
          <p:nvPr>
            <p:ph type="body" idx="8"/>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AI Beta</a:t>
            </a:r>
          </a:p>
        </p:txBody>
      </p:sp>
      <p:sp>
        <p:nvSpPr>
          <p:cNvPr id="14" name="TextBox 13"/>
          <p:cNvSpPr/>
          <p:nvPr>
            <p:ph type="body" idx="9"/>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AI features shipped to 500 partners.</a:t>
            </a:r>
          </a:p>
        </p:txBody>
      </p:sp>
      <p:sp>
        <p:nvSpPr>
          <p:cNvPr id="15" name="TextBox 14"/>
          <p:cNvSpPr/>
          <p:nvPr>
            <p:ph type="body" idx="13"/>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Q4</a:t>
            </a:r>
          </a:p>
        </p:txBody>
      </p:sp>
      <p:sp>
        <p:nvSpPr>
          <p:cNvPr id="16" name="TextBox 15"/>
          <p:cNvSpPr/>
          <p:nvPr>
            <p:ph type="body" idx="14"/>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Scale Out</a:t>
            </a:r>
          </a:p>
        </p:txBody>
      </p:sp>
      <p:sp>
        <p:nvSpPr>
          <p:cNvPr id="17" name="TextBox 16"/>
          <p:cNvSpPr/>
          <p:nvPr>
            <p:ph type="body" idx="15"/>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APAC regions live; global coverage.</a:t>
            </a:r>
          </a:p>
        </p:txBody>
      </p:sp>
    </p:spTree>
    <p:extLst>
      <p:ext uri="{BB962C8B-B14F-4D97-AF65-F5344CB8AC3E}">
        <p14:creationId xmlns:p14="http://schemas.microsoft.com/office/powerpoint/2010/main" val="121299981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slidekit · Image Half Blee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Built in the Field</a:t>
            </a:r>
          </a:p>
        </p:txBody>
      </p:sp>
      <p:sp>
        <p:nvSpPr>
          <p:cNvPr id="6" name="TextBox 5"/>
          <p:cNvSpPr/>
          <p:nvPr>
            <p:ph type="body" idx="1"/>
          </p:nvPr>
        </p:nvSpPr>
        <p:spPr>
          <a:xfrm>
            <a:off x="6233160" y="1499616"/>
            <a:ext cx="5501640" cy="1127760"/>
          </a:xfrm>
          <a:prstGeom prst="rect">
            <a:avLst/>
          </a:prstGeom>
          <a:noFill/>
        </p:spPr>
        <p:txBody>
          <a:bodyPr wrap="square" lIns="0" rIns="0">
            <a:noAutofit/>
          </a:bodyPr>
          <a:lstStyle/>
          <a:p>
            <a:pPr algn="l"/>
            <a:r>
              <a:rPr sz="3400" b="0" i="0">
                <a:solidFill>
                  <a:srgbClr val="0A2240"/>
                </a:solidFill>
                <a:latin typeface="Arial"/>
              </a:rPr>
              <a:t>Built with customers, not just for them.</a:t>
            </a:r>
          </a:p>
        </p:txBody>
      </p:sp>
      <p:sp>
        <p:nvSpPr>
          <p:cNvPr id="7" name="TextBox 6"/>
          <p:cNvSpPr/>
          <p:nvPr>
            <p:ph type="body" idx="2"/>
          </p:nvPr>
        </p:nvSpPr>
        <p:spPr>
          <a:xfrm>
            <a:off x="6233160" y="2901696"/>
            <a:ext cx="5501640" cy="1127760"/>
          </a:xfrm>
          <a:prstGeom prst="rect">
            <a:avLst/>
          </a:prstGeom>
          <a:noFill/>
        </p:spPr>
        <p:txBody>
          <a:bodyPr wrap="square" lIns="0" rIns="0">
            <a:noAutofit/>
          </a:bodyPr>
          <a:lstStyle/>
          <a:p>
            <a:pPr algn="l"/>
            <a:r>
              <a:rPr sz="3400" b="0" i="0">
                <a:solidFill>
                  <a:srgbClr val="0A2240"/>
                </a:solidFill>
                <a:latin typeface="Arial"/>
              </a:rPr>
              <a:t>60% faster rollout; 50% fewer tickets.</a:t>
            </a:r>
          </a:p>
        </p:txBody>
      </p:sp>
    </p:spTree>
    <p:extLst>
      <p:ext uri="{BB962C8B-B14F-4D97-AF65-F5344CB8AC3E}">
        <p14:creationId xmlns:p14="http://schemas.microsoft.com/office/powerpoint/2010/main" val="12129998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slidekit · Card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Offer</a:t>
            </a:r>
          </a:p>
        </p:txBody>
      </p:sp>
      <p:sp>
        <p:nvSpPr>
          <p:cNvPr id="6" name="TextBox 5"/>
          <p:cNvSpPr/>
          <p:nvPr>
            <p:ph type="body" idx="1"/>
          </p:nvPr>
        </p:nvSpPr>
        <p:spPr>
          <a:xfrm>
            <a:off x="457200" y="1499616"/>
            <a:ext cx="2831366" cy="518159"/>
          </a:xfrm>
          <a:prstGeom prst="rect">
            <a:avLst/>
          </a:prstGeom>
          <a:noFill/>
        </p:spPr>
        <p:txBody>
          <a:bodyPr wrap="none" lIns="0" rIns="0">
            <a:noAutofit/>
          </a:bodyPr>
          <a:lstStyle/>
          <a:p>
            <a:pPr algn="l"/>
            <a:r>
              <a:rPr sz="3400" b="1" i="0">
                <a:solidFill>
                  <a:srgbClr val="0A2240"/>
                </a:solidFill>
                <a:latin typeface="Arial"/>
              </a:rPr>
              <a:t>Insights</a:t>
            </a:r>
          </a:p>
        </p:txBody>
      </p:sp>
      <p:sp>
        <p:nvSpPr>
          <p:cNvPr id="7" name="TextBox 6"/>
          <p:cNvSpPr/>
          <p:nvPr>
            <p:ph type="body" idx="2"/>
          </p:nvPr>
        </p:nvSpPr>
        <p:spPr>
          <a:xfrm>
            <a:off x="457200" y="2154935"/>
            <a:ext cx="2613660" cy="3605785"/>
          </a:xfrm>
          <a:prstGeom prst="rect">
            <a:avLst/>
          </a:prstGeom>
          <a:noFill/>
        </p:spPr>
        <p:txBody>
          <a:bodyPr wrap="square" lIns="0" rIns="0">
            <a:noAutofit/>
          </a:bodyPr>
          <a:lstStyle/>
          <a:p>
            <a:pPr algn="l"/>
            <a:r>
              <a:rPr sz="3400" b="0" i="0">
                <a:solidFill>
                  <a:srgbClr val="0A2240"/>
                </a:solidFill>
                <a:latin typeface="Arial"/>
              </a:rPr>
              <a:t>Live data and AI analytics.</a:t>
            </a:r>
          </a:p>
        </p:txBody>
      </p:sp>
      <p:sp>
        <p:nvSpPr>
          <p:cNvPr id="8" name="TextBox 7"/>
          <p:cNvSpPr/>
          <p:nvPr>
            <p:ph type="body" idx="3"/>
          </p:nvPr>
        </p:nvSpPr>
        <p:spPr>
          <a:xfrm>
            <a:off x="3345180" y="1499616"/>
            <a:ext cx="2909292" cy="518159"/>
          </a:xfrm>
          <a:prstGeom prst="rect">
            <a:avLst/>
          </a:prstGeom>
          <a:noFill/>
        </p:spPr>
        <p:txBody>
          <a:bodyPr wrap="none" lIns="0" rIns="0">
            <a:noAutofit/>
          </a:bodyPr>
          <a:lstStyle/>
          <a:p>
            <a:pPr algn="l"/>
            <a:r>
              <a:rPr sz="3400" b="1" i="0">
                <a:solidFill>
                  <a:srgbClr val="0A2240"/>
                </a:solidFill>
                <a:latin typeface="Arial"/>
              </a:rPr>
              <a:t>Security</a:t>
            </a:r>
          </a:p>
        </p:txBody>
      </p:sp>
      <p:sp>
        <p:nvSpPr>
          <p:cNvPr id="9" name="TextBox 8"/>
          <p:cNvSpPr/>
          <p:nvPr>
            <p:ph type="body" idx="4"/>
          </p:nvPr>
        </p:nvSpPr>
        <p:spPr>
          <a:xfrm>
            <a:off x="3345180" y="2154935"/>
            <a:ext cx="2613660" cy="3605785"/>
          </a:xfrm>
          <a:prstGeom prst="rect">
            <a:avLst/>
          </a:prstGeom>
          <a:noFill/>
        </p:spPr>
        <p:txBody>
          <a:bodyPr wrap="square" lIns="0" rIns="0">
            <a:noAutofit/>
          </a:bodyPr>
          <a:lstStyle/>
          <a:p>
            <a:pPr algn="l"/>
            <a:r>
              <a:rPr sz="3400" b="0" i="0">
                <a:solidFill>
                  <a:srgbClr val="0A2240"/>
                </a:solidFill>
                <a:latin typeface="Arial"/>
              </a:rPr>
              <a:t>Zero-trust, SOC 2 ready.</a:t>
            </a:r>
          </a:p>
        </p:txBody>
      </p:sp>
      <p:sp>
        <p:nvSpPr>
          <p:cNvPr id="10" name="TextBox 9"/>
          <p:cNvSpPr/>
          <p:nvPr>
            <p:ph type="body" idx="5"/>
          </p:nvPr>
        </p:nvSpPr>
        <p:spPr>
          <a:xfrm>
            <a:off x="6233160" y="1499616"/>
            <a:ext cx="2613660" cy="518159"/>
          </a:xfrm>
          <a:prstGeom prst="rect">
            <a:avLst/>
          </a:prstGeom>
          <a:noFill/>
        </p:spPr>
        <p:txBody>
          <a:bodyPr wrap="none" lIns="0" rIns="0">
            <a:noAutofit/>
          </a:bodyPr>
          <a:lstStyle/>
          <a:p>
            <a:pPr algn="l"/>
            <a:r>
              <a:rPr sz="3400" b="1" i="0">
                <a:solidFill>
                  <a:srgbClr val="0A2240"/>
                </a:solidFill>
                <a:latin typeface="Arial"/>
              </a:rPr>
              <a:t>Speed</a:t>
            </a:r>
          </a:p>
        </p:txBody>
      </p:sp>
      <p:sp>
        <p:nvSpPr>
          <p:cNvPr id="11" name="TextBox 10"/>
          <p:cNvSpPr/>
          <p:nvPr>
            <p:ph type="body" idx="6"/>
          </p:nvPr>
        </p:nvSpPr>
        <p:spPr>
          <a:xfrm>
            <a:off x="6233160" y="2154935"/>
            <a:ext cx="2613660" cy="3605785"/>
          </a:xfrm>
          <a:prstGeom prst="rect">
            <a:avLst/>
          </a:prstGeom>
          <a:noFill/>
        </p:spPr>
        <p:txBody>
          <a:bodyPr wrap="square" lIns="0" rIns="0">
            <a:noAutofit/>
          </a:bodyPr>
          <a:lstStyle/>
          <a:p>
            <a:pPr algn="l"/>
            <a:r>
              <a:rPr sz="3400" b="0" i="0">
                <a:solidFill>
                  <a:srgbClr val="0A2240"/>
                </a:solidFill>
                <a:latin typeface="Arial"/>
              </a:rPr>
              <a:t>Sub-100ms p99 latency.</a:t>
            </a:r>
          </a:p>
        </p:txBody>
      </p:sp>
      <p:sp>
        <p:nvSpPr>
          <p:cNvPr id="12" name="TextBox 11"/>
          <p:cNvSpPr/>
          <p:nvPr>
            <p:ph type="body" idx="7"/>
          </p:nvPr>
        </p:nvSpPr>
        <p:spPr>
          <a:xfrm>
            <a:off x="9121140" y="1499616"/>
            <a:ext cx="2613660" cy="518159"/>
          </a:xfrm>
          <a:prstGeom prst="rect">
            <a:avLst/>
          </a:prstGeom>
          <a:noFill/>
        </p:spPr>
        <p:txBody>
          <a:bodyPr wrap="none" lIns="0" rIns="0">
            <a:noAutofit/>
          </a:bodyPr>
          <a:lstStyle/>
          <a:p>
            <a:pPr algn="l"/>
            <a:r>
              <a:rPr sz="3400" b="1" i="0">
                <a:solidFill>
                  <a:srgbClr val="0A2240"/>
                </a:solidFill>
                <a:latin typeface="Arial"/>
              </a:rPr>
              <a:t>APIs</a:t>
            </a:r>
          </a:p>
        </p:txBody>
      </p:sp>
      <p:sp>
        <p:nvSpPr>
          <p:cNvPr id="13" name="TextBox 12"/>
          <p:cNvSpPr/>
          <p:nvPr>
            <p:ph type="body" idx="8"/>
          </p:nvPr>
        </p:nvSpPr>
        <p:spPr>
          <a:xfrm>
            <a:off x="9121140" y="2154935"/>
            <a:ext cx="2613660" cy="3605785"/>
          </a:xfrm>
          <a:prstGeom prst="rect">
            <a:avLst/>
          </a:prstGeom>
          <a:noFill/>
        </p:spPr>
        <p:txBody>
          <a:bodyPr wrap="square" lIns="0" rIns="0">
            <a:noAutofit/>
          </a:bodyPr>
          <a:lstStyle/>
          <a:p>
            <a:pPr algn="l"/>
            <a:r>
              <a:rPr sz="3400" b="0" i="0">
                <a:solidFill>
                  <a:srgbClr val="0A2240"/>
                </a:solidFill>
                <a:latin typeface="Arial"/>
              </a:rPr>
              <a:t>300+ open connectors.</a:t>
            </a:r>
          </a:p>
        </p:txBody>
      </p:sp>
    </p:spTree>
    <p:extLst>
      <p:ext uri="{BB962C8B-B14F-4D97-AF65-F5344CB8AC3E}">
        <p14:creationId xmlns:p14="http://schemas.microsoft.com/office/powerpoint/2010/main" val="121299981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slidekit · Section Divid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783080"/>
            <a:ext cx="128016" cy="20116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7" name="TextBox 6"/>
          <p:cNvSpPr/>
          <p:nvPr>
            <p:ph type="body" idx="3"/>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Where We Stand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lidekit · Agenda">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We Will Cover</a:t>
            </a:r>
          </a:p>
        </p:txBody>
      </p:sp>
      <p:sp>
        <p:nvSpPr>
          <p:cNvPr id="6" name="Rectangle 5"/>
          <p:cNvSpPr/>
          <p:nvPr>
            <p:ph type="body" idx="1"/>
          </p:nvPr>
        </p:nvSpPr>
        <p:spPr>
          <a:xfrm>
            <a:off x="457200" y="1280160"/>
            <a:ext cx="11277600" cy="64008"/>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8" name="TextBox 7"/>
          <p:cNvSpPr/>
          <p:nvPr>
            <p:ph type="body" idx="3"/>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Performance against targets</a:t>
            </a:r>
          </a:p>
        </p:txBody>
      </p:sp>
      <p:sp>
        <p:nvSpPr>
          <p:cNvPr id="9" name="TextBox 8"/>
          <p:cNvSpPr/>
          <p:nvPr>
            <p:ph type="body" idx="4"/>
          </p:nvPr>
        </p:nvSpPr>
        <p:spPr>
          <a:xfrm>
            <a:off x="457200" y="2501798"/>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10" name="TextBox 9"/>
          <p:cNvSpPr/>
          <p:nvPr>
            <p:ph type="body" idx="5"/>
          </p:nvPr>
        </p:nvSpPr>
        <p:spPr>
          <a:xfrm>
            <a:off x="1371600" y="2501798"/>
            <a:ext cx="10363200" cy="518159"/>
          </a:xfrm>
          <a:prstGeom prst="rect">
            <a:avLst/>
          </a:prstGeom>
          <a:noFill/>
        </p:spPr>
        <p:txBody>
          <a:bodyPr wrap="none" lIns="0" rIns="0">
            <a:noAutofit/>
          </a:bodyPr>
          <a:lstStyle/>
          <a:p>
            <a:pPr algn="l"/>
            <a:r>
              <a:rPr sz="3400" b="0" i="0">
                <a:solidFill>
                  <a:srgbClr val="0A2240"/>
                </a:solidFill>
                <a:latin typeface="Arial"/>
              </a:rPr>
              <a:t>Customer and market signals</a:t>
            </a:r>
          </a:p>
        </p:txBody>
      </p:sp>
      <p:sp>
        <p:nvSpPr>
          <p:cNvPr id="11" name="TextBox 10"/>
          <p:cNvSpPr/>
          <p:nvPr>
            <p:ph type="body" idx="6"/>
          </p:nvPr>
        </p:nvSpPr>
        <p:spPr>
          <a:xfrm>
            <a:off x="457200" y="3385108"/>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12" name="TextBox 11"/>
          <p:cNvSpPr/>
          <p:nvPr>
            <p:ph type="body" idx="7"/>
          </p:nvPr>
        </p:nvSpPr>
        <p:spPr>
          <a:xfrm>
            <a:off x="1371600" y="3385108"/>
            <a:ext cx="10363200" cy="518159"/>
          </a:xfrm>
          <a:prstGeom prst="rect">
            <a:avLst/>
          </a:prstGeom>
          <a:noFill/>
        </p:spPr>
        <p:txBody>
          <a:bodyPr wrap="none" lIns="0" rIns="0">
            <a:noAutofit/>
          </a:bodyPr>
          <a:lstStyle/>
          <a:p>
            <a:pPr algn="l"/>
            <a:r>
              <a:rPr sz="3400" b="0" i="0">
                <a:solidFill>
                  <a:srgbClr val="0A2240"/>
                </a:solidFill>
                <a:latin typeface="Arial"/>
              </a:rPr>
              <a:t>Operational health and risks</a:t>
            </a:r>
          </a:p>
        </p:txBody>
      </p:sp>
      <p:sp>
        <p:nvSpPr>
          <p:cNvPr id="13" name="TextBox 12"/>
          <p:cNvSpPr/>
          <p:nvPr>
            <p:ph type="body" idx="8"/>
          </p:nvPr>
        </p:nvSpPr>
        <p:spPr>
          <a:xfrm>
            <a:off x="457200" y="4268418"/>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4" name="TextBox 13"/>
          <p:cNvSpPr/>
          <p:nvPr>
            <p:ph type="body" idx="9"/>
          </p:nvPr>
        </p:nvSpPr>
        <p:spPr>
          <a:xfrm>
            <a:off x="1371600" y="4268418"/>
            <a:ext cx="10363200" cy="518159"/>
          </a:xfrm>
          <a:prstGeom prst="rect">
            <a:avLst/>
          </a:prstGeom>
          <a:noFill/>
        </p:spPr>
        <p:txBody>
          <a:bodyPr wrap="none" lIns="0" rIns="0">
            <a:noAutofit/>
          </a:bodyPr>
          <a:lstStyle/>
          <a:p>
            <a:pPr algn="l"/>
            <a:r>
              <a:rPr sz="3400" b="0" i="0">
                <a:solidFill>
                  <a:srgbClr val="0A2240"/>
                </a:solidFill>
                <a:latin typeface="Arial"/>
              </a:rPr>
              <a:t>Roadmap for next quarter</a:t>
            </a:r>
          </a:p>
        </p:txBody>
      </p:sp>
      <p:sp>
        <p:nvSpPr>
          <p:cNvPr id="15" name="TextBox 14"/>
          <p:cNvSpPr/>
          <p:nvPr>
            <p:ph type="body" idx="13"/>
          </p:nvPr>
        </p:nvSpPr>
        <p:spPr>
          <a:xfrm>
            <a:off x="457200" y="5151728"/>
            <a:ext cx="951348" cy="518159"/>
          </a:xfrm>
          <a:prstGeom prst="rect">
            <a:avLst/>
          </a:prstGeom>
          <a:noFill/>
        </p:spPr>
        <p:txBody>
          <a:bodyPr wrap="none" lIns="0" rIns="0">
            <a:noAutofit/>
          </a:bodyPr>
          <a:lstStyle/>
          <a:p>
            <a:pPr algn="l"/>
            <a:r>
              <a:rPr sz="3400" b="1" i="0">
                <a:solidFill>
                  <a:srgbClr val="0072CE"/>
                </a:solidFill>
                <a:latin typeface="Arial"/>
              </a:rPr>
              <a:t>05</a:t>
            </a:r>
          </a:p>
        </p:txBody>
      </p:sp>
      <p:sp>
        <p:nvSpPr>
          <p:cNvPr id="16" name="TextBox 15"/>
          <p:cNvSpPr/>
          <p:nvPr>
            <p:ph type="body" idx="14"/>
          </p:nvPr>
        </p:nvSpPr>
        <p:spPr>
          <a:xfrm>
            <a:off x="1371600" y="5151728"/>
            <a:ext cx="10363200" cy="518159"/>
          </a:xfrm>
          <a:prstGeom prst="rect">
            <a:avLst/>
          </a:prstGeom>
          <a:noFill/>
        </p:spPr>
        <p:txBody>
          <a:bodyPr wrap="none" lIns="0" rIns="0">
            <a:noAutofit/>
          </a:bodyPr>
          <a:lstStyle/>
          <a:p>
            <a:pPr algn="l"/>
            <a:r>
              <a:rPr sz="3400" b="0" i="0">
                <a:solidFill>
                  <a:srgbClr val="0A2240"/>
                </a:solidFill>
                <a:latin typeface="Arial"/>
              </a:rPr>
              <a:t>Decisions we need today</a:t>
            </a:r>
          </a:p>
        </p:txBody>
      </p:sp>
    </p:spTree>
    <p:extLst>
      <p:ext uri="{BB962C8B-B14F-4D97-AF65-F5344CB8AC3E}">
        <p14:creationId xmlns:p14="http://schemas.microsoft.com/office/powerpoint/2010/main" val="121299981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slidekit · Big Number">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body" idx="1"/>
          </p:nvPr>
        </p:nvSpPr>
        <p:spPr>
          <a:xfrm>
            <a:off x="457200" y="2025396"/>
            <a:ext cx="11277600" cy="1691640"/>
          </a:xfrm>
          <a:prstGeom prst="rect">
            <a:avLst/>
          </a:prstGeom>
          <a:noFill/>
        </p:spPr>
        <p:txBody>
          <a:bodyPr wrap="none" lIns="0" rIns="0">
            <a:noAutofit/>
          </a:bodyPr>
          <a:lstStyle/>
          <a:p>
            <a:pPr algn="ctr"/>
            <a:r>
              <a:rPr sz="10500" b="1" i="0">
                <a:solidFill>
                  <a:srgbClr val="0072CE"/>
                </a:solidFill>
                <a:latin typeface="Arial"/>
              </a:rPr>
              <a:t>3.2M</a:t>
            </a:r>
          </a:p>
        </p:txBody>
      </p:sp>
      <p:sp>
        <p:nvSpPr>
          <p:cNvPr id="6" name="Rectangle 5"/>
          <p:cNvSpPr/>
          <p:nvPr>
            <p:ph type="body" idx="2"/>
          </p:nvPr>
        </p:nvSpPr>
        <p:spPr>
          <a:xfrm>
            <a:off x="5547360" y="3771900"/>
            <a:ext cx="1097280" cy="54864"/>
          </a:xfrm>
          <a:prstGeom prst="rect">
            <a:avLst/>
          </a:prstGeom>
          <a:solidFill>
            <a:srgbClr val="0072CE"/>
          </a:solidFill>
          <a:ln>
            <a:noFill/>
          </a:ln>
          <a:effectLst/>
        </p:spPr>
        <p:txBody>
          <a:bodyPr rtlCol="0" anchor="ctr"/>
          <a:lstStyle/>
          <a:p>
            <a:pPr algn="ctr"/>
          </a:p>
        </p:txBody>
      </p:sp>
      <p:sp>
        <p:nvSpPr>
          <p:cNvPr id="7" name="TextBox 6"/>
          <p:cNvSpPr/>
          <p:nvPr>
            <p:ph type="body" idx="3"/>
          </p:nvPr>
        </p:nvSpPr>
        <p:spPr>
          <a:xfrm>
            <a:off x="457200" y="4101084"/>
            <a:ext cx="11277600" cy="731520"/>
          </a:xfrm>
          <a:prstGeom prst="rect">
            <a:avLst/>
          </a:prstGeom>
          <a:noFill/>
        </p:spPr>
        <p:txBody>
          <a:bodyPr wrap="none" lIns="0" rIns="0">
            <a:noAutofit/>
          </a:bodyPr>
          <a:lstStyle/>
          <a:p>
            <a:pPr algn="ctr"/>
            <a:r>
              <a:rPr sz="4200" b="0" i="0">
                <a:solidFill>
                  <a:srgbClr val="0A2240"/>
                </a:solidFill>
                <a:latin typeface="Arial"/>
              </a:rPr>
              <a:t>Active customers worldwide</a:t>
            </a:r>
          </a:p>
        </p:txBody>
      </p:sp>
    </p:spTree>
    <p:extLst>
      <p:ext uri="{BB962C8B-B14F-4D97-AF65-F5344CB8AC3E}">
        <p14:creationId xmlns:p14="http://schemas.microsoft.com/office/powerpoint/2010/main" val="121299981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slidekit · Pull Quot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301240"/>
            <a:ext cx="128016" cy="225552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301240"/>
            <a:ext cx="10738104" cy="1371600"/>
          </a:xfrm>
          <a:prstGeom prst="rect">
            <a:avLst/>
          </a:prstGeom>
          <a:noFill/>
        </p:spPr>
        <p:txBody>
          <a:bodyPr wrap="square" lIns="0" rIns="0">
            <a:noAutofit/>
          </a:bodyPr>
          <a:lstStyle/>
          <a:p>
            <a:pPr algn="l"/>
            <a:r>
              <a:rPr sz="4200" b="1" i="0">
                <a:solidFill>
                  <a:srgbClr val="0A2240"/>
                </a:solidFill>
                <a:latin typeface="Arial"/>
              </a:rPr>
              <a:t>"We stopped buying tools and started buying outcomes."</a:t>
            </a:r>
          </a:p>
        </p:txBody>
      </p:sp>
      <p:sp>
        <p:nvSpPr>
          <p:cNvPr id="7" name="TextBox 6"/>
          <p:cNvSpPr/>
          <p:nvPr>
            <p:ph type="body" idx="3"/>
          </p:nvPr>
        </p:nvSpPr>
        <p:spPr>
          <a:xfrm>
            <a:off x="996696" y="3947160"/>
            <a:ext cx="11195304" cy="609600"/>
          </a:xfrm>
          <a:prstGeom prst="rect">
            <a:avLst/>
          </a:prstGeom>
          <a:noFill/>
        </p:spPr>
        <p:txBody>
          <a:bodyPr wrap="none" lIns="0" rIns="0">
            <a:noAutofit/>
          </a:bodyPr>
          <a:lstStyle/>
          <a:p>
            <a:pPr algn="l"/>
            <a:r>
              <a:rPr sz="3400" b="0" i="0">
                <a:solidFill>
                  <a:srgbClr val="5B6B82"/>
                </a:solidFill>
                <a:latin typeface="Arial"/>
              </a:rPr>
              <a:t>- VP of Engineering, enterprise customer</a:t>
            </a:r>
          </a:p>
        </p:txBody>
      </p:sp>
    </p:spTree>
    <p:extLst>
      <p:ext uri="{BB962C8B-B14F-4D97-AF65-F5344CB8AC3E}">
        <p14:creationId xmlns:p14="http://schemas.microsoft.com/office/powerpoint/2010/main" val="121299981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slidekit · Defini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1965960"/>
            <a:ext cx="128016" cy="292608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1965960"/>
            <a:ext cx="11195304" cy="1005840"/>
          </a:xfrm>
          <a:prstGeom prst="rect">
            <a:avLst/>
          </a:prstGeom>
          <a:noFill/>
        </p:spPr>
        <p:txBody>
          <a:bodyPr wrap="none" lIns="0" rIns="0">
            <a:noAutofit/>
          </a:bodyPr>
          <a:lstStyle/>
          <a:p>
            <a:pPr algn="l"/>
            <a:r>
              <a:rPr sz="6000" b="1" i="0">
                <a:solidFill>
                  <a:srgbClr val="0072CE"/>
                </a:solidFill>
                <a:latin typeface="Arial"/>
              </a:rPr>
              <a:t>Net Revenue Retention</a:t>
            </a:r>
          </a:p>
        </p:txBody>
      </p:sp>
      <p:sp>
        <p:nvSpPr>
          <p:cNvPr id="7" name="TextBox 6"/>
          <p:cNvSpPr/>
          <p:nvPr>
            <p:ph type="body" idx="3"/>
          </p:nvPr>
        </p:nvSpPr>
        <p:spPr>
          <a:xfrm>
            <a:off x="996696" y="3246120"/>
            <a:ext cx="10738104" cy="1645920"/>
          </a:xfrm>
          <a:prstGeom prst="rect">
            <a:avLst/>
          </a:prstGeom>
          <a:noFill/>
        </p:spPr>
        <p:txBody>
          <a:bodyPr wrap="square" lIns="0" rIns="0">
            <a:noAutofit/>
          </a:bodyPr>
          <a:lstStyle/>
          <a:p>
            <a:pPr algn="l"/>
            <a:r>
              <a:rPr sz="3400" b="0" i="0">
                <a:solidFill>
                  <a:srgbClr val="0A2240"/>
                </a:solidFill>
                <a:latin typeface="Arial"/>
              </a:rPr>
              <a:t>The percentage of recurring revenue retained from existing customers over a period, including expansion and after churn.</a:t>
            </a:r>
          </a:p>
        </p:txBody>
      </p:sp>
    </p:spTree>
    <p:extLst>
      <p:ext uri="{BB962C8B-B14F-4D97-AF65-F5344CB8AC3E}">
        <p14:creationId xmlns:p14="http://schemas.microsoft.com/office/powerpoint/2010/main" val="12129998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slidekit · Questi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2011680"/>
            <a:ext cx="128016" cy="2834640"/>
          </a:xfrm>
          <a:prstGeom prst="rect">
            <a:avLst/>
          </a:prstGeom>
          <a:solidFill>
            <a:srgbClr val="0072CE"/>
          </a:solidFill>
          <a:ln>
            <a:noFill/>
          </a:ln>
          <a:effectLst/>
        </p:spPr>
        <p:txBody>
          <a:bodyPr rtlCol="0" anchor="ctr"/>
          <a:lstStyle/>
          <a:p>
            <a:pPr algn="ctr"/>
          </a:p>
        </p:txBody>
      </p:sp>
      <p:sp>
        <p:nvSpPr>
          <p:cNvPr id="6" name="TextBox 5"/>
          <p:cNvSpPr/>
          <p:nvPr>
            <p:ph type="body" idx="2"/>
          </p:nvPr>
        </p:nvSpPr>
        <p:spPr>
          <a:xfrm>
            <a:off x="996696" y="2011680"/>
            <a:ext cx="10738104" cy="2834640"/>
          </a:xfrm>
          <a:prstGeom prst="rect">
            <a:avLst/>
          </a:prstGeom>
          <a:noFill/>
        </p:spPr>
        <p:txBody>
          <a:bodyPr wrap="square" lIns="0" rIns="0">
            <a:noAutofit/>
          </a:bodyPr>
          <a:lstStyle/>
          <a:p>
            <a:pPr algn="l"/>
            <a:r>
              <a:rPr sz="6000" b="1" i="0">
                <a:solidFill>
                  <a:srgbClr val="0A2240"/>
                </a:solidFill>
                <a:latin typeface="Arial"/>
              </a:rPr>
              <a:t>What would we build if we trusted our customers completely?</a:t>
            </a:r>
          </a:p>
        </p:txBody>
      </p:sp>
    </p:spTree>
    <p:extLst>
      <p:ext uri="{BB962C8B-B14F-4D97-AF65-F5344CB8AC3E}">
        <p14:creationId xmlns:p14="http://schemas.microsoft.com/office/powerpoint/2010/main" val="121299981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slidekit · Bullet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468040" cy="768096"/>
          </a:xfrm>
          <a:prstGeom prst="rect">
            <a:avLst/>
          </a:prstGeom>
          <a:noFill/>
        </p:spPr>
        <p:txBody>
          <a:bodyPr wrap="none" lIns="0" rIns="0">
            <a:noAutofit/>
          </a:bodyPr>
          <a:lstStyle/>
          <a:p>
            <a:pPr algn="l"/>
            <a:r>
              <a:rPr sz="4200" b="1" i="0">
                <a:solidFill>
                  <a:srgbClr val="0072CE"/>
                </a:solidFill>
                <a:latin typeface="Arial"/>
              </a:rPr>
              <a:t>What Changed This Quarter</a:t>
            </a:r>
          </a:p>
        </p:txBody>
      </p:sp>
      <p:sp>
        <p:nvSpPr>
          <p:cNvPr id="6" name="TextBox 5"/>
          <p:cNvSpPr/>
          <p:nvPr>
            <p:ph type="body" idx="1"/>
          </p:nvPr>
        </p:nvSpPr>
        <p:spPr>
          <a:xfrm>
            <a:off x="457200" y="2395729"/>
            <a:ext cx="11277600" cy="518159"/>
          </a:xfrm>
          <a:prstGeom prst="rect">
            <a:avLst/>
          </a:prstGeom>
          <a:noFill/>
        </p:spPr>
        <p:txBody>
          <a:bodyPr wrap="none" lIns="0" rIns="0">
            <a:noAutofit/>
          </a:bodyPr>
          <a:lstStyle/>
          <a:p>
            <a:pPr algn="l"/>
            <a:r>
              <a:rPr sz="3400" b="0" i="0">
                <a:solidFill>
                  <a:srgbClr val="0A2240"/>
                </a:solidFill>
                <a:latin typeface="Arial"/>
              </a:rPr>
              <a:t>Activation time dropped by half</a:t>
            </a:r>
          </a:p>
        </p:txBody>
      </p:sp>
      <p:sp>
        <p:nvSpPr>
          <p:cNvPr id="7" name="TextBox 6"/>
          <p:cNvSpPr/>
          <p:nvPr>
            <p:ph type="body" idx="2"/>
          </p:nvPr>
        </p:nvSpPr>
        <p:spPr>
          <a:xfrm>
            <a:off x="457200" y="3371088"/>
            <a:ext cx="11277600" cy="518159"/>
          </a:xfrm>
          <a:prstGeom prst="rect">
            <a:avLst/>
          </a:prstGeom>
          <a:noFill/>
        </p:spPr>
        <p:txBody>
          <a:bodyPr wrap="none" lIns="0" rIns="0">
            <a:noAutofit/>
          </a:bodyPr>
          <a:lstStyle/>
          <a:p>
            <a:pPr algn="l"/>
            <a:r>
              <a:rPr sz="3400" b="0" i="0">
                <a:solidFill>
                  <a:srgbClr val="0A2240"/>
                </a:solidFill>
                <a:latin typeface="Arial"/>
              </a:rPr>
              <a:t>Support tickets fell sharply</a:t>
            </a:r>
          </a:p>
        </p:txBody>
      </p:sp>
      <p:sp>
        <p:nvSpPr>
          <p:cNvPr id="8" name="TextBox 7"/>
          <p:cNvSpPr/>
          <p:nvPr>
            <p:ph type="body" idx="3"/>
          </p:nvPr>
        </p:nvSpPr>
        <p:spPr>
          <a:xfrm>
            <a:off x="457200" y="4346447"/>
            <a:ext cx="11734800" cy="518159"/>
          </a:xfrm>
          <a:prstGeom prst="rect">
            <a:avLst/>
          </a:prstGeom>
          <a:noFill/>
        </p:spPr>
        <p:txBody>
          <a:bodyPr wrap="none" lIns="0" rIns="0">
            <a:noAutofit/>
          </a:bodyPr>
          <a:lstStyle/>
          <a:p>
            <a:pPr algn="l"/>
            <a:r>
              <a:rPr sz="3400" b="0" i="0">
                <a:solidFill>
                  <a:srgbClr val="0A2240"/>
                </a:solidFill>
                <a:latin typeface="Arial"/>
              </a:rPr>
              <a:t>Expansion revenue outpaced new sales</a:t>
            </a:r>
          </a:p>
        </p:txBody>
      </p:sp>
    </p:spTree>
    <p:extLst>
      <p:ext uri="{BB962C8B-B14F-4D97-AF65-F5344CB8AC3E}">
        <p14:creationId xmlns:p14="http://schemas.microsoft.com/office/powerpoint/2010/main" val="12129998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slidekit · Code Block">
    <p:bg>
      <p:bgPr>
        <a:solidFill>
          <a:srgbClr val="0C1A1C"/>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Rectangle 4"/>
          <p:cNvSpPr/>
          <p:nvPr>
            <p:ph type="body" idx="1"/>
          </p:nvPr>
        </p:nvSpPr>
        <p:spPr>
          <a:xfrm>
            <a:off x="457200" y="457200"/>
            <a:ext cx="146304" cy="146304"/>
          </a:xfrm>
          <a:prstGeom prst="rect">
            <a:avLst/>
          </a:prstGeom>
          <a:solidFill>
            <a:srgbClr val="FF5F56"/>
          </a:solidFill>
          <a:ln>
            <a:noFill/>
          </a:ln>
          <a:effectLst/>
        </p:spPr>
        <p:txBody>
          <a:bodyPr rtlCol="0" anchor="ctr"/>
          <a:lstStyle/>
          <a:p>
            <a:pPr algn="ctr"/>
          </a:p>
        </p:txBody>
      </p:sp>
      <p:sp>
        <p:nvSpPr>
          <p:cNvPr id="6" name="Rectangle 5"/>
          <p:cNvSpPr/>
          <p:nvPr>
            <p:ph type="body" idx="2"/>
          </p:nvPr>
        </p:nvSpPr>
        <p:spPr>
          <a:xfrm>
            <a:off x="713232" y="457200"/>
            <a:ext cx="146304" cy="146304"/>
          </a:xfrm>
          <a:prstGeom prst="rect">
            <a:avLst/>
          </a:prstGeom>
          <a:solidFill>
            <a:srgbClr val="FFBD2E"/>
          </a:solidFill>
          <a:ln>
            <a:noFill/>
          </a:ln>
          <a:effectLst/>
        </p:spPr>
        <p:txBody>
          <a:bodyPr rtlCol="0" anchor="ctr"/>
          <a:lstStyle/>
          <a:p>
            <a:pPr algn="ctr"/>
          </a:p>
        </p:txBody>
      </p:sp>
      <p:sp>
        <p:nvSpPr>
          <p:cNvPr id="7" name="Rectangle 6"/>
          <p:cNvSpPr/>
          <p:nvPr>
            <p:ph type="body" idx="3"/>
          </p:nvPr>
        </p:nvSpPr>
        <p:spPr>
          <a:xfrm>
            <a:off x="969264" y="457200"/>
            <a:ext cx="146304" cy="146304"/>
          </a:xfrm>
          <a:prstGeom prst="rect">
            <a:avLst/>
          </a:prstGeom>
          <a:solidFill>
            <a:srgbClr val="27C93F"/>
          </a:solidFill>
          <a:ln>
            <a:noFill/>
          </a:ln>
          <a:effectLst/>
        </p:spPr>
        <p:txBody>
          <a:bodyPr rtlCol="0" anchor="ctr"/>
          <a:lstStyle/>
          <a:p>
            <a:pPr algn="ctr"/>
          </a:p>
        </p:txBody>
      </p:sp>
      <p:sp>
        <p:nvSpPr>
          <p:cNvPr id="8" name="TextBox 7"/>
          <p:cNvSpPr/>
          <p:nvPr>
            <p:ph type="body" idx="4"/>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hello.py</a:t>
            </a:r>
          </a:p>
        </p:txBody>
      </p:sp>
      <p:sp>
        <p:nvSpPr>
          <p:cNvPr id="9" name="TextBox 8"/>
          <p:cNvSpPr/>
          <p:nvPr>
            <p:ph type="body" idx="5"/>
          </p:nvPr>
        </p:nvSpPr>
        <p:spPr>
          <a:xfrm>
            <a:off x="457200" y="1837944"/>
            <a:ext cx="7851377" cy="518159"/>
          </a:xfrm>
          <a:prstGeom prst="rect">
            <a:avLst/>
          </a:prstGeom>
          <a:noFill/>
        </p:spPr>
        <p:txBody>
          <a:bodyPr wrap="none" lIns="0" rIns="0">
            <a:noAutofit/>
          </a:bodyPr>
          <a:lstStyle/>
          <a:p>
            <a:pPr algn="l"/>
            <a:r>
              <a:rPr sz="3400" b="0" i="0">
                <a:solidFill>
                  <a:srgbClr val="6A9955"/>
                </a:solidFill>
                <a:latin typeface="Arial"/>
              </a:rPr>
              <a:t># The classic, end to end</a:t>
            </a:r>
          </a:p>
        </p:txBody>
      </p:sp>
      <p:sp>
        <p:nvSpPr>
          <p:cNvPr id="10" name="TextBox 9"/>
          <p:cNvSpPr/>
          <p:nvPr>
            <p:ph type="body" idx="6"/>
          </p:nvPr>
        </p:nvSpPr>
        <p:spPr>
          <a:xfrm>
            <a:off x="457200" y="2356103"/>
            <a:ext cx="1143297" cy="518159"/>
          </a:xfrm>
          <a:prstGeom prst="rect">
            <a:avLst/>
          </a:prstGeom>
          <a:noFill/>
        </p:spPr>
        <p:txBody>
          <a:bodyPr wrap="none" lIns="0" rIns="0">
            <a:noAutofit/>
          </a:bodyPr>
          <a:lstStyle/>
          <a:p>
            <a:pPr algn="l"/>
            <a:r>
              <a:rPr sz="3400" b="0" i="0">
                <a:solidFill>
                  <a:srgbClr val="569CD6"/>
                </a:solidFill>
                <a:latin typeface="Arial"/>
              </a:rPr>
              <a:t>def</a:t>
            </a:r>
          </a:p>
        </p:txBody>
      </p:sp>
      <p:sp>
        <p:nvSpPr>
          <p:cNvPr id="11" name="TextBox 10"/>
          <p:cNvSpPr/>
          <p:nvPr>
            <p:ph type="body" idx="7"/>
          </p:nvPr>
        </p:nvSpPr>
        <p:spPr>
          <a:xfrm>
            <a:off x="1057461"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2" name="TextBox 11"/>
          <p:cNvSpPr/>
          <p:nvPr>
            <p:ph type="body" idx="8"/>
          </p:nvPr>
        </p:nvSpPr>
        <p:spPr>
          <a:xfrm>
            <a:off x="1177429" y="2356103"/>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13" name="TextBox 12"/>
          <p:cNvSpPr/>
          <p:nvPr>
            <p:ph type="body" idx="9"/>
          </p:nvPr>
        </p:nvSpPr>
        <p:spPr>
          <a:xfrm>
            <a:off x="2113347" y="2356103"/>
            <a:ext cx="834964" cy="518159"/>
          </a:xfrm>
          <a:prstGeom prst="rect">
            <a:avLst/>
          </a:prstGeom>
          <a:noFill/>
        </p:spPr>
        <p:txBody>
          <a:bodyPr wrap="none" lIns="0" rIns="0">
            <a:noAutofit/>
          </a:bodyPr>
          <a:lstStyle/>
          <a:p>
            <a:pPr algn="l"/>
            <a:r>
              <a:rPr sz="3400" b="0" i="0">
                <a:solidFill>
                  <a:srgbClr val="D4D4D4"/>
                </a:solidFill>
                <a:latin typeface="Arial"/>
              </a:rPr>
              <a:t>():</a:t>
            </a:r>
          </a:p>
        </p:txBody>
      </p:sp>
      <p:sp>
        <p:nvSpPr>
          <p:cNvPr id="14" name="TextBox 13"/>
          <p:cNvSpPr/>
          <p:nvPr>
            <p:ph type="body" idx="13"/>
          </p:nvPr>
        </p:nvSpPr>
        <p:spPr>
          <a:xfrm>
            <a:off x="457200" y="2874262"/>
            <a:ext cx="662751"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5" name="TextBox 14"/>
          <p:cNvSpPr/>
          <p:nvPr>
            <p:ph type="body" idx="14"/>
          </p:nvPr>
        </p:nvSpPr>
        <p:spPr>
          <a:xfrm>
            <a:off x="937071" y="2874262"/>
            <a:ext cx="1526857" cy="518159"/>
          </a:xfrm>
          <a:prstGeom prst="rect">
            <a:avLst/>
          </a:prstGeom>
          <a:noFill/>
        </p:spPr>
        <p:txBody>
          <a:bodyPr wrap="none" lIns="0" rIns="0">
            <a:noAutofit/>
          </a:bodyPr>
          <a:lstStyle/>
          <a:p>
            <a:pPr algn="l"/>
            <a:r>
              <a:rPr sz="3400" b="0" i="0">
                <a:solidFill>
                  <a:srgbClr val="DCDCAA"/>
                </a:solidFill>
                <a:latin typeface="Arial"/>
              </a:rPr>
              <a:t>print</a:t>
            </a:r>
          </a:p>
        </p:txBody>
      </p:sp>
      <p:sp>
        <p:nvSpPr>
          <p:cNvPr id="16" name="TextBox 15"/>
          <p:cNvSpPr/>
          <p:nvPr>
            <p:ph type="body" idx="15"/>
          </p:nvPr>
        </p:nvSpPr>
        <p:spPr>
          <a:xfrm>
            <a:off x="1777057"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7" name="TextBox 16"/>
          <p:cNvSpPr/>
          <p:nvPr>
            <p:ph type="body" idx="16"/>
          </p:nvPr>
        </p:nvSpPr>
        <p:spPr>
          <a:xfrm>
            <a:off x="1920850" y="2874262"/>
            <a:ext cx="4474566" cy="518159"/>
          </a:xfrm>
          <a:prstGeom prst="rect">
            <a:avLst/>
          </a:prstGeom>
          <a:noFill/>
        </p:spPr>
        <p:txBody>
          <a:bodyPr wrap="none" lIns="0" rIns="0">
            <a:noAutofit/>
          </a:bodyPr>
          <a:lstStyle/>
          <a:p>
            <a:pPr algn="l"/>
            <a:r>
              <a:rPr sz="3400" b="0" i="0">
                <a:solidFill>
                  <a:srgbClr val="CE9178"/>
                </a:solidFill>
                <a:latin typeface="Arial"/>
              </a:rPr>
              <a:t>"Hello, world!"</a:t>
            </a:r>
          </a:p>
        </p:txBody>
      </p:sp>
      <p:sp>
        <p:nvSpPr>
          <p:cNvPr id="18" name="TextBox 17"/>
          <p:cNvSpPr/>
          <p:nvPr>
            <p:ph type="body" idx="17"/>
          </p:nvPr>
        </p:nvSpPr>
        <p:spPr>
          <a:xfrm>
            <a:off x="4603155" y="2874262"/>
            <a:ext cx="41294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9" name="TextBox 18"/>
          <p:cNvSpPr/>
          <p:nvPr>
            <p:ph type="body" idx="18"/>
          </p:nvPr>
        </p:nvSpPr>
        <p:spPr>
          <a:xfrm>
            <a:off x="457200" y="3910580"/>
            <a:ext cx="1680348" cy="518159"/>
          </a:xfrm>
          <a:prstGeom prst="rect">
            <a:avLst/>
          </a:prstGeom>
          <a:noFill/>
        </p:spPr>
        <p:txBody>
          <a:bodyPr wrap="none" lIns="0" rIns="0">
            <a:noAutofit/>
          </a:bodyPr>
          <a:lstStyle/>
          <a:p>
            <a:pPr algn="l"/>
            <a:r>
              <a:rPr sz="3400" b="0" i="0">
                <a:solidFill>
                  <a:srgbClr val="DCDCAA"/>
                </a:solidFill>
                <a:latin typeface="Arial"/>
              </a:rPr>
              <a:t>main</a:t>
            </a:r>
          </a:p>
        </p:txBody>
      </p:sp>
      <p:sp>
        <p:nvSpPr>
          <p:cNvPr id="20" name="TextBox 19"/>
          <p:cNvSpPr/>
          <p:nvPr>
            <p:ph type="body" idx="19"/>
          </p:nvPr>
        </p:nvSpPr>
        <p:spPr>
          <a:xfrm>
            <a:off x="1393118" y="3910580"/>
            <a:ext cx="643017" cy="518159"/>
          </a:xfrm>
          <a:prstGeom prst="rect">
            <a:avLst/>
          </a:prstGeom>
          <a:noFill/>
        </p:spPr>
        <p:txBody>
          <a:bodyPr wrap="none" lIns="0" rIns="0">
            <a:noAutofit/>
          </a:bodyPr>
          <a:lstStyle/>
          <a:p>
            <a:pPr algn="l"/>
            <a:r>
              <a:rPr sz="3400" b="0" i="0">
                <a:solidFill>
                  <a:srgbClr val="D4D4D4"/>
                </a:solidFill>
                <a:latin typeface="Arial"/>
              </a:rPr>
              <a:t>()</a:t>
            </a:r>
          </a:p>
        </p:txBody>
      </p:sp>
      <p:sp>
        <p:nvSpPr>
          <p:cNvPr id="21" name="TextBox 20"/>
          <p:cNvSpPr/>
          <p:nvPr>
            <p:ph type="body" idx="20"/>
          </p:nvPr>
        </p:nvSpPr>
        <p:spPr>
          <a:xfrm>
            <a:off x="457200" y="4946898"/>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22" name="TextBox 21"/>
          <p:cNvSpPr/>
          <p:nvPr>
            <p:ph type="body" idx="21"/>
          </p:nvPr>
        </p:nvSpPr>
        <p:spPr>
          <a:xfrm>
            <a:off x="697347" y="4946898"/>
            <a:ext cx="5022412" cy="518159"/>
          </a:xfrm>
          <a:prstGeom prst="rect">
            <a:avLst/>
          </a:prstGeom>
          <a:noFill/>
        </p:spPr>
        <p:txBody>
          <a:bodyPr wrap="none" lIns="0" rIns="0">
            <a:noAutofit/>
          </a:bodyPr>
          <a:lstStyle/>
          <a:p>
            <a:pPr algn="l"/>
            <a:r>
              <a:rPr sz="3400" b="0" i="0">
                <a:solidFill>
                  <a:srgbClr val="D4D4D4"/>
                </a:solidFill>
                <a:latin typeface="Arial"/>
              </a:rPr>
              <a:t> python hello.py</a:t>
            </a:r>
          </a:p>
        </p:txBody>
      </p:sp>
      <p:sp>
        <p:nvSpPr>
          <p:cNvPr id="23" name="TextBox 22"/>
          <p:cNvSpPr/>
          <p:nvPr>
            <p:ph type="body" idx="22"/>
          </p:nvPr>
        </p:nvSpPr>
        <p:spPr>
          <a:xfrm>
            <a:off x="457200" y="5465057"/>
            <a:ext cx="3984068" cy="518159"/>
          </a:xfrm>
          <a:prstGeom prst="rect">
            <a:avLst/>
          </a:prstGeom>
          <a:noFill/>
        </p:spPr>
        <p:txBody>
          <a:bodyPr wrap="none" lIns="0" rIns="0">
            <a:noAutofit/>
          </a:bodyPr>
          <a:lstStyle/>
          <a:p>
            <a:pPr algn="l"/>
            <a:r>
              <a:rPr sz="3400" b="0" i="0">
                <a:solidFill>
                  <a:srgbClr val="D4D4D4"/>
                </a:solidFill>
                <a:latin typeface="Arial"/>
              </a:rPr>
              <a:t>Hello, world!</a:t>
            </a:r>
          </a:p>
        </p:txBody>
      </p:sp>
    </p:spTree>
    <p:extLst>
      <p:ext uri="{BB962C8B-B14F-4D97-AF65-F5344CB8AC3E}">
        <p14:creationId xmlns:p14="http://schemas.microsoft.com/office/powerpoint/2010/main" val="121299981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lidekit · File Tre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Final folder shape</a:t>
            </a:r>
          </a:p>
        </p:txBody>
      </p:sp>
      <p:sp>
        <p:nvSpPr>
          <p:cNvPr id="6" name="Rounded Rectangle 5"/>
          <p:cNvSpPr/>
          <p:nvPr>
            <p:ph type="body" idx="1"/>
          </p:nvPr>
        </p:nvSpPr>
        <p:spPr>
          <a:xfrm>
            <a:off x="457200" y="1499616"/>
            <a:ext cx="11277600" cy="4261104"/>
          </a:xfrm>
          <a:prstGeom prst="roundRect">
            <a:avLst>
              <a:gd name="adj" fmla="val 3004"/>
            </a:avLst>
          </a:prstGeom>
          <a:solidFill>
            <a:srgbClr val="0C1A1C"/>
          </a:solidFill>
          <a:ln>
            <a:noFill/>
          </a:ln>
          <a:effectLst/>
        </p:spPr>
        <p:txBody>
          <a:bodyPr rtlCol="0" anchor="ctr"/>
          <a:lstStyle/>
          <a:p>
            <a:pPr algn="ctr"/>
          </a:p>
        </p:txBody>
      </p:sp>
      <p:sp>
        <p:nvSpPr>
          <p:cNvPr id="7" name="TextBox 6"/>
          <p:cNvSpPr/>
          <p:nvPr>
            <p:ph type="body" idx="2"/>
          </p:nvPr>
        </p:nvSpPr>
        <p:spPr>
          <a:xfrm>
            <a:off x="822960" y="1819656"/>
            <a:ext cx="6206708" cy="396240"/>
          </a:xfrm>
          <a:prstGeom prst="rect">
            <a:avLst/>
          </a:prstGeom>
          <a:noFill/>
        </p:spPr>
        <p:txBody>
          <a:bodyPr wrap="none" lIns="0" rIns="0">
            <a:noAutofit/>
          </a:bodyPr>
          <a:lstStyle/>
          <a:p>
            <a:pPr algn="l"/>
            <a:r>
              <a:rPr sz="2600" b="1" i="0">
                <a:solidFill>
                  <a:srgbClr val="569CD6"/>
                </a:solidFill>
                <a:latin typeface="Courier New"/>
              </a:rPr>
              <a:t>simple-eda-project/</a:t>
            </a:r>
          </a:p>
        </p:txBody>
      </p:sp>
      <p:sp>
        <p:nvSpPr>
          <p:cNvPr id="8" name="TextBox 7"/>
          <p:cNvSpPr/>
          <p:nvPr>
            <p:ph type="body" idx="3"/>
          </p:nvPr>
        </p:nvSpPr>
        <p:spPr>
          <a:xfrm>
            <a:off x="822960" y="22158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9" name="TextBox 8"/>
          <p:cNvSpPr/>
          <p:nvPr>
            <p:ph type="body" idx="4"/>
          </p:nvPr>
        </p:nvSpPr>
        <p:spPr>
          <a:xfrm>
            <a:off x="1417417" y="2215896"/>
            <a:ext cx="1451054" cy="396240"/>
          </a:xfrm>
          <a:prstGeom prst="rect">
            <a:avLst/>
          </a:prstGeom>
          <a:noFill/>
        </p:spPr>
        <p:txBody>
          <a:bodyPr wrap="none" lIns="0" rIns="0">
            <a:noAutofit/>
          </a:bodyPr>
          <a:lstStyle/>
          <a:p>
            <a:pPr algn="l"/>
            <a:r>
              <a:rPr sz="2600" b="1" i="0">
                <a:solidFill>
                  <a:srgbClr val="569CD6"/>
                </a:solidFill>
                <a:latin typeface="Courier New"/>
              </a:rPr>
              <a:t>src/</a:t>
            </a:r>
          </a:p>
        </p:txBody>
      </p:sp>
      <p:sp>
        <p:nvSpPr>
          <p:cNvPr id="10" name="TextBox 9"/>
          <p:cNvSpPr/>
          <p:nvPr>
            <p:ph type="body" idx="5"/>
          </p:nvPr>
        </p:nvSpPr>
        <p:spPr>
          <a:xfrm>
            <a:off x="822960" y="2612136"/>
            <a:ext cx="2085140"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1" name="TextBox 10"/>
          <p:cNvSpPr/>
          <p:nvPr>
            <p:ph type="body" idx="6"/>
          </p:nvPr>
        </p:nvSpPr>
        <p:spPr>
          <a:xfrm>
            <a:off x="2011873" y="2612136"/>
            <a:ext cx="3670360" cy="396240"/>
          </a:xfrm>
          <a:prstGeom prst="rect">
            <a:avLst/>
          </a:prstGeom>
          <a:noFill/>
        </p:spPr>
        <p:txBody>
          <a:bodyPr wrap="none" lIns="0" rIns="0">
            <a:noAutofit/>
          </a:bodyPr>
          <a:lstStyle/>
          <a:p>
            <a:pPr algn="l"/>
            <a:r>
              <a:rPr sz="2600" b="1" i="0">
                <a:solidFill>
                  <a:srgbClr val="569CD6"/>
                </a:solidFill>
                <a:latin typeface="Courier New"/>
              </a:rPr>
              <a:t>simple_eda/</a:t>
            </a:r>
          </a:p>
        </p:txBody>
      </p:sp>
      <p:sp>
        <p:nvSpPr>
          <p:cNvPr id="12" name="TextBox 11"/>
          <p:cNvSpPr/>
          <p:nvPr>
            <p:ph type="body" idx="7"/>
          </p:nvPr>
        </p:nvSpPr>
        <p:spPr>
          <a:xfrm>
            <a:off x="822960" y="300837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3" name="TextBox 12"/>
          <p:cNvSpPr/>
          <p:nvPr>
            <p:ph type="body" idx="8"/>
          </p:nvPr>
        </p:nvSpPr>
        <p:spPr>
          <a:xfrm>
            <a:off x="2606330" y="3008376"/>
            <a:ext cx="3670360" cy="396240"/>
          </a:xfrm>
          <a:prstGeom prst="rect">
            <a:avLst/>
          </a:prstGeom>
          <a:noFill/>
        </p:spPr>
        <p:txBody>
          <a:bodyPr wrap="none" lIns="0" rIns="0">
            <a:noAutofit/>
          </a:bodyPr>
          <a:lstStyle/>
          <a:p>
            <a:pPr algn="l"/>
            <a:r>
              <a:rPr sz="2600" b="0" i="0">
                <a:solidFill>
                  <a:srgbClr val="D4D4D4"/>
                </a:solidFill>
                <a:latin typeface="Courier New"/>
              </a:rPr>
              <a:t>__init__.py</a:t>
            </a:r>
          </a:p>
        </p:txBody>
      </p:sp>
      <p:sp>
        <p:nvSpPr>
          <p:cNvPr id="14" name="TextBox 13"/>
          <p:cNvSpPr/>
          <p:nvPr>
            <p:ph type="body" idx="9"/>
          </p:nvPr>
        </p:nvSpPr>
        <p:spPr>
          <a:xfrm>
            <a:off x="822960" y="3404616"/>
            <a:ext cx="3036272" cy="396240"/>
          </a:xfrm>
          <a:prstGeom prst="rect">
            <a:avLst/>
          </a:prstGeom>
          <a:noFill/>
        </p:spPr>
        <p:txBody>
          <a:bodyPr wrap="none" lIns="0" rIns="0">
            <a:noAutofit/>
          </a:bodyPr>
          <a:lstStyle/>
          <a:p>
            <a:pPr algn="l"/>
            <a:r>
              <a:rPr sz="2600" b="0" i="0">
                <a:solidFill>
                  <a:srgbClr val="55707A"/>
                </a:solidFill>
                <a:latin typeface="Courier New"/>
              </a:rPr>
              <a:t>│     └─ </a:t>
            </a:r>
          </a:p>
        </p:txBody>
      </p:sp>
      <p:sp>
        <p:nvSpPr>
          <p:cNvPr id="15" name="TextBox 14"/>
          <p:cNvSpPr/>
          <p:nvPr>
            <p:ph type="body" idx="13"/>
          </p:nvPr>
        </p:nvSpPr>
        <p:spPr>
          <a:xfrm>
            <a:off x="2606330" y="3404616"/>
            <a:ext cx="2402185" cy="396240"/>
          </a:xfrm>
          <a:prstGeom prst="rect">
            <a:avLst/>
          </a:prstGeom>
          <a:noFill/>
        </p:spPr>
        <p:txBody>
          <a:bodyPr wrap="none" lIns="0" rIns="0">
            <a:noAutofit/>
          </a:bodyPr>
          <a:lstStyle/>
          <a:p>
            <a:pPr algn="l"/>
            <a:r>
              <a:rPr sz="2600" b="0" i="0">
                <a:solidFill>
                  <a:srgbClr val="D4D4D4"/>
                </a:solidFill>
                <a:latin typeface="Courier New"/>
              </a:rPr>
              <a:t>core.py</a:t>
            </a:r>
          </a:p>
        </p:txBody>
      </p:sp>
      <p:sp>
        <p:nvSpPr>
          <p:cNvPr id="16" name="TextBox 15"/>
          <p:cNvSpPr/>
          <p:nvPr>
            <p:ph type="body" idx="14"/>
          </p:nvPr>
        </p:nvSpPr>
        <p:spPr>
          <a:xfrm>
            <a:off x="822960" y="380085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7" name="TextBox 16"/>
          <p:cNvSpPr/>
          <p:nvPr>
            <p:ph type="body" idx="15"/>
          </p:nvPr>
        </p:nvSpPr>
        <p:spPr>
          <a:xfrm>
            <a:off x="1417417" y="3800856"/>
            <a:ext cx="3036272" cy="396240"/>
          </a:xfrm>
          <a:prstGeom prst="rect">
            <a:avLst/>
          </a:prstGeom>
          <a:noFill/>
        </p:spPr>
        <p:txBody>
          <a:bodyPr wrap="none" lIns="0" rIns="0">
            <a:noAutofit/>
          </a:bodyPr>
          <a:lstStyle/>
          <a:p>
            <a:pPr algn="l"/>
            <a:r>
              <a:rPr sz="2600" b="0" i="0">
                <a:solidFill>
                  <a:srgbClr val="D4D4D4"/>
                </a:solidFill>
                <a:latin typeface="Courier New"/>
              </a:rPr>
              <a:t>README.md</a:t>
            </a:r>
          </a:p>
        </p:txBody>
      </p:sp>
      <p:sp>
        <p:nvSpPr>
          <p:cNvPr id="18" name="TextBox 17"/>
          <p:cNvSpPr/>
          <p:nvPr>
            <p:ph type="body" idx="16"/>
          </p:nvPr>
        </p:nvSpPr>
        <p:spPr>
          <a:xfrm>
            <a:off x="822960" y="419709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19" name="TextBox 18"/>
          <p:cNvSpPr/>
          <p:nvPr>
            <p:ph type="body" idx="17"/>
          </p:nvPr>
        </p:nvSpPr>
        <p:spPr>
          <a:xfrm>
            <a:off x="1417417" y="4197096"/>
            <a:ext cx="4621489" cy="396240"/>
          </a:xfrm>
          <a:prstGeom prst="rect">
            <a:avLst/>
          </a:prstGeom>
          <a:noFill/>
        </p:spPr>
        <p:txBody>
          <a:bodyPr wrap="none" lIns="0" rIns="0">
            <a:noAutofit/>
          </a:bodyPr>
          <a:lstStyle/>
          <a:p>
            <a:pPr algn="l"/>
            <a:r>
              <a:rPr sz="2600" b="0" i="0">
                <a:solidFill>
                  <a:srgbClr val="D4D4D4"/>
                </a:solidFill>
                <a:latin typeface="Courier New"/>
              </a:rPr>
              <a:t>pyproject.toml</a:t>
            </a:r>
          </a:p>
        </p:txBody>
      </p:sp>
      <p:sp>
        <p:nvSpPr>
          <p:cNvPr id="20" name="TextBox 19"/>
          <p:cNvSpPr/>
          <p:nvPr>
            <p:ph type="body" idx="18"/>
          </p:nvPr>
        </p:nvSpPr>
        <p:spPr>
          <a:xfrm>
            <a:off x="822960" y="4593336"/>
            <a:ext cx="1134011" cy="396240"/>
          </a:xfrm>
          <a:prstGeom prst="rect">
            <a:avLst/>
          </a:prstGeom>
          <a:noFill/>
        </p:spPr>
        <p:txBody>
          <a:bodyPr wrap="none" lIns="0" rIns="0">
            <a:noAutofit/>
          </a:bodyPr>
          <a:lstStyle/>
          <a:p>
            <a:pPr algn="l"/>
            <a:r>
              <a:rPr sz="2600" b="0" i="0">
                <a:solidFill>
                  <a:srgbClr val="55707A"/>
                </a:solidFill>
                <a:latin typeface="Courier New"/>
              </a:rPr>
              <a:t>└─ </a:t>
            </a:r>
          </a:p>
        </p:txBody>
      </p:sp>
      <p:sp>
        <p:nvSpPr>
          <p:cNvPr id="21" name="TextBox 20"/>
          <p:cNvSpPr/>
          <p:nvPr>
            <p:ph type="body" idx="19"/>
          </p:nvPr>
        </p:nvSpPr>
        <p:spPr>
          <a:xfrm>
            <a:off x="1417417" y="4593336"/>
            <a:ext cx="2402185" cy="396240"/>
          </a:xfrm>
          <a:prstGeom prst="rect">
            <a:avLst/>
          </a:prstGeom>
          <a:noFill/>
        </p:spPr>
        <p:txBody>
          <a:bodyPr wrap="none" lIns="0" rIns="0">
            <a:noAutofit/>
          </a:bodyPr>
          <a:lstStyle/>
          <a:p>
            <a:pPr algn="l"/>
            <a:r>
              <a:rPr sz="2600" b="0" i="0">
                <a:solidFill>
                  <a:srgbClr val="D4D4D4"/>
                </a:solidFill>
                <a:latin typeface="Courier New"/>
              </a:rPr>
              <a:t>LICENSE</a:t>
            </a:r>
          </a:p>
        </p:txBody>
      </p:sp>
    </p:spTree>
    <p:extLst>
      <p:ext uri="{BB962C8B-B14F-4D97-AF65-F5344CB8AC3E}">
        <p14:creationId xmlns:p14="http://schemas.microsoft.com/office/powerpoint/2010/main" val="12129998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lidekit · Numbered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Steps to Onboard</a:t>
            </a:r>
          </a:p>
        </p:txBody>
      </p:sp>
      <p:sp>
        <p:nvSpPr>
          <p:cNvPr id="6" name="TextBox 5"/>
          <p:cNvSpPr/>
          <p:nvPr>
            <p:ph type="body" id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TextBox 6"/>
          <p:cNvSpPr/>
          <p:nvPr>
            <p:ph type="body" idx="2"/>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Connect your data</a:t>
            </a:r>
          </a:p>
        </p:txBody>
      </p:sp>
      <p:sp>
        <p:nvSpPr>
          <p:cNvPr id="8" name="TextBox 7"/>
          <p:cNvSpPr/>
          <p:nvPr>
            <p:ph type="body" idx="3"/>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Link a source in minutes with a guided wizard.</a:t>
            </a:r>
          </a:p>
        </p:txBody>
      </p:sp>
      <p:sp>
        <p:nvSpPr>
          <p:cNvPr id="9" name="TextBox 8"/>
          <p:cNvSpPr/>
          <p:nvPr>
            <p:ph type="body" idx="4"/>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0" name="TextBox 9"/>
          <p:cNvSpPr/>
          <p:nvPr>
            <p:ph type="body" idx="5"/>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template</a:t>
            </a:r>
          </a:p>
        </p:txBody>
      </p:sp>
      <p:sp>
        <p:nvSpPr>
          <p:cNvPr id="11" name="TextBox 10"/>
          <p:cNvSpPr/>
          <p:nvPr>
            <p:ph type="body" idx="6"/>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Start from a proven layout, then tailor it.</a:t>
            </a:r>
          </a:p>
        </p:txBody>
      </p:sp>
      <p:sp>
        <p:nvSpPr>
          <p:cNvPr id="12" name="TextBox 11"/>
          <p:cNvSpPr/>
          <p:nvPr>
            <p:ph type="body" idx="7"/>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3" name="TextBox 12"/>
          <p:cNvSpPr/>
          <p:nvPr>
            <p:ph type="body" idx="8"/>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Share the result</a:t>
            </a:r>
          </a:p>
        </p:txBody>
      </p:sp>
      <p:sp>
        <p:nvSpPr>
          <p:cNvPr id="14" name="TextBox 13"/>
          <p:cNvSpPr/>
          <p:nvPr>
            <p:ph type="body" idx="9"/>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Publish to your team and gather feedback fast.</a:t>
            </a:r>
          </a:p>
        </p:txBody>
      </p:sp>
    </p:spTree>
    <p:extLst>
      <p:ext uri="{BB962C8B-B14F-4D97-AF65-F5344CB8AC3E}">
        <p14:creationId xmlns:p14="http://schemas.microsoft.com/office/powerpoint/2010/main" val="12129998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slidekit · Two Panel Lis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Reworked</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123A6B"/>
                </a:solidFill>
                <a:latin typeface="Arial"/>
              </a:rPr>
              <a:t>Before</a:t>
            </a:r>
          </a:p>
        </p:txBody>
      </p:sp>
      <p:sp>
        <p:nvSpPr>
          <p:cNvPr id="7" name="Rectangle 6"/>
          <p:cNvSpPr/>
          <p:nvPr>
            <p:ph type="body" idx="2"/>
          </p:nvPr>
        </p:nvSpPr>
        <p:spPr>
          <a:xfrm>
            <a:off x="548640" y="2176271"/>
            <a:ext cx="1650492"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After</a:t>
            </a:r>
          </a:p>
        </p:txBody>
      </p:sp>
      <p:sp>
        <p:nvSpPr>
          <p:cNvPr id="9" name="Rectangle 8"/>
          <p:cNvSpPr/>
          <p:nvPr>
            <p:ph type="body" idx="4"/>
          </p:nvPr>
        </p:nvSpPr>
        <p:spPr>
          <a:xfrm>
            <a:off x="6324600" y="2176271"/>
            <a:ext cx="1650492" cy="54864"/>
          </a:xfrm>
          <a:prstGeom prst="rect">
            <a:avLst/>
          </a:prstGeom>
          <a:solidFill>
            <a:srgbClr val="5B6B82"/>
          </a:solidFill>
          <a:ln>
            <a:noFill/>
          </a:ln>
          <a:effectLst/>
        </p:spPr>
        <p:txBody>
          <a:bodyPr rtlCol="0" anchor="ctr"/>
          <a:lstStyle/>
          <a:p>
            <a:pPr algn="ctr"/>
          </a:p>
        </p:txBody>
      </p:sp>
      <p:sp>
        <p:nvSpPr>
          <p:cNvPr id="10" name="TextBox 9"/>
          <p:cNvSpPr/>
          <p:nvPr>
            <p:ph type="body" idx="5"/>
          </p:nvPr>
        </p:nvSpPr>
        <p:spPr>
          <a:xfrm>
            <a:off x="457200" y="2395727"/>
            <a:ext cx="6942574" cy="609600"/>
          </a:xfrm>
          <a:prstGeom prst="rect">
            <a:avLst/>
          </a:prstGeom>
          <a:noFill/>
        </p:spPr>
        <p:txBody>
          <a:bodyPr wrap="none" lIns="0" rIns="0">
            <a:noAutofit/>
          </a:bodyPr>
          <a:lstStyle/>
          <a:p>
            <a:pPr algn="l"/>
            <a:r>
              <a:rPr sz="3400" b="0" i="0">
                <a:solidFill>
                  <a:srgbClr val="0A2240"/>
                </a:solidFill>
                <a:latin typeface="Arial"/>
              </a:rPr>
              <a:t>Manual account setup</a:t>
            </a:r>
          </a:p>
        </p:txBody>
      </p:sp>
      <p:sp>
        <p:nvSpPr>
          <p:cNvPr id="11" name="TextBox 10"/>
          <p:cNvSpPr/>
          <p:nvPr>
            <p:ph type="body" idx="6"/>
          </p:nvPr>
        </p:nvSpPr>
        <p:spPr>
          <a:xfrm>
            <a:off x="457200" y="3608831"/>
            <a:ext cx="7594321" cy="609600"/>
          </a:xfrm>
          <a:prstGeom prst="rect">
            <a:avLst/>
          </a:prstGeom>
          <a:noFill/>
        </p:spPr>
        <p:txBody>
          <a:bodyPr wrap="none" lIns="0" rIns="0">
            <a:noAutofit/>
          </a:bodyPr>
          <a:lstStyle/>
          <a:p>
            <a:pPr algn="l"/>
            <a:r>
              <a:rPr sz="3400" b="0" i="0">
                <a:solidFill>
                  <a:srgbClr val="0A2240"/>
                </a:solidFill>
                <a:latin typeface="Arial"/>
              </a:rPr>
              <a:t>Three-day approval wait</a:t>
            </a:r>
          </a:p>
        </p:txBody>
      </p:sp>
      <p:sp>
        <p:nvSpPr>
          <p:cNvPr id="12" name="TextBox 11"/>
          <p:cNvSpPr/>
          <p:nvPr>
            <p:ph type="body" idx="7"/>
          </p:nvPr>
        </p:nvSpPr>
        <p:spPr>
          <a:xfrm>
            <a:off x="457200" y="4821935"/>
            <a:ext cx="5904230" cy="609600"/>
          </a:xfrm>
          <a:prstGeom prst="rect">
            <a:avLst/>
          </a:prstGeom>
          <a:noFill/>
        </p:spPr>
        <p:txBody>
          <a:bodyPr wrap="none" lIns="0" rIns="0">
            <a:noAutofit/>
          </a:bodyPr>
          <a:lstStyle/>
          <a:p>
            <a:pPr algn="l"/>
            <a:r>
              <a:rPr sz="3400" b="0" i="0">
                <a:solidFill>
                  <a:srgbClr val="0A2240"/>
                </a:solidFill>
                <a:latin typeface="Arial"/>
              </a:rPr>
              <a:t>Email-only support</a:t>
            </a:r>
          </a:p>
        </p:txBody>
      </p:sp>
      <p:sp>
        <p:nvSpPr>
          <p:cNvPr id="13" name="TextBox 12"/>
          <p:cNvSpPr/>
          <p:nvPr>
            <p:ph type="body" idx="8"/>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One-click provisioning</a:t>
            </a:r>
          </a:p>
        </p:txBody>
      </p:sp>
      <p:sp>
        <p:nvSpPr>
          <p:cNvPr id="14" name="TextBox 13"/>
          <p:cNvSpPr/>
          <p:nvPr>
            <p:ph type="body" idx="9"/>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Same-day approval</a:t>
            </a:r>
          </a:p>
        </p:txBody>
      </p:sp>
      <p:sp>
        <p:nvSpPr>
          <p:cNvPr id="15" name="TextBox 14"/>
          <p:cNvSpPr/>
          <p:nvPr>
            <p:ph type="body" idx="13"/>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In-product live chat</a:t>
            </a:r>
          </a:p>
        </p:txBody>
      </p:sp>
    </p:spTree>
    <p:extLst>
      <p:ext uri="{BB962C8B-B14F-4D97-AF65-F5344CB8AC3E}">
        <p14:creationId xmlns:p14="http://schemas.microsoft.com/office/powerpoint/2010/main" val="121299981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slidekit · This vs Tha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Cloud or On-Prem</a:t>
            </a:r>
          </a:p>
        </p:txBody>
      </p:sp>
      <p:sp>
        <p:nvSpPr>
          <p:cNvPr id="6" name="TextBox 5"/>
          <p:cNvSpPr/>
          <p:nvPr>
            <p:ph type="body" id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3 wks</a:t>
            </a:r>
          </a:p>
        </p:txBody>
      </p:sp>
      <p:sp>
        <p:nvSpPr>
          <p:cNvPr id="7" name="TextBox 6"/>
          <p:cNvSpPr/>
          <p:nvPr>
            <p:ph type="body" idx="2"/>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Cloud time-to-launch</a:t>
            </a:r>
          </a:p>
        </p:txBody>
      </p:sp>
      <p:sp>
        <p:nvSpPr>
          <p:cNvPr id="8" name="TextBox 7"/>
          <p:cNvSpPr/>
          <p:nvPr>
            <p:ph type="body" idx="3"/>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6 mo</a:t>
            </a:r>
          </a:p>
        </p:txBody>
      </p:sp>
      <p:sp>
        <p:nvSpPr>
          <p:cNvPr id="9" name="TextBox 8"/>
          <p:cNvSpPr/>
          <p:nvPr>
            <p:ph type="body" idx="4"/>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On-prem time-to-launch</a:t>
            </a:r>
          </a:p>
        </p:txBody>
      </p:sp>
      <p:sp>
        <p:nvSpPr>
          <p:cNvPr id="10" name="TextBox 9"/>
          <p:cNvSpPr/>
          <p:nvPr>
            <p:ph type="body" idx="5"/>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Tree>
    <p:extLst>
      <p:ext uri="{BB962C8B-B14F-4D97-AF65-F5344CB8AC3E}">
        <p14:creationId xmlns:p14="http://schemas.microsoft.com/office/powerpoint/2010/main" val="121299981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slidekit · KPI Gr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Key Metrics This Quarter</a:t>
            </a:r>
          </a:p>
        </p:txBody>
      </p:sp>
      <p:sp>
        <p:nvSpPr>
          <p:cNvPr id="6" name="TextBox 5"/>
          <p:cNvSpPr/>
          <p:nvPr>
            <p:ph type="body" idx="1"/>
          </p:nvPr>
        </p:nvSpPr>
        <p:spPr>
          <a:xfrm>
            <a:off x="457200" y="1789176"/>
            <a:ext cx="3576320" cy="640080"/>
          </a:xfrm>
          <a:prstGeom prst="rect">
            <a:avLst/>
          </a:prstGeom>
          <a:noFill/>
        </p:spPr>
        <p:txBody>
          <a:bodyPr wrap="none" lIns="0" rIns="0">
            <a:noAutofit/>
          </a:bodyPr>
          <a:lstStyle/>
          <a:p>
            <a:pPr algn="ctr"/>
            <a:r>
              <a:rPr sz="4200" b="1" i="0">
                <a:solidFill>
                  <a:srgbClr val="0072CE"/>
                </a:solidFill>
                <a:latin typeface="Arial"/>
              </a:rPr>
              <a:t>98.7%</a:t>
            </a:r>
          </a:p>
        </p:txBody>
      </p:sp>
      <p:sp>
        <p:nvSpPr>
          <p:cNvPr id="7" name="Rectangle 6"/>
          <p:cNvSpPr/>
          <p:nvPr>
            <p:ph type="body" idx="2"/>
          </p:nvPr>
        </p:nvSpPr>
        <p:spPr>
          <a:xfrm>
            <a:off x="1708912" y="2484120"/>
            <a:ext cx="1072896"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593848"/>
            <a:ext cx="3576320" cy="609600"/>
          </a:xfrm>
          <a:prstGeom prst="rect">
            <a:avLst/>
          </a:prstGeom>
          <a:noFill/>
        </p:spPr>
        <p:txBody>
          <a:bodyPr wrap="none" lIns="0" rIns="0">
            <a:noAutofit/>
          </a:bodyPr>
          <a:lstStyle/>
          <a:p>
            <a:pPr algn="ctr"/>
            <a:r>
              <a:rPr sz="3400" b="0" i="0">
                <a:solidFill>
                  <a:srgbClr val="0A2240"/>
                </a:solidFill>
                <a:latin typeface="Arial"/>
              </a:rPr>
              <a:t>Uptime</a:t>
            </a:r>
          </a:p>
        </p:txBody>
      </p:sp>
      <p:sp>
        <p:nvSpPr>
          <p:cNvPr id="9" name="TextBox 8"/>
          <p:cNvSpPr/>
          <p:nvPr>
            <p:ph type="body" idx="4"/>
          </p:nvPr>
        </p:nvSpPr>
        <p:spPr>
          <a:xfrm>
            <a:off x="4307840" y="1789176"/>
            <a:ext cx="3576320" cy="640080"/>
          </a:xfrm>
          <a:prstGeom prst="rect">
            <a:avLst/>
          </a:prstGeom>
          <a:noFill/>
        </p:spPr>
        <p:txBody>
          <a:bodyPr wrap="none" lIns="0" rIns="0">
            <a:noAutofit/>
          </a:bodyPr>
          <a:lstStyle/>
          <a:p>
            <a:pPr algn="ctr"/>
            <a:r>
              <a:rPr sz="4200" b="1" i="0">
                <a:solidFill>
                  <a:srgbClr val="0072CE"/>
                </a:solidFill>
                <a:latin typeface="Arial"/>
              </a:rPr>
              <a:t>1,240</a:t>
            </a:r>
          </a:p>
        </p:txBody>
      </p:sp>
      <p:sp>
        <p:nvSpPr>
          <p:cNvPr id="10" name="Rectangle 9"/>
          <p:cNvSpPr/>
          <p:nvPr>
            <p:ph type="body" idx="5"/>
          </p:nvPr>
        </p:nvSpPr>
        <p:spPr>
          <a:xfrm>
            <a:off x="5559552" y="2484120"/>
            <a:ext cx="1072896" cy="54864"/>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3834934" y="2593848"/>
            <a:ext cx="4522132" cy="609600"/>
          </a:xfrm>
          <a:prstGeom prst="rect">
            <a:avLst/>
          </a:prstGeom>
          <a:noFill/>
        </p:spPr>
        <p:txBody>
          <a:bodyPr wrap="none" lIns="0" rIns="0">
            <a:noAutofit/>
          </a:bodyPr>
          <a:lstStyle/>
          <a:p>
            <a:pPr algn="ctr"/>
            <a:r>
              <a:rPr sz="3400" b="0" i="0">
                <a:solidFill>
                  <a:srgbClr val="0A2240"/>
                </a:solidFill>
                <a:latin typeface="Arial"/>
              </a:rPr>
              <a:t>New accounts</a:t>
            </a:r>
          </a:p>
        </p:txBody>
      </p:sp>
      <p:sp>
        <p:nvSpPr>
          <p:cNvPr id="12" name="TextBox 11"/>
          <p:cNvSpPr/>
          <p:nvPr>
            <p:ph type="body" idx="7"/>
          </p:nvPr>
        </p:nvSpPr>
        <p:spPr>
          <a:xfrm>
            <a:off x="8158480" y="1789176"/>
            <a:ext cx="3576320" cy="640080"/>
          </a:xfrm>
          <a:prstGeom prst="rect">
            <a:avLst/>
          </a:prstGeom>
          <a:noFill/>
        </p:spPr>
        <p:txBody>
          <a:bodyPr wrap="none" lIns="0" rIns="0">
            <a:noAutofit/>
          </a:bodyPr>
          <a:lstStyle/>
          <a:p>
            <a:pPr algn="ctr"/>
            <a:r>
              <a:rPr sz="4200" b="1" i="0">
                <a:solidFill>
                  <a:srgbClr val="0072CE"/>
                </a:solidFill>
                <a:latin typeface="Arial"/>
              </a:rPr>
              <a:t>4.6/5</a:t>
            </a:r>
          </a:p>
        </p:txBody>
      </p:sp>
      <p:sp>
        <p:nvSpPr>
          <p:cNvPr id="13" name="Rectangle 12"/>
          <p:cNvSpPr/>
          <p:nvPr>
            <p:ph type="body" idx="8"/>
          </p:nvPr>
        </p:nvSpPr>
        <p:spPr>
          <a:xfrm>
            <a:off x="9410192" y="2484120"/>
            <a:ext cx="1072896"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7701280" y="2593848"/>
            <a:ext cx="4490720" cy="609600"/>
          </a:xfrm>
          <a:prstGeom prst="rect">
            <a:avLst/>
          </a:prstGeom>
          <a:noFill/>
        </p:spPr>
        <p:txBody>
          <a:bodyPr wrap="none" lIns="0" rIns="0">
            <a:noAutofit/>
          </a:bodyPr>
          <a:lstStyle/>
          <a:p>
            <a:pPr algn="ctr"/>
            <a:r>
              <a:rPr sz="3400" b="0" i="0">
                <a:solidFill>
                  <a:srgbClr val="0A2240"/>
                </a:solidFill>
                <a:latin typeface="Arial"/>
              </a:rPr>
              <a:t>Support rating</a:t>
            </a:r>
          </a:p>
        </p:txBody>
      </p:sp>
      <p:sp>
        <p:nvSpPr>
          <p:cNvPr id="15" name="TextBox 14"/>
          <p:cNvSpPr/>
          <p:nvPr>
            <p:ph type="body" idx="13"/>
          </p:nvPr>
        </p:nvSpPr>
        <p:spPr>
          <a:xfrm>
            <a:off x="457200" y="4056888"/>
            <a:ext cx="3576320" cy="640080"/>
          </a:xfrm>
          <a:prstGeom prst="rect">
            <a:avLst/>
          </a:prstGeom>
          <a:noFill/>
        </p:spPr>
        <p:txBody>
          <a:bodyPr wrap="none" lIns="0" rIns="0">
            <a:noAutofit/>
          </a:bodyPr>
          <a:lstStyle/>
          <a:p>
            <a:pPr algn="ctr"/>
            <a:r>
              <a:rPr sz="4200" b="1" i="0">
                <a:solidFill>
                  <a:srgbClr val="0072CE"/>
                </a:solidFill>
                <a:latin typeface="Arial"/>
              </a:rPr>
              <a:t>$2.1M</a:t>
            </a:r>
          </a:p>
        </p:txBody>
      </p:sp>
      <p:sp>
        <p:nvSpPr>
          <p:cNvPr id="16" name="Rectangle 15"/>
          <p:cNvSpPr/>
          <p:nvPr>
            <p:ph type="body" idx="14"/>
          </p:nvPr>
        </p:nvSpPr>
        <p:spPr>
          <a:xfrm>
            <a:off x="1708912" y="4751832"/>
            <a:ext cx="1072896" cy="548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0" y="4861560"/>
            <a:ext cx="4490720" cy="609600"/>
          </a:xfrm>
          <a:prstGeom prst="rect">
            <a:avLst/>
          </a:prstGeom>
          <a:noFill/>
        </p:spPr>
        <p:txBody>
          <a:bodyPr wrap="none" lIns="0" rIns="0">
            <a:noAutofit/>
          </a:bodyPr>
          <a:lstStyle/>
          <a:p>
            <a:pPr algn="ctr"/>
            <a:r>
              <a:rPr sz="3400" b="0" i="0">
                <a:solidFill>
                  <a:srgbClr val="0A2240"/>
                </a:solidFill>
                <a:latin typeface="Arial"/>
              </a:rPr>
              <a:t>Net new revenue</a:t>
            </a:r>
          </a:p>
        </p:txBody>
      </p:sp>
      <p:sp>
        <p:nvSpPr>
          <p:cNvPr id="18" name="TextBox 17"/>
          <p:cNvSpPr/>
          <p:nvPr>
            <p:ph type="body" idx="16"/>
          </p:nvPr>
        </p:nvSpPr>
        <p:spPr>
          <a:xfrm>
            <a:off x="4307840" y="3797808"/>
            <a:ext cx="3576320" cy="640080"/>
          </a:xfrm>
          <a:prstGeom prst="rect">
            <a:avLst/>
          </a:prstGeom>
          <a:noFill/>
        </p:spPr>
        <p:txBody>
          <a:bodyPr wrap="none" lIns="0" rIns="0">
            <a:noAutofit/>
          </a:bodyPr>
          <a:lstStyle/>
          <a:p>
            <a:pPr algn="ctr"/>
            <a:r>
              <a:rPr sz="4200" b="1" i="0">
                <a:solidFill>
                  <a:srgbClr val="0072CE"/>
                </a:solidFill>
                <a:latin typeface="Arial"/>
              </a:rPr>
              <a:t>12 days</a:t>
            </a:r>
          </a:p>
        </p:txBody>
      </p:sp>
      <p:sp>
        <p:nvSpPr>
          <p:cNvPr id="19" name="Rectangle 18"/>
          <p:cNvSpPr/>
          <p:nvPr>
            <p:ph type="body" idx="17"/>
          </p:nvPr>
        </p:nvSpPr>
        <p:spPr>
          <a:xfrm>
            <a:off x="5559552" y="4492752"/>
            <a:ext cx="1072896" cy="54864"/>
          </a:xfrm>
          <a:prstGeom prst="rect">
            <a:avLst/>
          </a:prstGeom>
          <a:solidFill>
            <a:srgbClr val="0072CE"/>
          </a:solidFill>
          <a:ln>
            <a:noFill/>
          </a:ln>
          <a:effectLst/>
        </p:spPr>
        <p:txBody>
          <a:bodyPr rtlCol="0" anchor="ctr"/>
          <a:lstStyle/>
          <a:p>
            <a:pPr algn="ctr"/>
          </a:p>
        </p:txBody>
      </p:sp>
      <p:sp>
        <p:nvSpPr>
          <p:cNvPr id="20" name="TextBox 19"/>
          <p:cNvSpPr/>
          <p:nvPr>
            <p:ph type="body" idx="18"/>
          </p:nvPr>
        </p:nvSpPr>
        <p:spPr>
          <a:xfrm>
            <a:off x="4307840" y="4602480"/>
            <a:ext cx="3576320" cy="1127760"/>
          </a:xfrm>
          <a:prstGeom prst="rect">
            <a:avLst/>
          </a:prstGeom>
          <a:noFill/>
        </p:spPr>
        <p:txBody>
          <a:bodyPr wrap="square" lIns="0" rIns="0">
            <a:noAutofit/>
          </a:bodyPr>
          <a:lstStyle/>
          <a:p>
            <a:pPr algn="ctr"/>
            <a:r>
              <a:rPr sz="3400" b="0" i="0">
                <a:solidFill>
                  <a:srgbClr val="0A2240"/>
                </a:solidFill>
                <a:latin typeface="Arial"/>
              </a:rPr>
              <a:t>Avg. time to value</a:t>
            </a:r>
          </a:p>
        </p:txBody>
      </p:sp>
      <p:sp>
        <p:nvSpPr>
          <p:cNvPr id="21" name="TextBox 20"/>
          <p:cNvSpPr/>
          <p:nvPr>
            <p:ph type="body" idx="19"/>
          </p:nvPr>
        </p:nvSpPr>
        <p:spPr>
          <a:xfrm>
            <a:off x="8158480" y="4056888"/>
            <a:ext cx="3576320" cy="640080"/>
          </a:xfrm>
          <a:prstGeom prst="rect">
            <a:avLst/>
          </a:prstGeom>
          <a:noFill/>
        </p:spPr>
        <p:txBody>
          <a:bodyPr wrap="none" lIns="0" rIns="0">
            <a:noAutofit/>
          </a:bodyPr>
          <a:lstStyle/>
          <a:p>
            <a:pPr algn="ctr"/>
            <a:r>
              <a:rPr sz="4200" b="1" i="0">
                <a:solidFill>
                  <a:srgbClr val="0072CE"/>
                </a:solidFill>
                <a:latin typeface="Arial"/>
              </a:rPr>
              <a:t>31%</a:t>
            </a:r>
          </a:p>
        </p:txBody>
      </p:sp>
      <p:sp>
        <p:nvSpPr>
          <p:cNvPr id="22" name="Rectangle 21"/>
          <p:cNvSpPr/>
          <p:nvPr>
            <p:ph type="body" idx="20"/>
          </p:nvPr>
        </p:nvSpPr>
        <p:spPr>
          <a:xfrm>
            <a:off x="9410192" y="4751832"/>
            <a:ext cx="1072896" cy="54864"/>
          </a:xfrm>
          <a:prstGeom prst="rect">
            <a:avLst/>
          </a:prstGeom>
          <a:solidFill>
            <a:srgbClr val="0072CE"/>
          </a:solidFill>
          <a:ln>
            <a:noFill/>
          </a:ln>
          <a:effectLst/>
        </p:spPr>
        <p:txBody>
          <a:bodyPr rtlCol="0" anchor="ctr"/>
          <a:lstStyle/>
          <a:p>
            <a:pPr algn="ctr"/>
          </a:p>
        </p:txBody>
      </p:sp>
      <p:sp>
        <p:nvSpPr>
          <p:cNvPr id="23" name="TextBox 22"/>
          <p:cNvSpPr/>
          <p:nvPr>
            <p:ph type="body" idx="21"/>
          </p:nvPr>
        </p:nvSpPr>
        <p:spPr>
          <a:xfrm>
            <a:off x="7701280" y="4861560"/>
            <a:ext cx="4490720" cy="609600"/>
          </a:xfrm>
          <a:prstGeom prst="rect">
            <a:avLst/>
          </a:prstGeom>
          <a:noFill/>
        </p:spPr>
        <p:txBody>
          <a:bodyPr wrap="none" lIns="0" rIns="0">
            <a:noAutofit/>
          </a:bodyPr>
          <a:lstStyle/>
          <a:p>
            <a:pPr algn="ctr"/>
            <a:r>
              <a:rPr sz="3400" b="0" i="0">
                <a:solidFill>
                  <a:srgbClr val="0A2240"/>
                </a:solidFill>
                <a:latin typeface="Arial"/>
              </a:rPr>
              <a:t>Expansion rate</a:t>
            </a:r>
          </a:p>
        </p:txBody>
      </p:sp>
    </p:spTree>
    <p:extLst>
      <p:ext uri="{BB962C8B-B14F-4D97-AF65-F5344CB8AC3E}">
        <p14:creationId xmlns:p14="http://schemas.microsoft.com/office/powerpoint/2010/main" val="121299981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blank" preserve="1">
  <p:cSld name="slidekit · Chart With Insigh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Monthly Active Teams</a:t>
            </a:r>
          </a:p>
        </p:txBody>
      </p:sp>
      <p:sp>
        <p:nvSpPr>
          <p:cNvPr id="6" name="TextBox 5"/>
          <p:cNvSpPr/>
          <p:nvPr>
            <p:ph type="body" idx="1"/>
          </p:nvPr>
        </p:nvSpPr>
        <p:spPr>
          <a:xfrm>
            <a:off x="457200" y="3680394"/>
            <a:ext cx="1485900" cy="381000"/>
          </a:xfrm>
          <a:prstGeom prst="rect">
            <a:avLst/>
          </a:prstGeom>
          <a:noFill/>
        </p:spPr>
        <p:txBody>
          <a:bodyPr wrap="none" lIns="0" rIns="0">
            <a:noAutofit/>
          </a:bodyPr>
          <a:lstStyle/>
          <a:p>
            <a:pPr algn="l"/>
            <a:r>
              <a:rPr sz="2500" b="1" i="0">
                <a:solidFill>
                  <a:srgbClr val="0072CE"/>
                </a:solidFill>
                <a:latin typeface="Arial"/>
              </a:rPr>
              <a:t>120</a:t>
            </a:r>
          </a:p>
        </p:txBody>
      </p:sp>
      <p:sp>
        <p:nvSpPr>
          <p:cNvPr id="7" name="Rectangle 6"/>
          <p:cNvSpPr/>
          <p:nvPr>
            <p:ph type="body" idx="2"/>
          </p:nvPr>
        </p:nvSpPr>
        <p:spPr>
          <a:xfrm>
            <a:off x="680085" y="4335714"/>
            <a:ext cx="1040129" cy="769686"/>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5379720"/>
            <a:ext cx="1485900" cy="381000"/>
          </a:xfrm>
          <a:prstGeom prst="rect">
            <a:avLst/>
          </a:prstGeom>
          <a:noFill/>
        </p:spPr>
        <p:txBody>
          <a:bodyPr wrap="none" lIns="0" rIns="0">
            <a:noAutofit/>
          </a:bodyPr>
          <a:lstStyle/>
          <a:p>
            <a:pPr algn="l"/>
            <a:r>
              <a:rPr sz="2500" b="0" i="0">
                <a:solidFill>
                  <a:srgbClr val="5B6B82"/>
                </a:solidFill>
                <a:latin typeface="Arial"/>
              </a:rPr>
              <a:t>Jan</a:t>
            </a:r>
          </a:p>
        </p:txBody>
      </p:sp>
      <p:sp>
        <p:nvSpPr>
          <p:cNvPr id="9" name="TextBox 8"/>
          <p:cNvSpPr/>
          <p:nvPr>
            <p:ph type="body" idx="4"/>
          </p:nvPr>
        </p:nvSpPr>
        <p:spPr>
          <a:xfrm>
            <a:off x="2217420" y="3295551"/>
            <a:ext cx="1485900" cy="381000"/>
          </a:xfrm>
          <a:prstGeom prst="rect">
            <a:avLst/>
          </a:prstGeom>
          <a:noFill/>
        </p:spPr>
        <p:txBody>
          <a:bodyPr wrap="none" lIns="0" rIns="0">
            <a:noAutofit/>
          </a:bodyPr>
          <a:lstStyle/>
          <a:p>
            <a:pPr algn="l"/>
            <a:r>
              <a:rPr sz="2500" b="1" i="0">
                <a:solidFill>
                  <a:srgbClr val="0072CE"/>
                </a:solidFill>
                <a:latin typeface="Arial"/>
              </a:rPr>
              <a:t>180</a:t>
            </a:r>
          </a:p>
        </p:txBody>
      </p:sp>
      <p:sp>
        <p:nvSpPr>
          <p:cNvPr id="10" name="Rectangle 9"/>
          <p:cNvSpPr/>
          <p:nvPr>
            <p:ph type="body" idx="5"/>
          </p:nvPr>
        </p:nvSpPr>
        <p:spPr>
          <a:xfrm>
            <a:off x="2440305" y="3950871"/>
            <a:ext cx="1040129" cy="1154529"/>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217420" y="5379720"/>
            <a:ext cx="1485900" cy="381000"/>
          </a:xfrm>
          <a:prstGeom prst="rect">
            <a:avLst/>
          </a:prstGeom>
          <a:noFill/>
        </p:spPr>
        <p:txBody>
          <a:bodyPr wrap="none" lIns="0" rIns="0">
            <a:noAutofit/>
          </a:bodyPr>
          <a:lstStyle/>
          <a:p>
            <a:pPr algn="l"/>
            <a:r>
              <a:rPr sz="2500" b="0" i="0">
                <a:solidFill>
                  <a:srgbClr val="5B6B82"/>
                </a:solidFill>
                <a:latin typeface="Arial"/>
              </a:rPr>
              <a:t>Feb</a:t>
            </a:r>
          </a:p>
        </p:txBody>
      </p:sp>
      <p:sp>
        <p:nvSpPr>
          <p:cNvPr id="12" name="TextBox 11"/>
          <p:cNvSpPr/>
          <p:nvPr>
            <p:ph type="body" idx="7"/>
          </p:nvPr>
        </p:nvSpPr>
        <p:spPr>
          <a:xfrm>
            <a:off x="3977640" y="2590005"/>
            <a:ext cx="1485900" cy="381000"/>
          </a:xfrm>
          <a:prstGeom prst="rect">
            <a:avLst/>
          </a:prstGeom>
          <a:noFill/>
        </p:spPr>
        <p:txBody>
          <a:bodyPr wrap="none" lIns="0" rIns="0">
            <a:noAutofit/>
          </a:bodyPr>
          <a:lstStyle/>
          <a:p>
            <a:pPr algn="l"/>
            <a:r>
              <a:rPr sz="2500" b="1" i="0">
                <a:solidFill>
                  <a:srgbClr val="0072CE"/>
                </a:solidFill>
                <a:latin typeface="Arial"/>
              </a:rPr>
              <a:t>290</a:t>
            </a:r>
          </a:p>
        </p:txBody>
      </p:sp>
      <p:sp>
        <p:nvSpPr>
          <p:cNvPr id="13" name="Rectangle 12"/>
          <p:cNvSpPr/>
          <p:nvPr>
            <p:ph type="body" idx="8"/>
          </p:nvPr>
        </p:nvSpPr>
        <p:spPr>
          <a:xfrm>
            <a:off x="4200525" y="3245325"/>
            <a:ext cx="1040129" cy="1860075"/>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3977640" y="5379720"/>
            <a:ext cx="1485900" cy="381000"/>
          </a:xfrm>
          <a:prstGeom prst="rect">
            <a:avLst/>
          </a:prstGeom>
          <a:noFill/>
        </p:spPr>
        <p:txBody>
          <a:bodyPr wrap="none" lIns="0" rIns="0">
            <a:noAutofit/>
          </a:bodyPr>
          <a:lstStyle/>
          <a:p>
            <a:pPr algn="l"/>
            <a:r>
              <a:rPr sz="2500" b="0" i="0">
                <a:solidFill>
                  <a:srgbClr val="5B6B82"/>
                </a:solidFill>
                <a:latin typeface="Arial"/>
              </a:rPr>
              <a:t>Mar</a:t>
            </a:r>
          </a:p>
        </p:txBody>
      </p:sp>
      <p:sp>
        <p:nvSpPr>
          <p:cNvPr id="15" name="TextBox 14"/>
          <p:cNvSpPr/>
          <p:nvPr>
            <p:ph type="body" idx="13"/>
          </p:nvPr>
        </p:nvSpPr>
        <p:spPr>
          <a:xfrm>
            <a:off x="5737860" y="1499616"/>
            <a:ext cx="1485900" cy="381000"/>
          </a:xfrm>
          <a:prstGeom prst="rect">
            <a:avLst/>
          </a:prstGeom>
          <a:noFill/>
        </p:spPr>
        <p:txBody>
          <a:bodyPr wrap="none" lIns="0" rIns="0">
            <a:noAutofit/>
          </a:bodyPr>
          <a:lstStyle/>
          <a:p>
            <a:pPr algn="l"/>
            <a:r>
              <a:rPr sz="2500" b="1" i="0">
                <a:solidFill>
                  <a:srgbClr val="0072CE"/>
                </a:solidFill>
                <a:latin typeface="Arial"/>
              </a:rPr>
              <a:t>460</a:t>
            </a:r>
          </a:p>
        </p:txBody>
      </p:sp>
      <p:sp>
        <p:nvSpPr>
          <p:cNvPr id="16" name="Rectangle 15"/>
          <p:cNvSpPr/>
          <p:nvPr>
            <p:ph type="body" idx="14"/>
          </p:nvPr>
        </p:nvSpPr>
        <p:spPr>
          <a:xfrm>
            <a:off x="5960745" y="2154936"/>
            <a:ext cx="1040129" cy="2950464"/>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5737860" y="5379720"/>
            <a:ext cx="1485900" cy="381000"/>
          </a:xfrm>
          <a:prstGeom prst="rect">
            <a:avLst/>
          </a:prstGeom>
          <a:noFill/>
        </p:spPr>
        <p:txBody>
          <a:bodyPr wrap="none" lIns="0" rIns="0">
            <a:noAutofit/>
          </a:bodyPr>
          <a:lstStyle/>
          <a:p>
            <a:pPr algn="l"/>
            <a:r>
              <a:rPr sz="2500" b="0" i="0">
                <a:solidFill>
                  <a:srgbClr val="5B6B82"/>
                </a:solidFill>
                <a:latin typeface="Arial"/>
              </a:rPr>
              <a:t>Apr</a:t>
            </a:r>
          </a:p>
        </p:txBody>
      </p:sp>
      <p:sp>
        <p:nvSpPr>
          <p:cNvPr id="18" name="Rectangle 17"/>
          <p:cNvSpPr/>
          <p:nvPr>
            <p:ph type="body" idx="16"/>
          </p:nvPr>
        </p:nvSpPr>
        <p:spPr>
          <a:xfrm>
            <a:off x="7498080" y="1770888"/>
            <a:ext cx="128016" cy="3718560"/>
          </a:xfrm>
          <a:prstGeom prst="rect">
            <a:avLst/>
          </a:prstGeom>
          <a:solidFill>
            <a:srgbClr val="0072CE"/>
          </a:solidFill>
          <a:ln>
            <a:noFill/>
          </a:ln>
          <a:effectLst/>
        </p:spPr>
        <p:txBody>
          <a:bodyPr rtlCol="0" anchor="ctr"/>
          <a:lstStyle/>
          <a:p>
            <a:pPr algn="ctr"/>
          </a:p>
        </p:txBody>
      </p:sp>
      <p:sp>
        <p:nvSpPr>
          <p:cNvPr id="19" name="TextBox 18"/>
          <p:cNvSpPr/>
          <p:nvPr>
            <p:ph type="body" idx="17"/>
          </p:nvPr>
        </p:nvSpPr>
        <p:spPr>
          <a:xfrm>
            <a:off x="8037576" y="1770888"/>
            <a:ext cx="3697224" cy="3718560"/>
          </a:xfrm>
          <a:prstGeom prst="rect">
            <a:avLst/>
          </a:prstGeom>
          <a:noFill/>
        </p:spPr>
        <p:txBody>
          <a:bodyPr wrap="square" lIns="0" rIns="0">
            <a:noAutofit/>
          </a:bodyPr>
          <a:lstStyle/>
          <a:p>
            <a:pPr algn="l"/>
            <a:r>
              <a:rPr sz="3400" b="1" i="0">
                <a:solidFill>
                  <a:srgbClr val="0A2240"/>
                </a:solidFill>
                <a:latin typeface="Arial"/>
              </a:rPr>
              <a:t>Activations nearly quadrupled once self-serve onboarding shipped in February.</a:t>
            </a:r>
          </a:p>
        </p:txBody>
      </p:sp>
    </p:spTree>
    <p:extLst>
      <p:ext uri="{BB962C8B-B14F-4D97-AF65-F5344CB8AC3E}">
        <p14:creationId xmlns:p14="http://schemas.microsoft.com/office/powerpoint/2010/main" val="12129998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blank" preserve="1">
  <p:cSld name="slidekit · Table">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Pricing Tiers</a:t>
            </a:r>
          </a:p>
        </p:txBody>
      </p:sp>
      <p:sp>
        <p:nvSpPr>
          <p:cNvPr id="6" name="TextBox 5"/>
          <p:cNvSpPr/>
          <p:nvPr>
            <p:ph type="body" idx="1"/>
          </p:nvPr>
        </p:nvSpPr>
        <p:spPr>
          <a:xfrm>
            <a:off x="457200" y="1499616"/>
            <a:ext cx="2333739" cy="518159"/>
          </a:xfrm>
          <a:prstGeom prst="rect">
            <a:avLst/>
          </a:prstGeom>
          <a:noFill/>
        </p:spPr>
        <p:txBody>
          <a:bodyPr wrap="none" lIns="0" rIns="0">
            <a:noAutofit/>
          </a:bodyPr>
          <a:lstStyle/>
          <a:p>
            <a:pPr algn="l"/>
            <a:r>
              <a:rPr sz="3400" b="1" i="0">
                <a:solidFill>
                  <a:srgbClr val="123A6B"/>
                </a:solidFill>
                <a:latin typeface="Arial"/>
              </a:rPr>
              <a:t>Plan</a:t>
            </a:r>
          </a:p>
        </p:txBody>
      </p:sp>
      <p:sp>
        <p:nvSpPr>
          <p:cNvPr id="7" name="TextBox 6"/>
          <p:cNvSpPr/>
          <p:nvPr>
            <p:ph type="body" idx="2"/>
          </p:nvPr>
        </p:nvSpPr>
        <p:spPr>
          <a:xfrm>
            <a:off x="3339579" y="1499616"/>
            <a:ext cx="2238229" cy="518159"/>
          </a:xfrm>
          <a:prstGeom prst="rect">
            <a:avLst/>
          </a:prstGeom>
          <a:noFill/>
        </p:spPr>
        <p:txBody>
          <a:bodyPr wrap="none" lIns="0" rIns="0">
            <a:noAutofit/>
          </a:bodyPr>
          <a:lstStyle/>
          <a:p>
            <a:pPr algn="l"/>
            <a:r>
              <a:rPr sz="3400" b="1" i="0">
                <a:solidFill>
                  <a:srgbClr val="123A6B"/>
                </a:solidFill>
                <a:latin typeface="Arial"/>
              </a:rPr>
              <a:t>Seats</a:t>
            </a:r>
          </a:p>
        </p:txBody>
      </p:sp>
      <p:sp>
        <p:nvSpPr>
          <p:cNvPr id="8" name="TextBox 7"/>
          <p:cNvSpPr/>
          <p:nvPr>
            <p:ph type="body" idx="3"/>
          </p:nvPr>
        </p:nvSpPr>
        <p:spPr>
          <a:xfrm>
            <a:off x="6126448" y="1499616"/>
            <a:ext cx="2022329" cy="518159"/>
          </a:xfrm>
          <a:prstGeom prst="rect">
            <a:avLst/>
          </a:prstGeom>
          <a:noFill/>
        </p:spPr>
        <p:txBody>
          <a:bodyPr wrap="none" lIns="0" rIns="0">
            <a:noAutofit/>
          </a:bodyPr>
          <a:lstStyle/>
          <a:p>
            <a:pPr algn="l"/>
            <a:r>
              <a:rPr sz="3400" b="1" i="0">
                <a:solidFill>
                  <a:srgbClr val="123A6B"/>
                </a:solidFill>
                <a:latin typeface="Arial"/>
              </a:rPr>
              <a:t>Price</a:t>
            </a:r>
          </a:p>
        </p:txBody>
      </p:sp>
      <p:sp>
        <p:nvSpPr>
          <p:cNvPr id="9" name="Rectangle 8"/>
          <p:cNvSpPr/>
          <p:nvPr>
            <p:ph type="body" idx="4"/>
          </p:nvPr>
        </p:nvSpPr>
        <p:spPr>
          <a:xfrm>
            <a:off x="457200" y="2072639"/>
            <a:ext cx="7691577"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2333739" cy="633984"/>
          </a:xfrm>
          <a:prstGeom prst="rect">
            <a:avLst/>
          </a:prstGeom>
          <a:noFill/>
        </p:spPr>
        <p:txBody>
          <a:bodyPr wrap="none" lIns="0" rIns="0">
            <a:noAutofit/>
          </a:bodyPr>
          <a:lstStyle/>
          <a:p>
            <a:pPr algn="l"/>
            <a:r>
              <a:rPr sz="3400" b="0" i="0">
                <a:solidFill>
                  <a:srgbClr val="0A2240"/>
                </a:solidFill>
                <a:latin typeface="Arial"/>
              </a:rPr>
              <a:t>Starter</a:t>
            </a:r>
          </a:p>
        </p:txBody>
      </p:sp>
      <p:sp>
        <p:nvSpPr>
          <p:cNvPr id="11" name="TextBox 10"/>
          <p:cNvSpPr/>
          <p:nvPr>
            <p:ph type="body" idx="6"/>
          </p:nvPr>
        </p:nvSpPr>
        <p:spPr>
          <a:xfrm>
            <a:off x="3339579" y="2401823"/>
            <a:ext cx="2410360" cy="633984"/>
          </a:xfrm>
          <a:prstGeom prst="rect">
            <a:avLst/>
          </a:prstGeom>
          <a:noFill/>
        </p:spPr>
        <p:txBody>
          <a:bodyPr wrap="none" lIns="0" rIns="0">
            <a:noAutofit/>
          </a:bodyPr>
          <a:lstStyle/>
          <a:p>
            <a:pPr algn="l"/>
            <a:r>
              <a:rPr sz="3400" b="0" i="0">
                <a:solidFill>
                  <a:srgbClr val="0A2240"/>
                </a:solidFill>
                <a:latin typeface="Arial"/>
              </a:rPr>
              <a:t>Up to 5</a:t>
            </a:r>
          </a:p>
        </p:txBody>
      </p:sp>
      <p:sp>
        <p:nvSpPr>
          <p:cNvPr id="12" name="TextBox 11"/>
          <p:cNvSpPr/>
          <p:nvPr>
            <p:ph type="body" idx="7"/>
          </p:nvPr>
        </p:nvSpPr>
        <p:spPr>
          <a:xfrm>
            <a:off x="6126448" y="2401823"/>
            <a:ext cx="2022329" cy="633984"/>
          </a:xfrm>
          <a:prstGeom prst="rect">
            <a:avLst/>
          </a:prstGeom>
          <a:noFill/>
        </p:spPr>
        <p:txBody>
          <a:bodyPr wrap="none" lIns="0" rIns="0">
            <a:noAutofit/>
          </a:bodyPr>
          <a:lstStyle/>
          <a:p>
            <a:pPr algn="l"/>
            <a:r>
              <a:rPr sz="3400" b="0" i="0">
                <a:solidFill>
                  <a:srgbClr val="0A2240"/>
                </a:solidFill>
                <a:latin typeface="Arial"/>
              </a:rPr>
              <a:t>$0</a:t>
            </a:r>
          </a:p>
        </p:txBody>
      </p:sp>
      <p:sp>
        <p:nvSpPr>
          <p:cNvPr id="13" name="TextBox 12"/>
          <p:cNvSpPr/>
          <p:nvPr>
            <p:ph type="body" idx="8"/>
          </p:nvPr>
        </p:nvSpPr>
        <p:spPr>
          <a:xfrm>
            <a:off x="457200" y="3310127"/>
            <a:ext cx="2333739" cy="633984"/>
          </a:xfrm>
          <a:prstGeom prst="rect">
            <a:avLst/>
          </a:prstGeom>
          <a:noFill/>
        </p:spPr>
        <p:txBody>
          <a:bodyPr wrap="none" lIns="0" rIns="0">
            <a:noAutofit/>
          </a:bodyPr>
          <a:lstStyle/>
          <a:p>
            <a:pPr algn="l"/>
            <a:r>
              <a:rPr sz="3400" b="0" i="0">
                <a:solidFill>
                  <a:srgbClr val="0A2240"/>
                </a:solidFill>
                <a:latin typeface="Arial"/>
              </a:rPr>
              <a:t>Team</a:t>
            </a:r>
          </a:p>
        </p:txBody>
      </p:sp>
      <p:sp>
        <p:nvSpPr>
          <p:cNvPr id="14" name="TextBox 13"/>
          <p:cNvSpPr/>
          <p:nvPr>
            <p:ph type="body" idx="9"/>
          </p:nvPr>
        </p:nvSpPr>
        <p:spPr>
          <a:xfrm>
            <a:off x="3339579" y="3310127"/>
            <a:ext cx="2794595" cy="633984"/>
          </a:xfrm>
          <a:prstGeom prst="rect">
            <a:avLst/>
          </a:prstGeom>
          <a:noFill/>
        </p:spPr>
        <p:txBody>
          <a:bodyPr wrap="none" lIns="0" rIns="0">
            <a:noAutofit/>
          </a:bodyPr>
          <a:lstStyle/>
          <a:p>
            <a:pPr algn="l"/>
            <a:r>
              <a:rPr sz="3400" b="0" i="0">
                <a:solidFill>
                  <a:srgbClr val="0A2240"/>
                </a:solidFill>
                <a:latin typeface="Arial"/>
              </a:rPr>
              <a:t>Up to 50</a:t>
            </a:r>
          </a:p>
        </p:txBody>
      </p:sp>
      <p:sp>
        <p:nvSpPr>
          <p:cNvPr id="15" name="TextBox 14"/>
          <p:cNvSpPr/>
          <p:nvPr>
            <p:ph type="body" idx="13"/>
          </p:nvPr>
        </p:nvSpPr>
        <p:spPr>
          <a:xfrm>
            <a:off x="6126448" y="3310127"/>
            <a:ext cx="2833390" cy="633984"/>
          </a:xfrm>
          <a:prstGeom prst="rect">
            <a:avLst/>
          </a:prstGeom>
          <a:noFill/>
        </p:spPr>
        <p:txBody>
          <a:bodyPr wrap="none" lIns="0" rIns="0">
            <a:noAutofit/>
          </a:bodyPr>
          <a:lstStyle/>
          <a:p>
            <a:pPr algn="l"/>
            <a:r>
              <a:rPr sz="3400" b="0" i="0">
                <a:solidFill>
                  <a:srgbClr val="0A2240"/>
                </a:solidFill>
                <a:latin typeface="Arial"/>
              </a:rPr>
              <a:t>$12/seat</a:t>
            </a:r>
          </a:p>
        </p:txBody>
      </p:sp>
      <p:sp>
        <p:nvSpPr>
          <p:cNvPr id="16" name="TextBox 15"/>
          <p:cNvSpPr/>
          <p:nvPr>
            <p:ph type="body" idx="14"/>
          </p:nvPr>
        </p:nvSpPr>
        <p:spPr>
          <a:xfrm>
            <a:off x="457200" y="4218431"/>
            <a:ext cx="2986206" cy="633984"/>
          </a:xfrm>
          <a:prstGeom prst="rect">
            <a:avLst/>
          </a:prstGeom>
          <a:noFill/>
        </p:spPr>
        <p:txBody>
          <a:bodyPr wrap="none" lIns="0" rIns="0">
            <a:noAutofit/>
          </a:bodyPr>
          <a:lstStyle/>
          <a:p>
            <a:pPr algn="l"/>
            <a:r>
              <a:rPr sz="3400" b="0" i="0">
                <a:solidFill>
                  <a:srgbClr val="0A2240"/>
                </a:solidFill>
                <a:latin typeface="Arial"/>
              </a:rPr>
              <a:t>Business</a:t>
            </a:r>
          </a:p>
        </p:txBody>
      </p:sp>
      <p:sp>
        <p:nvSpPr>
          <p:cNvPr id="17" name="TextBox 16"/>
          <p:cNvSpPr/>
          <p:nvPr>
            <p:ph type="body" idx="15"/>
          </p:nvPr>
        </p:nvSpPr>
        <p:spPr>
          <a:xfrm>
            <a:off x="3339579" y="4218431"/>
            <a:ext cx="3178830" cy="633984"/>
          </a:xfrm>
          <a:prstGeom prst="rect">
            <a:avLst/>
          </a:prstGeom>
          <a:noFill/>
        </p:spPr>
        <p:txBody>
          <a:bodyPr wrap="none" lIns="0" rIns="0">
            <a:noAutofit/>
          </a:bodyPr>
          <a:lstStyle/>
          <a:p>
            <a:pPr algn="l"/>
            <a:r>
              <a:rPr sz="3400" b="0" i="0">
                <a:solidFill>
                  <a:srgbClr val="0A2240"/>
                </a:solidFill>
                <a:latin typeface="Arial"/>
              </a:rPr>
              <a:t>Up to 250</a:t>
            </a:r>
          </a:p>
        </p:txBody>
      </p:sp>
      <p:sp>
        <p:nvSpPr>
          <p:cNvPr id="18" name="TextBox 17"/>
          <p:cNvSpPr/>
          <p:nvPr>
            <p:ph type="body" idx="16"/>
          </p:nvPr>
        </p:nvSpPr>
        <p:spPr>
          <a:xfrm>
            <a:off x="6126448" y="4218431"/>
            <a:ext cx="2833390" cy="633984"/>
          </a:xfrm>
          <a:prstGeom prst="rect">
            <a:avLst/>
          </a:prstGeom>
          <a:noFill/>
        </p:spPr>
        <p:txBody>
          <a:bodyPr wrap="none" lIns="0" rIns="0">
            <a:noAutofit/>
          </a:bodyPr>
          <a:lstStyle/>
          <a:p>
            <a:pPr algn="l"/>
            <a:r>
              <a:rPr sz="3400" b="0" i="0">
                <a:solidFill>
                  <a:srgbClr val="0A2240"/>
                </a:solidFill>
                <a:latin typeface="Arial"/>
              </a:rPr>
              <a:t>$20/seat</a:t>
            </a:r>
          </a:p>
        </p:txBody>
      </p:sp>
      <p:sp>
        <p:nvSpPr>
          <p:cNvPr id="19" name="TextBox 18"/>
          <p:cNvSpPr/>
          <p:nvPr>
            <p:ph type="body" idx="17"/>
          </p:nvPr>
        </p:nvSpPr>
        <p:spPr>
          <a:xfrm>
            <a:off x="457200" y="5126735"/>
            <a:ext cx="3331646" cy="633984"/>
          </a:xfrm>
          <a:prstGeom prst="rect">
            <a:avLst/>
          </a:prstGeom>
          <a:noFill/>
        </p:spPr>
        <p:txBody>
          <a:bodyPr wrap="none" lIns="0" rIns="0">
            <a:noAutofit/>
          </a:bodyPr>
          <a:lstStyle/>
          <a:p>
            <a:pPr algn="l"/>
            <a:r>
              <a:rPr sz="3400" b="0" i="0">
                <a:solidFill>
                  <a:srgbClr val="0A2240"/>
                </a:solidFill>
                <a:latin typeface="Arial"/>
              </a:rPr>
              <a:t>Enterprise</a:t>
            </a:r>
          </a:p>
        </p:txBody>
      </p:sp>
      <p:sp>
        <p:nvSpPr>
          <p:cNvPr id="20" name="TextBox 19"/>
          <p:cNvSpPr/>
          <p:nvPr>
            <p:ph type="body" idx="18"/>
          </p:nvPr>
        </p:nvSpPr>
        <p:spPr>
          <a:xfrm>
            <a:off x="3339579" y="5126735"/>
            <a:ext cx="3062446" cy="633984"/>
          </a:xfrm>
          <a:prstGeom prst="rect">
            <a:avLst/>
          </a:prstGeom>
          <a:noFill/>
        </p:spPr>
        <p:txBody>
          <a:bodyPr wrap="none" lIns="0" rIns="0">
            <a:noAutofit/>
          </a:bodyPr>
          <a:lstStyle/>
          <a:p>
            <a:pPr algn="l"/>
            <a:r>
              <a:rPr sz="3400" b="0" i="0">
                <a:solidFill>
                  <a:srgbClr val="0A2240"/>
                </a:solidFill>
                <a:latin typeface="Arial"/>
              </a:rPr>
              <a:t>Unlimited</a:t>
            </a:r>
          </a:p>
        </p:txBody>
      </p:sp>
      <p:sp>
        <p:nvSpPr>
          <p:cNvPr id="21" name="TextBox 20"/>
          <p:cNvSpPr/>
          <p:nvPr>
            <p:ph type="body" idx="19"/>
          </p:nvPr>
        </p:nvSpPr>
        <p:spPr>
          <a:xfrm>
            <a:off x="6126448" y="5126735"/>
            <a:ext cx="2563177" cy="633984"/>
          </a:xfrm>
          <a:prstGeom prst="rect">
            <a:avLst/>
          </a:prstGeom>
          <a:noFill/>
        </p:spPr>
        <p:txBody>
          <a:bodyPr wrap="none" lIns="0" rIns="0">
            <a:noAutofit/>
          </a:bodyPr>
          <a:lstStyle/>
          <a:p>
            <a:pPr algn="l"/>
            <a:r>
              <a:rPr sz="3400" b="0" i="0">
                <a:solidFill>
                  <a:srgbClr val="0A2240"/>
                </a:solidFill>
                <a:latin typeface="Arial"/>
              </a:rPr>
              <a:t>Custom</a:t>
            </a:r>
          </a:p>
        </p:txBody>
      </p:sp>
    </p:spTree>
    <p:extLst>
      <p:ext uri="{BB962C8B-B14F-4D97-AF65-F5344CB8AC3E}">
        <p14:creationId xmlns:p14="http://schemas.microsoft.com/office/powerpoint/2010/main" val="121299981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lidekit · Metric Comparison">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Performance vs Last Year</a:t>
            </a:r>
          </a:p>
        </p:txBody>
      </p:sp>
      <p:sp>
        <p:nvSpPr>
          <p:cNvPr id="6" name="TextBox 5"/>
          <p:cNvSpPr/>
          <p:nvPr>
            <p:ph type="body" idx="1"/>
          </p:nvPr>
        </p:nvSpPr>
        <p:spPr>
          <a:xfrm>
            <a:off x="457200" y="2075688"/>
            <a:ext cx="3576320" cy="914400"/>
          </a:xfrm>
          <a:prstGeom prst="rect">
            <a:avLst/>
          </a:prstGeom>
          <a:noFill/>
        </p:spPr>
        <p:txBody>
          <a:bodyPr wrap="none" lIns="0" rIns="0">
            <a:noAutofit/>
          </a:bodyPr>
          <a:lstStyle/>
          <a:p>
            <a:pPr algn="ctr"/>
            <a:r>
              <a:rPr sz="6000" b="1" i="0">
                <a:solidFill>
                  <a:srgbClr val="0072CE"/>
                </a:solidFill>
                <a:latin typeface="Arial"/>
              </a:rPr>
              <a:t>$8.4M</a:t>
            </a:r>
          </a:p>
        </p:txBody>
      </p:sp>
      <p:sp>
        <p:nvSpPr>
          <p:cNvPr id="7" name="TextBox 6"/>
          <p:cNvSpPr/>
          <p:nvPr>
            <p:ph type="body" idx="2"/>
          </p:nvPr>
        </p:nvSpPr>
        <p:spPr>
          <a:xfrm>
            <a:off x="457200" y="3264408"/>
            <a:ext cx="3576320" cy="1127760"/>
          </a:xfrm>
          <a:prstGeom prst="rect">
            <a:avLst/>
          </a:prstGeom>
          <a:noFill/>
        </p:spPr>
        <p:txBody>
          <a:bodyPr wrap="square" lIns="0" rIns="0">
            <a:noAutofit/>
          </a:bodyPr>
          <a:lstStyle/>
          <a:p>
            <a:pPr algn="ctr"/>
            <a:r>
              <a:rPr sz="3400" b="0" i="0">
                <a:solidFill>
                  <a:srgbClr val="0A2240"/>
                </a:solidFill>
                <a:latin typeface="Arial"/>
              </a:rPr>
              <a:t>Annual recurring revenue</a:t>
            </a:r>
          </a:p>
        </p:txBody>
      </p:sp>
      <p:sp>
        <p:nvSpPr>
          <p:cNvPr id="8" name="Rectangle 7"/>
          <p:cNvSpPr/>
          <p:nvPr>
            <p:ph type="body" idx="3"/>
          </p:nvPr>
        </p:nvSpPr>
        <p:spPr>
          <a:xfrm>
            <a:off x="1522569" y="4666488"/>
            <a:ext cx="1445581" cy="518159"/>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260802" y="4666488"/>
            <a:ext cx="1969115" cy="518159"/>
          </a:xfrm>
          <a:prstGeom prst="rect">
            <a:avLst/>
          </a:prstGeom>
          <a:noFill/>
        </p:spPr>
        <p:txBody>
          <a:bodyPr wrap="none" lIns="0" rIns="0">
            <a:noAutofit/>
          </a:bodyPr>
          <a:lstStyle/>
          <a:p>
            <a:pPr algn="ctr"/>
            <a:r>
              <a:rPr sz="3400" b="1" i="0">
                <a:solidFill>
                  <a:srgbClr val="FFFFFF"/>
                </a:solidFill>
                <a:latin typeface="Arial"/>
              </a:rPr>
              <a:t>+24%</a:t>
            </a:r>
          </a:p>
        </p:txBody>
      </p:sp>
      <p:sp>
        <p:nvSpPr>
          <p:cNvPr id="10" name="TextBox 9"/>
          <p:cNvSpPr/>
          <p:nvPr>
            <p:ph type="body" idx="5"/>
          </p:nvPr>
        </p:nvSpPr>
        <p:spPr>
          <a:xfrm>
            <a:off x="4307840" y="2075688"/>
            <a:ext cx="3576320" cy="914400"/>
          </a:xfrm>
          <a:prstGeom prst="rect">
            <a:avLst/>
          </a:prstGeom>
          <a:noFill/>
        </p:spPr>
        <p:txBody>
          <a:bodyPr wrap="none" lIns="0" rIns="0">
            <a:noAutofit/>
          </a:bodyPr>
          <a:lstStyle/>
          <a:p>
            <a:pPr algn="ctr"/>
            <a:r>
              <a:rPr sz="6000" b="1" i="0">
                <a:solidFill>
                  <a:srgbClr val="0072CE"/>
                </a:solidFill>
                <a:latin typeface="Arial"/>
              </a:rPr>
              <a:t>2.1%</a:t>
            </a:r>
          </a:p>
        </p:txBody>
      </p:sp>
      <p:sp>
        <p:nvSpPr>
          <p:cNvPr id="11" name="TextBox 10"/>
          <p:cNvSpPr/>
          <p:nvPr>
            <p:ph type="body" idx="6"/>
          </p:nvPr>
        </p:nvSpPr>
        <p:spPr>
          <a:xfrm>
            <a:off x="3834934" y="3264408"/>
            <a:ext cx="4522132" cy="1127760"/>
          </a:xfrm>
          <a:prstGeom prst="rect">
            <a:avLst/>
          </a:prstGeom>
          <a:noFill/>
        </p:spPr>
        <p:txBody>
          <a:bodyPr wrap="none" lIns="0" rIns="0">
            <a:noAutofit/>
          </a:bodyPr>
          <a:lstStyle/>
          <a:p>
            <a:pPr algn="ctr"/>
            <a:r>
              <a:rPr sz="3400" b="0" i="0">
                <a:solidFill>
                  <a:srgbClr val="0A2240"/>
                </a:solidFill>
                <a:latin typeface="Arial"/>
              </a:rPr>
              <a:t>Monthly churn</a:t>
            </a:r>
          </a:p>
        </p:txBody>
      </p:sp>
      <p:sp>
        <p:nvSpPr>
          <p:cNvPr id="12" name="Rectangle 11"/>
          <p:cNvSpPr/>
          <p:nvPr>
            <p:ph type="body" idx="7"/>
          </p:nvPr>
        </p:nvSpPr>
        <p:spPr>
          <a:xfrm>
            <a:off x="5175547" y="4666488"/>
            <a:ext cx="1840906" cy="518159"/>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795183" y="4666488"/>
            <a:ext cx="2601634" cy="518159"/>
          </a:xfrm>
          <a:prstGeom prst="rect">
            <a:avLst/>
          </a:prstGeom>
          <a:noFill/>
        </p:spPr>
        <p:txBody>
          <a:bodyPr wrap="none" lIns="0" rIns="0">
            <a:noAutofit/>
          </a:bodyPr>
          <a:lstStyle/>
          <a:p>
            <a:pPr algn="ctr"/>
            <a:r>
              <a:rPr sz="3400" b="1" i="0">
                <a:solidFill>
                  <a:srgbClr val="FFFFFF"/>
                </a:solidFill>
                <a:latin typeface="Arial"/>
              </a:rPr>
              <a:t>-0.8 pts</a:t>
            </a:r>
          </a:p>
        </p:txBody>
      </p:sp>
      <p:sp>
        <p:nvSpPr>
          <p:cNvPr id="14" name="TextBox 13"/>
          <p:cNvSpPr/>
          <p:nvPr>
            <p:ph type="body" idx="9"/>
          </p:nvPr>
        </p:nvSpPr>
        <p:spPr>
          <a:xfrm>
            <a:off x="8158480" y="2075688"/>
            <a:ext cx="3576320" cy="914400"/>
          </a:xfrm>
          <a:prstGeom prst="rect">
            <a:avLst/>
          </a:prstGeom>
          <a:noFill/>
        </p:spPr>
        <p:txBody>
          <a:bodyPr wrap="none" lIns="0" rIns="0">
            <a:noAutofit/>
          </a:bodyPr>
          <a:lstStyle/>
          <a:p>
            <a:pPr algn="ctr"/>
            <a:r>
              <a:rPr sz="6000" b="1" i="0">
                <a:solidFill>
                  <a:srgbClr val="0072CE"/>
                </a:solidFill>
                <a:latin typeface="Arial"/>
              </a:rPr>
              <a:t>63</a:t>
            </a:r>
          </a:p>
        </p:txBody>
      </p:sp>
      <p:sp>
        <p:nvSpPr>
          <p:cNvPr id="15" name="TextBox 14"/>
          <p:cNvSpPr/>
          <p:nvPr>
            <p:ph type="body" idx="13"/>
          </p:nvPr>
        </p:nvSpPr>
        <p:spPr>
          <a:xfrm>
            <a:off x="8158480" y="3264408"/>
            <a:ext cx="3576320" cy="1127760"/>
          </a:xfrm>
          <a:prstGeom prst="rect">
            <a:avLst/>
          </a:prstGeom>
          <a:noFill/>
        </p:spPr>
        <p:txBody>
          <a:bodyPr wrap="square" lIns="0" rIns="0">
            <a:noAutofit/>
          </a:bodyPr>
          <a:lstStyle/>
          <a:p>
            <a:pPr algn="ctr"/>
            <a:r>
              <a:rPr sz="3400" b="0" i="0">
                <a:solidFill>
                  <a:srgbClr val="0A2240"/>
                </a:solidFill>
                <a:latin typeface="Arial"/>
              </a:rPr>
              <a:t>Net promoter score</a:t>
            </a:r>
          </a:p>
        </p:txBody>
      </p:sp>
      <p:sp>
        <p:nvSpPr>
          <p:cNvPr id="16" name="Rectangle 15"/>
          <p:cNvSpPr/>
          <p:nvPr>
            <p:ph type="body" idx="14"/>
          </p:nvPr>
        </p:nvSpPr>
        <p:spPr>
          <a:xfrm>
            <a:off x="9427731" y="4666488"/>
            <a:ext cx="1037817" cy="518159"/>
          </a:xfrm>
          <a:prstGeom prst="rect">
            <a:avLst/>
          </a:prstGeom>
          <a:solidFill>
            <a:srgbClr val="0072CE"/>
          </a:solidFill>
          <a:ln>
            <a:noFill/>
          </a:ln>
          <a:effectLst/>
        </p:spPr>
        <p:txBody>
          <a:bodyPr rtlCol="0" anchor="ctr"/>
          <a:lstStyle/>
          <a:p>
            <a:pPr algn="ctr"/>
          </a:p>
        </p:txBody>
      </p:sp>
      <p:sp>
        <p:nvSpPr>
          <p:cNvPr id="17" name="TextBox 16"/>
          <p:cNvSpPr/>
          <p:nvPr>
            <p:ph type="body" idx="15"/>
          </p:nvPr>
        </p:nvSpPr>
        <p:spPr>
          <a:xfrm>
            <a:off x="9288294" y="4666488"/>
            <a:ext cx="1316691" cy="518159"/>
          </a:xfrm>
          <a:prstGeom prst="rect">
            <a:avLst/>
          </a:prstGeom>
          <a:noFill/>
        </p:spPr>
        <p:txBody>
          <a:bodyPr wrap="none" lIns="0" rIns="0">
            <a:noAutofit/>
          </a:bodyPr>
          <a:lstStyle/>
          <a:p>
            <a:pPr algn="ctr"/>
            <a:r>
              <a:rPr sz="3400" b="1" i="0">
                <a:solidFill>
                  <a:srgbClr val="FFFFFF"/>
                </a:solidFill>
                <a:latin typeface="Arial"/>
              </a:rPr>
              <a:t>+11</a:t>
            </a:r>
          </a:p>
        </p:txBody>
      </p:sp>
    </p:spTree>
    <p:extLst>
      <p:ext uri="{BB962C8B-B14F-4D97-AF65-F5344CB8AC3E}">
        <p14:creationId xmlns:p14="http://schemas.microsoft.com/office/powerpoint/2010/main" val="121299981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slidekit · Process Step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Onboarding Flow</a:t>
            </a:r>
          </a:p>
        </p:txBody>
      </p:sp>
      <p:sp>
        <p:nvSpPr>
          <p:cNvPr id="6" name="TextBox 5"/>
          <p:cNvSpPr/>
          <p:nvPr>
            <p:ph type="body" id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7" name="Rectangle 6"/>
          <p:cNvSpPr/>
          <p:nvPr>
            <p:ph type="body" idx="2"/>
          </p:nvPr>
        </p:nvSpPr>
        <p:spPr>
          <a:xfrm>
            <a:off x="457200" y="2194560"/>
            <a:ext cx="784098" cy="54864"/>
          </a:xfrm>
          <a:prstGeom prst="rect">
            <a:avLst/>
          </a:prstGeom>
          <a:solidFill>
            <a:srgbClr val="123A6B"/>
          </a:solidFill>
          <a:ln>
            <a:noFill/>
          </a:ln>
          <a:effectLst/>
        </p:spPr>
        <p:txBody>
          <a:bodyPr rtlCol="0" anchor="ctr"/>
          <a:lstStyle/>
          <a:p>
            <a:pPr algn="ctr"/>
          </a:p>
        </p:txBody>
      </p:sp>
      <p:sp>
        <p:nvSpPr>
          <p:cNvPr id="8" name="TextBox 7"/>
          <p:cNvSpPr/>
          <p:nvPr>
            <p:ph type="body" idx="3"/>
          </p:nvPr>
        </p:nvSpPr>
        <p:spPr>
          <a:xfrm>
            <a:off x="457200" y="2414016"/>
            <a:ext cx="2715657" cy="518159"/>
          </a:xfrm>
          <a:prstGeom prst="rect">
            <a:avLst/>
          </a:prstGeom>
          <a:noFill/>
        </p:spPr>
        <p:txBody>
          <a:bodyPr wrap="none" lIns="0" rIns="0">
            <a:noAutofit/>
          </a:bodyPr>
          <a:lstStyle/>
          <a:p>
            <a:pPr algn="l"/>
            <a:r>
              <a:rPr sz="3400" b="1" i="0">
                <a:solidFill>
                  <a:srgbClr val="123A6B"/>
                </a:solidFill>
                <a:latin typeface="Arial"/>
              </a:rPr>
              <a:t>Sign up</a:t>
            </a:r>
          </a:p>
        </p:txBody>
      </p:sp>
      <p:sp>
        <p:nvSpPr>
          <p:cNvPr id="9" name="TextBox 8"/>
          <p:cNvSpPr/>
          <p:nvPr>
            <p:ph type="body" idx="4"/>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Create an account</a:t>
            </a:r>
          </a:p>
        </p:txBody>
      </p:sp>
      <p:sp>
        <p:nvSpPr>
          <p:cNvPr id="10" name="TextBox 9"/>
          <p:cNvSpPr/>
          <p:nvPr>
            <p:ph type="body" idx="5"/>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11" name="Rectangle 10"/>
          <p:cNvSpPr/>
          <p:nvPr>
            <p:ph type="body" idx="6"/>
          </p:nvPr>
        </p:nvSpPr>
        <p:spPr>
          <a:xfrm>
            <a:off x="3345180" y="2194560"/>
            <a:ext cx="784098" cy="54864"/>
          </a:xfrm>
          <a:prstGeom prst="rect">
            <a:avLst/>
          </a:prstGeom>
          <a:solidFill>
            <a:srgbClr val="123A6B"/>
          </a:solidFill>
          <a:ln>
            <a:noFill/>
          </a:ln>
          <a:effectLst/>
        </p:spPr>
        <p:txBody>
          <a:bodyPr rtlCol="0" anchor="ctr"/>
          <a:lstStyle/>
          <a:p>
            <a:pPr algn="ctr"/>
          </a:p>
        </p:txBody>
      </p:sp>
      <p:sp>
        <p:nvSpPr>
          <p:cNvPr id="12" name="TextBox 11"/>
          <p:cNvSpPr/>
          <p:nvPr>
            <p:ph type="body" idx="7"/>
          </p:nvPr>
        </p:nvSpPr>
        <p:spPr>
          <a:xfrm>
            <a:off x="3345180" y="2414016"/>
            <a:ext cx="2946400" cy="518159"/>
          </a:xfrm>
          <a:prstGeom prst="rect">
            <a:avLst/>
          </a:prstGeom>
          <a:noFill/>
        </p:spPr>
        <p:txBody>
          <a:bodyPr wrap="none" lIns="0" rIns="0">
            <a:noAutofit/>
          </a:bodyPr>
          <a:lstStyle/>
          <a:p>
            <a:pPr algn="l"/>
            <a:r>
              <a:rPr sz="3400" b="1" i="0">
                <a:solidFill>
                  <a:srgbClr val="123A6B"/>
                </a:solidFill>
                <a:latin typeface="Arial"/>
              </a:rPr>
              <a:t>Connect</a:t>
            </a:r>
          </a:p>
        </p:txBody>
      </p:sp>
      <p:sp>
        <p:nvSpPr>
          <p:cNvPr id="13" name="TextBox 12"/>
          <p:cNvSpPr/>
          <p:nvPr>
            <p:ph type="body" idx="8"/>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Link your data</a:t>
            </a:r>
          </a:p>
        </p:txBody>
      </p:sp>
      <p:sp>
        <p:nvSpPr>
          <p:cNvPr id="14" name="TextBox 13"/>
          <p:cNvSpPr/>
          <p:nvPr>
            <p:ph type="body" idx="9"/>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5" name="Rectangle 14"/>
          <p:cNvSpPr/>
          <p:nvPr>
            <p:ph type="body" idx="13"/>
          </p:nvPr>
        </p:nvSpPr>
        <p:spPr>
          <a:xfrm>
            <a:off x="6233160" y="2194560"/>
            <a:ext cx="784098" cy="54864"/>
          </a:xfrm>
          <a:prstGeom prst="rect">
            <a:avLst/>
          </a:prstGeom>
          <a:solidFill>
            <a:srgbClr val="123A6B"/>
          </a:solidFill>
          <a:ln>
            <a:noFill/>
          </a:ln>
          <a:effectLst/>
        </p:spPr>
        <p:txBody>
          <a:bodyPr rtlCol="0" anchor="ctr"/>
          <a:lstStyle/>
          <a:p>
            <a:pPr algn="ctr"/>
          </a:p>
        </p:txBody>
      </p:sp>
      <p:sp>
        <p:nvSpPr>
          <p:cNvPr id="16" name="TextBox 15"/>
          <p:cNvSpPr/>
          <p:nvPr>
            <p:ph type="body" idx="14"/>
          </p:nvPr>
        </p:nvSpPr>
        <p:spPr>
          <a:xfrm>
            <a:off x="6233160" y="2414016"/>
            <a:ext cx="3444993" cy="518159"/>
          </a:xfrm>
          <a:prstGeom prst="rect">
            <a:avLst/>
          </a:prstGeom>
          <a:noFill/>
        </p:spPr>
        <p:txBody>
          <a:bodyPr wrap="none" lIns="0" rIns="0">
            <a:noAutofit/>
          </a:bodyPr>
          <a:lstStyle/>
          <a:p>
            <a:pPr algn="l"/>
            <a:r>
              <a:rPr sz="3400" b="1" i="0">
                <a:solidFill>
                  <a:srgbClr val="123A6B"/>
                </a:solidFill>
                <a:latin typeface="Arial"/>
              </a:rPr>
              <a:t>Configure</a:t>
            </a:r>
          </a:p>
        </p:txBody>
      </p:sp>
      <p:sp>
        <p:nvSpPr>
          <p:cNvPr id="17" name="TextBox 16"/>
          <p:cNvSpPr/>
          <p:nvPr>
            <p:ph type="body" idx="15"/>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Pick your metrics</a:t>
            </a:r>
          </a:p>
        </p:txBody>
      </p:sp>
      <p:sp>
        <p:nvSpPr>
          <p:cNvPr id="18" name="TextBox 17"/>
          <p:cNvSpPr/>
          <p:nvPr>
            <p:ph type="body" idx="16"/>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9" name="Rectangle 18"/>
          <p:cNvSpPr/>
          <p:nvPr>
            <p:ph type="body" idx="17"/>
          </p:nvPr>
        </p:nvSpPr>
        <p:spPr>
          <a:xfrm>
            <a:off x="9121140" y="2194560"/>
            <a:ext cx="784098" cy="54864"/>
          </a:xfrm>
          <a:prstGeom prst="rect">
            <a:avLst/>
          </a:prstGeom>
          <a:solidFill>
            <a:srgbClr val="123A6B"/>
          </a:solidFill>
          <a:ln>
            <a:noFill/>
          </a:ln>
          <a:effectLst/>
        </p:spPr>
        <p:txBody>
          <a:bodyPr rtlCol="0" anchor="ctr"/>
          <a:lstStyle/>
          <a:p>
            <a:pPr algn="ctr"/>
          </a:p>
        </p:txBody>
      </p:sp>
      <p:sp>
        <p:nvSpPr>
          <p:cNvPr id="20" name="TextBox 19"/>
          <p:cNvSpPr/>
          <p:nvPr>
            <p:ph type="body" idx="18"/>
          </p:nvPr>
        </p:nvSpPr>
        <p:spPr>
          <a:xfrm>
            <a:off x="9121140" y="2414016"/>
            <a:ext cx="2639417" cy="518159"/>
          </a:xfrm>
          <a:prstGeom prst="rect">
            <a:avLst/>
          </a:prstGeom>
          <a:noFill/>
        </p:spPr>
        <p:txBody>
          <a:bodyPr wrap="none" lIns="0" rIns="0">
            <a:noAutofit/>
          </a:bodyPr>
          <a:lstStyle/>
          <a:p>
            <a:pPr algn="l"/>
            <a:r>
              <a:rPr sz="3400" b="1" i="0">
                <a:solidFill>
                  <a:srgbClr val="123A6B"/>
                </a:solidFill>
                <a:latin typeface="Arial"/>
              </a:rPr>
              <a:t>Launch</a:t>
            </a:r>
          </a:p>
        </p:txBody>
      </p:sp>
      <p:sp>
        <p:nvSpPr>
          <p:cNvPr id="21" name="TextBox 20"/>
          <p:cNvSpPr/>
          <p:nvPr>
            <p:ph type="body" idx="19"/>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Go live in minutes</a:t>
            </a:r>
          </a:p>
        </p:txBody>
      </p:sp>
    </p:spTree>
    <p:extLst>
      <p:ext uri="{BB962C8B-B14F-4D97-AF65-F5344CB8AC3E}">
        <p14:creationId xmlns:p14="http://schemas.microsoft.com/office/powerpoint/2010/main" val="121299981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blank" preserve="1">
  <p:cSld name="slidekit · Roadmap">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2026 Plan</a:t>
            </a:r>
          </a:p>
        </p:txBody>
      </p:sp>
      <p:sp>
        <p:nvSpPr>
          <p:cNvPr id="6" name="Rectangle 5"/>
          <p:cNvSpPr/>
          <p:nvPr>
            <p:ph type="body" idx="1"/>
          </p:nvPr>
        </p:nvSpPr>
        <p:spPr>
          <a:xfrm>
            <a:off x="457200" y="1499616"/>
            <a:ext cx="3576320" cy="621791"/>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3576320" cy="621791"/>
          </a:xfrm>
          <a:prstGeom prst="rect">
            <a:avLst/>
          </a:prstGeom>
          <a:noFill/>
        </p:spPr>
        <p:txBody>
          <a:bodyPr wrap="none" lIns="0" rIns="0">
            <a:noAutofit/>
          </a:bodyPr>
          <a:lstStyle/>
          <a:p>
            <a:pPr algn="l"/>
            <a:r>
              <a:rPr sz="3400" b="1" i="0">
                <a:solidFill>
                  <a:srgbClr val="FFFFFF"/>
                </a:solidFill>
                <a:latin typeface="Arial"/>
              </a:rPr>
              <a:t>Q1</a:t>
            </a:r>
          </a:p>
        </p:txBody>
      </p:sp>
      <p:sp>
        <p:nvSpPr>
          <p:cNvPr id="8" name="TextBox 7"/>
          <p:cNvSpPr/>
          <p:nvPr>
            <p:ph type="body" idx="3"/>
          </p:nvPr>
        </p:nvSpPr>
        <p:spPr>
          <a:xfrm>
            <a:off x="457200" y="2395727"/>
            <a:ext cx="3576320" cy="609600"/>
          </a:xfrm>
          <a:prstGeom prst="rect">
            <a:avLst/>
          </a:prstGeom>
          <a:noFill/>
        </p:spPr>
        <p:txBody>
          <a:bodyPr wrap="none" lIns="0" rIns="0">
            <a:noAutofit/>
          </a:bodyPr>
          <a:lstStyle/>
          <a:p>
            <a:pPr algn="l"/>
            <a:r>
              <a:rPr sz="3400" b="0" i="0">
                <a:solidFill>
                  <a:srgbClr val="0A2240"/>
                </a:solidFill>
                <a:latin typeface="Arial"/>
              </a:rPr>
              <a:t>Ship API</a:t>
            </a:r>
          </a:p>
        </p:txBody>
      </p:sp>
      <p:sp>
        <p:nvSpPr>
          <p:cNvPr id="9" name="TextBox 8"/>
          <p:cNvSpPr/>
          <p:nvPr>
            <p:ph type="body" idx="4"/>
          </p:nvPr>
        </p:nvSpPr>
        <p:spPr>
          <a:xfrm>
            <a:off x="457200" y="3279647"/>
            <a:ext cx="3831928" cy="609600"/>
          </a:xfrm>
          <a:prstGeom prst="rect">
            <a:avLst/>
          </a:prstGeom>
          <a:noFill/>
        </p:spPr>
        <p:txBody>
          <a:bodyPr wrap="none" lIns="0" rIns="0">
            <a:noAutofit/>
          </a:bodyPr>
          <a:lstStyle/>
          <a:p>
            <a:pPr algn="l"/>
            <a:r>
              <a:rPr sz="3400" b="0" i="0">
                <a:solidFill>
                  <a:srgbClr val="0A2240"/>
                </a:solidFill>
                <a:latin typeface="Arial"/>
              </a:rPr>
              <a:t>Beta launch</a:t>
            </a:r>
          </a:p>
        </p:txBody>
      </p:sp>
      <p:sp>
        <p:nvSpPr>
          <p:cNvPr id="10" name="Rectangle 9"/>
          <p:cNvSpPr/>
          <p:nvPr>
            <p:ph type="body" idx="5"/>
          </p:nvPr>
        </p:nvSpPr>
        <p:spPr>
          <a:xfrm>
            <a:off x="4307840" y="1499616"/>
            <a:ext cx="3576320" cy="621791"/>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4307840" y="1499616"/>
            <a:ext cx="3576320" cy="621791"/>
          </a:xfrm>
          <a:prstGeom prst="rect">
            <a:avLst/>
          </a:prstGeom>
          <a:noFill/>
        </p:spPr>
        <p:txBody>
          <a:bodyPr wrap="none" lIns="0" rIns="0">
            <a:noAutofit/>
          </a:bodyPr>
          <a:lstStyle/>
          <a:p>
            <a:pPr algn="l"/>
            <a:r>
              <a:rPr sz="3400" b="1" i="0">
                <a:solidFill>
                  <a:srgbClr val="FFFFFF"/>
                </a:solidFill>
                <a:latin typeface="Arial"/>
              </a:rPr>
              <a:t>Q2</a:t>
            </a:r>
          </a:p>
        </p:txBody>
      </p:sp>
      <p:sp>
        <p:nvSpPr>
          <p:cNvPr id="12" name="TextBox 11"/>
          <p:cNvSpPr/>
          <p:nvPr>
            <p:ph type="body" idx="7"/>
          </p:nvPr>
        </p:nvSpPr>
        <p:spPr>
          <a:xfrm>
            <a:off x="4307840" y="2395727"/>
            <a:ext cx="3576320" cy="609600"/>
          </a:xfrm>
          <a:prstGeom prst="rect">
            <a:avLst/>
          </a:prstGeom>
          <a:noFill/>
        </p:spPr>
        <p:txBody>
          <a:bodyPr wrap="none" lIns="0" rIns="0">
            <a:noAutofit/>
          </a:bodyPr>
          <a:lstStyle/>
          <a:p>
            <a:pPr algn="l"/>
            <a:r>
              <a:rPr sz="3400" b="0" i="0">
                <a:solidFill>
                  <a:srgbClr val="0A2240"/>
                </a:solidFill>
                <a:latin typeface="Arial"/>
              </a:rPr>
              <a:t>Mobile app</a:t>
            </a:r>
          </a:p>
        </p:txBody>
      </p:sp>
      <p:sp>
        <p:nvSpPr>
          <p:cNvPr id="13" name="TextBox 12"/>
          <p:cNvSpPr/>
          <p:nvPr>
            <p:ph type="body" idx="8"/>
          </p:nvPr>
        </p:nvSpPr>
        <p:spPr>
          <a:xfrm>
            <a:off x="4307840" y="3279647"/>
            <a:ext cx="3793132" cy="609600"/>
          </a:xfrm>
          <a:prstGeom prst="rect">
            <a:avLst/>
          </a:prstGeom>
          <a:noFill/>
        </p:spPr>
        <p:txBody>
          <a:bodyPr wrap="none" lIns="0" rIns="0">
            <a:noAutofit/>
          </a:bodyPr>
          <a:lstStyle/>
          <a:p>
            <a:pPr algn="l"/>
            <a:r>
              <a:rPr sz="3400" b="0" i="0">
                <a:solidFill>
                  <a:srgbClr val="0A2240"/>
                </a:solidFill>
                <a:latin typeface="Arial"/>
              </a:rPr>
              <a:t>Integrations</a:t>
            </a:r>
          </a:p>
        </p:txBody>
      </p:sp>
      <p:sp>
        <p:nvSpPr>
          <p:cNvPr id="14" name="Rectangle 13"/>
          <p:cNvSpPr/>
          <p:nvPr>
            <p:ph type="body" idx="9"/>
          </p:nvPr>
        </p:nvSpPr>
        <p:spPr>
          <a:xfrm>
            <a:off x="8158480" y="1499616"/>
            <a:ext cx="3576320" cy="621791"/>
          </a:xfrm>
          <a:prstGeom prst="rect">
            <a:avLst/>
          </a:prstGeom>
          <a:solidFill>
            <a:srgbClr val="0072CE"/>
          </a:solidFill>
          <a:ln>
            <a:noFill/>
          </a:ln>
          <a:effectLst/>
        </p:spPr>
        <p:txBody>
          <a:bodyPr rtlCol="0" anchor="ctr"/>
          <a:lstStyle/>
          <a:p>
            <a:pPr algn="ctr"/>
          </a:p>
        </p:txBody>
      </p:sp>
      <p:sp>
        <p:nvSpPr>
          <p:cNvPr id="15" name="TextBox 14"/>
          <p:cNvSpPr/>
          <p:nvPr>
            <p:ph type="body" idx="13"/>
          </p:nvPr>
        </p:nvSpPr>
        <p:spPr>
          <a:xfrm>
            <a:off x="8158480" y="1499616"/>
            <a:ext cx="3576320" cy="621791"/>
          </a:xfrm>
          <a:prstGeom prst="rect">
            <a:avLst/>
          </a:prstGeom>
          <a:noFill/>
        </p:spPr>
        <p:txBody>
          <a:bodyPr wrap="none" lIns="0" rIns="0">
            <a:noAutofit/>
          </a:bodyPr>
          <a:lstStyle/>
          <a:p>
            <a:pPr algn="l"/>
            <a:r>
              <a:rPr sz="3400" b="1" i="0">
                <a:solidFill>
                  <a:srgbClr val="FFFFFF"/>
                </a:solidFill>
                <a:latin typeface="Arial"/>
              </a:rPr>
              <a:t>Q3</a:t>
            </a:r>
          </a:p>
        </p:txBody>
      </p:sp>
      <p:sp>
        <p:nvSpPr>
          <p:cNvPr id="16" name="TextBox 15"/>
          <p:cNvSpPr/>
          <p:nvPr>
            <p:ph type="body" idx="14"/>
          </p:nvPr>
        </p:nvSpPr>
        <p:spPr>
          <a:xfrm>
            <a:off x="8158480" y="2395727"/>
            <a:ext cx="4033520" cy="609600"/>
          </a:xfrm>
          <a:prstGeom prst="rect">
            <a:avLst/>
          </a:prstGeom>
          <a:noFill/>
        </p:spPr>
        <p:txBody>
          <a:bodyPr wrap="none" lIns="0" rIns="0">
            <a:noAutofit/>
          </a:bodyPr>
          <a:lstStyle/>
          <a:p>
            <a:pPr algn="l"/>
            <a:r>
              <a:rPr sz="3400" b="0" i="0">
                <a:solidFill>
                  <a:srgbClr val="0A2240"/>
                </a:solidFill>
                <a:latin typeface="Arial"/>
              </a:rPr>
              <a:t>Enterprise tier</a:t>
            </a:r>
          </a:p>
        </p:txBody>
      </p:sp>
      <p:sp>
        <p:nvSpPr>
          <p:cNvPr id="17" name="TextBox 16"/>
          <p:cNvSpPr/>
          <p:nvPr>
            <p:ph type="body" idx="15"/>
          </p:nvPr>
        </p:nvSpPr>
        <p:spPr>
          <a:xfrm>
            <a:off x="8158480" y="3279647"/>
            <a:ext cx="3576320" cy="609600"/>
          </a:xfrm>
          <a:prstGeom prst="rect">
            <a:avLst/>
          </a:prstGeom>
          <a:noFill/>
        </p:spPr>
        <p:txBody>
          <a:bodyPr wrap="none" lIns="0" rIns="0">
            <a:noAutofit/>
          </a:bodyPr>
          <a:lstStyle/>
          <a:p>
            <a:pPr algn="l"/>
            <a:r>
              <a:rPr sz="3400" b="0" i="0">
                <a:solidFill>
                  <a:srgbClr val="0A2240"/>
                </a:solidFill>
                <a:latin typeface="Arial"/>
              </a:rPr>
              <a:t>SSO</a:t>
            </a:r>
          </a:p>
        </p:txBody>
      </p:sp>
    </p:spTree>
    <p:extLst>
      <p:ext uri="{BB962C8B-B14F-4D97-AF65-F5344CB8AC3E}">
        <p14:creationId xmlns:p14="http://schemas.microsoft.com/office/powerpoint/2010/main" val="12129998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reserve="1">
  <p:cSld name="slidekit · Funnel">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Sales Pipeline</a:t>
            </a:r>
          </a:p>
        </p:txBody>
      </p:sp>
      <p:sp>
        <p:nvSpPr>
          <p:cNvPr id="6" name="Rectangle 5"/>
          <p:cNvSpPr/>
          <p:nvPr>
            <p:ph type="body" idx="1"/>
          </p:nvPr>
        </p:nvSpPr>
        <p:spPr>
          <a:xfrm>
            <a:off x="457200" y="1499616"/>
            <a:ext cx="11277600" cy="859536"/>
          </a:xfrm>
          <a:prstGeom prst="rect">
            <a:avLst/>
          </a:prstGeom>
          <a:solidFill>
            <a:srgbClr val="0072CE"/>
          </a:solidFill>
          <a:ln>
            <a:noFill/>
          </a:ln>
          <a:effectLst/>
        </p:spPr>
        <p:txBody>
          <a:bodyPr rtlCol="0" anchor="ctr"/>
          <a:lstStyle/>
          <a:p>
            <a:pPr algn="ctr"/>
          </a:p>
        </p:txBody>
      </p:sp>
      <p:sp>
        <p:nvSpPr>
          <p:cNvPr id="7" name="TextBox 6"/>
          <p:cNvSpPr/>
          <p:nvPr>
            <p:ph type="body" idx="2"/>
          </p:nvPr>
        </p:nvSpPr>
        <p:spPr>
          <a:xfrm>
            <a:off x="457200" y="1499616"/>
            <a:ext cx="11277600" cy="859536"/>
          </a:xfrm>
          <a:prstGeom prst="rect">
            <a:avLst/>
          </a:prstGeom>
          <a:noFill/>
        </p:spPr>
        <p:txBody>
          <a:bodyPr wrap="none" lIns="0" rIns="0">
            <a:noAutofit/>
          </a:bodyPr>
          <a:lstStyle/>
          <a:p>
            <a:pPr algn="l"/>
            <a:r>
              <a:rPr sz="3400" b="1" i="0">
                <a:solidFill>
                  <a:srgbClr val="FFFFFF"/>
                </a:solidFill>
                <a:latin typeface="Arial"/>
              </a:rPr>
              <a:t>Visitors · 50,000</a:t>
            </a:r>
          </a:p>
        </p:txBody>
      </p:sp>
      <p:sp>
        <p:nvSpPr>
          <p:cNvPr id="8" name="Rectangle 7"/>
          <p:cNvSpPr/>
          <p:nvPr>
            <p:ph type="body" idx="3"/>
          </p:nvPr>
        </p:nvSpPr>
        <p:spPr>
          <a:xfrm>
            <a:off x="1490980" y="2633472"/>
            <a:ext cx="921004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1490980" y="2633472"/>
            <a:ext cx="9210040" cy="859536"/>
          </a:xfrm>
          <a:prstGeom prst="rect">
            <a:avLst/>
          </a:prstGeom>
          <a:noFill/>
        </p:spPr>
        <p:txBody>
          <a:bodyPr wrap="none" lIns="0" rIns="0">
            <a:noAutofit/>
          </a:bodyPr>
          <a:lstStyle/>
          <a:p>
            <a:pPr algn="l"/>
            <a:r>
              <a:rPr sz="3400" b="1" i="0">
                <a:solidFill>
                  <a:srgbClr val="FFFFFF"/>
                </a:solidFill>
                <a:latin typeface="Arial"/>
              </a:rPr>
              <a:t>Signups · 8,000</a:t>
            </a:r>
          </a:p>
        </p:txBody>
      </p:sp>
      <p:sp>
        <p:nvSpPr>
          <p:cNvPr id="10" name="Rectangle 9"/>
          <p:cNvSpPr/>
          <p:nvPr>
            <p:ph type="body" idx="5"/>
          </p:nvPr>
        </p:nvSpPr>
        <p:spPr>
          <a:xfrm>
            <a:off x="2524760" y="3767328"/>
            <a:ext cx="7142480" cy="859536"/>
          </a:xfrm>
          <a:prstGeom prst="rect">
            <a:avLst/>
          </a:prstGeom>
          <a:solidFill>
            <a:srgbClr val="0072CE"/>
          </a:solidFill>
          <a:ln>
            <a:noFill/>
          </a:ln>
          <a:effectLst/>
        </p:spPr>
        <p:txBody>
          <a:bodyPr rtlCol="0" anchor="ctr"/>
          <a:lstStyle/>
          <a:p>
            <a:pPr algn="ctr"/>
          </a:p>
        </p:txBody>
      </p:sp>
      <p:sp>
        <p:nvSpPr>
          <p:cNvPr id="11" name="TextBox 10"/>
          <p:cNvSpPr/>
          <p:nvPr>
            <p:ph type="body" idx="6"/>
          </p:nvPr>
        </p:nvSpPr>
        <p:spPr>
          <a:xfrm>
            <a:off x="2524760" y="3767328"/>
            <a:ext cx="7142480" cy="859536"/>
          </a:xfrm>
          <a:prstGeom prst="rect">
            <a:avLst/>
          </a:prstGeom>
          <a:noFill/>
        </p:spPr>
        <p:txBody>
          <a:bodyPr wrap="none" lIns="0" rIns="0">
            <a:noAutofit/>
          </a:bodyPr>
          <a:lstStyle/>
          <a:p>
            <a:pPr algn="l"/>
            <a:r>
              <a:rPr sz="3400" b="1" i="0">
                <a:solidFill>
                  <a:srgbClr val="FFFFFF"/>
                </a:solidFill>
                <a:latin typeface="Arial"/>
              </a:rPr>
              <a:t>Trials · 2,400</a:t>
            </a:r>
          </a:p>
        </p:txBody>
      </p:sp>
      <p:sp>
        <p:nvSpPr>
          <p:cNvPr id="12" name="Rectangle 11"/>
          <p:cNvSpPr/>
          <p:nvPr>
            <p:ph type="body" idx="7"/>
          </p:nvPr>
        </p:nvSpPr>
        <p:spPr>
          <a:xfrm>
            <a:off x="3558540" y="4901184"/>
            <a:ext cx="5074919"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3558540" y="4901184"/>
            <a:ext cx="5558452" cy="859536"/>
          </a:xfrm>
          <a:prstGeom prst="rect">
            <a:avLst/>
          </a:prstGeom>
          <a:noFill/>
        </p:spPr>
        <p:txBody>
          <a:bodyPr wrap="none" lIns="0" rIns="0">
            <a:noAutofit/>
          </a:bodyPr>
          <a:lstStyle/>
          <a:p>
            <a:pPr algn="l"/>
            <a:r>
              <a:rPr sz="3400" b="1" i="0">
                <a:solidFill>
                  <a:srgbClr val="FFFFFF"/>
                </a:solidFill>
                <a:latin typeface="Arial"/>
              </a:rPr>
              <a:t>Customers · 600</a:t>
            </a:r>
          </a:p>
        </p:txBody>
      </p:sp>
    </p:spTree>
    <p:extLst>
      <p:ext uri="{BB962C8B-B14F-4D97-AF65-F5344CB8AC3E}">
        <p14:creationId xmlns:p14="http://schemas.microsoft.com/office/powerpoint/2010/main" val="121299981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blank" preserve="1">
  <p:cSld name="slidekit · Nested Circles">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Job Search Funnel (2021)</a:t>
            </a:r>
          </a:p>
        </p:txBody>
      </p:sp>
      <p:sp>
        <p:nvSpPr>
          <p:cNvPr id="6" name="Oval 5"/>
          <p:cNvSpPr/>
          <p:nvPr>
            <p:ph type="body" idx="1"/>
          </p:nvPr>
        </p:nvSpPr>
        <p:spPr>
          <a:xfrm>
            <a:off x="3645408" y="1499616"/>
            <a:ext cx="4901184" cy="4901184"/>
          </a:xfrm>
          <a:prstGeom prst="ellipse">
            <a:avLst/>
          </a:prstGeom>
          <a:solidFill>
            <a:srgbClr val="5B6B82"/>
          </a:solidFill>
          <a:ln>
            <a:noFill/>
          </a:ln>
          <a:effectLst/>
        </p:spPr>
        <p:txBody>
          <a:bodyPr rtlCol="0" anchor="ctr"/>
          <a:lstStyle/>
          <a:p>
            <a:pPr algn="ctr"/>
          </a:p>
        </p:txBody>
      </p:sp>
      <p:sp>
        <p:nvSpPr>
          <p:cNvPr id="7" name="Oval 6"/>
          <p:cNvSpPr/>
          <p:nvPr>
            <p:ph type="body" idx="2"/>
          </p:nvPr>
        </p:nvSpPr>
        <p:spPr>
          <a:xfrm>
            <a:off x="4462272" y="3133344"/>
            <a:ext cx="3267456" cy="3267456"/>
          </a:xfrm>
          <a:prstGeom prst="ellipse">
            <a:avLst/>
          </a:prstGeom>
          <a:solidFill>
            <a:srgbClr val="0072CE"/>
          </a:solidFill>
          <a:ln>
            <a:noFill/>
          </a:ln>
          <a:effectLst/>
        </p:spPr>
        <p:txBody>
          <a:bodyPr rtlCol="0" anchor="ctr"/>
          <a:lstStyle/>
          <a:p>
            <a:pPr algn="ctr"/>
          </a:p>
        </p:txBody>
      </p:sp>
      <p:sp>
        <p:nvSpPr>
          <p:cNvPr id="8" name="Oval 7"/>
          <p:cNvSpPr/>
          <p:nvPr>
            <p:ph type="body" idx="3"/>
          </p:nvPr>
        </p:nvSpPr>
        <p:spPr>
          <a:xfrm>
            <a:off x="5279136" y="4767072"/>
            <a:ext cx="1633728" cy="1633728"/>
          </a:xfrm>
          <a:prstGeom prst="ellipse">
            <a:avLst/>
          </a:prstGeom>
          <a:solidFill>
            <a:srgbClr val="123A6B"/>
          </a:solidFill>
          <a:ln>
            <a:noFill/>
          </a:ln>
          <a:effectLst/>
        </p:spPr>
        <p:txBody>
          <a:bodyPr rtlCol="0" anchor="ctr"/>
          <a:lstStyle/>
          <a:p>
            <a:pPr algn="ctr"/>
          </a:p>
        </p:txBody>
      </p:sp>
      <p:sp>
        <p:nvSpPr>
          <p:cNvPr id="9" name="TextBox 8"/>
          <p:cNvSpPr/>
          <p:nvPr>
            <p:ph type="body" idx="4"/>
          </p:nvPr>
        </p:nvSpPr>
        <p:spPr>
          <a:xfrm>
            <a:off x="4577329" y="1645920"/>
            <a:ext cx="3037342" cy="762000"/>
          </a:xfrm>
          <a:prstGeom prst="rect">
            <a:avLst/>
          </a:prstGeom>
          <a:noFill/>
        </p:spPr>
        <p:txBody>
          <a:bodyPr wrap="none" lIns="0" rIns="0">
            <a:noAutofit/>
          </a:bodyPr>
          <a:lstStyle/>
          <a:p>
            <a:pPr algn="ctr"/>
            <a:r>
              <a:rPr sz="5000" b="1" i="0">
                <a:solidFill>
                  <a:srgbClr val="FFFFFF"/>
                </a:solidFill>
                <a:latin typeface="Arial"/>
              </a:rPr>
              <a:t>&gt;700</a:t>
            </a:r>
          </a:p>
        </p:txBody>
      </p:sp>
      <p:sp>
        <p:nvSpPr>
          <p:cNvPr id="10" name="TextBox 9"/>
          <p:cNvSpPr/>
          <p:nvPr>
            <p:ph type="body" idx="5"/>
          </p:nvPr>
        </p:nvSpPr>
        <p:spPr>
          <a:xfrm>
            <a:off x="3594080" y="2316480"/>
            <a:ext cx="5003840" cy="670560"/>
          </a:xfrm>
          <a:prstGeom prst="rect">
            <a:avLst/>
          </a:prstGeom>
          <a:noFill/>
        </p:spPr>
        <p:txBody>
          <a:bodyPr wrap="none" lIns="0" rIns="0">
            <a:noAutofit/>
          </a:bodyPr>
          <a:lstStyle/>
          <a:p>
            <a:pPr algn="ctr"/>
            <a:r>
              <a:rPr sz="4400" b="0" i="0">
                <a:solidFill>
                  <a:srgbClr val="FFFFFF"/>
                </a:solidFill>
                <a:latin typeface="Arial"/>
              </a:rPr>
              <a:t>Applications</a:t>
            </a:r>
          </a:p>
        </p:txBody>
      </p:sp>
      <p:sp>
        <p:nvSpPr>
          <p:cNvPr id="11" name="TextBox 10"/>
          <p:cNvSpPr/>
          <p:nvPr>
            <p:ph type="body" idx="6"/>
          </p:nvPr>
        </p:nvSpPr>
        <p:spPr>
          <a:xfrm>
            <a:off x="4840583" y="3401568"/>
            <a:ext cx="2510834" cy="640080"/>
          </a:xfrm>
          <a:prstGeom prst="rect">
            <a:avLst/>
          </a:prstGeom>
          <a:noFill/>
        </p:spPr>
        <p:txBody>
          <a:bodyPr wrap="none" lIns="0" rIns="0">
            <a:noAutofit/>
          </a:bodyPr>
          <a:lstStyle/>
          <a:p>
            <a:pPr algn="ctr"/>
            <a:r>
              <a:rPr sz="4200" b="1" i="0">
                <a:solidFill>
                  <a:srgbClr val="FFFFFF"/>
                </a:solidFill>
                <a:latin typeface="Arial"/>
              </a:rPr>
              <a:t>6</a:t>
            </a:r>
          </a:p>
        </p:txBody>
      </p:sp>
      <p:sp>
        <p:nvSpPr>
          <p:cNvPr id="12" name="TextBox 11"/>
          <p:cNvSpPr/>
          <p:nvPr>
            <p:ph type="body" idx="7"/>
          </p:nvPr>
        </p:nvSpPr>
        <p:spPr>
          <a:xfrm>
            <a:off x="4358104" y="3950208"/>
            <a:ext cx="3475792" cy="548640"/>
          </a:xfrm>
          <a:prstGeom prst="rect">
            <a:avLst/>
          </a:prstGeom>
          <a:noFill/>
        </p:spPr>
        <p:txBody>
          <a:bodyPr wrap="none" lIns="0" rIns="0">
            <a:noAutofit/>
          </a:bodyPr>
          <a:lstStyle/>
          <a:p>
            <a:pPr algn="ctr"/>
            <a:r>
              <a:rPr sz="3600" b="0" i="0">
                <a:solidFill>
                  <a:srgbClr val="FFFFFF"/>
                </a:solidFill>
                <a:latin typeface="Arial"/>
              </a:rPr>
              <a:t>Interviews</a:t>
            </a:r>
          </a:p>
        </p:txBody>
      </p:sp>
      <p:sp>
        <p:nvSpPr>
          <p:cNvPr id="13" name="TextBox 12"/>
          <p:cNvSpPr/>
          <p:nvPr>
            <p:ph type="body" idx="8"/>
          </p:nvPr>
        </p:nvSpPr>
        <p:spPr>
          <a:xfrm>
            <a:off x="5296524" y="5157216"/>
            <a:ext cx="1598952" cy="518159"/>
          </a:xfrm>
          <a:prstGeom prst="rect">
            <a:avLst/>
          </a:prstGeom>
          <a:noFill/>
        </p:spPr>
        <p:txBody>
          <a:bodyPr wrap="none" lIns="0" rIns="0">
            <a:noAutofit/>
          </a:bodyPr>
          <a:lstStyle/>
          <a:p>
            <a:pPr algn="ctr"/>
            <a:r>
              <a:rPr sz="3400" b="1" i="0">
                <a:solidFill>
                  <a:srgbClr val="FFFFFF"/>
                </a:solidFill>
                <a:latin typeface="Arial"/>
              </a:rPr>
              <a:t>1.5</a:t>
            </a:r>
          </a:p>
        </p:txBody>
      </p:sp>
      <p:sp>
        <p:nvSpPr>
          <p:cNvPr id="14" name="TextBox 13"/>
          <p:cNvSpPr/>
          <p:nvPr>
            <p:ph type="body" idx="9"/>
          </p:nvPr>
        </p:nvSpPr>
        <p:spPr>
          <a:xfrm>
            <a:off x="5235159" y="5583935"/>
            <a:ext cx="1721682" cy="426720"/>
          </a:xfrm>
          <a:prstGeom prst="rect">
            <a:avLst/>
          </a:prstGeom>
          <a:noFill/>
        </p:spPr>
        <p:txBody>
          <a:bodyPr wrap="none" lIns="0" rIns="0">
            <a:noAutofit/>
          </a:bodyPr>
          <a:lstStyle/>
          <a:p>
            <a:pPr algn="ctr"/>
            <a:r>
              <a:rPr sz="2800" b="0" i="0">
                <a:solidFill>
                  <a:srgbClr val="FFFFFF"/>
                </a:solidFill>
                <a:latin typeface="Arial"/>
              </a:rPr>
              <a:t>Offers</a:t>
            </a:r>
          </a:p>
        </p:txBody>
      </p:sp>
    </p:spTree>
    <p:extLst>
      <p:ext uri="{BB962C8B-B14F-4D97-AF65-F5344CB8AC3E}">
        <p14:creationId xmlns:p14="http://schemas.microsoft.com/office/powerpoint/2010/main" val="121299981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slidekit · Pyramid">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Hierarchy of Needs</a:t>
            </a:r>
          </a:p>
        </p:txBody>
      </p:sp>
      <p:sp>
        <p:nvSpPr>
          <p:cNvPr id="6" name="Rectangle 5"/>
          <p:cNvSpPr/>
          <p:nvPr>
            <p:ph type="body" idx="1"/>
          </p:nvPr>
        </p:nvSpPr>
        <p:spPr>
          <a:xfrm>
            <a:off x="3840480" y="1499616"/>
            <a:ext cx="4511040" cy="859536"/>
          </a:xfrm>
          <a:prstGeom prst="rect">
            <a:avLst/>
          </a:prstGeom>
          <a:solidFill>
            <a:srgbClr val="123A6B"/>
          </a:solidFill>
          <a:ln>
            <a:noFill/>
          </a:ln>
          <a:effectLst/>
        </p:spPr>
        <p:txBody>
          <a:bodyPr rtlCol="0" anchor="ctr"/>
          <a:lstStyle/>
          <a:p>
            <a:pPr algn="ctr"/>
          </a:p>
        </p:txBody>
      </p:sp>
      <p:sp>
        <p:nvSpPr>
          <p:cNvPr id="7" name="TextBox 6"/>
          <p:cNvSpPr/>
          <p:nvPr>
            <p:ph type="body" idx="2"/>
          </p:nvPr>
        </p:nvSpPr>
        <p:spPr>
          <a:xfrm>
            <a:off x="3840480" y="1499616"/>
            <a:ext cx="4511040" cy="859536"/>
          </a:xfrm>
          <a:prstGeom prst="rect">
            <a:avLst/>
          </a:prstGeom>
          <a:noFill/>
        </p:spPr>
        <p:txBody>
          <a:bodyPr wrap="none" lIns="0" rIns="0">
            <a:noAutofit/>
          </a:bodyPr>
          <a:lstStyle/>
          <a:p>
            <a:pPr algn="l"/>
            <a:r>
              <a:rPr sz="3400" b="1" i="0">
                <a:solidFill>
                  <a:srgbClr val="FFFFFF"/>
                </a:solidFill>
                <a:latin typeface="Arial"/>
              </a:rPr>
              <a:t>Vision</a:t>
            </a:r>
          </a:p>
        </p:txBody>
      </p:sp>
      <p:sp>
        <p:nvSpPr>
          <p:cNvPr id="8" name="Rectangle 7"/>
          <p:cNvSpPr/>
          <p:nvPr>
            <p:ph type="body" idx="3"/>
          </p:nvPr>
        </p:nvSpPr>
        <p:spPr>
          <a:xfrm>
            <a:off x="2712720" y="2633472"/>
            <a:ext cx="6766560" cy="859536"/>
          </a:xfrm>
          <a:prstGeom prst="rect">
            <a:avLst/>
          </a:prstGeom>
          <a:solidFill>
            <a:srgbClr val="0072CE"/>
          </a:solidFill>
          <a:ln>
            <a:noFill/>
          </a:ln>
          <a:effectLst/>
        </p:spPr>
        <p:txBody>
          <a:bodyPr rtlCol="0" anchor="ctr"/>
          <a:lstStyle/>
          <a:p>
            <a:pPr algn="ctr"/>
          </a:p>
        </p:txBody>
      </p:sp>
      <p:sp>
        <p:nvSpPr>
          <p:cNvPr id="9" name="TextBox 8"/>
          <p:cNvSpPr/>
          <p:nvPr>
            <p:ph type="body" idx="4"/>
          </p:nvPr>
        </p:nvSpPr>
        <p:spPr>
          <a:xfrm>
            <a:off x="2712720" y="2633472"/>
            <a:ext cx="6766560" cy="859536"/>
          </a:xfrm>
          <a:prstGeom prst="rect">
            <a:avLst/>
          </a:prstGeom>
          <a:noFill/>
        </p:spPr>
        <p:txBody>
          <a:bodyPr wrap="none" lIns="0" rIns="0">
            <a:noAutofit/>
          </a:bodyPr>
          <a:lstStyle/>
          <a:p>
            <a:pPr algn="l"/>
            <a:r>
              <a:rPr sz="3400" b="1" i="0">
                <a:solidFill>
                  <a:srgbClr val="FFFFFF"/>
                </a:solidFill>
                <a:latin typeface="Arial"/>
              </a:rPr>
              <a:t>Strategy</a:t>
            </a:r>
          </a:p>
        </p:txBody>
      </p:sp>
      <p:sp>
        <p:nvSpPr>
          <p:cNvPr id="10" name="Rectangle 9"/>
          <p:cNvSpPr/>
          <p:nvPr>
            <p:ph type="body" idx="5"/>
          </p:nvPr>
        </p:nvSpPr>
        <p:spPr>
          <a:xfrm>
            <a:off x="1584960" y="3767328"/>
            <a:ext cx="9022080" cy="859536"/>
          </a:xfrm>
          <a:prstGeom prst="rect">
            <a:avLst/>
          </a:prstGeom>
          <a:solidFill>
            <a:srgbClr val="123A6B"/>
          </a:solidFill>
          <a:ln>
            <a:noFill/>
          </a:ln>
          <a:effectLst/>
        </p:spPr>
        <p:txBody>
          <a:bodyPr rtlCol="0" anchor="ctr"/>
          <a:lstStyle/>
          <a:p>
            <a:pPr algn="ctr"/>
          </a:p>
        </p:txBody>
      </p:sp>
      <p:sp>
        <p:nvSpPr>
          <p:cNvPr id="11" name="TextBox 10"/>
          <p:cNvSpPr/>
          <p:nvPr>
            <p:ph type="body" idx="6"/>
          </p:nvPr>
        </p:nvSpPr>
        <p:spPr>
          <a:xfrm>
            <a:off x="1584960" y="3767328"/>
            <a:ext cx="9022080" cy="859536"/>
          </a:xfrm>
          <a:prstGeom prst="rect">
            <a:avLst/>
          </a:prstGeom>
          <a:noFill/>
        </p:spPr>
        <p:txBody>
          <a:bodyPr wrap="none" lIns="0" rIns="0">
            <a:noAutofit/>
          </a:bodyPr>
          <a:lstStyle/>
          <a:p>
            <a:pPr algn="l"/>
            <a:r>
              <a:rPr sz="3400" b="1" i="0">
                <a:solidFill>
                  <a:srgbClr val="FFFFFF"/>
                </a:solidFill>
                <a:latin typeface="Arial"/>
              </a:rPr>
              <a:t>Goals</a:t>
            </a:r>
          </a:p>
        </p:txBody>
      </p:sp>
      <p:sp>
        <p:nvSpPr>
          <p:cNvPr id="12" name="Rectangle 11"/>
          <p:cNvSpPr/>
          <p:nvPr>
            <p:ph type="body" idx="7"/>
          </p:nvPr>
        </p:nvSpPr>
        <p:spPr>
          <a:xfrm>
            <a:off x="457200" y="4901184"/>
            <a:ext cx="11277600" cy="859536"/>
          </a:xfrm>
          <a:prstGeom prst="rect">
            <a:avLst/>
          </a:prstGeom>
          <a:solidFill>
            <a:srgbClr val="0072CE"/>
          </a:solidFill>
          <a:ln>
            <a:noFill/>
          </a:ln>
          <a:effectLst/>
        </p:spPr>
        <p:txBody>
          <a:bodyPr rtlCol="0" anchor="ctr"/>
          <a:lstStyle/>
          <a:p>
            <a:pPr algn="ctr"/>
          </a:p>
        </p:txBody>
      </p:sp>
      <p:sp>
        <p:nvSpPr>
          <p:cNvPr id="13" name="TextBox 12"/>
          <p:cNvSpPr/>
          <p:nvPr>
            <p:ph type="body" idx="8"/>
          </p:nvPr>
        </p:nvSpPr>
        <p:spPr>
          <a:xfrm>
            <a:off x="457200" y="4901184"/>
            <a:ext cx="11277600" cy="859536"/>
          </a:xfrm>
          <a:prstGeom prst="rect">
            <a:avLst/>
          </a:prstGeom>
          <a:noFill/>
        </p:spPr>
        <p:txBody>
          <a:bodyPr wrap="none" lIns="0" rIns="0">
            <a:noAutofit/>
          </a:bodyPr>
          <a:lstStyle/>
          <a:p>
            <a:pPr algn="l"/>
            <a:r>
              <a:rPr sz="3400" b="1" i="0">
                <a:solidFill>
                  <a:srgbClr val="FFFFFF"/>
                </a:solidFill>
                <a:latin typeface="Arial"/>
              </a:rPr>
              <a:t>Tactics</a:t>
            </a:r>
          </a:p>
        </p:txBody>
      </p:sp>
    </p:spTree>
    <p:extLst>
      <p:ext uri="{BB962C8B-B14F-4D97-AF65-F5344CB8AC3E}">
        <p14:creationId xmlns:p14="http://schemas.microsoft.com/office/powerpoint/2010/main" val="121299981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slidekit · SWOT">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SWOT Analysis</a:t>
            </a:r>
          </a:p>
        </p:txBody>
      </p:sp>
      <p:sp>
        <p:nvSpPr>
          <p:cNvPr id="6" name="TextBox 5"/>
          <p:cNvSpPr/>
          <p:nvPr>
            <p:ph type="body" idx="1"/>
          </p:nvPr>
        </p:nvSpPr>
        <p:spPr>
          <a:xfrm>
            <a:off x="457200" y="1499616"/>
            <a:ext cx="5501640" cy="621791"/>
          </a:xfrm>
          <a:prstGeom prst="rect">
            <a:avLst/>
          </a:prstGeom>
          <a:noFill/>
        </p:spPr>
        <p:txBody>
          <a:bodyPr wrap="none" lIns="0" rIns="0">
            <a:noAutofit/>
          </a:bodyPr>
          <a:lstStyle/>
          <a:p>
            <a:pPr algn="l"/>
            <a:r>
              <a:rPr sz="3400" b="1" i="0">
                <a:solidFill>
                  <a:srgbClr val="0072CE"/>
                </a:solidFill>
                <a:latin typeface="Arial"/>
              </a:rPr>
              <a:t>Strengths</a:t>
            </a:r>
          </a:p>
        </p:txBody>
      </p:sp>
      <p:sp>
        <p:nvSpPr>
          <p:cNvPr id="7" name="Rectangle 6"/>
          <p:cNvSpPr/>
          <p:nvPr>
            <p:ph type="body" idx="2"/>
          </p:nvPr>
        </p:nvSpPr>
        <p:spPr>
          <a:xfrm>
            <a:off x="457200" y="2176271"/>
            <a:ext cx="1650492" cy="54864"/>
          </a:xfrm>
          <a:prstGeom prst="rect">
            <a:avLst/>
          </a:prstGeom>
          <a:solidFill>
            <a:srgbClr val="0072CE"/>
          </a:solidFill>
          <a:ln>
            <a:noFill/>
          </a:ln>
          <a:effectLst/>
        </p:spPr>
        <p:txBody>
          <a:bodyPr rtlCol="0" anchor="ctr"/>
          <a:lstStyle/>
          <a:p>
            <a:pPr algn="ctr"/>
          </a:p>
        </p:txBody>
      </p:sp>
      <p:sp>
        <p:nvSpPr>
          <p:cNvPr id="8" name="TextBox 7"/>
          <p:cNvSpPr/>
          <p:nvPr>
            <p:ph type="body" idx="3"/>
          </p:nvPr>
        </p:nvSpPr>
        <p:spPr>
          <a:xfrm>
            <a:off x="457200" y="2395727"/>
            <a:ext cx="5501640" cy="1097281"/>
          </a:xfrm>
          <a:prstGeom prst="rect">
            <a:avLst/>
          </a:prstGeom>
          <a:noFill/>
        </p:spPr>
        <p:txBody>
          <a:bodyPr wrap="square" lIns="0" rIns="0">
            <a:noAutofit/>
          </a:bodyPr>
          <a:lstStyle/>
          <a:p>
            <a:pPr algn="l"/>
            <a:r>
              <a:rPr sz="3400" b="0" i="0">
                <a:solidFill>
                  <a:srgbClr val="0A2240"/>
                </a:solidFill>
                <a:latin typeface="Arial"/>
              </a:rPr>
              <a:t>A strong brand with loyal users</a:t>
            </a:r>
          </a:p>
        </p:txBody>
      </p:sp>
      <p:sp>
        <p:nvSpPr>
          <p:cNvPr id="9" name="TextBox 8"/>
          <p:cNvSpPr/>
          <p:nvPr>
            <p:ph type="body" idx="4"/>
          </p:nvPr>
        </p:nvSpPr>
        <p:spPr>
          <a:xfrm>
            <a:off x="6233160" y="1499616"/>
            <a:ext cx="5501640" cy="621791"/>
          </a:xfrm>
          <a:prstGeom prst="rect">
            <a:avLst/>
          </a:prstGeom>
          <a:noFill/>
        </p:spPr>
        <p:txBody>
          <a:bodyPr wrap="none" lIns="0" rIns="0">
            <a:noAutofit/>
          </a:bodyPr>
          <a:lstStyle/>
          <a:p>
            <a:pPr algn="l"/>
            <a:r>
              <a:rPr sz="3400" b="1" i="0">
                <a:solidFill>
                  <a:srgbClr val="5B6B82"/>
                </a:solidFill>
                <a:latin typeface="Arial"/>
              </a:rPr>
              <a:t>Weaknesses</a:t>
            </a:r>
          </a:p>
        </p:txBody>
      </p:sp>
      <p:sp>
        <p:nvSpPr>
          <p:cNvPr id="10" name="Rectangle 9"/>
          <p:cNvSpPr/>
          <p:nvPr>
            <p:ph type="body" idx="5"/>
          </p:nvPr>
        </p:nvSpPr>
        <p:spPr>
          <a:xfrm>
            <a:off x="6233160" y="2176271"/>
            <a:ext cx="1650492" cy="54864"/>
          </a:xfrm>
          <a:prstGeom prst="rect">
            <a:avLst/>
          </a:prstGeom>
          <a:solidFill>
            <a:srgbClr val="5B6B82"/>
          </a:solidFill>
          <a:ln>
            <a:noFill/>
          </a:ln>
          <a:effectLst/>
        </p:spPr>
        <p:txBody>
          <a:bodyPr rtlCol="0" anchor="ctr"/>
          <a:lstStyle/>
          <a:p>
            <a:pPr algn="ctr"/>
          </a:p>
        </p:txBody>
      </p:sp>
      <p:sp>
        <p:nvSpPr>
          <p:cNvPr id="11" name="TextBox 10"/>
          <p:cNvSpPr/>
          <p:nvPr>
            <p:ph type="body" idx="6"/>
          </p:nvPr>
        </p:nvSpPr>
        <p:spPr>
          <a:xfrm>
            <a:off x="6233160" y="2395727"/>
            <a:ext cx="5501640" cy="1097281"/>
          </a:xfrm>
          <a:prstGeom prst="rect">
            <a:avLst/>
          </a:prstGeom>
          <a:noFill/>
        </p:spPr>
        <p:txBody>
          <a:bodyPr wrap="square" lIns="0" rIns="0">
            <a:noAutofit/>
          </a:bodyPr>
          <a:lstStyle/>
          <a:p>
            <a:pPr algn="l"/>
            <a:r>
              <a:rPr sz="3400" b="0" i="0">
                <a:solidFill>
                  <a:srgbClr val="0A2240"/>
                </a:solidFill>
                <a:latin typeface="Arial"/>
              </a:rPr>
              <a:t>Thin margins and a small team</a:t>
            </a:r>
          </a:p>
        </p:txBody>
      </p:sp>
      <p:sp>
        <p:nvSpPr>
          <p:cNvPr id="12" name="TextBox 11"/>
          <p:cNvSpPr/>
          <p:nvPr>
            <p:ph type="body" idx="7"/>
          </p:nvPr>
        </p:nvSpPr>
        <p:spPr>
          <a:xfrm>
            <a:off x="457200" y="3767328"/>
            <a:ext cx="5501640" cy="621791"/>
          </a:xfrm>
          <a:prstGeom prst="rect">
            <a:avLst/>
          </a:prstGeom>
          <a:noFill/>
        </p:spPr>
        <p:txBody>
          <a:bodyPr wrap="none" lIns="0" rIns="0">
            <a:noAutofit/>
          </a:bodyPr>
          <a:lstStyle/>
          <a:p>
            <a:pPr algn="l"/>
            <a:r>
              <a:rPr sz="3400" b="1" i="0">
                <a:solidFill>
                  <a:srgbClr val="0072CE"/>
                </a:solidFill>
                <a:latin typeface="Arial"/>
              </a:rPr>
              <a:t>Opportunities</a:t>
            </a:r>
          </a:p>
        </p:txBody>
      </p:sp>
      <p:sp>
        <p:nvSpPr>
          <p:cNvPr id="13" name="Rectangle 12"/>
          <p:cNvSpPr/>
          <p:nvPr>
            <p:ph type="body" idx="8"/>
          </p:nvPr>
        </p:nvSpPr>
        <p:spPr>
          <a:xfrm>
            <a:off x="457200" y="4443983"/>
            <a:ext cx="1650492" cy="54864"/>
          </a:xfrm>
          <a:prstGeom prst="rect">
            <a:avLst/>
          </a:prstGeom>
          <a:solidFill>
            <a:srgbClr val="0072CE"/>
          </a:solidFill>
          <a:ln>
            <a:noFill/>
          </a:ln>
          <a:effectLst/>
        </p:spPr>
        <p:txBody>
          <a:bodyPr rtlCol="0" anchor="ctr"/>
          <a:lstStyle/>
          <a:p>
            <a:pPr algn="ctr"/>
          </a:p>
        </p:txBody>
      </p:sp>
      <p:sp>
        <p:nvSpPr>
          <p:cNvPr id="14" name="TextBox 13"/>
          <p:cNvSpPr/>
          <p:nvPr>
            <p:ph type="body" idx="9"/>
          </p:nvPr>
        </p:nvSpPr>
        <p:spPr>
          <a:xfrm>
            <a:off x="457200" y="4663439"/>
            <a:ext cx="5501640" cy="1097281"/>
          </a:xfrm>
          <a:prstGeom prst="rect">
            <a:avLst/>
          </a:prstGeom>
          <a:noFill/>
        </p:spPr>
        <p:txBody>
          <a:bodyPr wrap="square" lIns="0" rIns="0">
            <a:noAutofit/>
          </a:bodyPr>
          <a:lstStyle/>
          <a:p>
            <a:pPr algn="l"/>
            <a:r>
              <a:rPr sz="3400" b="0" i="0">
                <a:solidFill>
                  <a:srgbClr val="0A2240"/>
                </a:solidFill>
                <a:latin typeface="Arial"/>
              </a:rPr>
              <a:t>New markets through partnerships</a:t>
            </a:r>
          </a:p>
        </p:txBody>
      </p:sp>
      <p:sp>
        <p:nvSpPr>
          <p:cNvPr id="15" name="TextBox 14"/>
          <p:cNvSpPr/>
          <p:nvPr>
            <p:ph type="body" idx="13"/>
          </p:nvPr>
        </p:nvSpPr>
        <p:spPr>
          <a:xfrm>
            <a:off x="6233160" y="3767328"/>
            <a:ext cx="5501640" cy="621791"/>
          </a:xfrm>
          <a:prstGeom prst="rect">
            <a:avLst/>
          </a:prstGeom>
          <a:noFill/>
        </p:spPr>
        <p:txBody>
          <a:bodyPr wrap="none" lIns="0" rIns="0">
            <a:noAutofit/>
          </a:bodyPr>
          <a:lstStyle/>
          <a:p>
            <a:pPr algn="l"/>
            <a:r>
              <a:rPr sz="3400" b="1" i="0">
                <a:solidFill>
                  <a:srgbClr val="5B6B82"/>
                </a:solidFill>
                <a:latin typeface="Arial"/>
              </a:rPr>
              <a:t>Threats</a:t>
            </a:r>
          </a:p>
        </p:txBody>
      </p:sp>
      <p:sp>
        <p:nvSpPr>
          <p:cNvPr id="16" name="Rectangle 15"/>
          <p:cNvSpPr/>
          <p:nvPr>
            <p:ph type="body" idx="14"/>
          </p:nvPr>
        </p:nvSpPr>
        <p:spPr>
          <a:xfrm>
            <a:off x="6233160" y="4443983"/>
            <a:ext cx="1650492" cy="54864"/>
          </a:xfrm>
          <a:prstGeom prst="rect">
            <a:avLst/>
          </a:prstGeom>
          <a:solidFill>
            <a:srgbClr val="5B6B82"/>
          </a:solidFill>
          <a:ln>
            <a:noFill/>
          </a:ln>
          <a:effectLst/>
        </p:spPr>
        <p:txBody>
          <a:bodyPr rtlCol="0" anchor="ctr"/>
          <a:lstStyle/>
          <a:p>
            <a:pPr algn="ctr"/>
          </a:p>
        </p:txBody>
      </p:sp>
      <p:sp>
        <p:nvSpPr>
          <p:cNvPr id="17" name="TextBox 16"/>
          <p:cNvSpPr/>
          <p:nvPr>
            <p:ph type="body" idx="15"/>
          </p:nvPr>
        </p:nvSpPr>
        <p:spPr>
          <a:xfrm>
            <a:off x="6233160" y="4663439"/>
            <a:ext cx="5501640" cy="1097281"/>
          </a:xfrm>
          <a:prstGeom prst="rect">
            <a:avLst/>
          </a:prstGeom>
          <a:noFill/>
        </p:spPr>
        <p:txBody>
          <a:bodyPr wrap="square" lIns="0" rIns="0">
            <a:noAutofit/>
          </a:bodyPr>
          <a:lstStyle/>
          <a:p>
            <a:pPr algn="l"/>
            <a:r>
              <a:rPr sz="3400" b="0" i="0">
                <a:solidFill>
                  <a:srgbClr val="0A2240"/>
                </a:solidFill>
                <a:latin typeface="Arial"/>
              </a:rPr>
              <a:t>New entrants driving price pressure</a:t>
            </a:r>
          </a:p>
        </p:txBody>
      </p:sp>
    </p:spTree>
    <p:extLst>
      <p:ext uri="{BB962C8B-B14F-4D97-AF65-F5344CB8AC3E}">
        <p14:creationId xmlns:p14="http://schemas.microsoft.com/office/powerpoint/2010/main" val="121299981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slidekit · Comparison Matrix">
    <p:bg>
      <p:bgPr>
        <a:solidFill>
          <a:srgbClr val="FFFFFF"/>
        </a:solidFill>
        <a:effectLst/>
      </p:bgPr>
    </p:bg>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186160" y="6035040"/>
            <a:ext cx="548640" cy="365760"/>
          </a:xfrm>
        </p:spPr>
        <p:txBody>
          <a:bodyPr/>
          <a:lstStyle/>
          <a:p>
            <a:fld id="{C1FF6DA9-008F-8B48-92A6-B652298478BF}" type="slidenum">
              <a:rPr lang="en-US" smtClean="0"/>
              <a:t>‹#›</a:t>
            </a:fld>
            <a:endParaRPr lang="en-US"/>
          </a:p>
        </p:txBody>
      </p:sp>
      <p:sp>
        <p:nvSpPr>
          <p:cNvPr id="5" name="TextBox 4"/>
          <p:cNvSpPr/>
          <p:nvPr>
            <p:ph type="title"/>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Evaluation Matrix</a:t>
            </a:r>
          </a:p>
        </p:txBody>
      </p:sp>
      <p:sp>
        <p:nvSpPr>
          <p:cNvPr id="6" name="TextBox 5"/>
          <p:cNvSpPr/>
          <p:nvPr>
            <p:ph type="body" idx="1"/>
          </p:nvPr>
        </p:nvSpPr>
        <p:spPr>
          <a:xfrm>
            <a:off x="3280182" y="1499616"/>
            <a:ext cx="3650436" cy="518159"/>
          </a:xfrm>
          <a:prstGeom prst="rect">
            <a:avLst/>
          </a:prstGeom>
          <a:noFill/>
        </p:spPr>
        <p:txBody>
          <a:bodyPr wrap="none" lIns="0" rIns="0">
            <a:noAutofit/>
          </a:bodyPr>
          <a:lstStyle/>
          <a:p>
            <a:pPr algn="ctr"/>
            <a:r>
              <a:rPr sz="3400" b="1" i="0">
                <a:solidFill>
                  <a:srgbClr val="0A2240"/>
                </a:solidFill>
                <a:latin typeface="Arial"/>
              </a:rPr>
              <a:t>Platform A</a:t>
            </a:r>
          </a:p>
        </p:txBody>
      </p:sp>
      <p:sp>
        <p:nvSpPr>
          <p:cNvPr id="7" name="TextBox 6"/>
          <p:cNvSpPr/>
          <p:nvPr>
            <p:ph type="body" idx="2"/>
          </p:nvPr>
        </p:nvSpPr>
        <p:spPr>
          <a:xfrm>
            <a:off x="5973987" y="1499616"/>
            <a:ext cx="3676074" cy="518159"/>
          </a:xfrm>
          <a:prstGeom prst="rect">
            <a:avLst/>
          </a:prstGeom>
          <a:noFill/>
        </p:spPr>
        <p:txBody>
          <a:bodyPr wrap="none" lIns="0" rIns="0">
            <a:noAutofit/>
          </a:bodyPr>
          <a:lstStyle/>
          <a:p>
            <a:pPr algn="ctr"/>
            <a:r>
              <a:rPr sz="3400" b="1" i="0">
                <a:solidFill>
                  <a:srgbClr val="0A2240"/>
                </a:solidFill>
                <a:latin typeface="Arial"/>
              </a:rPr>
              <a:t>Platform B</a:t>
            </a:r>
          </a:p>
        </p:txBody>
      </p:sp>
      <p:sp>
        <p:nvSpPr>
          <p:cNvPr id="8" name="TextBox 7"/>
          <p:cNvSpPr/>
          <p:nvPr>
            <p:ph type="body" idx="3"/>
          </p:nvPr>
        </p:nvSpPr>
        <p:spPr>
          <a:xfrm>
            <a:off x="8845296" y="1499616"/>
            <a:ext cx="3346704" cy="518159"/>
          </a:xfrm>
          <a:prstGeom prst="rect">
            <a:avLst/>
          </a:prstGeom>
          <a:noFill/>
        </p:spPr>
        <p:txBody>
          <a:bodyPr wrap="none" lIns="0" rIns="0">
            <a:noAutofit/>
          </a:bodyPr>
          <a:lstStyle/>
          <a:p>
            <a:pPr algn="ctr"/>
            <a:r>
              <a:rPr sz="3400" b="1" i="0">
                <a:solidFill>
                  <a:srgbClr val="0A2240"/>
                </a:solidFill>
                <a:latin typeface="Arial"/>
              </a:rPr>
              <a:t>Platform C</a:t>
            </a:r>
          </a:p>
        </p:txBody>
      </p:sp>
      <p:sp>
        <p:nvSpPr>
          <p:cNvPr id="9" name="Rectangle 8"/>
          <p:cNvSpPr/>
          <p:nvPr>
            <p:ph type="body" idx="4"/>
          </p:nvPr>
        </p:nvSpPr>
        <p:spPr>
          <a:xfrm>
            <a:off x="457200" y="2072639"/>
            <a:ext cx="11277600" cy="54864"/>
          </a:xfrm>
          <a:prstGeom prst="rect">
            <a:avLst/>
          </a:prstGeom>
          <a:solidFill>
            <a:srgbClr val="0072CE"/>
          </a:solidFill>
          <a:ln>
            <a:noFill/>
          </a:ln>
          <a:effectLst/>
        </p:spPr>
        <p:txBody>
          <a:bodyPr rtlCol="0" anchor="ctr"/>
          <a:lstStyle/>
          <a:p>
            <a:pPr algn="ctr"/>
          </a:p>
        </p:txBody>
      </p:sp>
      <p:sp>
        <p:nvSpPr>
          <p:cNvPr id="10" name="TextBox 9"/>
          <p:cNvSpPr/>
          <p:nvPr>
            <p:ph type="body" idx="5"/>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Security</a:t>
            </a:r>
          </a:p>
        </p:txBody>
      </p:sp>
      <p:sp>
        <p:nvSpPr>
          <p:cNvPr id="11" name="Rectangle 10"/>
          <p:cNvSpPr/>
          <p:nvPr>
            <p:ph type="body" idx="6"/>
          </p:nvPr>
        </p:nvSpPr>
        <p:spPr>
          <a:xfrm>
            <a:off x="4245247" y="2401823"/>
            <a:ext cx="1720305" cy="518159"/>
          </a:xfrm>
          <a:prstGeom prst="rect">
            <a:avLst/>
          </a:prstGeom>
          <a:solidFill>
            <a:srgbClr val="0072CE"/>
          </a:solidFill>
          <a:ln>
            <a:noFill/>
          </a:ln>
          <a:effectLst/>
        </p:spPr>
        <p:txBody>
          <a:bodyPr rtlCol="0" anchor="ctr"/>
          <a:lstStyle/>
          <a:p>
            <a:pPr algn="ctr"/>
          </a:p>
        </p:txBody>
      </p:sp>
      <p:sp>
        <p:nvSpPr>
          <p:cNvPr id="12" name="TextBox 11"/>
          <p:cNvSpPr/>
          <p:nvPr>
            <p:ph type="body" idx="7"/>
          </p:nvPr>
        </p:nvSpPr>
        <p:spPr>
          <a:xfrm>
            <a:off x="3901063" y="2401823"/>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13" name="TextBox 12"/>
          <p:cNvSpPr/>
          <p:nvPr>
            <p:ph type="body" idx="8"/>
          </p:nvPr>
        </p:nvSpPr>
        <p:spPr>
          <a:xfrm>
            <a:off x="6491979" y="2401823"/>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4" name="TextBox 13"/>
          <p:cNvSpPr/>
          <p:nvPr>
            <p:ph type="body" idx="9"/>
          </p:nvPr>
        </p:nvSpPr>
        <p:spPr>
          <a:xfrm>
            <a:off x="9302496" y="2401823"/>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5" name="TextBox 14"/>
          <p:cNvSpPr/>
          <p:nvPr>
            <p:ph type="body" idx="13"/>
          </p:nvPr>
        </p:nvSpPr>
        <p:spPr>
          <a:xfrm>
            <a:off x="457200" y="3612895"/>
            <a:ext cx="3279020" cy="936752"/>
          </a:xfrm>
          <a:prstGeom prst="rect">
            <a:avLst/>
          </a:prstGeom>
          <a:noFill/>
        </p:spPr>
        <p:txBody>
          <a:bodyPr wrap="none" lIns="0" rIns="0">
            <a:noAutofit/>
          </a:bodyPr>
          <a:lstStyle/>
          <a:p>
            <a:pPr algn="l"/>
            <a:r>
              <a:rPr sz="3400" b="1" i="0">
                <a:solidFill>
                  <a:srgbClr val="0A2240"/>
                </a:solidFill>
                <a:latin typeface="Arial"/>
              </a:rPr>
              <a:t>Workflow</a:t>
            </a:r>
          </a:p>
        </p:txBody>
      </p:sp>
      <p:sp>
        <p:nvSpPr>
          <p:cNvPr id="16" name="TextBox 15"/>
          <p:cNvSpPr/>
          <p:nvPr>
            <p:ph type="body" idx="14"/>
          </p:nvPr>
        </p:nvSpPr>
        <p:spPr>
          <a:xfrm>
            <a:off x="3785355"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7" name="TextBox 16"/>
          <p:cNvSpPr/>
          <p:nvPr>
            <p:ph type="body" idx="15"/>
          </p:nvPr>
        </p:nvSpPr>
        <p:spPr>
          <a:xfrm>
            <a:off x="6595872" y="3612895"/>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18" name="TextBox 17"/>
          <p:cNvSpPr/>
          <p:nvPr>
            <p:ph type="body" idx="16"/>
          </p:nvPr>
        </p:nvSpPr>
        <p:spPr>
          <a:xfrm>
            <a:off x="9198603" y="3612895"/>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
        <p:nvSpPr>
          <p:cNvPr id="19" name="TextBox 18"/>
          <p:cNvSpPr/>
          <p:nvPr>
            <p:ph type="body" idx="17"/>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Support</a:t>
            </a:r>
          </a:p>
        </p:txBody>
      </p:sp>
      <p:sp>
        <p:nvSpPr>
          <p:cNvPr id="20" name="Rectangle 19"/>
          <p:cNvSpPr/>
          <p:nvPr>
            <p:ph type="body" idx="18"/>
          </p:nvPr>
        </p:nvSpPr>
        <p:spPr>
          <a:xfrm>
            <a:off x="4245247" y="4823967"/>
            <a:ext cx="1720305" cy="518159"/>
          </a:xfrm>
          <a:prstGeom prst="rect">
            <a:avLst/>
          </a:prstGeom>
          <a:solidFill>
            <a:srgbClr val="0072CE"/>
          </a:solidFill>
          <a:ln>
            <a:noFill/>
          </a:ln>
          <a:effectLst/>
        </p:spPr>
        <p:txBody>
          <a:bodyPr rtlCol="0" anchor="ctr"/>
          <a:lstStyle/>
          <a:p>
            <a:pPr algn="ctr"/>
          </a:p>
        </p:txBody>
      </p:sp>
      <p:sp>
        <p:nvSpPr>
          <p:cNvPr id="21" name="TextBox 20"/>
          <p:cNvSpPr/>
          <p:nvPr>
            <p:ph type="body" idx="19"/>
          </p:nvPr>
        </p:nvSpPr>
        <p:spPr>
          <a:xfrm>
            <a:off x="3901063" y="4823967"/>
            <a:ext cx="2408673" cy="518159"/>
          </a:xfrm>
          <a:prstGeom prst="rect">
            <a:avLst/>
          </a:prstGeom>
          <a:noFill/>
        </p:spPr>
        <p:txBody>
          <a:bodyPr wrap="none" lIns="0" rIns="0">
            <a:noAutofit/>
          </a:bodyPr>
          <a:lstStyle/>
          <a:p>
            <a:pPr algn="ctr"/>
            <a:r>
              <a:rPr sz="3400" b="1" i="0">
                <a:solidFill>
                  <a:srgbClr val="FFFFFF"/>
                </a:solidFill>
                <a:latin typeface="Arial"/>
              </a:rPr>
              <a:t>Strong</a:t>
            </a:r>
          </a:p>
        </p:txBody>
      </p:sp>
      <p:sp>
        <p:nvSpPr>
          <p:cNvPr id="22" name="TextBox 21"/>
          <p:cNvSpPr/>
          <p:nvPr>
            <p:ph type="body" idx="20"/>
          </p:nvPr>
        </p:nvSpPr>
        <p:spPr>
          <a:xfrm>
            <a:off x="6595872" y="4823967"/>
            <a:ext cx="2432304" cy="936752"/>
          </a:xfrm>
          <a:prstGeom prst="rect">
            <a:avLst/>
          </a:prstGeom>
          <a:noFill/>
        </p:spPr>
        <p:txBody>
          <a:bodyPr wrap="none" lIns="0" rIns="0">
            <a:noAutofit/>
          </a:bodyPr>
          <a:lstStyle/>
          <a:p>
            <a:pPr algn="ctr"/>
            <a:r>
              <a:rPr sz="3400" b="0" i="0">
                <a:solidFill>
                  <a:srgbClr val="0A2240"/>
                </a:solidFill>
                <a:latin typeface="Arial"/>
              </a:rPr>
              <a:t>Strong</a:t>
            </a:r>
          </a:p>
        </p:txBody>
      </p:sp>
      <p:sp>
        <p:nvSpPr>
          <p:cNvPr id="23" name="TextBox 22"/>
          <p:cNvSpPr/>
          <p:nvPr>
            <p:ph type="body" idx="21"/>
          </p:nvPr>
        </p:nvSpPr>
        <p:spPr>
          <a:xfrm>
            <a:off x="9198603" y="4823967"/>
            <a:ext cx="2640090" cy="936752"/>
          </a:xfrm>
          <a:prstGeom prst="rect">
            <a:avLst/>
          </a:prstGeom>
          <a:noFill/>
        </p:spPr>
        <p:txBody>
          <a:bodyPr wrap="none" lIns="0" rIns="0">
            <a:noAutofit/>
          </a:bodyPr>
          <a:lstStyle/>
          <a:p>
            <a:pPr algn="ctr"/>
            <a:r>
              <a:rPr sz="3400" b="0" i="0">
                <a:solidFill>
                  <a:srgbClr val="0A2240"/>
                </a:solidFill>
                <a:latin typeface="Arial"/>
              </a:rPr>
              <a:t>Medium</a:t>
            </a:r>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712" r:id="rId13"/>
    <p:sldLayoutId id="2147483713" r:id="rId14"/>
    <p:sldLayoutId id="2147483714" r:id="rId15"/>
    <p:sldLayoutId id="2147483715" r:id="rId16"/>
    <p:sldLayoutId id="2147483716" r:id="rId17"/>
    <p:sldLayoutId id="2147483717" r:id="rId18"/>
    <p:sldLayoutId id="2147483718" r:id="rId19"/>
    <p:sldLayoutId id="2147483719" r:id="rId20"/>
    <p:sldLayoutId id="2147483720" r:id="rId21"/>
    <p:sldLayoutId id="2147483721" r:id="rId22"/>
    <p:sldLayoutId id="2147483722" r:id="rId23"/>
    <p:sldLayoutId id="2147483723" r:id="rId24"/>
    <p:sldLayoutId id="2147483724" r:id="rId25"/>
    <p:sldLayoutId id="2147483725" r:id="rId26"/>
    <p:sldLayoutId id="2147483726" r:id="rId27"/>
    <p:sldLayoutId id="2147483727" r:id="rId28"/>
    <p:sldLayoutId id="2147483728" r:id="rId29"/>
    <p:sldLayoutId id="2147483729" r:id="rId30"/>
    <p:sldLayoutId id="2147483730" r:id="rId31"/>
    <p:sldLayoutId id="2147483731" r:id="rId32"/>
    <p:sldLayoutId id="2147483732" r:id="rId33"/>
    <p:sldLayoutId id="2147483733" r:id="rId34"/>
    <p:sldLayoutId id="2147483734" r:id="rId35"/>
    <p:sldLayoutId id="2147483735" r:id="rId36"/>
    <p:sldLayoutId id="2147483736" r:id="rId37"/>
    <p:sldLayoutId id="2147483737" r:id="rId38"/>
    <p:sldLayoutId id="2147483738" r:id="rId39"/>
    <p:sldLayoutId id="2147483739" r:id="rId40"/>
    <p:sldLayoutId id="2147483740" r:id="rId41"/>
    <p:sldLayoutId id="2147483741" r:id="rId4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914400" y="2575560"/>
            <a:ext cx="11277600" cy="914400"/>
          </a:xfrm>
          <a:prstGeom prst="rect">
            <a:avLst/>
          </a:prstGeom>
          <a:noFill/>
        </p:spPr>
        <p:txBody>
          <a:bodyPr wrap="none" lIns="0" rIns="0">
            <a:noAutofit/>
          </a:bodyPr>
          <a:lstStyle/>
          <a:p>
            <a:pPr algn="l"/>
            <a:r>
              <a:rPr sz="6000" b="1" i="0">
                <a:solidFill>
                  <a:srgbClr val="0072CE"/>
                </a:solidFill>
                <a:latin typeface="Arial"/>
              </a:rPr>
              <a:t>Hardening and Handoff</a:t>
            </a:r>
          </a:p>
        </p:txBody>
      </p:sp>
      <p:sp>
        <p:nvSpPr>
          <p:cNvPr id="3" name="TextBox 2"/>
          <p:cNvSpPr txBox="1"/>
          <p:nvPr/>
        </p:nvSpPr>
        <p:spPr>
          <a:xfrm>
            <a:off x="914400" y="3764280"/>
            <a:ext cx="11277600" cy="518159"/>
          </a:xfrm>
          <a:prstGeom prst="rect">
            <a:avLst/>
          </a:prstGeom>
          <a:noFill/>
        </p:spPr>
        <p:txBody>
          <a:bodyPr wrap="none" lIns="0" rIns="0">
            <a:noAutofit/>
          </a:bodyPr>
          <a:lstStyle/>
          <a:p>
            <a:pPr algn="l"/>
            <a:r>
              <a:rPr sz="3400" b="0" i="0">
                <a:solidFill>
                  <a:srgbClr val="0A2240"/>
                </a:solidFill>
                <a:latin typeface="Arial"/>
              </a:rPr>
              <a:t>Immersion Week SF · Day 3 · Session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1583436"/>
            <a:ext cx="11277600" cy="1691640"/>
          </a:xfrm>
          <a:prstGeom prst="rect">
            <a:avLst/>
          </a:prstGeom>
          <a:noFill/>
        </p:spPr>
        <p:txBody>
          <a:bodyPr wrap="none" lIns="0" rIns="0">
            <a:noAutofit/>
          </a:bodyPr>
          <a:lstStyle/>
          <a:p>
            <a:pPr algn="ctr"/>
            <a:r>
              <a:rPr sz="10500" b="1" i="0">
                <a:solidFill>
                  <a:srgbClr val="0072CE"/>
                </a:solidFill>
                <a:latin typeface="Arial"/>
              </a:rPr>
              <a:t>50</a:t>
            </a:r>
          </a:p>
        </p:txBody>
      </p:sp>
      <p:sp>
        <p:nvSpPr>
          <p:cNvPr id="3" name="Rectangle 2"/>
          <p:cNvSpPr/>
          <p:nvPr/>
        </p:nvSpPr>
        <p:spPr>
          <a:xfrm>
            <a:off x="5547360" y="3329940"/>
            <a:ext cx="109728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659124"/>
            <a:ext cx="11277600" cy="731520"/>
          </a:xfrm>
          <a:prstGeom prst="rect">
            <a:avLst/>
          </a:prstGeom>
          <a:noFill/>
        </p:spPr>
        <p:txBody>
          <a:bodyPr wrap="none" lIns="0" rIns="0">
            <a:noAutofit/>
          </a:bodyPr>
          <a:lstStyle/>
          <a:p>
            <a:pPr algn="ctr"/>
            <a:r>
              <a:rPr sz="4200" b="0" i="0">
                <a:solidFill>
                  <a:srgbClr val="0A2240"/>
                </a:solidFill>
                <a:latin typeface="Arial"/>
              </a:rPr>
              <a:t>Minutes</a:t>
            </a:r>
          </a:p>
        </p:txBody>
      </p:sp>
      <p:sp>
        <p:nvSpPr>
          <p:cNvPr id="5" name="TextBox 4"/>
          <p:cNvSpPr txBox="1"/>
          <p:nvPr/>
        </p:nvSpPr>
        <p:spPr>
          <a:xfrm>
            <a:off x="457200" y="4664964"/>
            <a:ext cx="11277600" cy="609600"/>
          </a:xfrm>
          <a:prstGeom prst="rect">
            <a:avLst/>
          </a:prstGeom>
          <a:noFill/>
        </p:spPr>
        <p:txBody>
          <a:bodyPr wrap="none" lIns="0" rIns="0">
            <a:noAutofit/>
          </a:bodyPr>
          <a:lstStyle/>
          <a:p>
            <a:pPr algn="ctr"/>
            <a:r>
              <a:rPr sz="3400" b="0" i="0">
                <a:solidFill>
                  <a:srgbClr val="5B6B82"/>
                </a:solidFill>
                <a:latin typeface="Arial"/>
              </a:rPr>
              <a:t>You leave with it hardened</a:t>
            </a:r>
          </a:p>
        </p:txBody>
      </p:sp>
      <p:sp>
        <p:nvSpPr>
          <p:cNvPr id="6" name="TextBox 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This Session Covers</a:t>
            </a:r>
          </a:p>
        </p:txBody>
      </p:sp>
      <p:sp>
        <p:nvSpPr>
          <p:cNvPr id="3" name="Rectangle 2"/>
          <p:cNvSpPr/>
          <p:nvPr/>
        </p:nvSpPr>
        <p:spPr>
          <a:xfrm>
            <a:off x="457200" y="1280160"/>
            <a:ext cx="11277600" cy="64008"/>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18488"/>
            <a:ext cx="951348" cy="518159"/>
          </a:xfrm>
          <a:prstGeom prst="rect">
            <a:avLst/>
          </a:prstGeom>
          <a:noFill/>
        </p:spPr>
        <p:txBody>
          <a:bodyPr wrap="none" lIns="0" rIns="0">
            <a:noAutofit/>
          </a:bodyPr>
          <a:lstStyle/>
          <a:p>
            <a:pPr algn="l"/>
            <a:r>
              <a:rPr sz="3400" b="1" i="0">
                <a:solidFill>
                  <a:srgbClr val="0072CE"/>
                </a:solidFill>
                <a:latin typeface="Arial"/>
              </a:rPr>
              <a:t>01</a:t>
            </a:r>
          </a:p>
        </p:txBody>
      </p:sp>
      <p:sp>
        <p:nvSpPr>
          <p:cNvPr id="5" name="TextBox 4"/>
          <p:cNvSpPr txBox="1"/>
          <p:nvPr/>
        </p:nvSpPr>
        <p:spPr>
          <a:xfrm>
            <a:off x="1371600" y="1618488"/>
            <a:ext cx="10363200" cy="518159"/>
          </a:xfrm>
          <a:prstGeom prst="rect">
            <a:avLst/>
          </a:prstGeom>
          <a:noFill/>
        </p:spPr>
        <p:txBody>
          <a:bodyPr wrap="none" lIns="0" rIns="0">
            <a:noAutofit/>
          </a:bodyPr>
          <a:lstStyle/>
          <a:p>
            <a:pPr algn="l"/>
            <a:r>
              <a:rPr sz="3400" b="0" i="0">
                <a:solidFill>
                  <a:srgbClr val="0A2240"/>
                </a:solidFill>
                <a:latin typeface="Arial"/>
              </a:rPr>
              <a:t>Triage severity against cost</a:t>
            </a:r>
          </a:p>
        </p:txBody>
      </p:sp>
      <p:sp>
        <p:nvSpPr>
          <p:cNvPr id="6" name="TextBox 5"/>
          <p:cNvSpPr txBox="1"/>
          <p:nvPr/>
        </p:nvSpPr>
        <p:spPr>
          <a:xfrm>
            <a:off x="457200" y="2722626"/>
            <a:ext cx="951348" cy="518159"/>
          </a:xfrm>
          <a:prstGeom prst="rect">
            <a:avLst/>
          </a:prstGeom>
          <a:noFill/>
        </p:spPr>
        <p:txBody>
          <a:bodyPr wrap="none" lIns="0" rIns="0">
            <a:noAutofit/>
          </a:bodyPr>
          <a:lstStyle/>
          <a:p>
            <a:pPr algn="l"/>
            <a:r>
              <a:rPr sz="3400" b="1" i="0">
                <a:solidFill>
                  <a:srgbClr val="0072CE"/>
                </a:solidFill>
                <a:latin typeface="Arial"/>
              </a:rPr>
              <a:t>02</a:t>
            </a:r>
          </a:p>
        </p:txBody>
      </p:sp>
      <p:sp>
        <p:nvSpPr>
          <p:cNvPr id="7" name="TextBox 6"/>
          <p:cNvSpPr txBox="1"/>
          <p:nvPr/>
        </p:nvSpPr>
        <p:spPr>
          <a:xfrm>
            <a:off x="1371600" y="2722626"/>
            <a:ext cx="10363200" cy="518159"/>
          </a:xfrm>
          <a:prstGeom prst="rect">
            <a:avLst/>
          </a:prstGeom>
          <a:noFill/>
        </p:spPr>
        <p:txBody>
          <a:bodyPr wrap="none" lIns="0" rIns="0">
            <a:noAutofit/>
          </a:bodyPr>
          <a:lstStyle/>
          <a:p>
            <a:pPr algn="l"/>
            <a:r>
              <a:rPr sz="3400" b="0" i="0">
                <a:solidFill>
                  <a:srgbClr val="0A2240"/>
                </a:solidFill>
                <a:latin typeface="Arial"/>
              </a:rPr>
              <a:t>Commit to a cut line</a:t>
            </a:r>
          </a:p>
        </p:txBody>
      </p:sp>
      <p:sp>
        <p:nvSpPr>
          <p:cNvPr id="8" name="TextBox 7"/>
          <p:cNvSpPr txBox="1"/>
          <p:nvPr/>
        </p:nvSpPr>
        <p:spPr>
          <a:xfrm>
            <a:off x="457200" y="3826764"/>
            <a:ext cx="951348" cy="518159"/>
          </a:xfrm>
          <a:prstGeom prst="rect">
            <a:avLst/>
          </a:prstGeom>
          <a:noFill/>
        </p:spPr>
        <p:txBody>
          <a:bodyPr wrap="none" lIns="0" rIns="0">
            <a:noAutofit/>
          </a:bodyPr>
          <a:lstStyle/>
          <a:p>
            <a:pPr algn="l"/>
            <a:r>
              <a:rPr sz="3400" b="1" i="0">
                <a:solidFill>
                  <a:srgbClr val="0072CE"/>
                </a:solidFill>
                <a:latin typeface="Arial"/>
              </a:rPr>
              <a:t>03</a:t>
            </a:r>
          </a:p>
        </p:txBody>
      </p:sp>
      <p:sp>
        <p:nvSpPr>
          <p:cNvPr id="9" name="TextBox 8"/>
          <p:cNvSpPr txBox="1"/>
          <p:nvPr/>
        </p:nvSpPr>
        <p:spPr>
          <a:xfrm>
            <a:off x="1371600" y="3826764"/>
            <a:ext cx="10363200" cy="518159"/>
          </a:xfrm>
          <a:prstGeom prst="rect">
            <a:avLst/>
          </a:prstGeom>
          <a:noFill/>
        </p:spPr>
        <p:txBody>
          <a:bodyPr wrap="none" lIns="0" rIns="0">
            <a:noAutofit/>
          </a:bodyPr>
          <a:lstStyle/>
          <a:p>
            <a:pPr algn="l"/>
            <a:r>
              <a:rPr sz="3400" b="0" i="0">
                <a:solidFill>
                  <a:srgbClr val="0A2240"/>
                </a:solidFill>
                <a:latin typeface="Arial"/>
              </a:rPr>
              <a:t>Fix, re-run, and push</a:t>
            </a:r>
          </a:p>
        </p:txBody>
      </p:sp>
      <p:sp>
        <p:nvSpPr>
          <p:cNvPr id="10" name="TextBox 9"/>
          <p:cNvSpPr txBox="1"/>
          <p:nvPr/>
        </p:nvSpPr>
        <p:spPr>
          <a:xfrm>
            <a:off x="457200" y="4930902"/>
            <a:ext cx="951348" cy="518159"/>
          </a:xfrm>
          <a:prstGeom prst="rect">
            <a:avLst/>
          </a:prstGeom>
          <a:noFill/>
        </p:spPr>
        <p:txBody>
          <a:bodyPr wrap="none" lIns="0" rIns="0">
            <a:noAutofit/>
          </a:bodyPr>
          <a:lstStyle/>
          <a:p>
            <a:pPr algn="l"/>
            <a:r>
              <a:rPr sz="3400" b="1" i="0">
                <a:solidFill>
                  <a:srgbClr val="0072CE"/>
                </a:solidFill>
                <a:latin typeface="Arial"/>
              </a:rPr>
              <a:t>04</a:t>
            </a:r>
          </a:p>
        </p:txBody>
      </p:sp>
      <p:sp>
        <p:nvSpPr>
          <p:cNvPr id="11" name="TextBox 10"/>
          <p:cNvSpPr txBox="1"/>
          <p:nvPr/>
        </p:nvSpPr>
        <p:spPr>
          <a:xfrm>
            <a:off x="1371600" y="4930902"/>
            <a:ext cx="10363200" cy="518159"/>
          </a:xfrm>
          <a:prstGeom prst="rect">
            <a:avLst/>
          </a:prstGeom>
          <a:noFill/>
        </p:spPr>
        <p:txBody>
          <a:bodyPr wrap="none" lIns="0" rIns="0">
            <a:noAutofit/>
          </a:bodyPr>
          <a:lstStyle/>
          <a:p>
            <a:pPr algn="l"/>
            <a:r>
              <a:rPr sz="3400" b="0" i="0">
                <a:solidFill>
                  <a:srgbClr val="0A2240"/>
                </a:solidFill>
                <a:latin typeface="Arial"/>
              </a:rPr>
              <a:t>Schedule checks that outlive you</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will you not fix?</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From 3.2 to Now</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A log</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Everything that broke</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A line</a:t>
            </a:r>
          </a:p>
        </p:txBody>
      </p:sp>
      <p:sp>
        <p:nvSpPr>
          <p:cNvPr id="6" name="TextBox 5"/>
          <p:cNvSpPr txBox="1"/>
          <p:nvPr/>
        </p:nvSpPr>
        <p:spPr>
          <a:xfrm>
            <a:off x="6770598" y="3965448"/>
            <a:ext cx="5135424" cy="518159"/>
          </a:xfrm>
          <a:prstGeom prst="rect">
            <a:avLst/>
          </a:prstGeom>
          <a:noFill/>
        </p:spPr>
        <p:txBody>
          <a:bodyPr wrap="none" lIns="0" rIns="0">
            <a:noAutofit/>
          </a:bodyPr>
          <a:lstStyle/>
          <a:p>
            <a:pPr algn="ctr"/>
            <a:r>
              <a:rPr sz="3400" b="0" i="0">
                <a:solidFill>
                  <a:srgbClr val="0A2240"/>
                </a:solidFill>
                <a:latin typeface="Arial"/>
              </a:rPr>
              <a:t>What you will fix</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How We Get There</a:t>
            </a:r>
          </a:p>
        </p:txBody>
      </p:sp>
      <p:sp>
        <p:nvSpPr>
          <p:cNvPr id="3" name="TextBox 2"/>
          <p:cNvSpPr txBox="1"/>
          <p:nvPr/>
        </p:nvSpPr>
        <p:spPr>
          <a:xfrm>
            <a:off x="457200" y="1499616"/>
            <a:ext cx="2613660"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Rectangle 3"/>
          <p:cNvSpPr/>
          <p:nvPr/>
        </p:nvSpPr>
        <p:spPr>
          <a:xfrm>
            <a:off x="45720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414016"/>
            <a:ext cx="2613660" cy="518159"/>
          </a:xfrm>
          <a:prstGeom prst="rect">
            <a:avLst/>
          </a:prstGeom>
          <a:noFill/>
        </p:spPr>
        <p:txBody>
          <a:bodyPr wrap="none" lIns="0" rIns="0">
            <a:noAutofit/>
          </a:bodyPr>
          <a:lstStyle/>
          <a:p>
            <a:pPr algn="l"/>
            <a:r>
              <a:rPr sz="3400" b="1" i="0">
                <a:solidFill>
                  <a:srgbClr val="123A6B"/>
                </a:solidFill>
                <a:latin typeface="Arial"/>
              </a:rPr>
              <a:t>Triage</a:t>
            </a:r>
          </a:p>
        </p:txBody>
      </p:sp>
      <p:sp>
        <p:nvSpPr>
          <p:cNvPr id="6" name="TextBox 5"/>
          <p:cNvSpPr txBox="1"/>
          <p:nvPr/>
        </p:nvSpPr>
        <p:spPr>
          <a:xfrm>
            <a:off x="457200" y="3041903"/>
            <a:ext cx="2613660" cy="2718817"/>
          </a:xfrm>
          <a:prstGeom prst="rect">
            <a:avLst/>
          </a:prstGeom>
          <a:noFill/>
        </p:spPr>
        <p:txBody>
          <a:bodyPr wrap="square" lIns="0" rIns="0">
            <a:noAutofit/>
          </a:bodyPr>
          <a:lstStyle/>
          <a:p>
            <a:pPr algn="l"/>
            <a:r>
              <a:rPr sz="3400" b="0" i="0">
                <a:solidFill>
                  <a:srgbClr val="0A2240"/>
                </a:solidFill>
                <a:latin typeface="Arial"/>
              </a:rPr>
              <a:t>Severity against cost to fix</a:t>
            </a:r>
          </a:p>
        </p:txBody>
      </p:sp>
      <p:sp>
        <p:nvSpPr>
          <p:cNvPr id="7" name="TextBox 6"/>
          <p:cNvSpPr txBox="1"/>
          <p:nvPr/>
        </p:nvSpPr>
        <p:spPr>
          <a:xfrm>
            <a:off x="3345180" y="1499616"/>
            <a:ext cx="2613660"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8" name="Rectangle 7"/>
          <p:cNvSpPr/>
          <p:nvPr/>
        </p:nvSpPr>
        <p:spPr>
          <a:xfrm>
            <a:off x="334518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45180" y="2414016"/>
            <a:ext cx="2613660" cy="518159"/>
          </a:xfrm>
          <a:prstGeom prst="rect">
            <a:avLst/>
          </a:prstGeom>
          <a:noFill/>
        </p:spPr>
        <p:txBody>
          <a:bodyPr wrap="none" lIns="0" rIns="0">
            <a:noAutofit/>
          </a:bodyPr>
          <a:lstStyle/>
          <a:p>
            <a:pPr algn="l"/>
            <a:r>
              <a:rPr sz="3400" b="1" i="0">
                <a:solidFill>
                  <a:srgbClr val="123A6B"/>
                </a:solidFill>
                <a:latin typeface="Arial"/>
              </a:rPr>
              <a:t>Cut</a:t>
            </a:r>
          </a:p>
        </p:txBody>
      </p:sp>
      <p:sp>
        <p:nvSpPr>
          <p:cNvPr id="10" name="TextBox 9"/>
          <p:cNvSpPr txBox="1"/>
          <p:nvPr/>
        </p:nvSpPr>
        <p:spPr>
          <a:xfrm>
            <a:off x="3345180" y="3041903"/>
            <a:ext cx="2613660" cy="2718817"/>
          </a:xfrm>
          <a:prstGeom prst="rect">
            <a:avLst/>
          </a:prstGeom>
          <a:noFill/>
        </p:spPr>
        <p:txBody>
          <a:bodyPr wrap="square" lIns="0" rIns="0">
            <a:noAutofit/>
          </a:bodyPr>
          <a:lstStyle/>
          <a:p>
            <a:pPr algn="l"/>
            <a:r>
              <a:rPr sz="3400" b="0" i="0">
                <a:solidFill>
                  <a:srgbClr val="0A2240"/>
                </a:solidFill>
                <a:latin typeface="Arial"/>
              </a:rPr>
              <a:t>Draw the line, out loud</a:t>
            </a:r>
          </a:p>
        </p:txBody>
      </p:sp>
      <p:sp>
        <p:nvSpPr>
          <p:cNvPr id="11" name="TextBox 10"/>
          <p:cNvSpPr txBox="1"/>
          <p:nvPr/>
        </p:nvSpPr>
        <p:spPr>
          <a:xfrm>
            <a:off x="6233160" y="1499616"/>
            <a:ext cx="2613660"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2" name="Rectangle 11"/>
          <p:cNvSpPr/>
          <p:nvPr/>
        </p:nvSpPr>
        <p:spPr>
          <a:xfrm>
            <a:off x="623316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160" y="2414016"/>
            <a:ext cx="2613660" cy="518159"/>
          </a:xfrm>
          <a:prstGeom prst="rect">
            <a:avLst/>
          </a:prstGeom>
          <a:noFill/>
        </p:spPr>
        <p:txBody>
          <a:bodyPr wrap="none" lIns="0" rIns="0">
            <a:noAutofit/>
          </a:bodyPr>
          <a:lstStyle/>
          <a:p>
            <a:pPr algn="l"/>
            <a:r>
              <a:rPr sz="3400" b="1" i="0">
                <a:solidFill>
                  <a:srgbClr val="123A6B"/>
                </a:solidFill>
                <a:latin typeface="Arial"/>
              </a:rPr>
              <a:t>Fix</a:t>
            </a:r>
          </a:p>
        </p:txBody>
      </p:sp>
      <p:sp>
        <p:nvSpPr>
          <p:cNvPr id="14" name="TextBox 13"/>
          <p:cNvSpPr txBox="1"/>
          <p:nvPr/>
        </p:nvSpPr>
        <p:spPr>
          <a:xfrm>
            <a:off x="6233160" y="3041903"/>
            <a:ext cx="2613660" cy="2718817"/>
          </a:xfrm>
          <a:prstGeom prst="rect">
            <a:avLst/>
          </a:prstGeom>
          <a:noFill/>
        </p:spPr>
        <p:txBody>
          <a:bodyPr wrap="square" lIns="0" rIns="0">
            <a:noAutofit/>
          </a:bodyPr>
          <a:lstStyle/>
          <a:p>
            <a:pPr algn="l"/>
            <a:r>
              <a:rPr sz="3400" b="0" i="0">
                <a:solidFill>
                  <a:srgbClr val="0A2240"/>
                </a:solidFill>
                <a:latin typeface="Arial"/>
              </a:rPr>
              <a:t>Re-run the exact test</a:t>
            </a:r>
          </a:p>
        </p:txBody>
      </p:sp>
      <p:sp>
        <p:nvSpPr>
          <p:cNvPr id="15" name="TextBox 14"/>
          <p:cNvSpPr txBox="1"/>
          <p:nvPr/>
        </p:nvSpPr>
        <p:spPr>
          <a:xfrm>
            <a:off x="9121140" y="1499616"/>
            <a:ext cx="2613660" cy="640080"/>
          </a:xfrm>
          <a:prstGeom prst="rect">
            <a:avLst/>
          </a:prstGeom>
          <a:noFill/>
        </p:spPr>
        <p:txBody>
          <a:bodyPr wrap="none" lIns="0" rIns="0">
            <a:noAutofit/>
          </a:bodyPr>
          <a:lstStyle/>
          <a:p>
            <a:pPr algn="l"/>
            <a:r>
              <a:rPr sz="4200" b="1" i="0">
                <a:solidFill>
                  <a:srgbClr val="123A6B"/>
                </a:solidFill>
                <a:latin typeface="Arial"/>
              </a:rPr>
              <a:t>04</a:t>
            </a:r>
          </a:p>
        </p:txBody>
      </p:sp>
      <p:sp>
        <p:nvSpPr>
          <p:cNvPr id="16" name="Rectangle 15"/>
          <p:cNvSpPr/>
          <p:nvPr/>
        </p:nvSpPr>
        <p:spPr>
          <a:xfrm>
            <a:off x="9121140" y="2194560"/>
            <a:ext cx="784098" cy="54864"/>
          </a:xfrm>
          <a:prstGeom prst="rect">
            <a:avLst/>
          </a:prstGeom>
          <a:solidFill>
            <a:srgbClr val="123A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21140" y="2414016"/>
            <a:ext cx="2613660" cy="518159"/>
          </a:xfrm>
          <a:prstGeom prst="rect">
            <a:avLst/>
          </a:prstGeom>
          <a:noFill/>
        </p:spPr>
        <p:txBody>
          <a:bodyPr wrap="none" lIns="0" rIns="0">
            <a:noAutofit/>
          </a:bodyPr>
          <a:lstStyle/>
          <a:p>
            <a:pPr algn="l"/>
            <a:r>
              <a:rPr sz="3400" b="1" i="0">
                <a:solidFill>
                  <a:srgbClr val="123A6B"/>
                </a:solidFill>
                <a:latin typeface="Arial"/>
              </a:rPr>
              <a:t>Watch</a:t>
            </a:r>
          </a:p>
        </p:txBody>
      </p:sp>
      <p:sp>
        <p:nvSpPr>
          <p:cNvPr id="18" name="TextBox 17"/>
          <p:cNvSpPr txBox="1"/>
          <p:nvPr/>
        </p:nvSpPr>
        <p:spPr>
          <a:xfrm>
            <a:off x="9121140" y="3041903"/>
            <a:ext cx="2613660" cy="2718817"/>
          </a:xfrm>
          <a:prstGeom prst="rect">
            <a:avLst/>
          </a:prstGeom>
          <a:noFill/>
        </p:spPr>
        <p:txBody>
          <a:bodyPr wrap="square" lIns="0" rIns="0">
            <a:noAutofit/>
          </a:bodyPr>
          <a:lstStyle/>
          <a:p>
            <a:pPr algn="l"/>
            <a:r>
              <a:rPr sz="3400" b="0" i="0">
                <a:solidFill>
                  <a:srgbClr val="0A2240"/>
                </a:solidFill>
                <a:latin typeface="Arial"/>
              </a:rPr>
              <a:t>Schedule it to keep testing</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Next 50 Minutes</a:t>
            </a:r>
          </a:p>
        </p:txBody>
      </p:sp>
      <p:sp>
        <p:nvSpPr>
          <p:cNvPr id="3" name="TextBox 2"/>
          <p:cNvSpPr txBox="1"/>
          <p:nvPr/>
        </p:nvSpPr>
        <p:spPr>
          <a:xfrm>
            <a:off x="457200" y="1499616"/>
            <a:ext cx="2613660" cy="381000"/>
          </a:xfrm>
          <a:prstGeom prst="rect">
            <a:avLst/>
          </a:prstGeom>
          <a:noFill/>
        </p:spPr>
        <p:txBody>
          <a:bodyPr wrap="none" lIns="0" rIns="0">
            <a:noAutofit/>
          </a:bodyPr>
          <a:lstStyle/>
          <a:p>
            <a:pPr algn="l"/>
            <a:r>
              <a:rPr sz="2500" b="1" i="0">
                <a:solidFill>
                  <a:srgbClr val="0072CE"/>
                </a:solidFill>
                <a:latin typeface="Arial"/>
              </a:rPr>
              <a:t>11:00</a:t>
            </a:r>
          </a:p>
        </p:txBody>
      </p:sp>
      <p:sp>
        <p:nvSpPr>
          <p:cNvPr id="4" name="TextBox 3"/>
          <p:cNvSpPr txBox="1"/>
          <p:nvPr/>
        </p:nvSpPr>
        <p:spPr>
          <a:xfrm>
            <a:off x="457200" y="2154936"/>
            <a:ext cx="2613660" cy="518159"/>
          </a:xfrm>
          <a:prstGeom prst="rect">
            <a:avLst/>
          </a:prstGeom>
          <a:noFill/>
        </p:spPr>
        <p:txBody>
          <a:bodyPr wrap="none" lIns="0" rIns="0">
            <a:noAutofit/>
          </a:bodyPr>
          <a:lstStyle/>
          <a:p>
            <a:pPr algn="l"/>
            <a:r>
              <a:rPr sz="3400" b="1" i="0">
                <a:solidFill>
                  <a:srgbClr val="0A2240"/>
                </a:solidFill>
                <a:latin typeface="Arial"/>
              </a:rPr>
              <a:t>Triage</a:t>
            </a:r>
          </a:p>
        </p:txBody>
      </p:sp>
      <p:sp>
        <p:nvSpPr>
          <p:cNvPr id="5" name="TextBox 4"/>
          <p:cNvSpPr txBox="1"/>
          <p:nvPr/>
        </p:nvSpPr>
        <p:spPr>
          <a:xfrm>
            <a:off x="457200" y="2947415"/>
            <a:ext cx="2613660" cy="2813305"/>
          </a:xfrm>
          <a:prstGeom prst="rect">
            <a:avLst/>
          </a:prstGeom>
          <a:noFill/>
        </p:spPr>
        <p:txBody>
          <a:bodyPr wrap="square" lIns="0" rIns="0">
            <a:noAutofit/>
          </a:bodyPr>
          <a:lstStyle/>
          <a:p>
            <a:pPr algn="l"/>
            <a:r>
              <a:rPr sz="3400" b="0" i="0">
                <a:solidFill>
                  <a:srgbClr val="0A2240"/>
                </a:solidFill>
                <a:latin typeface="Arial"/>
              </a:rPr>
              <a:t>Every finding placed on two axes</a:t>
            </a:r>
          </a:p>
        </p:txBody>
      </p:sp>
      <p:sp>
        <p:nvSpPr>
          <p:cNvPr id="6" name="TextBox 5"/>
          <p:cNvSpPr txBox="1"/>
          <p:nvPr/>
        </p:nvSpPr>
        <p:spPr>
          <a:xfrm>
            <a:off x="3345180" y="1499616"/>
            <a:ext cx="2613660" cy="381000"/>
          </a:xfrm>
          <a:prstGeom prst="rect">
            <a:avLst/>
          </a:prstGeom>
          <a:noFill/>
        </p:spPr>
        <p:txBody>
          <a:bodyPr wrap="none" lIns="0" rIns="0">
            <a:noAutofit/>
          </a:bodyPr>
          <a:lstStyle/>
          <a:p>
            <a:pPr algn="l"/>
            <a:r>
              <a:rPr sz="2500" b="1" i="0">
                <a:solidFill>
                  <a:srgbClr val="0072CE"/>
                </a:solidFill>
                <a:latin typeface="Arial"/>
              </a:rPr>
              <a:t>11:12</a:t>
            </a:r>
          </a:p>
        </p:txBody>
      </p:sp>
      <p:sp>
        <p:nvSpPr>
          <p:cNvPr id="7" name="TextBox 6"/>
          <p:cNvSpPr txBox="1"/>
          <p:nvPr/>
        </p:nvSpPr>
        <p:spPr>
          <a:xfrm>
            <a:off x="3345180" y="2154936"/>
            <a:ext cx="2793246" cy="518159"/>
          </a:xfrm>
          <a:prstGeom prst="rect">
            <a:avLst/>
          </a:prstGeom>
          <a:noFill/>
        </p:spPr>
        <p:txBody>
          <a:bodyPr wrap="none" lIns="0" rIns="0">
            <a:noAutofit/>
          </a:bodyPr>
          <a:lstStyle/>
          <a:p>
            <a:pPr algn="l"/>
            <a:r>
              <a:rPr sz="3400" b="1" i="0">
                <a:solidFill>
                  <a:srgbClr val="0A2240"/>
                </a:solidFill>
                <a:latin typeface="Arial"/>
              </a:rPr>
              <a:t>The line</a:t>
            </a:r>
          </a:p>
        </p:txBody>
      </p:sp>
      <p:sp>
        <p:nvSpPr>
          <p:cNvPr id="8" name="TextBox 7"/>
          <p:cNvSpPr txBox="1"/>
          <p:nvPr/>
        </p:nvSpPr>
        <p:spPr>
          <a:xfrm>
            <a:off x="3345180" y="2947415"/>
            <a:ext cx="2613660" cy="2813305"/>
          </a:xfrm>
          <a:prstGeom prst="rect">
            <a:avLst/>
          </a:prstGeom>
          <a:noFill/>
        </p:spPr>
        <p:txBody>
          <a:bodyPr wrap="square" lIns="0" rIns="0">
            <a:noAutofit/>
          </a:bodyPr>
          <a:lstStyle/>
          <a:p>
            <a:pPr algn="l"/>
            <a:r>
              <a:rPr sz="3400" b="0" i="0">
                <a:solidFill>
                  <a:srgbClr val="0A2240"/>
                </a:solidFill>
                <a:latin typeface="Arial"/>
              </a:rPr>
              <a:t>Agreed, written, committed to</a:t>
            </a:r>
          </a:p>
        </p:txBody>
      </p:sp>
      <p:sp>
        <p:nvSpPr>
          <p:cNvPr id="9" name="TextBox 8"/>
          <p:cNvSpPr txBox="1"/>
          <p:nvPr/>
        </p:nvSpPr>
        <p:spPr>
          <a:xfrm>
            <a:off x="6233160" y="1499616"/>
            <a:ext cx="2613660" cy="381000"/>
          </a:xfrm>
          <a:prstGeom prst="rect">
            <a:avLst/>
          </a:prstGeom>
          <a:noFill/>
        </p:spPr>
        <p:txBody>
          <a:bodyPr wrap="none" lIns="0" rIns="0">
            <a:noAutofit/>
          </a:bodyPr>
          <a:lstStyle/>
          <a:p>
            <a:pPr algn="l"/>
            <a:r>
              <a:rPr sz="2500" b="1" i="0">
                <a:solidFill>
                  <a:srgbClr val="0072CE"/>
                </a:solidFill>
                <a:latin typeface="Arial"/>
              </a:rPr>
              <a:t>11:18</a:t>
            </a:r>
          </a:p>
        </p:txBody>
      </p:sp>
      <p:sp>
        <p:nvSpPr>
          <p:cNvPr id="10" name="TextBox 9"/>
          <p:cNvSpPr txBox="1"/>
          <p:nvPr/>
        </p:nvSpPr>
        <p:spPr>
          <a:xfrm>
            <a:off x="6233160" y="2154936"/>
            <a:ext cx="2613660" cy="518159"/>
          </a:xfrm>
          <a:prstGeom prst="rect">
            <a:avLst/>
          </a:prstGeom>
          <a:noFill/>
        </p:spPr>
        <p:txBody>
          <a:bodyPr wrap="none" lIns="0" rIns="0">
            <a:noAutofit/>
          </a:bodyPr>
          <a:lstStyle/>
          <a:p>
            <a:pPr algn="l"/>
            <a:r>
              <a:rPr sz="3400" b="1" i="0">
                <a:solidFill>
                  <a:srgbClr val="0A2240"/>
                </a:solidFill>
                <a:latin typeface="Arial"/>
              </a:rPr>
              <a:t>Fix</a:t>
            </a:r>
          </a:p>
        </p:txBody>
      </p:sp>
      <p:sp>
        <p:nvSpPr>
          <p:cNvPr id="11" name="TextBox 10"/>
          <p:cNvSpPr txBox="1"/>
          <p:nvPr/>
        </p:nvSpPr>
        <p:spPr>
          <a:xfrm>
            <a:off x="6233160" y="2947415"/>
            <a:ext cx="2613660" cy="2813305"/>
          </a:xfrm>
          <a:prstGeom prst="rect">
            <a:avLst/>
          </a:prstGeom>
          <a:noFill/>
        </p:spPr>
        <p:txBody>
          <a:bodyPr wrap="square" lIns="0" rIns="0">
            <a:noAutofit/>
          </a:bodyPr>
          <a:lstStyle/>
          <a:p>
            <a:pPr algn="l"/>
            <a:r>
              <a:rPr sz="3400" b="0" i="0">
                <a:solidFill>
                  <a:srgbClr val="0A2240"/>
                </a:solidFill>
                <a:latin typeface="Arial"/>
              </a:rPr>
              <a:t>One at a time, re-run each</a:t>
            </a:r>
          </a:p>
        </p:txBody>
      </p:sp>
      <p:sp>
        <p:nvSpPr>
          <p:cNvPr id="12" name="TextBox 11"/>
          <p:cNvSpPr txBox="1"/>
          <p:nvPr/>
        </p:nvSpPr>
        <p:spPr>
          <a:xfrm>
            <a:off x="9121140" y="1499616"/>
            <a:ext cx="2613660" cy="381000"/>
          </a:xfrm>
          <a:prstGeom prst="rect">
            <a:avLst/>
          </a:prstGeom>
          <a:noFill/>
        </p:spPr>
        <p:txBody>
          <a:bodyPr wrap="none" lIns="0" rIns="0">
            <a:noAutofit/>
          </a:bodyPr>
          <a:lstStyle/>
          <a:p>
            <a:pPr algn="l"/>
            <a:r>
              <a:rPr sz="2500" b="1" i="0">
                <a:solidFill>
                  <a:srgbClr val="0072CE"/>
                </a:solidFill>
                <a:latin typeface="Arial"/>
              </a:rPr>
              <a:t>11:40</a:t>
            </a:r>
          </a:p>
        </p:txBody>
      </p:sp>
      <p:sp>
        <p:nvSpPr>
          <p:cNvPr id="13" name="TextBox 12"/>
          <p:cNvSpPr txBox="1"/>
          <p:nvPr/>
        </p:nvSpPr>
        <p:spPr>
          <a:xfrm>
            <a:off x="9121140" y="2154936"/>
            <a:ext cx="3070860" cy="518159"/>
          </a:xfrm>
          <a:prstGeom prst="rect">
            <a:avLst/>
          </a:prstGeom>
          <a:noFill/>
        </p:spPr>
        <p:txBody>
          <a:bodyPr wrap="none" lIns="0" rIns="0">
            <a:noAutofit/>
          </a:bodyPr>
          <a:lstStyle/>
          <a:p>
            <a:pPr algn="l"/>
            <a:r>
              <a:rPr sz="3400" b="1" i="0">
                <a:solidFill>
                  <a:srgbClr val="0A2240"/>
                </a:solidFill>
                <a:latin typeface="Arial"/>
              </a:rPr>
              <a:t>Schedule</a:t>
            </a:r>
          </a:p>
        </p:txBody>
      </p:sp>
      <p:sp>
        <p:nvSpPr>
          <p:cNvPr id="14" name="TextBox 13"/>
          <p:cNvSpPr txBox="1"/>
          <p:nvPr/>
        </p:nvSpPr>
        <p:spPr>
          <a:xfrm>
            <a:off x="9121140" y="2947415"/>
            <a:ext cx="2613660" cy="2813305"/>
          </a:xfrm>
          <a:prstGeom prst="rect">
            <a:avLst/>
          </a:prstGeom>
          <a:noFill/>
        </p:spPr>
        <p:txBody>
          <a:bodyPr wrap="square" lIns="0" rIns="0">
            <a:noAutofit/>
          </a:bodyPr>
          <a:lstStyle/>
          <a:p>
            <a:pPr algn="l"/>
            <a:r>
              <a:rPr sz="3400" b="0" i="0">
                <a:solidFill>
                  <a:srgbClr val="0A2240"/>
                </a:solidFill>
                <a:latin typeface="Arial"/>
              </a:rPr>
              <a:t>Checks that run without you</a:t>
            </a:r>
          </a:p>
        </p:txBody>
      </p:sp>
      <p:sp>
        <p:nvSpPr>
          <p:cNvPr id="15" name="TextBox 1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"Deciding what to ignore is the work."</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The triage rule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01</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The Cut Line</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Triage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Sorting by what to do, not by what is worst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Before You Sort Anything</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Read the whole log, all of it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Merge findings with one cause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Reproduce anything unclear</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Then start ranking</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Axes, Nothing Else</a:t>
            </a:r>
          </a:p>
        </p:txBody>
      </p:sp>
      <p:sp>
        <p:nvSpPr>
          <p:cNvPr id="3" name="TextBox 2"/>
          <p:cNvSpPr txBox="1"/>
          <p:nvPr/>
        </p:nvSpPr>
        <p:spPr>
          <a:xfrm>
            <a:off x="457200" y="1499616"/>
            <a:ext cx="1925553" cy="518159"/>
          </a:xfrm>
          <a:prstGeom prst="rect">
            <a:avLst/>
          </a:prstGeom>
          <a:noFill/>
        </p:spPr>
        <p:txBody>
          <a:bodyPr wrap="none" lIns="0" rIns="0">
            <a:noAutofit/>
          </a:bodyPr>
          <a:lstStyle/>
          <a:p>
            <a:pPr algn="l"/>
            <a:r>
              <a:rPr sz="3400" b="1" i="0">
                <a:solidFill>
                  <a:srgbClr val="123A6B"/>
                </a:solidFill>
                <a:latin typeface="Arial"/>
              </a:rPr>
              <a:t>Axis</a:t>
            </a:r>
          </a:p>
        </p:txBody>
      </p:sp>
      <p:sp>
        <p:nvSpPr>
          <p:cNvPr id="4" name="TextBox 3"/>
          <p:cNvSpPr txBox="1"/>
          <p:nvPr/>
        </p:nvSpPr>
        <p:spPr>
          <a:xfrm>
            <a:off x="2931393" y="1499616"/>
            <a:ext cx="5621997" cy="518159"/>
          </a:xfrm>
          <a:prstGeom prst="rect">
            <a:avLst/>
          </a:prstGeom>
          <a:noFill/>
        </p:spPr>
        <p:txBody>
          <a:bodyPr wrap="none" lIns="0" rIns="0">
            <a:noAutofit/>
          </a:bodyPr>
          <a:lstStyle/>
          <a:p>
            <a:pPr algn="l"/>
            <a:r>
              <a:rPr sz="3400" b="1" i="0">
                <a:solidFill>
                  <a:srgbClr val="123A6B"/>
                </a:solidFill>
                <a:latin typeface="Arial"/>
              </a:rPr>
              <a:t>The question</a:t>
            </a:r>
          </a:p>
        </p:txBody>
      </p:sp>
      <p:sp>
        <p:nvSpPr>
          <p:cNvPr id="5" name="Rectangle 4"/>
          <p:cNvSpPr/>
          <p:nvPr/>
        </p:nvSpPr>
        <p:spPr>
          <a:xfrm>
            <a:off x="457200" y="2072639"/>
            <a:ext cx="809619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2678548" cy="1542288"/>
          </a:xfrm>
          <a:prstGeom prst="rect">
            <a:avLst/>
          </a:prstGeom>
          <a:noFill/>
        </p:spPr>
        <p:txBody>
          <a:bodyPr wrap="none" lIns="0" rIns="0">
            <a:noAutofit/>
          </a:bodyPr>
          <a:lstStyle/>
          <a:p>
            <a:pPr algn="l"/>
            <a:r>
              <a:rPr sz="3400" b="0" i="0">
                <a:solidFill>
                  <a:srgbClr val="0A2240"/>
                </a:solidFill>
                <a:latin typeface="Arial"/>
              </a:rPr>
              <a:t>Severity</a:t>
            </a:r>
          </a:p>
        </p:txBody>
      </p:sp>
      <p:sp>
        <p:nvSpPr>
          <p:cNvPr id="7" name="TextBox 6"/>
          <p:cNvSpPr txBox="1"/>
          <p:nvPr/>
        </p:nvSpPr>
        <p:spPr>
          <a:xfrm>
            <a:off x="2931393" y="2401823"/>
            <a:ext cx="8094265" cy="1542288"/>
          </a:xfrm>
          <a:prstGeom prst="rect">
            <a:avLst/>
          </a:prstGeom>
          <a:noFill/>
        </p:spPr>
        <p:txBody>
          <a:bodyPr wrap="none" lIns="0" rIns="0">
            <a:noAutofit/>
          </a:bodyPr>
          <a:lstStyle/>
          <a:p>
            <a:pPr algn="l"/>
            <a:r>
              <a:rPr sz="3400" b="0" i="0">
                <a:solidFill>
                  <a:srgbClr val="0A2240"/>
                </a:solidFill>
                <a:latin typeface="Arial"/>
              </a:rPr>
              <a:t>How bad if a judge hits it?</a:t>
            </a:r>
          </a:p>
        </p:txBody>
      </p:sp>
      <p:sp>
        <p:nvSpPr>
          <p:cNvPr id="8" name="TextBox 7"/>
          <p:cNvSpPr txBox="1"/>
          <p:nvPr/>
        </p:nvSpPr>
        <p:spPr>
          <a:xfrm>
            <a:off x="457200" y="4218431"/>
            <a:ext cx="1925553" cy="1542288"/>
          </a:xfrm>
          <a:prstGeom prst="rect">
            <a:avLst/>
          </a:prstGeom>
          <a:noFill/>
        </p:spPr>
        <p:txBody>
          <a:bodyPr wrap="none" lIns="0" rIns="0">
            <a:noAutofit/>
          </a:bodyPr>
          <a:lstStyle/>
          <a:p>
            <a:pPr algn="l"/>
            <a:r>
              <a:rPr sz="3400" b="0" i="0">
                <a:solidFill>
                  <a:srgbClr val="0A2240"/>
                </a:solidFill>
                <a:latin typeface="Arial"/>
              </a:rPr>
              <a:t>Cost</a:t>
            </a:r>
          </a:p>
        </p:txBody>
      </p:sp>
      <p:sp>
        <p:nvSpPr>
          <p:cNvPr id="9" name="TextBox 8"/>
          <p:cNvSpPr txBox="1"/>
          <p:nvPr/>
        </p:nvSpPr>
        <p:spPr>
          <a:xfrm>
            <a:off x="2931393" y="4218431"/>
            <a:ext cx="8592859" cy="1542288"/>
          </a:xfrm>
          <a:prstGeom prst="rect">
            <a:avLst/>
          </a:prstGeom>
          <a:noFill/>
        </p:spPr>
        <p:txBody>
          <a:bodyPr wrap="none" lIns="0" rIns="0">
            <a:noAutofit/>
          </a:bodyPr>
          <a:lstStyle/>
          <a:p>
            <a:pPr algn="l"/>
            <a:r>
              <a:rPr sz="3400" b="0" i="0">
                <a:solidFill>
                  <a:srgbClr val="0A2240"/>
                </a:solidFill>
                <a:latin typeface="Arial"/>
              </a:rPr>
              <a:t>How long to fix it, honestly?</a:t>
            </a:r>
          </a:p>
        </p:txBody>
      </p:sp>
      <p:sp>
        <p:nvSpPr>
          <p:cNvPr id="10" name="TextBox 9"/>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Where Each Finding Lands</a:t>
            </a:r>
          </a:p>
        </p:txBody>
      </p:sp>
      <p:sp>
        <p:nvSpPr>
          <p:cNvPr id="3" name="TextBox 2"/>
          <p:cNvSpPr txBox="1"/>
          <p:nvPr/>
        </p:nvSpPr>
        <p:spPr>
          <a:xfrm>
            <a:off x="3889248" y="1499616"/>
            <a:ext cx="3785616" cy="518159"/>
          </a:xfrm>
          <a:prstGeom prst="rect">
            <a:avLst/>
          </a:prstGeom>
          <a:noFill/>
        </p:spPr>
        <p:txBody>
          <a:bodyPr wrap="none" lIns="0" rIns="0">
            <a:noAutofit/>
          </a:bodyPr>
          <a:lstStyle/>
          <a:p>
            <a:pPr algn="ctr"/>
            <a:r>
              <a:rPr sz="3400" b="1" i="0">
                <a:solidFill>
                  <a:srgbClr val="0A2240"/>
                </a:solidFill>
                <a:latin typeface="Arial"/>
              </a:rPr>
              <a:t>Cheap fix</a:t>
            </a:r>
          </a:p>
        </p:txBody>
      </p:sp>
      <p:sp>
        <p:nvSpPr>
          <p:cNvPr id="4" name="TextBox 3"/>
          <p:cNvSpPr txBox="1"/>
          <p:nvPr/>
        </p:nvSpPr>
        <p:spPr>
          <a:xfrm>
            <a:off x="7949184" y="1499616"/>
            <a:ext cx="3785616" cy="518159"/>
          </a:xfrm>
          <a:prstGeom prst="rect">
            <a:avLst/>
          </a:prstGeom>
          <a:noFill/>
        </p:spPr>
        <p:txBody>
          <a:bodyPr wrap="none" lIns="0" rIns="0">
            <a:noAutofit/>
          </a:bodyPr>
          <a:lstStyle/>
          <a:p>
            <a:pPr algn="ctr"/>
            <a:r>
              <a:rPr sz="3400" b="1" i="0">
                <a:solidFill>
                  <a:srgbClr val="0A2240"/>
                </a:solidFill>
                <a:latin typeface="Arial"/>
              </a:rPr>
              <a:t>Costly fix</a:t>
            </a:r>
          </a:p>
        </p:txBody>
      </p:sp>
      <p:sp>
        <p:nvSpPr>
          <p:cNvPr id="5" name="Rectangle 4"/>
          <p:cNvSpPr/>
          <p:nvPr/>
        </p:nvSpPr>
        <p:spPr>
          <a:xfrm>
            <a:off x="457200" y="2072639"/>
            <a:ext cx="11277600"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3157728" cy="936752"/>
          </a:xfrm>
          <a:prstGeom prst="rect">
            <a:avLst/>
          </a:prstGeom>
          <a:noFill/>
        </p:spPr>
        <p:txBody>
          <a:bodyPr wrap="none" lIns="0" rIns="0">
            <a:noAutofit/>
          </a:bodyPr>
          <a:lstStyle/>
          <a:p>
            <a:pPr algn="l"/>
            <a:r>
              <a:rPr sz="3400" b="1" i="0">
                <a:solidFill>
                  <a:srgbClr val="0A2240"/>
                </a:solidFill>
                <a:latin typeface="Arial"/>
              </a:rPr>
              <a:t>Critical</a:t>
            </a:r>
          </a:p>
        </p:txBody>
      </p:sp>
      <p:sp>
        <p:nvSpPr>
          <p:cNvPr id="7" name="TextBox 6"/>
          <p:cNvSpPr txBox="1"/>
          <p:nvPr/>
        </p:nvSpPr>
        <p:spPr>
          <a:xfrm>
            <a:off x="3889248" y="2401823"/>
            <a:ext cx="3785616" cy="936752"/>
          </a:xfrm>
          <a:prstGeom prst="rect">
            <a:avLst/>
          </a:prstGeom>
          <a:noFill/>
        </p:spPr>
        <p:txBody>
          <a:bodyPr wrap="none" lIns="0" rIns="0">
            <a:noAutofit/>
          </a:bodyPr>
          <a:lstStyle/>
          <a:p>
            <a:pPr algn="ctr"/>
            <a:r>
              <a:rPr sz="3400" b="0" i="0">
                <a:solidFill>
                  <a:srgbClr val="0A2240"/>
                </a:solidFill>
                <a:latin typeface="Arial"/>
              </a:rPr>
              <a:t>Fix now</a:t>
            </a:r>
          </a:p>
        </p:txBody>
      </p:sp>
      <p:sp>
        <p:nvSpPr>
          <p:cNvPr id="8" name="Rectangle 7"/>
          <p:cNvSpPr/>
          <p:nvPr/>
        </p:nvSpPr>
        <p:spPr>
          <a:xfrm>
            <a:off x="8873784" y="2401823"/>
            <a:ext cx="1936416"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64767" y="2401823"/>
            <a:ext cx="2754450" cy="518159"/>
          </a:xfrm>
          <a:prstGeom prst="rect">
            <a:avLst/>
          </a:prstGeom>
          <a:noFill/>
        </p:spPr>
        <p:txBody>
          <a:bodyPr wrap="none" lIns="0" rIns="0">
            <a:noAutofit/>
          </a:bodyPr>
          <a:lstStyle/>
          <a:p>
            <a:pPr algn="ctr"/>
            <a:r>
              <a:rPr sz="3400" b="1" i="0">
                <a:solidFill>
                  <a:srgbClr val="FFFFFF"/>
                </a:solidFill>
                <a:latin typeface="Arial"/>
              </a:rPr>
              <a:t>Fix now</a:t>
            </a:r>
          </a:p>
        </p:txBody>
      </p:sp>
      <p:sp>
        <p:nvSpPr>
          <p:cNvPr id="10" name="TextBox 9"/>
          <p:cNvSpPr txBox="1"/>
          <p:nvPr/>
        </p:nvSpPr>
        <p:spPr>
          <a:xfrm>
            <a:off x="457200" y="3612895"/>
            <a:ext cx="3157728" cy="936752"/>
          </a:xfrm>
          <a:prstGeom prst="rect">
            <a:avLst/>
          </a:prstGeom>
          <a:noFill/>
        </p:spPr>
        <p:txBody>
          <a:bodyPr wrap="none" lIns="0" rIns="0">
            <a:noAutofit/>
          </a:bodyPr>
          <a:lstStyle/>
          <a:p>
            <a:pPr algn="l"/>
            <a:r>
              <a:rPr sz="3400" b="1" i="0">
                <a:solidFill>
                  <a:srgbClr val="0A2240"/>
                </a:solidFill>
                <a:latin typeface="Arial"/>
              </a:rPr>
              <a:t>High</a:t>
            </a:r>
          </a:p>
        </p:txBody>
      </p:sp>
      <p:sp>
        <p:nvSpPr>
          <p:cNvPr id="11" name="TextBox 10"/>
          <p:cNvSpPr txBox="1"/>
          <p:nvPr/>
        </p:nvSpPr>
        <p:spPr>
          <a:xfrm>
            <a:off x="3889248" y="3612895"/>
            <a:ext cx="3785616" cy="936752"/>
          </a:xfrm>
          <a:prstGeom prst="rect">
            <a:avLst/>
          </a:prstGeom>
          <a:noFill/>
        </p:spPr>
        <p:txBody>
          <a:bodyPr wrap="none" lIns="0" rIns="0">
            <a:noAutofit/>
          </a:bodyPr>
          <a:lstStyle/>
          <a:p>
            <a:pPr algn="ctr"/>
            <a:r>
              <a:rPr sz="3400" b="0" i="0">
                <a:solidFill>
                  <a:srgbClr val="0A2240"/>
                </a:solidFill>
                <a:latin typeface="Arial"/>
              </a:rPr>
              <a:t>Fix now</a:t>
            </a:r>
          </a:p>
        </p:txBody>
      </p:sp>
      <p:sp>
        <p:nvSpPr>
          <p:cNvPr id="12" name="Rectangle 11"/>
          <p:cNvSpPr/>
          <p:nvPr/>
        </p:nvSpPr>
        <p:spPr>
          <a:xfrm>
            <a:off x="8969400" y="3612895"/>
            <a:ext cx="1745184" cy="518159"/>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17752" y="3612895"/>
            <a:ext cx="2448480" cy="518159"/>
          </a:xfrm>
          <a:prstGeom prst="rect">
            <a:avLst/>
          </a:prstGeom>
          <a:noFill/>
        </p:spPr>
        <p:txBody>
          <a:bodyPr wrap="none" lIns="0" rIns="0">
            <a:noAutofit/>
          </a:bodyPr>
          <a:lstStyle/>
          <a:p>
            <a:pPr algn="ctr"/>
            <a:r>
              <a:rPr sz="3400" b="1" i="0">
                <a:solidFill>
                  <a:srgbClr val="FFFFFF"/>
                </a:solidFill>
                <a:latin typeface="Arial"/>
              </a:rPr>
              <a:t>Decide</a:t>
            </a:r>
          </a:p>
        </p:txBody>
      </p:sp>
      <p:sp>
        <p:nvSpPr>
          <p:cNvPr id="14" name="TextBox 13"/>
          <p:cNvSpPr txBox="1"/>
          <p:nvPr/>
        </p:nvSpPr>
        <p:spPr>
          <a:xfrm>
            <a:off x="457200" y="4823967"/>
            <a:ext cx="3157728" cy="936752"/>
          </a:xfrm>
          <a:prstGeom prst="rect">
            <a:avLst/>
          </a:prstGeom>
          <a:noFill/>
        </p:spPr>
        <p:txBody>
          <a:bodyPr wrap="none" lIns="0" rIns="0">
            <a:noAutofit/>
          </a:bodyPr>
          <a:lstStyle/>
          <a:p>
            <a:pPr algn="l"/>
            <a:r>
              <a:rPr sz="3400" b="1" i="0">
                <a:solidFill>
                  <a:srgbClr val="0A2240"/>
                </a:solidFill>
                <a:latin typeface="Arial"/>
              </a:rPr>
              <a:t>Low</a:t>
            </a:r>
          </a:p>
        </p:txBody>
      </p:sp>
      <p:sp>
        <p:nvSpPr>
          <p:cNvPr id="15" name="TextBox 14"/>
          <p:cNvSpPr txBox="1"/>
          <p:nvPr/>
        </p:nvSpPr>
        <p:spPr>
          <a:xfrm>
            <a:off x="3889248" y="4823967"/>
            <a:ext cx="3785616" cy="936752"/>
          </a:xfrm>
          <a:prstGeom prst="rect">
            <a:avLst/>
          </a:prstGeom>
          <a:noFill/>
        </p:spPr>
        <p:txBody>
          <a:bodyPr wrap="none" lIns="0" rIns="0">
            <a:noAutofit/>
          </a:bodyPr>
          <a:lstStyle/>
          <a:p>
            <a:pPr algn="ctr"/>
            <a:r>
              <a:rPr sz="3400" b="0" i="0">
                <a:solidFill>
                  <a:srgbClr val="0A2240"/>
                </a:solidFill>
                <a:latin typeface="Arial"/>
              </a:rPr>
              <a:t>Maybe</a:t>
            </a:r>
          </a:p>
        </p:txBody>
      </p:sp>
      <p:sp>
        <p:nvSpPr>
          <p:cNvPr id="16" name="TextBox 15"/>
          <p:cNvSpPr txBox="1"/>
          <p:nvPr/>
        </p:nvSpPr>
        <p:spPr>
          <a:xfrm>
            <a:off x="7949184" y="4823967"/>
            <a:ext cx="3785616" cy="936752"/>
          </a:xfrm>
          <a:prstGeom prst="rect">
            <a:avLst/>
          </a:prstGeom>
          <a:noFill/>
        </p:spPr>
        <p:txBody>
          <a:bodyPr wrap="none" lIns="0" rIns="0">
            <a:noAutofit/>
          </a:bodyPr>
          <a:lstStyle/>
          <a:p>
            <a:pPr algn="ctr"/>
            <a:r>
              <a:rPr sz="3400" b="0" i="0">
                <a:solidFill>
                  <a:srgbClr val="0A2240"/>
                </a:solidFill>
                <a:latin typeface="Arial"/>
              </a:rPr>
              <a:t>Never</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Cut line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The point below which you fix nothing today</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Drawing It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Rank by the grid</a:t>
            </a:r>
          </a:p>
        </p:txBody>
      </p:sp>
      <p:sp>
        <p:nvSpPr>
          <p:cNvPr id="5" name="TextBox 4"/>
          <p:cNvSpPr txBox="1"/>
          <p:nvPr/>
        </p:nvSpPr>
        <p:spPr>
          <a:xfrm>
            <a:off x="1461983" y="2185416"/>
            <a:ext cx="10272817" cy="551688"/>
          </a:xfrm>
          <a:prstGeom prst="rect">
            <a:avLst/>
          </a:prstGeom>
          <a:noFill/>
        </p:spPr>
        <p:txBody>
          <a:bodyPr wrap="none" lIns="0" rIns="0">
            <a:noAutofit/>
          </a:bodyPr>
          <a:lstStyle/>
          <a:p>
            <a:pPr algn="l"/>
            <a:r>
              <a:rPr sz="3400" b="0" i="0">
                <a:solidFill>
                  <a:srgbClr val="0A2240"/>
                </a:solidFill>
                <a:latin typeface="Arial"/>
              </a:rPr>
              <a:t>Fix now, decide, maybe, never</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Add up the hours</a:t>
            </a:r>
          </a:p>
        </p:txBody>
      </p:sp>
      <p:sp>
        <p:nvSpPr>
          <p:cNvPr id="8" name="TextBox 7"/>
          <p:cNvSpPr txBox="1"/>
          <p:nvPr/>
        </p:nvSpPr>
        <p:spPr>
          <a:xfrm>
            <a:off x="1461983" y="3697224"/>
            <a:ext cx="10667187" cy="551688"/>
          </a:xfrm>
          <a:prstGeom prst="rect">
            <a:avLst/>
          </a:prstGeom>
          <a:noFill/>
        </p:spPr>
        <p:txBody>
          <a:bodyPr wrap="none" lIns="0" rIns="0">
            <a:noAutofit/>
          </a:bodyPr>
          <a:lstStyle/>
          <a:p>
            <a:pPr algn="l"/>
            <a:r>
              <a:rPr sz="3400" b="0" i="0">
                <a:solidFill>
                  <a:srgbClr val="0A2240"/>
                </a:solidFill>
                <a:latin typeface="Arial"/>
              </a:rPr>
              <a:t>Against the time you actually have</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730017" cy="640080"/>
          </a:xfrm>
          <a:prstGeom prst="rect">
            <a:avLst/>
          </a:prstGeom>
          <a:noFill/>
        </p:spPr>
        <p:txBody>
          <a:bodyPr wrap="none" lIns="0" rIns="0">
            <a:noAutofit/>
          </a:bodyPr>
          <a:lstStyle/>
          <a:p>
            <a:pPr algn="l"/>
            <a:r>
              <a:rPr sz="4200" b="1" i="0">
                <a:solidFill>
                  <a:srgbClr val="123A6B"/>
                </a:solidFill>
                <a:latin typeface="Arial"/>
              </a:rPr>
              <a:t>Draw where the time runs out</a:t>
            </a:r>
          </a:p>
        </p:txBody>
      </p:sp>
      <p:sp>
        <p:nvSpPr>
          <p:cNvPr id="11" name="TextBox 10"/>
          <p:cNvSpPr txBox="1"/>
          <p:nvPr/>
        </p:nvSpPr>
        <p:spPr>
          <a:xfrm>
            <a:off x="1461983" y="5209032"/>
            <a:ext cx="10272817" cy="551688"/>
          </a:xfrm>
          <a:prstGeom prst="rect">
            <a:avLst/>
          </a:prstGeom>
          <a:noFill/>
        </p:spPr>
        <p:txBody>
          <a:bodyPr wrap="none" lIns="0" rIns="0">
            <a:noAutofit/>
          </a:bodyPr>
          <a:lstStyle/>
          <a:p>
            <a:pPr algn="l"/>
            <a:r>
              <a:rPr sz="3400" b="0" i="0">
                <a:solidFill>
                  <a:srgbClr val="0A2240"/>
                </a:solidFill>
                <a:latin typeface="Arial"/>
              </a:rPr>
              <a:t>Then stop, and say the number</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Always Above the Line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Confidently wrong output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Anything that hangs forever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crash on a normal input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that leaks a secret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Usually Below the Line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It looks rough</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It is slow but finishes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It fails on an absurd input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Something already in caveats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Estimating Cost Fast</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Under 10 minutes: just do it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Under an hour: needs the line</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Over an hour: today, no</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Unknown: treat it as over</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Two Ways to Spend the Hour</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Without a line</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With a line</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942350" cy="609600"/>
          </a:xfrm>
          <a:prstGeom prst="rect">
            <a:avLst/>
          </a:prstGeom>
          <a:noFill/>
        </p:spPr>
        <p:txBody>
          <a:bodyPr wrap="none" lIns="0" rIns="0">
            <a:noAutofit/>
          </a:bodyPr>
          <a:lstStyle/>
          <a:p>
            <a:pPr algn="l"/>
            <a:r>
              <a:rPr sz="3400" b="0" i="0">
                <a:solidFill>
                  <a:srgbClr val="0A2240"/>
                </a:solidFill>
                <a:latin typeface="Arial"/>
              </a:rPr>
              <a:t>Fix what is nearest</a:t>
            </a:r>
          </a:p>
        </p:txBody>
      </p:sp>
      <p:sp>
        <p:nvSpPr>
          <p:cNvPr id="8" name="TextBox 7"/>
          <p:cNvSpPr txBox="1"/>
          <p:nvPr/>
        </p:nvSpPr>
        <p:spPr>
          <a:xfrm>
            <a:off x="457200" y="3608831"/>
            <a:ext cx="7901305" cy="609600"/>
          </a:xfrm>
          <a:prstGeom prst="rect">
            <a:avLst/>
          </a:prstGeom>
          <a:noFill/>
        </p:spPr>
        <p:txBody>
          <a:bodyPr wrap="none" lIns="0" rIns="0">
            <a:noAutofit/>
          </a:bodyPr>
          <a:lstStyle/>
          <a:p>
            <a:pPr algn="l"/>
            <a:r>
              <a:rPr sz="3400" b="0" i="0">
                <a:solidFill>
                  <a:srgbClr val="0A2240"/>
                </a:solidFill>
                <a:latin typeface="Arial"/>
              </a:rPr>
              <a:t>Run out of time surprised</a:t>
            </a:r>
          </a:p>
        </p:txBody>
      </p:sp>
      <p:sp>
        <p:nvSpPr>
          <p:cNvPr id="9" name="TextBox 8"/>
          <p:cNvSpPr txBox="1"/>
          <p:nvPr/>
        </p:nvSpPr>
        <p:spPr>
          <a:xfrm>
            <a:off x="457200" y="4821935"/>
            <a:ext cx="7593310" cy="609600"/>
          </a:xfrm>
          <a:prstGeom prst="rect">
            <a:avLst/>
          </a:prstGeom>
          <a:noFill/>
        </p:spPr>
        <p:txBody>
          <a:bodyPr wrap="none" lIns="0" rIns="0">
            <a:noAutofit/>
          </a:bodyPr>
          <a:lstStyle/>
          <a:p>
            <a:pPr algn="l"/>
            <a:r>
              <a:rPr sz="3400" b="0" i="0">
                <a:solidFill>
                  <a:srgbClr val="0A2240"/>
                </a:solidFill>
                <a:latin typeface="Arial"/>
              </a:rPr>
              <a:t>The critical one survives</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Fix what matters most</a:t>
            </a:r>
          </a:p>
        </p:txBody>
      </p:sp>
      <p:sp>
        <p:nvSpPr>
          <p:cNvPr id="11" name="TextBox 10"/>
          <p:cNvSpPr txBox="1"/>
          <p:nvPr/>
        </p:nvSpPr>
        <p:spPr>
          <a:xfrm>
            <a:off x="6233160" y="3608831"/>
            <a:ext cx="5958840" cy="609600"/>
          </a:xfrm>
          <a:prstGeom prst="rect">
            <a:avLst/>
          </a:prstGeom>
          <a:noFill/>
        </p:spPr>
        <p:txBody>
          <a:bodyPr wrap="none" lIns="0" rIns="0">
            <a:noAutofit/>
          </a:bodyPr>
          <a:lstStyle/>
          <a:p>
            <a:pPr algn="l"/>
            <a:r>
              <a:rPr sz="3400" b="0" i="0">
                <a:solidFill>
                  <a:srgbClr val="0A2240"/>
                </a:solidFill>
                <a:latin typeface="Arial"/>
              </a:rPr>
              <a:t>Run out of time on purpose</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Know exactly what is left</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Traps in Triage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Fixing the interesting one first</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Softening severity to feel better</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Arguing whether it counts</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Re-litigating their findings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Three Rules for the Line</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Drawn against real time</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Sum the estimates; do not aspire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Agreed out loud</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Everyone hears where it landed</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Held once drawn</a:t>
            </a:r>
          </a:p>
        </p:txBody>
      </p:sp>
      <p:sp>
        <p:nvSpPr>
          <p:cNvPr id="8" name="TextBox 7"/>
          <p:cNvSpPr txBox="1"/>
          <p:nvPr/>
        </p:nvSpPr>
        <p:spPr>
          <a:xfrm>
            <a:off x="457200" y="5132831"/>
            <a:ext cx="11318596" cy="627889"/>
          </a:xfrm>
          <a:prstGeom prst="rect">
            <a:avLst/>
          </a:prstGeom>
          <a:noFill/>
        </p:spPr>
        <p:txBody>
          <a:bodyPr wrap="none" lIns="0" rIns="0">
            <a:noAutofit/>
          </a:bodyPr>
          <a:lstStyle/>
          <a:p>
            <a:pPr algn="l"/>
            <a:r>
              <a:rPr sz="3400" b="0" i="0">
                <a:solidFill>
                  <a:srgbClr val="0A2240"/>
                </a:solidFill>
                <a:latin typeface="Arial"/>
              </a:rPr>
              <a:t>Moving it later is how the hour is lost</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The line, written into the repo</a:t>
            </a:r>
          </a:p>
        </p:txBody>
      </p:sp>
      <p:sp>
        <p:nvSpPr>
          <p:cNvPr id="6" name="TextBox 5"/>
          <p:cNvSpPr txBox="1"/>
          <p:nvPr/>
        </p:nvSpPr>
        <p:spPr>
          <a:xfrm>
            <a:off x="457200" y="1837944"/>
            <a:ext cx="4470182" cy="518159"/>
          </a:xfrm>
          <a:prstGeom prst="rect">
            <a:avLst/>
          </a:prstGeom>
          <a:noFill/>
        </p:spPr>
        <p:txBody>
          <a:bodyPr wrap="none" lIns="0" rIns="0">
            <a:noAutofit/>
          </a:bodyPr>
          <a:lstStyle/>
          <a:p>
            <a:pPr algn="l"/>
            <a:r>
              <a:rPr sz="3400" b="0" i="0">
                <a:solidFill>
                  <a:srgbClr val="6A9955"/>
                </a:solidFill>
                <a:latin typeface="Arial"/>
              </a:rPr>
              <a:t># TRIAGE.md</a:t>
            </a:r>
          </a:p>
        </p:txBody>
      </p:sp>
      <p:sp>
        <p:nvSpPr>
          <p:cNvPr id="7" name="TextBox 6"/>
          <p:cNvSpPr txBox="1"/>
          <p:nvPr/>
        </p:nvSpPr>
        <p:spPr>
          <a:xfrm>
            <a:off x="457200" y="2356103"/>
            <a:ext cx="6479739" cy="518159"/>
          </a:xfrm>
          <a:prstGeom prst="rect">
            <a:avLst/>
          </a:prstGeom>
          <a:noFill/>
        </p:spPr>
        <p:txBody>
          <a:bodyPr wrap="none" lIns="0" rIns="0">
            <a:noAutofit/>
          </a:bodyPr>
          <a:lstStyle/>
          <a:p>
            <a:pPr algn="l"/>
            <a:r>
              <a:rPr sz="3400" b="0" i="0">
                <a:solidFill>
                  <a:srgbClr val="D4D4D4"/>
                </a:solidFill>
                <a:latin typeface="Arial"/>
              </a:rPr>
              <a:t>ABOVE (fixing now):</a:t>
            </a:r>
          </a:p>
        </p:txBody>
      </p:sp>
      <p:sp>
        <p:nvSpPr>
          <p:cNvPr id="8" name="TextBox 7"/>
          <p:cNvSpPr txBox="1"/>
          <p:nvPr/>
        </p:nvSpPr>
        <p:spPr>
          <a:xfrm>
            <a:off x="457200" y="2874262"/>
            <a:ext cx="1218862" cy="518159"/>
          </a:xfrm>
          <a:prstGeom prst="rect">
            <a:avLst/>
          </a:prstGeom>
          <a:noFill/>
        </p:spPr>
        <p:txBody>
          <a:bodyPr wrap="none" lIns="0" rIns="0">
            <a:noAutofit/>
          </a:bodyPr>
          <a:lstStyle/>
          <a:p>
            <a:pPr algn="l"/>
            <a:r>
              <a:rPr sz="3400" b="0" i="0">
                <a:solidFill>
                  <a:srgbClr val="D4D4D4"/>
                </a:solidFill>
                <a:latin typeface="Arial"/>
              </a:rPr>
              <a:t>  F-</a:t>
            </a:r>
          </a:p>
        </p:txBody>
      </p:sp>
      <p:sp>
        <p:nvSpPr>
          <p:cNvPr id="9" name="TextBox 8"/>
          <p:cNvSpPr txBox="1"/>
          <p:nvPr/>
        </p:nvSpPr>
        <p:spPr>
          <a:xfrm>
            <a:off x="1104689" y="2874262"/>
            <a:ext cx="951348" cy="518159"/>
          </a:xfrm>
          <a:prstGeom prst="rect">
            <a:avLst/>
          </a:prstGeom>
          <a:noFill/>
        </p:spPr>
        <p:txBody>
          <a:bodyPr wrap="none" lIns="0" rIns="0">
            <a:noAutofit/>
          </a:bodyPr>
          <a:lstStyle/>
          <a:p>
            <a:pPr algn="l"/>
            <a:r>
              <a:rPr sz="3400" b="0" i="0">
                <a:solidFill>
                  <a:srgbClr val="B5CEA8"/>
                </a:solidFill>
                <a:latin typeface="Arial"/>
              </a:rPr>
              <a:t>03</a:t>
            </a:r>
          </a:p>
        </p:txBody>
      </p:sp>
      <p:sp>
        <p:nvSpPr>
          <p:cNvPr id="10" name="TextBox 9"/>
          <p:cNvSpPr txBox="1"/>
          <p:nvPr/>
        </p:nvSpPr>
        <p:spPr>
          <a:xfrm>
            <a:off x="1584982" y="2874262"/>
            <a:ext cx="4790321" cy="518159"/>
          </a:xfrm>
          <a:prstGeom prst="rect">
            <a:avLst/>
          </a:prstGeom>
          <a:noFill/>
        </p:spPr>
        <p:txBody>
          <a:bodyPr wrap="none" lIns="0" rIns="0">
            <a:noAutofit/>
          </a:bodyPr>
          <a:lstStyle/>
          <a:p>
            <a:pPr algn="l"/>
            <a:r>
              <a:rPr sz="3400" b="0" i="0">
                <a:solidFill>
                  <a:srgbClr val="D4D4D4"/>
                </a:solidFill>
                <a:latin typeface="Arial"/>
              </a:rPr>
              <a:t> wrong year, F-</a:t>
            </a:r>
          </a:p>
        </p:txBody>
      </p:sp>
      <p:sp>
        <p:nvSpPr>
          <p:cNvPr id="11" name="TextBox 10"/>
          <p:cNvSpPr txBox="1"/>
          <p:nvPr/>
        </p:nvSpPr>
        <p:spPr>
          <a:xfrm>
            <a:off x="4464633" y="2874262"/>
            <a:ext cx="951348" cy="518159"/>
          </a:xfrm>
          <a:prstGeom prst="rect">
            <a:avLst/>
          </a:prstGeom>
          <a:noFill/>
        </p:spPr>
        <p:txBody>
          <a:bodyPr wrap="none" lIns="0" rIns="0">
            <a:noAutofit/>
          </a:bodyPr>
          <a:lstStyle/>
          <a:p>
            <a:pPr algn="l"/>
            <a:r>
              <a:rPr sz="3400" b="0" i="0">
                <a:solidFill>
                  <a:srgbClr val="B5CEA8"/>
                </a:solidFill>
                <a:latin typeface="Arial"/>
              </a:rPr>
              <a:t>07</a:t>
            </a:r>
          </a:p>
        </p:txBody>
      </p:sp>
      <p:sp>
        <p:nvSpPr>
          <p:cNvPr id="12" name="TextBox 11"/>
          <p:cNvSpPr txBox="1"/>
          <p:nvPr/>
        </p:nvSpPr>
        <p:spPr>
          <a:xfrm>
            <a:off x="4944926" y="2874262"/>
            <a:ext cx="4330521" cy="518159"/>
          </a:xfrm>
          <a:prstGeom prst="rect">
            <a:avLst/>
          </a:prstGeom>
          <a:noFill/>
        </p:spPr>
        <p:txBody>
          <a:bodyPr wrap="none" lIns="0" rIns="0">
            <a:noAutofit/>
          </a:bodyPr>
          <a:lstStyle/>
          <a:p>
            <a:pPr algn="l"/>
            <a:r>
              <a:rPr sz="3400" b="0" i="0">
                <a:solidFill>
                  <a:srgbClr val="D4D4D4"/>
                </a:solidFill>
                <a:latin typeface="Arial"/>
              </a:rPr>
              <a:t> empty hangs</a:t>
            </a:r>
          </a:p>
        </p:txBody>
      </p:sp>
      <p:sp>
        <p:nvSpPr>
          <p:cNvPr id="13" name="TextBox 12"/>
          <p:cNvSpPr txBox="1"/>
          <p:nvPr/>
        </p:nvSpPr>
        <p:spPr>
          <a:xfrm>
            <a:off x="457200" y="3392421"/>
            <a:ext cx="3100228" cy="518159"/>
          </a:xfrm>
          <a:prstGeom prst="rect">
            <a:avLst/>
          </a:prstGeom>
          <a:noFill/>
        </p:spPr>
        <p:txBody>
          <a:bodyPr wrap="none" lIns="0" rIns="0">
            <a:noAutofit/>
          </a:bodyPr>
          <a:lstStyle/>
          <a:p>
            <a:pPr algn="l"/>
            <a:r>
              <a:rPr sz="3400" b="0" i="0">
                <a:solidFill>
                  <a:srgbClr val="D4D4D4"/>
                </a:solidFill>
                <a:latin typeface="Arial"/>
              </a:rPr>
              <a:t>BELOW (</a:t>
            </a:r>
          </a:p>
        </p:txBody>
      </p:sp>
      <p:sp>
        <p:nvSpPr>
          <p:cNvPr id="14" name="TextBox 13"/>
          <p:cNvSpPr txBox="1"/>
          <p:nvPr/>
        </p:nvSpPr>
        <p:spPr>
          <a:xfrm>
            <a:off x="2280543" y="3392421"/>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5" name="TextBox 14"/>
          <p:cNvSpPr txBox="1"/>
          <p:nvPr/>
        </p:nvSpPr>
        <p:spPr>
          <a:xfrm>
            <a:off x="2880804" y="3392421"/>
            <a:ext cx="6276657" cy="518159"/>
          </a:xfrm>
          <a:prstGeom prst="rect">
            <a:avLst/>
          </a:prstGeom>
          <a:noFill/>
        </p:spPr>
        <p:txBody>
          <a:bodyPr wrap="none" lIns="0" rIns="0">
            <a:noAutofit/>
          </a:bodyPr>
          <a:lstStyle/>
          <a:p>
            <a:pPr algn="l"/>
            <a:r>
              <a:rPr sz="3400" b="0" i="0">
                <a:solidFill>
                  <a:srgbClr val="D4D4D4"/>
                </a:solidFill>
                <a:latin typeface="Arial"/>
              </a:rPr>
              <a:t> today, on purpose):</a:t>
            </a:r>
          </a:p>
        </p:txBody>
      </p:sp>
      <p:sp>
        <p:nvSpPr>
          <p:cNvPr id="16" name="TextBox 15"/>
          <p:cNvSpPr txBox="1"/>
          <p:nvPr/>
        </p:nvSpPr>
        <p:spPr>
          <a:xfrm>
            <a:off x="457200" y="3910580"/>
            <a:ext cx="1218862" cy="518159"/>
          </a:xfrm>
          <a:prstGeom prst="rect">
            <a:avLst/>
          </a:prstGeom>
          <a:noFill/>
        </p:spPr>
        <p:txBody>
          <a:bodyPr wrap="none" lIns="0" rIns="0">
            <a:noAutofit/>
          </a:bodyPr>
          <a:lstStyle/>
          <a:p>
            <a:pPr algn="l"/>
            <a:r>
              <a:rPr sz="3400" b="0" i="0">
                <a:solidFill>
                  <a:srgbClr val="D4D4D4"/>
                </a:solidFill>
                <a:latin typeface="Arial"/>
              </a:rPr>
              <a:t>  F-</a:t>
            </a:r>
          </a:p>
        </p:txBody>
      </p:sp>
      <p:sp>
        <p:nvSpPr>
          <p:cNvPr id="17" name="TextBox 16"/>
          <p:cNvSpPr txBox="1"/>
          <p:nvPr/>
        </p:nvSpPr>
        <p:spPr>
          <a:xfrm>
            <a:off x="1104689" y="3910580"/>
            <a:ext cx="951348" cy="518159"/>
          </a:xfrm>
          <a:prstGeom prst="rect">
            <a:avLst/>
          </a:prstGeom>
          <a:noFill/>
        </p:spPr>
        <p:txBody>
          <a:bodyPr wrap="none" lIns="0" rIns="0">
            <a:noAutofit/>
          </a:bodyPr>
          <a:lstStyle/>
          <a:p>
            <a:pPr algn="l"/>
            <a:r>
              <a:rPr sz="3400" b="0" i="0">
                <a:solidFill>
                  <a:srgbClr val="B5CEA8"/>
                </a:solidFill>
                <a:latin typeface="Arial"/>
              </a:rPr>
              <a:t>01</a:t>
            </a:r>
          </a:p>
        </p:txBody>
      </p:sp>
      <p:sp>
        <p:nvSpPr>
          <p:cNvPr id="18" name="TextBox 17"/>
          <p:cNvSpPr txBox="1"/>
          <p:nvPr/>
        </p:nvSpPr>
        <p:spPr>
          <a:xfrm>
            <a:off x="1584982" y="3910580"/>
            <a:ext cx="2754788" cy="518159"/>
          </a:xfrm>
          <a:prstGeom prst="rect">
            <a:avLst/>
          </a:prstGeom>
          <a:noFill/>
        </p:spPr>
        <p:txBody>
          <a:bodyPr wrap="none" lIns="0" rIns="0">
            <a:noAutofit/>
          </a:bodyPr>
          <a:lstStyle/>
          <a:p>
            <a:pPr algn="l"/>
            <a:r>
              <a:rPr sz="3400" b="0" i="0">
                <a:solidFill>
                  <a:srgbClr val="D4D4D4"/>
                </a:solidFill>
                <a:latin typeface="Arial"/>
              </a:rPr>
              <a:t> slow, F-</a:t>
            </a:r>
          </a:p>
        </p:txBody>
      </p:sp>
      <p:sp>
        <p:nvSpPr>
          <p:cNvPr id="19" name="TextBox 18"/>
          <p:cNvSpPr txBox="1"/>
          <p:nvPr/>
        </p:nvSpPr>
        <p:spPr>
          <a:xfrm>
            <a:off x="3192425" y="3910580"/>
            <a:ext cx="951348" cy="518159"/>
          </a:xfrm>
          <a:prstGeom prst="rect">
            <a:avLst/>
          </a:prstGeom>
          <a:noFill/>
        </p:spPr>
        <p:txBody>
          <a:bodyPr wrap="none" lIns="0" rIns="0">
            <a:noAutofit/>
          </a:bodyPr>
          <a:lstStyle/>
          <a:p>
            <a:pPr algn="l"/>
            <a:r>
              <a:rPr sz="3400" b="0" i="0">
                <a:solidFill>
                  <a:srgbClr val="B5CEA8"/>
                </a:solidFill>
                <a:latin typeface="Arial"/>
              </a:rPr>
              <a:t>05</a:t>
            </a:r>
          </a:p>
        </p:txBody>
      </p:sp>
      <p:sp>
        <p:nvSpPr>
          <p:cNvPr id="20" name="TextBox 19"/>
          <p:cNvSpPr txBox="1"/>
          <p:nvPr/>
        </p:nvSpPr>
        <p:spPr>
          <a:xfrm>
            <a:off x="3672718" y="3910580"/>
            <a:ext cx="3830240" cy="518159"/>
          </a:xfrm>
          <a:prstGeom prst="rect">
            <a:avLst/>
          </a:prstGeom>
          <a:noFill/>
        </p:spPr>
        <p:txBody>
          <a:bodyPr wrap="none" lIns="0" rIns="0">
            <a:noAutofit/>
          </a:bodyPr>
          <a:lstStyle/>
          <a:p>
            <a:pPr algn="l"/>
            <a:r>
              <a:rPr sz="3400" b="0" i="0">
                <a:solidFill>
                  <a:srgbClr val="D4D4D4"/>
                </a:solidFill>
                <a:latin typeface="Arial"/>
              </a:rPr>
              <a:t> ugly errors,</a:t>
            </a:r>
          </a:p>
        </p:txBody>
      </p:sp>
      <p:sp>
        <p:nvSpPr>
          <p:cNvPr id="21" name="TextBox 20"/>
          <p:cNvSpPr txBox="1"/>
          <p:nvPr/>
        </p:nvSpPr>
        <p:spPr>
          <a:xfrm>
            <a:off x="457200" y="4428739"/>
            <a:ext cx="1218862" cy="518159"/>
          </a:xfrm>
          <a:prstGeom prst="rect">
            <a:avLst/>
          </a:prstGeom>
          <a:noFill/>
        </p:spPr>
        <p:txBody>
          <a:bodyPr wrap="none" lIns="0" rIns="0">
            <a:noAutofit/>
          </a:bodyPr>
          <a:lstStyle/>
          <a:p>
            <a:pPr algn="l"/>
            <a:r>
              <a:rPr sz="3400" b="0" i="0">
                <a:solidFill>
                  <a:srgbClr val="D4D4D4"/>
                </a:solidFill>
                <a:latin typeface="Arial"/>
              </a:rPr>
              <a:t>  F-</a:t>
            </a:r>
          </a:p>
        </p:txBody>
      </p:sp>
      <p:sp>
        <p:nvSpPr>
          <p:cNvPr id="22" name="TextBox 21"/>
          <p:cNvSpPr txBox="1"/>
          <p:nvPr/>
        </p:nvSpPr>
        <p:spPr>
          <a:xfrm>
            <a:off x="1104689" y="4428739"/>
            <a:ext cx="951348" cy="518159"/>
          </a:xfrm>
          <a:prstGeom prst="rect">
            <a:avLst/>
          </a:prstGeom>
          <a:noFill/>
        </p:spPr>
        <p:txBody>
          <a:bodyPr wrap="none" lIns="0" rIns="0">
            <a:noAutofit/>
          </a:bodyPr>
          <a:lstStyle/>
          <a:p>
            <a:pPr algn="l"/>
            <a:r>
              <a:rPr sz="3400" b="0" i="0">
                <a:solidFill>
                  <a:srgbClr val="B5CEA8"/>
                </a:solidFill>
                <a:latin typeface="Arial"/>
              </a:rPr>
              <a:t>09</a:t>
            </a:r>
          </a:p>
        </p:txBody>
      </p:sp>
      <p:sp>
        <p:nvSpPr>
          <p:cNvPr id="23" name="TextBox 22"/>
          <p:cNvSpPr txBox="1"/>
          <p:nvPr/>
        </p:nvSpPr>
        <p:spPr>
          <a:xfrm>
            <a:off x="1584982" y="4428739"/>
            <a:ext cx="2755800" cy="518159"/>
          </a:xfrm>
          <a:prstGeom prst="rect">
            <a:avLst/>
          </a:prstGeom>
          <a:noFill/>
        </p:spPr>
        <p:txBody>
          <a:bodyPr wrap="none" lIns="0" rIns="0">
            <a:noAutofit/>
          </a:bodyPr>
          <a:lstStyle/>
          <a:p>
            <a:pPr algn="l"/>
            <a:r>
              <a:rPr sz="3400" b="0" i="0">
                <a:solidFill>
                  <a:srgbClr val="D4D4D4"/>
                </a:solidFill>
                <a:latin typeface="Arial"/>
              </a:rPr>
              <a:t> fails on </a:t>
            </a:r>
          </a:p>
        </p:txBody>
      </p:sp>
      <p:sp>
        <p:nvSpPr>
          <p:cNvPr id="24" name="TextBox 23"/>
          <p:cNvSpPr txBox="1"/>
          <p:nvPr/>
        </p:nvSpPr>
        <p:spPr>
          <a:xfrm>
            <a:off x="3193058" y="4428739"/>
            <a:ext cx="1335584" cy="518159"/>
          </a:xfrm>
          <a:prstGeom prst="rect">
            <a:avLst/>
          </a:prstGeom>
          <a:noFill/>
        </p:spPr>
        <p:txBody>
          <a:bodyPr wrap="none" lIns="0" rIns="0">
            <a:noAutofit/>
          </a:bodyPr>
          <a:lstStyle/>
          <a:p>
            <a:pPr algn="l"/>
            <a:r>
              <a:rPr sz="3400" b="0" i="0">
                <a:solidFill>
                  <a:srgbClr val="B5CEA8"/>
                </a:solidFill>
                <a:latin typeface="Arial"/>
              </a:rPr>
              <a:t>400</a:t>
            </a:r>
          </a:p>
        </p:txBody>
      </p:sp>
      <p:sp>
        <p:nvSpPr>
          <p:cNvPr id="25" name="TextBox 24"/>
          <p:cNvSpPr txBox="1"/>
          <p:nvPr/>
        </p:nvSpPr>
        <p:spPr>
          <a:xfrm>
            <a:off x="3913498" y="4428739"/>
            <a:ext cx="3639979" cy="518159"/>
          </a:xfrm>
          <a:prstGeom prst="rect">
            <a:avLst/>
          </a:prstGeom>
          <a:noFill/>
        </p:spPr>
        <p:txBody>
          <a:bodyPr wrap="none" lIns="0" rIns="0">
            <a:noAutofit/>
          </a:bodyPr>
          <a:lstStyle/>
          <a:p>
            <a:pPr algn="l"/>
            <a:r>
              <a:rPr sz="3400" b="0" i="0">
                <a:solidFill>
                  <a:srgbClr val="D4D4D4"/>
                </a:solidFill>
                <a:latin typeface="Arial"/>
              </a:rPr>
              <a:t>-page input</a:t>
            </a:r>
          </a:p>
        </p:txBody>
      </p:sp>
      <p:sp>
        <p:nvSpPr>
          <p:cNvPr id="26" name="TextBox 25"/>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02</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Fix and Prove It</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Fixed</a:t>
            </a:r>
          </a:p>
        </p:txBody>
      </p:sp>
      <p:sp>
        <p:nvSpPr>
          <p:cNvPr id="4" name="TextBox 3"/>
          <p:cNvSpPr txBox="1"/>
          <p:nvPr/>
        </p:nvSpPr>
        <p:spPr>
          <a:xfrm>
            <a:off x="996696" y="3764280"/>
            <a:ext cx="10738104" cy="609600"/>
          </a:xfrm>
          <a:prstGeom prst="rect">
            <a:avLst/>
          </a:prstGeom>
          <a:noFill/>
        </p:spPr>
        <p:txBody>
          <a:bodyPr wrap="none" lIns="0" rIns="0">
            <a:noAutofit/>
          </a:bodyPr>
          <a:lstStyle/>
          <a:p>
            <a:pPr algn="l"/>
            <a:r>
              <a:rPr sz="3400" b="0" i="0">
                <a:solidFill>
                  <a:srgbClr val="0A2240"/>
                </a:solidFill>
                <a:latin typeface="Arial"/>
              </a:rPr>
              <a:t>The test that caught it now passes</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Fix Loop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Reproduce it first</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See the failure before you change anything</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Change one thing</a:t>
            </a:r>
          </a:p>
        </p:txBody>
      </p:sp>
      <p:sp>
        <p:nvSpPr>
          <p:cNvPr id="8" name="TextBox 7"/>
          <p:cNvSpPr txBox="1"/>
          <p:nvPr/>
        </p:nvSpPr>
        <p:spPr>
          <a:xfrm>
            <a:off x="1461983" y="3697224"/>
            <a:ext cx="10272817" cy="551688"/>
          </a:xfrm>
          <a:prstGeom prst="rect">
            <a:avLst/>
          </a:prstGeom>
          <a:noFill/>
        </p:spPr>
        <p:txBody>
          <a:bodyPr wrap="none" lIns="0" rIns="0">
            <a:noAutofit/>
          </a:bodyPr>
          <a:lstStyle/>
          <a:p>
            <a:pPr algn="l"/>
            <a:r>
              <a:rPr sz="3400" b="0" i="0">
                <a:solidFill>
                  <a:srgbClr val="0A2240"/>
                </a:solidFill>
                <a:latin typeface="Arial"/>
              </a:rPr>
              <a:t>The smallest edit that could work</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Re-run that exact input</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The one from the log, not a similar one</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One at a Time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finding, one change</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Re-run before starting the next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Commit each fix separately</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Never batch three and hope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Prove it, one line</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11494653" cy="518159"/>
          </a:xfrm>
          <a:prstGeom prst="rect">
            <a:avLst/>
          </a:prstGeom>
          <a:noFill/>
        </p:spPr>
        <p:txBody>
          <a:bodyPr wrap="none" lIns="0" rIns="0">
            <a:noAutofit/>
          </a:bodyPr>
          <a:lstStyle/>
          <a:p>
            <a:pPr algn="l"/>
            <a:r>
              <a:rPr sz="3400" b="0" i="0">
                <a:solidFill>
                  <a:srgbClr val="D4D4D4"/>
                </a:solidFill>
                <a:latin typeface="Arial"/>
              </a:rPr>
              <a:t> python run.py fixtures/report-2019.pdf</a:t>
            </a:r>
          </a:p>
        </p:txBody>
      </p:sp>
      <p:sp>
        <p:nvSpPr>
          <p:cNvPr id="8" name="TextBox 7"/>
          <p:cNvSpPr txBox="1"/>
          <p:nvPr/>
        </p:nvSpPr>
        <p:spPr>
          <a:xfrm>
            <a:off x="457200" y="2356103"/>
            <a:ext cx="6633904" cy="518159"/>
          </a:xfrm>
          <a:prstGeom prst="rect">
            <a:avLst/>
          </a:prstGeom>
          <a:noFill/>
        </p:spPr>
        <p:txBody>
          <a:bodyPr wrap="none" lIns="0" rIns="0">
            <a:noAutofit/>
          </a:bodyPr>
          <a:lstStyle/>
          <a:p>
            <a:pPr algn="l"/>
            <a:r>
              <a:rPr sz="3400" b="0" i="0">
                <a:solidFill>
                  <a:srgbClr val="D4D4D4"/>
                </a:solidFill>
                <a:latin typeface="Arial"/>
              </a:rPr>
              <a:t>Refused: this covers </a:t>
            </a:r>
          </a:p>
        </p:txBody>
      </p:sp>
      <p:sp>
        <p:nvSpPr>
          <p:cNvPr id="9" name="TextBox 8"/>
          <p:cNvSpPr txBox="1"/>
          <p:nvPr/>
        </p:nvSpPr>
        <p:spPr>
          <a:xfrm>
            <a:off x="4489090" y="2356103"/>
            <a:ext cx="1719817" cy="518159"/>
          </a:xfrm>
          <a:prstGeom prst="rect">
            <a:avLst/>
          </a:prstGeom>
          <a:noFill/>
        </p:spPr>
        <p:txBody>
          <a:bodyPr wrap="none" lIns="0" rIns="0">
            <a:noAutofit/>
          </a:bodyPr>
          <a:lstStyle/>
          <a:p>
            <a:pPr algn="l"/>
            <a:r>
              <a:rPr sz="3400" b="0" i="0">
                <a:solidFill>
                  <a:srgbClr val="B5CEA8"/>
                </a:solidFill>
                <a:latin typeface="Arial"/>
              </a:rPr>
              <a:t>2019</a:t>
            </a:r>
          </a:p>
        </p:txBody>
      </p:sp>
      <p:sp>
        <p:nvSpPr>
          <p:cNvPr id="10" name="TextBox 9"/>
          <p:cNvSpPr txBox="1"/>
          <p:nvPr/>
        </p:nvSpPr>
        <p:spPr>
          <a:xfrm>
            <a:off x="5449677" y="2356103"/>
            <a:ext cx="566777"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1" name="TextBox 10"/>
          <p:cNvSpPr txBox="1"/>
          <p:nvPr/>
        </p:nvSpPr>
        <p:spPr>
          <a:xfrm>
            <a:off x="5689612" y="2356103"/>
            <a:ext cx="1143297" cy="518159"/>
          </a:xfrm>
          <a:prstGeom prst="rect">
            <a:avLst/>
          </a:prstGeom>
          <a:noFill/>
        </p:spPr>
        <p:txBody>
          <a:bodyPr wrap="none" lIns="0" rIns="0">
            <a:noAutofit/>
          </a:bodyPr>
          <a:lstStyle/>
          <a:p>
            <a:pPr algn="l"/>
            <a:r>
              <a:rPr sz="3400" b="0" i="0">
                <a:solidFill>
                  <a:srgbClr val="569CD6"/>
                </a:solidFill>
                <a:latin typeface="Arial"/>
              </a:rPr>
              <a:t>not</a:t>
            </a:r>
          </a:p>
        </p:txBody>
      </p:sp>
      <p:sp>
        <p:nvSpPr>
          <p:cNvPr id="12" name="TextBox 11"/>
          <p:cNvSpPr txBox="1"/>
          <p:nvPr/>
        </p:nvSpPr>
        <p:spPr>
          <a:xfrm>
            <a:off x="6289873" y="2356103"/>
            <a:ext cx="302848" cy="518159"/>
          </a:xfrm>
          <a:prstGeom prst="rect">
            <a:avLst/>
          </a:prstGeom>
          <a:noFill/>
        </p:spPr>
        <p:txBody>
          <a:bodyPr wrap="none" lIns="0" rIns="0">
            <a:noAutofit/>
          </a:bodyPr>
          <a:lstStyle/>
          <a:p>
            <a:pPr algn="l"/>
            <a:r>
              <a:rPr sz="3400" b="0" i="0">
                <a:solidFill>
                  <a:srgbClr val="D4D4D4"/>
                </a:solidFill>
                <a:latin typeface="Arial"/>
              </a:rPr>
              <a:t> </a:t>
            </a:r>
          </a:p>
        </p:txBody>
      </p:sp>
      <p:sp>
        <p:nvSpPr>
          <p:cNvPr id="13" name="TextBox 12"/>
          <p:cNvSpPr txBox="1"/>
          <p:nvPr/>
        </p:nvSpPr>
        <p:spPr>
          <a:xfrm>
            <a:off x="6409841" y="2356103"/>
            <a:ext cx="1719817" cy="518159"/>
          </a:xfrm>
          <a:prstGeom prst="rect">
            <a:avLst/>
          </a:prstGeom>
          <a:noFill/>
        </p:spPr>
        <p:txBody>
          <a:bodyPr wrap="none" lIns="0" rIns="0">
            <a:noAutofit/>
          </a:bodyPr>
          <a:lstStyle/>
          <a:p>
            <a:pPr algn="l"/>
            <a:r>
              <a:rPr sz="3400" b="0" i="0">
                <a:solidFill>
                  <a:srgbClr val="B5CEA8"/>
                </a:solidFill>
                <a:latin typeface="Arial"/>
              </a:rPr>
              <a:t>2024</a:t>
            </a:r>
          </a:p>
        </p:txBody>
      </p:sp>
      <p:sp>
        <p:nvSpPr>
          <p:cNvPr id="14" name="TextBox 13"/>
          <p:cNvSpPr txBox="1"/>
          <p:nvPr/>
        </p:nvSpPr>
        <p:spPr>
          <a:xfrm>
            <a:off x="7370428" y="2356103"/>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15" name="TextBox 14"/>
          <p:cNvSpPr txBox="1"/>
          <p:nvPr/>
        </p:nvSpPr>
        <p:spPr>
          <a:xfrm>
            <a:off x="457200" y="3392421"/>
            <a:ext cx="11734800" cy="518159"/>
          </a:xfrm>
          <a:prstGeom prst="rect">
            <a:avLst/>
          </a:prstGeom>
          <a:noFill/>
        </p:spPr>
        <p:txBody>
          <a:bodyPr wrap="none" lIns="0" rIns="0">
            <a:noAutofit/>
          </a:bodyPr>
          <a:lstStyle/>
          <a:p>
            <a:pPr algn="l"/>
            <a:r>
              <a:rPr sz="3400" b="0" i="0">
                <a:solidFill>
                  <a:srgbClr val="6A9955"/>
                </a:solidFill>
                <a:latin typeface="Arial"/>
              </a:rPr>
              <a:t># F-03 was: a confident 2024 summary.</a:t>
            </a:r>
          </a:p>
        </p:txBody>
      </p:sp>
      <p:sp>
        <p:nvSpPr>
          <p:cNvPr id="16" name="TextBox 15"/>
          <p:cNvSpPr txBox="1"/>
          <p:nvPr/>
        </p:nvSpPr>
        <p:spPr>
          <a:xfrm>
            <a:off x="457200" y="3910580"/>
            <a:ext cx="11318259" cy="518159"/>
          </a:xfrm>
          <a:prstGeom prst="rect">
            <a:avLst/>
          </a:prstGeom>
          <a:noFill/>
        </p:spPr>
        <p:txBody>
          <a:bodyPr wrap="none" lIns="0" rIns="0">
            <a:noAutofit/>
          </a:bodyPr>
          <a:lstStyle/>
          <a:p>
            <a:pPr algn="l"/>
            <a:r>
              <a:rPr sz="3400" b="0" i="0">
                <a:solidFill>
                  <a:srgbClr val="6A9955"/>
                </a:solidFill>
                <a:latin typeface="Arial"/>
              </a:rPr>
              <a:t># Now it refuses. Re-ran, watched it.</a:t>
            </a:r>
          </a:p>
        </p:txBody>
      </p:sp>
      <p:sp>
        <p:nvSpPr>
          <p:cNvPr id="17" name="TextBox 1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Kinds of Done</a:t>
            </a:r>
          </a:p>
        </p:txBody>
      </p:sp>
      <p:sp>
        <p:nvSpPr>
          <p:cNvPr id="3" name="TextBox 2"/>
          <p:cNvSpPr txBox="1"/>
          <p:nvPr/>
        </p:nvSpPr>
        <p:spPr>
          <a:xfrm>
            <a:off x="457200" y="2776728"/>
            <a:ext cx="4792980" cy="914400"/>
          </a:xfrm>
          <a:prstGeom prst="rect">
            <a:avLst/>
          </a:prstGeom>
          <a:noFill/>
        </p:spPr>
        <p:txBody>
          <a:bodyPr wrap="none" lIns="0" rIns="0">
            <a:noAutofit/>
          </a:bodyPr>
          <a:lstStyle/>
          <a:p>
            <a:pPr algn="ctr"/>
            <a:r>
              <a:rPr sz="6000" b="1" i="0">
                <a:solidFill>
                  <a:srgbClr val="0A2240"/>
                </a:solidFill>
                <a:latin typeface="Arial"/>
              </a:rPr>
              <a:t>Believe</a:t>
            </a:r>
          </a:p>
        </p:txBody>
      </p:sp>
      <p:sp>
        <p:nvSpPr>
          <p:cNvPr id="4" name="TextBox 3"/>
          <p:cNvSpPr txBox="1"/>
          <p:nvPr/>
        </p:nvSpPr>
        <p:spPr>
          <a:xfrm>
            <a:off x="0" y="3965448"/>
            <a:ext cx="5707380" cy="518159"/>
          </a:xfrm>
          <a:prstGeom prst="rect">
            <a:avLst/>
          </a:prstGeom>
          <a:noFill/>
        </p:spPr>
        <p:txBody>
          <a:bodyPr wrap="none" lIns="0" rIns="0">
            <a:noAutofit/>
          </a:bodyPr>
          <a:lstStyle/>
          <a:p>
            <a:pPr algn="ctr"/>
            <a:r>
              <a:rPr sz="3400" b="0" i="0">
                <a:solidFill>
                  <a:srgbClr val="0A2240"/>
                </a:solidFill>
                <a:latin typeface="Arial"/>
              </a:rPr>
              <a:t>It should work now</a:t>
            </a:r>
          </a:p>
        </p:txBody>
      </p:sp>
      <p:sp>
        <p:nvSpPr>
          <p:cNvPr id="5" name="TextBox 4"/>
          <p:cNvSpPr txBox="1"/>
          <p:nvPr/>
        </p:nvSpPr>
        <p:spPr>
          <a:xfrm>
            <a:off x="6941820" y="2776728"/>
            <a:ext cx="4792980" cy="914400"/>
          </a:xfrm>
          <a:prstGeom prst="rect">
            <a:avLst/>
          </a:prstGeom>
          <a:noFill/>
        </p:spPr>
        <p:txBody>
          <a:bodyPr wrap="none" lIns="0" rIns="0">
            <a:noAutofit/>
          </a:bodyPr>
          <a:lstStyle/>
          <a:p>
            <a:pPr algn="ctr"/>
            <a:r>
              <a:rPr sz="6000" b="1" i="0">
                <a:solidFill>
                  <a:srgbClr val="0A2240"/>
                </a:solidFill>
                <a:latin typeface="Arial"/>
              </a:rPr>
              <a:t>Re-ran</a:t>
            </a:r>
          </a:p>
        </p:txBody>
      </p:sp>
      <p:sp>
        <p:nvSpPr>
          <p:cNvPr id="6" name="TextBox 5"/>
          <p:cNvSpPr txBox="1"/>
          <p:nvPr/>
        </p:nvSpPr>
        <p:spPr>
          <a:xfrm>
            <a:off x="6484620" y="3965448"/>
            <a:ext cx="5707380" cy="518159"/>
          </a:xfrm>
          <a:prstGeom prst="rect">
            <a:avLst/>
          </a:prstGeom>
          <a:noFill/>
        </p:spPr>
        <p:txBody>
          <a:bodyPr wrap="none" lIns="0" rIns="0">
            <a:noAutofit/>
          </a:bodyPr>
          <a:lstStyle/>
          <a:p>
            <a:pPr algn="ctr"/>
            <a:r>
              <a:rPr sz="3400" b="0" i="0">
                <a:solidFill>
                  <a:srgbClr val="0A2240"/>
                </a:solidFill>
                <a:latin typeface="Arial"/>
              </a:rPr>
              <a:t>You watched it work</a:t>
            </a:r>
          </a:p>
        </p:txBody>
      </p:sp>
      <p:sp>
        <p:nvSpPr>
          <p:cNvPr id="7" name="TextBox 6"/>
          <p:cNvSpPr txBox="1"/>
          <p:nvPr/>
        </p:nvSpPr>
        <p:spPr>
          <a:xfrm>
            <a:off x="5435323" y="3310127"/>
            <a:ext cx="1321354" cy="640080"/>
          </a:xfrm>
          <a:prstGeom prst="rect">
            <a:avLst/>
          </a:prstGeom>
          <a:noFill/>
        </p:spPr>
        <p:txBody>
          <a:bodyPr wrap="none" lIns="0" rIns="0">
            <a:noAutofit/>
          </a:bodyPr>
          <a:lstStyle/>
          <a:p>
            <a:pPr algn="ctr"/>
            <a:r>
              <a:rPr sz="4200" b="1" i="0">
                <a:solidFill>
                  <a:srgbClr val="5B6B82"/>
                </a:solidFill>
                <a:latin typeface="Arial"/>
              </a:rPr>
              <a:t>VS</a:t>
            </a:r>
          </a:p>
        </p:txBody>
      </p:sp>
      <p:sp>
        <p:nvSpPr>
          <p:cNvPr id="8" name="TextBox 7"/>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Not Now</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Do not refactor while fixing</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Do not add a feature nobody asked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Do not restyle anything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Do not start a second input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Pushing It</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Commit per finding</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Message names the finding it closes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Push after each one</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Not once at the end, when it is rushed</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Update the caveats</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Fixed comes off, below-the-line goes on</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472624" cy="640080"/>
          </a:xfrm>
          <a:prstGeom prst="rect">
            <a:avLst/>
          </a:prstGeom>
          <a:noFill/>
        </p:spPr>
        <p:txBody>
          <a:bodyPr wrap="none" lIns="0" rIns="0">
            <a:noAutofit/>
          </a:bodyPr>
          <a:lstStyle/>
          <a:p>
            <a:pPr algn="l"/>
            <a:r>
              <a:rPr sz="4200" b="0" i="0">
                <a:solidFill>
                  <a:srgbClr val="D4D4D4"/>
                </a:solidFill>
                <a:latin typeface="Arial"/>
              </a:rPr>
              <a:t>A commit that closes a finding</a:t>
            </a:r>
          </a:p>
        </p:txBody>
      </p:sp>
      <p:sp>
        <p:nvSpPr>
          <p:cNvPr id="6" name="TextBox 5"/>
          <p:cNvSpPr txBox="1"/>
          <p:nvPr/>
        </p:nvSpPr>
        <p:spPr>
          <a:xfrm>
            <a:off x="457200" y="1837944"/>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7" name="TextBox 6"/>
          <p:cNvSpPr txBox="1"/>
          <p:nvPr/>
        </p:nvSpPr>
        <p:spPr>
          <a:xfrm>
            <a:off x="697347" y="1837944"/>
            <a:ext cx="7479288" cy="518159"/>
          </a:xfrm>
          <a:prstGeom prst="rect">
            <a:avLst/>
          </a:prstGeom>
          <a:noFill/>
        </p:spPr>
        <p:txBody>
          <a:bodyPr wrap="none" lIns="0" rIns="0">
            <a:noAutofit/>
          </a:bodyPr>
          <a:lstStyle/>
          <a:p>
            <a:pPr algn="l"/>
            <a:r>
              <a:rPr sz="3400" b="0" i="0">
                <a:solidFill>
                  <a:srgbClr val="D4D4D4"/>
                </a:solidFill>
                <a:latin typeface="Arial"/>
              </a:rPr>
              <a:t> git add steps/extract.py</a:t>
            </a:r>
          </a:p>
        </p:txBody>
      </p:sp>
      <p:sp>
        <p:nvSpPr>
          <p:cNvPr id="8" name="TextBox 7"/>
          <p:cNvSpPr txBox="1"/>
          <p:nvPr/>
        </p:nvSpPr>
        <p:spPr>
          <a:xfrm>
            <a:off x="457200" y="2356103"/>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9" name="TextBox 8"/>
          <p:cNvSpPr txBox="1"/>
          <p:nvPr/>
        </p:nvSpPr>
        <p:spPr>
          <a:xfrm>
            <a:off x="697347" y="2356103"/>
            <a:ext cx="11494653" cy="518159"/>
          </a:xfrm>
          <a:prstGeom prst="rect">
            <a:avLst/>
          </a:prstGeom>
          <a:noFill/>
        </p:spPr>
        <p:txBody>
          <a:bodyPr wrap="none" lIns="0" rIns="0">
            <a:noAutofit/>
          </a:bodyPr>
          <a:lstStyle/>
          <a:p>
            <a:pPr algn="l"/>
            <a:r>
              <a:rPr sz="3400" b="0" i="0">
                <a:solidFill>
                  <a:srgbClr val="D4D4D4"/>
                </a:solidFill>
                <a:latin typeface="Arial"/>
              </a:rPr>
              <a:t> git commit -m "F-03: refuse mismatched year"</a:t>
            </a:r>
          </a:p>
        </p:txBody>
      </p:sp>
      <p:sp>
        <p:nvSpPr>
          <p:cNvPr id="10" name="TextBox 9"/>
          <p:cNvSpPr txBox="1"/>
          <p:nvPr/>
        </p:nvSpPr>
        <p:spPr>
          <a:xfrm>
            <a:off x="457200" y="2874262"/>
            <a:ext cx="567115" cy="518159"/>
          </a:xfrm>
          <a:prstGeom prst="rect">
            <a:avLst/>
          </a:prstGeom>
          <a:noFill/>
        </p:spPr>
        <p:txBody>
          <a:bodyPr wrap="none" lIns="0" rIns="0">
            <a:noAutofit/>
          </a:bodyPr>
          <a:lstStyle/>
          <a:p>
            <a:pPr algn="l"/>
            <a:r>
              <a:rPr sz="3400" b="0" i="0">
                <a:solidFill>
                  <a:srgbClr val="4EC9B0"/>
                </a:solidFill>
                <a:latin typeface="Arial"/>
              </a:rPr>
              <a:t>$</a:t>
            </a:r>
          </a:p>
        </p:txBody>
      </p:sp>
      <p:sp>
        <p:nvSpPr>
          <p:cNvPr id="11" name="TextBox 10"/>
          <p:cNvSpPr txBox="1"/>
          <p:nvPr/>
        </p:nvSpPr>
        <p:spPr>
          <a:xfrm>
            <a:off x="697347" y="2874262"/>
            <a:ext cx="2794595" cy="518159"/>
          </a:xfrm>
          <a:prstGeom prst="rect">
            <a:avLst/>
          </a:prstGeom>
          <a:noFill/>
        </p:spPr>
        <p:txBody>
          <a:bodyPr wrap="none" lIns="0" rIns="0">
            <a:noAutofit/>
          </a:bodyPr>
          <a:lstStyle/>
          <a:p>
            <a:pPr algn="l"/>
            <a:r>
              <a:rPr sz="3400" b="0" i="0">
                <a:solidFill>
                  <a:srgbClr val="D4D4D4"/>
                </a:solidFill>
                <a:latin typeface="Arial"/>
              </a:rPr>
              <a:t> git push</a:t>
            </a:r>
          </a:p>
        </p:txBody>
      </p:sp>
      <p:sp>
        <p:nvSpPr>
          <p:cNvPr id="12" name="TextBox 11"/>
          <p:cNvSpPr txBox="1"/>
          <p:nvPr/>
        </p:nvSpPr>
        <p:spPr>
          <a:xfrm>
            <a:off x="457200" y="3392421"/>
            <a:ext cx="11734800" cy="518159"/>
          </a:xfrm>
          <a:prstGeom prst="rect">
            <a:avLst/>
          </a:prstGeom>
          <a:noFill/>
        </p:spPr>
        <p:txBody>
          <a:bodyPr wrap="none" lIns="0" rIns="0">
            <a:noAutofit/>
          </a:bodyPr>
          <a:lstStyle/>
          <a:p>
            <a:pPr algn="l"/>
            <a:r>
              <a:rPr sz="3400" b="0" i="0">
                <a:solidFill>
                  <a:srgbClr val="6A9955"/>
                </a:solidFill>
                <a:latin typeface="Arial"/>
              </a:rPr>
              <a:t># then: strike F-03 from CAVEATS.md</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the Record Shows</a:t>
            </a:r>
          </a:p>
        </p:txBody>
      </p:sp>
      <p:sp>
        <p:nvSpPr>
          <p:cNvPr id="3" name="TextBox 2"/>
          <p:cNvSpPr txBox="1"/>
          <p:nvPr/>
        </p:nvSpPr>
        <p:spPr>
          <a:xfrm>
            <a:off x="457200" y="1499616"/>
            <a:ext cx="3845882" cy="518159"/>
          </a:xfrm>
          <a:prstGeom prst="rect">
            <a:avLst/>
          </a:prstGeom>
          <a:noFill/>
        </p:spPr>
        <p:txBody>
          <a:bodyPr wrap="none" lIns="0" rIns="0">
            <a:noAutofit/>
          </a:bodyPr>
          <a:lstStyle/>
          <a:p>
            <a:pPr algn="l"/>
            <a:r>
              <a:rPr sz="3400" b="1" i="0">
                <a:solidFill>
                  <a:srgbClr val="123A6B"/>
                </a:solidFill>
                <a:latin typeface="Arial"/>
              </a:rPr>
              <a:t>Finding</a:t>
            </a:r>
          </a:p>
        </p:txBody>
      </p:sp>
      <p:sp>
        <p:nvSpPr>
          <p:cNvPr id="4" name="TextBox 3"/>
          <p:cNvSpPr txBox="1"/>
          <p:nvPr/>
        </p:nvSpPr>
        <p:spPr>
          <a:xfrm>
            <a:off x="4851722" y="1499616"/>
            <a:ext cx="3054179" cy="518159"/>
          </a:xfrm>
          <a:prstGeom prst="rect">
            <a:avLst/>
          </a:prstGeom>
          <a:noFill/>
        </p:spPr>
        <p:txBody>
          <a:bodyPr wrap="none" lIns="0" rIns="0">
            <a:noAutofit/>
          </a:bodyPr>
          <a:lstStyle/>
          <a:p>
            <a:pPr algn="l"/>
            <a:r>
              <a:rPr sz="3400" b="1" i="0">
                <a:solidFill>
                  <a:srgbClr val="123A6B"/>
                </a:solidFill>
                <a:latin typeface="Arial"/>
              </a:rPr>
              <a:t>State</a:t>
            </a:r>
          </a:p>
        </p:txBody>
      </p:sp>
      <p:sp>
        <p:nvSpPr>
          <p:cNvPr id="5" name="Rectangle 4"/>
          <p:cNvSpPr/>
          <p:nvPr/>
        </p:nvSpPr>
        <p:spPr>
          <a:xfrm>
            <a:off x="457200" y="2072639"/>
            <a:ext cx="7448701"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213012" cy="633984"/>
          </a:xfrm>
          <a:prstGeom prst="rect">
            <a:avLst/>
          </a:prstGeom>
          <a:noFill/>
        </p:spPr>
        <p:txBody>
          <a:bodyPr wrap="none" lIns="0" rIns="0">
            <a:noAutofit/>
          </a:bodyPr>
          <a:lstStyle/>
          <a:p>
            <a:pPr algn="l"/>
            <a:r>
              <a:rPr sz="3400" b="0" i="0">
                <a:solidFill>
                  <a:srgbClr val="0A2240"/>
                </a:solidFill>
                <a:latin typeface="Arial"/>
              </a:rPr>
              <a:t>F-03 wrong year</a:t>
            </a:r>
          </a:p>
        </p:txBody>
      </p:sp>
      <p:sp>
        <p:nvSpPr>
          <p:cNvPr id="7" name="TextBox 6"/>
          <p:cNvSpPr txBox="1"/>
          <p:nvPr/>
        </p:nvSpPr>
        <p:spPr>
          <a:xfrm>
            <a:off x="4851722" y="2401823"/>
            <a:ext cx="4099104" cy="633984"/>
          </a:xfrm>
          <a:prstGeom prst="rect">
            <a:avLst/>
          </a:prstGeom>
          <a:noFill/>
        </p:spPr>
        <p:txBody>
          <a:bodyPr wrap="none" lIns="0" rIns="0">
            <a:noAutofit/>
          </a:bodyPr>
          <a:lstStyle/>
          <a:p>
            <a:pPr algn="l"/>
            <a:r>
              <a:rPr sz="3400" b="0" i="0">
                <a:solidFill>
                  <a:srgbClr val="0A2240"/>
                </a:solidFill>
                <a:latin typeface="Arial"/>
              </a:rPr>
              <a:t>Fixed, re-ran</a:t>
            </a:r>
          </a:p>
        </p:txBody>
      </p:sp>
      <p:sp>
        <p:nvSpPr>
          <p:cNvPr id="8" name="TextBox 7"/>
          <p:cNvSpPr txBox="1"/>
          <p:nvPr/>
        </p:nvSpPr>
        <p:spPr>
          <a:xfrm>
            <a:off x="457200" y="3310127"/>
            <a:ext cx="5751075" cy="633984"/>
          </a:xfrm>
          <a:prstGeom prst="rect">
            <a:avLst/>
          </a:prstGeom>
          <a:noFill/>
        </p:spPr>
        <p:txBody>
          <a:bodyPr wrap="none" lIns="0" rIns="0">
            <a:noAutofit/>
          </a:bodyPr>
          <a:lstStyle/>
          <a:p>
            <a:pPr algn="l"/>
            <a:r>
              <a:rPr sz="3400" b="0" i="0">
                <a:solidFill>
                  <a:srgbClr val="0A2240"/>
                </a:solidFill>
                <a:latin typeface="Arial"/>
              </a:rPr>
              <a:t>F-07 empty hangs</a:t>
            </a:r>
          </a:p>
        </p:txBody>
      </p:sp>
      <p:sp>
        <p:nvSpPr>
          <p:cNvPr id="9" name="TextBox 8"/>
          <p:cNvSpPr txBox="1"/>
          <p:nvPr/>
        </p:nvSpPr>
        <p:spPr>
          <a:xfrm>
            <a:off x="4851722" y="3310127"/>
            <a:ext cx="4099104" cy="633984"/>
          </a:xfrm>
          <a:prstGeom prst="rect">
            <a:avLst/>
          </a:prstGeom>
          <a:noFill/>
        </p:spPr>
        <p:txBody>
          <a:bodyPr wrap="none" lIns="0" rIns="0">
            <a:noAutofit/>
          </a:bodyPr>
          <a:lstStyle/>
          <a:p>
            <a:pPr algn="l"/>
            <a:r>
              <a:rPr sz="3400" b="0" i="0">
                <a:solidFill>
                  <a:srgbClr val="0A2240"/>
                </a:solidFill>
                <a:latin typeface="Arial"/>
              </a:rPr>
              <a:t>Fixed, re-ran</a:t>
            </a:r>
          </a:p>
        </p:txBody>
      </p:sp>
      <p:sp>
        <p:nvSpPr>
          <p:cNvPr id="10" name="TextBox 9"/>
          <p:cNvSpPr txBox="1"/>
          <p:nvPr/>
        </p:nvSpPr>
        <p:spPr>
          <a:xfrm>
            <a:off x="457200" y="4218431"/>
            <a:ext cx="3845882" cy="633984"/>
          </a:xfrm>
          <a:prstGeom prst="rect">
            <a:avLst/>
          </a:prstGeom>
          <a:noFill/>
        </p:spPr>
        <p:txBody>
          <a:bodyPr wrap="none" lIns="0" rIns="0">
            <a:noAutofit/>
          </a:bodyPr>
          <a:lstStyle/>
          <a:p>
            <a:pPr algn="l"/>
            <a:r>
              <a:rPr sz="3400" b="0" i="0">
                <a:solidFill>
                  <a:srgbClr val="0A2240"/>
                </a:solidFill>
                <a:latin typeface="Arial"/>
              </a:rPr>
              <a:t>F-01 slow</a:t>
            </a:r>
          </a:p>
        </p:txBody>
      </p:sp>
      <p:sp>
        <p:nvSpPr>
          <p:cNvPr id="11" name="TextBox 10"/>
          <p:cNvSpPr txBox="1"/>
          <p:nvPr/>
        </p:nvSpPr>
        <p:spPr>
          <a:xfrm>
            <a:off x="4851722" y="4218431"/>
            <a:ext cx="4484350" cy="633984"/>
          </a:xfrm>
          <a:prstGeom prst="rect">
            <a:avLst/>
          </a:prstGeom>
          <a:noFill/>
        </p:spPr>
        <p:txBody>
          <a:bodyPr wrap="none" lIns="0" rIns="0">
            <a:noAutofit/>
          </a:bodyPr>
          <a:lstStyle/>
          <a:p>
            <a:pPr algn="l"/>
            <a:r>
              <a:rPr sz="3400" b="0" i="0">
                <a:solidFill>
                  <a:srgbClr val="0A2240"/>
                </a:solidFill>
                <a:latin typeface="Arial"/>
              </a:rPr>
              <a:t>Below the line</a:t>
            </a:r>
          </a:p>
        </p:txBody>
      </p:sp>
      <p:sp>
        <p:nvSpPr>
          <p:cNvPr id="12" name="TextBox 11"/>
          <p:cNvSpPr txBox="1"/>
          <p:nvPr/>
        </p:nvSpPr>
        <p:spPr>
          <a:xfrm>
            <a:off x="457200" y="5126735"/>
            <a:ext cx="5022412" cy="633984"/>
          </a:xfrm>
          <a:prstGeom prst="rect">
            <a:avLst/>
          </a:prstGeom>
          <a:noFill/>
        </p:spPr>
        <p:txBody>
          <a:bodyPr wrap="none" lIns="0" rIns="0">
            <a:noAutofit/>
          </a:bodyPr>
          <a:lstStyle/>
          <a:p>
            <a:pPr algn="l"/>
            <a:r>
              <a:rPr sz="3400" b="0" i="0">
                <a:solidFill>
                  <a:srgbClr val="0A2240"/>
                </a:solidFill>
                <a:latin typeface="Arial"/>
              </a:rPr>
              <a:t>F-09 huge input</a:t>
            </a:r>
          </a:p>
        </p:txBody>
      </p:sp>
      <p:sp>
        <p:nvSpPr>
          <p:cNvPr id="13" name="TextBox 12"/>
          <p:cNvSpPr txBox="1"/>
          <p:nvPr/>
        </p:nvSpPr>
        <p:spPr>
          <a:xfrm>
            <a:off x="4851722" y="5126735"/>
            <a:ext cx="4484350" cy="633984"/>
          </a:xfrm>
          <a:prstGeom prst="rect">
            <a:avLst/>
          </a:prstGeom>
          <a:noFill/>
        </p:spPr>
        <p:txBody>
          <a:bodyPr wrap="none" lIns="0" rIns="0">
            <a:noAutofit/>
          </a:bodyPr>
          <a:lstStyle/>
          <a:p>
            <a:pPr algn="l"/>
            <a:r>
              <a:rPr sz="3400" b="0" i="0">
                <a:solidFill>
                  <a:srgbClr val="0A2240"/>
                </a:solidFill>
                <a:latin typeface="Arial"/>
              </a:rPr>
              <a:t>Below the line</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Ones You Did Not Fix</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They go into the caveats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They go into the demo script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They become the next sprint</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They are not failures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621280"/>
            <a:ext cx="128016" cy="16154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621280"/>
            <a:ext cx="11195304" cy="731520"/>
          </a:xfrm>
          <a:prstGeom prst="rect">
            <a:avLst/>
          </a:prstGeom>
          <a:noFill/>
        </p:spPr>
        <p:txBody>
          <a:bodyPr wrap="none" lIns="0" rIns="0">
            <a:noAutofit/>
          </a:bodyPr>
          <a:lstStyle/>
          <a:p>
            <a:pPr algn="l"/>
            <a:r>
              <a:rPr sz="4200" b="1" i="0">
                <a:solidFill>
                  <a:srgbClr val="0A2240"/>
                </a:solidFill>
                <a:latin typeface="Arial"/>
              </a:rPr>
              <a:t>"An unproven fix is still a bug."</a:t>
            </a:r>
          </a:p>
        </p:txBody>
      </p:sp>
      <p:sp>
        <p:nvSpPr>
          <p:cNvPr id="4" name="TextBox 3"/>
          <p:cNvSpPr txBox="1"/>
          <p:nvPr/>
        </p:nvSpPr>
        <p:spPr>
          <a:xfrm>
            <a:off x="996696" y="3627120"/>
            <a:ext cx="10738104" cy="609600"/>
          </a:xfrm>
          <a:prstGeom prst="rect">
            <a:avLst/>
          </a:prstGeom>
          <a:noFill/>
        </p:spPr>
        <p:txBody>
          <a:bodyPr wrap="none" lIns="0" rIns="0">
            <a:noAutofit/>
          </a:bodyPr>
          <a:lstStyle/>
          <a:p>
            <a:pPr algn="l"/>
            <a:r>
              <a:rPr sz="3400" b="0" i="0">
                <a:solidFill>
                  <a:srgbClr val="5B6B82"/>
                </a:solidFill>
                <a:latin typeface="Arial"/>
              </a:rPr>
              <a:t>- Objective two, restated</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1783080"/>
            <a:ext cx="128016" cy="201168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1783080"/>
            <a:ext cx="10738104" cy="1005840"/>
          </a:xfrm>
          <a:prstGeom prst="rect">
            <a:avLst/>
          </a:prstGeom>
          <a:noFill/>
        </p:spPr>
        <p:txBody>
          <a:bodyPr wrap="none" lIns="0" rIns="0">
            <a:noAutofit/>
          </a:bodyPr>
          <a:lstStyle/>
          <a:p>
            <a:pPr algn="l"/>
            <a:r>
              <a:rPr sz="6000" b="1" i="0">
                <a:solidFill>
                  <a:srgbClr val="0072CE"/>
                </a:solidFill>
                <a:latin typeface="Arial"/>
              </a:rPr>
              <a:t>03</a:t>
            </a:r>
          </a:p>
        </p:txBody>
      </p:sp>
      <p:sp>
        <p:nvSpPr>
          <p:cNvPr id="4" name="TextBox 3"/>
          <p:cNvSpPr txBox="1"/>
          <p:nvPr/>
        </p:nvSpPr>
        <p:spPr>
          <a:xfrm>
            <a:off x="996696" y="3063240"/>
            <a:ext cx="10738104" cy="731520"/>
          </a:xfrm>
          <a:prstGeom prst="rect">
            <a:avLst/>
          </a:prstGeom>
          <a:noFill/>
        </p:spPr>
        <p:txBody>
          <a:bodyPr wrap="none" lIns="0" rIns="0">
            <a:noAutofit/>
          </a:bodyPr>
          <a:lstStyle/>
          <a:p>
            <a:pPr algn="l"/>
            <a:r>
              <a:rPr sz="4200" b="1" i="0">
                <a:solidFill>
                  <a:srgbClr val="0072CE"/>
                </a:solidFill>
                <a:latin typeface="Arial"/>
              </a:rPr>
              <a:t>After You Stop Looking</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Who tests it next week?</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36</a:t>
            </a:fld>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484120"/>
            <a:ext cx="128016" cy="188976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484120"/>
            <a:ext cx="10738104" cy="1005840"/>
          </a:xfrm>
          <a:prstGeom prst="rect">
            <a:avLst/>
          </a:prstGeom>
          <a:noFill/>
        </p:spPr>
        <p:txBody>
          <a:bodyPr wrap="none" lIns="0" rIns="0">
            <a:noAutofit/>
          </a:bodyPr>
          <a:lstStyle/>
          <a:p>
            <a:pPr algn="l"/>
            <a:r>
              <a:rPr sz="6000" b="1" i="0">
                <a:solidFill>
                  <a:srgbClr val="0072CE"/>
                </a:solidFill>
                <a:latin typeface="Arial"/>
              </a:rPr>
              <a:t>Routine</a:t>
            </a:r>
          </a:p>
        </p:txBody>
      </p:sp>
      <p:sp>
        <p:nvSpPr>
          <p:cNvPr id="4" name="TextBox 3"/>
          <p:cNvSpPr txBox="1"/>
          <p:nvPr/>
        </p:nvSpPr>
        <p:spPr>
          <a:xfrm>
            <a:off x="996696" y="3764280"/>
            <a:ext cx="11195304" cy="609600"/>
          </a:xfrm>
          <a:prstGeom prst="rect">
            <a:avLst/>
          </a:prstGeom>
          <a:noFill/>
        </p:spPr>
        <p:txBody>
          <a:bodyPr wrap="none" lIns="0" rIns="0">
            <a:noAutofit/>
          </a:bodyPr>
          <a:lstStyle/>
          <a:p>
            <a:pPr algn="l"/>
            <a:r>
              <a:rPr sz="3400" b="0" i="0">
                <a:solidFill>
                  <a:srgbClr val="0A2240"/>
                </a:solidFill>
                <a:latin typeface="Arial"/>
              </a:rPr>
              <a:t>A prompt that runs on a schedule, without you</a:t>
            </a:r>
          </a:p>
        </p:txBody>
      </p:sp>
      <p:sp>
        <p:nvSpPr>
          <p:cNvPr id="5" name="TextBox 4"/>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37</a:t>
            </a:fld>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580971" cy="768096"/>
          </a:xfrm>
          <a:prstGeom prst="rect">
            <a:avLst/>
          </a:prstGeom>
          <a:noFill/>
        </p:spPr>
        <p:txBody>
          <a:bodyPr wrap="none" lIns="0" rIns="0">
            <a:noAutofit/>
          </a:bodyPr>
          <a:lstStyle/>
          <a:p>
            <a:pPr algn="l"/>
            <a:r>
              <a:rPr sz="4200" b="1" i="0">
                <a:solidFill>
                  <a:srgbClr val="0072CE"/>
                </a:solidFill>
                <a:latin typeface="Arial"/>
              </a:rPr>
              <a:t>Why Schedule Checks at All</a:t>
            </a:r>
          </a:p>
        </p:txBody>
      </p:sp>
      <p:sp>
        <p:nvSpPr>
          <p:cNvPr id="3" name="TextBox 2"/>
          <p:cNvSpPr txBox="1"/>
          <p:nvPr/>
        </p:nvSpPr>
        <p:spPr>
          <a:xfrm>
            <a:off x="457200" y="1908050"/>
            <a:ext cx="11734800" cy="518159"/>
          </a:xfrm>
          <a:prstGeom prst="rect">
            <a:avLst/>
          </a:prstGeom>
          <a:noFill/>
        </p:spPr>
        <p:txBody>
          <a:bodyPr wrap="none" lIns="0" rIns="0">
            <a:noAutofit/>
          </a:bodyPr>
          <a:lstStyle/>
          <a:p>
            <a:pPr algn="l"/>
            <a:r>
              <a:rPr sz="3400" b="0" i="0">
                <a:solidFill>
                  <a:srgbClr val="0A2240"/>
                </a:solidFill>
                <a:latin typeface="Arial"/>
              </a:rPr>
              <a:t>Things break with nobody touching them</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key expires, a service moves</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You will not think to look</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 dead demo is found by a judge</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38</a:t>
            </a:fld>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Setting One Up</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730017" cy="640080"/>
          </a:xfrm>
          <a:prstGeom prst="rect">
            <a:avLst/>
          </a:prstGeom>
          <a:noFill/>
        </p:spPr>
        <p:txBody>
          <a:bodyPr wrap="none" lIns="0" rIns="0">
            <a:noAutofit/>
          </a:bodyPr>
          <a:lstStyle/>
          <a:p>
            <a:pPr algn="l"/>
            <a:r>
              <a:rPr sz="4200" b="1" i="0">
                <a:solidFill>
                  <a:srgbClr val="123A6B"/>
                </a:solidFill>
                <a:latin typeface="Arial"/>
              </a:rPr>
              <a:t>Write the check as a prompt</a:t>
            </a:r>
          </a:p>
        </p:txBody>
      </p:sp>
      <p:sp>
        <p:nvSpPr>
          <p:cNvPr id="5" name="TextBox 4"/>
          <p:cNvSpPr txBox="1"/>
          <p:nvPr/>
        </p:nvSpPr>
        <p:spPr>
          <a:xfrm>
            <a:off x="1461983" y="2185416"/>
            <a:ext cx="10730017" cy="551688"/>
          </a:xfrm>
          <a:prstGeom prst="rect">
            <a:avLst/>
          </a:prstGeom>
          <a:noFill/>
        </p:spPr>
        <p:txBody>
          <a:bodyPr wrap="none" lIns="0" rIns="0">
            <a:noAutofit/>
          </a:bodyPr>
          <a:lstStyle/>
          <a:p>
            <a:pPr algn="l"/>
            <a:r>
              <a:rPr sz="3400" b="0" i="0">
                <a:solidFill>
                  <a:srgbClr val="0A2240"/>
                </a:solidFill>
                <a:latin typeface="Arial"/>
              </a:rPr>
              <a:t>Exactly what you would do by hand</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Pick a schedule</a:t>
            </a:r>
          </a:p>
        </p:txBody>
      </p:sp>
      <p:sp>
        <p:nvSpPr>
          <p:cNvPr id="8" name="TextBox 7"/>
          <p:cNvSpPr txBox="1"/>
          <p:nvPr/>
        </p:nvSpPr>
        <p:spPr>
          <a:xfrm>
            <a:off x="1461983" y="3697224"/>
            <a:ext cx="10549790" cy="551688"/>
          </a:xfrm>
          <a:prstGeom prst="rect">
            <a:avLst/>
          </a:prstGeom>
          <a:noFill/>
        </p:spPr>
        <p:txBody>
          <a:bodyPr wrap="none" lIns="0" rIns="0">
            <a:noAutofit/>
          </a:bodyPr>
          <a:lstStyle/>
          <a:p>
            <a:pPr algn="l"/>
            <a:r>
              <a:rPr sz="3400" b="0" i="0">
                <a:solidFill>
                  <a:srgbClr val="0A2240"/>
                </a:solidFill>
                <a:latin typeface="Arial"/>
              </a:rPr>
              <a:t>Daily is right for almost everything</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Say where it reports</a:t>
            </a:r>
          </a:p>
        </p:txBody>
      </p:sp>
      <p:sp>
        <p:nvSpPr>
          <p:cNvPr id="11" name="TextBox 10"/>
          <p:cNvSpPr txBox="1"/>
          <p:nvPr/>
        </p:nvSpPr>
        <p:spPr>
          <a:xfrm>
            <a:off x="1461983" y="5209032"/>
            <a:ext cx="10704294" cy="551688"/>
          </a:xfrm>
          <a:prstGeom prst="rect">
            <a:avLst/>
          </a:prstGeom>
          <a:noFill/>
        </p:spPr>
        <p:txBody>
          <a:bodyPr wrap="none" lIns="0" rIns="0">
            <a:noAutofit/>
          </a:bodyPr>
          <a:lstStyle/>
          <a:p>
            <a:pPr algn="l"/>
            <a:r>
              <a:rPr sz="3400" b="0" i="0">
                <a:solidFill>
                  <a:srgbClr val="0A2240"/>
                </a:solidFill>
                <a:latin typeface="Arial"/>
              </a:rPr>
              <a:t>Somewhere you will actually see it</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0C1A1C"/>
        </a:solidFill>
        <a:effectLst/>
      </p:bgPr>
    </p:bg>
    <p:spTree>
      <p:nvGrpSpPr>
        <p:cNvPr id="1" name=""/>
        <p:cNvGrpSpPr/>
        <p:nvPr/>
      </p:nvGrpSpPr>
      <p:grpSpPr/>
      <p:sp>
        <p:nvSpPr>
          <p:cNvPr id="2" name="Rectangle 1"/>
          <p:cNvSpPr/>
          <p:nvPr/>
        </p:nvSpPr>
        <p:spPr>
          <a:xfrm>
            <a:off x="457200" y="457200"/>
            <a:ext cx="146304" cy="146304"/>
          </a:xfrm>
          <a:prstGeom prst="rect">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13232" y="457200"/>
            <a:ext cx="146304" cy="146304"/>
          </a:xfrm>
          <a:prstGeom prst="rect">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9264" y="457200"/>
            <a:ext cx="146304" cy="146304"/>
          </a:xfrm>
          <a:prstGeom prst="rect">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23544"/>
            <a:ext cx="11277600" cy="640080"/>
          </a:xfrm>
          <a:prstGeom prst="rect">
            <a:avLst/>
          </a:prstGeom>
          <a:noFill/>
        </p:spPr>
        <p:txBody>
          <a:bodyPr wrap="none" lIns="0" rIns="0">
            <a:noAutofit/>
          </a:bodyPr>
          <a:lstStyle/>
          <a:p>
            <a:pPr algn="l"/>
            <a:r>
              <a:rPr sz="4200" b="0" i="0">
                <a:solidFill>
                  <a:srgbClr val="D4D4D4"/>
                </a:solidFill>
                <a:latin typeface="Arial"/>
              </a:rPr>
              <a:t>A check worth scheduling</a:t>
            </a:r>
          </a:p>
        </p:txBody>
      </p:sp>
      <p:sp>
        <p:nvSpPr>
          <p:cNvPr id="6" name="TextBox 5"/>
          <p:cNvSpPr txBox="1"/>
          <p:nvPr/>
        </p:nvSpPr>
        <p:spPr>
          <a:xfrm>
            <a:off x="457200" y="1837944"/>
            <a:ext cx="5596910" cy="518159"/>
          </a:xfrm>
          <a:prstGeom prst="rect">
            <a:avLst/>
          </a:prstGeom>
          <a:noFill/>
        </p:spPr>
        <p:txBody>
          <a:bodyPr wrap="none" lIns="0" rIns="0">
            <a:noAutofit/>
          </a:bodyPr>
          <a:lstStyle/>
          <a:p>
            <a:pPr algn="l"/>
            <a:r>
              <a:rPr sz="3400" b="0" i="0">
                <a:solidFill>
                  <a:srgbClr val="D4D4D4"/>
                </a:solidFill>
                <a:latin typeface="Arial"/>
              </a:rPr>
              <a:t>Every morning at </a:t>
            </a:r>
          </a:p>
        </p:txBody>
      </p:sp>
      <p:sp>
        <p:nvSpPr>
          <p:cNvPr id="7" name="TextBox 6"/>
          <p:cNvSpPr txBox="1"/>
          <p:nvPr/>
        </p:nvSpPr>
        <p:spPr>
          <a:xfrm>
            <a:off x="3840969" y="1837944"/>
            <a:ext cx="567115" cy="518159"/>
          </a:xfrm>
          <a:prstGeom prst="rect">
            <a:avLst/>
          </a:prstGeom>
          <a:noFill/>
        </p:spPr>
        <p:txBody>
          <a:bodyPr wrap="none" lIns="0" rIns="0">
            <a:noAutofit/>
          </a:bodyPr>
          <a:lstStyle/>
          <a:p>
            <a:pPr algn="l"/>
            <a:r>
              <a:rPr sz="3400" b="0" i="0">
                <a:solidFill>
                  <a:srgbClr val="B5CEA8"/>
                </a:solidFill>
                <a:latin typeface="Arial"/>
              </a:rPr>
              <a:t>8</a:t>
            </a:r>
          </a:p>
        </p:txBody>
      </p:sp>
      <p:sp>
        <p:nvSpPr>
          <p:cNvPr id="8" name="TextBox 7"/>
          <p:cNvSpPr txBox="1"/>
          <p:nvPr/>
        </p:nvSpPr>
        <p:spPr>
          <a:xfrm>
            <a:off x="4081115" y="1837944"/>
            <a:ext cx="374828" cy="518159"/>
          </a:xfrm>
          <a:prstGeom prst="rect">
            <a:avLst/>
          </a:prstGeom>
          <a:noFill/>
        </p:spPr>
        <p:txBody>
          <a:bodyPr wrap="none" lIns="0" rIns="0">
            <a:noAutofit/>
          </a:bodyPr>
          <a:lstStyle/>
          <a:p>
            <a:pPr algn="l"/>
            <a:r>
              <a:rPr sz="3400" b="0" i="0">
                <a:solidFill>
                  <a:srgbClr val="D4D4D4"/>
                </a:solidFill>
                <a:latin typeface="Arial"/>
              </a:rPr>
              <a:t>:</a:t>
            </a:r>
          </a:p>
        </p:txBody>
      </p:sp>
      <p:sp>
        <p:nvSpPr>
          <p:cNvPr id="9" name="TextBox 8"/>
          <p:cNvSpPr txBox="1"/>
          <p:nvPr/>
        </p:nvSpPr>
        <p:spPr>
          <a:xfrm>
            <a:off x="457200" y="2356103"/>
            <a:ext cx="7633454" cy="518159"/>
          </a:xfrm>
          <a:prstGeom prst="rect">
            <a:avLst/>
          </a:prstGeom>
          <a:noFill/>
        </p:spPr>
        <p:txBody>
          <a:bodyPr wrap="none" lIns="0" rIns="0">
            <a:noAutofit/>
          </a:bodyPr>
          <a:lstStyle/>
          <a:p>
            <a:pPr algn="l"/>
            <a:r>
              <a:rPr sz="3400" b="0" i="0">
                <a:solidFill>
                  <a:srgbClr val="D4D4D4"/>
                </a:solidFill>
                <a:latin typeface="Arial"/>
              </a:rPr>
              <a:t>Open &lt;our public URL&gt;.</a:t>
            </a:r>
          </a:p>
        </p:txBody>
      </p:sp>
      <p:sp>
        <p:nvSpPr>
          <p:cNvPr id="10" name="TextBox 9"/>
          <p:cNvSpPr txBox="1"/>
          <p:nvPr/>
        </p:nvSpPr>
        <p:spPr>
          <a:xfrm>
            <a:off x="457200" y="2874262"/>
            <a:ext cx="11318596" cy="518159"/>
          </a:xfrm>
          <a:prstGeom prst="rect">
            <a:avLst/>
          </a:prstGeom>
          <a:noFill/>
        </p:spPr>
        <p:txBody>
          <a:bodyPr wrap="none" lIns="0" rIns="0">
            <a:noAutofit/>
          </a:bodyPr>
          <a:lstStyle/>
          <a:p>
            <a:pPr algn="l"/>
            <a:r>
              <a:rPr sz="3400" b="0" i="0">
                <a:solidFill>
                  <a:srgbClr val="D4D4D4"/>
                </a:solidFill>
                <a:latin typeface="Arial"/>
              </a:rPr>
              <a:t>Upload fixtures/report.pdf, click Run.</a:t>
            </a:r>
          </a:p>
        </p:txBody>
      </p:sp>
      <p:sp>
        <p:nvSpPr>
          <p:cNvPr id="11" name="TextBox 10"/>
          <p:cNvSpPr txBox="1"/>
          <p:nvPr/>
        </p:nvSpPr>
        <p:spPr>
          <a:xfrm>
            <a:off x="457200" y="3392421"/>
            <a:ext cx="4023875" cy="518159"/>
          </a:xfrm>
          <a:prstGeom prst="rect">
            <a:avLst/>
          </a:prstGeom>
          <a:noFill/>
        </p:spPr>
        <p:txBody>
          <a:bodyPr wrap="none" lIns="0" rIns="0">
            <a:noAutofit/>
          </a:bodyPr>
          <a:lstStyle/>
          <a:p>
            <a:pPr algn="l"/>
            <a:r>
              <a:rPr sz="3400" b="0" i="0">
                <a:solidFill>
                  <a:srgbClr val="D4D4D4"/>
                </a:solidFill>
                <a:latin typeface="Arial"/>
              </a:rPr>
              <a:t>If the output </a:t>
            </a:r>
          </a:p>
        </p:txBody>
      </p:sp>
      <p:sp>
        <p:nvSpPr>
          <p:cNvPr id="12" name="TextBox 11"/>
          <p:cNvSpPr txBox="1"/>
          <p:nvPr/>
        </p:nvSpPr>
        <p:spPr>
          <a:xfrm>
            <a:off x="2857822" y="3392421"/>
            <a:ext cx="681811" cy="518159"/>
          </a:xfrm>
          <a:prstGeom prst="rect">
            <a:avLst/>
          </a:prstGeom>
          <a:noFill/>
        </p:spPr>
        <p:txBody>
          <a:bodyPr wrap="none" lIns="0" rIns="0">
            <a:noAutofit/>
          </a:bodyPr>
          <a:lstStyle/>
          <a:p>
            <a:pPr algn="l"/>
            <a:r>
              <a:rPr sz="3400" b="0" i="0">
                <a:solidFill>
                  <a:srgbClr val="569CD6"/>
                </a:solidFill>
                <a:latin typeface="Arial"/>
              </a:rPr>
              <a:t>is</a:t>
            </a:r>
          </a:p>
        </p:txBody>
      </p:sp>
      <p:sp>
        <p:nvSpPr>
          <p:cNvPr id="13" name="TextBox 12"/>
          <p:cNvSpPr txBox="1"/>
          <p:nvPr/>
        </p:nvSpPr>
        <p:spPr>
          <a:xfrm>
            <a:off x="3169655" y="3392421"/>
            <a:ext cx="2908617" cy="518159"/>
          </a:xfrm>
          <a:prstGeom prst="rect">
            <a:avLst/>
          </a:prstGeom>
          <a:noFill/>
        </p:spPr>
        <p:txBody>
          <a:bodyPr wrap="none" lIns="0" rIns="0">
            <a:noAutofit/>
          </a:bodyPr>
          <a:lstStyle/>
          <a:p>
            <a:pPr algn="l"/>
            <a:r>
              <a:rPr sz="3400" b="0" i="0">
                <a:solidFill>
                  <a:srgbClr val="D4D4D4"/>
                </a:solidFill>
                <a:latin typeface="Arial"/>
              </a:rPr>
              <a:t> missing </a:t>
            </a:r>
          </a:p>
        </p:txBody>
      </p:sp>
      <p:sp>
        <p:nvSpPr>
          <p:cNvPr id="14" name="TextBox 13"/>
          <p:cNvSpPr txBox="1"/>
          <p:nvPr/>
        </p:nvSpPr>
        <p:spPr>
          <a:xfrm>
            <a:off x="4873241" y="3392421"/>
            <a:ext cx="797182" cy="518159"/>
          </a:xfrm>
          <a:prstGeom prst="rect">
            <a:avLst/>
          </a:prstGeom>
          <a:noFill/>
        </p:spPr>
        <p:txBody>
          <a:bodyPr wrap="none" lIns="0" rIns="0">
            <a:noAutofit/>
          </a:bodyPr>
          <a:lstStyle/>
          <a:p>
            <a:pPr algn="l"/>
            <a:r>
              <a:rPr sz="3400" b="0" i="0">
                <a:solidFill>
                  <a:srgbClr val="569CD6"/>
                </a:solidFill>
                <a:latin typeface="Arial"/>
              </a:rPr>
              <a:t>or</a:t>
            </a:r>
          </a:p>
        </p:txBody>
      </p:sp>
      <p:sp>
        <p:nvSpPr>
          <p:cNvPr id="15" name="TextBox 14"/>
          <p:cNvSpPr txBox="1"/>
          <p:nvPr/>
        </p:nvSpPr>
        <p:spPr>
          <a:xfrm>
            <a:off x="5257180" y="3392421"/>
            <a:ext cx="2448480" cy="518159"/>
          </a:xfrm>
          <a:prstGeom prst="rect">
            <a:avLst/>
          </a:prstGeom>
          <a:noFill/>
        </p:spPr>
        <p:txBody>
          <a:bodyPr wrap="none" lIns="0" rIns="0">
            <a:noAutofit/>
          </a:bodyPr>
          <a:lstStyle/>
          <a:p>
            <a:pPr algn="l"/>
            <a:r>
              <a:rPr sz="3400" b="0" i="0">
                <a:solidFill>
                  <a:srgbClr val="D4D4D4"/>
                </a:solidFill>
                <a:latin typeface="Arial"/>
              </a:rPr>
              <a:t> wrong,</a:t>
            </a:r>
          </a:p>
        </p:txBody>
      </p:sp>
      <p:sp>
        <p:nvSpPr>
          <p:cNvPr id="16" name="TextBox 15"/>
          <p:cNvSpPr txBox="1"/>
          <p:nvPr/>
        </p:nvSpPr>
        <p:spPr>
          <a:xfrm>
            <a:off x="457200" y="3910580"/>
            <a:ext cx="2371566" cy="518159"/>
          </a:xfrm>
          <a:prstGeom prst="rect">
            <a:avLst/>
          </a:prstGeom>
          <a:noFill/>
        </p:spPr>
        <p:txBody>
          <a:bodyPr wrap="none" lIns="0" rIns="0">
            <a:noAutofit/>
          </a:bodyPr>
          <a:lstStyle/>
          <a:p>
            <a:pPr algn="l"/>
            <a:r>
              <a:rPr sz="3400" b="0" i="0">
                <a:solidFill>
                  <a:srgbClr val="D4D4D4"/>
                </a:solidFill>
                <a:latin typeface="Arial"/>
              </a:rPr>
              <a:t>say so </a:t>
            </a:r>
          </a:p>
        </p:txBody>
      </p:sp>
      <p:sp>
        <p:nvSpPr>
          <p:cNvPr id="17" name="TextBox 16"/>
          <p:cNvSpPr txBox="1"/>
          <p:nvPr/>
        </p:nvSpPr>
        <p:spPr>
          <a:xfrm>
            <a:off x="1825129" y="3910580"/>
            <a:ext cx="720606" cy="518159"/>
          </a:xfrm>
          <a:prstGeom prst="rect">
            <a:avLst/>
          </a:prstGeom>
          <a:noFill/>
        </p:spPr>
        <p:txBody>
          <a:bodyPr wrap="none" lIns="0" rIns="0">
            <a:noAutofit/>
          </a:bodyPr>
          <a:lstStyle/>
          <a:p>
            <a:pPr algn="l"/>
            <a:r>
              <a:rPr sz="3400" b="0" i="0">
                <a:solidFill>
                  <a:srgbClr val="569CD6"/>
                </a:solidFill>
                <a:latin typeface="Arial"/>
              </a:rPr>
              <a:t>in</a:t>
            </a:r>
          </a:p>
        </p:txBody>
      </p:sp>
      <p:sp>
        <p:nvSpPr>
          <p:cNvPr id="18" name="TextBox 17"/>
          <p:cNvSpPr txBox="1"/>
          <p:nvPr/>
        </p:nvSpPr>
        <p:spPr>
          <a:xfrm>
            <a:off x="2161208" y="3910580"/>
            <a:ext cx="8937961" cy="518159"/>
          </a:xfrm>
          <a:prstGeom prst="rect">
            <a:avLst/>
          </a:prstGeom>
          <a:noFill/>
        </p:spPr>
        <p:txBody>
          <a:bodyPr wrap="none" lIns="0" rIns="0">
            <a:noAutofit/>
          </a:bodyPr>
          <a:lstStyle/>
          <a:p>
            <a:pPr algn="l"/>
            <a:r>
              <a:rPr sz="3400" b="0" i="0">
                <a:solidFill>
                  <a:srgbClr val="D4D4D4"/>
                </a:solidFill>
                <a:latin typeface="Arial"/>
              </a:rPr>
              <a:t> one line. Otherwise say OK.</a:t>
            </a:r>
          </a:p>
        </p:txBody>
      </p:sp>
      <p:sp>
        <p:nvSpPr>
          <p:cNvPr id="19" name="TextBox 1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to Schedule</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The happy path, end to end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The findings you fixed today</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The URL still loads at all</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Anything with a key or a quota</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41</a:t>
            </a:fld>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Two Kinds of Check</a:t>
            </a:r>
          </a:p>
        </p:txBody>
      </p:sp>
      <p:sp>
        <p:nvSpPr>
          <p:cNvPr id="3" name="TextBox 2"/>
          <p:cNvSpPr txBox="1"/>
          <p:nvPr/>
        </p:nvSpPr>
        <p:spPr>
          <a:xfrm>
            <a:off x="457200" y="1499616"/>
            <a:ext cx="5501640" cy="621791"/>
          </a:xfrm>
          <a:prstGeom prst="rect">
            <a:avLst/>
          </a:prstGeom>
          <a:noFill/>
        </p:spPr>
        <p:txBody>
          <a:bodyPr wrap="none" lIns="0" rIns="0">
            <a:noAutofit/>
          </a:bodyPr>
          <a:lstStyle/>
          <a:p>
            <a:pPr algn="l"/>
            <a:r>
              <a:rPr sz="3400" b="1" i="0">
                <a:solidFill>
                  <a:srgbClr val="5B6B82"/>
                </a:solidFill>
                <a:latin typeface="Arial"/>
              </a:rPr>
              <a:t>Weak</a:t>
            </a:r>
          </a:p>
        </p:txBody>
      </p:sp>
      <p:sp>
        <p:nvSpPr>
          <p:cNvPr id="4" name="Rectangle 3"/>
          <p:cNvSpPr/>
          <p:nvPr/>
        </p:nvSpPr>
        <p:spPr>
          <a:xfrm>
            <a:off x="548640" y="2176271"/>
            <a:ext cx="1650492" cy="54864"/>
          </a:xfrm>
          <a:prstGeom prst="rect">
            <a:avLst/>
          </a:prstGeom>
          <a:solidFill>
            <a:srgbClr val="5B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233160" y="1499616"/>
            <a:ext cx="5501640" cy="621791"/>
          </a:xfrm>
          <a:prstGeom prst="rect">
            <a:avLst/>
          </a:prstGeom>
          <a:noFill/>
        </p:spPr>
        <p:txBody>
          <a:bodyPr wrap="none" lIns="0" rIns="0">
            <a:noAutofit/>
          </a:bodyPr>
          <a:lstStyle/>
          <a:p>
            <a:pPr algn="l"/>
            <a:r>
              <a:rPr sz="3400" b="1" i="0">
                <a:solidFill>
                  <a:srgbClr val="0072CE"/>
                </a:solidFill>
                <a:latin typeface="Arial"/>
              </a:rPr>
              <a:t>Strong</a:t>
            </a:r>
          </a:p>
        </p:txBody>
      </p:sp>
      <p:sp>
        <p:nvSpPr>
          <p:cNvPr id="6" name="Rectangle 5"/>
          <p:cNvSpPr/>
          <p:nvPr/>
        </p:nvSpPr>
        <p:spPr>
          <a:xfrm>
            <a:off x="6324600" y="2176271"/>
            <a:ext cx="1650492"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2395727"/>
            <a:ext cx="5702499" cy="609600"/>
          </a:xfrm>
          <a:prstGeom prst="rect">
            <a:avLst/>
          </a:prstGeom>
          <a:noFill/>
        </p:spPr>
        <p:txBody>
          <a:bodyPr wrap="none" lIns="0" rIns="0">
            <a:noAutofit/>
          </a:bodyPr>
          <a:lstStyle/>
          <a:p>
            <a:pPr algn="l"/>
            <a:r>
              <a:rPr sz="3400" b="0" i="0">
                <a:solidFill>
                  <a:srgbClr val="0A2240"/>
                </a:solidFill>
                <a:latin typeface="Arial"/>
              </a:rPr>
              <a:t>"Check if it works"</a:t>
            </a:r>
          </a:p>
        </p:txBody>
      </p:sp>
      <p:sp>
        <p:nvSpPr>
          <p:cNvPr id="8" name="TextBox 7"/>
          <p:cNvSpPr txBox="1"/>
          <p:nvPr/>
        </p:nvSpPr>
        <p:spPr>
          <a:xfrm>
            <a:off x="457200" y="3608831"/>
            <a:ext cx="7095390" cy="609600"/>
          </a:xfrm>
          <a:prstGeom prst="rect">
            <a:avLst/>
          </a:prstGeom>
          <a:noFill/>
        </p:spPr>
        <p:txBody>
          <a:bodyPr wrap="none" lIns="0" rIns="0">
            <a:noAutofit/>
          </a:bodyPr>
          <a:lstStyle/>
          <a:p>
            <a:pPr algn="l"/>
            <a:r>
              <a:rPr sz="3400" b="0" i="0">
                <a:solidFill>
                  <a:srgbClr val="0A2240"/>
                </a:solidFill>
                <a:latin typeface="Arial"/>
              </a:rPr>
              <a:t>Reports only on failure</a:t>
            </a:r>
          </a:p>
        </p:txBody>
      </p:sp>
      <p:sp>
        <p:nvSpPr>
          <p:cNvPr id="9" name="TextBox 8"/>
          <p:cNvSpPr txBox="1"/>
          <p:nvPr/>
        </p:nvSpPr>
        <p:spPr>
          <a:xfrm>
            <a:off x="457200" y="4821935"/>
            <a:ext cx="8171180" cy="609600"/>
          </a:xfrm>
          <a:prstGeom prst="rect">
            <a:avLst/>
          </a:prstGeom>
          <a:noFill/>
        </p:spPr>
        <p:txBody>
          <a:bodyPr wrap="none" lIns="0" rIns="0">
            <a:noAutofit/>
          </a:bodyPr>
          <a:lstStyle/>
          <a:p>
            <a:pPr algn="l"/>
            <a:r>
              <a:rPr sz="3400" b="0" i="0">
                <a:solidFill>
                  <a:srgbClr val="0A2240"/>
                </a:solidFill>
                <a:latin typeface="Arial"/>
              </a:rPr>
              <a:t>Goes where nobody looks</a:t>
            </a:r>
          </a:p>
        </p:txBody>
      </p:sp>
      <p:sp>
        <p:nvSpPr>
          <p:cNvPr id="10" name="TextBox 9"/>
          <p:cNvSpPr txBox="1"/>
          <p:nvPr/>
        </p:nvSpPr>
        <p:spPr>
          <a:xfrm>
            <a:off x="6233160" y="2395727"/>
            <a:ext cx="5958840" cy="609600"/>
          </a:xfrm>
          <a:prstGeom prst="rect">
            <a:avLst/>
          </a:prstGeom>
          <a:noFill/>
        </p:spPr>
        <p:txBody>
          <a:bodyPr wrap="none" lIns="0" rIns="0">
            <a:noAutofit/>
          </a:bodyPr>
          <a:lstStyle/>
          <a:p>
            <a:pPr algn="l"/>
            <a:r>
              <a:rPr sz="3400" b="0" i="0">
                <a:solidFill>
                  <a:srgbClr val="0A2240"/>
                </a:solidFill>
                <a:latin typeface="Arial"/>
              </a:rPr>
              <a:t>One input, one expectation</a:t>
            </a:r>
          </a:p>
        </p:txBody>
      </p:sp>
      <p:sp>
        <p:nvSpPr>
          <p:cNvPr id="11" name="TextBox 10"/>
          <p:cNvSpPr txBox="1"/>
          <p:nvPr/>
        </p:nvSpPr>
        <p:spPr>
          <a:xfrm>
            <a:off x="6233160" y="3608831"/>
            <a:ext cx="5942686" cy="609600"/>
          </a:xfrm>
          <a:prstGeom prst="rect">
            <a:avLst/>
          </a:prstGeom>
          <a:noFill/>
        </p:spPr>
        <p:txBody>
          <a:bodyPr wrap="none" lIns="0" rIns="0">
            <a:noAutofit/>
          </a:bodyPr>
          <a:lstStyle/>
          <a:p>
            <a:pPr algn="l"/>
            <a:r>
              <a:rPr sz="3400" b="0" i="0">
                <a:solidFill>
                  <a:srgbClr val="0A2240"/>
                </a:solidFill>
                <a:latin typeface="Arial"/>
              </a:rPr>
              <a:t>Reports either way</a:t>
            </a:r>
          </a:p>
        </p:txBody>
      </p:sp>
      <p:sp>
        <p:nvSpPr>
          <p:cNvPr id="12" name="TextBox 11"/>
          <p:cNvSpPr txBox="1"/>
          <p:nvPr/>
        </p:nvSpPr>
        <p:spPr>
          <a:xfrm>
            <a:off x="6233160" y="4821935"/>
            <a:ext cx="5958840" cy="609600"/>
          </a:xfrm>
          <a:prstGeom prst="rect">
            <a:avLst/>
          </a:prstGeom>
          <a:noFill/>
        </p:spPr>
        <p:txBody>
          <a:bodyPr wrap="none" lIns="0" rIns="0">
            <a:noAutofit/>
          </a:bodyPr>
          <a:lstStyle/>
          <a:p>
            <a:pPr algn="l"/>
            <a:r>
              <a:rPr sz="3400" b="0" i="0">
                <a:solidFill>
                  <a:srgbClr val="0A2240"/>
                </a:solidFill>
                <a:latin typeface="Arial"/>
              </a:rPr>
              <a:t>Lands where you look daily</a:t>
            </a:r>
          </a:p>
        </p:txBody>
      </p:sp>
      <p:sp>
        <p:nvSpPr>
          <p:cNvPr id="13" name="TextBox 12"/>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42</a:t>
            </a:fld>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Schedule as Many as It Needs</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One per fix you made today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One for the happy path</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One for each external thing</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Cheap enough to be generous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Three Every Prototype Needs</a:t>
            </a:r>
          </a:p>
        </p:txBody>
      </p:sp>
      <p:sp>
        <p:nvSpPr>
          <p:cNvPr id="3" name="TextBox 2"/>
          <p:cNvSpPr txBox="1"/>
          <p:nvPr/>
        </p:nvSpPr>
        <p:spPr>
          <a:xfrm>
            <a:off x="457200" y="1499616"/>
            <a:ext cx="11277600" cy="518159"/>
          </a:xfrm>
          <a:prstGeom prst="rect">
            <a:avLst/>
          </a:prstGeom>
          <a:noFill/>
        </p:spPr>
        <p:txBody>
          <a:bodyPr wrap="none" lIns="0" rIns="0">
            <a:noAutofit/>
          </a:bodyPr>
          <a:lstStyle/>
          <a:p>
            <a:pPr algn="l"/>
            <a:r>
              <a:rPr sz="3400" b="1" i="0">
                <a:solidFill>
                  <a:srgbClr val="0A2240"/>
                </a:solidFill>
                <a:latin typeface="Arial"/>
              </a:rPr>
              <a:t>Is it alive</a:t>
            </a:r>
          </a:p>
        </p:txBody>
      </p:sp>
      <p:sp>
        <p:nvSpPr>
          <p:cNvPr id="4" name="TextBox 3"/>
          <p:cNvSpPr txBox="1"/>
          <p:nvPr/>
        </p:nvSpPr>
        <p:spPr>
          <a:xfrm>
            <a:off x="457200" y="2109215"/>
            <a:ext cx="11277600" cy="627889"/>
          </a:xfrm>
          <a:prstGeom prst="rect">
            <a:avLst/>
          </a:prstGeom>
          <a:noFill/>
        </p:spPr>
        <p:txBody>
          <a:bodyPr wrap="none" lIns="0" rIns="0">
            <a:noAutofit/>
          </a:bodyPr>
          <a:lstStyle/>
          <a:p>
            <a:pPr algn="l"/>
            <a:r>
              <a:rPr sz="3400" b="0" i="0">
                <a:solidFill>
                  <a:srgbClr val="0A2240"/>
                </a:solidFill>
                <a:latin typeface="Arial"/>
              </a:rPr>
              <a:t>The URL loads and returns a page</a:t>
            </a:r>
          </a:p>
        </p:txBody>
      </p:sp>
      <p:sp>
        <p:nvSpPr>
          <p:cNvPr id="5" name="TextBox 4"/>
          <p:cNvSpPr txBox="1"/>
          <p:nvPr/>
        </p:nvSpPr>
        <p:spPr>
          <a:xfrm>
            <a:off x="457200" y="3011424"/>
            <a:ext cx="11277600" cy="518159"/>
          </a:xfrm>
          <a:prstGeom prst="rect">
            <a:avLst/>
          </a:prstGeom>
          <a:noFill/>
        </p:spPr>
        <p:txBody>
          <a:bodyPr wrap="none" lIns="0" rIns="0">
            <a:noAutofit/>
          </a:bodyPr>
          <a:lstStyle/>
          <a:p>
            <a:pPr algn="l"/>
            <a:r>
              <a:rPr sz="3400" b="1" i="0">
                <a:solidFill>
                  <a:srgbClr val="0A2240"/>
                </a:solidFill>
                <a:latin typeface="Arial"/>
              </a:rPr>
              <a:t>Does it still work</a:t>
            </a:r>
          </a:p>
        </p:txBody>
      </p:sp>
      <p:sp>
        <p:nvSpPr>
          <p:cNvPr id="6" name="TextBox 5"/>
          <p:cNvSpPr txBox="1"/>
          <p:nvPr/>
        </p:nvSpPr>
        <p:spPr>
          <a:xfrm>
            <a:off x="457200" y="3621023"/>
            <a:ext cx="11277600" cy="627889"/>
          </a:xfrm>
          <a:prstGeom prst="rect">
            <a:avLst/>
          </a:prstGeom>
          <a:noFill/>
        </p:spPr>
        <p:txBody>
          <a:bodyPr wrap="none" lIns="0" rIns="0">
            <a:noAutofit/>
          </a:bodyPr>
          <a:lstStyle/>
          <a:p>
            <a:pPr algn="l"/>
            <a:r>
              <a:rPr sz="3400" b="0" i="0">
                <a:solidFill>
                  <a:srgbClr val="0A2240"/>
                </a:solidFill>
                <a:latin typeface="Arial"/>
              </a:rPr>
              <a:t>The happy path, start to finish, daily</a:t>
            </a:r>
          </a:p>
        </p:txBody>
      </p:sp>
      <p:sp>
        <p:nvSpPr>
          <p:cNvPr id="7" name="TextBox 6"/>
          <p:cNvSpPr txBox="1"/>
          <p:nvPr/>
        </p:nvSpPr>
        <p:spPr>
          <a:xfrm>
            <a:off x="457200" y="4523232"/>
            <a:ext cx="11277600" cy="518159"/>
          </a:xfrm>
          <a:prstGeom prst="rect">
            <a:avLst/>
          </a:prstGeom>
          <a:noFill/>
        </p:spPr>
        <p:txBody>
          <a:bodyPr wrap="none" lIns="0" rIns="0">
            <a:noAutofit/>
          </a:bodyPr>
          <a:lstStyle/>
          <a:p>
            <a:pPr algn="l"/>
            <a:r>
              <a:rPr sz="3400" b="1" i="0">
                <a:solidFill>
                  <a:srgbClr val="0A2240"/>
                </a:solidFill>
                <a:latin typeface="Arial"/>
              </a:rPr>
              <a:t>Did the fixes hold</a:t>
            </a:r>
          </a:p>
        </p:txBody>
      </p:sp>
      <p:sp>
        <p:nvSpPr>
          <p:cNvPr id="8" name="TextBox 7"/>
          <p:cNvSpPr txBox="1"/>
          <p:nvPr/>
        </p:nvSpPr>
        <p:spPr>
          <a:xfrm>
            <a:off x="457200" y="5132831"/>
            <a:ext cx="11277600" cy="627889"/>
          </a:xfrm>
          <a:prstGeom prst="rect">
            <a:avLst/>
          </a:prstGeom>
          <a:noFill/>
        </p:spPr>
        <p:txBody>
          <a:bodyPr wrap="none" lIns="0" rIns="0">
            <a:noAutofit/>
          </a:bodyPr>
          <a:lstStyle/>
          <a:p>
            <a:pPr algn="l"/>
            <a:r>
              <a:rPr sz="3400" b="0" i="0">
                <a:solidFill>
                  <a:srgbClr val="0A2240"/>
                </a:solidFill>
                <a:latin typeface="Arial"/>
              </a:rPr>
              <a:t>Today's findings, re-run on a timer</a:t>
            </a:r>
          </a:p>
        </p:txBody>
      </p:sp>
      <p:sp>
        <p:nvSpPr>
          <p:cNvPr id="9" name="TextBox 8"/>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44</a:t>
            </a:fld>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Handoff</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README says what it does</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CAVEATS says what it does not</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TRIAGE says what you chose</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The checks say it still runs</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45</a:t>
            </a:fld>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734800" cy="768096"/>
          </a:xfrm>
          <a:prstGeom prst="rect">
            <a:avLst/>
          </a:prstGeom>
          <a:noFill/>
        </p:spPr>
        <p:txBody>
          <a:bodyPr wrap="none" lIns="0" rIns="0">
            <a:noAutofit/>
          </a:bodyPr>
          <a:lstStyle/>
          <a:p>
            <a:pPr algn="l"/>
            <a:r>
              <a:rPr sz="4200" b="1" i="0">
                <a:solidFill>
                  <a:srgbClr val="0072CE"/>
                </a:solidFill>
                <a:latin typeface="Arial"/>
              </a:rPr>
              <a:t>The repo at the end of the week</a:t>
            </a:r>
          </a:p>
        </p:txBody>
      </p:sp>
      <p:sp>
        <p:nvSpPr>
          <p:cNvPr id="3" name="Rounded Rectangle 2"/>
          <p:cNvSpPr/>
          <p:nvPr/>
        </p:nvSpPr>
        <p:spPr>
          <a:xfrm>
            <a:off x="457200" y="1499616"/>
            <a:ext cx="11277600" cy="4261104"/>
          </a:xfrm>
          <a:prstGeom prst="roundRect">
            <a:avLst>
              <a:gd name="adj" fmla="val 3004"/>
            </a:avLst>
          </a:prstGeom>
          <a:solidFill>
            <a:srgbClr val="0C1A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819656"/>
            <a:ext cx="3402091" cy="365759"/>
          </a:xfrm>
          <a:prstGeom prst="rect">
            <a:avLst/>
          </a:prstGeom>
          <a:noFill/>
        </p:spPr>
        <p:txBody>
          <a:bodyPr wrap="none" lIns="0" rIns="0">
            <a:noAutofit/>
          </a:bodyPr>
          <a:lstStyle/>
          <a:p>
            <a:pPr algn="l"/>
            <a:r>
              <a:rPr sz="2400" b="1" i="0">
                <a:solidFill>
                  <a:srgbClr val="569CD6"/>
                </a:solidFill>
                <a:latin typeface="Courier New"/>
              </a:rPr>
              <a:t>happy-path/</a:t>
            </a:r>
          </a:p>
        </p:txBody>
      </p:sp>
      <p:sp>
        <p:nvSpPr>
          <p:cNvPr id="5" name="TextBox 4"/>
          <p:cNvSpPr txBox="1"/>
          <p:nvPr/>
        </p:nvSpPr>
        <p:spPr>
          <a:xfrm>
            <a:off x="822960" y="2185415"/>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6" name="TextBox 5"/>
          <p:cNvSpPr txBox="1"/>
          <p:nvPr/>
        </p:nvSpPr>
        <p:spPr>
          <a:xfrm>
            <a:off x="1371689" y="2185415"/>
            <a:ext cx="1646158" cy="365759"/>
          </a:xfrm>
          <a:prstGeom prst="rect">
            <a:avLst/>
          </a:prstGeom>
          <a:noFill/>
        </p:spPr>
        <p:txBody>
          <a:bodyPr wrap="none" lIns="0" rIns="0">
            <a:noAutofit/>
          </a:bodyPr>
          <a:lstStyle/>
          <a:p>
            <a:pPr algn="l"/>
            <a:r>
              <a:rPr sz="2400" b="1" i="0">
                <a:solidFill>
                  <a:srgbClr val="569CD6"/>
                </a:solidFill>
                <a:latin typeface="Courier New"/>
              </a:rPr>
              <a:t>docs/</a:t>
            </a:r>
          </a:p>
        </p:txBody>
      </p:sp>
      <p:sp>
        <p:nvSpPr>
          <p:cNvPr id="7" name="TextBox 6"/>
          <p:cNvSpPr txBox="1"/>
          <p:nvPr/>
        </p:nvSpPr>
        <p:spPr>
          <a:xfrm>
            <a:off x="822960" y="2551174"/>
            <a:ext cx="1938814" cy="365759"/>
          </a:xfrm>
          <a:prstGeom prst="rect">
            <a:avLst/>
          </a:prstGeom>
          <a:noFill/>
        </p:spPr>
        <p:txBody>
          <a:bodyPr wrap="none" lIns="0" rIns="0">
            <a:noAutofit/>
          </a:bodyPr>
          <a:lstStyle/>
          <a:p>
            <a:pPr algn="l"/>
            <a:r>
              <a:rPr sz="2400" b="0" i="0">
                <a:solidFill>
                  <a:srgbClr val="55707A"/>
                </a:solidFill>
                <a:latin typeface="Courier New"/>
              </a:rPr>
              <a:t>│  └─ </a:t>
            </a:r>
          </a:p>
        </p:txBody>
      </p:sp>
      <p:sp>
        <p:nvSpPr>
          <p:cNvPr id="8" name="TextBox 7"/>
          <p:cNvSpPr txBox="1"/>
          <p:nvPr/>
        </p:nvSpPr>
        <p:spPr>
          <a:xfrm>
            <a:off x="1920419" y="2551174"/>
            <a:ext cx="3109436" cy="365759"/>
          </a:xfrm>
          <a:prstGeom prst="rect">
            <a:avLst/>
          </a:prstGeom>
          <a:noFill/>
        </p:spPr>
        <p:txBody>
          <a:bodyPr wrap="none" lIns="0" rIns="0">
            <a:noAutofit/>
          </a:bodyPr>
          <a:lstStyle/>
          <a:p>
            <a:pPr algn="l"/>
            <a:r>
              <a:rPr sz="2400" b="0" i="0">
                <a:solidFill>
                  <a:srgbClr val="D4D4D4"/>
                </a:solidFill>
                <a:latin typeface="Courier New"/>
              </a:rPr>
              <a:t>index.html</a:t>
            </a:r>
          </a:p>
        </p:txBody>
      </p:sp>
      <p:sp>
        <p:nvSpPr>
          <p:cNvPr id="9" name="TextBox 8"/>
          <p:cNvSpPr txBox="1"/>
          <p:nvPr/>
        </p:nvSpPr>
        <p:spPr>
          <a:xfrm>
            <a:off x="822960" y="2916933"/>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10" name="TextBox 9"/>
          <p:cNvSpPr txBox="1"/>
          <p:nvPr/>
        </p:nvSpPr>
        <p:spPr>
          <a:xfrm>
            <a:off x="1371689" y="2916933"/>
            <a:ext cx="2816780" cy="365759"/>
          </a:xfrm>
          <a:prstGeom prst="rect">
            <a:avLst/>
          </a:prstGeom>
          <a:noFill/>
        </p:spPr>
        <p:txBody>
          <a:bodyPr wrap="none" lIns="0" rIns="0">
            <a:noAutofit/>
          </a:bodyPr>
          <a:lstStyle/>
          <a:p>
            <a:pPr algn="l"/>
            <a:r>
              <a:rPr sz="2400" b="1" i="0">
                <a:solidFill>
                  <a:srgbClr val="569CD6"/>
                </a:solidFill>
                <a:latin typeface="Courier New"/>
              </a:rPr>
              <a:t>fixtures/</a:t>
            </a:r>
          </a:p>
        </p:txBody>
      </p:sp>
      <p:sp>
        <p:nvSpPr>
          <p:cNvPr id="11" name="TextBox 10"/>
          <p:cNvSpPr txBox="1"/>
          <p:nvPr/>
        </p:nvSpPr>
        <p:spPr>
          <a:xfrm>
            <a:off x="822960" y="3282692"/>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12" name="TextBox 11"/>
          <p:cNvSpPr txBox="1"/>
          <p:nvPr/>
        </p:nvSpPr>
        <p:spPr>
          <a:xfrm>
            <a:off x="1371689" y="3282692"/>
            <a:ext cx="1938814" cy="365759"/>
          </a:xfrm>
          <a:prstGeom prst="rect">
            <a:avLst/>
          </a:prstGeom>
          <a:noFill/>
        </p:spPr>
        <p:txBody>
          <a:bodyPr wrap="none" lIns="0" rIns="0">
            <a:noAutofit/>
          </a:bodyPr>
          <a:lstStyle/>
          <a:p>
            <a:pPr algn="l"/>
            <a:r>
              <a:rPr sz="2400" b="1" i="0">
                <a:solidFill>
                  <a:srgbClr val="569CD6"/>
                </a:solidFill>
                <a:latin typeface="Courier New"/>
              </a:rPr>
              <a:t>steps/</a:t>
            </a:r>
          </a:p>
        </p:txBody>
      </p:sp>
      <p:sp>
        <p:nvSpPr>
          <p:cNvPr id="13" name="TextBox 12"/>
          <p:cNvSpPr txBox="1"/>
          <p:nvPr/>
        </p:nvSpPr>
        <p:spPr>
          <a:xfrm>
            <a:off x="822960" y="3648451"/>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14" name="TextBox 13"/>
          <p:cNvSpPr txBox="1"/>
          <p:nvPr/>
        </p:nvSpPr>
        <p:spPr>
          <a:xfrm>
            <a:off x="1371689" y="3648451"/>
            <a:ext cx="1938814" cy="365759"/>
          </a:xfrm>
          <a:prstGeom prst="rect">
            <a:avLst/>
          </a:prstGeom>
          <a:noFill/>
        </p:spPr>
        <p:txBody>
          <a:bodyPr wrap="none" lIns="0" rIns="0">
            <a:noAutofit/>
          </a:bodyPr>
          <a:lstStyle/>
          <a:p>
            <a:pPr algn="l"/>
            <a:r>
              <a:rPr sz="2400" b="1" i="0">
                <a:solidFill>
                  <a:srgbClr val="569CD6"/>
                </a:solidFill>
                <a:latin typeface="Courier New"/>
              </a:rPr>
              <a:t>tests/</a:t>
            </a:r>
          </a:p>
        </p:txBody>
      </p:sp>
      <p:sp>
        <p:nvSpPr>
          <p:cNvPr id="15" name="TextBox 14"/>
          <p:cNvSpPr txBox="1"/>
          <p:nvPr/>
        </p:nvSpPr>
        <p:spPr>
          <a:xfrm>
            <a:off x="822960" y="4014210"/>
            <a:ext cx="1938814" cy="365759"/>
          </a:xfrm>
          <a:prstGeom prst="rect">
            <a:avLst/>
          </a:prstGeom>
          <a:noFill/>
        </p:spPr>
        <p:txBody>
          <a:bodyPr wrap="none" lIns="0" rIns="0">
            <a:noAutofit/>
          </a:bodyPr>
          <a:lstStyle/>
          <a:p>
            <a:pPr algn="l"/>
            <a:r>
              <a:rPr sz="2400" b="0" i="0">
                <a:solidFill>
                  <a:srgbClr val="55707A"/>
                </a:solidFill>
                <a:latin typeface="Courier New"/>
              </a:rPr>
              <a:t>│  └─ </a:t>
            </a:r>
          </a:p>
        </p:txBody>
      </p:sp>
      <p:sp>
        <p:nvSpPr>
          <p:cNvPr id="16" name="TextBox 15"/>
          <p:cNvSpPr txBox="1"/>
          <p:nvPr/>
        </p:nvSpPr>
        <p:spPr>
          <a:xfrm>
            <a:off x="1920419" y="4014210"/>
            <a:ext cx="3987403" cy="365759"/>
          </a:xfrm>
          <a:prstGeom prst="rect">
            <a:avLst/>
          </a:prstGeom>
          <a:noFill/>
        </p:spPr>
        <p:txBody>
          <a:bodyPr wrap="none" lIns="0" rIns="0">
            <a:noAutofit/>
          </a:bodyPr>
          <a:lstStyle/>
          <a:p>
            <a:pPr algn="l"/>
            <a:r>
              <a:rPr sz="2400" b="0" i="0">
                <a:solidFill>
                  <a:srgbClr val="D4D4D4"/>
                </a:solidFill>
                <a:latin typeface="Courier New"/>
              </a:rPr>
              <a:t>edge-cases.md</a:t>
            </a:r>
          </a:p>
        </p:txBody>
      </p:sp>
      <p:sp>
        <p:nvSpPr>
          <p:cNvPr id="17" name="TextBox 16"/>
          <p:cNvSpPr txBox="1"/>
          <p:nvPr/>
        </p:nvSpPr>
        <p:spPr>
          <a:xfrm>
            <a:off x="822960" y="4379969"/>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18" name="TextBox 17"/>
          <p:cNvSpPr txBox="1"/>
          <p:nvPr/>
        </p:nvSpPr>
        <p:spPr>
          <a:xfrm>
            <a:off x="1371689" y="4379969"/>
            <a:ext cx="1938814" cy="365759"/>
          </a:xfrm>
          <a:prstGeom prst="rect">
            <a:avLst/>
          </a:prstGeom>
          <a:noFill/>
        </p:spPr>
        <p:txBody>
          <a:bodyPr wrap="none" lIns="0" rIns="0">
            <a:noAutofit/>
          </a:bodyPr>
          <a:lstStyle/>
          <a:p>
            <a:pPr algn="l"/>
            <a:r>
              <a:rPr sz="2400" b="0" i="0">
                <a:solidFill>
                  <a:srgbClr val="D4D4D4"/>
                </a:solidFill>
                <a:latin typeface="Courier New"/>
              </a:rPr>
              <a:t>run.py</a:t>
            </a:r>
          </a:p>
        </p:txBody>
      </p:sp>
      <p:sp>
        <p:nvSpPr>
          <p:cNvPr id="19" name="TextBox 18"/>
          <p:cNvSpPr txBox="1"/>
          <p:nvPr/>
        </p:nvSpPr>
        <p:spPr>
          <a:xfrm>
            <a:off x="822960" y="4745728"/>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20" name="TextBox 19"/>
          <p:cNvSpPr txBox="1"/>
          <p:nvPr/>
        </p:nvSpPr>
        <p:spPr>
          <a:xfrm>
            <a:off x="1371689" y="4745728"/>
            <a:ext cx="3109436" cy="365759"/>
          </a:xfrm>
          <a:prstGeom prst="rect">
            <a:avLst/>
          </a:prstGeom>
          <a:noFill/>
        </p:spPr>
        <p:txBody>
          <a:bodyPr wrap="none" lIns="0" rIns="0">
            <a:noAutofit/>
          </a:bodyPr>
          <a:lstStyle/>
          <a:p>
            <a:pPr algn="l"/>
            <a:r>
              <a:rPr sz="2400" b="0" i="0">
                <a:solidFill>
                  <a:srgbClr val="D4D4D4"/>
                </a:solidFill>
                <a:latin typeface="Courier New"/>
              </a:rPr>
              <a:t>CAVEATS.md</a:t>
            </a:r>
          </a:p>
        </p:txBody>
      </p:sp>
      <p:sp>
        <p:nvSpPr>
          <p:cNvPr id="21" name="TextBox 20"/>
          <p:cNvSpPr txBox="1"/>
          <p:nvPr/>
        </p:nvSpPr>
        <p:spPr>
          <a:xfrm>
            <a:off x="822960" y="5111487"/>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22" name="TextBox 21"/>
          <p:cNvSpPr txBox="1"/>
          <p:nvPr/>
        </p:nvSpPr>
        <p:spPr>
          <a:xfrm>
            <a:off x="1371689" y="5111487"/>
            <a:ext cx="3402091" cy="365759"/>
          </a:xfrm>
          <a:prstGeom prst="rect">
            <a:avLst/>
          </a:prstGeom>
          <a:noFill/>
        </p:spPr>
        <p:txBody>
          <a:bodyPr wrap="none" lIns="0" rIns="0">
            <a:noAutofit/>
          </a:bodyPr>
          <a:lstStyle/>
          <a:p>
            <a:pPr algn="l"/>
            <a:r>
              <a:rPr sz="2400" b="0" i="0">
                <a:solidFill>
                  <a:srgbClr val="D4D4D4"/>
                </a:solidFill>
                <a:latin typeface="Courier New"/>
              </a:rPr>
              <a:t>FINDINGS.md</a:t>
            </a:r>
          </a:p>
        </p:txBody>
      </p:sp>
      <p:sp>
        <p:nvSpPr>
          <p:cNvPr id="23" name="TextBox 22"/>
          <p:cNvSpPr txBox="1"/>
          <p:nvPr/>
        </p:nvSpPr>
        <p:spPr>
          <a:xfrm>
            <a:off x="822960" y="5477246"/>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24" name="TextBox 23"/>
          <p:cNvSpPr txBox="1"/>
          <p:nvPr/>
        </p:nvSpPr>
        <p:spPr>
          <a:xfrm>
            <a:off x="1371689" y="5477246"/>
            <a:ext cx="2816780" cy="365759"/>
          </a:xfrm>
          <a:prstGeom prst="rect">
            <a:avLst/>
          </a:prstGeom>
          <a:noFill/>
        </p:spPr>
        <p:txBody>
          <a:bodyPr wrap="none" lIns="0" rIns="0">
            <a:noAutofit/>
          </a:bodyPr>
          <a:lstStyle/>
          <a:p>
            <a:pPr algn="l"/>
            <a:r>
              <a:rPr sz="2400" b="0" i="0">
                <a:solidFill>
                  <a:srgbClr val="D4D4D4"/>
                </a:solidFill>
                <a:latin typeface="Courier New"/>
              </a:rPr>
              <a:t>TRIAGE.md</a:t>
            </a:r>
          </a:p>
        </p:txBody>
      </p:sp>
      <p:sp>
        <p:nvSpPr>
          <p:cNvPr id="25" name="TextBox 24"/>
          <p:cNvSpPr txBox="1"/>
          <p:nvPr/>
        </p:nvSpPr>
        <p:spPr>
          <a:xfrm>
            <a:off x="822960" y="5843005"/>
            <a:ext cx="1060846" cy="365759"/>
          </a:xfrm>
          <a:prstGeom prst="rect">
            <a:avLst/>
          </a:prstGeom>
          <a:noFill/>
        </p:spPr>
        <p:txBody>
          <a:bodyPr wrap="none" lIns="0" rIns="0">
            <a:noAutofit/>
          </a:bodyPr>
          <a:lstStyle/>
          <a:p>
            <a:pPr algn="l"/>
            <a:r>
              <a:rPr sz="2400" b="0" i="0">
                <a:solidFill>
                  <a:srgbClr val="55707A"/>
                </a:solidFill>
                <a:latin typeface="Courier New"/>
              </a:rPr>
              <a:t>└─ </a:t>
            </a:r>
          </a:p>
        </p:txBody>
      </p:sp>
      <p:sp>
        <p:nvSpPr>
          <p:cNvPr id="26" name="TextBox 25"/>
          <p:cNvSpPr txBox="1"/>
          <p:nvPr/>
        </p:nvSpPr>
        <p:spPr>
          <a:xfrm>
            <a:off x="1371689" y="5843005"/>
            <a:ext cx="2816780" cy="365759"/>
          </a:xfrm>
          <a:prstGeom prst="rect">
            <a:avLst/>
          </a:prstGeom>
          <a:noFill/>
        </p:spPr>
        <p:txBody>
          <a:bodyPr wrap="none" lIns="0" rIns="0">
            <a:noAutofit/>
          </a:bodyPr>
          <a:lstStyle/>
          <a:p>
            <a:pPr algn="l"/>
            <a:r>
              <a:rPr sz="2400" b="0" i="0">
                <a:solidFill>
                  <a:srgbClr val="D4D4D4"/>
                </a:solidFill>
                <a:latin typeface="Courier New"/>
              </a:rPr>
              <a:t>README.md</a:t>
            </a:r>
          </a:p>
        </p:txBody>
      </p:sp>
      <p:sp>
        <p:nvSpPr>
          <p:cNvPr id="27" name="TextBox 2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46</a:t>
            </a:fld>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The Handoff Checklist</a:t>
            </a:r>
          </a:p>
        </p:txBody>
      </p:sp>
      <p:sp>
        <p:nvSpPr>
          <p:cNvPr id="3" name="TextBox 2"/>
          <p:cNvSpPr txBox="1"/>
          <p:nvPr/>
        </p:nvSpPr>
        <p:spPr>
          <a:xfrm>
            <a:off x="457200" y="1499616"/>
            <a:ext cx="3942447" cy="518159"/>
          </a:xfrm>
          <a:prstGeom prst="rect">
            <a:avLst/>
          </a:prstGeom>
          <a:noFill/>
        </p:spPr>
        <p:txBody>
          <a:bodyPr wrap="none" lIns="0" rIns="0">
            <a:noAutofit/>
          </a:bodyPr>
          <a:lstStyle/>
          <a:p>
            <a:pPr algn="l"/>
            <a:r>
              <a:rPr sz="3400" b="1" i="0">
                <a:solidFill>
                  <a:srgbClr val="123A6B"/>
                </a:solidFill>
                <a:latin typeface="Arial"/>
              </a:rPr>
              <a:t>Item</a:t>
            </a:r>
          </a:p>
        </p:txBody>
      </p:sp>
      <p:sp>
        <p:nvSpPr>
          <p:cNvPr id="4" name="TextBox 3"/>
          <p:cNvSpPr txBox="1"/>
          <p:nvPr/>
        </p:nvSpPr>
        <p:spPr>
          <a:xfrm>
            <a:off x="4948287" y="1499616"/>
            <a:ext cx="4445722" cy="518159"/>
          </a:xfrm>
          <a:prstGeom prst="rect">
            <a:avLst/>
          </a:prstGeom>
          <a:noFill/>
        </p:spPr>
        <p:txBody>
          <a:bodyPr wrap="none" lIns="0" rIns="0">
            <a:noAutofit/>
          </a:bodyPr>
          <a:lstStyle/>
          <a:p>
            <a:pPr algn="l"/>
            <a:r>
              <a:rPr sz="3400" b="1" i="0">
                <a:solidFill>
                  <a:srgbClr val="123A6B"/>
                </a:solidFill>
                <a:latin typeface="Arial"/>
              </a:rPr>
              <a:t>Done means</a:t>
            </a:r>
          </a:p>
        </p:txBody>
      </p:sp>
      <p:sp>
        <p:nvSpPr>
          <p:cNvPr id="5" name="Rectangle 4"/>
          <p:cNvSpPr/>
          <p:nvPr/>
        </p:nvSpPr>
        <p:spPr>
          <a:xfrm>
            <a:off x="457200" y="2072639"/>
            <a:ext cx="8936809"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5905579" cy="633984"/>
          </a:xfrm>
          <a:prstGeom prst="rect">
            <a:avLst/>
          </a:prstGeom>
          <a:noFill/>
        </p:spPr>
        <p:txBody>
          <a:bodyPr wrap="none" lIns="0" rIns="0">
            <a:noAutofit/>
          </a:bodyPr>
          <a:lstStyle/>
          <a:p>
            <a:pPr algn="l"/>
            <a:r>
              <a:rPr sz="3400" b="0" i="0">
                <a:solidFill>
                  <a:srgbClr val="0A2240"/>
                </a:solidFill>
                <a:latin typeface="Arial"/>
              </a:rPr>
              <a:t>Everything pushed</a:t>
            </a:r>
          </a:p>
        </p:txBody>
      </p:sp>
      <p:sp>
        <p:nvSpPr>
          <p:cNvPr id="7" name="TextBox 6"/>
          <p:cNvSpPr txBox="1"/>
          <p:nvPr/>
        </p:nvSpPr>
        <p:spPr>
          <a:xfrm>
            <a:off x="4948287" y="2401823"/>
            <a:ext cx="5636379" cy="633984"/>
          </a:xfrm>
          <a:prstGeom prst="rect">
            <a:avLst/>
          </a:prstGeom>
          <a:noFill/>
        </p:spPr>
        <p:txBody>
          <a:bodyPr wrap="none" lIns="0" rIns="0">
            <a:noAutofit/>
          </a:bodyPr>
          <a:lstStyle/>
          <a:p>
            <a:pPr algn="l"/>
            <a:r>
              <a:rPr sz="3400" b="0" i="0">
                <a:solidFill>
                  <a:srgbClr val="0A2240"/>
                </a:solidFill>
                <a:latin typeface="Arial"/>
              </a:rPr>
              <a:t>Nothing only local</a:t>
            </a:r>
          </a:p>
        </p:txBody>
      </p:sp>
      <p:sp>
        <p:nvSpPr>
          <p:cNvPr id="8" name="TextBox 7"/>
          <p:cNvSpPr txBox="1"/>
          <p:nvPr/>
        </p:nvSpPr>
        <p:spPr>
          <a:xfrm>
            <a:off x="457200" y="3310127"/>
            <a:ext cx="4137897" cy="633984"/>
          </a:xfrm>
          <a:prstGeom prst="rect">
            <a:avLst/>
          </a:prstGeom>
          <a:noFill/>
        </p:spPr>
        <p:txBody>
          <a:bodyPr wrap="none" lIns="0" rIns="0">
            <a:noAutofit/>
          </a:bodyPr>
          <a:lstStyle/>
          <a:p>
            <a:pPr algn="l"/>
            <a:r>
              <a:rPr sz="3400" b="0" i="0">
                <a:solidFill>
                  <a:srgbClr val="0A2240"/>
                </a:solidFill>
                <a:latin typeface="Arial"/>
              </a:rPr>
              <a:t>Fixes proven</a:t>
            </a:r>
          </a:p>
        </p:txBody>
      </p:sp>
      <p:sp>
        <p:nvSpPr>
          <p:cNvPr id="9" name="TextBox 8"/>
          <p:cNvSpPr txBox="1"/>
          <p:nvPr/>
        </p:nvSpPr>
        <p:spPr>
          <a:xfrm>
            <a:off x="4948287" y="3310127"/>
            <a:ext cx="5097979" cy="633984"/>
          </a:xfrm>
          <a:prstGeom prst="rect">
            <a:avLst/>
          </a:prstGeom>
          <a:noFill/>
        </p:spPr>
        <p:txBody>
          <a:bodyPr wrap="none" lIns="0" rIns="0">
            <a:noAutofit/>
          </a:bodyPr>
          <a:lstStyle/>
          <a:p>
            <a:pPr algn="l"/>
            <a:r>
              <a:rPr sz="3400" b="0" i="0">
                <a:solidFill>
                  <a:srgbClr val="0A2240"/>
                </a:solidFill>
                <a:latin typeface="Arial"/>
              </a:rPr>
              <a:t>Each test re-run</a:t>
            </a:r>
          </a:p>
        </p:txBody>
      </p:sp>
      <p:sp>
        <p:nvSpPr>
          <p:cNvPr id="10" name="TextBox 9"/>
          <p:cNvSpPr txBox="1"/>
          <p:nvPr/>
        </p:nvSpPr>
        <p:spPr>
          <a:xfrm>
            <a:off x="457200" y="4218431"/>
            <a:ext cx="5059521" cy="633984"/>
          </a:xfrm>
          <a:prstGeom prst="rect">
            <a:avLst/>
          </a:prstGeom>
          <a:noFill/>
        </p:spPr>
        <p:txBody>
          <a:bodyPr wrap="none" lIns="0" rIns="0">
            <a:noAutofit/>
          </a:bodyPr>
          <a:lstStyle/>
          <a:p>
            <a:pPr algn="l"/>
            <a:r>
              <a:rPr sz="3400" b="0" i="0">
                <a:solidFill>
                  <a:srgbClr val="0A2240"/>
                </a:solidFill>
                <a:latin typeface="Arial"/>
              </a:rPr>
              <a:t>Caveats current</a:t>
            </a:r>
          </a:p>
        </p:txBody>
      </p:sp>
      <p:sp>
        <p:nvSpPr>
          <p:cNvPr id="11" name="TextBox 10"/>
          <p:cNvSpPr txBox="1"/>
          <p:nvPr/>
        </p:nvSpPr>
        <p:spPr>
          <a:xfrm>
            <a:off x="4948287" y="4218431"/>
            <a:ext cx="6710819" cy="633984"/>
          </a:xfrm>
          <a:prstGeom prst="rect">
            <a:avLst/>
          </a:prstGeom>
          <a:noFill/>
        </p:spPr>
        <p:txBody>
          <a:bodyPr wrap="none" lIns="0" rIns="0">
            <a:noAutofit/>
          </a:bodyPr>
          <a:lstStyle/>
          <a:p>
            <a:pPr algn="l"/>
            <a:r>
              <a:rPr sz="3400" b="0" i="0">
                <a:solidFill>
                  <a:srgbClr val="0A2240"/>
                </a:solidFill>
                <a:latin typeface="Arial"/>
              </a:rPr>
              <a:t>Matches reality today</a:t>
            </a:r>
          </a:p>
        </p:txBody>
      </p:sp>
      <p:sp>
        <p:nvSpPr>
          <p:cNvPr id="12" name="TextBox 11"/>
          <p:cNvSpPr txBox="1"/>
          <p:nvPr/>
        </p:nvSpPr>
        <p:spPr>
          <a:xfrm>
            <a:off x="457200" y="5126735"/>
            <a:ext cx="4983281" cy="633984"/>
          </a:xfrm>
          <a:prstGeom prst="rect">
            <a:avLst/>
          </a:prstGeom>
          <a:noFill/>
        </p:spPr>
        <p:txBody>
          <a:bodyPr wrap="none" lIns="0" rIns="0">
            <a:noAutofit/>
          </a:bodyPr>
          <a:lstStyle/>
          <a:p>
            <a:pPr algn="l"/>
            <a:r>
              <a:rPr sz="3400" b="0" i="0">
                <a:solidFill>
                  <a:srgbClr val="0A2240"/>
                </a:solidFill>
                <a:latin typeface="Arial"/>
              </a:rPr>
              <a:t>Checks running</a:t>
            </a:r>
          </a:p>
        </p:txBody>
      </p:sp>
      <p:sp>
        <p:nvSpPr>
          <p:cNvPr id="13" name="TextBox 12"/>
          <p:cNvSpPr txBox="1"/>
          <p:nvPr/>
        </p:nvSpPr>
        <p:spPr>
          <a:xfrm>
            <a:off x="4948287" y="5126735"/>
            <a:ext cx="5482550" cy="633984"/>
          </a:xfrm>
          <a:prstGeom prst="rect">
            <a:avLst/>
          </a:prstGeom>
          <a:noFill/>
        </p:spPr>
        <p:txBody>
          <a:bodyPr wrap="none" lIns="0" rIns="0">
            <a:noAutofit/>
          </a:bodyPr>
          <a:lstStyle/>
          <a:p>
            <a:pPr algn="l"/>
            <a:r>
              <a:rPr sz="3400" b="0" i="0">
                <a:solidFill>
                  <a:srgbClr val="0A2240"/>
                </a:solidFill>
                <a:latin typeface="Arial"/>
              </a:rPr>
              <a:t>One fired already</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47</a:t>
            </a:fld>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If You Are Behind</a:t>
            </a:r>
          </a:p>
        </p:txBody>
      </p:sp>
      <p:sp>
        <p:nvSpPr>
          <p:cNvPr id="3" name="TextBox 2"/>
          <p:cNvSpPr txBox="1"/>
          <p:nvPr/>
        </p:nvSpPr>
        <p:spPr>
          <a:xfrm>
            <a:off x="457200" y="1499616"/>
            <a:ext cx="1132164" cy="640080"/>
          </a:xfrm>
          <a:prstGeom prst="rect">
            <a:avLst/>
          </a:prstGeom>
          <a:noFill/>
        </p:spPr>
        <p:txBody>
          <a:bodyPr wrap="none" lIns="0" rIns="0">
            <a:noAutofit/>
          </a:bodyPr>
          <a:lstStyle/>
          <a:p>
            <a:pPr algn="l"/>
            <a:r>
              <a:rPr sz="4200" b="1" i="0">
                <a:solidFill>
                  <a:srgbClr val="123A6B"/>
                </a:solidFill>
                <a:latin typeface="Arial"/>
              </a:rPr>
              <a:t>01</a:t>
            </a:r>
          </a:p>
        </p:txBody>
      </p:sp>
      <p:sp>
        <p:nvSpPr>
          <p:cNvPr id="4" name="TextBox 3"/>
          <p:cNvSpPr txBox="1"/>
          <p:nvPr/>
        </p:nvSpPr>
        <p:spPr>
          <a:xfrm>
            <a:off x="1461983" y="1499616"/>
            <a:ext cx="10272817" cy="640080"/>
          </a:xfrm>
          <a:prstGeom prst="rect">
            <a:avLst/>
          </a:prstGeom>
          <a:noFill/>
        </p:spPr>
        <p:txBody>
          <a:bodyPr wrap="none" lIns="0" rIns="0">
            <a:noAutofit/>
          </a:bodyPr>
          <a:lstStyle/>
          <a:p>
            <a:pPr algn="l"/>
            <a:r>
              <a:rPr sz="4200" b="1" i="0">
                <a:solidFill>
                  <a:srgbClr val="123A6B"/>
                </a:solidFill>
                <a:latin typeface="Arial"/>
              </a:rPr>
              <a:t>Stop fixing at 11:40</a:t>
            </a:r>
          </a:p>
        </p:txBody>
      </p:sp>
      <p:sp>
        <p:nvSpPr>
          <p:cNvPr id="5" name="TextBox 4"/>
          <p:cNvSpPr txBox="1"/>
          <p:nvPr/>
        </p:nvSpPr>
        <p:spPr>
          <a:xfrm>
            <a:off x="1461983" y="2185416"/>
            <a:ext cx="10512683" cy="551688"/>
          </a:xfrm>
          <a:prstGeom prst="rect">
            <a:avLst/>
          </a:prstGeom>
          <a:noFill/>
        </p:spPr>
        <p:txBody>
          <a:bodyPr wrap="none" lIns="0" rIns="0">
            <a:noAutofit/>
          </a:bodyPr>
          <a:lstStyle/>
          <a:p>
            <a:pPr algn="l"/>
            <a:r>
              <a:rPr sz="3400" b="0" i="0">
                <a:solidFill>
                  <a:srgbClr val="0A2240"/>
                </a:solidFill>
                <a:latin typeface="Arial"/>
              </a:rPr>
              <a:t>Whatever is left goes into caveats</a:t>
            </a:r>
          </a:p>
        </p:txBody>
      </p:sp>
      <p:sp>
        <p:nvSpPr>
          <p:cNvPr id="6" name="TextBox 5"/>
          <p:cNvSpPr txBox="1"/>
          <p:nvPr/>
        </p:nvSpPr>
        <p:spPr>
          <a:xfrm>
            <a:off x="457200" y="3011424"/>
            <a:ext cx="1132164" cy="640080"/>
          </a:xfrm>
          <a:prstGeom prst="rect">
            <a:avLst/>
          </a:prstGeom>
          <a:noFill/>
        </p:spPr>
        <p:txBody>
          <a:bodyPr wrap="none" lIns="0" rIns="0">
            <a:noAutofit/>
          </a:bodyPr>
          <a:lstStyle/>
          <a:p>
            <a:pPr algn="l"/>
            <a:r>
              <a:rPr sz="4200" b="1" i="0">
                <a:solidFill>
                  <a:srgbClr val="123A6B"/>
                </a:solidFill>
                <a:latin typeface="Arial"/>
              </a:rPr>
              <a:t>02</a:t>
            </a:r>
          </a:p>
        </p:txBody>
      </p:sp>
      <p:sp>
        <p:nvSpPr>
          <p:cNvPr id="7" name="TextBox 6"/>
          <p:cNvSpPr txBox="1"/>
          <p:nvPr/>
        </p:nvSpPr>
        <p:spPr>
          <a:xfrm>
            <a:off x="1461983" y="3011424"/>
            <a:ext cx="10272817" cy="640080"/>
          </a:xfrm>
          <a:prstGeom prst="rect">
            <a:avLst/>
          </a:prstGeom>
          <a:noFill/>
        </p:spPr>
        <p:txBody>
          <a:bodyPr wrap="none" lIns="0" rIns="0">
            <a:noAutofit/>
          </a:bodyPr>
          <a:lstStyle/>
          <a:p>
            <a:pPr algn="l"/>
            <a:r>
              <a:rPr sz="4200" b="1" i="0">
                <a:solidFill>
                  <a:srgbClr val="123A6B"/>
                </a:solidFill>
                <a:latin typeface="Arial"/>
              </a:rPr>
              <a:t>Push what is proven</a:t>
            </a:r>
          </a:p>
        </p:txBody>
      </p:sp>
      <p:sp>
        <p:nvSpPr>
          <p:cNvPr id="8" name="TextBox 7"/>
          <p:cNvSpPr txBox="1"/>
          <p:nvPr/>
        </p:nvSpPr>
        <p:spPr>
          <a:xfrm>
            <a:off x="1461983" y="3697224"/>
            <a:ext cx="10730017" cy="551688"/>
          </a:xfrm>
          <a:prstGeom prst="rect">
            <a:avLst/>
          </a:prstGeom>
          <a:noFill/>
        </p:spPr>
        <p:txBody>
          <a:bodyPr wrap="none" lIns="0" rIns="0">
            <a:noAutofit/>
          </a:bodyPr>
          <a:lstStyle/>
          <a:p>
            <a:pPr algn="l"/>
            <a:r>
              <a:rPr sz="3400" b="0" i="0">
                <a:solidFill>
                  <a:srgbClr val="0A2240"/>
                </a:solidFill>
                <a:latin typeface="Arial"/>
              </a:rPr>
              <a:t>An unproven change stays uncommitted</a:t>
            </a:r>
          </a:p>
        </p:txBody>
      </p:sp>
      <p:sp>
        <p:nvSpPr>
          <p:cNvPr id="9" name="TextBox 8"/>
          <p:cNvSpPr txBox="1"/>
          <p:nvPr/>
        </p:nvSpPr>
        <p:spPr>
          <a:xfrm>
            <a:off x="457200" y="4523232"/>
            <a:ext cx="1132164" cy="640080"/>
          </a:xfrm>
          <a:prstGeom prst="rect">
            <a:avLst/>
          </a:prstGeom>
          <a:noFill/>
        </p:spPr>
        <p:txBody>
          <a:bodyPr wrap="none" lIns="0" rIns="0">
            <a:noAutofit/>
          </a:bodyPr>
          <a:lstStyle/>
          <a:p>
            <a:pPr algn="l"/>
            <a:r>
              <a:rPr sz="4200" b="1" i="0">
                <a:solidFill>
                  <a:srgbClr val="123A6B"/>
                </a:solidFill>
                <a:latin typeface="Arial"/>
              </a:rPr>
              <a:t>03</a:t>
            </a:r>
          </a:p>
        </p:txBody>
      </p:sp>
      <p:sp>
        <p:nvSpPr>
          <p:cNvPr id="10" name="TextBox 9"/>
          <p:cNvSpPr txBox="1"/>
          <p:nvPr/>
        </p:nvSpPr>
        <p:spPr>
          <a:xfrm>
            <a:off x="1461983" y="4523232"/>
            <a:ext cx="10272817" cy="640080"/>
          </a:xfrm>
          <a:prstGeom prst="rect">
            <a:avLst/>
          </a:prstGeom>
          <a:noFill/>
        </p:spPr>
        <p:txBody>
          <a:bodyPr wrap="none" lIns="0" rIns="0">
            <a:noAutofit/>
          </a:bodyPr>
          <a:lstStyle/>
          <a:p>
            <a:pPr algn="l"/>
            <a:r>
              <a:rPr sz="4200" b="1" i="0">
                <a:solidFill>
                  <a:srgbClr val="123A6B"/>
                </a:solidFill>
                <a:latin typeface="Arial"/>
              </a:rPr>
              <a:t>Never skip the schedule</a:t>
            </a:r>
          </a:p>
        </p:txBody>
      </p:sp>
      <p:sp>
        <p:nvSpPr>
          <p:cNvPr id="11" name="TextBox 10"/>
          <p:cNvSpPr txBox="1"/>
          <p:nvPr/>
        </p:nvSpPr>
        <p:spPr>
          <a:xfrm>
            <a:off x="1461983" y="5209032"/>
            <a:ext cx="10730017" cy="551688"/>
          </a:xfrm>
          <a:prstGeom prst="rect">
            <a:avLst/>
          </a:prstGeom>
          <a:noFill/>
        </p:spPr>
        <p:txBody>
          <a:bodyPr wrap="none" lIns="0" rIns="0">
            <a:noAutofit/>
          </a:bodyPr>
          <a:lstStyle/>
          <a:p>
            <a:pPr algn="l"/>
            <a:r>
              <a:rPr sz="3400" b="0" i="0">
                <a:solidFill>
                  <a:srgbClr val="0A2240"/>
                </a:solidFill>
                <a:latin typeface="Arial"/>
              </a:rPr>
              <a:t>It is the only part that outlives today</a:t>
            </a:r>
          </a:p>
        </p:txBody>
      </p:sp>
      <p:sp>
        <p:nvSpPr>
          <p:cNvPr id="12" name="TextBox 11"/>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48</a:t>
            </a:fld>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Leaving This Session</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cut line, written and held</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Fixes above it, each re-run</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Everything pushed to GitHub</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Checks running without you</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49</a:t>
            </a:fld>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Write This Down Now</a:t>
            </a:r>
          </a:p>
        </p:txBody>
      </p:sp>
      <p:sp>
        <p:nvSpPr>
          <p:cNvPr id="3" name="TextBox 2"/>
          <p:cNvSpPr txBox="1"/>
          <p:nvPr/>
        </p:nvSpPr>
        <p:spPr>
          <a:xfrm>
            <a:off x="457200" y="1499616"/>
            <a:ext cx="4805625" cy="518159"/>
          </a:xfrm>
          <a:prstGeom prst="rect">
            <a:avLst/>
          </a:prstGeom>
          <a:noFill/>
        </p:spPr>
        <p:txBody>
          <a:bodyPr wrap="none" lIns="0" rIns="0">
            <a:noAutofit/>
          </a:bodyPr>
          <a:lstStyle/>
          <a:p>
            <a:pPr algn="l"/>
            <a:r>
              <a:rPr sz="3400" b="1" i="0">
                <a:solidFill>
                  <a:srgbClr val="123A6B"/>
                </a:solidFill>
                <a:latin typeface="Arial"/>
              </a:rPr>
              <a:t>Question</a:t>
            </a:r>
          </a:p>
        </p:txBody>
      </p:sp>
      <p:sp>
        <p:nvSpPr>
          <p:cNvPr id="4" name="TextBox 3"/>
          <p:cNvSpPr txBox="1"/>
          <p:nvPr/>
        </p:nvSpPr>
        <p:spPr>
          <a:xfrm>
            <a:off x="5811465" y="1499616"/>
            <a:ext cx="4278233" cy="518159"/>
          </a:xfrm>
          <a:prstGeom prst="rect">
            <a:avLst/>
          </a:prstGeom>
          <a:noFill/>
        </p:spPr>
        <p:txBody>
          <a:bodyPr wrap="none" lIns="0" rIns="0">
            <a:noAutofit/>
          </a:bodyPr>
          <a:lstStyle/>
          <a:p>
            <a:pPr algn="l"/>
            <a:r>
              <a:rPr sz="3400" b="1" i="0">
                <a:solidFill>
                  <a:srgbClr val="123A6B"/>
                </a:solidFill>
                <a:latin typeface="Arial"/>
              </a:rPr>
              <a:t>Your answer</a:t>
            </a:r>
          </a:p>
        </p:txBody>
      </p:sp>
      <p:sp>
        <p:nvSpPr>
          <p:cNvPr id="5" name="Rectangle 4"/>
          <p:cNvSpPr/>
          <p:nvPr/>
        </p:nvSpPr>
        <p:spPr>
          <a:xfrm>
            <a:off x="457200" y="2072639"/>
            <a:ext cx="8279621" cy="54864"/>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401823"/>
            <a:ext cx="6904116" cy="633984"/>
          </a:xfrm>
          <a:prstGeom prst="rect">
            <a:avLst/>
          </a:prstGeom>
          <a:noFill/>
        </p:spPr>
        <p:txBody>
          <a:bodyPr wrap="none" lIns="0" rIns="0">
            <a:noAutofit/>
          </a:bodyPr>
          <a:lstStyle/>
          <a:p>
            <a:pPr algn="l"/>
            <a:r>
              <a:rPr sz="3400" b="0" i="0">
                <a:solidFill>
                  <a:srgbClr val="0A2240"/>
                </a:solidFill>
                <a:latin typeface="Arial"/>
              </a:rPr>
              <a:t>Where the line landed</a:t>
            </a:r>
          </a:p>
        </p:txBody>
      </p:sp>
      <p:sp>
        <p:nvSpPr>
          <p:cNvPr id="7" name="TextBox 6"/>
          <p:cNvSpPr txBox="1"/>
          <p:nvPr/>
        </p:nvSpPr>
        <p:spPr>
          <a:xfrm>
            <a:off x="5811465" y="2401823"/>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8" name="TextBox 7"/>
          <p:cNvSpPr txBox="1"/>
          <p:nvPr/>
        </p:nvSpPr>
        <p:spPr>
          <a:xfrm>
            <a:off x="457200" y="3310127"/>
            <a:ext cx="5521345" cy="633984"/>
          </a:xfrm>
          <a:prstGeom prst="rect">
            <a:avLst/>
          </a:prstGeom>
          <a:noFill/>
        </p:spPr>
        <p:txBody>
          <a:bodyPr wrap="none" lIns="0" rIns="0">
            <a:noAutofit/>
          </a:bodyPr>
          <a:lstStyle/>
          <a:p>
            <a:pPr algn="l"/>
            <a:r>
              <a:rPr sz="3400" b="0" i="0">
                <a:solidFill>
                  <a:srgbClr val="0A2240"/>
                </a:solidFill>
                <a:latin typeface="Arial"/>
              </a:rPr>
              <a:t>Fixed and proven</a:t>
            </a:r>
          </a:p>
        </p:txBody>
      </p:sp>
      <p:sp>
        <p:nvSpPr>
          <p:cNvPr id="9" name="TextBox 8"/>
          <p:cNvSpPr txBox="1"/>
          <p:nvPr/>
        </p:nvSpPr>
        <p:spPr>
          <a:xfrm>
            <a:off x="5811465" y="3310127"/>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0" name="TextBox 9"/>
          <p:cNvSpPr txBox="1"/>
          <p:nvPr/>
        </p:nvSpPr>
        <p:spPr>
          <a:xfrm>
            <a:off x="457200" y="4218431"/>
            <a:ext cx="5290939" cy="633984"/>
          </a:xfrm>
          <a:prstGeom prst="rect">
            <a:avLst/>
          </a:prstGeom>
          <a:noFill/>
        </p:spPr>
        <p:txBody>
          <a:bodyPr wrap="none" lIns="0" rIns="0">
            <a:noAutofit/>
          </a:bodyPr>
          <a:lstStyle/>
          <a:p>
            <a:pPr algn="l"/>
            <a:r>
              <a:rPr sz="3400" b="0" i="0">
                <a:solidFill>
                  <a:srgbClr val="0A2240"/>
                </a:solidFill>
                <a:latin typeface="Arial"/>
              </a:rPr>
              <a:t>Biggest thing left</a:t>
            </a:r>
          </a:p>
        </p:txBody>
      </p:sp>
      <p:sp>
        <p:nvSpPr>
          <p:cNvPr id="11" name="TextBox 10"/>
          <p:cNvSpPr txBox="1"/>
          <p:nvPr/>
        </p:nvSpPr>
        <p:spPr>
          <a:xfrm>
            <a:off x="5811465" y="4218431"/>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2" name="TextBox 11"/>
          <p:cNvSpPr txBox="1"/>
          <p:nvPr/>
        </p:nvSpPr>
        <p:spPr>
          <a:xfrm>
            <a:off x="457200" y="5126735"/>
            <a:ext cx="7286664" cy="633984"/>
          </a:xfrm>
          <a:prstGeom prst="rect">
            <a:avLst/>
          </a:prstGeom>
          <a:noFill/>
        </p:spPr>
        <p:txBody>
          <a:bodyPr wrap="none" lIns="0" rIns="0">
            <a:noAutofit/>
          </a:bodyPr>
          <a:lstStyle/>
          <a:p>
            <a:pPr algn="l"/>
            <a:r>
              <a:rPr sz="3400" b="0" i="0">
                <a:solidFill>
                  <a:srgbClr val="0A2240"/>
                </a:solidFill>
                <a:latin typeface="Arial"/>
              </a:rPr>
              <a:t>What the checks watch</a:t>
            </a:r>
          </a:p>
        </p:txBody>
      </p:sp>
      <p:sp>
        <p:nvSpPr>
          <p:cNvPr id="13" name="TextBox 12"/>
          <p:cNvSpPr txBox="1"/>
          <p:nvPr/>
        </p:nvSpPr>
        <p:spPr>
          <a:xfrm>
            <a:off x="5811465" y="5126735"/>
            <a:ext cx="2925356" cy="633984"/>
          </a:xfrm>
          <a:prstGeom prst="rect">
            <a:avLst/>
          </a:prstGeom>
          <a:noFill/>
        </p:spPr>
        <p:txBody>
          <a:bodyPr wrap="none" lIns="0" rIns="0">
            <a:noAutofit/>
          </a:bodyPr>
          <a:lstStyle/>
          <a:p>
            <a:pPr algn="l"/>
            <a:r>
              <a:rPr sz="3400" b="0" i="0">
                <a:solidFill>
                  <a:srgbClr val="0A2240"/>
                </a:solidFill>
                <a:latin typeface="Arial"/>
              </a:rPr>
              <a:t>…</a:t>
            </a:r>
          </a:p>
        </p:txBody>
      </p:sp>
      <p:sp>
        <p:nvSpPr>
          <p:cNvPr id="14" name="TextBox 1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50</a:t>
            </a:fld>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TextBox 1"/>
          <p:cNvSpPr txBox="1"/>
          <p:nvPr/>
        </p:nvSpPr>
        <p:spPr>
          <a:xfrm>
            <a:off x="457200" y="457200"/>
            <a:ext cx="11277600" cy="768096"/>
          </a:xfrm>
          <a:prstGeom prst="rect">
            <a:avLst/>
          </a:prstGeom>
          <a:noFill/>
        </p:spPr>
        <p:txBody>
          <a:bodyPr wrap="none" lIns="0" rIns="0">
            <a:noAutofit/>
          </a:bodyPr>
          <a:lstStyle/>
          <a:p>
            <a:pPr algn="l"/>
            <a:r>
              <a:rPr sz="4200" b="1" i="0">
                <a:solidFill>
                  <a:srgbClr val="0072CE"/>
                </a:solidFill>
                <a:latin typeface="Arial"/>
              </a:rPr>
              <a:t>What You Built This Week</a:t>
            </a:r>
          </a:p>
        </p:txBody>
      </p:sp>
      <p:sp>
        <p:nvSpPr>
          <p:cNvPr id="3" name="TextBox 2"/>
          <p:cNvSpPr txBox="1"/>
          <p:nvPr/>
        </p:nvSpPr>
        <p:spPr>
          <a:xfrm>
            <a:off x="457200" y="1908050"/>
            <a:ext cx="11277600" cy="518159"/>
          </a:xfrm>
          <a:prstGeom prst="rect">
            <a:avLst/>
          </a:prstGeom>
          <a:noFill/>
        </p:spPr>
        <p:txBody>
          <a:bodyPr wrap="none" lIns="0" rIns="0">
            <a:noAutofit/>
          </a:bodyPr>
          <a:lstStyle/>
          <a:p>
            <a:pPr algn="l"/>
            <a:r>
              <a:rPr sz="3400" b="0" i="0">
                <a:solidFill>
                  <a:srgbClr val="0A2240"/>
                </a:solidFill>
                <a:latin typeface="Arial"/>
              </a:rPr>
              <a:t>A problem stated precisely</a:t>
            </a:r>
          </a:p>
        </p:txBody>
      </p:sp>
      <p:sp>
        <p:nvSpPr>
          <p:cNvPr id="4" name="TextBox 3"/>
          <p:cNvSpPr txBox="1"/>
          <p:nvPr/>
        </p:nvSpPr>
        <p:spPr>
          <a:xfrm>
            <a:off x="457200" y="2883409"/>
            <a:ext cx="11277600" cy="518159"/>
          </a:xfrm>
          <a:prstGeom prst="rect">
            <a:avLst/>
          </a:prstGeom>
          <a:noFill/>
        </p:spPr>
        <p:txBody>
          <a:bodyPr wrap="none" lIns="0" rIns="0">
            <a:noAutofit/>
          </a:bodyPr>
          <a:lstStyle/>
          <a:p>
            <a:pPr algn="l"/>
            <a:r>
              <a:rPr sz="3400" b="0" i="0">
                <a:solidFill>
                  <a:srgbClr val="0A2240"/>
                </a:solidFill>
                <a:latin typeface="Arial"/>
              </a:rPr>
              <a:t>A workflow mapped and owned</a:t>
            </a:r>
          </a:p>
        </p:txBody>
      </p:sp>
      <p:sp>
        <p:nvSpPr>
          <p:cNvPr id="5" name="TextBox 4"/>
          <p:cNvSpPr txBox="1"/>
          <p:nvPr/>
        </p:nvSpPr>
        <p:spPr>
          <a:xfrm>
            <a:off x="457200" y="3858768"/>
            <a:ext cx="11277600" cy="518159"/>
          </a:xfrm>
          <a:prstGeom prst="rect">
            <a:avLst/>
          </a:prstGeom>
          <a:noFill/>
        </p:spPr>
        <p:txBody>
          <a:bodyPr wrap="none" lIns="0" rIns="0">
            <a:noAutofit/>
          </a:bodyPr>
          <a:lstStyle/>
          <a:p>
            <a:pPr algn="l"/>
            <a:r>
              <a:rPr sz="3400" b="0" i="0">
                <a:solidFill>
                  <a:srgbClr val="0A2240"/>
                </a:solidFill>
                <a:latin typeface="Arial"/>
              </a:rPr>
              <a:t>A prototype at a public URL</a:t>
            </a:r>
          </a:p>
        </p:txBody>
      </p:sp>
      <p:sp>
        <p:nvSpPr>
          <p:cNvPr id="6" name="TextBox 5"/>
          <p:cNvSpPr txBox="1"/>
          <p:nvPr/>
        </p:nvSpPr>
        <p:spPr>
          <a:xfrm>
            <a:off x="457200" y="4834127"/>
            <a:ext cx="11277600" cy="518159"/>
          </a:xfrm>
          <a:prstGeom prst="rect">
            <a:avLst/>
          </a:prstGeom>
          <a:noFill/>
        </p:spPr>
        <p:txBody>
          <a:bodyPr wrap="none" lIns="0" rIns="0">
            <a:noAutofit/>
          </a:bodyPr>
          <a:lstStyle/>
          <a:p>
            <a:pPr algn="l"/>
            <a:r>
              <a:rPr sz="3400" b="0" i="0">
                <a:solidFill>
                  <a:srgbClr val="0A2240"/>
                </a:solidFill>
                <a:latin typeface="Arial"/>
              </a:rPr>
              <a:t>Proof that you tested it</a:t>
            </a:r>
          </a:p>
        </p:txBody>
      </p:sp>
      <p:sp>
        <p:nvSpPr>
          <p:cNvPr id="7" name="TextBox 6"/>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51</a:t>
            </a:fld>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sp>
        <p:nvSpPr>
          <p:cNvPr id="2" name="Rectangle 1"/>
          <p:cNvSpPr/>
          <p:nvPr/>
        </p:nvSpPr>
        <p:spPr>
          <a:xfrm>
            <a:off x="457200" y="2926080"/>
            <a:ext cx="128016" cy="1005840"/>
          </a:xfrm>
          <a:prstGeom prst="rect">
            <a:avLst/>
          </a:prstGeom>
          <a:solidFill>
            <a:srgbClr val="0072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6696" y="2926080"/>
            <a:ext cx="11195304" cy="1005840"/>
          </a:xfrm>
          <a:prstGeom prst="rect">
            <a:avLst/>
          </a:prstGeom>
          <a:noFill/>
        </p:spPr>
        <p:txBody>
          <a:bodyPr wrap="none" lIns="0" rIns="0">
            <a:noAutofit/>
          </a:bodyPr>
          <a:lstStyle/>
          <a:p>
            <a:pPr algn="l"/>
            <a:r>
              <a:rPr sz="6000" b="1" i="0">
                <a:solidFill>
                  <a:srgbClr val="0A2240"/>
                </a:solidFill>
                <a:latin typeface="Arial"/>
              </a:rPr>
              <a:t>What would you build next?</a:t>
            </a:r>
          </a:p>
        </p:txBody>
      </p:sp>
      <p:sp>
        <p:nvSpPr>
          <p:cNvPr id="4" name="TextBox 3"/>
          <p:cNvSpPr/>
          <p:nvPr>
            <p:ph type="sldNum" idx="12"/>
          </p:nvPr>
        </p:nvSpPr>
        <p:spPr>
          <a:xfrm>
            <a:off x="11186160" y="6035040"/>
            <a:ext cx="548640" cy="365760"/>
          </a:xfrm>
          <a:prstGeom prst="rect">
            <a:avLst/>
          </a:prstGeom>
          <a:noFill/>
        </p:spPr>
        <p:txBody>
          <a:bodyPr wrap="none" lIns="0" rIns="0">
            <a:noAutofit/>
          </a:bodyPr>
          <a:lstStyle/>
          <a:p>
            <a:pPr algn="r"/>
            <a:fld id="{4B0E1F8A-6C1D-4E2A-9F3B-7A5C8D2E1F60}" type="slidenum">
              <a:rPr sz="1600" b="0" i="0">
                <a:solidFill>
                  <a:srgbClr val="5B6B82"/>
                </a:solidFill>
                <a:latin typeface="Arial"/>
              </a:rPr>
              <a:t>52</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