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am Victor Palacios, and I direct data science and AI partnerships at the University of San Francisco.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question I actually want to answer today, because the route I took looks nothing like a plan.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degrees in four fields: Japanese literature at Berkeley, information science at Nagoya, data science here at USF, and a software engineering master's I am part-way through right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the research I have worked on, the path that connects it, the writing I publish along the way, and the partnerships and projects I run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start with research, because it is the oldest thread and it runs from cognitive neuroscience through healthcare to legal and clinical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research area was deception detection: measuring what the brain does differently when a person is lying.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Nagoya in 2014 I asked whether lying about something you did is different, in the brain, from lying about something you said. We measured it with near-infrared spectroscopy across three sessions.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first gestured or spoke twenty sentences each, then recalled which they had done which way, then lied about half of them and told the truth about the other half.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was that the right superior frontal gyrus lit up uniquely for action lies, which says that different kinds of lie recruit different parts of the brain rather than one shared lying circuit.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2021 I moved to healthcare, asking whether a continuous glucose monitor could tell when someone had eaten. It became my first first-author paper, with Diane Woodbridge and Jean Fry.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clever part is what it was for. Instead of asking participants whether they had followed the study protocol, the sensor data could tell us — an objective measure of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defined meal consumption as the target variable, and that one decision took the model from sixty percent to eighty-nine percent on the same underlying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recent work benchmarks pretrained language models for turning clinical notes into ICD-10 diagnosis codes, using over a hundred thousand notes from MIMIC-IV, with collaborators in Switzerland.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three models between one and seven billion parameters: Falcon, Phi three point five, and Meditron, which is the one actually trained on medical text.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surprise was that Falcon at one billion parameters, which is not a medical model at all, achieved results we did not expect — and parameter-efficient fine-tuning kept that quality while cutting the compute right down.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Lying, eating, and medical coding look unrelated, and in a sense they are. What connects them is that each one takes a messy human signal and asks what a machine can honestly read out of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 I think is more useful to you than any of the research: how someone gets from a literature degree to this job.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started in Japanese language and literature, and I now work in data science and artificial intelligence. Nothing about the first was wasted on the way to the second.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I took from Japan. Language turns out to be structured data. Research is mostly patience. Being the person who does not yet understand is a normal working state. And real fluency in anything takes years.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degrees I worked at Halo Solutions directly with the CEO, building a pipeline that pulled overdue patients out of more than ten thousand PDFs, and at KNIME, where I led six data science courses and presented on fraud detection.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numbers from that period: the overdue-patient work represented up to thirteen million dollars in recoverable revenue, and the fraud detection session went out to an audience of ninety thousand subscribers.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 match students with practicum teams, mentor those teams for nine months, teach the professional certificate course in SQL, and do career advising all year round.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should say that I am still a student myself. I started a software engineering master's in October last year and I am doing it alongside this job, because the learning genuinely does not stop.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almost everything I learn, I write down publicly. Two examples.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is mAIstory, where I fine-tuned Gemma two billion into an interactive storyteller for children, built during a KaggleX mentorship, with all the code published alongside the write-up.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article is about passing the AWS Cloud Practitioner certification with essentially no cloud experience, using only free materials, and then writing up exactly how I did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were a score of eight hundred and thirty-eight against a pass mark of seven hundred, thirty-two hours of study spread over a month, and nothing spent at all.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a theme you will see again in a moment. A surprising amount of what looks like it costs money turns out to be optional.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the part of my job that is about companies rather than code.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student in our master's programme does a practicum: sixteen hours a week for about nine months, on a real problem for a real organisation. It is guaranteed, not a lottery.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give you the scale: I manage relationships with over a hundred and twenty companies, I have taught or mentored more than a hundred and fifty master's students, and my instructional score is five point six seven out of six.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 run from finance, with BlackRock, through cloud and software companies like AWS and Atlassian, to health systems including UCSF and Stanford, and mission organisations such as the Gates Foundation.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the class of twenty twenty-five, seventy-eight percent accepted offers in California, at a median base salary of a hundred and fifty thousand dollars.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watched a lot of these placements, what gets someone hired is work a stranger can look at and one project they can explain clearly. It is almost never the transcript.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a project of my own that pulls all of this together: language, large-scale data, free tools, and something genuinely useful.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Ninth Circuit publishes thousands of opinions a year, only a fraction of which concern asylum. Reading and coding them by hand is not something a person can do, so that research simply does not get done.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three stages. It fetches opinions from the court, asks a model whether each one is an asylum case, and then extracts structured legal features from the ones that are.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it holds five thousand seven hundred and seventy-nine opinions, extracts more than seventy structured features from each asylum case with a supporting quote for every one, and finds that about twenty-six percent of opinions qualify.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trick is the order. A cheap classification pass throws away about three quarters of the opinions before the expensive extraction ever runs, which makes the whole thing roughly four times cheaper — and it runs on free-tier models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runs on Llama three point three through a free API tier, a Postgres database with a vector index for search, and a scheduled job that runs daily. The ongoing cost is nothing.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matters because this kind of asylum research has always been hand-coded by people with time and funding. This makes it searchable, keeps a quote behind every extracted claim, and the code is public for anyone to check.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paths are not straight — I studied literature, none of it was wasted, and the detour turned into the thing that makes me useful. Second, the tools are genuinely free now, and the barrier is starting rather than paying.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do one thing after today, build something small in public, write down how you did it, do the whole thing on free tiers, and then show it to somebody.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0363200" cy="914400"/>
          </a:xfrm>
          <a:prstGeom prst="rect">
            <a:avLst/>
          </a:prstGeom>
          <a:noFill/>
        </p:spPr>
        <p:txBody>
          <a:bodyPr wrap="none" lIns="0" rIns="0">
            <a:noAutofit/>
          </a:bodyPr>
          <a:lstStyle/>
          <a:p>
            <a:pPr algn="l"/>
            <a:r>
              <a:rPr sz="6000" b="1" i="0">
                <a:solidFill>
                  <a:srgbClr val="0072CE"/>
                </a:solidFill>
                <a:latin typeface="Arial"/>
              </a:rPr>
              <a:t>Victor Palacios</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Director of Data Science and AI Partnerships · USF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How do you end up here?</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Still Collecting Degrees</a:t>
            </a:r>
          </a:p>
        </p:txBody>
      </p:sp>
      <p:sp>
        <p:nvSpPr>
          <p:cNvPr id="3" name="TextBox 2"/>
          <p:cNvSpPr txBo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2011</a:t>
            </a:r>
          </a:p>
        </p:txBody>
      </p:sp>
      <p:sp>
        <p:nvSpPr>
          <p:cNvPr id="4" name="TextBox 3"/>
          <p:cNvSpPr txBox="1"/>
          <p:nvPr/>
        </p:nvSpPr>
        <p:spPr>
          <a:xfrm>
            <a:off x="457200" y="2154936"/>
            <a:ext cx="3063795" cy="518159"/>
          </a:xfrm>
          <a:prstGeom prst="rect">
            <a:avLst/>
          </a:prstGeom>
          <a:noFill/>
        </p:spPr>
        <p:txBody>
          <a:bodyPr wrap="none" lIns="0" rIns="0">
            <a:noAutofit/>
          </a:bodyPr>
          <a:lstStyle/>
          <a:p>
            <a:pPr algn="l"/>
            <a:r>
              <a:rPr sz="3400" b="1" i="0">
                <a:solidFill>
                  <a:srgbClr val="0A2240"/>
                </a:solidFill>
                <a:latin typeface="Arial"/>
              </a:rPr>
              <a:t>Berkeley</a:t>
            </a:r>
          </a:p>
        </p:txBody>
      </p:sp>
      <p:sp>
        <p:nvSpPr>
          <p:cNvPr id="5" name="TextBox 4"/>
          <p:cNvSpPr txBox="1"/>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BA in Japanese language and literature</a:t>
            </a:r>
          </a:p>
        </p:txBody>
      </p:sp>
      <p:sp>
        <p:nvSpPr>
          <p:cNvPr id="6" name="TextBox 5"/>
          <p:cNvSpPr txBox="1"/>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2015</a:t>
            </a:r>
          </a:p>
        </p:txBody>
      </p:sp>
      <p:sp>
        <p:nvSpPr>
          <p:cNvPr id="7" name="TextBox 6"/>
          <p:cNvSpPr txBox="1"/>
          <p:nvPr/>
        </p:nvSpPr>
        <p:spPr>
          <a:xfrm>
            <a:off x="3345180" y="2154936"/>
            <a:ext cx="2678548" cy="518159"/>
          </a:xfrm>
          <a:prstGeom prst="rect">
            <a:avLst/>
          </a:prstGeom>
          <a:noFill/>
        </p:spPr>
        <p:txBody>
          <a:bodyPr wrap="none" lIns="0" rIns="0">
            <a:noAutofit/>
          </a:bodyPr>
          <a:lstStyle/>
          <a:p>
            <a:pPr algn="l"/>
            <a:r>
              <a:rPr sz="3400" b="1" i="0">
                <a:solidFill>
                  <a:srgbClr val="0A2240"/>
                </a:solidFill>
                <a:latin typeface="Arial"/>
              </a:rPr>
              <a:t>Nagoya</a:t>
            </a:r>
          </a:p>
        </p:txBody>
      </p:sp>
      <p:sp>
        <p:nvSpPr>
          <p:cNvPr id="8" name="TextBox 7"/>
          <p:cNvSpPr txBox="1"/>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MS in Information Science, in Japan</a:t>
            </a:r>
          </a:p>
        </p:txBody>
      </p:sp>
      <p:sp>
        <p:nvSpPr>
          <p:cNvPr id="9" name="TextBox 8"/>
          <p:cNvSpPr txBox="1"/>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2021</a:t>
            </a:r>
          </a:p>
        </p:txBody>
      </p:sp>
      <p:sp>
        <p:nvSpPr>
          <p:cNvPr id="10" name="TextBox 9"/>
          <p:cNvSpPr txBox="1"/>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USF</a:t>
            </a:r>
          </a:p>
        </p:txBody>
      </p:sp>
      <p:sp>
        <p:nvSpPr>
          <p:cNvPr id="11" name="TextBox 10"/>
          <p:cNvSpPr txBox="1"/>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MS in Data Science</a:t>
            </a:r>
          </a:p>
        </p:txBody>
      </p:sp>
      <p:sp>
        <p:nvSpPr>
          <p:cNvPr id="12" name="TextBox 11"/>
          <p:cNvSpPr txBox="1"/>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2026</a:t>
            </a:r>
          </a:p>
        </p:txBody>
      </p:sp>
      <p:sp>
        <p:nvSpPr>
          <p:cNvPr id="13" name="TextBox 12"/>
          <p:cNvSpPr txBox="1"/>
          <p:nvPr/>
        </p:nvSpPr>
        <p:spPr>
          <a:xfrm>
            <a:off x="9121140" y="2154936"/>
            <a:ext cx="2754788" cy="518159"/>
          </a:xfrm>
          <a:prstGeom prst="rect">
            <a:avLst/>
          </a:prstGeom>
          <a:noFill/>
        </p:spPr>
        <p:txBody>
          <a:bodyPr wrap="none" lIns="0" rIns="0">
            <a:noAutofit/>
          </a:bodyPr>
          <a:lstStyle/>
          <a:p>
            <a:pPr algn="l"/>
            <a:r>
              <a:rPr sz="3400" b="1" i="0">
                <a:solidFill>
                  <a:srgbClr val="0A2240"/>
                </a:solidFill>
                <a:latin typeface="Arial"/>
              </a:rPr>
              <a:t>Quantic</a:t>
            </a:r>
          </a:p>
        </p:txBody>
      </p:sp>
      <p:sp>
        <p:nvSpPr>
          <p:cNvPr id="14" name="TextBox 13"/>
          <p:cNvSpPr txBox="1"/>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MS in Software Eng, under way</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I Will Cover</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Research, from brains to health</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The path, and its detours</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Writing things down in public</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Partnerships, and one big repo</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Research</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Deception detection</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Finding what the brain does when someone lies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Nagoya, 2014</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Are action lies unlike speech lies?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Measured with near-infrared light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Forty sentences, three sessions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Published at JCSS in Japan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the Study Ran</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Learning</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You gesture or speak twenty sentences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Recognition</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You recall which ones you did which way</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Lying</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You lie about twenty, tell the truth about twenty</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"Different lies, different regions."</a:t>
            </a:r>
          </a:p>
        </p:txBody>
      </p:sp>
      <p:sp>
        <p:nvSpPr>
          <p:cNvPr id="4" name="TextBox 3"/>
          <p:cNvSpPr txBox="1"/>
          <p:nvPr/>
        </p:nvSpPr>
        <p:spPr>
          <a:xfrm>
            <a:off x="996696" y="3627120"/>
            <a:ext cx="10743425" cy="609600"/>
          </a:xfrm>
          <a:prstGeom prst="rect">
            <a:avLst/>
          </a:prstGeom>
          <a:noFill/>
        </p:spPr>
        <p:txBody>
          <a:bodyPr wrap="none" lIns="0" rIns="0">
            <a:noAutofit/>
          </a:bodyPr>
          <a:lstStyle/>
          <a:p>
            <a:pPr algn="l"/>
            <a:r>
              <a:rPr sz="3400" b="0" i="0">
                <a:solidFill>
                  <a:srgbClr val="0A2240"/>
                </a:solidFill>
                <a:latin typeface="Arial"/>
              </a:rPr>
              <a:t>- Palacios, Saito et al., JCSS 2014</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Then Healthcare, 2021</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sensor reads blood sugar all day</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Can it tell when you ate?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Healthy participants, not patients</a:t>
            </a:r>
          </a:p>
        </p:txBody>
      </p:sp>
      <p:sp>
        <p:nvSpPr>
          <p:cNvPr id="6" name="TextBox 5"/>
          <p:cNvSpPr txBox="1"/>
          <p:nvPr/>
        </p:nvSpPr>
        <p:spPr>
          <a:xfrm>
            <a:off x="457200" y="4834127"/>
            <a:ext cx="11690012" cy="518159"/>
          </a:xfrm>
          <a:prstGeom prst="rect">
            <a:avLst/>
          </a:prstGeom>
          <a:noFill/>
        </p:spPr>
        <p:txBody>
          <a:bodyPr wrap="none" lIns="0" rIns="0">
            <a:noAutofit/>
          </a:bodyPr>
          <a:lstStyle/>
          <a:p>
            <a:pPr algn="l"/>
            <a:r>
              <a:rPr sz="3400" b="0" i="0">
                <a:solidFill>
                  <a:srgbClr val="0A2240"/>
                </a:solidFill>
                <a:latin typeface="Arial"/>
              </a:rPr>
              <a:t>First author, with Woodbridge and Fry</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It Was Really For</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Asked</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Did you eat when told?</a:t>
            </a:r>
          </a:p>
        </p:txBody>
      </p:sp>
      <p:sp>
        <p:nvSpPr>
          <p:cNvPr id="5" name="TextBox 4"/>
          <p:cNvSpPr txBox="1"/>
          <p:nvPr/>
        </p:nvSpPr>
        <p:spPr>
          <a:xfrm>
            <a:off x="6484620" y="2776728"/>
            <a:ext cx="5707380" cy="914400"/>
          </a:xfrm>
          <a:prstGeom prst="rect">
            <a:avLst/>
          </a:prstGeom>
          <a:noFill/>
        </p:spPr>
        <p:txBody>
          <a:bodyPr wrap="none" lIns="0" rIns="0">
            <a:noAutofit/>
          </a:bodyPr>
          <a:lstStyle/>
          <a:p>
            <a:pPr algn="ctr"/>
            <a:r>
              <a:rPr sz="6000" b="1" i="0">
                <a:solidFill>
                  <a:srgbClr val="0A2240"/>
                </a:solidFill>
                <a:latin typeface="Arial"/>
              </a:rPr>
              <a:t>Measured</a:t>
            </a:r>
          </a:p>
        </p:txBody>
      </p:sp>
      <p:sp>
        <p:nvSpPr>
          <p:cNvPr id="6" name="TextBox 5"/>
          <p:cNvSpPr txBox="1"/>
          <p:nvPr/>
        </p:nvSpPr>
        <p:spPr>
          <a:xfrm>
            <a:off x="6616433" y="3965448"/>
            <a:ext cx="5443754" cy="518159"/>
          </a:xfrm>
          <a:prstGeom prst="rect">
            <a:avLst/>
          </a:prstGeom>
          <a:noFill/>
        </p:spPr>
        <p:txBody>
          <a:bodyPr wrap="none" lIns="0" rIns="0">
            <a:noAutofit/>
          </a:bodyPr>
          <a:lstStyle/>
          <a:p>
            <a:pPr algn="ctr"/>
            <a:r>
              <a:rPr sz="3400" b="0" i="0">
                <a:solidFill>
                  <a:srgbClr val="0A2240"/>
                </a:solidFill>
                <a:latin typeface="Arial"/>
              </a:rPr>
              <a:t>The sensor knew</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Number That Mattered</a:t>
            </a:r>
          </a:p>
        </p:txBody>
      </p:sp>
      <p:sp>
        <p:nvSpPr>
          <p:cNvPr id="3" name="TextBox 2"/>
          <p:cNvSpPr txBox="1"/>
          <p:nvPr/>
        </p:nvSpPr>
        <p:spPr>
          <a:xfrm>
            <a:off x="457200" y="2449068"/>
            <a:ext cx="5501640" cy="914400"/>
          </a:xfrm>
          <a:prstGeom prst="rect">
            <a:avLst/>
          </a:prstGeom>
          <a:noFill/>
        </p:spPr>
        <p:txBody>
          <a:bodyPr wrap="none" lIns="0" rIns="0">
            <a:noAutofit/>
          </a:bodyPr>
          <a:lstStyle/>
          <a:p>
            <a:pPr algn="l"/>
            <a:r>
              <a:rPr sz="6000" b="1" i="0">
                <a:solidFill>
                  <a:srgbClr val="0072CE"/>
                </a:solidFill>
                <a:latin typeface="Arial"/>
              </a:rPr>
              <a:t>60%</a:t>
            </a:r>
          </a:p>
        </p:txBody>
      </p:sp>
      <p:sp>
        <p:nvSpPr>
          <p:cNvPr id="4" name="TextBox 3"/>
          <p:cNvSpPr txBox="1"/>
          <p:nvPr/>
        </p:nvSpPr>
        <p:spPr>
          <a:xfrm>
            <a:off x="457200" y="3637788"/>
            <a:ext cx="5501640" cy="518159"/>
          </a:xfrm>
          <a:prstGeom prst="rect">
            <a:avLst/>
          </a:prstGeom>
          <a:noFill/>
        </p:spPr>
        <p:txBody>
          <a:bodyPr wrap="none" lIns="0" rIns="0">
            <a:noAutofit/>
          </a:bodyPr>
          <a:lstStyle/>
          <a:p>
            <a:pPr algn="l"/>
            <a:r>
              <a:rPr sz="3400" b="0" i="0">
                <a:solidFill>
                  <a:srgbClr val="0A2240"/>
                </a:solidFill>
                <a:latin typeface="Arial"/>
              </a:rPr>
              <a:t>Baseline</a:t>
            </a:r>
          </a:p>
        </p:txBody>
      </p:sp>
      <p:sp>
        <p:nvSpPr>
          <p:cNvPr id="5" name="TextBox 4"/>
          <p:cNvSpPr txBox="1"/>
          <p:nvPr/>
        </p:nvSpPr>
        <p:spPr>
          <a:xfrm>
            <a:off x="457200" y="4430267"/>
            <a:ext cx="5501640" cy="381000"/>
          </a:xfrm>
          <a:prstGeom prst="rect">
            <a:avLst/>
          </a:prstGeom>
          <a:noFill/>
        </p:spPr>
        <p:txBody>
          <a:bodyPr wrap="none" lIns="0" rIns="0">
            <a:noAutofit/>
          </a:bodyPr>
          <a:lstStyle/>
          <a:p>
            <a:pPr algn="l"/>
            <a:r>
              <a:rPr sz="2500" b="0" i="0">
                <a:solidFill>
                  <a:srgbClr val="0A2240"/>
                </a:solidFill>
                <a:latin typeface="Arial"/>
              </a:rPr>
              <a:t>Where we started</a:t>
            </a:r>
          </a:p>
        </p:txBody>
      </p:sp>
      <p:sp>
        <p:nvSpPr>
          <p:cNvPr id="6" name="TextBox 5"/>
          <p:cNvSpPr txBox="1"/>
          <p:nvPr/>
        </p:nvSpPr>
        <p:spPr>
          <a:xfrm>
            <a:off x="6233160" y="2449068"/>
            <a:ext cx="5501640" cy="914400"/>
          </a:xfrm>
          <a:prstGeom prst="rect">
            <a:avLst/>
          </a:prstGeom>
          <a:noFill/>
        </p:spPr>
        <p:txBody>
          <a:bodyPr wrap="none" lIns="0" rIns="0">
            <a:noAutofit/>
          </a:bodyPr>
          <a:lstStyle/>
          <a:p>
            <a:pPr algn="l"/>
            <a:r>
              <a:rPr sz="6000" b="1" i="0">
                <a:solidFill>
                  <a:srgbClr val="0072CE"/>
                </a:solidFill>
                <a:latin typeface="Arial"/>
              </a:rPr>
              <a:t>89%</a:t>
            </a:r>
          </a:p>
        </p:txBody>
      </p:sp>
      <p:sp>
        <p:nvSpPr>
          <p:cNvPr id="7" name="TextBox 6"/>
          <p:cNvSpPr txBox="1"/>
          <p:nvPr/>
        </p:nvSpPr>
        <p:spPr>
          <a:xfrm>
            <a:off x="6233160" y="3637788"/>
            <a:ext cx="5501640" cy="518159"/>
          </a:xfrm>
          <a:prstGeom prst="rect">
            <a:avLst/>
          </a:prstGeom>
          <a:noFill/>
        </p:spPr>
        <p:txBody>
          <a:bodyPr wrap="none" lIns="0" rIns="0">
            <a:noAutofit/>
          </a:bodyPr>
          <a:lstStyle/>
          <a:p>
            <a:pPr algn="l"/>
            <a:r>
              <a:rPr sz="3400" b="0" i="0">
                <a:solidFill>
                  <a:srgbClr val="0A2240"/>
                </a:solidFill>
                <a:latin typeface="Arial"/>
              </a:rPr>
              <a:t>After the work</a:t>
            </a:r>
          </a:p>
        </p:txBody>
      </p:sp>
      <p:sp>
        <p:nvSpPr>
          <p:cNvPr id="8" name="TextBox 7"/>
          <p:cNvSpPr txBox="1"/>
          <p:nvPr/>
        </p:nvSpPr>
        <p:spPr>
          <a:xfrm>
            <a:off x="6233160" y="4430267"/>
            <a:ext cx="5661243" cy="381000"/>
          </a:xfrm>
          <a:prstGeom prst="rect">
            <a:avLst/>
          </a:prstGeom>
          <a:noFill/>
        </p:spPr>
        <p:txBody>
          <a:bodyPr wrap="none" lIns="0" rIns="0">
            <a:noAutofit/>
          </a:bodyPr>
          <a:lstStyle/>
          <a:p>
            <a:pPr algn="l"/>
            <a:r>
              <a:rPr sz="2500" b="0" i="0">
                <a:solidFill>
                  <a:srgbClr val="0A2240"/>
                </a:solidFill>
                <a:latin typeface="Arial"/>
              </a:rPr>
              <a:t>Same data, better target</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ICD-10 Coding, 2024</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Clinical notes into diagnosis codes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Small open models, not large ones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Over 100,000 notes from MIMIC-IV</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Swiss and USF collaboration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Benchmarked</a:t>
            </a:r>
          </a:p>
        </p:txBody>
      </p:sp>
      <p:sp>
        <p:nvSpPr>
          <p:cNvPr id="3" name="TextBox 2"/>
          <p:cNvSpPr txBox="1"/>
          <p:nvPr/>
        </p:nvSpPr>
        <p:spPr>
          <a:xfrm>
            <a:off x="457200" y="1499616"/>
            <a:ext cx="2178606" cy="518159"/>
          </a:xfrm>
          <a:prstGeom prst="rect">
            <a:avLst/>
          </a:prstGeom>
          <a:noFill/>
        </p:spPr>
        <p:txBody>
          <a:bodyPr wrap="none" lIns="0" rIns="0">
            <a:noAutofit/>
          </a:bodyPr>
          <a:lstStyle/>
          <a:p>
            <a:pPr algn="l"/>
            <a:r>
              <a:rPr sz="3400" b="1" i="0">
                <a:solidFill>
                  <a:srgbClr val="0072CE"/>
                </a:solidFill>
                <a:latin typeface="Arial"/>
              </a:rPr>
              <a:t>Model</a:t>
            </a:r>
          </a:p>
        </p:txBody>
      </p:sp>
      <p:sp>
        <p:nvSpPr>
          <p:cNvPr id="4" name="TextBox 3"/>
          <p:cNvSpPr txBox="1"/>
          <p:nvPr/>
        </p:nvSpPr>
        <p:spPr>
          <a:xfrm>
            <a:off x="3051572" y="1499616"/>
            <a:ext cx="3557875" cy="518159"/>
          </a:xfrm>
          <a:prstGeom prst="rect">
            <a:avLst/>
          </a:prstGeom>
          <a:noFill/>
        </p:spPr>
        <p:txBody>
          <a:bodyPr wrap="none" lIns="0" rIns="0">
            <a:noAutofit/>
          </a:bodyPr>
          <a:lstStyle/>
          <a:p>
            <a:pPr algn="l"/>
            <a:r>
              <a:rPr sz="3400" b="1" i="0">
                <a:solidFill>
                  <a:srgbClr val="0072CE"/>
                </a:solidFill>
                <a:latin typeface="Arial"/>
              </a:rPr>
              <a:t>Size</a:t>
            </a:r>
          </a:p>
        </p:txBody>
      </p:sp>
      <p:sp>
        <p:nvSpPr>
          <p:cNvPr id="5" name="Rectangle 4"/>
          <p:cNvSpPr/>
          <p:nvPr/>
        </p:nvSpPr>
        <p:spPr>
          <a:xfrm>
            <a:off x="457200" y="2072639"/>
            <a:ext cx="6152247"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256532" cy="936752"/>
          </a:xfrm>
          <a:prstGeom prst="rect">
            <a:avLst/>
          </a:prstGeom>
          <a:noFill/>
        </p:spPr>
        <p:txBody>
          <a:bodyPr wrap="none" lIns="0" rIns="0">
            <a:noAutofit/>
          </a:bodyPr>
          <a:lstStyle/>
          <a:p>
            <a:pPr algn="l"/>
            <a:r>
              <a:rPr sz="3400" b="0" i="0">
                <a:solidFill>
                  <a:srgbClr val="0A2240"/>
                </a:solidFill>
                <a:latin typeface="Arial"/>
              </a:rPr>
              <a:t>Falcon</a:t>
            </a:r>
          </a:p>
        </p:txBody>
      </p:sp>
      <p:sp>
        <p:nvSpPr>
          <p:cNvPr id="7" name="TextBox 6"/>
          <p:cNvSpPr txBox="1"/>
          <p:nvPr/>
        </p:nvSpPr>
        <p:spPr>
          <a:xfrm>
            <a:off x="3051572" y="2401823"/>
            <a:ext cx="4714081" cy="936752"/>
          </a:xfrm>
          <a:prstGeom prst="rect">
            <a:avLst/>
          </a:prstGeom>
          <a:noFill/>
        </p:spPr>
        <p:txBody>
          <a:bodyPr wrap="none" lIns="0" rIns="0">
            <a:noAutofit/>
          </a:bodyPr>
          <a:lstStyle/>
          <a:p>
            <a:pPr algn="l"/>
            <a:r>
              <a:rPr sz="3400" b="0" i="0">
                <a:solidFill>
                  <a:srgbClr val="0A2240"/>
                </a:solidFill>
                <a:latin typeface="Arial"/>
              </a:rPr>
              <a:t>1B parameters</a:t>
            </a:r>
          </a:p>
        </p:txBody>
      </p:sp>
      <p:sp>
        <p:nvSpPr>
          <p:cNvPr id="8" name="TextBox 7"/>
          <p:cNvSpPr txBox="1"/>
          <p:nvPr/>
        </p:nvSpPr>
        <p:spPr>
          <a:xfrm>
            <a:off x="457200" y="3612895"/>
            <a:ext cx="2371904" cy="936752"/>
          </a:xfrm>
          <a:prstGeom prst="rect">
            <a:avLst/>
          </a:prstGeom>
          <a:noFill/>
        </p:spPr>
        <p:txBody>
          <a:bodyPr wrap="none" lIns="0" rIns="0">
            <a:noAutofit/>
          </a:bodyPr>
          <a:lstStyle/>
          <a:p>
            <a:pPr algn="l"/>
            <a:r>
              <a:rPr sz="3400" b="0" i="0">
                <a:solidFill>
                  <a:srgbClr val="0A2240"/>
                </a:solidFill>
                <a:latin typeface="Arial"/>
              </a:rPr>
              <a:t>Phi-3.5</a:t>
            </a:r>
          </a:p>
        </p:txBody>
      </p:sp>
      <p:sp>
        <p:nvSpPr>
          <p:cNvPr id="9" name="TextBox 8"/>
          <p:cNvSpPr txBox="1"/>
          <p:nvPr/>
        </p:nvSpPr>
        <p:spPr>
          <a:xfrm>
            <a:off x="3051572" y="3612895"/>
            <a:ext cx="5290264" cy="936752"/>
          </a:xfrm>
          <a:prstGeom prst="rect">
            <a:avLst/>
          </a:prstGeom>
          <a:noFill/>
        </p:spPr>
        <p:txBody>
          <a:bodyPr wrap="none" lIns="0" rIns="0">
            <a:noAutofit/>
          </a:bodyPr>
          <a:lstStyle/>
          <a:p>
            <a:pPr algn="l"/>
            <a:r>
              <a:rPr sz="3400" b="0" i="0">
                <a:solidFill>
                  <a:srgbClr val="0A2240"/>
                </a:solidFill>
                <a:latin typeface="Arial"/>
              </a:rPr>
              <a:t>3.5B parameters</a:t>
            </a:r>
          </a:p>
        </p:txBody>
      </p:sp>
      <p:sp>
        <p:nvSpPr>
          <p:cNvPr id="10" name="TextBox 9"/>
          <p:cNvSpPr txBox="1"/>
          <p:nvPr/>
        </p:nvSpPr>
        <p:spPr>
          <a:xfrm>
            <a:off x="457200" y="4823967"/>
            <a:ext cx="2870835" cy="936752"/>
          </a:xfrm>
          <a:prstGeom prst="rect">
            <a:avLst/>
          </a:prstGeom>
          <a:noFill/>
        </p:spPr>
        <p:txBody>
          <a:bodyPr wrap="none" lIns="0" rIns="0">
            <a:noAutofit/>
          </a:bodyPr>
          <a:lstStyle/>
          <a:p>
            <a:pPr algn="l"/>
            <a:r>
              <a:rPr sz="3400" b="0" i="0">
                <a:solidFill>
                  <a:srgbClr val="0A2240"/>
                </a:solidFill>
                <a:latin typeface="Arial"/>
              </a:rPr>
              <a:t>Meditron</a:t>
            </a:r>
          </a:p>
        </p:txBody>
      </p:sp>
      <p:sp>
        <p:nvSpPr>
          <p:cNvPr id="11" name="TextBox 10"/>
          <p:cNvSpPr txBox="1"/>
          <p:nvPr/>
        </p:nvSpPr>
        <p:spPr>
          <a:xfrm>
            <a:off x="3051572" y="4823967"/>
            <a:ext cx="4714081" cy="936752"/>
          </a:xfrm>
          <a:prstGeom prst="rect">
            <a:avLst/>
          </a:prstGeom>
          <a:noFill/>
        </p:spPr>
        <p:txBody>
          <a:bodyPr wrap="none" lIns="0" rIns="0">
            <a:noAutofit/>
          </a:bodyPr>
          <a:lstStyle/>
          <a:p>
            <a:pPr algn="l"/>
            <a:r>
              <a:rPr sz="3400" b="0" i="0">
                <a:solidFill>
                  <a:srgbClr val="0A2240"/>
                </a:solidFill>
                <a:latin typeface="Arial"/>
              </a:rPr>
              <a:t>7B parameters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Surprised Us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1B model held its own</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It was not a medical model</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LoRA kept quality, cut compute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Small can be good enough</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Papers, One Habit</a:t>
            </a:r>
          </a:p>
        </p:txBody>
      </p:sp>
      <p:sp>
        <p:nvSpPr>
          <p:cNvPr id="3" name="TextBox 2"/>
          <p:cNvSpPr txBox="1"/>
          <p:nvPr/>
        </p:nvSpPr>
        <p:spPr>
          <a:xfrm>
            <a:off x="457200" y="1499616"/>
            <a:ext cx="1642904" cy="518159"/>
          </a:xfrm>
          <a:prstGeom prst="rect">
            <a:avLst/>
          </a:prstGeom>
          <a:noFill/>
        </p:spPr>
        <p:txBody>
          <a:bodyPr wrap="none" lIns="0" rIns="0">
            <a:noAutofit/>
          </a:bodyPr>
          <a:lstStyle/>
          <a:p>
            <a:pPr algn="l"/>
            <a:r>
              <a:rPr sz="3400" b="1" i="0">
                <a:solidFill>
                  <a:srgbClr val="0072CE"/>
                </a:solidFill>
                <a:latin typeface="Arial"/>
              </a:rPr>
              <a:t>Year</a:t>
            </a:r>
          </a:p>
        </p:txBody>
      </p:sp>
      <p:sp>
        <p:nvSpPr>
          <p:cNvPr id="4" name="TextBox 3"/>
          <p:cNvSpPr txBox="1"/>
          <p:nvPr/>
        </p:nvSpPr>
        <p:spPr>
          <a:xfrm>
            <a:off x="2332186" y="1499616"/>
            <a:ext cx="5262094" cy="518159"/>
          </a:xfrm>
          <a:prstGeom prst="rect">
            <a:avLst/>
          </a:prstGeom>
          <a:noFill/>
        </p:spPr>
        <p:txBody>
          <a:bodyPr wrap="none" lIns="0" rIns="0">
            <a:noAutofit/>
          </a:bodyPr>
          <a:lstStyle/>
          <a:p>
            <a:pPr algn="l"/>
            <a:r>
              <a:rPr sz="3400" b="1" i="0">
                <a:solidFill>
                  <a:srgbClr val="0072CE"/>
                </a:solidFill>
                <a:latin typeface="Arial"/>
              </a:rPr>
              <a:t>Question</a:t>
            </a:r>
          </a:p>
        </p:txBody>
      </p:sp>
      <p:sp>
        <p:nvSpPr>
          <p:cNvPr id="5" name="Rectangle 4"/>
          <p:cNvSpPr/>
          <p:nvPr/>
        </p:nvSpPr>
        <p:spPr>
          <a:xfrm>
            <a:off x="457200" y="2072639"/>
            <a:ext cx="71370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1719817" cy="936752"/>
          </a:xfrm>
          <a:prstGeom prst="rect">
            <a:avLst/>
          </a:prstGeom>
          <a:noFill/>
        </p:spPr>
        <p:txBody>
          <a:bodyPr wrap="none" lIns="0" rIns="0">
            <a:noAutofit/>
          </a:bodyPr>
          <a:lstStyle/>
          <a:p>
            <a:pPr algn="l"/>
            <a:r>
              <a:rPr sz="3400" b="0" i="0">
                <a:solidFill>
                  <a:srgbClr val="0A2240"/>
                </a:solidFill>
                <a:latin typeface="Arial"/>
              </a:rPr>
              <a:t>2014</a:t>
            </a:r>
          </a:p>
        </p:txBody>
      </p:sp>
      <p:sp>
        <p:nvSpPr>
          <p:cNvPr id="7" name="TextBox 6"/>
          <p:cNvSpPr txBox="1"/>
          <p:nvPr/>
        </p:nvSpPr>
        <p:spPr>
          <a:xfrm>
            <a:off x="2332186" y="2401823"/>
            <a:ext cx="8017014" cy="936752"/>
          </a:xfrm>
          <a:prstGeom prst="rect">
            <a:avLst/>
          </a:prstGeom>
          <a:noFill/>
        </p:spPr>
        <p:txBody>
          <a:bodyPr wrap="none" lIns="0" rIns="0">
            <a:noAutofit/>
          </a:bodyPr>
          <a:lstStyle/>
          <a:p>
            <a:pPr algn="l"/>
            <a:r>
              <a:rPr sz="3400" b="0" i="0">
                <a:solidFill>
                  <a:srgbClr val="0A2240"/>
                </a:solidFill>
                <a:latin typeface="Arial"/>
              </a:rPr>
              <a:t>What does a lie look like?</a:t>
            </a:r>
          </a:p>
        </p:txBody>
      </p:sp>
      <p:sp>
        <p:nvSpPr>
          <p:cNvPr id="8" name="TextBox 7"/>
          <p:cNvSpPr txBox="1"/>
          <p:nvPr/>
        </p:nvSpPr>
        <p:spPr>
          <a:xfrm>
            <a:off x="457200" y="3612895"/>
            <a:ext cx="1719817" cy="936752"/>
          </a:xfrm>
          <a:prstGeom prst="rect">
            <a:avLst/>
          </a:prstGeom>
          <a:noFill/>
        </p:spPr>
        <p:txBody>
          <a:bodyPr wrap="none" lIns="0" rIns="0">
            <a:noAutofit/>
          </a:bodyPr>
          <a:lstStyle/>
          <a:p>
            <a:pPr algn="l"/>
            <a:r>
              <a:rPr sz="3400" b="0" i="0">
                <a:solidFill>
                  <a:srgbClr val="0A2240"/>
                </a:solidFill>
                <a:latin typeface="Arial"/>
              </a:rPr>
              <a:t>2021</a:t>
            </a:r>
          </a:p>
        </p:txBody>
      </p:sp>
      <p:sp>
        <p:nvSpPr>
          <p:cNvPr id="9" name="TextBox 8"/>
          <p:cNvSpPr txBox="1"/>
          <p:nvPr/>
        </p:nvSpPr>
        <p:spPr>
          <a:xfrm>
            <a:off x="2332186" y="3612895"/>
            <a:ext cx="5904904" cy="936752"/>
          </a:xfrm>
          <a:prstGeom prst="rect">
            <a:avLst/>
          </a:prstGeom>
          <a:noFill/>
        </p:spPr>
        <p:txBody>
          <a:bodyPr wrap="none" lIns="0" rIns="0">
            <a:noAutofit/>
          </a:bodyPr>
          <a:lstStyle/>
          <a:p>
            <a:pPr algn="l"/>
            <a:r>
              <a:rPr sz="3400" b="0" i="0">
                <a:solidFill>
                  <a:srgbClr val="0A2240"/>
                </a:solidFill>
                <a:latin typeface="Arial"/>
              </a:rPr>
              <a:t>Did you really eat?</a:t>
            </a:r>
          </a:p>
        </p:txBody>
      </p:sp>
      <p:sp>
        <p:nvSpPr>
          <p:cNvPr id="10" name="TextBox 9"/>
          <p:cNvSpPr txBox="1"/>
          <p:nvPr/>
        </p:nvSpPr>
        <p:spPr>
          <a:xfrm>
            <a:off x="457200" y="4823967"/>
            <a:ext cx="1719817" cy="936752"/>
          </a:xfrm>
          <a:prstGeom prst="rect">
            <a:avLst/>
          </a:prstGeom>
          <a:noFill/>
        </p:spPr>
        <p:txBody>
          <a:bodyPr wrap="none" lIns="0" rIns="0">
            <a:noAutofit/>
          </a:bodyPr>
          <a:lstStyle/>
          <a:p>
            <a:pPr algn="l"/>
            <a:r>
              <a:rPr sz="3400" b="0" i="0">
                <a:solidFill>
                  <a:srgbClr val="0A2240"/>
                </a:solidFill>
                <a:latin typeface="Arial"/>
              </a:rPr>
              <a:t>2024</a:t>
            </a:r>
          </a:p>
        </p:txBody>
      </p:sp>
      <p:sp>
        <p:nvSpPr>
          <p:cNvPr id="11" name="TextBox 10"/>
          <p:cNvSpPr txBox="1"/>
          <p:nvPr/>
        </p:nvSpPr>
        <p:spPr>
          <a:xfrm>
            <a:off x="2332186" y="4823967"/>
            <a:ext cx="7978556" cy="936752"/>
          </a:xfrm>
          <a:prstGeom prst="rect">
            <a:avLst/>
          </a:prstGeom>
          <a:noFill/>
        </p:spPr>
        <p:txBody>
          <a:bodyPr wrap="none" lIns="0" rIns="0">
            <a:noAutofit/>
          </a:bodyPr>
          <a:lstStyle/>
          <a:p>
            <a:pPr algn="l"/>
            <a:r>
              <a:rPr sz="3400" b="0" i="0">
                <a:solidFill>
                  <a:srgbClr val="0A2240"/>
                </a:solidFill>
                <a:latin typeface="Arial"/>
              </a:rPr>
              <a:t>Can a small model code?</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The Path</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Where I Started</a:t>
            </a:r>
          </a:p>
        </p:txBody>
      </p:sp>
      <p:sp>
        <p:nvSpPr>
          <p:cNvPr id="3" name="TextBox 2"/>
          <p:cNvSpPr txBox="1"/>
          <p:nvPr/>
        </p:nvSpPr>
        <p:spPr>
          <a:xfrm>
            <a:off x="0" y="2776728"/>
            <a:ext cx="5707380" cy="914400"/>
          </a:xfrm>
          <a:prstGeom prst="rect">
            <a:avLst/>
          </a:prstGeom>
          <a:noFill/>
        </p:spPr>
        <p:txBody>
          <a:bodyPr wrap="none" lIns="0" rIns="0">
            <a:noAutofit/>
          </a:bodyPr>
          <a:lstStyle/>
          <a:p>
            <a:pPr algn="ctr"/>
            <a:r>
              <a:rPr sz="6000" b="1" i="0">
                <a:solidFill>
                  <a:srgbClr val="0A2240"/>
                </a:solidFill>
                <a:latin typeface="Arial"/>
              </a:rPr>
              <a:t>Japanese</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Language, literature</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Now</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Data science and AI</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Japan Taught Me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Language is structured data</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Research is mostly patience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Being the outsider is normal</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Fluency takes years, not weeks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Industry, in Between</a:t>
            </a:r>
          </a:p>
        </p:txBody>
      </p:sp>
      <p:sp>
        <p:nvSpPr>
          <p:cNvPr id="3" name="TextBox 2"/>
          <p:cNvSpPr txBox="1"/>
          <p:nvPr/>
        </p:nvSpPr>
        <p:spPr>
          <a:xfrm>
            <a:off x="457200" y="1908050"/>
            <a:ext cx="11664374" cy="518159"/>
          </a:xfrm>
          <a:prstGeom prst="rect">
            <a:avLst/>
          </a:prstGeom>
          <a:noFill/>
        </p:spPr>
        <p:txBody>
          <a:bodyPr wrap="none" lIns="0" rIns="0">
            <a:noAutofit/>
          </a:bodyPr>
          <a:lstStyle/>
          <a:p>
            <a:pPr algn="l"/>
            <a:r>
              <a:rPr sz="3400" b="0" i="0">
                <a:solidFill>
                  <a:srgbClr val="0A2240"/>
                </a:solidFill>
                <a:latin typeface="Arial"/>
              </a:rPr>
              <a:t>Halo Solutions, working with the CEO</a:t>
            </a:r>
          </a:p>
        </p:txBody>
      </p:sp>
      <p:sp>
        <p:nvSpPr>
          <p:cNvPr id="4" name="TextBox 3"/>
          <p:cNvSpPr txBox="1"/>
          <p:nvPr/>
        </p:nvSpPr>
        <p:spPr>
          <a:xfrm>
            <a:off x="457200" y="2883409"/>
            <a:ext cx="11734800" cy="518159"/>
          </a:xfrm>
          <a:prstGeom prst="rect">
            <a:avLst/>
          </a:prstGeom>
          <a:noFill/>
        </p:spPr>
        <p:txBody>
          <a:bodyPr wrap="none" lIns="0" rIns="0">
            <a:noAutofit/>
          </a:bodyPr>
          <a:lstStyle/>
          <a:p>
            <a:pPr algn="l"/>
            <a:r>
              <a:rPr sz="3400" b="0" i="0">
                <a:solidFill>
                  <a:srgbClr val="0A2240"/>
                </a:solidFill>
                <a:latin typeface="Arial"/>
              </a:rPr>
              <a:t>Found overdue patients in 10,000 PDFs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KNIME, teaching six courses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Fraud detection, to a big audience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Two Numbers From Industry</a:t>
            </a:r>
          </a:p>
        </p:txBody>
      </p:sp>
      <p:sp>
        <p:nvSpPr>
          <p:cNvPr id="3" name="TextBox 2"/>
          <p:cNvSpPr txBox="1"/>
          <p:nvPr/>
        </p:nvSpPr>
        <p:spPr>
          <a:xfrm>
            <a:off x="457200" y="2449068"/>
            <a:ext cx="5501640" cy="914400"/>
          </a:xfrm>
          <a:prstGeom prst="rect">
            <a:avLst/>
          </a:prstGeom>
          <a:noFill/>
        </p:spPr>
        <p:txBody>
          <a:bodyPr wrap="none" lIns="0" rIns="0">
            <a:noAutofit/>
          </a:bodyPr>
          <a:lstStyle/>
          <a:p>
            <a:pPr algn="l"/>
            <a:r>
              <a:rPr sz="6000" b="1" i="0">
                <a:solidFill>
                  <a:srgbClr val="0072CE"/>
                </a:solidFill>
                <a:latin typeface="Arial"/>
              </a:rPr>
              <a:t>$13M</a:t>
            </a:r>
          </a:p>
        </p:txBody>
      </p:sp>
      <p:sp>
        <p:nvSpPr>
          <p:cNvPr id="4" name="TextBox 3"/>
          <p:cNvSpPr txBox="1"/>
          <p:nvPr/>
        </p:nvSpPr>
        <p:spPr>
          <a:xfrm>
            <a:off x="457200" y="3637788"/>
            <a:ext cx="5905916" cy="518159"/>
          </a:xfrm>
          <a:prstGeom prst="rect">
            <a:avLst/>
          </a:prstGeom>
          <a:noFill/>
        </p:spPr>
        <p:txBody>
          <a:bodyPr wrap="none" lIns="0" rIns="0">
            <a:noAutofit/>
          </a:bodyPr>
          <a:lstStyle/>
          <a:p>
            <a:pPr algn="l"/>
            <a:r>
              <a:rPr sz="3400" b="0" i="0">
                <a:solidFill>
                  <a:srgbClr val="0A2240"/>
                </a:solidFill>
                <a:latin typeface="Arial"/>
              </a:rPr>
              <a:t>Revenue identified</a:t>
            </a:r>
          </a:p>
        </p:txBody>
      </p:sp>
      <p:sp>
        <p:nvSpPr>
          <p:cNvPr id="5" name="TextBox 4"/>
          <p:cNvSpPr txBox="1"/>
          <p:nvPr/>
        </p:nvSpPr>
        <p:spPr>
          <a:xfrm>
            <a:off x="457200" y="4430267"/>
            <a:ext cx="5501640" cy="381000"/>
          </a:xfrm>
          <a:prstGeom prst="rect">
            <a:avLst/>
          </a:prstGeom>
          <a:noFill/>
        </p:spPr>
        <p:txBody>
          <a:bodyPr wrap="none" lIns="0" rIns="0">
            <a:noAutofit/>
          </a:bodyPr>
          <a:lstStyle/>
          <a:p>
            <a:pPr algn="l"/>
            <a:r>
              <a:rPr sz="2500" b="0" i="0">
                <a:solidFill>
                  <a:srgbClr val="0A2240"/>
                </a:solidFill>
                <a:latin typeface="Arial"/>
              </a:rPr>
              <a:t>Overdue patients found</a:t>
            </a:r>
          </a:p>
        </p:txBody>
      </p:sp>
      <p:sp>
        <p:nvSpPr>
          <p:cNvPr id="6" name="TextBox 5"/>
          <p:cNvSpPr txBox="1"/>
          <p:nvPr/>
        </p:nvSpPr>
        <p:spPr>
          <a:xfrm>
            <a:off x="6233160" y="2449068"/>
            <a:ext cx="5501640" cy="914400"/>
          </a:xfrm>
          <a:prstGeom prst="rect">
            <a:avLst/>
          </a:prstGeom>
          <a:noFill/>
        </p:spPr>
        <p:txBody>
          <a:bodyPr wrap="none" lIns="0" rIns="0">
            <a:noAutofit/>
          </a:bodyPr>
          <a:lstStyle/>
          <a:p>
            <a:pPr algn="l"/>
            <a:r>
              <a:rPr sz="6000" b="1" i="0">
                <a:solidFill>
                  <a:srgbClr val="0072CE"/>
                </a:solidFill>
                <a:latin typeface="Arial"/>
              </a:rPr>
              <a:t>90k</a:t>
            </a:r>
          </a:p>
        </p:txBody>
      </p:sp>
      <p:sp>
        <p:nvSpPr>
          <p:cNvPr id="7" name="TextBox 6"/>
          <p:cNvSpPr txBox="1"/>
          <p:nvPr/>
        </p:nvSpPr>
        <p:spPr>
          <a:xfrm>
            <a:off x="6233160" y="3637788"/>
            <a:ext cx="5958840" cy="518159"/>
          </a:xfrm>
          <a:prstGeom prst="rect">
            <a:avLst/>
          </a:prstGeom>
          <a:noFill/>
        </p:spPr>
        <p:txBody>
          <a:bodyPr wrap="none" lIns="0" rIns="0">
            <a:noAutofit/>
          </a:bodyPr>
          <a:lstStyle/>
          <a:p>
            <a:pPr algn="l"/>
            <a:r>
              <a:rPr sz="3400" b="0" i="0">
                <a:solidFill>
                  <a:srgbClr val="0A2240"/>
                </a:solidFill>
                <a:latin typeface="Arial"/>
              </a:rPr>
              <a:t>Subscriber audience</a:t>
            </a:r>
          </a:p>
        </p:txBody>
      </p:sp>
      <p:sp>
        <p:nvSpPr>
          <p:cNvPr id="8" name="TextBox 7"/>
          <p:cNvSpPr txBox="1"/>
          <p:nvPr/>
        </p:nvSpPr>
        <p:spPr>
          <a:xfrm>
            <a:off x="6233160" y="4430267"/>
            <a:ext cx="5501640" cy="381000"/>
          </a:xfrm>
          <a:prstGeom prst="rect">
            <a:avLst/>
          </a:prstGeom>
          <a:noFill/>
        </p:spPr>
        <p:txBody>
          <a:bodyPr wrap="none" lIns="0" rIns="0">
            <a:noAutofit/>
          </a:bodyPr>
          <a:lstStyle/>
          <a:p>
            <a:pPr algn="l"/>
            <a:r>
              <a:rPr sz="2500" b="0" i="0">
                <a:solidFill>
                  <a:srgbClr val="0A2240"/>
                </a:solidFill>
                <a:latin typeface="Arial"/>
              </a:rPr>
              <a:t>For the fraud talk</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I Do Now</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Match students to practicum teams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Mentor those teams for nine months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Teach the SQL certificate course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Career advising, all year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Still a Student Myself</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software engineering master's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Started October 2025</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While doing this job</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learning does not stop</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Writing It Down</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mAIstory</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Fine-tuned Gemma 2B for stories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An AI storyteller for children</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Built through KaggleX mentorship</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Code published with the article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AWS Certificate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Cloud Practitioner, passed first go</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Zero cloud experience going in</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Only free study materials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Wrote up exactly how</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The Numbers From That Post</a:t>
            </a:r>
          </a:p>
        </p:txBody>
      </p:sp>
      <p:sp>
        <p:nvSpPr>
          <p:cNvPr id="3" name="TextBox 2"/>
          <p:cNvSpPr txBox="1"/>
          <p:nvPr/>
        </p:nvSpPr>
        <p:spPr>
          <a:xfrm>
            <a:off x="457200" y="2449068"/>
            <a:ext cx="3576320" cy="914400"/>
          </a:xfrm>
          <a:prstGeom prst="rect">
            <a:avLst/>
          </a:prstGeom>
          <a:noFill/>
        </p:spPr>
        <p:txBody>
          <a:bodyPr wrap="none" lIns="0" rIns="0">
            <a:noAutofit/>
          </a:bodyPr>
          <a:lstStyle/>
          <a:p>
            <a:pPr algn="l"/>
            <a:r>
              <a:rPr sz="6000" b="1" i="0">
                <a:solidFill>
                  <a:srgbClr val="0072CE"/>
                </a:solidFill>
                <a:latin typeface="Arial"/>
              </a:rPr>
              <a:t>838</a:t>
            </a:r>
          </a:p>
        </p:txBody>
      </p:sp>
      <p:sp>
        <p:nvSpPr>
          <p:cNvPr id="4" name="TextBox 3"/>
          <p:cNvSpPr txBox="1"/>
          <p:nvPr/>
        </p:nvSpPr>
        <p:spPr>
          <a:xfrm>
            <a:off x="457200" y="3637788"/>
            <a:ext cx="3576320" cy="518159"/>
          </a:xfrm>
          <a:prstGeom prst="rect">
            <a:avLst/>
          </a:prstGeom>
          <a:noFill/>
        </p:spPr>
        <p:txBody>
          <a:bodyPr wrap="none" lIns="0" rIns="0">
            <a:noAutofit/>
          </a:bodyPr>
          <a:lstStyle/>
          <a:p>
            <a:pPr algn="l"/>
            <a:r>
              <a:rPr sz="3400" b="0" i="0">
                <a:solidFill>
                  <a:srgbClr val="0A2240"/>
                </a:solidFill>
                <a:latin typeface="Arial"/>
              </a:rPr>
              <a:t>Score</a:t>
            </a:r>
          </a:p>
        </p:txBody>
      </p:sp>
      <p:sp>
        <p:nvSpPr>
          <p:cNvPr id="5" name="TextBox 4"/>
          <p:cNvSpPr txBox="1"/>
          <p:nvPr/>
        </p:nvSpPr>
        <p:spPr>
          <a:xfrm>
            <a:off x="457200" y="4430267"/>
            <a:ext cx="3576320" cy="381000"/>
          </a:xfrm>
          <a:prstGeom prst="rect">
            <a:avLst/>
          </a:prstGeom>
          <a:noFill/>
        </p:spPr>
        <p:txBody>
          <a:bodyPr wrap="none" lIns="0" rIns="0">
            <a:noAutofit/>
          </a:bodyPr>
          <a:lstStyle/>
          <a:p>
            <a:pPr algn="l"/>
            <a:r>
              <a:rPr sz="2500" b="0" i="0">
                <a:solidFill>
                  <a:srgbClr val="0A2240"/>
                </a:solidFill>
                <a:latin typeface="Arial"/>
              </a:rPr>
              <a:t>700 is a pass</a:t>
            </a:r>
          </a:p>
        </p:txBody>
      </p:sp>
      <p:sp>
        <p:nvSpPr>
          <p:cNvPr id="6" name="TextBox 5"/>
          <p:cNvSpPr txBox="1"/>
          <p:nvPr/>
        </p:nvSpPr>
        <p:spPr>
          <a:xfrm>
            <a:off x="4307840" y="2449068"/>
            <a:ext cx="3576320" cy="914400"/>
          </a:xfrm>
          <a:prstGeom prst="rect">
            <a:avLst/>
          </a:prstGeom>
          <a:noFill/>
        </p:spPr>
        <p:txBody>
          <a:bodyPr wrap="none" lIns="0" rIns="0">
            <a:noAutofit/>
          </a:bodyPr>
          <a:lstStyle/>
          <a:p>
            <a:pPr algn="l"/>
            <a:r>
              <a:rPr sz="6000" b="1" i="0">
                <a:solidFill>
                  <a:srgbClr val="0072CE"/>
                </a:solidFill>
                <a:latin typeface="Arial"/>
              </a:rPr>
              <a:t>32</a:t>
            </a:r>
          </a:p>
        </p:txBody>
      </p:sp>
      <p:sp>
        <p:nvSpPr>
          <p:cNvPr id="7" name="TextBox 6"/>
          <p:cNvSpPr txBox="1"/>
          <p:nvPr/>
        </p:nvSpPr>
        <p:spPr>
          <a:xfrm>
            <a:off x="4307840" y="3637788"/>
            <a:ext cx="3576320" cy="518159"/>
          </a:xfrm>
          <a:prstGeom prst="rect">
            <a:avLst/>
          </a:prstGeom>
          <a:noFill/>
        </p:spPr>
        <p:txBody>
          <a:bodyPr wrap="none" lIns="0" rIns="0">
            <a:noAutofit/>
          </a:bodyPr>
          <a:lstStyle/>
          <a:p>
            <a:pPr algn="l"/>
            <a:r>
              <a:rPr sz="3400" b="0" i="0">
                <a:solidFill>
                  <a:srgbClr val="0A2240"/>
                </a:solidFill>
                <a:latin typeface="Arial"/>
              </a:rPr>
              <a:t>Hours</a:t>
            </a:r>
          </a:p>
        </p:txBody>
      </p:sp>
      <p:sp>
        <p:nvSpPr>
          <p:cNvPr id="8" name="TextBox 7"/>
          <p:cNvSpPr txBox="1"/>
          <p:nvPr/>
        </p:nvSpPr>
        <p:spPr>
          <a:xfrm>
            <a:off x="4307840" y="4430267"/>
            <a:ext cx="4277142" cy="381000"/>
          </a:xfrm>
          <a:prstGeom prst="rect">
            <a:avLst/>
          </a:prstGeom>
          <a:noFill/>
        </p:spPr>
        <p:txBody>
          <a:bodyPr wrap="none" lIns="0" rIns="0">
            <a:noAutofit/>
          </a:bodyPr>
          <a:lstStyle/>
          <a:p>
            <a:pPr algn="l"/>
            <a:r>
              <a:rPr sz="2500" b="0" i="0">
                <a:solidFill>
                  <a:srgbClr val="0A2240"/>
                </a:solidFill>
                <a:latin typeface="Arial"/>
              </a:rPr>
              <a:t>Across one month</a:t>
            </a:r>
          </a:p>
        </p:txBody>
      </p:sp>
      <p:sp>
        <p:nvSpPr>
          <p:cNvPr id="9" name="TextBox 8"/>
          <p:cNvSpPr txBox="1"/>
          <p:nvPr/>
        </p:nvSpPr>
        <p:spPr>
          <a:xfrm>
            <a:off x="8158480" y="2449068"/>
            <a:ext cx="3576320" cy="914400"/>
          </a:xfrm>
          <a:prstGeom prst="rect">
            <a:avLst/>
          </a:prstGeom>
          <a:noFill/>
        </p:spPr>
        <p:txBody>
          <a:bodyPr wrap="none" lIns="0" rIns="0">
            <a:noAutofit/>
          </a:bodyPr>
          <a:lstStyle/>
          <a:p>
            <a:pPr algn="l"/>
            <a:r>
              <a:rPr sz="6000" b="1" i="0">
                <a:solidFill>
                  <a:srgbClr val="0072CE"/>
                </a:solidFill>
                <a:latin typeface="Arial"/>
              </a:rPr>
              <a:t>$0</a:t>
            </a:r>
          </a:p>
        </p:txBody>
      </p:sp>
      <p:sp>
        <p:nvSpPr>
          <p:cNvPr id="10" name="TextBox 9"/>
          <p:cNvSpPr txBox="1"/>
          <p:nvPr/>
        </p:nvSpPr>
        <p:spPr>
          <a:xfrm>
            <a:off x="8158480" y="3637788"/>
            <a:ext cx="3576320" cy="518159"/>
          </a:xfrm>
          <a:prstGeom prst="rect">
            <a:avLst/>
          </a:prstGeom>
          <a:noFill/>
        </p:spPr>
        <p:txBody>
          <a:bodyPr wrap="none" lIns="0" rIns="0">
            <a:noAutofit/>
          </a:bodyPr>
          <a:lstStyle/>
          <a:p>
            <a:pPr algn="l"/>
            <a:r>
              <a:rPr sz="3400" b="0" i="0">
                <a:solidFill>
                  <a:srgbClr val="0A2240"/>
                </a:solidFill>
                <a:latin typeface="Arial"/>
              </a:rPr>
              <a:t>Spent</a:t>
            </a:r>
          </a:p>
        </p:txBody>
      </p:sp>
      <p:sp>
        <p:nvSpPr>
          <p:cNvPr id="11" name="TextBox 10"/>
          <p:cNvSpPr txBox="1"/>
          <p:nvPr/>
        </p:nvSpPr>
        <p:spPr>
          <a:xfrm>
            <a:off x="8158480" y="4430267"/>
            <a:ext cx="4033520" cy="381000"/>
          </a:xfrm>
          <a:prstGeom prst="rect">
            <a:avLst/>
          </a:prstGeom>
          <a:noFill/>
        </p:spPr>
        <p:txBody>
          <a:bodyPr wrap="none" lIns="0" rIns="0">
            <a:noAutofit/>
          </a:bodyPr>
          <a:lstStyle/>
          <a:p>
            <a:pPr algn="l"/>
            <a:r>
              <a:rPr sz="2500" b="0" i="0">
                <a:solidFill>
                  <a:srgbClr val="0A2240"/>
                </a:solidFill>
                <a:latin typeface="Arial"/>
              </a:rPr>
              <a:t>Free materials only</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"The paywall is usually optional."</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A recurring theme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04</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Partnerships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Practicum</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Sixteen hours a week</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Roughly nine months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Every student, guaranteed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Real problems, real clients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Scale of It</a:t>
            </a:r>
          </a:p>
        </p:txBody>
      </p:sp>
      <p:sp>
        <p:nvSpPr>
          <p:cNvPr id="3" name="TextBox 2"/>
          <p:cNvSpPr txBox="1"/>
          <p:nvPr/>
        </p:nvSpPr>
        <p:spPr>
          <a:xfrm>
            <a:off x="457200" y="2449068"/>
            <a:ext cx="3576320" cy="914400"/>
          </a:xfrm>
          <a:prstGeom prst="rect">
            <a:avLst/>
          </a:prstGeom>
          <a:noFill/>
        </p:spPr>
        <p:txBody>
          <a:bodyPr wrap="none" lIns="0" rIns="0">
            <a:noAutofit/>
          </a:bodyPr>
          <a:lstStyle/>
          <a:p>
            <a:pPr algn="l"/>
            <a:r>
              <a:rPr sz="6000" b="1" i="0">
                <a:solidFill>
                  <a:srgbClr val="0072CE"/>
                </a:solidFill>
                <a:latin typeface="Arial"/>
              </a:rPr>
              <a:t>120+</a:t>
            </a:r>
          </a:p>
        </p:txBody>
      </p:sp>
      <p:sp>
        <p:nvSpPr>
          <p:cNvPr id="4" name="TextBox 3"/>
          <p:cNvSpPr txBox="1"/>
          <p:nvPr/>
        </p:nvSpPr>
        <p:spPr>
          <a:xfrm>
            <a:off x="457200" y="3637788"/>
            <a:ext cx="3677424" cy="518159"/>
          </a:xfrm>
          <a:prstGeom prst="rect">
            <a:avLst/>
          </a:prstGeom>
          <a:noFill/>
        </p:spPr>
        <p:txBody>
          <a:bodyPr wrap="none" lIns="0" rIns="0">
            <a:noAutofit/>
          </a:bodyPr>
          <a:lstStyle/>
          <a:p>
            <a:pPr algn="l"/>
            <a:r>
              <a:rPr sz="3400" b="0" i="0">
                <a:solidFill>
                  <a:srgbClr val="0A2240"/>
                </a:solidFill>
                <a:latin typeface="Arial"/>
              </a:rPr>
              <a:t>Companies</a:t>
            </a:r>
          </a:p>
        </p:txBody>
      </p:sp>
      <p:sp>
        <p:nvSpPr>
          <p:cNvPr id="5" name="TextBox 4"/>
          <p:cNvSpPr txBox="1"/>
          <p:nvPr/>
        </p:nvSpPr>
        <p:spPr>
          <a:xfrm>
            <a:off x="457200" y="4430267"/>
            <a:ext cx="4616470" cy="381000"/>
          </a:xfrm>
          <a:prstGeom prst="rect">
            <a:avLst/>
          </a:prstGeom>
          <a:noFill/>
        </p:spPr>
        <p:txBody>
          <a:bodyPr wrap="none" lIns="0" rIns="0">
            <a:noAutofit/>
          </a:bodyPr>
          <a:lstStyle/>
          <a:p>
            <a:pPr algn="l"/>
            <a:r>
              <a:rPr sz="2500" b="0" i="0">
                <a:solidFill>
                  <a:srgbClr val="0A2240"/>
                </a:solidFill>
                <a:latin typeface="Arial"/>
              </a:rPr>
              <a:t>Relationships I hold</a:t>
            </a:r>
          </a:p>
        </p:txBody>
      </p:sp>
      <p:sp>
        <p:nvSpPr>
          <p:cNvPr id="6" name="TextBox 5"/>
          <p:cNvSpPr txBox="1"/>
          <p:nvPr/>
        </p:nvSpPr>
        <p:spPr>
          <a:xfrm>
            <a:off x="4307840" y="2449068"/>
            <a:ext cx="3576320" cy="914400"/>
          </a:xfrm>
          <a:prstGeom prst="rect">
            <a:avLst/>
          </a:prstGeom>
          <a:noFill/>
        </p:spPr>
        <p:txBody>
          <a:bodyPr wrap="none" lIns="0" rIns="0">
            <a:noAutofit/>
          </a:bodyPr>
          <a:lstStyle/>
          <a:p>
            <a:pPr algn="l"/>
            <a:r>
              <a:rPr sz="6000" b="1" i="0">
                <a:solidFill>
                  <a:srgbClr val="0072CE"/>
                </a:solidFill>
                <a:latin typeface="Arial"/>
              </a:rPr>
              <a:t>150+</a:t>
            </a:r>
          </a:p>
        </p:txBody>
      </p:sp>
      <p:sp>
        <p:nvSpPr>
          <p:cNvPr id="7" name="TextBox 6"/>
          <p:cNvSpPr txBox="1"/>
          <p:nvPr/>
        </p:nvSpPr>
        <p:spPr>
          <a:xfrm>
            <a:off x="4307840" y="3637788"/>
            <a:ext cx="3576320" cy="518159"/>
          </a:xfrm>
          <a:prstGeom prst="rect">
            <a:avLst/>
          </a:prstGeom>
          <a:noFill/>
        </p:spPr>
        <p:txBody>
          <a:bodyPr wrap="none" lIns="0" rIns="0">
            <a:noAutofit/>
          </a:bodyPr>
          <a:lstStyle/>
          <a:p>
            <a:pPr algn="l"/>
            <a:r>
              <a:rPr sz="3400" b="0" i="0">
                <a:solidFill>
                  <a:srgbClr val="0A2240"/>
                </a:solidFill>
                <a:latin typeface="Arial"/>
              </a:rPr>
              <a:t>Students</a:t>
            </a:r>
          </a:p>
        </p:txBody>
      </p:sp>
      <p:sp>
        <p:nvSpPr>
          <p:cNvPr id="8" name="TextBox 7"/>
          <p:cNvSpPr txBox="1"/>
          <p:nvPr/>
        </p:nvSpPr>
        <p:spPr>
          <a:xfrm>
            <a:off x="4307840" y="4430267"/>
            <a:ext cx="4984075" cy="381000"/>
          </a:xfrm>
          <a:prstGeom prst="rect">
            <a:avLst/>
          </a:prstGeom>
          <a:noFill/>
        </p:spPr>
        <p:txBody>
          <a:bodyPr wrap="none" lIns="0" rIns="0">
            <a:noAutofit/>
          </a:bodyPr>
          <a:lstStyle/>
          <a:p>
            <a:pPr algn="l"/>
            <a:r>
              <a:rPr sz="2500" b="0" i="0">
                <a:solidFill>
                  <a:srgbClr val="0A2240"/>
                </a:solidFill>
                <a:latin typeface="Arial"/>
              </a:rPr>
              <a:t>Taught and mentored</a:t>
            </a:r>
          </a:p>
        </p:txBody>
      </p:sp>
      <p:sp>
        <p:nvSpPr>
          <p:cNvPr id="9" name="TextBox 8"/>
          <p:cNvSpPr txBox="1"/>
          <p:nvPr/>
        </p:nvSpPr>
        <p:spPr>
          <a:xfrm>
            <a:off x="8158480" y="2449068"/>
            <a:ext cx="3576320" cy="914400"/>
          </a:xfrm>
          <a:prstGeom prst="rect">
            <a:avLst/>
          </a:prstGeom>
          <a:noFill/>
        </p:spPr>
        <p:txBody>
          <a:bodyPr wrap="none" lIns="0" rIns="0">
            <a:noAutofit/>
          </a:bodyPr>
          <a:lstStyle/>
          <a:p>
            <a:pPr algn="l"/>
            <a:r>
              <a:rPr sz="6000" b="1" i="0">
                <a:solidFill>
                  <a:srgbClr val="0072CE"/>
                </a:solidFill>
                <a:latin typeface="Arial"/>
              </a:rPr>
              <a:t>5.67</a:t>
            </a:r>
          </a:p>
        </p:txBody>
      </p:sp>
      <p:sp>
        <p:nvSpPr>
          <p:cNvPr id="10" name="TextBox 9"/>
          <p:cNvSpPr txBox="1"/>
          <p:nvPr/>
        </p:nvSpPr>
        <p:spPr>
          <a:xfrm>
            <a:off x="8158480" y="3637788"/>
            <a:ext cx="3576320" cy="518159"/>
          </a:xfrm>
          <a:prstGeom prst="rect">
            <a:avLst/>
          </a:prstGeom>
          <a:noFill/>
        </p:spPr>
        <p:txBody>
          <a:bodyPr wrap="none" lIns="0" rIns="0">
            <a:noAutofit/>
          </a:bodyPr>
          <a:lstStyle/>
          <a:p>
            <a:pPr algn="l"/>
            <a:r>
              <a:rPr sz="3400" b="0" i="0">
                <a:solidFill>
                  <a:srgbClr val="0A2240"/>
                </a:solidFill>
                <a:latin typeface="Arial"/>
              </a:rPr>
              <a:t>Of six</a:t>
            </a:r>
          </a:p>
        </p:txBody>
      </p:sp>
      <p:sp>
        <p:nvSpPr>
          <p:cNvPr id="11" name="TextBox 10"/>
          <p:cNvSpPr txBox="1"/>
          <p:nvPr/>
        </p:nvSpPr>
        <p:spPr>
          <a:xfrm>
            <a:off x="8158480" y="4430267"/>
            <a:ext cx="4033520" cy="381000"/>
          </a:xfrm>
          <a:prstGeom prst="rect">
            <a:avLst/>
          </a:prstGeom>
          <a:noFill/>
        </p:spPr>
        <p:txBody>
          <a:bodyPr wrap="none" lIns="0" rIns="0">
            <a:noAutofit/>
          </a:bodyPr>
          <a:lstStyle/>
          <a:p>
            <a:pPr algn="l"/>
            <a:r>
              <a:rPr sz="2500" b="0" i="0">
                <a:solidFill>
                  <a:srgbClr val="0A2240"/>
                </a:solidFill>
                <a:latin typeface="Arial"/>
              </a:rPr>
              <a:t>My teaching score</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Who We Work With</a:t>
            </a:r>
          </a:p>
        </p:txBody>
      </p:sp>
      <p:sp>
        <p:nvSpPr>
          <p:cNvPr id="3" name="TextBox 2"/>
          <p:cNvSpPr txBox="1"/>
          <p:nvPr/>
        </p:nvSpPr>
        <p:spPr>
          <a:xfrm>
            <a:off x="457200" y="1499616"/>
            <a:ext cx="2333108" cy="518159"/>
          </a:xfrm>
          <a:prstGeom prst="rect">
            <a:avLst/>
          </a:prstGeom>
          <a:noFill/>
        </p:spPr>
        <p:txBody>
          <a:bodyPr wrap="none" lIns="0" rIns="0">
            <a:noAutofit/>
          </a:bodyPr>
          <a:lstStyle/>
          <a:p>
            <a:pPr algn="l"/>
            <a:r>
              <a:rPr sz="3400" b="1" i="0">
                <a:solidFill>
                  <a:srgbClr val="0072CE"/>
                </a:solidFill>
                <a:latin typeface="Arial"/>
              </a:rPr>
              <a:t>Sector</a:t>
            </a:r>
          </a:p>
        </p:txBody>
      </p:sp>
      <p:sp>
        <p:nvSpPr>
          <p:cNvPr id="4" name="TextBox 3"/>
          <p:cNvSpPr txBox="1"/>
          <p:nvPr/>
        </p:nvSpPr>
        <p:spPr>
          <a:xfrm>
            <a:off x="2907779" y="1499616"/>
            <a:ext cx="4662465" cy="518159"/>
          </a:xfrm>
          <a:prstGeom prst="rect">
            <a:avLst/>
          </a:prstGeom>
          <a:noFill/>
        </p:spPr>
        <p:txBody>
          <a:bodyPr wrap="none" lIns="0" rIns="0">
            <a:noAutofit/>
          </a:bodyPr>
          <a:lstStyle/>
          <a:p>
            <a:pPr algn="l"/>
            <a:r>
              <a:rPr sz="3400" b="1" i="0">
                <a:solidFill>
                  <a:srgbClr val="0072CE"/>
                </a:solidFill>
                <a:latin typeface="Arial"/>
              </a:rPr>
              <a:t>Partners</a:t>
            </a:r>
          </a:p>
        </p:txBody>
      </p:sp>
      <p:sp>
        <p:nvSpPr>
          <p:cNvPr id="5" name="Rectangle 4"/>
          <p:cNvSpPr/>
          <p:nvPr/>
        </p:nvSpPr>
        <p:spPr>
          <a:xfrm>
            <a:off x="457200" y="2072639"/>
            <a:ext cx="7113044"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640766" cy="633984"/>
          </a:xfrm>
          <a:prstGeom prst="rect">
            <a:avLst/>
          </a:prstGeom>
          <a:noFill/>
        </p:spPr>
        <p:txBody>
          <a:bodyPr wrap="none" lIns="0" rIns="0">
            <a:noAutofit/>
          </a:bodyPr>
          <a:lstStyle/>
          <a:p>
            <a:pPr algn="l"/>
            <a:r>
              <a:rPr sz="3400" b="0" i="0">
                <a:solidFill>
                  <a:srgbClr val="0A2240"/>
                </a:solidFill>
                <a:latin typeface="Arial"/>
              </a:rPr>
              <a:t>Finance</a:t>
            </a:r>
          </a:p>
        </p:txBody>
      </p:sp>
      <p:sp>
        <p:nvSpPr>
          <p:cNvPr id="7" name="TextBox 6"/>
          <p:cNvSpPr txBox="1"/>
          <p:nvPr/>
        </p:nvSpPr>
        <p:spPr>
          <a:xfrm>
            <a:off x="2907779" y="2401823"/>
            <a:ext cx="4662465" cy="633984"/>
          </a:xfrm>
          <a:prstGeom prst="rect">
            <a:avLst/>
          </a:prstGeom>
          <a:noFill/>
        </p:spPr>
        <p:txBody>
          <a:bodyPr wrap="none" lIns="0" rIns="0">
            <a:noAutofit/>
          </a:bodyPr>
          <a:lstStyle/>
          <a:p>
            <a:pPr algn="l"/>
            <a:r>
              <a:rPr sz="3400" b="0" i="0">
                <a:solidFill>
                  <a:srgbClr val="0A2240"/>
                </a:solidFill>
                <a:latin typeface="Arial"/>
              </a:rPr>
              <a:t>BlackRock</a:t>
            </a:r>
          </a:p>
        </p:txBody>
      </p:sp>
      <p:sp>
        <p:nvSpPr>
          <p:cNvPr id="8" name="TextBox 7"/>
          <p:cNvSpPr txBox="1"/>
          <p:nvPr/>
        </p:nvSpPr>
        <p:spPr>
          <a:xfrm>
            <a:off x="457200" y="3310127"/>
            <a:ext cx="1988006" cy="633984"/>
          </a:xfrm>
          <a:prstGeom prst="rect">
            <a:avLst/>
          </a:prstGeom>
          <a:noFill/>
        </p:spPr>
        <p:txBody>
          <a:bodyPr wrap="none" lIns="0" rIns="0">
            <a:noAutofit/>
          </a:bodyPr>
          <a:lstStyle/>
          <a:p>
            <a:pPr algn="l"/>
            <a:r>
              <a:rPr sz="3400" b="0" i="0">
                <a:solidFill>
                  <a:srgbClr val="0A2240"/>
                </a:solidFill>
                <a:latin typeface="Arial"/>
              </a:rPr>
              <a:t>Cloud</a:t>
            </a:r>
          </a:p>
        </p:txBody>
      </p:sp>
      <p:sp>
        <p:nvSpPr>
          <p:cNvPr id="9" name="TextBox 8"/>
          <p:cNvSpPr txBox="1"/>
          <p:nvPr/>
        </p:nvSpPr>
        <p:spPr>
          <a:xfrm>
            <a:off x="2907779" y="3310127"/>
            <a:ext cx="6032758" cy="633984"/>
          </a:xfrm>
          <a:prstGeom prst="rect">
            <a:avLst/>
          </a:prstGeom>
          <a:noFill/>
        </p:spPr>
        <p:txBody>
          <a:bodyPr wrap="none" lIns="0" rIns="0">
            <a:noAutofit/>
          </a:bodyPr>
          <a:lstStyle/>
          <a:p>
            <a:pPr algn="l"/>
            <a:r>
              <a:rPr sz="3400" b="0" i="0">
                <a:solidFill>
                  <a:srgbClr val="0A2240"/>
                </a:solidFill>
                <a:latin typeface="Arial"/>
              </a:rPr>
              <a:t>AWS and Atlassian</a:t>
            </a:r>
          </a:p>
        </p:txBody>
      </p:sp>
      <p:sp>
        <p:nvSpPr>
          <p:cNvPr id="10" name="TextBox 9"/>
          <p:cNvSpPr txBox="1"/>
          <p:nvPr/>
        </p:nvSpPr>
        <p:spPr>
          <a:xfrm>
            <a:off x="457200" y="4218431"/>
            <a:ext cx="2179955" cy="633984"/>
          </a:xfrm>
          <a:prstGeom prst="rect">
            <a:avLst/>
          </a:prstGeom>
          <a:noFill/>
        </p:spPr>
        <p:txBody>
          <a:bodyPr wrap="none" lIns="0" rIns="0">
            <a:noAutofit/>
          </a:bodyPr>
          <a:lstStyle/>
          <a:p>
            <a:pPr algn="l"/>
            <a:r>
              <a:rPr sz="3400" b="0" i="0">
                <a:solidFill>
                  <a:srgbClr val="0A2240"/>
                </a:solidFill>
                <a:latin typeface="Arial"/>
              </a:rPr>
              <a:t>Health</a:t>
            </a:r>
          </a:p>
        </p:txBody>
      </p:sp>
      <p:sp>
        <p:nvSpPr>
          <p:cNvPr id="11" name="TextBox 10"/>
          <p:cNvSpPr txBox="1"/>
          <p:nvPr/>
        </p:nvSpPr>
        <p:spPr>
          <a:xfrm>
            <a:off x="2907779" y="4218431"/>
            <a:ext cx="4982606" cy="633984"/>
          </a:xfrm>
          <a:prstGeom prst="rect">
            <a:avLst/>
          </a:prstGeom>
          <a:noFill/>
        </p:spPr>
        <p:txBody>
          <a:bodyPr wrap="none" lIns="0" rIns="0">
            <a:noAutofit/>
          </a:bodyPr>
          <a:lstStyle/>
          <a:p>
            <a:pPr algn="l"/>
            <a:r>
              <a:rPr sz="3400" b="0" i="0">
                <a:solidFill>
                  <a:srgbClr val="0A2240"/>
                </a:solidFill>
                <a:latin typeface="Arial"/>
              </a:rPr>
              <a:t>UCSF, Stanford</a:t>
            </a:r>
          </a:p>
        </p:txBody>
      </p:sp>
      <p:sp>
        <p:nvSpPr>
          <p:cNvPr id="12" name="TextBox 11"/>
          <p:cNvSpPr txBox="1"/>
          <p:nvPr/>
        </p:nvSpPr>
        <p:spPr>
          <a:xfrm>
            <a:off x="457200" y="5126735"/>
            <a:ext cx="2524720" cy="633984"/>
          </a:xfrm>
          <a:prstGeom prst="rect">
            <a:avLst/>
          </a:prstGeom>
          <a:noFill/>
        </p:spPr>
        <p:txBody>
          <a:bodyPr wrap="none" lIns="0" rIns="0">
            <a:noAutofit/>
          </a:bodyPr>
          <a:lstStyle/>
          <a:p>
            <a:pPr algn="l"/>
            <a:r>
              <a:rPr sz="3400" b="0" i="0">
                <a:solidFill>
                  <a:srgbClr val="0A2240"/>
                </a:solidFill>
                <a:latin typeface="Arial"/>
              </a:rPr>
              <a:t>Mission</a:t>
            </a:r>
          </a:p>
        </p:txBody>
      </p:sp>
      <p:sp>
        <p:nvSpPr>
          <p:cNvPr id="13" name="TextBox 12"/>
          <p:cNvSpPr txBox="1"/>
          <p:nvPr/>
        </p:nvSpPr>
        <p:spPr>
          <a:xfrm>
            <a:off x="2907779" y="5126735"/>
            <a:ext cx="7057608" cy="633984"/>
          </a:xfrm>
          <a:prstGeom prst="rect">
            <a:avLst/>
          </a:prstGeom>
          <a:noFill/>
        </p:spPr>
        <p:txBody>
          <a:bodyPr wrap="none" lIns="0" rIns="0">
            <a:noAutofit/>
          </a:bodyPr>
          <a:lstStyle/>
          <a:p>
            <a:pPr algn="l"/>
            <a:r>
              <a:rPr sz="3400" b="0" i="0">
                <a:solidFill>
                  <a:srgbClr val="0A2240"/>
                </a:solidFill>
                <a:latin typeface="Arial"/>
              </a:rPr>
              <a:t>The Gates Foundation</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9683" cy="768096"/>
          </a:xfrm>
          <a:prstGeom prst="rect">
            <a:avLst/>
          </a:prstGeom>
          <a:noFill/>
        </p:spPr>
        <p:txBody>
          <a:bodyPr wrap="none" lIns="0" rIns="0">
            <a:noAutofit/>
          </a:bodyPr>
          <a:lstStyle/>
          <a:p>
            <a:pPr algn="l"/>
            <a:r>
              <a:rPr sz="4200" b="1" i="0">
                <a:solidFill>
                  <a:srgbClr val="0072CE"/>
                </a:solidFill>
                <a:latin typeface="Arial"/>
              </a:rPr>
              <a:t>Where Our Graduates Land</a:t>
            </a:r>
          </a:p>
        </p:txBody>
      </p:sp>
      <p:sp>
        <p:nvSpPr>
          <p:cNvPr id="3" name="TextBox 2"/>
          <p:cNvSpPr txBox="1"/>
          <p:nvPr/>
        </p:nvSpPr>
        <p:spPr>
          <a:xfrm>
            <a:off x="457200" y="2449068"/>
            <a:ext cx="5501640" cy="914400"/>
          </a:xfrm>
          <a:prstGeom prst="rect">
            <a:avLst/>
          </a:prstGeom>
          <a:noFill/>
        </p:spPr>
        <p:txBody>
          <a:bodyPr wrap="none" lIns="0" rIns="0">
            <a:noAutofit/>
          </a:bodyPr>
          <a:lstStyle/>
          <a:p>
            <a:pPr algn="l"/>
            <a:r>
              <a:rPr sz="6000" b="1" i="0">
                <a:solidFill>
                  <a:srgbClr val="0072CE"/>
                </a:solidFill>
                <a:latin typeface="Arial"/>
              </a:rPr>
              <a:t>78%</a:t>
            </a:r>
          </a:p>
        </p:txBody>
      </p:sp>
      <p:sp>
        <p:nvSpPr>
          <p:cNvPr id="4" name="TextBox 3"/>
          <p:cNvSpPr txBox="1"/>
          <p:nvPr/>
        </p:nvSpPr>
        <p:spPr>
          <a:xfrm>
            <a:off x="457200" y="3637788"/>
            <a:ext cx="7389555" cy="518159"/>
          </a:xfrm>
          <a:prstGeom prst="rect">
            <a:avLst/>
          </a:prstGeom>
          <a:noFill/>
        </p:spPr>
        <p:txBody>
          <a:bodyPr wrap="none" lIns="0" rIns="0">
            <a:noAutofit/>
          </a:bodyPr>
          <a:lstStyle/>
          <a:p>
            <a:pPr algn="l"/>
            <a:r>
              <a:rPr sz="3400" b="0" i="0">
                <a:solidFill>
                  <a:srgbClr val="0A2240"/>
                </a:solidFill>
                <a:latin typeface="Arial"/>
              </a:rPr>
              <a:t>Take offers in California</a:t>
            </a:r>
          </a:p>
        </p:txBody>
      </p:sp>
      <p:sp>
        <p:nvSpPr>
          <p:cNvPr id="5" name="TextBox 4"/>
          <p:cNvSpPr txBox="1"/>
          <p:nvPr/>
        </p:nvSpPr>
        <p:spPr>
          <a:xfrm>
            <a:off x="457200" y="4430267"/>
            <a:ext cx="5501640" cy="381000"/>
          </a:xfrm>
          <a:prstGeom prst="rect">
            <a:avLst/>
          </a:prstGeom>
          <a:noFill/>
        </p:spPr>
        <p:txBody>
          <a:bodyPr wrap="none" lIns="0" rIns="0">
            <a:noAutofit/>
          </a:bodyPr>
          <a:lstStyle/>
          <a:p>
            <a:pPr algn="l"/>
            <a:r>
              <a:rPr sz="2500" b="0" i="0">
                <a:solidFill>
                  <a:srgbClr val="0A2240"/>
                </a:solidFill>
                <a:latin typeface="Arial"/>
              </a:rPr>
              <a:t>Class of 2025</a:t>
            </a:r>
          </a:p>
        </p:txBody>
      </p:sp>
      <p:sp>
        <p:nvSpPr>
          <p:cNvPr id="6" name="TextBox 5"/>
          <p:cNvSpPr txBox="1"/>
          <p:nvPr/>
        </p:nvSpPr>
        <p:spPr>
          <a:xfrm>
            <a:off x="6233160" y="2449068"/>
            <a:ext cx="5501640" cy="914400"/>
          </a:xfrm>
          <a:prstGeom prst="rect">
            <a:avLst/>
          </a:prstGeom>
          <a:noFill/>
        </p:spPr>
        <p:txBody>
          <a:bodyPr wrap="none" lIns="0" rIns="0">
            <a:noAutofit/>
          </a:bodyPr>
          <a:lstStyle/>
          <a:p>
            <a:pPr algn="l"/>
            <a:r>
              <a:rPr sz="6000" b="1" i="0">
                <a:solidFill>
                  <a:srgbClr val="0072CE"/>
                </a:solidFill>
                <a:latin typeface="Arial"/>
              </a:rPr>
              <a:t>$150k</a:t>
            </a:r>
          </a:p>
        </p:txBody>
      </p:sp>
      <p:sp>
        <p:nvSpPr>
          <p:cNvPr id="7" name="TextBox 6"/>
          <p:cNvSpPr txBox="1"/>
          <p:nvPr/>
        </p:nvSpPr>
        <p:spPr>
          <a:xfrm>
            <a:off x="6233160" y="3637788"/>
            <a:ext cx="5958840" cy="518159"/>
          </a:xfrm>
          <a:prstGeom prst="rect">
            <a:avLst/>
          </a:prstGeom>
          <a:noFill/>
        </p:spPr>
        <p:txBody>
          <a:bodyPr wrap="none" lIns="0" rIns="0">
            <a:noAutofit/>
          </a:bodyPr>
          <a:lstStyle/>
          <a:p>
            <a:pPr algn="l"/>
            <a:r>
              <a:rPr sz="3400" b="0" i="0">
                <a:solidFill>
                  <a:srgbClr val="0A2240"/>
                </a:solidFill>
                <a:latin typeface="Arial"/>
              </a:rPr>
              <a:t>Median base salary</a:t>
            </a:r>
          </a:p>
        </p:txBody>
      </p:sp>
      <p:sp>
        <p:nvSpPr>
          <p:cNvPr id="8" name="TextBox 7"/>
          <p:cNvSpPr txBox="1"/>
          <p:nvPr/>
        </p:nvSpPr>
        <p:spPr>
          <a:xfrm>
            <a:off x="6233160" y="4430267"/>
            <a:ext cx="5501640" cy="381000"/>
          </a:xfrm>
          <a:prstGeom prst="rect">
            <a:avLst/>
          </a:prstGeom>
          <a:noFill/>
        </p:spPr>
        <p:txBody>
          <a:bodyPr wrap="none" lIns="0" rIns="0">
            <a:noAutofit/>
          </a:bodyPr>
          <a:lstStyle/>
          <a:p>
            <a:pPr algn="l"/>
            <a:r>
              <a:rPr sz="2500" b="0" i="0">
                <a:solidFill>
                  <a:srgbClr val="0A2240"/>
                </a:solidFill>
                <a:latin typeface="Arial"/>
              </a:rPr>
              <a:t>California offers</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Gets Someone Hired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Work a stranger can look at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One project explained clearly</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Curiosity that survives boredom</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 a perfect transcript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05</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Ninth Circuit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Problem</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Thousands of opinions a year</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Only a fraction are asylum cases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Reading them all is impossible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So the research does not happen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the Pipeline Works</a:t>
            </a:r>
          </a:p>
        </p:txBody>
      </p:sp>
      <p:sp>
        <p:nvSpPr>
          <p:cNvPr id="3" name="TextBox 2"/>
          <p:cNvSpPr txBox="1"/>
          <p:nvPr/>
        </p:nvSpPr>
        <p:spPr>
          <a:xfrm>
            <a:off x="457200" y="1499616"/>
            <a:ext cx="357632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3576320" cy="518159"/>
          </a:xfrm>
          <a:prstGeom prst="rect">
            <a:avLst/>
          </a:prstGeom>
          <a:noFill/>
        </p:spPr>
        <p:txBody>
          <a:bodyPr wrap="none" lIns="0" rIns="0">
            <a:noAutofit/>
          </a:bodyPr>
          <a:lstStyle/>
          <a:p>
            <a:pPr algn="l"/>
            <a:r>
              <a:rPr sz="3400" b="1" i="0">
                <a:solidFill>
                  <a:srgbClr val="0072CE"/>
                </a:solidFill>
                <a:latin typeface="Arial"/>
              </a:rPr>
              <a:t>Fetch</a:t>
            </a:r>
          </a:p>
        </p:txBody>
      </p:sp>
      <p:sp>
        <p:nvSpPr>
          <p:cNvPr id="6" name="TextBox 5"/>
          <p:cNvSpPr txBox="1"/>
          <p:nvPr/>
        </p:nvSpPr>
        <p:spPr>
          <a:xfrm>
            <a:off x="457200" y="3041903"/>
            <a:ext cx="5137448" cy="2718817"/>
          </a:xfrm>
          <a:prstGeom prst="rect">
            <a:avLst/>
          </a:prstGeom>
          <a:noFill/>
        </p:spPr>
        <p:txBody>
          <a:bodyPr wrap="none" lIns="0" rIns="0">
            <a:noAutofit/>
          </a:bodyPr>
          <a:lstStyle/>
          <a:p>
            <a:pPr algn="l"/>
            <a:r>
              <a:rPr sz="3400" b="0" i="0">
                <a:solidFill>
                  <a:srgbClr val="0A2240"/>
                </a:solidFill>
                <a:latin typeface="Arial"/>
              </a:rPr>
              <a:t>Scrape opinions</a:t>
            </a:r>
          </a:p>
        </p:txBody>
      </p:sp>
      <p:sp>
        <p:nvSpPr>
          <p:cNvPr id="7" name="TextBox 6"/>
          <p:cNvSpPr txBox="1"/>
          <p:nvPr/>
        </p:nvSpPr>
        <p:spPr>
          <a:xfrm>
            <a:off x="4307840" y="1499616"/>
            <a:ext cx="357632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43078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07840" y="2414016"/>
            <a:ext cx="3576320" cy="518159"/>
          </a:xfrm>
          <a:prstGeom prst="rect">
            <a:avLst/>
          </a:prstGeom>
          <a:noFill/>
        </p:spPr>
        <p:txBody>
          <a:bodyPr wrap="none" lIns="0" rIns="0">
            <a:noAutofit/>
          </a:bodyPr>
          <a:lstStyle/>
          <a:p>
            <a:pPr algn="l"/>
            <a:r>
              <a:rPr sz="3400" b="1" i="0">
                <a:solidFill>
                  <a:srgbClr val="0072CE"/>
                </a:solidFill>
                <a:latin typeface="Arial"/>
              </a:rPr>
              <a:t>Classify</a:t>
            </a:r>
          </a:p>
        </p:txBody>
      </p:sp>
      <p:sp>
        <p:nvSpPr>
          <p:cNvPr id="10" name="TextBox 9"/>
          <p:cNvSpPr txBox="1"/>
          <p:nvPr/>
        </p:nvSpPr>
        <p:spPr>
          <a:xfrm>
            <a:off x="4307840" y="3041903"/>
            <a:ext cx="4790657" cy="2718817"/>
          </a:xfrm>
          <a:prstGeom prst="rect">
            <a:avLst/>
          </a:prstGeom>
          <a:noFill/>
        </p:spPr>
        <p:txBody>
          <a:bodyPr wrap="none" lIns="0" rIns="0">
            <a:noAutofit/>
          </a:bodyPr>
          <a:lstStyle/>
          <a:p>
            <a:pPr algn="l"/>
            <a:r>
              <a:rPr sz="3400" b="0" i="0">
                <a:solidFill>
                  <a:srgbClr val="0A2240"/>
                </a:solidFill>
                <a:latin typeface="Arial"/>
              </a:rPr>
              <a:t>Asylum or not?</a:t>
            </a:r>
          </a:p>
        </p:txBody>
      </p:sp>
      <p:sp>
        <p:nvSpPr>
          <p:cNvPr id="11" name="TextBox 10"/>
          <p:cNvSpPr txBox="1"/>
          <p:nvPr/>
        </p:nvSpPr>
        <p:spPr>
          <a:xfrm>
            <a:off x="8158480" y="1499616"/>
            <a:ext cx="357632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81584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58480" y="2414016"/>
            <a:ext cx="3576320" cy="518159"/>
          </a:xfrm>
          <a:prstGeom prst="rect">
            <a:avLst/>
          </a:prstGeom>
          <a:noFill/>
        </p:spPr>
        <p:txBody>
          <a:bodyPr wrap="none" lIns="0" rIns="0">
            <a:noAutofit/>
          </a:bodyPr>
          <a:lstStyle/>
          <a:p>
            <a:pPr algn="l"/>
            <a:r>
              <a:rPr sz="3400" b="1" i="0">
                <a:solidFill>
                  <a:srgbClr val="0072CE"/>
                </a:solidFill>
                <a:latin typeface="Arial"/>
              </a:rPr>
              <a:t>Extract</a:t>
            </a:r>
          </a:p>
        </p:txBody>
      </p:sp>
      <p:sp>
        <p:nvSpPr>
          <p:cNvPr id="14" name="TextBox 13"/>
          <p:cNvSpPr txBox="1"/>
          <p:nvPr/>
        </p:nvSpPr>
        <p:spPr>
          <a:xfrm>
            <a:off x="8158480" y="3041903"/>
            <a:ext cx="4033520" cy="2718817"/>
          </a:xfrm>
          <a:prstGeom prst="rect">
            <a:avLst/>
          </a:prstGeom>
          <a:noFill/>
        </p:spPr>
        <p:txBody>
          <a:bodyPr wrap="none" lIns="0" rIns="0">
            <a:noAutofit/>
          </a:bodyPr>
          <a:lstStyle/>
          <a:p>
            <a:pPr algn="l"/>
            <a:r>
              <a:rPr sz="3400" b="0" i="0">
                <a:solidFill>
                  <a:srgbClr val="0A2240"/>
                </a:solidFill>
                <a:latin typeface="Arial"/>
              </a:rPr>
              <a:t>Pull the features</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It Has Built</a:t>
            </a:r>
          </a:p>
        </p:txBody>
      </p:sp>
      <p:sp>
        <p:nvSpPr>
          <p:cNvPr id="3" name="TextBox 2"/>
          <p:cNvSpPr txBox="1"/>
          <p:nvPr/>
        </p:nvSpPr>
        <p:spPr>
          <a:xfrm>
            <a:off x="457200" y="2449068"/>
            <a:ext cx="3576320" cy="914400"/>
          </a:xfrm>
          <a:prstGeom prst="rect">
            <a:avLst/>
          </a:prstGeom>
          <a:noFill/>
        </p:spPr>
        <p:txBody>
          <a:bodyPr wrap="none" lIns="0" rIns="0">
            <a:noAutofit/>
          </a:bodyPr>
          <a:lstStyle/>
          <a:p>
            <a:pPr algn="l"/>
            <a:r>
              <a:rPr sz="6000" b="1" i="0">
                <a:solidFill>
                  <a:srgbClr val="0072CE"/>
                </a:solidFill>
                <a:latin typeface="Arial"/>
              </a:rPr>
              <a:t>5,779</a:t>
            </a:r>
          </a:p>
        </p:txBody>
      </p:sp>
      <p:sp>
        <p:nvSpPr>
          <p:cNvPr id="4" name="TextBox 3"/>
          <p:cNvSpPr txBox="1"/>
          <p:nvPr/>
        </p:nvSpPr>
        <p:spPr>
          <a:xfrm>
            <a:off x="457200" y="3637788"/>
            <a:ext cx="3576320" cy="518159"/>
          </a:xfrm>
          <a:prstGeom prst="rect">
            <a:avLst/>
          </a:prstGeom>
          <a:noFill/>
        </p:spPr>
        <p:txBody>
          <a:bodyPr wrap="none" lIns="0" rIns="0">
            <a:noAutofit/>
          </a:bodyPr>
          <a:lstStyle/>
          <a:p>
            <a:pPr algn="l"/>
            <a:r>
              <a:rPr sz="3400" b="0" i="0">
                <a:solidFill>
                  <a:srgbClr val="0A2240"/>
                </a:solidFill>
                <a:latin typeface="Arial"/>
              </a:rPr>
              <a:t>Opinions</a:t>
            </a:r>
          </a:p>
        </p:txBody>
      </p:sp>
      <p:sp>
        <p:nvSpPr>
          <p:cNvPr id="5" name="TextBox 4"/>
          <p:cNvSpPr txBox="1"/>
          <p:nvPr/>
        </p:nvSpPr>
        <p:spPr>
          <a:xfrm>
            <a:off x="457200" y="4430267"/>
            <a:ext cx="3576320" cy="381000"/>
          </a:xfrm>
          <a:prstGeom prst="rect">
            <a:avLst/>
          </a:prstGeom>
          <a:noFill/>
        </p:spPr>
        <p:txBody>
          <a:bodyPr wrap="none" lIns="0" rIns="0">
            <a:noAutofit/>
          </a:bodyPr>
          <a:lstStyle/>
          <a:p>
            <a:pPr algn="l"/>
            <a:r>
              <a:rPr sz="2500" b="0" i="0">
                <a:solidFill>
                  <a:srgbClr val="0A2240"/>
                </a:solidFill>
                <a:latin typeface="Arial"/>
              </a:rPr>
              <a:t>Growing daily</a:t>
            </a:r>
          </a:p>
        </p:txBody>
      </p:sp>
      <p:sp>
        <p:nvSpPr>
          <p:cNvPr id="6" name="TextBox 5"/>
          <p:cNvSpPr txBox="1"/>
          <p:nvPr/>
        </p:nvSpPr>
        <p:spPr>
          <a:xfrm>
            <a:off x="4307840" y="2449068"/>
            <a:ext cx="3576320" cy="914400"/>
          </a:xfrm>
          <a:prstGeom prst="rect">
            <a:avLst/>
          </a:prstGeom>
          <a:noFill/>
        </p:spPr>
        <p:txBody>
          <a:bodyPr wrap="none" lIns="0" rIns="0">
            <a:noAutofit/>
          </a:bodyPr>
          <a:lstStyle/>
          <a:p>
            <a:pPr algn="l"/>
            <a:r>
              <a:rPr sz="6000" b="1" i="0">
                <a:solidFill>
                  <a:srgbClr val="0072CE"/>
                </a:solidFill>
                <a:latin typeface="Arial"/>
              </a:rPr>
              <a:t>70+</a:t>
            </a:r>
          </a:p>
        </p:txBody>
      </p:sp>
      <p:sp>
        <p:nvSpPr>
          <p:cNvPr id="7" name="TextBox 6"/>
          <p:cNvSpPr txBox="1"/>
          <p:nvPr/>
        </p:nvSpPr>
        <p:spPr>
          <a:xfrm>
            <a:off x="4307840" y="3637788"/>
            <a:ext cx="4599384" cy="518159"/>
          </a:xfrm>
          <a:prstGeom prst="rect">
            <a:avLst/>
          </a:prstGeom>
          <a:noFill/>
        </p:spPr>
        <p:txBody>
          <a:bodyPr wrap="none" lIns="0" rIns="0">
            <a:noAutofit/>
          </a:bodyPr>
          <a:lstStyle/>
          <a:p>
            <a:pPr algn="l"/>
            <a:r>
              <a:rPr sz="3400" b="0" i="0">
                <a:solidFill>
                  <a:srgbClr val="0A2240"/>
                </a:solidFill>
                <a:latin typeface="Arial"/>
              </a:rPr>
              <a:t>Features each</a:t>
            </a:r>
          </a:p>
        </p:txBody>
      </p:sp>
      <p:sp>
        <p:nvSpPr>
          <p:cNvPr id="8" name="TextBox 7"/>
          <p:cNvSpPr txBox="1"/>
          <p:nvPr/>
        </p:nvSpPr>
        <p:spPr>
          <a:xfrm>
            <a:off x="4307840" y="4430267"/>
            <a:ext cx="4700806" cy="381000"/>
          </a:xfrm>
          <a:prstGeom prst="rect">
            <a:avLst/>
          </a:prstGeom>
          <a:noFill/>
        </p:spPr>
        <p:txBody>
          <a:bodyPr wrap="none" lIns="0" rIns="0">
            <a:noAutofit/>
          </a:bodyPr>
          <a:lstStyle/>
          <a:p>
            <a:pPr algn="l"/>
            <a:r>
              <a:rPr sz="2500" b="0" i="0">
                <a:solidFill>
                  <a:srgbClr val="0A2240"/>
                </a:solidFill>
                <a:latin typeface="Arial"/>
              </a:rPr>
              <a:t>With a source quote</a:t>
            </a:r>
          </a:p>
        </p:txBody>
      </p:sp>
      <p:sp>
        <p:nvSpPr>
          <p:cNvPr id="9" name="TextBox 8"/>
          <p:cNvSpPr txBox="1"/>
          <p:nvPr/>
        </p:nvSpPr>
        <p:spPr>
          <a:xfrm>
            <a:off x="8158480" y="2449068"/>
            <a:ext cx="3576320" cy="914400"/>
          </a:xfrm>
          <a:prstGeom prst="rect">
            <a:avLst/>
          </a:prstGeom>
          <a:noFill/>
        </p:spPr>
        <p:txBody>
          <a:bodyPr wrap="none" lIns="0" rIns="0">
            <a:noAutofit/>
          </a:bodyPr>
          <a:lstStyle/>
          <a:p>
            <a:pPr algn="l"/>
            <a:r>
              <a:rPr sz="6000" b="1" i="0">
                <a:solidFill>
                  <a:srgbClr val="0072CE"/>
                </a:solidFill>
                <a:latin typeface="Arial"/>
              </a:rPr>
              <a:t>26%</a:t>
            </a:r>
          </a:p>
        </p:txBody>
      </p:sp>
      <p:sp>
        <p:nvSpPr>
          <p:cNvPr id="10" name="TextBox 9"/>
          <p:cNvSpPr txBox="1"/>
          <p:nvPr/>
        </p:nvSpPr>
        <p:spPr>
          <a:xfrm>
            <a:off x="8158480" y="3637788"/>
            <a:ext cx="3638292" cy="518159"/>
          </a:xfrm>
          <a:prstGeom prst="rect">
            <a:avLst/>
          </a:prstGeom>
          <a:noFill/>
        </p:spPr>
        <p:txBody>
          <a:bodyPr wrap="none" lIns="0" rIns="0">
            <a:noAutofit/>
          </a:bodyPr>
          <a:lstStyle/>
          <a:p>
            <a:pPr algn="l"/>
            <a:r>
              <a:rPr sz="3400" b="0" i="0">
                <a:solidFill>
                  <a:srgbClr val="0A2240"/>
                </a:solidFill>
                <a:latin typeface="Arial"/>
              </a:rPr>
              <a:t>Are asylum</a:t>
            </a:r>
          </a:p>
        </p:txBody>
      </p:sp>
      <p:sp>
        <p:nvSpPr>
          <p:cNvPr id="11" name="TextBox 10"/>
          <p:cNvSpPr txBox="1"/>
          <p:nvPr/>
        </p:nvSpPr>
        <p:spPr>
          <a:xfrm>
            <a:off x="8158480" y="4430267"/>
            <a:ext cx="3712091" cy="381000"/>
          </a:xfrm>
          <a:prstGeom prst="rect">
            <a:avLst/>
          </a:prstGeom>
          <a:noFill/>
        </p:spPr>
        <p:txBody>
          <a:bodyPr wrap="none" lIns="0" rIns="0">
            <a:noAutofit/>
          </a:bodyPr>
          <a:lstStyle/>
          <a:p>
            <a:pPr algn="l"/>
            <a:r>
              <a:rPr sz="2500" b="0" i="0">
                <a:solidFill>
                  <a:srgbClr val="0A2240"/>
                </a:solidFill>
                <a:latin typeface="Arial"/>
              </a:rPr>
              <a:t>The rest filtered</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613475" cy="768096"/>
          </a:xfrm>
          <a:prstGeom prst="rect">
            <a:avLst/>
          </a:prstGeom>
          <a:noFill/>
        </p:spPr>
        <p:txBody>
          <a:bodyPr wrap="none" lIns="0" rIns="0">
            <a:noAutofit/>
          </a:bodyPr>
          <a:lstStyle/>
          <a:p>
            <a:pPr algn="l"/>
            <a:r>
              <a:rPr sz="4200" b="1" i="0">
                <a:solidFill>
                  <a:srgbClr val="0072CE"/>
                </a:solidFill>
                <a:latin typeface="Arial"/>
              </a:rPr>
              <a:t>The Trick That Makes It Free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Classify cheaply before extracting</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Throw away three quarters first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Roughly four times cheaper</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Free-tier models throughout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It Runs 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Llama 3.3 on a free API tier</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Postgres, and a vector index</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daily scheduled job</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Total ongoing cost: nothing</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It Matters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This work was always hand-coded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Now it is searchable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Every claim has its quote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Anyone can read the code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I Actually Believe</a:t>
            </a:r>
          </a:p>
        </p:txBody>
      </p:sp>
      <p:sp>
        <p:nvSpPr>
          <p:cNvPr id="3" name="TextBox 2"/>
          <p:cNvSpPr txBox="1"/>
          <p:nvPr/>
        </p:nvSpPr>
        <p:spPr>
          <a:xfrm>
            <a:off x="457200" y="1499616"/>
            <a:ext cx="7284977" cy="621791"/>
          </a:xfrm>
          <a:prstGeom prst="rect">
            <a:avLst/>
          </a:prstGeom>
          <a:noFill/>
        </p:spPr>
        <p:txBody>
          <a:bodyPr wrap="none" lIns="0" rIns="0">
            <a:noAutofit/>
          </a:bodyPr>
          <a:lstStyle/>
          <a:p>
            <a:pPr algn="l"/>
            <a:r>
              <a:rPr sz="3400" b="1" i="0">
                <a:solidFill>
                  <a:srgbClr val="0A2240"/>
                </a:solidFill>
                <a:latin typeface="Arial"/>
              </a:rPr>
              <a:t>Paths are not straight</a:t>
            </a:r>
          </a:p>
        </p:txBody>
      </p:sp>
      <p:sp>
        <p:nvSpPr>
          <p:cNvPr id="4" name="Rectangle 3"/>
          <p:cNvSpPr/>
          <p:nvPr/>
        </p:nvSpPr>
        <p:spPr>
          <a:xfrm>
            <a:off x="457200" y="2176271"/>
            <a:ext cx="4438811"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942012" cy="621791"/>
          </a:xfrm>
          <a:prstGeom prst="rect">
            <a:avLst/>
          </a:prstGeom>
          <a:noFill/>
        </p:spPr>
        <p:txBody>
          <a:bodyPr wrap="none" lIns="0" rIns="0">
            <a:noAutofit/>
          </a:bodyPr>
          <a:lstStyle/>
          <a:p>
            <a:pPr algn="l"/>
            <a:r>
              <a:rPr sz="3400" b="1" i="0">
                <a:solidFill>
                  <a:srgbClr val="0072CE"/>
                </a:solidFill>
                <a:latin typeface="Arial"/>
              </a:rPr>
              <a:t>The tools are free</a:t>
            </a:r>
          </a:p>
        </p:txBody>
      </p:sp>
      <p:sp>
        <p:nvSpPr>
          <p:cNvPr id="6" name="Rectangle 5"/>
          <p:cNvSpPr/>
          <p:nvPr/>
        </p:nvSpPr>
        <p:spPr>
          <a:xfrm>
            <a:off x="6233160" y="2176271"/>
            <a:ext cx="3599458"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6979344" cy="609600"/>
          </a:xfrm>
          <a:prstGeom prst="rect">
            <a:avLst/>
          </a:prstGeom>
          <a:noFill/>
        </p:spPr>
        <p:txBody>
          <a:bodyPr wrap="none" lIns="0" rIns="0">
            <a:noAutofit/>
          </a:bodyPr>
          <a:lstStyle/>
          <a:p>
            <a:pPr algn="l"/>
            <a:r>
              <a:rPr sz="3400" b="0" i="0">
                <a:solidFill>
                  <a:srgbClr val="0A2240"/>
                </a:solidFill>
                <a:latin typeface="Arial"/>
              </a:rPr>
              <a:t>I studied literature first</a:t>
            </a:r>
          </a:p>
        </p:txBody>
      </p:sp>
      <p:sp>
        <p:nvSpPr>
          <p:cNvPr id="8" name="TextBox 7"/>
          <p:cNvSpPr txBox="1"/>
          <p:nvPr/>
        </p:nvSpPr>
        <p:spPr>
          <a:xfrm>
            <a:off x="457200" y="3608831"/>
            <a:ext cx="6365716" cy="609600"/>
          </a:xfrm>
          <a:prstGeom prst="rect">
            <a:avLst/>
          </a:prstGeom>
          <a:noFill/>
        </p:spPr>
        <p:txBody>
          <a:bodyPr wrap="none" lIns="0" rIns="0">
            <a:noAutofit/>
          </a:bodyPr>
          <a:lstStyle/>
          <a:p>
            <a:pPr algn="l"/>
            <a:r>
              <a:rPr sz="3400" b="0" i="0">
                <a:solidFill>
                  <a:srgbClr val="0A2240"/>
                </a:solidFill>
                <a:latin typeface="Arial"/>
              </a:rPr>
              <a:t>Nothing was wasted</a:t>
            </a:r>
          </a:p>
        </p:txBody>
      </p:sp>
      <p:sp>
        <p:nvSpPr>
          <p:cNvPr id="9" name="TextBox 8"/>
          <p:cNvSpPr txBox="1"/>
          <p:nvPr/>
        </p:nvSpPr>
        <p:spPr>
          <a:xfrm>
            <a:off x="457200" y="4821935"/>
            <a:ext cx="7096403" cy="609600"/>
          </a:xfrm>
          <a:prstGeom prst="rect">
            <a:avLst/>
          </a:prstGeom>
          <a:noFill/>
        </p:spPr>
        <p:txBody>
          <a:bodyPr wrap="none" lIns="0" rIns="0">
            <a:noAutofit/>
          </a:bodyPr>
          <a:lstStyle/>
          <a:p>
            <a:pPr algn="l"/>
            <a:r>
              <a:rPr sz="3400" b="0" i="0">
                <a:solidFill>
                  <a:srgbClr val="0A2240"/>
                </a:solidFill>
                <a:latin typeface="Arial"/>
              </a:rPr>
              <a:t>The detour is the edge</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A certificate, for nothing</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A legal database, free</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The barrier is starting</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If You Take One Action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Build one small thing publicly</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Write down how you did it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Use the free tier for all of it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Then show someone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43</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