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session everyone remembers. Two teams swap prototypes and spend an hour trying to break each other's work. Set the tone early: this is a service they are performing for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deliverable, and note whose it is. They leave with a written list of their own failures, produced by people with no reason to be gentle. That list is the input to 3.3.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syllabus objectives across four moves. The last one is a skill rather than a task, and it is the one people find hardest all week.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the teams now, before any explanation. Pairing takes two minutes and every minute after it is testing time. Cross-pair so nobody tests the team testing them, if the numbers allow.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Last session designed the attack against their own system in the abstract. This one runs it against someone else's, which is both easier and considerably more revealing.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of the hour. The order matters — hands before agent. Ten minutes of a curious human finds the things an agent will not think to try.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is 10:45. Whatever state the testing is in, logs change hands then — an unshared finding helps nobody, and 3.3 needs the full ten minutes to triage.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before the swap and mean it. Everything found in the next hour is found by someone with no stake in being kind and no ability to hurt them. There is no cheaper place to be wrong.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first half. Before any automation, one person clicking with intent. This is the highest-yield ten minutes of the session and teams are always surprised by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two words carry the definition. A red team is not an opponent; it is a service. Frame it this way now and the log exchange at the end goes very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rules, read out before the swap. The third stops helpful teams from quietly patching things instead of logging them, which destroys the record 3.3 depends 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two is the discipline. The moment a builder explains their system, the tester inherits their mental model and stops being a stranger — which was the whole value they brought.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files and a link. Handing over the caveats feels like giving away the answers and is the opposite — it tells the tester which parts are already known, so they spend their time elsewhere.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is not wasted time. You cannot tell what counts as broken until you have seen it work, and the tester who skips this logs a lot of intended behaviour.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no probe will report. An agent tests correctness; a person tests whether it makes sense. Both matter, and only one of them can be automated.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Neither method dominates, which is why the syllabus asks for both. Hands find what does not make sense; agents find what nobody would think to type. Highlight the two cells where each wins outright.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openers that work on almost anything. The third and fourth exploit state and timing, which are the two areas a two-day prototype has thought about least.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each tester pick one and stay in character for a few minutes. Rotating postures deliberately covers more ground than three people all attacking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difference between a complaint and a bug report. Left-hand findings cannot be acted on in 3.3, so a tester producing them has spent the hour generously and unhelpfully.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 in the moment, not at the end. Five lines while the failure is on screen beats a reconstruction ten minutes later, and reconstructions are where reproduction steps go wrong.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temptations. The last is the most common — teams find one dramatic failure, feel finished, and hand back a log with a single entry. Keep going until the clock says otherwise.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A human finds the interesting failures; volume finds the ones nobody would think of. The syllabus point is that volume no longer costs anything.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at about the twenty-minute mark. Most teams will have run ten or fifteen inputs by hand. The next twenty minutes should add a hundred, and that is a difference in kind rather than degree.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reasons. The second is the honest one: a person testing for twenty minutes converges on a handful of patterns, while generated inputs keep wandering into places nobody chose.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it as the enabling detail for this objective. The point is not the specific provider; it is that generating a hundred adversarial inputs is now a free operation rather than a budget decision.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end to end. Step three is where teams go wrong: they ask the model to test the prototype, which produces commentary, rather than to produce inputs, which produces ammunition.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OpenAI-compatible interface, so existing code mostly works unchanged. Note the key comes from the environment — a key pasted into a file that gets committed is a real risk on a public repo.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moves in six lines: give it the target, name one axis, demand variety. The last line matters — without it you get a numbered list with commentary you then have to strip.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Batching by axis is what produces variety. Asking for a hundred mixed inputs returns eighty of whichever axis the model finds most obvious, usually adversarial.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ways a batch looks big and tests one thing. Skim any twenty before running them — if you can summarise the batch in one sentence, ask again with a different framing.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axes from 3.1, now as generation prompts. Twenty per row is a hundred inputs for about five minutes of work and no money, which is the whole point of the objective.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half of objective one. Step three is not optional — an unattended probe against someone else's live URL is how a red-team round turns into an incident.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courtesies, and they are not merely polite. Two teams sharing one live URL can trivially deny each other the session, and a probe filling their storage with test rows costs them 3.3.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rule saves 3.3. A log of a hundred entries with four real causes is harder to triage than a log of four, and the clustering work belongs to the tester.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turning raw output into a usable log. The third is a courtesy with teeth — re-reporting a documented limitation wastes their triage time and rewards nobody.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counterweight to the whole section. Generating a thousand inputs costs nothing and reading a thousand results costs the session, which is why clustering matters more than raw count.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Everything found in the last forty minutes has to become something another team can act on in fifty minutes, without you sitting next to them.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bar precisely. Not enough for you to see it again — enough for someone who was not there. If the builder cannot reproduce it, they cannot confirm they fixed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fields, no more. Anything longer does not get written under time pressure, and anything shorter is not actionable. This table is the format for the whole round.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entry, five lines, in a file rather than a chat message. A file survives the session, can be committed by the receiving team, and is what they will triage against in 3.3.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that critical is not the most dramatic failure — it is the quietest. Confidently wrong output outranks a crash, because a crash tells the user something is wrong.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calibrations. The third is the common error: testers soften severity out of sympathy for the work involved, which pushes the wrong things above 3.3's cut line.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ways to hand over an hour of work that cannot be used. Read this before the trade at 10:45 and give teams two minutes to clean up against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and the third is the discipline. A tester talking through their log turns it into a negotiation, and the builder starts explaining instead of reading.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skill the syllabus asks for, stated as a rule you can follow. Not accepting every finding, not agreeing — reading all of it first. Agreement can come later; the reading has to come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column is what everyone does instinctively, including experienced engineers. Naming it in advance is most of what stops it, which is why this slide exists at all.</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legitimate question during the handover. Everything else is a disagreement, and disagreements about whether a finding counts belong in 3.3's triage, where there is a cut line to settle them.</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reasons, and the last carries it. Every failure surfaced in this room costs them nothing but pride; the same failure found in a demo costs them the demo.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at 10:40. The order of sacrifice is the generated volume first, the hand findings last — and severity never, because 3.3 is entirely a severity-against-cost exercise.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exit checklist. All four are behavioural rather than technical, which is what makes this session unusual. A team that ticks all four is ready to triage.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before the break. The second checks the prediction they wrote at the end of 3.1 — being wrong about your own weakest point is the most useful thing to learn today.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this and take two or three answers out loud. The surprises are the real product of the session, and hearing another team's surprise usually sends someone straight to check their own build.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3.3, the last session of the week. Make the second line land: the cut line means deciding what they will not fix, which is harder than fixing and more useful.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Peer Red-Team Round</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3 · Session 3.2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55</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457200" y="4664964"/>
            <a:ext cx="11277600" cy="609600"/>
          </a:xfrm>
          <a:prstGeom prst="rect">
            <a:avLst/>
          </a:prstGeom>
          <a:noFill/>
        </p:spPr>
        <p:txBody>
          <a:bodyPr wrap="none" lIns="0" rIns="0">
            <a:noAutofit/>
          </a:bodyPr>
          <a:lstStyle/>
          <a:p>
            <a:pPr algn="ctr"/>
            <a:r>
              <a:rPr sz="3400" b="0" i="0">
                <a:solidFill>
                  <a:srgbClr val="5B6B82"/>
                </a:solidFill>
                <a:latin typeface="Arial"/>
              </a:rPr>
              <a:t>You leave holding your own log</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Swap builds with another team</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Break it by hand, then by agent</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Generate inputs in bulk, free</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Trade logs without defending</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Whose build will you break?</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3.1 to Now</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A plan</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An inventory, a probe</a:t>
            </a:r>
          </a:p>
        </p:txBody>
      </p:sp>
      <p:sp>
        <p:nvSpPr>
          <p:cNvPr id="5" name="TextBox 4"/>
          <p:cNvSpPr txBox="1"/>
          <p:nvPr/>
        </p:nvSpPr>
        <p:spPr>
          <a:xfrm>
            <a:off x="6933188" y="2776728"/>
            <a:ext cx="4810244" cy="914400"/>
          </a:xfrm>
          <a:prstGeom prst="rect">
            <a:avLst/>
          </a:prstGeom>
          <a:noFill/>
        </p:spPr>
        <p:txBody>
          <a:bodyPr wrap="none" lIns="0" rIns="0">
            <a:noAutofit/>
          </a:bodyPr>
          <a:lstStyle/>
          <a:p>
            <a:pPr algn="ctr"/>
            <a:r>
              <a:rPr sz="6000" b="1" i="0">
                <a:solidFill>
                  <a:srgbClr val="0A2240"/>
                </a:solidFill>
                <a:latin typeface="Arial"/>
              </a:rPr>
              <a:t>A round</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Pointed at real software</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Swap</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URLs, caveats, edge cases</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Hand</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Ten minutes, yourself</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Probe</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Turn the agent loose</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613660" cy="518159"/>
          </a:xfrm>
          <a:prstGeom prst="rect">
            <a:avLst/>
          </a:prstGeom>
          <a:noFill/>
        </p:spPr>
        <p:txBody>
          <a:bodyPr wrap="none" lIns="0" rIns="0">
            <a:noAutofit/>
          </a:bodyPr>
          <a:lstStyle/>
          <a:p>
            <a:pPr algn="l"/>
            <a:r>
              <a:rPr sz="3400" b="1" i="0">
                <a:solidFill>
                  <a:srgbClr val="123A6B"/>
                </a:solidFill>
                <a:latin typeface="Arial"/>
              </a:rPr>
              <a:t>Trade</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Logs back, no arguing</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Next 55 Minutes</a:t>
            </a:r>
          </a:p>
        </p:txBody>
      </p:sp>
      <p:sp>
        <p:nvSpPr>
          <p:cNvPr id="3" name="TextBox 2"/>
          <p:cNvSpPr txBo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10:00</a:t>
            </a:r>
          </a:p>
        </p:txBody>
      </p:sp>
      <p:sp>
        <p:nvSpPr>
          <p:cNvPr id="4" name="TextBox 3"/>
          <p:cNvSpPr txBox="1"/>
          <p:nvPr/>
        </p:nvSpPr>
        <p:spPr>
          <a:xfrm>
            <a:off x="457200" y="2154936"/>
            <a:ext cx="2613660" cy="518159"/>
          </a:xfrm>
          <a:prstGeom prst="rect">
            <a:avLst/>
          </a:prstGeom>
          <a:noFill/>
        </p:spPr>
        <p:txBody>
          <a:bodyPr wrap="none" lIns="0" rIns="0">
            <a:noAutofit/>
          </a:bodyPr>
          <a:lstStyle/>
          <a:p>
            <a:pPr algn="l"/>
            <a:r>
              <a:rPr sz="3400" b="1" i="0">
                <a:solidFill>
                  <a:srgbClr val="0A2240"/>
                </a:solidFill>
                <a:latin typeface="Arial"/>
              </a:rPr>
              <a:t>Swap</a:t>
            </a:r>
          </a:p>
        </p:txBody>
      </p:sp>
      <p:sp>
        <p:nvSpPr>
          <p:cNvPr id="5" name="TextBox 4"/>
          <p:cNvSpPr txBox="1"/>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Links and lists change hands</a:t>
            </a:r>
          </a:p>
        </p:txBody>
      </p:sp>
      <p:sp>
        <p:nvSpPr>
          <p:cNvPr id="6" name="TextBox 5"/>
          <p:cNvSpPr txBox="1"/>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10:10</a:t>
            </a:r>
          </a:p>
        </p:txBody>
      </p:sp>
      <p:sp>
        <p:nvSpPr>
          <p:cNvPr id="7" name="TextBox 6"/>
          <p:cNvSpPr txBox="1"/>
          <p:nvPr/>
        </p:nvSpPr>
        <p:spPr>
          <a:xfrm>
            <a:off x="3345180" y="2154936"/>
            <a:ext cx="2908280" cy="518159"/>
          </a:xfrm>
          <a:prstGeom prst="rect">
            <a:avLst/>
          </a:prstGeom>
          <a:noFill/>
        </p:spPr>
        <p:txBody>
          <a:bodyPr wrap="none" lIns="0" rIns="0">
            <a:noAutofit/>
          </a:bodyPr>
          <a:lstStyle/>
          <a:p>
            <a:pPr algn="l"/>
            <a:r>
              <a:rPr sz="3400" b="1" i="0">
                <a:solidFill>
                  <a:srgbClr val="0A2240"/>
                </a:solidFill>
                <a:latin typeface="Arial"/>
              </a:rPr>
              <a:t>By hand</a:t>
            </a:r>
          </a:p>
        </p:txBody>
      </p:sp>
      <p:sp>
        <p:nvSpPr>
          <p:cNvPr id="8" name="TextBox 7"/>
          <p:cNvSpPr txBox="1"/>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Their edge cases, run by you</a:t>
            </a:r>
          </a:p>
        </p:txBody>
      </p:sp>
      <p:sp>
        <p:nvSpPr>
          <p:cNvPr id="9" name="TextBox 8"/>
          <p:cNvSpPr txBox="1"/>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10:25</a:t>
            </a:r>
          </a:p>
        </p:txBody>
      </p:sp>
      <p:sp>
        <p:nvSpPr>
          <p:cNvPr id="10" name="TextBox 9"/>
          <p:cNvSpPr txBox="1"/>
          <p:nvPr/>
        </p:nvSpPr>
        <p:spPr>
          <a:xfrm>
            <a:off x="6233160" y="2154936"/>
            <a:ext cx="3522582" cy="518159"/>
          </a:xfrm>
          <a:prstGeom prst="rect">
            <a:avLst/>
          </a:prstGeom>
          <a:noFill/>
        </p:spPr>
        <p:txBody>
          <a:bodyPr wrap="none" lIns="0" rIns="0">
            <a:noAutofit/>
          </a:bodyPr>
          <a:lstStyle/>
          <a:p>
            <a:pPr algn="l"/>
            <a:r>
              <a:rPr sz="3400" b="1" i="0">
                <a:solidFill>
                  <a:srgbClr val="0A2240"/>
                </a:solidFill>
                <a:latin typeface="Arial"/>
              </a:rPr>
              <a:t>At volume</a:t>
            </a:r>
          </a:p>
        </p:txBody>
      </p:sp>
      <p:sp>
        <p:nvSpPr>
          <p:cNvPr id="11" name="TextBox 10"/>
          <p:cNvSpPr txBox="1"/>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Agent and generated inputs</a:t>
            </a:r>
          </a:p>
        </p:txBody>
      </p:sp>
      <p:sp>
        <p:nvSpPr>
          <p:cNvPr id="12" name="TextBox 11"/>
          <p:cNvSpPr txBox="1"/>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10:45</a:t>
            </a:r>
          </a:p>
        </p:txBody>
      </p:sp>
      <p:sp>
        <p:nvSpPr>
          <p:cNvPr id="13" name="TextBox 12"/>
          <p:cNvSpPr txBox="1"/>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Trade logs</a:t>
            </a:r>
          </a:p>
        </p:txBody>
      </p:sp>
      <p:sp>
        <p:nvSpPr>
          <p:cNvPr id="14" name="TextBox 13"/>
          <p:cNvSpPr txBox="1"/>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Hand it over, then receive</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"A friend who breaks it is a gift."</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red-team rule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Break It by Hand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Red team</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People trying to break it, on purpose, for you</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Rules of the Round</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Attack the build, never the team</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Everything you find gets written</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 fixing, only finding</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 defending when it is your turn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Swap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Trade three things</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The URL, the caveats, the edge cases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Say nothing else</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No walkthrough, no context, no warnings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Start the clock</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Ten minutes of hands before anything else</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You Hand Over</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public URL from 2.3</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CAVEATS.md, unedited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tests/edge-cases.md from 3.1</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Nothing spoken out loud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Your First Ten Minutes</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Use it normally, once</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The happy path, as a real person would</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Run their own list</a:t>
            </a:r>
          </a:p>
        </p:txBody>
      </p:sp>
      <p:sp>
        <p:nvSpPr>
          <p:cNvPr id="8" name="TextBox 7"/>
          <p:cNvSpPr txBox="1"/>
          <p:nvPr/>
        </p:nvSpPr>
        <p:spPr>
          <a:xfrm>
            <a:off x="1461983" y="3697224"/>
            <a:ext cx="10359192" cy="551688"/>
          </a:xfrm>
          <a:prstGeom prst="rect">
            <a:avLst/>
          </a:prstGeom>
          <a:noFill/>
        </p:spPr>
        <p:txBody>
          <a:bodyPr wrap="none" lIns="0" rIns="0">
            <a:noAutofit/>
          </a:bodyPr>
          <a:lstStyle/>
          <a:p>
            <a:pPr algn="l"/>
            <a:r>
              <a:rPr sz="3400" b="0" i="0">
                <a:solidFill>
                  <a:srgbClr val="0A2240"/>
                </a:solidFill>
                <a:latin typeface="Arial"/>
              </a:rPr>
              <a:t>Every case in their edge-case file</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Then go off-script</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Whatever occurred to you while doing that</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Why Hands Before Agents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notice what looks wrong</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You try things nobody wrote down</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 feel the slow parts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You find the confusing screen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Each Method Finds</a:t>
            </a:r>
          </a:p>
        </p:txBody>
      </p:sp>
      <p:sp>
        <p:nvSpPr>
          <p:cNvPr id="3" name="TextBox 2"/>
          <p:cNvSpPr txBox="1"/>
          <p:nvPr/>
        </p:nvSpPr>
        <p:spPr>
          <a:xfrm>
            <a:off x="3889248" y="1499616"/>
            <a:ext cx="3785616" cy="518159"/>
          </a:xfrm>
          <a:prstGeom prst="rect">
            <a:avLst/>
          </a:prstGeom>
          <a:noFill/>
        </p:spPr>
        <p:txBody>
          <a:bodyPr wrap="none" lIns="0" rIns="0">
            <a:noAutofit/>
          </a:bodyPr>
          <a:lstStyle/>
          <a:p>
            <a:pPr algn="ctr"/>
            <a:r>
              <a:rPr sz="3400" b="1" i="0">
                <a:solidFill>
                  <a:srgbClr val="0A2240"/>
                </a:solidFill>
                <a:latin typeface="Arial"/>
              </a:rPr>
              <a:t>By hand</a:t>
            </a:r>
          </a:p>
        </p:txBody>
      </p:sp>
      <p:sp>
        <p:nvSpPr>
          <p:cNvPr id="4" name="TextBox 3"/>
          <p:cNvSpPr txBox="1"/>
          <p:nvPr/>
        </p:nvSpPr>
        <p:spPr>
          <a:xfrm>
            <a:off x="7949184" y="1499616"/>
            <a:ext cx="3785616" cy="518159"/>
          </a:xfrm>
          <a:prstGeom prst="rect">
            <a:avLst/>
          </a:prstGeom>
          <a:noFill/>
        </p:spPr>
        <p:txBody>
          <a:bodyPr wrap="none" lIns="0" rIns="0">
            <a:noAutofit/>
          </a:bodyPr>
          <a:lstStyle/>
          <a:p>
            <a:pPr algn="ctr"/>
            <a:r>
              <a:rPr sz="3400" b="1" i="0">
                <a:solidFill>
                  <a:srgbClr val="0A2240"/>
                </a:solidFill>
                <a:latin typeface="Arial"/>
              </a:rPr>
              <a:t>By agent</a:t>
            </a:r>
          </a:p>
        </p:txBody>
      </p:sp>
      <p:sp>
        <p:nvSpPr>
          <p:cNvPr id="5" name="Rectangle 4"/>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480976" cy="936752"/>
          </a:xfrm>
          <a:prstGeom prst="rect">
            <a:avLst/>
          </a:prstGeom>
          <a:noFill/>
        </p:spPr>
        <p:txBody>
          <a:bodyPr wrap="none" lIns="0" rIns="0">
            <a:noAutofit/>
          </a:bodyPr>
          <a:lstStyle/>
          <a:p>
            <a:pPr algn="l"/>
            <a:r>
              <a:rPr sz="3400" b="1" i="0">
                <a:solidFill>
                  <a:srgbClr val="0A2240"/>
                </a:solidFill>
                <a:latin typeface="Arial"/>
              </a:rPr>
              <a:t>Confusing UI</a:t>
            </a:r>
          </a:p>
        </p:txBody>
      </p:sp>
      <p:sp>
        <p:nvSpPr>
          <p:cNvPr id="7" name="Rectangle 6"/>
          <p:cNvSpPr/>
          <p:nvPr/>
        </p:nvSpPr>
        <p:spPr>
          <a:xfrm>
            <a:off x="4849901" y="2401823"/>
            <a:ext cx="1864309"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62516" y="2401823"/>
            <a:ext cx="2639079" cy="518159"/>
          </a:xfrm>
          <a:prstGeom prst="rect">
            <a:avLst/>
          </a:prstGeom>
          <a:noFill/>
        </p:spPr>
        <p:txBody>
          <a:bodyPr wrap="none" lIns="0" rIns="0">
            <a:noAutofit/>
          </a:bodyPr>
          <a:lstStyle/>
          <a:p>
            <a:pPr algn="ctr"/>
            <a:r>
              <a:rPr sz="3400" b="1" i="0">
                <a:solidFill>
                  <a:srgbClr val="FFFFFF"/>
                </a:solidFill>
                <a:latin typeface="Arial"/>
              </a:rPr>
              <a:t>Finds it</a:t>
            </a:r>
          </a:p>
        </p:txBody>
      </p:sp>
      <p:sp>
        <p:nvSpPr>
          <p:cNvPr id="9" name="TextBox 8"/>
          <p:cNvSpPr txBox="1"/>
          <p:nvPr/>
        </p:nvSpPr>
        <p:spPr>
          <a:xfrm>
            <a:off x="7949184" y="2401823"/>
            <a:ext cx="3785616" cy="936752"/>
          </a:xfrm>
          <a:prstGeom prst="rect">
            <a:avLst/>
          </a:prstGeom>
          <a:noFill/>
        </p:spPr>
        <p:txBody>
          <a:bodyPr wrap="none" lIns="0" rIns="0">
            <a:noAutofit/>
          </a:bodyPr>
          <a:lstStyle/>
          <a:p>
            <a:pPr algn="ctr"/>
            <a:r>
              <a:rPr sz="3400" b="0" i="0">
                <a:solidFill>
                  <a:srgbClr val="0A2240"/>
                </a:solidFill>
                <a:latin typeface="Arial"/>
              </a:rPr>
              <a:t>Blind to it</a:t>
            </a:r>
          </a:p>
        </p:txBody>
      </p:sp>
      <p:sp>
        <p:nvSpPr>
          <p:cNvPr id="10" name="TextBox 9"/>
          <p:cNvSpPr txBox="1"/>
          <p:nvPr/>
        </p:nvSpPr>
        <p:spPr>
          <a:xfrm>
            <a:off x="457200" y="3612895"/>
            <a:ext cx="3983395" cy="936752"/>
          </a:xfrm>
          <a:prstGeom prst="rect">
            <a:avLst/>
          </a:prstGeom>
          <a:noFill/>
        </p:spPr>
        <p:txBody>
          <a:bodyPr wrap="none" lIns="0" rIns="0">
            <a:noAutofit/>
          </a:bodyPr>
          <a:lstStyle/>
          <a:p>
            <a:pPr algn="l"/>
            <a:r>
              <a:rPr sz="3400" b="1" i="0">
                <a:solidFill>
                  <a:srgbClr val="0A2240"/>
                </a:solidFill>
                <a:latin typeface="Arial"/>
              </a:rPr>
              <a:t>Rare inputs</a:t>
            </a:r>
          </a:p>
        </p:txBody>
      </p:sp>
      <p:sp>
        <p:nvSpPr>
          <p:cNvPr id="11" name="TextBox 10"/>
          <p:cNvSpPr txBox="1"/>
          <p:nvPr/>
        </p:nvSpPr>
        <p:spPr>
          <a:xfrm>
            <a:off x="3771299" y="3612895"/>
            <a:ext cx="4021514" cy="936752"/>
          </a:xfrm>
          <a:prstGeom prst="rect">
            <a:avLst/>
          </a:prstGeom>
          <a:noFill/>
        </p:spPr>
        <p:txBody>
          <a:bodyPr wrap="none" lIns="0" rIns="0">
            <a:noAutofit/>
          </a:bodyPr>
          <a:lstStyle/>
          <a:p>
            <a:pPr algn="ctr"/>
            <a:r>
              <a:rPr sz="3400" b="0" i="0">
                <a:solidFill>
                  <a:srgbClr val="0A2240"/>
                </a:solidFill>
                <a:latin typeface="Arial"/>
              </a:rPr>
              <a:t>Misses most</a:t>
            </a:r>
          </a:p>
        </p:txBody>
      </p:sp>
      <p:sp>
        <p:nvSpPr>
          <p:cNvPr id="12" name="Rectangle 11"/>
          <p:cNvSpPr/>
          <p:nvPr/>
        </p:nvSpPr>
        <p:spPr>
          <a:xfrm>
            <a:off x="8525898" y="3612895"/>
            <a:ext cx="2632188"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8149" y="3612895"/>
            <a:ext cx="3867686" cy="518159"/>
          </a:xfrm>
          <a:prstGeom prst="rect">
            <a:avLst/>
          </a:prstGeom>
          <a:noFill/>
        </p:spPr>
        <p:txBody>
          <a:bodyPr wrap="none" lIns="0" rIns="0">
            <a:noAutofit/>
          </a:bodyPr>
          <a:lstStyle/>
          <a:p>
            <a:pPr algn="ctr"/>
            <a:r>
              <a:rPr sz="3400" b="1" i="0">
                <a:solidFill>
                  <a:srgbClr val="FFFFFF"/>
                </a:solidFill>
                <a:latin typeface="Arial"/>
              </a:rPr>
              <a:t>Finds them</a:t>
            </a:r>
          </a:p>
        </p:txBody>
      </p:sp>
      <p:sp>
        <p:nvSpPr>
          <p:cNvPr id="14" name="TextBox 13"/>
          <p:cNvSpPr txBox="1"/>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Speed</a:t>
            </a:r>
          </a:p>
        </p:txBody>
      </p:sp>
      <p:sp>
        <p:nvSpPr>
          <p:cNvPr id="15" name="TextBox 14"/>
          <p:cNvSpPr txBox="1"/>
          <p:nvPr/>
        </p:nvSpPr>
        <p:spPr>
          <a:xfrm>
            <a:off x="3828141" y="4823967"/>
            <a:ext cx="3907830" cy="936752"/>
          </a:xfrm>
          <a:prstGeom prst="rect">
            <a:avLst/>
          </a:prstGeom>
          <a:noFill/>
        </p:spPr>
        <p:txBody>
          <a:bodyPr wrap="none" lIns="0" rIns="0">
            <a:noAutofit/>
          </a:bodyPr>
          <a:lstStyle/>
          <a:p>
            <a:pPr algn="ctr"/>
            <a:r>
              <a:rPr sz="3400" b="0" i="0">
                <a:solidFill>
                  <a:srgbClr val="0A2240"/>
                </a:solidFill>
                <a:latin typeface="Arial"/>
              </a:rPr>
              <a:t>Ten minutes</a:t>
            </a:r>
          </a:p>
        </p:txBody>
      </p:sp>
      <p:sp>
        <p:nvSpPr>
          <p:cNvPr id="16" name="TextBox 15"/>
          <p:cNvSpPr txBox="1"/>
          <p:nvPr/>
        </p:nvSpPr>
        <p:spPr>
          <a:xfrm>
            <a:off x="7599986" y="4823967"/>
            <a:ext cx="4484012" cy="936752"/>
          </a:xfrm>
          <a:prstGeom prst="rect">
            <a:avLst/>
          </a:prstGeom>
          <a:noFill/>
        </p:spPr>
        <p:txBody>
          <a:bodyPr wrap="none" lIns="0" rIns="0">
            <a:noAutofit/>
          </a:bodyPr>
          <a:lstStyle/>
          <a:p>
            <a:pPr algn="ctr"/>
            <a:r>
              <a:rPr sz="3400" b="0" i="0">
                <a:solidFill>
                  <a:srgbClr val="0A2240"/>
                </a:solidFill>
                <a:latin typeface="Arial"/>
              </a:rPr>
              <a:t>Hundreds fast</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How to Break What You Did Not Build</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Do the obvious wrong thing first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Give it the opposite of the example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Click before it finishes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Try the same thing twice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Postures That Work</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The confused user</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Does the wrong thing sincerely, not cleverly</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The impatient user</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Clicks twice, refreshes, will not wait</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The bad actor</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Reads the page to work out what to abuse</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Kinds of Finding</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Not useful</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Useful</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5501640" cy="609600"/>
          </a:xfrm>
          <a:prstGeom prst="rect">
            <a:avLst/>
          </a:prstGeom>
          <a:noFill/>
        </p:spPr>
        <p:txBody>
          <a:bodyPr wrap="none" lIns="0" rIns="0">
            <a:noAutofit/>
          </a:bodyPr>
          <a:lstStyle/>
          <a:p>
            <a:pPr algn="l"/>
            <a:r>
              <a:rPr sz="3400" b="0" i="0">
                <a:solidFill>
                  <a:srgbClr val="0A2240"/>
                </a:solidFill>
                <a:latin typeface="Arial"/>
              </a:rPr>
              <a:t>"It felt slow"</a:t>
            </a:r>
          </a:p>
        </p:txBody>
      </p:sp>
      <p:sp>
        <p:nvSpPr>
          <p:cNvPr id="8" name="TextBox 7"/>
          <p:cNvSpPr txBox="1"/>
          <p:nvPr/>
        </p:nvSpPr>
        <p:spPr>
          <a:xfrm>
            <a:off x="457200" y="3608831"/>
            <a:ext cx="6741516" cy="609600"/>
          </a:xfrm>
          <a:prstGeom prst="rect">
            <a:avLst/>
          </a:prstGeom>
          <a:noFill/>
        </p:spPr>
        <p:txBody>
          <a:bodyPr wrap="none" lIns="0" rIns="0">
            <a:noAutofit/>
          </a:bodyPr>
          <a:lstStyle/>
          <a:p>
            <a:pPr algn="l"/>
            <a:r>
              <a:rPr sz="3400" b="0" i="0">
                <a:solidFill>
                  <a:srgbClr val="0A2240"/>
                </a:solidFill>
                <a:latin typeface="Arial"/>
              </a:rPr>
              <a:t>"The design is rough"</a:t>
            </a:r>
          </a:p>
        </p:txBody>
      </p:sp>
      <p:sp>
        <p:nvSpPr>
          <p:cNvPr id="9" name="TextBox 8"/>
          <p:cNvSpPr txBox="1"/>
          <p:nvPr/>
        </p:nvSpPr>
        <p:spPr>
          <a:xfrm>
            <a:off x="457200" y="4821935"/>
            <a:ext cx="6126201" cy="609600"/>
          </a:xfrm>
          <a:prstGeom prst="rect">
            <a:avLst/>
          </a:prstGeom>
          <a:noFill/>
        </p:spPr>
        <p:txBody>
          <a:bodyPr wrap="none" lIns="0" rIns="0">
            <a:noAutofit/>
          </a:bodyPr>
          <a:lstStyle/>
          <a:p>
            <a:pPr algn="l"/>
            <a:r>
              <a:rPr sz="3400" b="0" i="0">
                <a:solidFill>
                  <a:srgbClr val="0A2240"/>
                </a:solidFill>
                <a:latin typeface="Arial"/>
              </a:rPr>
              <a:t>"It broke somehow"</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The exact input used</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What came back instead</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How to make it happen</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Write it down as it happens</a:t>
            </a:r>
          </a:p>
        </p:txBody>
      </p:sp>
      <p:sp>
        <p:nvSpPr>
          <p:cNvPr id="6" name="TextBox 5"/>
          <p:cNvSpPr txBox="1"/>
          <p:nvPr/>
        </p:nvSpPr>
        <p:spPr>
          <a:xfrm>
            <a:off x="457200" y="1837944"/>
            <a:ext cx="5291276" cy="518159"/>
          </a:xfrm>
          <a:prstGeom prst="rect">
            <a:avLst/>
          </a:prstGeom>
          <a:noFill/>
        </p:spPr>
        <p:txBody>
          <a:bodyPr wrap="none" lIns="0" rIns="0">
            <a:noAutofit/>
          </a:bodyPr>
          <a:lstStyle/>
          <a:p>
            <a:pPr algn="l"/>
            <a:r>
              <a:rPr sz="3400" b="0" i="0">
                <a:solidFill>
                  <a:srgbClr val="6A9955"/>
                </a:solidFill>
                <a:latin typeface="Arial"/>
              </a:rPr>
              <a:t>## empty upload</a:t>
            </a:r>
          </a:p>
        </p:txBody>
      </p:sp>
      <p:sp>
        <p:nvSpPr>
          <p:cNvPr id="7" name="TextBox 6"/>
          <p:cNvSpPr txBox="1"/>
          <p:nvPr/>
        </p:nvSpPr>
        <p:spPr>
          <a:xfrm>
            <a:off x="457200" y="2356103"/>
            <a:ext cx="7671236" cy="518159"/>
          </a:xfrm>
          <a:prstGeom prst="rect">
            <a:avLst/>
          </a:prstGeom>
          <a:noFill/>
        </p:spPr>
        <p:txBody>
          <a:bodyPr wrap="none" lIns="0" rIns="0">
            <a:noAutofit/>
          </a:bodyPr>
          <a:lstStyle/>
          <a:p>
            <a:pPr algn="l"/>
            <a:r>
              <a:rPr sz="3400" b="0" i="0">
                <a:solidFill>
                  <a:srgbClr val="D4D4D4"/>
                </a:solidFill>
                <a:latin typeface="Arial"/>
              </a:rPr>
              <a:t>sent: no file, clicked Run</a:t>
            </a:r>
          </a:p>
        </p:txBody>
      </p:sp>
      <p:sp>
        <p:nvSpPr>
          <p:cNvPr id="8" name="TextBox 7"/>
          <p:cNvSpPr txBox="1"/>
          <p:nvPr/>
        </p:nvSpPr>
        <p:spPr>
          <a:xfrm>
            <a:off x="457200" y="2874262"/>
            <a:ext cx="10398660" cy="518159"/>
          </a:xfrm>
          <a:prstGeom prst="rect">
            <a:avLst/>
          </a:prstGeom>
          <a:noFill/>
        </p:spPr>
        <p:txBody>
          <a:bodyPr wrap="none" lIns="0" rIns="0">
            <a:noAutofit/>
          </a:bodyPr>
          <a:lstStyle/>
          <a:p>
            <a:pPr algn="l"/>
            <a:r>
              <a:rPr sz="3400" b="0" i="0">
                <a:solidFill>
                  <a:srgbClr val="D4D4D4"/>
                </a:solidFill>
                <a:latin typeface="Arial"/>
              </a:rPr>
              <a:t>got: spinner, forever, no message</a:t>
            </a:r>
          </a:p>
        </p:txBody>
      </p:sp>
      <p:sp>
        <p:nvSpPr>
          <p:cNvPr id="9" name="TextBox 8"/>
          <p:cNvSpPr txBox="1"/>
          <p:nvPr/>
        </p:nvSpPr>
        <p:spPr>
          <a:xfrm>
            <a:off x="457200" y="3392421"/>
            <a:ext cx="4253270" cy="518159"/>
          </a:xfrm>
          <a:prstGeom prst="rect">
            <a:avLst/>
          </a:prstGeom>
          <a:noFill/>
        </p:spPr>
        <p:txBody>
          <a:bodyPr wrap="none" lIns="0" rIns="0">
            <a:noAutofit/>
          </a:bodyPr>
          <a:lstStyle/>
          <a:p>
            <a:pPr algn="l"/>
            <a:r>
              <a:rPr sz="3400" b="0" i="0">
                <a:solidFill>
                  <a:srgbClr val="D4D4D4"/>
                </a:solidFill>
                <a:latin typeface="Arial"/>
              </a:rPr>
              <a:t>severity: high</a:t>
            </a:r>
          </a:p>
        </p:txBody>
      </p:sp>
      <p:sp>
        <p:nvSpPr>
          <p:cNvPr id="10" name="TextBox 9"/>
          <p:cNvSpPr txBox="1"/>
          <p:nvPr/>
        </p:nvSpPr>
        <p:spPr>
          <a:xfrm>
            <a:off x="457200" y="3910580"/>
            <a:ext cx="8477150" cy="518159"/>
          </a:xfrm>
          <a:prstGeom prst="rect">
            <a:avLst/>
          </a:prstGeom>
          <a:noFill/>
        </p:spPr>
        <p:txBody>
          <a:bodyPr wrap="none" lIns="0" rIns="0">
            <a:noAutofit/>
          </a:bodyPr>
          <a:lstStyle/>
          <a:p>
            <a:pPr algn="l"/>
            <a:r>
              <a:rPr sz="3400" b="0" i="0">
                <a:solidFill>
                  <a:srgbClr val="D4D4D4"/>
                </a:solidFill>
                <a:latin typeface="Arial"/>
              </a:rPr>
              <a:t>repro: open URL, click Run</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Do Not Do These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Do not fix anything you find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Do not tell them mid-round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Do not test their teammates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Do not stop at the first break</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Volume for Free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How many have you tried?</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Why Volume Finds More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Rare inputs need many tries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You repeat yourself, models vary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Combinations you would not pair</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never gets bored or polite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Nvidia's free API</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Hosted models you can call in bulk at no cost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Standing It Up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Get a key</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Sign in, create one, keep it out of git</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617100" cy="640080"/>
          </a:xfrm>
          <a:prstGeom prst="rect">
            <a:avLst/>
          </a:prstGeom>
          <a:noFill/>
        </p:spPr>
        <p:txBody>
          <a:bodyPr wrap="none" lIns="0" rIns="0">
            <a:noAutofit/>
          </a:bodyPr>
          <a:lstStyle/>
          <a:p>
            <a:pPr algn="l"/>
            <a:r>
              <a:rPr sz="4200" b="1" i="0">
                <a:solidFill>
                  <a:srgbClr val="123A6B"/>
                </a:solidFill>
                <a:latin typeface="Arial"/>
              </a:rPr>
              <a:t>Call it like any chat model</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The interface is the familiar one</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730017" cy="640080"/>
          </a:xfrm>
          <a:prstGeom prst="rect">
            <a:avLst/>
          </a:prstGeom>
          <a:noFill/>
        </p:spPr>
        <p:txBody>
          <a:bodyPr wrap="none" lIns="0" rIns="0">
            <a:noAutofit/>
          </a:bodyPr>
          <a:lstStyle/>
          <a:p>
            <a:pPr algn="l"/>
            <a:r>
              <a:rPr sz="4200" b="1" i="0">
                <a:solidFill>
                  <a:srgbClr val="123A6B"/>
                </a:solidFill>
                <a:latin typeface="Arial"/>
              </a:rPr>
              <a:t>Ask for inputs, not answers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You want test material, not opinions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One call, a hundred inputs</a:t>
            </a:r>
          </a:p>
        </p:txBody>
      </p:sp>
      <p:sp>
        <p:nvSpPr>
          <p:cNvPr id="6" name="TextBox 5"/>
          <p:cNvSpPr txBox="1"/>
          <p:nvPr/>
        </p:nvSpPr>
        <p:spPr>
          <a:xfrm>
            <a:off x="457200" y="1837944"/>
            <a:ext cx="2583080" cy="518159"/>
          </a:xfrm>
          <a:prstGeom prst="rect">
            <a:avLst/>
          </a:prstGeom>
          <a:noFill/>
        </p:spPr>
        <p:txBody>
          <a:bodyPr wrap="none" lIns="0" rIns="0">
            <a:noAutofit/>
          </a:bodyPr>
          <a:lstStyle/>
          <a:p>
            <a:pPr algn="l"/>
            <a:r>
              <a:rPr sz="3400" b="0" i="0">
                <a:solidFill>
                  <a:srgbClr val="D4D4D4"/>
                </a:solidFill>
                <a:latin typeface="Arial"/>
              </a:rPr>
              <a:t>client = </a:t>
            </a:r>
          </a:p>
        </p:txBody>
      </p:sp>
      <p:sp>
        <p:nvSpPr>
          <p:cNvPr id="7" name="TextBox 6"/>
          <p:cNvSpPr txBox="1"/>
          <p:nvPr/>
        </p:nvSpPr>
        <p:spPr>
          <a:xfrm>
            <a:off x="1957325" y="1837944"/>
            <a:ext cx="2525732" cy="518159"/>
          </a:xfrm>
          <a:prstGeom prst="rect">
            <a:avLst/>
          </a:prstGeom>
          <a:noFill/>
        </p:spPr>
        <p:txBody>
          <a:bodyPr wrap="none" lIns="0" rIns="0">
            <a:noAutofit/>
          </a:bodyPr>
          <a:lstStyle/>
          <a:p>
            <a:pPr algn="l"/>
            <a:r>
              <a:rPr sz="3400" b="0" i="0">
                <a:solidFill>
                  <a:srgbClr val="DCDCAA"/>
                </a:solidFill>
                <a:latin typeface="Arial"/>
              </a:rPr>
              <a:t>OpenAI</a:t>
            </a:r>
          </a:p>
        </p:txBody>
      </p:sp>
      <p:sp>
        <p:nvSpPr>
          <p:cNvPr id="8" name="TextBox 7"/>
          <p:cNvSpPr txBox="1"/>
          <p:nvPr/>
        </p:nvSpPr>
        <p:spPr>
          <a:xfrm>
            <a:off x="3421608" y="1837944"/>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9" name="TextBox 8"/>
          <p:cNvSpPr txBox="1"/>
          <p:nvPr/>
        </p:nvSpPr>
        <p:spPr>
          <a:xfrm>
            <a:off x="457200" y="2356103"/>
            <a:ext cx="3620412" cy="518159"/>
          </a:xfrm>
          <a:prstGeom prst="rect">
            <a:avLst/>
          </a:prstGeom>
          <a:noFill/>
        </p:spPr>
        <p:txBody>
          <a:bodyPr wrap="none" lIns="0" rIns="0">
            <a:noAutofit/>
          </a:bodyPr>
          <a:lstStyle/>
          <a:p>
            <a:pPr algn="l"/>
            <a:r>
              <a:rPr sz="3400" b="0" i="0">
                <a:solidFill>
                  <a:srgbClr val="D4D4D4"/>
                </a:solidFill>
                <a:latin typeface="Arial"/>
              </a:rPr>
              <a:t>  base_url=</a:t>
            </a:r>
          </a:p>
        </p:txBody>
      </p:sp>
      <p:sp>
        <p:nvSpPr>
          <p:cNvPr id="10" name="TextBox 9"/>
          <p:cNvSpPr txBox="1"/>
          <p:nvPr/>
        </p:nvSpPr>
        <p:spPr>
          <a:xfrm>
            <a:off x="2605658" y="2356103"/>
            <a:ext cx="9586342" cy="518159"/>
          </a:xfrm>
          <a:prstGeom prst="rect">
            <a:avLst/>
          </a:prstGeom>
          <a:noFill/>
        </p:spPr>
        <p:txBody>
          <a:bodyPr wrap="none" lIns="0" rIns="0">
            <a:noAutofit/>
          </a:bodyPr>
          <a:lstStyle/>
          <a:p>
            <a:pPr algn="l"/>
            <a:r>
              <a:rPr sz="3400" b="0" i="0">
                <a:solidFill>
                  <a:srgbClr val="CE9178"/>
                </a:solidFill>
                <a:latin typeface="Arial"/>
              </a:rPr>
              <a:t>"https://integrate.api.nvidia.com/v1"</a:t>
            </a:r>
          </a:p>
        </p:txBody>
      </p:sp>
      <p:sp>
        <p:nvSpPr>
          <p:cNvPr id="11" name="TextBox 10"/>
          <p:cNvSpPr txBox="1"/>
          <p:nvPr/>
        </p:nvSpPr>
        <p:spPr>
          <a:xfrm>
            <a:off x="9344732" y="2356103"/>
            <a:ext cx="37482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2" name="TextBox 11"/>
          <p:cNvSpPr txBox="1"/>
          <p:nvPr/>
        </p:nvSpPr>
        <p:spPr>
          <a:xfrm>
            <a:off x="457200" y="2874262"/>
            <a:ext cx="6731059" cy="518159"/>
          </a:xfrm>
          <a:prstGeom prst="rect">
            <a:avLst/>
          </a:prstGeom>
          <a:noFill/>
        </p:spPr>
        <p:txBody>
          <a:bodyPr wrap="none" lIns="0" rIns="0">
            <a:noAutofit/>
          </a:bodyPr>
          <a:lstStyle/>
          <a:p>
            <a:pPr algn="l"/>
            <a:r>
              <a:rPr sz="3400" b="0" i="0">
                <a:solidFill>
                  <a:srgbClr val="D4D4D4"/>
                </a:solidFill>
                <a:latin typeface="Arial"/>
              </a:rPr>
              <a:t>  api_key=os.environ[</a:t>
            </a:r>
          </a:p>
        </p:txBody>
      </p:sp>
      <p:sp>
        <p:nvSpPr>
          <p:cNvPr id="13" name="TextBox 12"/>
          <p:cNvSpPr txBox="1"/>
          <p:nvPr/>
        </p:nvSpPr>
        <p:spPr>
          <a:xfrm>
            <a:off x="4549812" y="2874262"/>
            <a:ext cx="6241236" cy="518159"/>
          </a:xfrm>
          <a:prstGeom prst="rect">
            <a:avLst/>
          </a:prstGeom>
          <a:noFill/>
        </p:spPr>
        <p:txBody>
          <a:bodyPr wrap="none" lIns="0" rIns="0">
            <a:noAutofit/>
          </a:bodyPr>
          <a:lstStyle/>
          <a:p>
            <a:pPr algn="l"/>
            <a:r>
              <a:rPr sz="3400" b="0" i="0">
                <a:solidFill>
                  <a:srgbClr val="CE9178"/>
                </a:solidFill>
                <a:latin typeface="Arial"/>
              </a:rPr>
              <a:t>"NVIDIA_API_KEY"</a:t>
            </a:r>
          </a:p>
        </p:txBody>
      </p:sp>
      <p:sp>
        <p:nvSpPr>
          <p:cNvPr id="14" name="TextBox 13"/>
          <p:cNvSpPr txBox="1"/>
          <p:nvPr/>
        </p:nvSpPr>
        <p:spPr>
          <a:xfrm>
            <a:off x="8336285" y="2874262"/>
            <a:ext cx="566777" cy="518159"/>
          </a:xfrm>
          <a:prstGeom prst="rect">
            <a:avLst/>
          </a:prstGeom>
          <a:noFill/>
        </p:spPr>
        <p:txBody>
          <a:bodyPr wrap="none" lIns="0" rIns="0">
            <a:noAutofit/>
          </a:bodyPr>
          <a:lstStyle/>
          <a:p>
            <a:pPr algn="l"/>
            <a:r>
              <a:rPr sz="3400" b="0" i="0">
                <a:solidFill>
                  <a:srgbClr val="D4D4D4"/>
                </a:solidFill>
                <a:latin typeface="Arial"/>
              </a:rPr>
              <a:t>],</a:t>
            </a:r>
          </a:p>
        </p:txBody>
      </p:sp>
      <p:sp>
        <p:nvSpPr>
          <p:cNvPr id="15" name="TextBox 14"/>
          <p:cNvSpPr txBox="1"/>
          <p:nvPr/>
        </p:nvSpPr>
        <p:spPr>
          <a:xfrm>
            <a:off x="457200" y="3392421"/>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6" name="TextBox 15"/>
          <p:cNvSpPr txBox="1"/>
          <p:nvPr/>
        </p:nvSpPr>
        <p:spPr>
          <a:xfrm>
            <a:off x="457200" y="3910580"/>
            <a:ext cx="10052883" cy="518159"/>
          </a:xfrm>
          <a:prstGeom prst="rect">
            <a:avLst/>
          </a:prstGeom>
          <a:noFill/>
        </p:spPr>
        <p:txBody>
          <a:bodyPr wrap="none" lIns="0" rIns="0">
            <a:noAutofit/>
          </a:bodyPr>
          <a:lstStyle/>
          <a:p>
            <a:pPr algn="l"/>
            <a:r>
              <a:rPr sz="3400" b="0" i="0">
                <a:solidFill>
                  <a:srgbClr val="6A9955"/>
                </a:solidFill>
                <a:latin typeface="Arial"/>
              </a:rPr>
              <a:t># then loop: ask for 20 at a time,</a:t>
            </a:r>
          </a:p>
        </p:txBody>
      </p:sp>
      <p:sp>
        <p:nvSpPr>
          <p:cNvPr id="17" name="TextBox 16"/>
          <p:cNvSpPr txBox="1"/>
          <p:nvPr/>
        </p:nvSpPr>
        <p:spPr>
          <a:xfrm>
            <a:off x="457200" y="4428739"/>
            <a:ext cx="9898380" cy="518159"/>
          </a:xfrm>
          <a:prstGeom prst="rect">
            <a:avLst/>
          </a:prstGeom>
          <a:noFill/>
        </p:spPr>
        <p:txBody>
          <a:bodyPr wrap="none" lIns="0" rIns="0">
            <a:noAutofit/>
          </a:bodyPr>
          <a:lstStyle/>
          <a:p>
            <a:pPr algn="l"/>
            <a:r>
              <a:rPr sz="3400" b="0" i="0">
                <a:solidFill>
                  <a:srgbClr val="6A9955"/>
                </a:solidFill>
                <a:latin typeface="Arial"/>
              </a:rPr>
              <a:t># five times, one axis per batch.</a:t>
            </a:r>
          </a:p>
        </p:txBody>
      </p:sp>
      <p:sp>
        <p:nvSpPr>
          <p:cNvPr id="18" name="TextBox 1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734800" cy="640080"/>
          </a:xfrm>
          <a:prstGeom prst="rect">
            <a:avLst/>
          </a:prstGeom>
          <a:noFill/>
        </p:spPr>
        <p:txBody>
          <a:bodyPr wrap="none" lIns="0" rIns="0">
            <a:noAutofit/>
          </a:bodyPr>
          <a:lstStyle/>
          <a:p>
            <a:pPr algn="l"/>
            <a:r>
              <a:rPr sz="4200" b="0" i="0">
                <a:solidFill>
                  <a:srgbClr val="D4D4D4"/>
                </a:solidFill>
                <a:latin typeface="Arial"/>
              </a:rPr>
              <a:t>The generation prompt that works</a:t>
            </a:r>
          </a:p>
        </p:txBody>
      </p:sp>
      <p:sp>
        <p:nvSpPr>
          <p:cNvPr id="6" name="TextBox 5"/>
          <p:cNvSpPr txBox="1"/>
          <p:nvPr/>
        </p:nvSpPr>
        <p:spPr>
          <a:xfrm>
            <a:off x="457200" y="1837944"/>
            <a:ext cx="1872297" cy="518159"/>
          </a:xfrm>
          <a:prstGeom prst="rect">
            <a:avLst/>
          </a:prstGeom>
          <a:noFill/>
        </p:spPr>
        <p:txBody>
          <a:bodyPr wrap="none" lIns="0" rIns="0">
            <a:noAutofit/>
          </a:bodyPr>
          <a:lstStyle/>
          <a:p>
            <a:pPr algn="l"/>
            <a:r>
              <a:rPr sz="3400" b="0" i="0">
                <a:solidFill>
                  <a:srgbClr val="D4D4D4"/>
                </a:solidFill>
                <a:latin typeface="Arial"/>
              </a:rPr>
              <a:t>Here </a:t>
            </a:r>
          </a:p>
        </p:txBody>
      </p:sp>
      <p:sp>
        <p:nvSpPr>
          <p:cNvPr id="7" name="TextBox 6"/>
          <p:cNvSpPr txBox="1"/>
          <p:nvPr/>
        </p:nvSpPr>
        <p:spPr>
          <a:xfrm>
            <a:off x="1513086" y="1837944"/>
            <a:ext cx="681811" cy="518159"/>
          </a:xfrm>
          <a:prstGeom prst="rect">
            <a:avLst/>
          </a:prstGeom>
          <a:noFill/>
        </p:spPr>
        <p:txBody>
          <a:bodyPr wrap="none" lIns="0" rIns="0">
            <a:noAutofit/>
          </a:bodyPr>
          <a:lstStyle/>
          <a:p>
            <a:pPr algn="l"/>
            <a:r>
              <a:rPr sz="3400" b="0" i="0">
                <a:solidFill>
                  <a:srgbClr val="569CD6"/>
                </a:solidFill>
                <a:latin typeface="Arial"/>
              </a:rPr>
              <a:t>is</a:t>
            </a:r>
          </a:p>
        </p:txBody>
      </p:sp>
      <p:sp>
        <p:nvSpPr>
          <p:cNvPr id="8" name="TextBox 7"/>
          <p:cNvSpPr txBox="1"/>
          <p:nvPr/>
        </p:nvSpPr>
        <p:spPr>
          <a:xfrm>
            <a:off x="1824918" y="1837944"/>
            <a:ext cx="7057270" cy="518159"/>
          </a:xfrm>
          <a:prstGeom prst="rect">
            <a:avLst/>
          </a:prstGeom>
          <a:noFill/>
        </p:spPr>
        <p:txBody>
          <a:bodyPr wrap="none" lIns="0" rIns="0">
            <a:noAutofit/>
          </a:bodyPr>
          <a:lstStyle/>
          <a:p>
            <a:pPr algn="l"/>
            <a:r>
              <a:rPr sz="3400" b="0" i="0">
                <a:solidFill>
                  <a:srgbClr val="D4D4D4"/>
                </a:solidFill>
                <a:latin typeface="Arial"/>
              </a:rPr>
              <a:t> what the tool accepts:</a:t>
            </a:r>
          </a:p>
        </p:txBody>
      </p:sp>
      <p:sp>
        <p:nvSpPr>
          <p:cNvPr id="9" name="TextBox 8"/>
          <p:cNvSpPr txBox="1"/>
          <p:nvPr/>
        </p:nvSpPr>
        <p:spPr>
          <a:xfrm>
            <a:off x="457200" y="2356103"/>
            <a:ext cx="7152064" cy="518159"/>
          </a:xfrm>
          <a:prstGeom prst="rect">
            <a:avLst/>
          </a:prstGeom>
          <a:noFill/>
        </p:spPr>
        <p:txBody>
          <a:bodyPr wrap="none" lIns="0" rIns="0">
            <a:noAutofit/>
          </a:bodyPr>
          <a:lstStyle/>
          <a:p>
            <a:pPr algn="l"/>
            <a:r>
              <a:rPr sz="3400" b="0" i="0">
                <a:solidFill>
                  <a:srgbClr val="D4D4D4"/>
                </a:solidFill>
                <a:latin typeface="Arial"/>
              </a:rPr>
              <a:t>&lt;paste their README </a:t>
            </a:r>
          </a:p>
        </p:txBody>
      </p:sp>
      <p:sp>
        <p:nvSpPr>
          <p:cNvPr id="10" name="TextBox 9"/>
          <p:cNvSpPr txBox="1"/>
          <p:nvPr/>
        </p:nvSpPr>
        <p:spPr>
          <a:xfrm>
            <a:off x="4812940" y="2356103"/>
            <a:ext cx="797182" cy="518159"/>
          </a:xfrm>
          <a:prstGeom prst="rect">
            <a:avLst/>
          </a:prstGeom>
          <a:noFill/>
        </p:spPr>
        <p:txBody>
          <a:bodyPr wrap="none" lIns="0" rIns="0">
            <a:noAutofit/>
          </a:bodyPr>
          <a:lstStyle/>
          <a:p>
            <a:pPr algn="l"/>
            <a:r>
              <a:rPr sz="3400" b="0" i="0">
                <a:solidFill>
                  <a:srgbClr val="569CD6"/>
                </a:solidFill>
                <a:latin typeface="Arial"/>
              </a:rPr>
              <a:t>or</a:t>
            </a:r>
          </a:p>
        </p:txBody>
      </p:sp>
      <p:sp>
        <p:nvSpPr>
          <p:cNvPr id="11" name="TextBox 10"/>
          <p:cNvSpPr txBox="1"/>
          <p:nvPr/>
        </p:nvSpPr>
        <p:spPr>
          <a:xfrm>
            <a:off x="5196880" y="2356103"/>
            <a:ext cx="3159264" cy="518159"/>
          </a:xfrm>
          <a:prstGeom prst="rect">
            <a:avLst/>
          </a:prstGeom>
          <a:noFill/>
        </p:spPr>
        <p:txBody>
          <a:bodyPr wrap="none" lIns="0" rIns="0">
            <a:noAutofit/>
          </a:bodyPr>
          <a:lstStyle/>
          <a:p>
            <a:pPr algn="l"/>
            <a:r>
              <a:rPr sz="3400" b="0" i="0">
                <a:solidFill>
                  <a:srgbClr val="D4D4D4"/>
                </a:solidFill>
                <a:latin typeface="Arial"/>
              </a:rPr>
              <a:t> caveats&gt;</a:t>
            </a:r>
          </a:p>
        </p:txBody>
      </p:sp>
      <p:sp>
        <p:nvSpPr>
          <p:cNvPr id="12" name="TextBox 11"/>
          <p:cNvSpPr txBox="1"/>
          <p:nvPr/>
        </p:nvSpPr>
        <p:spPr>
          <a:xfrm>
            <a:off x="457200" y="3392421"/>
            <a:ext cx="2947075" cy="518159"/>
          </a:xfrm>
          <a:prstGeom prst="rect">
            <a:avLst/>
          </a:prstGeom>
          <a:noFill/>
        </p:spPr>
        <p:txBody>
          <a:bodyPr wrap="none" lIns="0" rIns="0">
            <a:noAutofit/>
          </a:bodyPr>
          <a:lstStyle/>
          <a:p>
            <a:pPr algn="l"/>
            <a:r>
              <a:rPr sz="3400" b="0" i="0">
                <a:solidFill>
                  <a:srgbClr val="D4D4D4"/>
                </a:solidFill>
                <a:latin typeface="Arial"/>
              </a:rPr>
              <a:t>Give me </a:t>
            </a:r>
          </a:p>
        </p:txBody>
      </p:sp>
      <p:sp>
        <p:nvSpPr>
          <p:cNvPr id="13" name="TextBox 12"/>
          <p:cNvSpPr txBox="1"/>
          <p:nvPr/>
        </p:nvSpPr>
        <p:spPr>
          <a:xfrm>
            <a:off x="2184822" y="3392421"/>
            <a:ext cx="951348" cy="518159"/>
          </a:xfrm>
          <a:prstGeom prst="rect">
            <a:avLst/>
          </a:prstGeom>
          <a:noFill/>
        </p:spPr>
        <p:txBody>
          <a:bodyPr wrap="none" lIns="0" rIns="0">
            <a:noAutofit/>
          </a:bodyPr>
          <a:lstStyle/>
          <a:p>
            <a:pPr algn="l"/>
            <a:r>
              <a:rPr sz="3400" b="0" i="0">
                <a:solidFill>
                  <a:srgbClr val="B5CEA8"/>
                </a:solidFill>
                <a:latin typeface="Arial"/>
              </a:rPr>
              <a:t>20</a:t>
            </a:r>
          </a:p>
        </p:txBody>
      </p:sp>
      <p:sp>
        <p:nvSpPr>
          <p:cNvPr id="14" name="TextBox 13"/>
          <p:cNvSpPr txBox="1"/>
          <p:nvPr/>
        </p:nvSpPr>
        <p:spPr>
          <a:xfrm>
            <a:off x="2665115" y="3392421"/>
            <a:ext cx="9526885" cy="518159"/>
          </a:xfrm>
          <a:prstGeom prst="rect">
            <a:avLst/>
          </a:prstGeom>
          <a:noFill/>
        </p:spPr>
        <p:txBody>
          <a:bodyPr wrap="none" lIns="0" rIns="0">
            <a:noAutofit/>
          </a:bodyPr>
          <a:lstStyle/>
          <a:p>
            <a:pPr algn="l"/>
            <a:r>
              <a:rPr sz="3400" b="0" i="0">
                <a:solidFill>
                  <a:srgbClr val="D4D4D4"/>
                </a:solidFill>
                <a:latin typeface="Arial"/>
              </a:rPr>
              <a:t> inputs that are MALFORMED.</a:t>
            </a:r>
          </a:p>
        </p:txBody>
      </p:sp>
      <p:sp>
        <p:nvSpPr>
          <p:cNvPr id="15" name="TextBox 14"/>
          <p:cNvSpPr txBox="1"/>
          <p:nvPr/>
        </p:nvSpPr>
        <p:spPr>
          <a:xfrm>
            <a:off x="457200" y="3910580"/>
            <a:ext cx="7351772" cy="518159"/>
          </a:xfrm>
          <a:prstGeom prst="rect">
            <a:avLst/>
          </a:prstGeom>
          <a:noFill/>
        </p:spPr>
        <p:txBody>
          <a:bodyPr wrap="none" lIns="0" rIns="0">
            <a:noAutofit/>
          </a:bodyPr>
          <a:lstStyle/>
          <a:p>
            <a:pPr algn="l"/>
            <a:r>
              <a:rPr sz="3400" b="0" i="0">
                <a:solidFill>
                  <a:srgbClr val="D4D4D4"/>
                </a:solidFill>
                <a:latin typeface="Arial"/>
              </a:rPr>
              <a:t>Vary the way each one </a:t>
            </a:r>
          </a:p>
        </p:txBody>
      </p:sp>
      <p:sp>
        <p:nvSpPr>
          <p:cNvPr id="16" name="TextBox 15"/>
          <p:cNvSpPr txBox="1"/>
          <p:nvPr/>
        </p:nvSpPr>
        <p:spPr>
          <a:xfrm>
            <a:off x="4937758" y="3910580"/>
            <a:ext cx="681811" cy="518159"/>
          </a:xfrm>
          <a:prstGeom prst="rect">
            <a:avLst/>
          </a:prstGeom>
          <a:noFill/>
        </p:spPr>
        <p:txBody>
          <a:bodyPr wrap="none" lIns="0" rIns="0">
            <a:noAutofit/>
          </a:bodyPr>
          <a:lstStyle/>
          <a:p>
            <a:pPr algn="l"/>
            <a:r>
              <a:rPr sz="3400" b="0" i="0">
                <a:solidFill>
                  <a:srgbClr val="569CD6"/>
                </a:solidFill>
                <a:latin typeface="Arial"/>
              </a:rPr>
              <a:t>is</a:t>
            </a:r>
          </a:p>
        </p:txBody>
      </p:sp>
      <p:sp>
        <p:nvSpPr>
          <p:cNvPr id="17" name="TextBox 16"/>
          <p:cNvSpPr txBox="1"/>
          <p:nvPr/>
        </p:nvSpPr>
        <p:spPr>
          <a:xfrm>
            <a:off x="5249590" y="3910580"/>
            <a:ext cx="2679224" cy="518159"/>
          </a:xfrm>
          <a:prstGeom prst="rect">
            <a:avLst/>
          </a:prstGeom>
          <a:noFill/>
        </p:spPr>
        <p:txBody>
          <a:bodyPr wrap="none" lIns="0" rIns="0">
            <a:noAutofit/>
          </a:bodyPr>
          <a:lstStyle/>
          <a:p>
            <a:pPr algn="l"/>
            <a:r>
              <a:rPr sz="3400" b="0" i="0">
                <a:solidFill>
                  <a:srgbClr val="D4D4D4"/>
                </a:solidFill>
                <a:latin typeface="Arial"/>
              </a:rPr>
              <a:t> broken.</a:t>
            </a:r>
          </a:p>
        </p:txBody>
      </p:sp>
      <p:sp>
        <p:nvSpPr>
          <p:cNvPr id="18" name="TextBox 17"/>
          <p:cNvSpPr txBox="1"/>
          <p:nvPr/>
        </p:nvSpPr>
        <p:spPr>
          <a:xfrm>
            <a:off x="457200" y="4428739"/>
            <a:ext cx="11090553" cy="518159"/>
          </a:xfrm>
          <a:prstGeom prst="rect">
            <a:avLst/>
          </a:prstGeom>
          <a:noFill/>
        </p:spPr>
        <p:txBody>
          <a:bodyPr wrap="none" lIns="0" rIns="0">
            <a:noAutofit/>
          </a:bodyPr>
          <a:lstStyle/>
          <a:p>
            <a:pPr algn="l"/>
            <a:r>
              <a:rPr sz="3400" b="0" i="0">
                <a:solidFill>
                  <a:srgbClr val="D4D4D4"/>
                </a:solidFill>
                <a:latin typeface="Arial"/>
              </a:rPr>
              <a:t>Output only the inputs, one per line.</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Ask for One Axis at a Time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Twenty empty-ish inputs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Twenty malformed ones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Twenty adversarial ones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Twenty out of scope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The Trap of Generated Inputs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They rhyme with each other</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All broken the same way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Too polite to be adversarial</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Plausible, but never weird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 Hundred Inputs, Spread</a:t>
            </a:r>
          </a:p>
        </p:txBody>
      </p:sp>
      <p:sp>
        <p:nvSpPr>
          <p:cNvPr id="3" name="TextBox 2"/>
          <p:cNvSpPr txBox="1"/>
          <p:nvPr/>
        </p:nvSpPr>
        <p:spPr>
          <a:xfrm>
            <a:off x="457200" y="1499616"/>
            <a:ext cx="2814032" cy="518159"/>
          </a:xfrm>
          <a:prstGeom prst="rect">
            <a:avLst/>
          </a:prstGeom>
          <a:noFill/>
        </p:spPr>
        <p:txBody>
          <a:bodyPr wrap="none" lIns="0" rIns="0">
            <a:noAutofit/>
          </a:bodyPr>
          <a:lstStyle/>
          <a:p>
            <a:pPr algn="l"/>
            <a:r>
              <a:rPr sz="3400" b="1" i="0">
                <a:solidFill>
                  <a:srgbClr val="123A6B"/>
                </a:solidFill>
                <a:latin typeface="Arial"/>
              </a:rPr>
              <a:t>Axis</a:t>
            </a:r>
          </a:p>
        </p:txBody>
      </p:sp>
      <p:sp>
        <p:nvSpPr>
          <p:cNvPr id="4" name="TextBox 3"/>
          <p:cNvSpPr txBox="1"/>
          <p:nvPr/>
        </p:nvSpPr>
        <p:spPr>
          <a:xfrm>
            <a:off x="3819872" y="1499616"/>
            <a:ext cx="5556766" cy="518159"/>
          </a:xfrm>
          <a:prstGeom prst="rect">
            <a:avLst/>
          </a:prstGeom>
          <a:noFill/>
        </p:spPr>
        <p:txBody>
          <a:bodyPr wrap="none" lIns="0" rIns="0">
            <a:noAutofit/>
          </a:bodyPr>
          <a:lstStyle/>
          <a:p>
            <a:pPr algn="l"/>
            <a:r>
              <a:rPr sz="3400" b="1" i="0">
                <a:solidFill>
                  <a:srgbClr val="123A6B"/>
                </a:solidFill>
                <a:latin typeface="Arial"/>
              </a:rPr>
              <a:t>How to ask for it</a:t>
            </a:r>
          </a:p>
        </p:txBody>
      </p:sp>
      <p:sp>
        <p:nvSpPr>
          <p:cNvPr id="5" name="Rectangle 4"/>
          <p:cNvSpPr/>
          <p:nvPr/>
        </p:nvSpPr>
        <p:spPr>
          <a:xfrm>
            <a:off x="457200" y="2072639"/>
            <a:ext cx="8889159"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2814032" cy="452323"/>
          </a:xfrm>
          <a:prstGeom prst="rect">
            <a:avLst/>
          </a:prstGeom>
          <a:noFill/>
        </p:spPr>
        <p:txBody>
          <a:bodyPr wrap="none" lIns="0" rIns="0">
            <a:noAutofit/>
          </a:bodyPr>
          <a:lstStyle/>
          <a:p>
            <a:pPr algn="l"/>
            <a:r>
              <a:rPr sz="3400" b="0" i="0">
                <a:solidFill>
                  <a:srgbClr val="0A2240"/>
                </a:solidFill>
                <a:latin typeface="Arial"/>
              </a:rPr>
              <a:t>Empty</a:t>
            </a:r>
          </a:p>
        </p:txBody>
      </p:sp>
      <p:sp>
        <p:nvSpPr>
          <p:cNvPr id="7" name="TextBox 6"/>
          <p:cNvSpPr txBox="1"/>
          <p:nvPr/>
        </p:nvSpPr>
        <p:spPr>
          <a:xfrm>
            <a:off x="3819872" y="2401823"/>
            <a:ext cx="8372128" cy="452323"/>
          </a:xfrm>
          <a:prstGeom prst="rect">
            <a:avLst/>
          </a:prstGeom>
          <a:noFill/>
        </p:spPr>
        <p:txBody>
          <a:bodyPr wrap="none" lIns="0" rIns="0">
            <a:noAutofit/>
          </a:bodyPr>
          <a:lstStyle/>
          <a:p>
            <a:pPr algn="l"/>
            <a:r>
              <a:rPr sz="3400" b="0" i="0">
                <a:solidFill>
                  <a:srgbClr val="0A2240"/>
                </a:solidFill>
                <a:latin typeface="Arial"/>
              </a:rPr>
              <a:t>Nothing, blank, whitespace</a:t>
            </a:r>
          </a:p>
        </p:txBody>
      </p:sp>
      <p:sp>
        <p:nvSpPr>
          <p:cNvPr id="8" name="TextBox 7"/>
          <p:cNvSpPr txBox="1"/>
          <p:nvPr/>
        </p:nvSpPr>
        <p:spPr>
          <a:xfrm>
            <a:off x="457200" y="3128466"/>
            <a:ext cx="3446344" cy="452323"/>
          </a:xfrm>
          <a:prstGeom prst="rect">
            <a:avLst/>
          </a:prstGeom>
          <a:noFill/>
        </p:spPr>
        <p:txBody>
          <a:bodyPr wrap="none" lIns="0" rIns="0">
            <a:noAutofit/>
          </a:bodyPr>
          <a:lstStyle/>
          <a:p>
            <a:pPr algn="l"/>
            <a:r>
              <a:rPr sz="3400" b="0" i="0">
                <a:solidFill>
                  <a:srgbClr val="0A2240"/>
                </a:solidFill>
                <a:latin typeface="Arial"/>
              </a:rPr>
              <a:t>Malformed</a:t>
            </a:r>
          </a:p>
        </p:txBody>
      </p:sp>
      <p:sp>
        <p:nvSpPr>
          <p:cNvPr id="9" name="TextBox 8"/>
          <p:cNvSpPr txBox="1"/>
          <p:nvPr/>
        </p:nvSpPr>
        <p:spPr>
          <a:xfrm>
            <a:off x="3819872" y="3128466"/>
            <a:ext cx="6967537" cy="452323"/>
          </a:xfrm>
          <a:prstGeom prst="rect">
            <a:avLst/>
          </a:prstGeom>
          <a:noFill/>
        </p:spPr>
        <p:txBody>
          <a:bodyPr wrap="none" lIns="0" rIns="0">
            <a:noAutofit/>
          </a:bodyPr>
          <a:lstStyle/>
          <a:p>
            <a:pPr algn="l"/>
            <a:r>
              <a:rPr sz="3400" b="0" i="0">
                <a:solidFill>
                  <a:srgbClr val="0A2240"/>
                </a:solidFill>
                <a:latin typeface="Arial"/>
              </a:rPr>
              <a:t>Wrong type, truncated</a:t>
            </a:r>
          </a:p>
        </p:txBody>
      </p:sp>
      <p:sp>
        <p:nvSpPr>
          <p:cNvPr id="10" name="TextBox 9"/>
          <p:cNvSpPr txBox="1"/>
          <p:nvPr/>
        </p:nvSpPr>
        <p:spPr>
          <a:xfrm>
            <a:off x="457200" y="3855109"/>
            <a:ext cx="3638628" cy="452323"/>
          </a:xfrm>
          <a:prstGeom prst="rect">
            <a:avLst/>
          </a:prstGeom>
          <a:noFill/>
        </p:spPr>
        <p:txBody>
          <a:bodyPr wrap="none" lIns="0" rIns="0">
            <a:noAutofit/>
          </a:bodyPr>
          <a:lstStyle/>
          <a:p>
            <a:pPr algn="l"/>
            <a:r>
              <a:rPr sz="3400" b="0" i="0">
                <a:solidFill>
                  <a:srgbClr val="0A2240"/>
                </a:solidFill>
                <a:latin typeface="Arial"/>
              </a:rPr>
              <a:t>Adversarial</a:t>
            </a:r>
          </a:p>
        </p:txBody>
      </p:sp>
      <p:sp>
        <p:nvSpPr>
          <p:cNvPr id="11" name="TextBox 10"/>
          <p:cNvSpPr txBox="1"/>
          <p:nvPr/>
        </p:nvSpPr>
        <p:spPr>
          <a:xfrm>
            <a:off x="3819872" y="3855109"/>
            <a:ext cx="6058396" cy="452323"/>
          </a:xfrm>
          <a:prstGeom prst="rect">
            <a:avLst/>
          </a:prstGeom>
          <a:noFill/>
        </p:spPr>
        <p:txBody>
          <a:bodyPr wrap="none" lIns="0" rIns="0">
            <a:noAutofit/>
          </a:bodyPr>
          <a:lstStyle/>
          <a:p>
            <a:pPr algn="l"/>
            <a:r>
              <a:rPr sz="3400" b="0" i="0">
                <a:solidFill>
                  <a:srgbClr val="0A2240"/>
                </a:solidFill>
                <a:latin typeface="Arial"/>
              </a:rPr>
              <a:t>Hidden instructions</a:t>
            </a:r>
          </a:p>
        </p:txBody>
      </p:sp>
      <p:sp>
        <p:nvSpPr>
          <p:cNvPr id="12" name="TextBox 11"/>
          <p:cNvSpPr txBox="1"/>
          <p:nvPr/>
        </p:nvSpPr>
        <p:spPr>
          <a:xfrm>
            <a:off x="457200" y="4581752"/>
            <a:ext cx="4100115" cy="452323"/>
          </a:xfrm>
          <a:prstGeom prst="rect">
            <a:avLst/>
          </a:prstGeom>
          <a:noFill/>
        </p:spPr>
        <p:txBody>
          <a:bodyPr wrap="none" lIns="0" rIns="0">
            <a:noAutofit/>
          </a:bodyPr>
          <a:lstStyle/>
          <a:p>
            <a:pPr algn="l"/>
            <a:r>
              <a:rPr sz="3400" b="0" i="0">
                <a:solidFill>
                  <a:srgbClr val="0A2240"/>
                </a:solidFill>
                <a:latin typeface="Arial"/>
              </a:rPr>
              <a:t>Out of scope</a:t>
            </a:r>
          </a:p>
        </p:txBody>
      </p:sp>
      <p:sp>
        <p:nvSpPr>
          <p:cNvPr id="13" name="TextBox 12"/>
          <p:cNvSpPr txBox="1"/>
          <p:nvPr/>
        </p:nvSpPr>
        <p:spPr>
          <a:xfrm>
            <a:off x="3819872" y="4581752"/>
            <a:ext cx="6750288" cy="452323"/>
          </a:xfrm>
          <a:prstGeom prst="rect">
            <a:avLst/>
          </a:prstGeom>
          <a:noFill/>
        </p:spPr>
        <p:txBody>
          <a:bodyPr wrap="none" lIns="0" rIns="0">
            <a:noAutofit/>
          </a:bodyPr>
          <a:lstStyle/>
          <a:p>
            <a:pPr algn="l"/>
            <a:r>
              <a:rPr sz="3400" b="0" i="0">
                <a:solidFill>
                  <a:srgbClr val="0A2240"/>
                </a:solidFill>
                <a:latin typeface="Arial"/>
              </a:rPr>
              <a:t>Real, but not your job</a:t>
            </a:r>
          </a:p>
        </p:txBody>
      </p:sp>
      <p:sp>
        <p:nvSpPr>
          <p:cNvPr id="14" name="TextBox 13"/>
          <p:cNvSpPr txBox="1"/>
          <p:nvPr/>
        </p:nvSpPr>
        <p:spPr>
          <a:xfrm>
            <a:off x="457200" y="5308395"/>
            <a:ext cx="2814032" cy="452323"/>
          </a:xfrm>
          <a:prstGeom prst="rect">
            <a:avLst/>
          </a:prstGeom>
          <a:noFill/>
        </p:spPr>
        <p:txBody>
          <a:bodyPr wrap="none" lIns="0" rIns="0">
            <a:noAutofit/>
          </a:bodyPr>
          <a:lstStyle/>
          <a:p>
            <a:pPr algn="l"/>
            <a:r>
              <a:rPr sz="3400" b="0" i="0">
                <a:solidFill>
                  <a:srgbClr val="0A2240"/>
                </a:solidFill>
                <a:latin typeface="Arial"/>
              </a:rPr>
              <a:t>At scale</a:t>
            </a:r>
          </a:p>
        </p:txBody>
      </p:sp>
      <p:sp>
        <p:nvSpPr>
          <p:cNvPr id="15" name="TextBox 14"/>
          <p:cNvSpPr txBox="1"/>
          <p:nvPr/>
        </p:nvSpPr>
        <p:spPr>
          <a:xfrm>
            <a:off x="3819872" y="5308395"/>
            <a:ext cx="7557214" cy="452323"/>
          </a:xfrm>
          <a:prstGeom prst="rect">
            <a:avLst/>
          </a:prstGeom>
          <a:noFill/>
        </p:spPr>
        <p:txBody>
          <a:bodyPr wrap="none" lIns="0" rIns="0">
            <a:noAutofit/>
          </a:bodyPr>
          <a:lstStyle/>
          <a:p>
            <a:pPr algn="l"/>
            <a:r>
              <a:rPr sz="3400" b="0" i="0">
                <a:solidFill>
                  <a:srgbClr val="0A2240"/>
                </a:solidFill>
                <a:latin typeface="Arial"/>
              </a:rPr>
              <a:t>Huge, repeated, parallel</a:t>
            </a:r>
          </a:p>
        </p:txBody>
      </p:sp>
      <p:sp>
        <p:nvSpPr>
          <p:cNvPr id="16" name="TextBox 1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Turning the Probe Loose</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Point it at their URL</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The brief from 3.1, one line changed</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730017" cy="640080"/>
          </a:xfrm>
          <a:prstGeom prst="rect">
            <a:avLst/>
          </a:prstGeom>
          <a:noFill/>
        </p:spPr>
        <p:txBody>
          <a:bodyPr wrap="none" lIns="0" rIns="0">
            <a:noAutofit/>
          </a:bodyPr>
          <a:lstStyle/>
          <a:p>
            <a:pPr algn="l"/>
            <a:r>
              <a:rPr sz="4200" b="1" i="0">
                <a:solidFill>
                  <a:srgbClr val="123A6B"/>
                </a:solidFill>
                <a:latin typeface="Arial"/>
              </a:rPr>
              <a:t>Feed it the generated inputs</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Its starting list, not its only one</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Let it run, and watch it</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Stopping rule armed, someone looking</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94268" cy="768096"/>
          </a:xfrm>
          <a:prstGeom prst="rect">
            <a:avLst/>
          </a:prstGeom>
          <a:noFill/>
        </p:spPr>
        <p:txBody>
          <a:bodyPr wrap="none" lIns="0" rIns="0">
            <a:noAutofit/>
          </a:bodyPr>
          <a:lstStyle/>
          <a:p>
            <a:pPr algn="l"/>
            <a:r>
              <a:rPr sz="4200" b="1" i="0">
                <a:solidFill>
                  <a:srgbClr val="0072CE"/>
                </a:solidFill>
                <a:latin typeface="Arial"/>
              </a:rPr>
              <a:t>Before You Point It at Them</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Tell them the probe is starting</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Agree a rate you both accept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Never test during their demo</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Do not leave junk they must clear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Rules at Volume</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Do not flood them</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Space the requests; you share one URL</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Cluster before logging</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Forty crashes of one cause is one finding</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Read a sample yourself</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A pass rate you never looked at is a guess</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Triaging the Flood</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Group by what actually broke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Keep the smallest example of each</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Drop what their caveats admit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Rank what is left by severity</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"Volume is free. Attention is not."</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Objective two, with the catch</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The Log</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1195304" cy="1005840"/>
          </a:xfrm>
          <a:prstGeom prst="rect">
            <a:avLst/>
          </a:prstGeom>
          <a:noFill/>
        </p:spPr>
        <p:txBody>
          <a:bodyPr wrap="none" lIns="0" rIns="0">
            <a:noAutofit/>
          </a:bodyPr>
          <a:lstStyle/>
          <a:p>
            <a:pPr algn="l"/>
            <a:r>
              <a:rPr sz="6000" b="1" i="0">
                <a:solidFill>
                  <a:srgbClr val="0072CE"/>
                </a:solidFill>
                <a:latin typeface="Arial"/>
              </a:rPr>
              <a:t>Reproduction steps</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Enough for a stranger to see it themselves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377612" cy="768096"/>
          </a:xfrm>
          <a:prstGeom prst="rect">
            <a:avLst/>
          </a:prstGeom>
          <a:noFill/>
        </p:spPr>
        <p:txBody>
          <a:bodyPr wrap="none" lIns="0" rIns="0">
            <a:noAutofit/>
          </a:bodyPr>
          <a:lstStyle/>
          <a:p>
            <a:pPr algn="l"/>
            <a:r>
              <a:rPr sz="4200" b="1" i="0">
                <a:solidFill>
                  <a:srgbClr val="0072CE"/>
                </a:solidFill>
                <a:latin typeface="Arial"/>
              </a:rPr>
              <a:t>Every Entry Has Five Fields</a:t>
            </a:r>
          </a:p>
        </p:txBody>
      </p:sp>
      <p:sp>
        <p:nvSpPr>
          <p:cNvPr id="3" name="TextBox 2"/>
          <p:cNvSpPr txBox="1"/>
          <p:nvPr/>
        </p:nvSpPr>
        <p:spPr>
          <a:xfrm>
            <a:off x="457200" y="1499616"/>
            <a:ext cx="4326808" cy="518159"/>
          </a:xfrm>
          <a:prstGeom prst="rect">
            <a:avLst/>
          </a:prstGeom>
          <a:noFill/>
        </p:spPr>
        <p:txBody>
          <a:bodyPr wrap="none" lIns="0" rIns="0">
            <a:noAutofit/>
          </a:bodyPr>
          <a:lstStyle/>
          <a:p>
            <a:pPr algn="l"/>
            <a:r>
              <a:rPr sz="3400" b="1" i="0">
                <a:solidFill>
                  <a:srgbClr val="123A6B"/>
                </a:solidFill>
                <a:latin typeface="Arial"/>
              </a:rPr>
              <a:t>Field</a:t>
            </a:r>
          </a:p>
        </p:txBody>
      </p:sp>
      <p:sp>
        <p:nvSpPr>
          <p:cNvPr id="4" name="TextBox 3"/>
          <p:cNvSpPr txBox="1"/>
          <p:nvPr/>
        </p:nvSpPr>
        <p:spPr>
          <a:xfrm>
            <a:off x="5332648" y="1499616"/>
            <a:ext cx="4397439" cy="518159"/>
          </a:xfrm>
          <a:prstGeom prst="rect">
            <a:avLst/>
          </a:prstGeom>
          <a:noFill/>
        </p:spPr>
        <p:txBody>
          <a:bodyPr wrap="none" lIns="0" rIns="0">
            <a:noAutofit/>
          </a:bodyPr>
          <a:lstStyle/>
          <a:p>
            <a:pPr algn="l"/>
            <a:r>
              <a:rPr sz="3400" b="1" i="0">
                <a:solidFill>
                  <a:srgbClr val="123A6B"/>
                </a:solidFill>
                <a:latin typeface="Arial"/>
              </a:rPr>
              <a:t>Example</a:t>
            </a:r>
          </a:p>
        </p:txBody>
      </p:sp>
      <p:sp>
        <p:nvSpPr>
          <p:cNvPr id="5" name="Rectangle 4"/>
          <p:cNvSpPr/>
          <p:nvPr/>
        </p:nvSpPr>
        <p:spPr>
          <a:xfrm>
            <a:off x="457200" y="2072639"/>
            <a:ext cx="9272887"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599046" cy="452323"/>
          </a:xfrm>
          <a:prstGeom prst="rect">
            <a:avLst/>
          </a:prstGeom>
          <a:noFill/>
        </p:spPr>
        <p:txBody>
          <a:bodyPr wrap="none" lIns="0" rIns="0">
            <a:noAutofit/>
          </a:bodyPr>
          <a:lstStyle/>
          <a:p>
            <a:pPr algn="l"/>
            <a:r>
              <a:rPr sz="3400" b="0" i="0">
                <a:solidFill>
                  <a:srgbClr val="0A2240"/>
                </a:solidFill>
                <a:latin typeface="Arial"/>
              </a:rPr>
              <a:t>What you sent</a:t>
            </a:r>
          </a:p>
        </p:txBody>
      </p:sp>
      <p:sp>
        <p:nvSpPr>
          <p:cNvPr id="7" name="TextBox 6"/>
          <p:cNvSpPr txBox="1"/>
          <p:nvPr/>
        </p:nvSpPr>
        <p:spPr>
          <a:xfrm>
            <a:off x="5332648" y="2401823"/>
            <a:ext cx="4397439" cy="452323"/>
          </a:xfrm>
          <a:prstGeom prst="rect">
            <a:avLst/>
          </a:prstGeom>
          <a:noFill/>
        </p:spPr>
        <p:txBody>
          <a:bodyPr wrap="none" lIns="0" rIns="0">
            <a:noAutofit/>
          </a:bodyPr>
          <a:lstStyle/>
          <a:p>
            <a:pPr algn="l"/>
            <a:r>
              <a:rPr sz="3400" b="0" i="0">
                <a:solidFill>
                  <a:srgbClr val="0A2240"/>
                </a:solidFill>
                <a:latin typeface="Arial"/>
              </a:rPr>
              <a:t>empty.pdf</a:t>
            </a:r>
          </a:p>
        </p:txBody>
      </p:sp>
      <p:sp>
        <p:nvSpPr>
          <p:cNvPr id="8" name="TextBox 7"/>
          <p:cNvSpPr txBox="1"/>
          <p:nvPr/>
        </p:nvSpPr>
        <p:spPr>
          <a:xfrm>
            <a:off x="457200" y="3128466"/>
            <a:ext cx="5328046" cy="452323"/>
          </a:xfrm>
          <a:prstGeom prst="rect">
            <a:avLst/>
          </a:prstGeom>
          <a:noFill/>
        </p:spPr>
        <p:txBody>
          <a:bodyPr wrap="none" lIns="0" rIns="0">
            <a:noAutofit/>
          </a:bodyPr>
          <a:lstStyle/>
          <a:p>
            <a:pPr algn="l"/>
            <a:r>
              <a:rPr sz="3400" b="0" i="0">
                <a:solidFill>
                  <a:srgbClr val="0A2240"/>
                </a:solidFill>
                <a:latin typeface="Arial"/>
              </a:rPr>
              <a:t>What came back</a:t>
            </a:r>
          </a:p>
        </p:txBody>
      </p:sp>
      <p:sp>
        <p:nvSpPr>
          <p:cNvPr id="9" name="TextBox 8"/>
          <p:cNvSpPr txBox="1"/>
          <p:nvPr/>
        </p:nvSpPr>
        <p:spPr>
          <a:xfrm>
            <a:off x="5332648" y="3128466"/>
            <a:ext cx="5023088" cy="452323"/>
          </a:xfrm>
          <a:prstGeom prst="rect">
            <a:avLst/>
          </a:prstGeom>
          <a:noFill/>
        </p:spPr>
        <p:txBody>
          <a:bodyPr wrap="none" lIns="0" rIns="0">
            <a:noAutofit/>
          </a:bodyPr>
          <a:lstStyle/>
          <a:p>
            <a:pPr algn="l"/>
            <a:r>
              <a:rPr sz="3400" b="0" i="0">
                <a:solidFill>
                  <a:srgbClr val="0A2240"/>
                </a:solidFill>
                <a:latin typeface="Arial"/>
              </a:rPr>
              <a:t>Spinner, no end</a:t>
            </a:r>
          </a:p>
        </p:txBody>
      </p:sp>
      <p:sp>
        <p:nvSpPr>
          <p:cNvPr id="10" name="TextBox 9"/>
          <p:cNvSpPr txBox="1"/>
          <p:nvPr/>
        </p:nvSpPr>
        <p:spPr>
          <a:xfrm>
            <a:off x="457200" y="3855109"/>
            <a:ext cx="6520556" cy="452323"/>
          </a:xfrm>
          <a:prstGeom prst="rect">
            <a:avLst/>
          </a:prstGeom>
          <a:noFill/>
        </p:spPr>
        <p:txBody>
          <a:bodyPr wrap="none" lIns="0" rIns="0">
            <a:noAutofit/>
          </a:bodyPr>
          <a:lstStyle/>
          <a:p>
            <a:pPr algn="l"/>
            <a:r>
              <a:rPr sz="3400" b="0" i="0">
                <a:solidFill>
                  <a:srgbClr val="0A2240"/>
                </a:solidFill>
                <a:latin typeface="Arial"/>
              </a:rPr>
              <a:t>What should happen</a:t>
            </a:r>
          </a:p>
        </p:txBody>
      </p:sp>
      <p:sp>
        <p:nvSpPr>
          <p:cNvPr id="11" name="TextBox 10"/>
          <p:cNvSpPr txBox="1"/>
          <p:nvPr/>
        </p:nvSpPr>
        <p:spPr>
          <a:xfrm>
            <a:off x="5332648" y="3855109"/>
            <a:ext cx="4674948" cy="452323"/>
          </a:xfrm>
          <a:prstGeom prst="rect">
            <a:avLst/>
          </a:prstGeom>
          <a:noFill/>
        </p:spPr>
        <p:txBody>
          <a:bodyPr wrap="none" lIns="0" rIns="0">
            <a:noAutofit/>
          </a:bodyPr>
          <a:lstStyle/>
          <a:p>
            <a:pPr algn="l"/>
            <a:r>
              <a:rPr sz="3400" b="0" i="0">
                <a:solidFill>
                  <a:srgbClr val="0A2240"/>
                </a:solidFill>
                <a:latin typeface="Arial"/>
              </a:rPr>
              <a:t>Say it is empty</a:t>
            </a:r>
          </a:p>
        </p:txBody>
      </p:sp>
      <p:sp>
        <p:nvSpPr>
          <p:cNvPr id="12" name="TextBox 11"/>
          <p:cNvSpPr txBox="1"/>
          <p:nvPr/>
        </p:nvSpPr>
        <p:spPr>
          <a:xfrm>
            <a:off x="457200" y="4581752"/>
            <a:ext cx="4326808" cy="452323"/>
          </a:xfrm>
          <a:prstGeom prst="rect">
            <a:avLst/>
          </a:prstGeom>
          <a:noFill/>
        </p:spPr>
        <p:txBody>
          <a:bodyPr wrap="none" lIns="0" rIns="0">
            <a:noAutofit/>
          </a:bodyPr>
          <a:lstStyle/>
          <a:p>
            <a:pPr algn="l"/>
            <a:r>
              <a:rPr sz="3400" b="0" i="0">
                <a:solidFill>
                  <a:srgbClr val="0A2240"/>
                </a:solidFill>
                <a:latin typeface="Arial"/>
              </a:rPr>
              <a:t>Severity</a:t>
            </a:r>
          </a:p>
        </p:txBody>
      </p:sp>
      <p:sp>
        <p:nvSpPr>
          <p:cNvPr id="13" name="TextBox 12"/>
          <p:cNvSpPr txBox="1"/>
          <p:nvPr/>
        </p:nvSpPr>
        <p:spPr>
          <a:xfrm>
            <a:off x="5332648" y="4581752"/>
            <a:ext cx="4397439" cy="452323"/>
          </a:xfrm>
          <a:prstGeom prst="rect">
            <a:avLst/>
          </a:prstGeom>
          <a:noFill/>
        </p:spPr>
        <p:txBody>
          <a:bodyPr wrap="none" lIns="0" rIns="0">
            <a:noAutofit/>
          </a:bodyPr>
          <a:lstStyle/>
          <a:p>
            <a:pPr algn="l"/>
            <a:r>
              <a:rPr sz="3400" b="0" i="0">
                <a:solidFill>
                  <a:srgbClr val="0A2240"/>
                </a:solidFill>
                <a:latin typeface="Arial"/>
              </a:rPr>
              <a:t>High</a:t>
            </a:r>
          </a:p>
        </p:txBody>
      </p:sp>
      <p:sp>
        <p:nvSpPr>
          <p:cNvPr id="14" name="TextBox 13"/>
          <p:cNvSpPr txBox="1"/>
          <p:nvPr/>
        </p:nvSpPr>
        <p:spPr>
          <a:xfrm>
            <a:off x="457200" y="5308395"/>
            <a:ext cx="4326808" cy="452323"/>
          </a:xfrm>
          <a:prstGeom prst="rect">
            <a:avLst/>
          </a:prstGeom>
          <a:noFill/>
        </p:spPr>
        <p:txBody>
          <a:bodyPr wrap="none" lIns="0" rIns="0">
            <a:noAutofit/>
          </a:bodyPr>
          <a:lstStyle/>
          <a:p>
            <a:pPr algn="l"/>
            <a:r>
              <a:rPr sz="3400" b="0" i="0">
                <a:solidFill>
                  <a:srgbClr val="0A2240"/>
                </a:solidFill>
                <a:latin typeface="Arial"/>
              </a:rPr>
              <a:t>Repro</a:t>
            </a:r>
          </a:p>
        </p:txBody>
      </p:sp>
      <p:sp>
        <p:nvSpPr>
          <p:cNvPr id="15" name="TextBox 14"/>
          <p:cNvSpPr txBox="1"/>
          <p:nvPr/>
        </p:nvSpPr>
        <p:spPr>
          <a:xfrm>
            <a:off x="5332648" y="5308395"/>
            <a:ext cx="6633566" cy="452323"/>
          </a:xfrm>
          <a:prstGeom prst="rect">
            <a:avLst/>
          </a:prstGeom>
          <a:noFill/>
        </p:spPr>
        <p:txBody>
          <a:bodyPr wrap="none" lIns="0" rIns="0">
            <a:noAutofit/>
          </a:bodyPr>
          <a:lstStyle/>
          <a:p>
            <a:pPr algn="l"/>
            <a:r>
              <a:rPr sz="3400" b="0" i="0">
                <a:solidFill>
                  <a:srgbClr val="0A2240"/>
                </a:solidFill>
                <a:latin typeface="Arial"/>
              </a:rPr>
              <a:t>Open URL, click Run</a:t>
            </a:r>
          </a:p>
        </p:txBody>
      </p:sp>
      <p:sp>
        <p:nvSpPr>
          <p:cNvPr id="16" name="TextBox 1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734800" cy="640080"/>
          </a:xfrm>
          <a:prstGeom prst="rect">
            <a:avLst/>
          </a:prstGeom>
          <a:noFill/>
        </p:spPr>
        <p:txBody>
          <a:bodyPr wrap="none" lIns="0" rIns="0">
            <a:noAutofit/>
          </a:bodyPr>
          <a:lstStyle/>
          <a:p>
            <a:pPr algn="l"/>
            <a:r>
              <a:rPr sz="4200" b="0" i="0">
                <a:solidFill>
                  <a:srgbClr val="D4D4D4"/>
                </a:solidFill>
                <a:latin typeface="Arial"/>
              </a:rPr>
              <a:t>FINDINGS.md, handed over as a file</a:t>
            </a:r>
          </a:p>
        </p:txBody>
      </p:sp>
      <p:sp>
        <p:nvSpPr>
          <p:cNvPr id="6" name="TextBox 5"/>
          <p:cNvSpPr txBox="1"/>
          <p:nvPr/>
        </p:nvSpPr>
        <p:spPr>
          <a:xfrm>
            <a:off x="457200" y="1837944"/>
            <a:ext cx="7669550" cy="518159"/>
          </a:xfrm>
          <a:prstGeom prst="rect">
            <a:avLst/>
          </a:prstGeom>
          <a:noFill/>
        </p:spPr>
        <p:txBody>
          <a:bodyPr wrap="none" lIns="0" rIns="0">
            <a:noAutofit/>
          </a:bodyPr>
          <a:lstStyle/>
          <a:p>
            <a:pPr algn="l"/>
            <a:r>
              <a:rPr sz="3400" b="0" i="0">
                <a:solidFill>
                  <a:srgbClr val="6A9955"/>
                </a:solidFill>
                <a:latin typeface="Arial"/>
              </a:rPr>
              <a:t>## F-03  severity: critical</a:t>
            </a:r>
          </a:p>
        </p:txBody>
      </p:sp>
      <p:sp>
        <p:nvSpPr>
          <p:cNvPr id="7" name="TextBox 6"/>
          <p:cNvSpPr txBox="1"/>
          <p:nvPr/>
        </p:nvSpPr>
        <p:spPr>
          <a:xfrm>
            <a:off x="457200" y="2356103"/>
            <a:ext cx="4291388" cy="518159"/>
          </a:xfrm>
          <a:prstGeom prst="rect">
            <a:avLst/>
          </a:prstGeom>
          <a:noFill/>
        </p:spPr>
        <p:txBody>
          <a:bodyPr wrap="none" lIns="0" rIns="0">
            <a:noAutofit/>
          </a:bodyPr>
          <a:lstStyle/>
          <a:p>
            <a:pPr algn="l"/>
            <a:r>
              <a:rPr sz="3400" b="0" i="0">
                <a:solidFill>
                  <a:srgbClr val="D4D4D4"/>
                </a:solidFill>
                <a:latin typeface="Arial"/>
              </a:rPr>
              <a:t>sent:   report-</a:t>
            </a:r>
          </a:p>
        </p:txBody>
      </p:sp>
      <p:sp>
        <p:nvSpPr>
          <p:cNvPr id="8" name="TextBox 7"/>
          <p:cNvSpPr txBox="1"/>
          <p:nvPr/>
        </p:nvSpPr>
        <p:spPr>
          <a:xfrm>
            <a:off x="3025018" y="2356103"/>
            <a:ext cx="1719817" cy="518159"/>
          </a:xfrm>
          <a:prstGeom prst="rect">
            <a:avLst/>
          </a:prstGeom>
          <a:noFill/>
        </p:spPr>
        <p:txBody>
          <a:bodyPr wrap="none" lIns="0" rIns="0">
            <a:noAutofit/>
          </a:bodyPr>
          <a:lstStyle/>
          <a:p>
            <a:pPr algn="l"/>
            <a:r>
              <a:rPr sz="3400" b="0" i="0">
                <a:solidFill>
                  <a:srgbClr val="B5CEA8"/>
                </a:solidFill>
                <a:latin typeface="Arial"/>
              </a:rPr>
              <a:t>2019</a:t>
            </a:r>
          </a:p>
        </p:txBody>
      </p:sp>
      <p:sp>
        <p:nvSpPr>
          <p:cNvPr id="9" name="TextBox 8"/>
          <p:cNvSpPr txBox="1"/>
          <p:nvPr/>
        </p:nvSpPr>
        <p:spPr>
          <a:xfrm>
            <a:off x="3985605" y="2356103"/>
            <a:ext cx="4714081" cy="518159"/>
          </a:xfrm>
          <a:prstGeom prst="rect">
            <a:avLst/>
          </a:prstGeom>
          <a:noFill/>
        </p:spPr>
        <p:txBody>
          <a:bodyPr wrap="none" lIns="0" rIns="0">
            <a:noAutofit/>
          </a:bodyPr>
          <a:lstStyle/>
          <a:p>
            <a:pPr algn="l"/>
            <a:r>
              <a:rPr sz="3400" b="0" i="0">
                <a:solidFill>
                  <a:srgbClr val="D4D4D4"/>
                </a:solidFill>
                <a:latin typeface="Arial"/>
              </a:rPr>
              <a:t>.pdf (valid, old)</a:t>
            </a:r>
          </a:p>
        </p:txBody>
      </p:sp>
      <p:sp>
        <p:nvSpPr>
          <p:cNvPr id="10" name="TextBox 9"/>
          <p:cNvSpPr txBox="1"/>
          <p:nvPr/>
        </p:nvSpPr>
        <p:spPr>
          <a:xfrm>
            <a:off x="457200" y="2874262"/>
            <a:ext cx="9475688" cy="518159"/>
          </a:xfrm>
          <a:prstGeom prst="rect">
            <a:avLst/>
          </a:prstGeom>
          <a:noFill/>
        </p:spPr>
        <p:txBody>
          <a:bodyPr wrap="none" lIns="0" rIns="0">
            <a:noAutofit/>
          </a:bodyPr>
          <a:lstStyle/>
          <a:p>
            <a:pPr algn="l"/>
            <a:r>
              <a:rPr sz="3400" b="0" i="0">
                <a:solidFill>
                  <a:srgbClr val="D4D4D4"/>
                </a:solidFill>
                <a:latin typeface="Arial"/>
              </a:rPr>
              <a:t>got:    a confident summary of </a:t>
            </a:r>
          </a:p>
        </p:txBody>
      </p:sp>
      <p:sp>
        <p:nvSpPr>
          <p:cNvPr id="11" name="TextBox 10"/>
          <p:cNvSpPr txBox="1"/>
          <p:nvPr/>
        </p:nvSpPr>
        <p:spPr>
          <a:xfrm>
            <a:off x="6265205" y="2874262"/>
            <a:ext cx="1719817" cy="518159"/>
          </a:xfrm>
          <a:prstGeom prst="rect">
            <a:avLst/>
          </a:prstGeom>
          <a:noFill/>
        </p:spPr>
        <p:txBody>
          <a:bodyPr wrap="none" lIns="0" rIns="0">
            <a:noAutofit/>
          </a:bodyPr>
          <a:lstStyle/>
          <a:p>
            <a:pPr algn="l"/>
            <a:r>
              <a:rPr sz="3400" b="0" i="0">
                <a:solidFill>
                  <a:srgbClr val="B5CEA8"/>
                </a:solidFill>
                <a:latin typeface="Arial"/>
              </a:rPr>
              <a:t>2024</a:t>
            </a:r>
          </a:p>
        </p:txBody>
      </p:sp>
      <p:sp>
        <p:nvSpPr>
          <p:cNvPr id="12" name="TextBox 11"/>
          <p:cNvSpPr txBox="1"/>
          <p:nvPr/>
        </p:nvSpPr>
        <p:spPr>
          <a:xfrm>
            <a:off x="457200" y="3392421"/>
            <a:ext cx="4906366" cy="518159"/>
          </a:xfrm>
          <a:prstGeom prst="rect">
            <a:avLst/>
          </a:prstGeom>
          <a:noFill/>
        </p:spPr>
        <p:txBody>
          <a:bodyPr wrap="none" lIns="0" rIns="0">
            <a:noAutofit/>
          </a:bodyPr>
          <a:lstStyle/>
          <a:p>
            <a:pPr algn="l"/>
            <a:r>
              <a:rPr sz="3400" b="0" i="0">
                <a:solidFill>
                  <a:srgbClr val="D4D4D4"/>
                </a:solidFill>
                <a:latin typeface="Arial"/>
              </a:rPr>
              <a:t>expect: refuse, </a:t>
            </a:r>
          </a:p>
        </p:txBody>
      </p:sp>
      <p:sp>
        <p:nvSpPr>
          <p:cNvPr id="13" name="TextBox 12"/>
          <p:cNvSpPr txBox="1"/>
          <p:nvPr/>
        </p:nvSpPr>
        <p:spPr>
          <a:xfrm>
            <a:off x="3409379" y="3392421"/>
            <a:ext cx="797182" cy="518159"/>
          </a:xfrm>
          <a:prstGeom prst="rect">
            <a:avLst/>
          </a:prstGeom>
          <a:noFill/>
        </p:spPr>
        <p:txBody>
          <a:bodyPr wrap="none" lIns="0" rIns="0">
            <a:noAutofit/>
          </a:bodyPr>
          <a:lstStyle/>
          <a:p>
            <a:pPr algn="l"/>
            <a:r>
              <a:rPr sz="3400" b="0" i="0">
                <a:solidFill>
                  <a:srgbClr val="569CD6"/>
                </a:solidFill>
                <a:latin typeface="Arial"/>
              </a:rPr>
              <a:t>or</a:t>
            </a:r>
          </a:p>
        </p:txBody>
      </p:sp>
      <p:sp>
        <p:nvSpPr>
          <p:cNvPr id="14" name="TextBox 13"/>
          <p:cNvSpPr txBox="1"/>
          <p:nvPr/>
        </p:nvSpPr>
        <p:spPr>
          <a:xfrm>
            <a:off x="3793319" y="3392421"/>
            <a:ext cx="4944150" cy="518159"/>
          </a:xfrm>
          <a:prstGeom prst="rect">
            <a:avLst/>
          </a:prstGeom>
          <a:noFill/>
        </p:spPr>
        <p:txBody>
          <a:bodyPr wrap="none" lIns="0" rIns="0">
            <a:noAutofit/>
          </a:bodyPr>
          <a:lstStyle/>
          <a:p>
            <a:pPr algn="l"/>
            <a:r>
              <a:rPr sz="3400" b="0" i="0">
                <a:solidFill>
                  <a:srgbClr val="D4D4D4"/>
                </a:solidFill>
                <a:latin typeface="Arial"/>
              </a:rPr>
              <a:t> say which year</a:t>
            </a:r>
          </a:p>
        </p:txBody>
      </p:sp>
      <p:sp>
        <p:nvSpPr>
          <p:cNvPr id="15" name="TextBox 14"/>
          <p:cNvSpPr txBox="1"/>
          <p:nvPr/>
        </p:nvSpPr>
        <p:spPr>
          <a:xfrm>
            <a:off x="457200" y="3910580"/>
            <a:ext cx="8170168" cy="518159"/>
          </a:xfrm>
          <a:prstGeom prst="rect">
            <a:avLst/>
          </a:prstGeom>
          <a:noFill/>
        </p:spPr>
        <p:txBody>
          <a:bodyPr wrap="none" lIns="0" rIns="0">
            <a:noAutofit/>
          </a:bodyPr>
          <a:lstStyle/>
          <a:p>
            <a:pPr algn="l"/>
            <a:r>
              <a:rPr sz="3400" b="0" i="0">
                <a:solidFill>
                  <a:srgbClr val="D4D4D4"/>
                </a:solidFill>
                <a:latin typeface="Arial"/>
              </a:rPr>
              <a:t>repro:  upload it, click Run</a:t>
            </a:r>
          </a:p>
        </p:txBody>
      </p:sp>
      <p:sp>
        <p:nvSpPr>
          <p:cNvPr id="16" name="TextBox 1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Severity, in Four Levels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Critical: wrong output, looks right</a:t>
            </a:r>
          </a:p>
        </p:txBody>
      </p:sp>
      <p:sp>
        <p:nvSpPr>
          <p:cNvPr id="4" name="TextBox 3"/>
          <p:cNvSpPr txBox="1"/>
          <p:nvPr/>
        </p:nvSpPr>
        <p:spPr>
          <a:xfrm>
            <a:off x="457200" y="2883409"/>
            <a:ext cx="11281827" cy="518159"/>
          </a:xfrm>
          <a:prstGeom prst="rect">
            <a:avLst/>
          </a:prstGeom>
          <a:noFill/>
        </p:spPr>
        <p:txBody>
          <a:bodyPr wrap="none" lIns="0" rIns="0">
            <a:noAutofit/>
          </a:bodyPr>
          <a:lstStyle/>
          <a:p>
            <a:pPr algn="l"/>
            <a:r>
              <a:rPr sz="3400" b="0" i="0">
                <a:solidFill>
                  <a:srgbClr val="0A2240"/>
                </a:solidFill>
                <a:latin typeface="Arial"/>
              </a:rPr>
              <a:t>High: crashes or hangs on real input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Medium: fails, but says so</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Low: ugly, confusing, slow</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Assigning It Honestly</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Severity is about the user</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Not how clever the input was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Not how hard it looks to fix</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Documented limits drop a level</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Makes a Log Useless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Findings with no input attached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Forty entries, one real cause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Severity on everything the same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Opinions mixed in with failures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Handing It Back</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Give them the file</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Written, not spoken, not a conversation</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Say one sentence</a:t>
            </a:r>
          </a:p>
        </p:txBody>
      </p:sp>
      <p:sp>
        <p:nvSpPr>
          <p:cNvPr id="8" name="TextBox 7"/>
          <p:cNvSpPr txBox="1"/>
          <p:nvPr/>
        </p:nvSpPr>
        <p:spPr>
          <a:xfrm>
            <a:off x="1461983" y="3697224"/>
            <a:ext cx="10551140" cy="551688"/>
          </a:xfrm>
          <a:prstGeom prst="rect">
            <a:avLst/>
          </a:prstGeom>
          <a:noFill/>
        </p:spPr>
        <p:txBody>
          <a:bodyPr wrap="none" lIns="0" rIns="0">
            <a:noAutofit/>
          </a:bodyPr>
          <a:lstStyle/>
          <a:p>
            <a:pPr algn="l"/>
            <a:r>
              <a:rPr sz="3400" b="0" i="0">
                <a:solidFill>
                  <a:srgbClr val="0A2240"/>
                </a:solidFill>
                <a:latin typeface="Arial"/>
              </a:rPr>
              <a:t>The single thing you would fix first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Then stop talking</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Let them read it without you narrating</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Receiving it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Reading the whole log before saying anything</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Ways to Take It</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Defending</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Receiving</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7509312" cy="609600"/>
          </a:xfrm>
          <a:prstGeom prst="rect">
            <a:avLst/>
          </a:prstGeom>
          <a:noFill/>
        </p:spPr>
        <p:txBody>
          <a:bodyPr wrap="none" lIns="0" rIns="0">
            <a:noAutofit/>
          </a:bodyPr>
          <a:lstStyle/>
          <a:p>
            <a:pPr algn="l"/>
            <a:r>
              <a:rPr sz="3400" b="0" i="0">
                <a:solidFill>
                  <a:srgbClr val="0A2240"/>
                </a:solidFill>
                <a:latin typeface="Arial"/>
              </a:rPr>
              <a:t>"That is not a real input"</a:t>
            </a:r>
          </a:p>
        </p:txBody>
      </p:sp>
      <p:sp>
        <p:nvSpPr>
          <p:cNvPr id="8" name="TextBox 7"/>
          <p:cNvSpPr txBox="1"/>
          <p:nvPr/>
        </p:nvSpPr>
        <p:spPr>
          <a:xfrm>
            <a:off x="457200" y="3608831"/>
            <a:ext cx="6140371" cy="609600"/>
          </a:xfrm>
          <a:prstGeom prst="rect">
            <a:avLst/>
          </a:prstGeom>
          <a:noFill/>
        </p:spPr>
        <p:txBody>
          <a:bodyPr wrap="none" lIns="0" rIns="0">
            <a:noAutofit/>
          </a:bodyPr>
          <a:lstStyle/>
          <a:p>
            <a:pPr algn="l"/>
            <a:r>
              <a:rPr sz="3400" b="0" i="0">
                <a:solidFill>
                  <a:srgbClr val="0A2240"/>
                </a:solidFill>
                <a:latin typeface="Arial"/>
              </a:rPr>
              <a:t>"You used it wrong"</a:t>
            </a:r>
          </a:p>
        </p:txBody>
      </p:sp>
      <p:sp>
        <p:nvSpPr>
          <p:cNvPr id="9" name="TextBox 8"/>
          <p:cNvSpPr txBox="1"/>
          <p:nvPr/>
        </p:nvSpPr>
        <p:spPr>
          <a:xfrm>
            <a:off x="457200" y="4821935"/>
            <a:ext cx="8186697" cy="609600"/>
          </a:xfrm>
          <a:prstGeom prst="rect">
            <a:avLst/>
          </a:prstGeom>
          <a:noFill/>
        </p:spPr>
        <p:txBody>
          <a:bodyPr wrap="none" lIns="0" rIns="0">
            <a:noAutofit/>
          </a:bodyPr>
          <a:lstStyle/>
          <a:p>
            <a:pPr algn="l"/>
            <a:r>
              <a:rPr sz="3400" b="0" i="0">
                <a:solidFill>
                  <a:srgbClr val="0A2240"/>
                </a:solidFill>
                <a:latin typeface="Arial"/>
              </a:rPr>
              <a:t>"We know, it is in caveats"</a:t>
            </a:r>
          </a:p>
        </p:txBody>
      </p:sp>
      <p:sp>
        <p:nvSpPr>
          <p:cNvPr id="10" name="TextBox 9"/>
          <p:cNvSpPr txBox="1"/>
          <p:nvPr/>
        </p:nvSpPr>
        <p:spPr>
          <a:xfrm>
            <a:off x="6233160" y="2395727"/>
            <a:ext cx="5501640" cy="609600"/>
          </a:xfrm>
          <a:prstGeom prst="rect">
            <a:avLst/>
          </a:prstGeom>
          <a:noFill/>
        </p:spPr>
        <p:txBody>
          <a:bodyPr wrap="none" lIns="0" rIns="0">
            <a:noAutofit/>
          </a:bodyPr>
          <a:lstStyle/>
          <a:p>
            <a:pPr algn="l"/>
            <a:r>
              <a:rPr sz="3400" b="0" i="0">
                <a:solidFill>
                  <a:srgbClr val="0A2240"/>
                </a:solidFill>
                <a:latin typeface="Arial"/>
              </a:rPr>
              <a:t>Read all of it first</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Ask only how to reproduce</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Write it down and move on</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Only Question to Ask</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"How do I reproduce that?"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Not why they tried it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Not whether it counts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 what they misunderstood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Why This Is Worth the Discomfort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They had no reason to be kind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They are not going to fix it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next tester is a judge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This is the last free round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If You Are Behind</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429993" cy="640080"/>
          </a:xfrm>
          <a:prstGeom prst="rect">
            <a:avLst/>
          </a:prstGeom>
          <a:noFill/>
        </p:spPr>
        <p:txBody>
          <a:bodyPr wrap="none" lIns="0" rIns="0">
            <a:noAutofit/>
          </a:bodyPr>
          <a:lstStyle/>
          <a:p>
            <a:pPr algn="l"/>
            <a:r>
              <a:rPr sz="4200" b="1" i="0">
                <a:solidFill>
                  <a:srgbClr val="123A6B"/>
                </a:solidFill>
                <a:latin typeface="Arial"/>
              </a:rPr>
              <a:t>Trade at 10:45 regardless</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A short log on time beats a full one late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Drop the volume run</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Hand findings are the ones worth having</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Never skip severity</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An unranked log cannot be triaged</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Leaving This Session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broke someone else's build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You ran hands, then volume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 handed over a written log</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You read yours without arguing</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50</a:t>
            </a:fld>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This Down Now</a:t>
            </a:r>
          </a:p>
        </p:txBody>
      </p:sp>
      <p:sp>
        <p:nvSpPr>
          <p:cNvPr id="3" name="TextBox 2"/>
          <p:cNvSpPr txBox="1"/>
          <p:nvPr/>
        </p:nvSpPr>
        <p:spPr>
          <a:xfrm>
            <a:off x="457200" y="1499616"/>
            <a:ext cx="4678278" cy="518159"/>
          </a:xfrm>
          <a:prstGeom prst="rect">
            <a:avLst/>
          </a:prstGeom>
          <a:noFill/>
        </p:spPr>
        <p:txBody>
          <a:bodyPr wrap="none" lIns="0" rIns="0">
            <a:noAutofit/>
          </a:bodyPr>
          <a:lstStyle/>
          <a:p>
            <a:pPr algn="l"/>
            <a:r>
              <a:rPr sz="3400" b="1" i="0">
                <a:solidFill>
                  <a:srgbClr val="123A6B"/>
                </a:solidFill>
                <a:latin typeface="Arial"/>
              </a:rPr>
              <a:t>Question</a:t>
            </a:r>
          </a:p>
        </p:txBody>
      </p:sp>
      <p:sp>
        <p:nvSpPr>
          <p:cNvPr id="4" name="TextBox 3"/>
          <p:cNvSpPr txBox="1"/>
          <p:nvPr/>
        </p:nvSpPr>
        <p:spPr>
          <a:xfrm>
            <a:off x="5684118" y="1499616"/>
            <a:ext cx="4278233" cy="518159"/>
          </a:xfrm>
          <a:prstGeom prst="rect">
            <a:avLst/>
          </a:prstGeom>
          <a:noFill/>
        </p:spPr>
        <p:txBody>
          <a:bodyPr wrap="none" lIns="0" rIns="0">
            <a:noAutofit/>
          </a:bodyPr>
          <a:lstStyle/>
          <a:p>
            <a:pPr algn="l"/>
            <a:r>
              <a:rPr sz="3400" b="1" i="0">
                <a:solidFill>
                  <a:srgbClr val="123A6B"/>
                </a:solidFill>
                <a:latin typeface="Arial"/>
              </a:rPr>
              <a:t>Your answer</a:t>
            </a:r>
          </a:p>
        </p:txBody>
      </p:sp>
      <p:sp>
        <p:nvSpPr>
          <p:cNvPr id="5" name="Rectangle 4"/>
          <p:cNvSpPr/>
          <p:nvPr/>
        </p:nvSpPr>
        <p:spPr>
          <a:xfrm>
            <a:off x="457200" y="2072639"/>
            <a:ext cx="8152274"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7082908" cy="633984"/>
          </a:xfrm>
          <a:prstGeom prst="rect">
            <a:avLst/>
          </a:prstGeom>
          <a:noFill/>
        </p:spPr>
        <p:txBody>
          <a:bodyPr wrap="none" lIns="0" rIns="0">
            <a:noAutofit/>
          </a:bodyPr>
          <a:lstStyle/>
          <a:p>
            <a:pPr algn="l"/>
            <a:r>
              <a:rPr sz="3400" b="0" i="0">
                <a:solidFill>
                  <a:srgbClr val="0A2240"/>
                </a:solidFill>
                <a:latin typeface="Arial"/>
              </a:rPr>
              <a:t>Worst thing they found</a:t>
            </a:r>
          </a:p>
        </p:txBody>
      </p:sp>
      <p:sp>
        <p:nvSpPr>
          <p:cNvPr id="7" name="TextBox 6"/>
          <p:cNvSpPr txBox="1"/>
          <p:nvPr/>
        </p:nvSpPr>
        <p:spPr>
          <a:xfrm>
            <a:off x="5684118" y="2401823"/>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8" name="TextBox 7"/>
          <p:cNvSpPr txBox="1"/>
          <p:nvPr/>
        </p:nvSpPr>
        <p:spPr>
          <a:xfrm>
            <a:off x="457200" y="3310127"/>
            <a:ext cx="5328384" cy="633984"/>
          </a:xfrm>
          <a:prstGeom prst="rect">
            <a:avLst/>
          </a:prstGeom>
          <a:noFill/>
        </p:spPr>
        <p:txBody>
          <a:bodyPr wrap="none" lIns="0" rIns="0">
            <a:noAutofit/>
          </a:bodyPr>
          <a:lstStyle/>
          <a:p>
            <a:pPr algn="l"/>
            <a:r>
              <a:rPr sz="3400" b="0" i="0">
                <a:solidFill>
                  <a:srgbClr val="0A2240"/>
                </a:solidFill>
                <a:latin typeface="Arial"/>
              </a:rPr>
              <a:t>Did you predict it</a:t>
            </a:r>
          </a:p>
        </p:txBody>
      </p:sp>
      <p:sp>
        <p:nvSpPr>
          <p:cNvPr id="9" name="TextBox 8"/>
          <p:cNvSpPr txBox="1"/>
          <p:nvPr/>
        </p:nvSpPr>
        <p:spPr>
          <a:xfrm>
            <a:off x="5684118" y="3310127"/>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0" name="TextBox 9"/>
          <p:cNvSpPr txBox="1"/>
          <p:nvPr/>
        </p:nvSpPr>
        <p:spPr>
          <a:xfrm>
            <a:off x="457200" y="4218431"/>
            <a:ext cx="4867235" cy="633984"/>
          </a:xfrm>
          <a:prstGeom prst="rect">
            <a:avLst/>
          </a:prstGeom>
          <a:noFill/>
        </p:spPr>
        <p:txBody>
          <a:bodyPr wrap="none" lIns="0" rIns="0">
            <a:noAutofit/>
          </a:bodyPr>
          <a:lstStyle/>
          <a:p>
            <a:pPr algn="l"/>
            <a:r>
              <a:rPr sz="3400" b="0" i="0">
                <a:solidFill>
                  <a:srgbClr val="0A2240"/>
                </a:solidFill>
                <a:latin typeface="Arial"/>
              </a:rPr>
              <a:t>Critical findings</a:t>
            </a:r>
          </a:p>
        </p:txBody>
      </p:sp>
      <p:sp>
        <p:nvSpPr>
          <p:cNvPr id="11" name="TextBox 10"/>
          <p:cNvSpPr txBox="1"/>
          <p:nvPr/>
        </p:nvSpPr>
        <p:spPr>
          <a:xfrm>
            <a:off x="5684118" y="4218431"/>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2" name="TextBox 11"/>
          <p:cNvSpPr txBox="1"/>
          <p:nvPr/>
        </p:nvSpPr>
        <p:spPr>
          <a:xfrm>
            <a:off x="457200" y="5126735"/>
            <a:ext cx="5826641" cy="633984"/>
          </a:xfrm>
          <a:prstGeom prst="rect">
            <a:avLst/>
          </a:prstGeom>
          <a:noFill/>
        </p:spPr>
        <p:txBody>
          <a:bodyPr wrap="none" lIns="0" rIns="0">
            <a:noAutofit/>
          </a:bodyPr>
          <a:lstStyle/>
          <a:p>
            <a:pPr algn="l"/>
            <a:r>
              <a:rPr sz="3400" b="0" i="0">
                <a:solidFill>
                  <a:srgbClr val="0A2240"/>
                </a:solidFill>
                <a:latin typeface="Arial"/>
              </a:rPr>
              <a:t>Fix first after lunch</a:t>
            </a:r>
          </a:p>
        </p:txBody>
      </p:sp>
      <p:sp>
        <p:nvSpPr>
          <p:cNvPr id="13" name="TextBox 12"/>
          <p:cNvSpPr txBox="1"/>
          <p:nvPr/>
        </p:nvSpPr>
        <p:spPr>
          <a:xfrm>
            <a:off x="5684118" y="5126735"/>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51</a:t>
            </a:fld>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did you not expect?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52</a:t>
            </a:fld>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Next: Hardening and Handoff</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Triage by severity against cost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Commit to a cut line, out loud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Fix, re-run the exact test, push</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Schedule checks that outlive you</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53</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