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session 3.2, the Peer Red-Team Round — the session everyone remembers. Two teams swap prototypes and spend an hour trying to break each other's work.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Fifty-five minutes, and you leave holding a written list of your own failures, produced by people with no reason to be gentle.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this session. We swap builds with another team, break it by hand and then by agent, generate inputs in bulk for free, and trade logs without defending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whose build will you break? We pair now, and every minute after that is testing time.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session designed the attack in the abstract. This one runs it against real software, which is both easier and considerably more revealing.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moves: swap URLs, caveats and edge cases; ten minutes of your own hands; turn the agent loose; then trade logs back with no arguing. Hands before agent — that order matters.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hour runs in four blocks, and 10:45 is the one that matters — logs change hands then, whatever state your testing is in. An unshared finding helps nobody, and the next session needs its full ten minutes.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friend who breaks it is a gift. Everything found in the next hour is found by someone with no stake in being kind and no ability to hurt you.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objective, first half: before any automation, one person clicking with intent.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red team is people trying to break it, on purpose, for you. Those last two words carry the definition — it is a service, not an opposition.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rules for the round. Attack the build, never the team. Everything you find gets written down. No fixing, only finding. And no defending when it is your turn.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Trade three things: the URL, the caveats, and the edge cases. Say nothing else — no walkthrough, no context, no warnings. Then start the clock with ten minutes of hands.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hand over the public URL from yesterday, CAVEATS.md unedited, your edge-case file from last session, and nothing spoken out loud. Handing over the caveats feels like giving away answers and does the opposite.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for your first ten minutes. Use it normally once, the happy path, as a real person would. Run their own list, every case in their file. Then go off-script, with whatever occurred to you while doing that.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no probe will report back to you: what looks wrong, what nobody wrote down, what feels slow, and which screen is confusing.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Neither method wins outright. Hands find the confusing interface and are blind to almost nothing about sense; agents miss the interface entirely but find rare inputs, and they do hundreds in the time you do ten.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openers that work on almost anything. Do the obvious wrong thing first. Give it the opposite of the example. Click before it finishes. And try the same thing twice.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postures, and pick one to stay in. The confused user, who does the wrong thing sincerely rather than cleverly. The impatient user, who clicks twice, refreshes, and will not wait. And the bad actor, who reads the page to work out what to abuse.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useful: “it felt slow”, “the design is rough”, “it broke somehow”. Useful: the exact input used, what came back instead, and how to make it happen again.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 it while the failure is on screen, not at the end. Five lines — what you sent, what you got, the severity, and how to reproduce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not to do. Do not fix anything you find. Do not tell them mid- round. Do not test their teammates. And do not stop at the first break — that is the most common one.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objective: a human finds the interesting failures, and volume finds the ones nobody would think of. Volume no longer costs anything.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twenty minutes in: how many inputs have you actually tried? Most of you will be at ten or fifteen. The next twenty minutes should add a hundred.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reasons volume finds more. Rare inputs need many tries. You repeat yourself, and models vary. It pairs combinations you would not. And it never gets bored or polite.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Nvidia's free API is hosted models you can call in bulk at no cost. The point is not the provider — it is that a hundred adversarial inputs is now free rather than a budget decision.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five minutes. Get a key, and keep it out of git. Call it like any chat model, since the interface is the familiar one. And ask for inputs rather than answers — you want ammunition, not commentary.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OpenAI-compatible interface, so existing code mostly works unchanged. Note the key comes from the environment, because a key pasted into a file that gets committed is a real risk on a public repo.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moves in six lines: give it the target, name one axis, and demand variety. That last line — output only the inputs, one per line — saves you stripping commentary afterwards.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Batch by axis: twenty empty-ish inputs, twenty malformed, twenty adversarial, twenty out of scope. Asking for a hundred mixed returns eighty of whichever axis it finds most obvious.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ways a batch looks big and tests one thing. They rhyme with each other. They are all broken the same way. They are too polite to be adversarial. Or they are plausible but never weird.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axes again, now as generation prompts. Empty: nothing, blank, whitespace. Malformed: wrong type, truncated. Adversarial: hidden instructions. Out of scope: real, but not your job. At scale: huge, repeated, parallel.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Point it at their URL — your brief from last session with one line changed. Feed it the generated inputs as a starting list rather than the only one. And let it run while somebody watches, with the stopping rule armed.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courtesies, and they are not merely polite. Tell them the probe is starting. Agree a rate you both accept. Never test during their demo. And do not leave junk they have to clear.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rules at volume. Do not flood them — space the requests, since you share one URL. Cluster before logging, because forty crashes of one cause is one finding. And read a sample yourself, because a pass rate you never looked at is a guess.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steps to turn raw output into a usable log. Group by what actually broke. Keep the smallest example of each. Drop what their caveats already admit. Then rank what is left by severity.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Volume is free, attention is not. Generating a thousand inputs costs nothing; reading a thousand results costs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objective: everything you found has to become something another team can act on in fifty minutes, without you sitting next to them.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Reproduction steps means enough for a stranger to see it themselves — not enough for you to find it again.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fields per entry, no more. What you sent. What came back. What should have happened. The severity. And how to reproduce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entry, five lines, in a file rather than a chat message. A file survives the session and is what they triage against next hour.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levels. Critical: wrong output that looks right. High: crashes or hangs on real input. Medium: it fails, but says so. Low: ugly, confusing, slow. Notice critical is the quietest failure, not the loudest.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calibrations. Severity is about the user. Not how clever your input was. Not how hard it looks to fix. And documented limits drop a level.</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ways to hand over an hour of work that cannot be used: findings with no input attached, forty entries with one real cause, the same severity on everything, and opinions mixed in with failures.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Give them the file — written, not spoken, not a conversation. Say one sentence: the single thing you would fix first. Then stop talking and let them read it.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Receiving it means reading the whole log before you say anything. Not accepting every finding, not agreeing — reading all of it first.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Defending sounds like “that is not a real input”, “you used it wrong”, “we know, it is in the caveats”. Receiving is reading all of it first, asking only how to reproduce, writing it down, and moving 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exactly one legitimate question during the handover: how do I reproduce that? Not why they tried it, not whether it counts, not what they misunderstood.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reasons it is worth the discomfort. They had no reason to be kind. They are not going to fix it. The next tester is a judge. And this is the last free round.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are behind: trade at 10:45 regardless, because a short log on time beats a full one late. Drop the volume run — the hand findings are the ones worth having. But never skip severity, because an unranked log cannot be triaged.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are leaving having broken someone else's build, run hands then volume, handed over a written log, and read your own without arguing.</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answers before the break: the worst thing they found, whether you predicted it, how many criticals you have, and what you fix first after lunch.</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question: what did you not expect? The surprises are the real product of this session.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session we triage by severity against cost, commit to a cut line out loud, fix and re-run the exact test that caught each one, and schedule checks that outlive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slidekit · Title Slid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914400" y="2971800"/>
            <a:ext cx="11277600" cy="914400"/>
          </a:xfrm>
          <a:prstGeom prst="rect">
            <a:avLst/>
          </a:prstGeom>
          <a:noFill/>
        </p:spPr>
        <p:txBody>
          <a:bodyPr wrap="none" lIns="0" rIns="0">
            <a:noAutofit/>
          </a:bodyPr>
          <a:lstStyle/>
          <a:p>
            <a:pPr algn="l"/>
            <a:r>
              <a:rPr sz="6000" b="1" i="0">
                <a:solidFill>
                  <a:srgbClr val="0072CE"/>
                </a:solidFill>
                <a:latin typeface="Arial"/>
              </a:rPr>
              <a:t>Quarterly Business Review</a:t>
            </a:r>
          </a:p>
        </p:txBody>
      </p:sp>
    </p:spTree>
    <p:extLst>
      <p:ext uri="{BB962C8B-B14F-4D97-AF65-F5344CB8AC3E}">
        <p14:creationId xmlns:p14="http://schemas.microsoft.com/office/powerpoint/2010/main" val="12129998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slidekit · Icon Text Row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Drives Us</a:t>
            </a:r>
          </a:p>
        </p:txBody>
      </p:sp>
      <p:sp>
        <p:nvSpPr>
          <p:cNvPr id="6" name="TextBox 5"/>
          <p:cNvSpPr/>
          <p:nvPr>
            <p:ph type="body" id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Excellence</a:t>
            </a:r>
          </a:p>
        </p:txBody>
      </p:sp>
      <p:sp>
        <p:nvSpPr>
          <p:cNvPr id="7" name="TextBox 6"/>
          <p:cNvSpPr/>
          <p:nvPr>
            <p:ph type="body" idx="2"/>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High standards in every deliverable we ship.</a:t>
            </a:r>
          </a:p>
        </p:txBody>
      </p:sp>
      <p:sp>
        <p:nvSpPr>
          <p:cNvPr id="8" name="TextBox 7"/>
          <p:cNvSpPr/>
          <p:nvPr>
            <p:ph type="body" idx="3"/>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Integrity</a:t>
            </a:r>
          </a:p>
        </p:txBody>
      </p:sp>
      <p:sp>
        <p:nvSpPr>
          <p:cNvPr id="9" name="TextBox 8"/>
          <p:cNvSpPr/>
          <p:nvPr>
            <p:ph type="body" idx="4"/>
          </p:nvPr>
        </p:nvSpPr>
        <p:spPr>
          <a:xfrm>
            <a:off x="457200" y="3621023"/>
            <a:ext cx="11333440" cy="627889"/>
          </a:xfrm>
          <a:prstGeom prst="rect">
            <a:avLst/>
          </a:prstGeom>
          <a:noFill/>
        </p:spPr>
        <p:txBody>
          <a:bodyPr wrap="none" lIns="0" rIns="0">
            <a:noAutofit/>
          </a:bodyPr>
          <a:lstStyle/>
          <a:p>
            <a:pPr algn="l"/>
            <a:r>
              <a:rPr sz="3400" b="0" i="0">
                <a:solidFill>
                  <a:srgbClr val="0A2240"/>
                </a:solidFill>
                <a:latin typeface="Arial"/>
              </a:rPr>
              <a:t>Transparent and honest in all we do.</a:t>
            </a:r>
          </a:p>
        </p:txBody>
      </p:sp>
      <p:sp>
        <p:nvSpPr>
          <p:cNvPr id="10" name="TextBox 9"/>
          <p:cNvSpPr/>
          <p:nvPr>
            <p:ph type="body" idx="5"/>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Innovation</a:t>
            </a:r>
          </a:p>
        </p:txBody>
      </p:sp>
      <p:sp>
        <p:nvSpPr>
          <p:cNvPr id="11" name="TextBox 10"/>
          <p:cNvSpPr/>
          <p:nvPr>
            <p:ph type="body" idx="6"/>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Investing in ideas that shape tomorrow.</a:t>
            </a:r>
          </a:p>
        </p:txBody>
      </p:sp>
    </p:spTree>
    <p:extLst>
      <p:ext uri="{BB962C8B-B14F-4D97-AF65-F5344CB8AC3E}">
        <p14:creationId xmlns:p14="http://schemas.microsoft.com/office/powerpoint/2010/main" val="1212999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slidekit · Stat Callou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By the Numbers</a:t>
            </a:r>
          </a:p>
        </p:txBody>
      </p:sp>
      <p:sp>
        <p:nvSpPr>
          <p:cNvPr id="6" name="TextBox 5"/>
          <p:cNvSpPr/>
          <p:nvPr>
            <p:ph type="body" idx="1"/>
          </p:nvPr>
        </p:nvSpPr>
        <p:spPr>
          <a:xfrm>
            <a:off x="457200" y="2776728"/>
            <a:ext cx="3576320" cy="914400"/>
          </a:xfrm>
          <a:prstGeom prst="rect">
            <a:avLst/>
          </a:prstGeom>
          <a:noFill/>
        </p:spPr>
        <p:txBody>
          <a:bodyPr wrap="none" lIns="0" rIns="0">
            <a:noAutofit/>
          </a:bodyPr>
          <a:lstStyle/>
          <a:p>
            <a:pPr algn="l"/>
            <a:r>
              <a:rPr sz="6000" b="1" i="0">
                <a:solidFill>
                  <a:srgbClr val="0072CE"/>
                </a:solidFill>
                <a:latin typeface="Arial"/>
              </a:rPr>
              <a:t>127%</a:t>
            </a:r>
          </a:p>
        </p:txBody>
      </p:sp>
      <p:sp>
        <p:nvSpPr>
          <p:cNvPr id="7" name="TextBox 6"/>
          <p:cNvSpPr/>
          <p:nvPr>
            <p:ph type="body" idx="2"/>
          </p:nvPr>
        </p:nvSpPr>
        <p:spPr>
          <a:xfrm>
            <a:off x="457200" y="3965448"/>
            <a:ext cx="5048051" cy="518159"/>
          </a:xfrm>
          <a:prstGeom prst="rect">
            <a:avLst/>
          </a:prstGeom>
          <a:noFill/>
        </p:spPr>
        <p:txBody>
          <a:bodyPr wrap="none" lIns="0" rIns="0">
            <a:noAutofit/>
          </a:bodyPr>
          <a:lstStyle/>
          <a:p>
            <a:pPr algn="l"/>
            <a:r>
              <a:rPr sz="3400" b="0" i="0">
                <a:solidFill>
                  <a:srgbClr val="0A2240"/>
                </a:solidFill>
                <a:latin typeface="Arial"/>
              </a:rPr>
              <a:t>Revenue Target</a:t>
            </a:r>
          </a:p>
        </p:txBody>
      </p:sp>
      <p:sp>
        <p:nvSpPr>
          <p:cNvPr id="8" name="TextBox 7"/>
          <p:cNvSpPr/>
          <p:nvPr>
            <p:ph type="body" idx="3"/>
          </p:nvPr>
        </p:nvSpPr>
        <p:spPr>
          <a:xfrm>
            <a:off x="4307840" y="2776728"/>
            <a:ext cx="3576320" cy="914400"/>
          </a:xfrm>
          <a:prstGeom prst="rect">
            <a:avLst/>
          </a:prstGeom>
          <a:noFill/>
        </p:spPr>
        <p:txBody>
          <a:bodyPr wrap="none" lIns="0" rIns="0">
            <a:noAutofit/>
          </a:bodyPr>
          <a:lstStyle/>
          <a:p>
            <a:pPr algn="l"/>
            <a:r>
              <a:rPr sz="6000" b="1" i="0">
                <a:solidFill>
                  <a:srgbClr val="0072CE"/>
                </a:solidFill>
                <a:latin typeface="Arial"/>
              </a:rPr>
              <a:t>94%</a:t>
            </a:r>
          </a:p>
        </p:txBody>
      </p:sp>
      <p:sp>
        <p:nvSpPr>
          <p:cNvPr id="9" name="TextBox 8"/>
          <p:cNvSpPr/>
          <p:nvPr>
            <p:ph type="body" idx="4"/>
          </p:nvPr>
        </p:nvSpPr>
        <p:spPr>
          <a:xfrm>
            <a:off x="4307840" y="3965448"/>
            <a:ext cx="4791670" cy="518159"/>
          </a:xfrm>
          <a:prstGeom prst="rect">
            <a:avLst/>
          </a:prstGeom>
          <a:noFill/>
        </p:spPr>
        <p:txBody>
          <a:bodyPr wrap="none" lIns="0" rIns="0">
            <a:noAutofit/>
          </a:bodyPr>
          <a:lstStyle/>
          <a:p>
            <a:pPr algn="l"/>
            <a:r>
              <a:rPr sz="3400" b="0" i="0">
                <a:solidFill>
                  <a:srgbClr val="0A2240"/>
                </a:solidFill>
                <a:latin typeface="Arial"/>
              </a:rPr>
              <a:t>Retention Rate</a:t>
            </a:r>
          </a:p>
        </p:txBody>
      </p:sp>
      <p:sp>
        <p:nvSpPr>
          <p:cNvPr id="10" name="TextBox 9"/>
          <p:cNvSpPr/>
          <p:nvPr>
            <p:ph type="body" idx="5"/>
          </p:nvPr>
        </p:nvSpPr>
        <p:spPr>
          <a:xfrm>
            <a:off x="8158480" y="2776728"/>
            <a:ext cx="4033520" cy="914400"/>
          </a:xfrm>
          <a:prstGeom prst="rect">
            <a:avLst/>
          </a:prstGeom>
          <a:noFill/>
        </p:spPr>
        <p:txBody>
          <a:bodyPr wrap="none" lIns="0" rIns="0">
            <a:noAutofit/>
          </a:bodyPr>
          <a:lstStyle/>
          <a:p>
            <a:pPr algn="l"/>
            <a:r>
              <a:rPr sz="6000" b="1" i="0">
                <a:solidFill>
                  <a:srgbClr val="0072CE"/>
                </a:solidFill>
                <a:latin typeface="Arial"/>
              </a:rPr>
              <a:t>48 NPS</a:t>
            </a:r>
          </a:p>
        </p:txBody>
      </p:sp>
      <p:sp>
        <p:nvSpPr>
          <p:cNvPr id="11" name="TextBox 10"/>
          <p:cNvSpPr/>
          <p:nvPr>
            <p:ph type="body" idx="6"/>
          </p:nvPr>
        </p:nvSpPr>
        <p:spPr>
          <a:xfrm>
            <a:off x="8158480" y="3965448"/>
            <a:ext cx="4033520" cy="518159"/>
          </a:xfrm>
          <a:prstGeom prst="rect">
            <a:avLst/>
          </a:prstGeom>
          <a:noFill/>
        </p:spPr>
        <p:txBody>
          <a:bodyPr wrap="none" lIns="0" rIns="0">
            <a:noAutofit/>
          </a:bodyPr>
          <a:lstStyle/>
          <a:p>
            <a:pPr algn="l"/>
            <a:r>
              <a:rPr sz="3400" b="0" i="0">
                <a:solidFill>
                  <a:srgbClr val="0A2240"/>
                </a:solidFill>
                <a:latin typeface="Arial"/>
              </a:rPr>
              <a:t>Net Promoter</a:t>
            </a:r>
          </a:p>
        </p:txBody>
      </p:sp>
    </p:spTree>
    <p:extLst>
      <p:ext uri="{BB962C8B-B14F-4D97-AF65-F5344CB8AC3E}">
        <p14:creationId xmlns:p14="http://schemas.microsoft.com/office/powerpoint/2010/main" val="12129998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slidekit · Comparison Column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Side-by-Side Evaluation</a:t>
            </a:r>
          </a:p>
        </p:txBody>
      </p:sp>
      <p:sp>
        <p:nvSpPr>
          <p:cNvPr id="6" name="TextBox 5"/>
          <p:cNvSpPr/>
          <p:nvPr>
            <p:ph type="body" idx="1"/>
          </p:nvPr>
        </p:nvSpPr>
        <p:spPr>
          <a:xfrm>
            <a:off x="457200" y="1499616"/>
            <a:ext cx="5558115" cy="621791"/>
          </a:xfrm>
          <a:prstGeom prst="rect">
            <a:avLst/>
          </a:prstGeom>
          <a:noFill/>
        </p:spPr>
        <p:txBody>
          <a:bodyPr wrap="none" lIns="0" rIns="0">
            <a:noAutofit/>
          </a:bodyPr>
          <a:lstStyle/>
          <a:p>
            <a:pPr algn="l"/>
            <a:r>
              <a:rPr sz="3400" b="1" i="0">
                <a:solidFill>
                  <a:srgbClr val="123A6B"/>
                </a:solidFill>
                <a:latin typeface="Arial"/>
              </a:rPr>
              <a:t>Legacy Platform</a:t>
            </a:r>
          </a:p>
        </p:txBody>
      </p:sp>
      <p:sp>
        <p:nvSpPr>
          <p:cNvPr id="7" name="TextBox 6"/>
          <p:cNvSpPr/>
          <p:nvPr>
            <p:ph type="body" idx="2"/>
          </p:nvPr>
        </p:nvSpPr>
        <p:spPr>
          <a:xfrm>
            <a:off x="6233160" y="1499616"/>
            <a:ext cx="5501640" cy="621791"/>
          </a:xfrm>
          <a:prstGeom prst="rect">
            <a:avLst/>
          </a:prstGeom>
          <a:noFill/>
        </p:spPr>
        <p:txBody>
          <a:bodyPr wrap="none" lIns="0" rIns="0">
            <a:noAutofit/>
          </a:bodyPr>
          <a:lstStyle/>
          <a:p>
            <a:pPr algn="l"/>
            <a:r>
              <a:rPr sz="3400" b="1" i="0">
                <a:solidFill>
                  <a:srgbClr val="123A6B"/>
                </a:solidFill>
                <a:latin typeface="Arial"/>
              </a:rPr>
              <a:t>Modern Stack</a:t>
            </a:r>
          </a:p>
        </p:txBody>
      </p:sp>
      <p:sp>
        <p:nvSpPr>
          <p:cNvPr id="8" name="TextBox 7"/>
          <p:cNvSpPr/>
          <p:nvPr>
            <p:ph type="body" idx="3"/>
          </p:nvPr>
        </p:nvSpPr>
        <p:spPr>
          <a:xfrm>
            <a:off x="457200" y="2395727"/>
            <a:ext cx="6518870" cy="847344"/>
          </a:xfrm>
          <a:prstGeom prst="rect">
            <a:avLst/>
          </a:prstGeom>
          <a:noFill/>
        </p:spPr>
        <p:txBody>
          <a:bodyPr wrap="none" lIns="0" rIns="0">
            <a:noAutofit/>
          </a:bodyPr>
          <a:lstStyle/>
          <a:p>
            <a:pPr algn="l"/>
            <a:r>
              <a:rPr sz="3400" b="0" i="0">
                <a:solidFill>
                  <a:srgbClr val="0A2240"/>
                </a:solidFill>
                <a:latin typeface="Arial"/>
              </a:rPr>
              <a:t>Deploy time: 4 hours</a:t>
            </a:r>
          </a:p>
        </p:txBody>
      </p:sp>
      <p:sp>
        <p:nvSpPr>
          <p:cNvPr id="9" name="TextBox 8"/>
          <p:cNvSpPr/>
          <p:nvPr>
            <p:ph type="body" idx="4"/>
          </p:nvPr>
        </p:nvSpPr>
        <p:spPr>
          <a:xfrm>
            <a:off x="6233160" y="2395727"/>
            <a:ext cx="5903892" cy="847344"/>
          </a:xfrm>
          <a:prstGeom prst="rect">
            <a:avLst/>
          </a:prstGeom>
          <a:noFill/>
        </p:spPr>
        <p:txBody>
          <a:bodyPr wrap="none" lIns="0" rIns="0">
            <a:noAutofit/>
          </a:bodyPr>
          <a:lstStyle/>
          <a:p>
            <a:pPr algn="l"/>
            <a:r>
              <a:rPr sz="3400" b="0" i="0">
                <a:solidFill>
                  <a:srgbClr val="0A2240"/>
                </a:solidFill>
                <a:latin typeface="Arial"/>
              </a:rPr>
              <a:t>Deploy time: 8 min</a:t>
            </a:r>
          </a:p>
        </p:txBody>
      </p:sp>
      <p:sp>
        <p:nvSpPr>
          <p:cNvPr id="10" name="TextBox 9"/>
          <p:cNvSpPr/>
          <p:nvPr>
            <p:ph type="body" idx="5"/>
          </p:nvPr>
        </p:nvSpPr>
        <p:spPr>
          <a:xfrm>
            <a:off x="457200" y="3517391"/>
            <a:ext cx="5501640" cy="847344"/>
          </a:xfrm>
          <a:prstGeom prst="rect">
            <a:avLst/>
          </a:prstGeom>
          <a:noFill/>
        </p:spPr>
        <p:txBody>
          <a:bodyPr wrap="none" lIns="0" rIns="0">
            <a:noAutofit/>
          </a:bodyPr>
          <a:lstStyle/>
          <a:p>
            <a:pPr algn="l"/>
            <a:r>
              <a:rPr sz="3400" b="0" i="0">
                <a:solidFill>
                  <a:srgbClr val="0A2240"/>
                </a:solidFill>
                <a:latin typeface="Arial"/>
              </a:rPr>
              <a:t>Manual scaling</a:t>
            </a:r>
          </a:p>
        </p:txBody>
      </p:sp>
      <p:sp>
        <p:nvSpPr>
          <p:cNvPr id="11" name="TextBox 10"/>
          <p:cNvSpPr/>
          <p:nvPr>
            <p:ph type="body" idx="6"/>
          </p:nvPr>
        </p:nvSpPr>
        <p:spPr>
          <a:xfrm>
            <a:off x="6233160" y="3517391"/>
            <a:ext cx="5501640" cy="847344"/>
          </a:xfrm>
          <a:prstGeom prst="rect">
            <a:avLst/>
          </a:prstGeom>
          <a:noFill/>
        </p:spPr>
        <p:txBody>
          <a:bodyPr wrap="none" lIns="0" rIns="0">
            <a:noAutofit/>
          </a:bodyPr>
          <a:lstStyle/>
          <a:p>
            <a:pPr algn="l"/>
            <a:r>
              <a:rPr sz="3400" b="0" i="0">
                <a:solidFill>
                  <a:srgbClr val="0A2240"/>
                </a:solidFill>
                <a:latin typeface="Arial"/>
              </a:rPr>
              <a:t>Auto-scales fast</a:t>
            </a:r>
          </a:p>
        </p:txBody>
      </p:sp>
      <p:sp>
        <p:nvSpPr>
          <p:cNvPr id="12" name="TextBox 11"/>
          <p:cNvSpPr/>
          <p:nvPr>
            <p:ph type="body" idx="7"/>
          </p:nvPr>
        </p:nvSpPr>
        <p:spPr>
          <a:xfrm>
            <a:off x="457200" y="4639055"/>
            <a:ext cx="6940888" cy="847344"/>
          </a:xfrm>
          <a:prstGeom prst="rect">
            <a:avLst/>
          </a:prstGeom>
          <a:noFill/>
        </p:spPr>
        <p:txBody>
          <a:bodyPr wrap="none" lIns="0" rIns="0">
            <a:noAutofit/>
          </a:bodyPr>
          <a:lstStyle/>
          <a:p>
            <a:pPr algn="l"/>
            <a:r>
              <a:rPr sz="3400" b="0" i="0">
                <a:solidFill>
                  <a:srgbClr val="0A2240"/>
                </a:solidFill>
                <a:latin typeface="Arial"/>
              </a:rPr>
              <a:t>On-premise; high cost</a:t>
            </a:r>
          </a:p>
        </p:txBody>
      </p:sp>
      <p:sp>
        <p:nvSpPr>
          <p:cNvPr id="13" name="TextBox 12"/>
          <p:cNvSpPr/>
          <p:nvPr>
            <p:ph type="body" idx="8"/>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Cloud-native; low cost</a:t>
            </a:r>
          </a:p>
        </p:txBody>
      </p:sp>
    </p:spTree>
    <p:extLst>
      <p:ext uri="{BB962C8B-B14F-4D97-AF65-F5344CB8AC3E}">
        <p14:creationId xmlns:p14="http://schemas.microsoft.com/office/powerpoint/2010/main" val="12129998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slidekit · Timelin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Milestones</a:t>
            </a:r>
          </a:p>
        </p:txBody>
      </p:sp>
      <p:sp>
        <p:nvSpPr>
          <p:cNvPr id="6" name="TextBox 5"/>
          <p:cNvSpPr/>
          <p:nvPr>
            <p:ph type="body" id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Q1</a:t>
            </a:r>
          </a:p>
        </p:txBody>
      </p:sp>
      <p:sp>
        <p:nvSpPr>
          <p:cNvPr id="7" name="TextBox 6"/>
          <p:cNvSpPr/>
          <p:nvPr>
            <p:ph type="body" idx="2"/>
          </p:nvPr>
        </p:nvSpPr>
        <p:spPr>
          <a:xfrm>
            <a:off x="457200" y="2154936"/>
            <a:ext cx="3943251" cy="518159"/>
          </a:xfrm>
          <a:prstGeom prst="rect">
            <a:avLst/>
          </a:prstGeom>
          <a:noFill/>
        </p:spPr>
        <p:txBody>
          <a:bodyPr wrap="none" lIns="0" rIns="0">
            <a:noAutofit/>
          </a:bodyPr>
          <a:lstStyle/>
          <a:p>
            <a:pPr algn="l"/>
            <a:r>
              <a:rPr sz="3400" b="1" i="0">
                <a:solidFill>
                  <a:srgbClr val="0A2240"/>
                </a:solidFill>
                <a:latin typeface="Arial"/>
              </a:rPr>
              <a:t>Foundation</a:t>
            </a:r>
          </a:p>
        </p:txBody>
      </p:sp>
      <p:sp>
        <p:nvSpPr>
          <p:cNvPr id="8" name="TextBox 7"/>
          <p:cNvSpPr/>
          <p:nvPr>
            <p:ph type="body" idx="3"/>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Cloud platform migration done.</a:t>
            </a:r>
          </a:p>
        </p:txBody>
      </p:sp>
      <p:sp>
        <p:nvSpPr>
          <p:cNvPr id="9" name="TextBox 8"/>
          <p:cNvSpPr/>
          <p:nvPr>
            <p:ph type="body" idx="4"/>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Q2</a:t>
            </a:r>
          </a:p>
        </p:txBody>
      </p:sp>
      <p:sp>
        <p:nvSpPr>
          <p:cNvPr id="10" name="TextBox 9"/>
          <p:cNvSpPr/>
          <p:nvPr>
            <p:ph type="body" idx="5"/>
          </p:nvPr>
        </p:nvSpPr>
        <p:spPr>
          <a:xfrm>
            <a:off x="3345180" y="2154936"/>
            <a:ext cx="3983057" cy="518159"/>
          </a:xfrm>
          <a:prstGeom prst="rect">
            <a:avLst/>
          </a:prstGeom>
          <a:noFill/>
        </p:spPr>
        <p:txBody>
          <a:bodyPr wrap="none" lIns="0" rIns="0">
            <a:noAutofit/>
          </a:bodyPr>
          <a:lstStyle/>
          <a:p>
            <a:pPr algn="l"/>
            <a:r>
              <a:rPr sz="3400" b="1" i="0">
                <a:solidFill>
                  <a:srgbClr val="0A2240"/>
                </a:solidFill>
                <a:latin typeface="Arial"/>
              </a:rPr>
              <a:t>API Launch</a:t>
            </a:r>
          </a:p>
        </p:txBody>
      </p:sp>
      <p:sp>
        <p:nvSpPr>
          <p:cNvPr id="11" name="TextBox 10"/>
          <p:cNvSpPr/>
          <p:nvPr>
            <p:ph type="body" idx="6"/>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REST API live with 99.99% SLA.</a:t>
            </a:r>
          </a:p>
        </p:txBody>
      </p:sp>
      <p:sp>
        <p:nvSpPr>
          <p:cNvPr id="12" name="TextBox 11"/>
          <p:cNvSpPr/>
          <p:nvPr>
            <p:ph type="body" idx="7"/>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Q3</a:t>
            </a:r>
          </a:p>
        </p:txBody>
      </p:sp>
      <p:sp>
        <p:nvSpPr>
          <p:cNvPr id="13" name="TextBox 12"/>
          <p:cNvSpPr/>
          <p:nvPr>
            <p:ph type="body" idx="8"/>
          </p:nvPr>
        </p:nvSpPr>
        <p:spPr>
          <a:xfrm>
            <a:off x="6233160" y="2154936"/>
            <a:ext cx="2613660" cy="518159"/>
          </a:xfrm>
          <a:prstGeom prst="rect">
            <a:avLst/>
          </a:prstGeom>
          <a:noFill/>
        </p:spPr>
        <p:txBody>
          <a:bodyPr wrap="none" lIns="0" rIns="0">
            <a:noAutofit/>
          </a:bodyPr>
          <a:lstStyle/>
          <a:p>
            <a:pPr algn="l"/>
            <a:r>
              <a:rPr sz="3400" b="1" i="0">
                <a:solidFill>
                  <a:srgbClr val="0A2240"/>
                </a:solidFill>
                <a:latin typeface="Arial"/>
              </a:rPr>
              <a:t>AI Beta</a:t>
            </a:r>
          </a:p>
        </p:txBody>
      </p:sp>
      <p:sp>
        <p:nvSpPr>
          <p:cNvPr id="14" name="TextBox 13"/>
          <p:cNvSpPr/>
          <p:nvPr>
            <p:ph type="body" idx="9"/>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AI features shipped to 500 partners.</a:t>
            </a:r>
          </a:p>
        </p:txBody>
      </p:sp>
      <p:sp>
        <p:nvSpPr>
          <p:cNvPr id="15" name="TextBox 14"/>
          <p:cNvSpPr/>
          <p:nvPr>
            <p:ph type="body" idx="13"/>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Q4</a:t>
            </a:r>
          </a:p>
        </p:txBody>
      </p:sp>
      <p:sp>
        <p:nvSpPr>
          <p:cNvPr id="16" name="TextBox 15"/>
          <p:cNvSpPr/>
          <p:nvPr>
            <p:ph type="body" idx="14"/>
          </p:nvPr>
        </p:nvSpPr>
        <p:spPr>
          <a:xfrm>
            <a:off x="9121140" y="2154936"/>
            <a:ext cx="3070860" cy="518159"/>
          </a:xfrm>
          <a:prstGeom prst="rect">
            <a:avLst/>
          </a:prstGeom>
          <a:noFill/>
        </p:spPr>
        <p:txBody>
          <a:bodyPr wrap="none" lIns="0" rIns="0">
            <a:noAutofit/>
          </a:bodyPr>
          <a:lstStyle/>
          <a:p>
            <a:pPr algn="l"/>
            <a:r>
              <a:rPr sz="3400" b="1" i="0">
                <a:solidFill>
                  <a:srgbClr val="0A2240"/>
                </a:solidFill>
                <a:latin typeface="Arial"/>
              </a:rPr>
              <a:t>Scale Out</a:t>
            </a:r>
          </a:p>
        </p:txBody>
      </p:sp>
      <p:sp>
        <p:nvSpPr>
          <p:cNvPr id="17" name="TextBox 16"/>
          <p:cNvSpPr/>
          <p:nvPr>
            <p:ph type="body" idx="15"/>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APAC regions live; global coverage.</a:t>
            </a:r>
          </a:p>
        </p:txBody>
      </p:sp>
    </p:spTree>
    <p:extLst>
      <p:ext uri="{BB962C8B-B14F-4D97-AF65-F5344CB8AC3E}">
        <p14:creationId xmlns:p14="http://schemas.microsoft.com/office/powerpoint/2010/main" val="121299981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slidekit · Image Half Blee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Built in the Field</a:t>
            </a:r>
          </a:p>
        </p:txBody>
      </p:sp>
      <p:sp>
        <p:nvSpPr>
          <p:cNvPr id="6" name="TextBox 5"/>
          <p:cNvSpPr/>
          <p:nvPr>
            <p:ph type="body" idx="1"/>
          </p:nvPr>
        </p:nvSpPr>
        <p:spPr>
          <a:xfrm>
            <a:off x="6233160" y="1499616"/>
            <a:ext cx="5501640" cy="1127760"/>
          </a:xfrm>
          <a:prstGeom prst="rect">
            <a:avLst/>
          </a:prstGeom>
          <a:noFill/>
        </p:spPr>
        <p:txBody>
          <a:bodyPr wrap="square" lIns="0" rIns="0">
            <a:noAutofit/>
          </a:bodyPr>
          <a:lstStyle/>
          <a:p>
            <a:pPr algn="l"/>
            <a:r>
              <a:rPr sz="3400" b="0" i="0">
                <a:solidFill>
                  <a:srgbClr val="0A2240"/>
                </a:solidFill>
                <a:latin typeface="Arial"/>
              </a:rPr>
              <a:t>Built with customers, not just for them.</a:t>
            </a:r>
          </a:p>
        </p:txBody>
      </p:sp>
      <p:sp>
        <p:nvSpPr>
          <p:cNvPr id="7" name="TextBox 6"/>
          <p:cNvSpPr/>
          <p:nvPr>
            <p:ph type="body" idx="2"/>
          </p:nvPr>
        </p:nvSpPr>
        <p:spPr>
          <a:xfrm>
            <a:off x="6233160" y="2901696"/>
            <a:ext cx="5501640" cy="1127760"/>
          </a:xfrm>
          <a:prstGeom prst="rect">
            <a:avLst/>
          </a:prstGeom>
          <a:noFill/>
        </p:spPr>
        <p:txBody>
          <a:bodyPr wrap="square" lIns="0" rIns="0">
            <a:noAutofit/>
          </a:bodyPr>
          <a:lstStyle/>
          <a:p>
            <a:pPr algn="l"/>
            <a:r>
              <a:rPr sz="3400" b="0" i="0">
                <a:solidFill>
                  <a:srgbClr val="0A2240"/>
                </a:solidFill>
                <a:latin typeface="Arial"/>
              </a:rPr>
              <a:t>60% faster rollout; 50% fewer tickets.</a:t>
            </a:r>
          </a:p>
        </p:txBody>
      </p:sp>
    </p:spTree>
    <p:extLst>
      <p:ext uri="{BB962C8B-B14F-4D97-AF65-F5344CB8AC3E}">
        <p14:creationId xmlns:p14="http://schemas.microsoft.com/office/powerpoint/2010/main" val="121299981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slidekit · Card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Offer</a:t>
            </a:r>
          </a:p>
        </p:txBody>
      </p:sp>
      <p:sp>
        <p:nvSpPr>
          <p:cNvPr id="6" name="TextBox 5"/>
          <p:cNvSpPr/>
          <p:nvPr>
            <p:ph type="body" idx="1"/>
          </p:nvPr>
        </p:nvSpPr>
        <p:spPr>
          <a:xfrm>
            <a:off x="457200" y="1499616"/>
            <a:ext cx="2831366" cy="518159"/>
          </a:xfrm>
          <a:prstGeom prst="rect">
            <a:avLst/>
          </a:prstGeom>
          <a:noFill/>
        </p:spPr>
        <p:txBody>
          <a:bodyPr wrap="none" lIns="0" rIns="0">
            <a:noAutofit/>
          </a:bodyPr>
          <a:lstStyle/>
          <a:p>
            <a:pPr algn="l"/>
            <a:r>
              <a:rPr sz="3400" b="1" i="0">
                <a:solidFill>
                  <a:srgbClr val="0A2240"/>
                </a:solidFill>
                <a:latin typeface="Arial"/>
              </a:rPr>
              <a:t>Insights</a:t>
            </a:r>
          </a:p>
        </p:txBody>
      </p:sp>
      <p:sp>
        <p:nvSpPr>
          <p:cNvPr id="7" name="TextBox 6"/>
          <p:cNvSpPr/>
          <p:nvPr>
            <p:ph type="body" idx="2"/>
          </p:nvPr>
        </p:nvSpPr>
        <p:spPr>
          <a:xfrm>
            <a:off x="457200" y="2154935"/>
            <a:ext cx="2613660" cy="3605785"/>
          </a:xfrm>
          <a:prstGeom prst="rect">
            <a:avLst/>
          </a:prstGeom>
          <a:noFill/>
        </p:spPr>
        <p:txBody>
          <a:bodyPr wrap="square" lIns="0" rIns="0">
            <a:noAutofit/>
          </a:bodyPr>
          <a:lstStyle/>
          <a:p>
            <a:pPr algn="l"/>
            <a:r>
              <a:rPr sz="3400" b="0" i="0">
                <a:solidFill>
                  <a:srgbClr val="0A2240"/>
                </a:solidFill>
                <a:latin typeface="Arial"/>
              </a:rPr>
              <a:t>Live data and AI analytics.</a:t>
            </a:r>
          </a:p>
        </p:txBody>
      </p:sp>
      <p:sp>
        <p:nvSpPr>
          <p:cNvPr id="8" name="TextBox 7"/>
          <p:cNvSpPr/>
          <p:nvPr>
            <p:ph type="body" idx="3"/>
          </p:nvPr>
        </p:nvSpPr>
        <p:spPr>
          <a:xfrm>
            <a:off x="3345180" y="1499616"/>
            <a:ext cx="2909292" cy="518159"/>
          </a:xfrm>
          <a:prstGeom prst="rect">
            <a:avLst/>
          </a:prstGeom>
          <a:noFill/>
        </p:spPr>
        <p:txBody>
          <a:bodyPr wrap="none" lIns="0" rIns="0">
            <a:noAutofit/>
          </a:bodyPr>
          <a:lstStyle/>
          <a:p>
            <a:pPr algn="l"/>
            <a:r>
              <a:rPr sz="3400" b="1" i="0">
                <a:solidFill>
                  <a:srgbClr val="0A2240"/>
                </a:solidFill>
                <a:latin typeface="Arial"/>
              </a:rPr>
              <a:t>Security</a:t>
            </a:r>
          </a:p>
        </p:txBody>
      </p:sp>
      <p:sp>
        <p:nvSpPr>
          <p:cNvPr id="9" name="TextBox 8"/>
          <p:cNvSpPr/>
          <p:nvPr>
            <p:ph type="body" idx="4"/>
          </p:nvPr>
        </p:nvSpPr>
        <p:spPr>
          <a:xfrm>
            <a:off x="3345180" y="2154935"/>
            <a:ext cx="2613660" cy="3605785"/>
          </a:xfrm>
          <a:prstGeom prst="rect">
            <a:avLst/>
          </a:prstGeom>
          <a:noFill/>
        </p:spPr>
        <p:txBody>
          <a:bodyPr wrap="square" lIns="0" rIns="0">
            <a:noAutofit/>
          </a:bodyPr>
          <a:lstStyle/>
          <a:p>
            <a:pPr algn="l"/>
            <a:r>
              <a:rPr sz="3400" b="0" i="0">
                <a:solidFill>
                  <a:srgbClr val="0A2240"/>
                </a:solidFill>
                <a:latin typeface="Arial"/>
              </a:rPr>
              <a:t>Zero-trust, SOC 2 ready.</a:t>
            </a:r>
          </a:p>
        </p:txBody>
      </p:sp>
      <p:sp>
        <p:nvSpPr>
          <p:cNvPr id="10" name="TextBox 9"/>
          <p:cNvSpPr/>
          <p:nvPr>
            <p:ph type="body" idx="5"/>
          </p:nvPr>
        </p:nvSpPr>
        <p:spPr>
          <a:xfrm>
            <a:off x="6233160" y="1499616"/>
            <a:ext cx="2613660" cy="518159"/>
          </a:xfrm>
          <a:prstGeom prst="rect">
            <a:avLst/>
          </a:prstGeom>
          <a:noFill/>
        </p:spPr>
        <p:txBody>
          <a:bodyPr wrap="none" lIns="0" rIns="0">
            <a:noAutofit/>
          </a:bodyPr>
          <a:lstStyle/>
          <a:p>
            <a:pPr algn="l"/>
            <a:r>
              <a:rPr sz="3400" b="1" i="0">
                <a:solidFill>
                  <a:srgbClr val="0A2240"/>
                </a:solidFill>
                <a:latin typeface="Arial"/>
              </a:rPr>
              <a:t>Speed</a:t>
            </a:r>
          </a:p>
        </p:txBody>
      </p:sp>
      <p:sp>
        <p:nvSpPr>
          <p:cNvPr id="11" name="TextBox 10"/>
          <p:cNvSpPr/>
          <p:nvPr>
            <p:ph type="body" idx="6"/>
          </p:nvPr>
        </p:nvSpPr>
        <p:spPr>
          <a:xfrm>
            <a:off x="6233160" y="2154935"/>
            <a:ext cx="2613660" cy="3605785"/>
          </a:xfrm>
          <a:prstGeom prst="rect">
            <a:avLst/>
          </a:prstGeom>
          <a:noFill/>
        </p:spPr>
        <p:txBody>
          <a:bodyPr wrap="square" lIns="0" rIns="0">
            <a:noAutofit/>
          </a:bodyPr>
          <a:lstStyle/>
          <a:p>
            <a:pPr algn="l"/>
            <a:r>
              <a:rPr sz="3400" b="0" i="0">
                <a:solidFill>
                  <a:srgbClr val="0A2240"/>
                </a:solidFill>
                <a:latin typeface="Arial"/>
              </a:rPr>
              <a:t>Sub-100ms p99 latency.</a:t>
            </a:r>
          </a:p>
        </p:txBody>
      </p:sp>
      <p:sp>
        <p:nvSpPr>
          <p:cNvPr id="12" name="TextBox 11"/>
          <p:cNvSpPr/>
          <p:nvPr>
            <p:ph type="body" idx="7"/>
          </p:nvPr>
        </p:nvSpPr>
        <p:spPr>
          <a:xfrm>
            <a:off x="9121140" y="1499616"/>
            <a:ext cx="2613660" cy="518159"/>
          </a:xfrm>
          <a:prstGeom prst="rect">
            <a:avLst/>
          </a:prstGeom>
          <a:noFill/>
        </p:spPr>
        <p:txBody>
          <a:bodyPr wrap="none" lIns="0" rIns="0">
            <a:noAutofit/>
          </a:bodyPr>
          <a:lstStyle/>
          <a:p>
            <a:pPr algn="l"/>
            <a:r>
              <a:rPr sz="3400" b="1" i="0">
                <a:solidFill>
                  <a:srgbClr val="0A2240"/>
                </a:solidFill>
                <a:latin typeface="Arial"/>
              </a:rPr>
              <a:t>APIs</a:t>
            </a:r>
          </a:p>
        </p:txBody>
      </p:sp>
      <p:sp>
        <p:nvSpPr>
          <p:cNvPr id="13" name="TextBox 12"/>
          <p:cNvSpPr/>
          <p:nvPr>
            <p:ph type="body" idx="8"/>
          </p:nvPr>
        </p:nvSpPr>
        <p:spPr>
          <a:xfrm>
            <a:off x="9121140" y="2154935"/>
            <a:ext cx="2613660" cy="3605785"/>
          </a:xfrm>
          <a:prstGeom prst="rect">
            <a:avLst/>
          </a:prstGeom>
          <a:noFill/>
        </p:spPr>
        <p:txBody>
          <a:bodyPr wrap="square" lIns="0" rIns="0">
            <a:noAutofit/>
          </a:bodyPr>
          <a:lstStyle/>
          <a:p>
            <a:pPr algn="l"/>
            <a:r>
              <a:rPr sz="3400" b="0" i="0">
                <a:solidFill>
                  <a:srgbClr val="0A2240"/>
                </a:solidFill>
                <a:latin typeface="Arial"/>
              </a:rPr>
              <a:t>300+ open connectors.</a:t>
            </a:r>
          </a:p>
        </p:txBody>
      </p:sp>
    </p:spTree>
    <p:extLst>
      <p:ext uri="{BB962C8B-B14F-4D97-AF65-F5344CB8AC3E}">
        <p14:creationId xmlns:p14="http://schemas.microsoft.com/office/powerpoint/2010/main" val="12129998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slidekit · Section Divid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783080"/>
            <a:ext cx="128016" cy="20116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7" name="TextBox 6"/>
          <p:cNvSpPr/>
          <p:nvPr>
            <p:ph type="body" idx="3"/>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Where We Stand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slidekit · Agenda">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Will Cover</a:t>
            </a:r>
          </a:p>
        </p:txBody>
      </p:sp>
      <p:sp>
        <p:nvSpPr>
          <p:cNvPr id="6" name="Rectangle 5"/>
          <p:cNvSpPr/>
          <p:nvPr>
            <p:ph type="body" idx="1"/>
          </p:nvPr>
        </p:nvSpPr>
        <p:spPr>
          <a:xfrm>
            <a:off x="457200" y="1280160"/>
            <a:ext cx="11277600" cy="64008"/>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8" name="TextBox 7"/>
          <p:cNvSpPr/>
          <p:nvPr>
            <p:ph type="body" idx="3"/>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Performance against targets</a:t>
            </a:r>
          </a:p>
        </p:txBody>
      </p:sp>
      <p:sp>
        <p:nvSpPr>
          <p:cNvPr id="9" name="TextBox 8"/>
          <p:cNvSpPr/>
          <p:nvPr>
            <p:ph type="body" idx="4"/>
          </p:nvPr>
        </p:nvSpPr>
        <p:spPr>
          <a:xfrm>
            <a:off x="457200" y="2501798"/>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10" name="TextBox 9"/>
          <p:cNvSpPr/>
          <p:nvPr>
            <p:ph type="body" idx="5"/>
          </p:nvPr>
        </p:nvSpPr>
        <p:spPr>
          <a:xfrm>
            <a:off x="1371600" y="2501798"/>
            <a:ext cx="10363200" cy="518159"/>
          </a:xfrm>
          <a:prstGeom prst="rect">
            <a:avLst/>
          </a:prstGeom>
          <a:noFill/>
        </p:spPr>
        <p:txBody>
          <a:bodyPr wrap="none" lIns="0" rIns="0">
            <a:noAutofit/>
          </a:bodyPr>
          <a:lstStyle/>
          <a:p>
            <a:pPr algn="l"/>
            <a:r>
              <a:rPr sz="3400" b="0" i="0">
                <a:solidFill>
                  <a:srgbClr val="0A2240"/>
                </a:solidFill>
                <a:latin typeface="Arial"/>
              </a:rPr>
              <a:t>Customer and market signals</a:t>
            </a:r>
          </a:p>
        </p:txBody>
      </p:sp>
      <p:sp>
        <p:nvSpPr>
          <p:cNvPr id="11" name="TextBox 10"/>
          <p:cNvSpPr/>
          <p:nvPr>
            <p:ph type="body" idx="6"/>
          </p:nvPr>
        </p:nvSpPr>
        <p:spPr>
          <a:xfrm>
            <a:off x="457200" y="3385108"/>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12" name="TextBox 11"/>
          <p:cNvSpPr/>
          <p:nvPr>
            <p:ph type="body" idx="7"/>
          </p:nvPr>
        </p:nvSpPr>
        <p:spPr>
          <a:xfrm>
            <a:off x="1371600" y="3385108"/>
            <a:ext cx="10363200" cy="518159"/>
          </a:xfrm>
          <a:prstGeom prst="rect">
            <a:avLst/>
          </a:prstGeom>
          <a:noFill/>
        </p:spPr>
        <p:txBody>
          <a:bodyPr wrap="none" lIns="0" rIns="0">
            <a:noAutofit/>
          </a:bodyPr>
          <a:lstStyle/>
          <a:p>
            <a:pPr algn="l"/>
            <a:r>
              <a:rPr sz="3400" b="0" i="0">
                <a:solidFill>
                  <a:srgbClr val="0A2240"/>
                </a:solidFill>
                <a:latin typeface="Arial"/>
              </a:rPr>
              <a:t>Operational health and risks</a:t>
            </a:r>
          </a:p>
        </p:txBody>
      </p:sp>
      <p:sp>
        <p:nvSpPr>
          <p:cNvPr id="13" name="TextBox 12"/>
          <p:cNvSpPr/>
          <p:nvPr>
            <p:ph type="body" idx="8"/>
          </p:nvPr>
        </p:nvSpPr>
        <p:spPr>
          <a:xfrm>
            <a:off x="457200" y="4268418"/>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4" name="TextBox 13"/>
          <p:cNvSpPr/>
          <p:nvPr>
            <p:ph type="body" idx="9"/>
          </p:nvPr>
        </p:nvSpPr>
        <p:spPr>
          <a:xfrm>
            <a:off x="1371600" y="4268418"/>
            <a:ext cx="10363200" cy="518159"/>
          </a:xfrm>
          <a:prstGeom prst="rect">
            <a:avLst/>
          </a:prstGeom>
          <a:noFill/>
        </p:spPr>
        <p:txBody>
          <a:bodyPr wrap="none" lIns="0" rIns="0">
            <a:noAutofit/>
          </a:bodyPr>
          <a:lstStyle/>
          <a:p>
            <a:pPr algn="l"/>
            <a:r>
              <a:rPr sz="3400" b="0" i="0">
                <a:solidFill>
                  <a:srgbClr val="0A2240"/>
                </a:solidFill>
                <a:latin typeface="Arial"/>
              </a:rPr>
              <a:t>Roadmap for next quarter</a:t>
            </a:r>
          </a:p>
        </p:txBody>
      </p:sp>
      <p:sp>
        <p:nvSpPr>
          <p:cNvPr id="15" name="TextBox 14"/>
          <p:cNvSpPr/>
          <p:nvPr>
            <p:ph type="body" idx="13"/>
          </p:nvPr>
        </p:nvSpPr>
        <p:spPr>
          <a:xfrm>
            <a:off x="457200" y="5151728"/>
            <a:ext cx="951348" cy="518159"/>
          </a:xfrm>
          <a:prstGeom prst="rect">
            <a:avLst/>
          </a:prstGeom>
          <a:noFill/>
        </p:spPr>
        <p:txBody>
          <a:bodyPr wrap="none" lIns="0" rIns="0">
            <a:noAutofit/>
          </a:bodyPr>
          <a:lstStyle/>
          <a:p>
            <a:pPr algn="l"/>
            <a:r>
              <a:rPr sz="3400" b="1" i="0">
                <a:solidFill>
                  <a:srgbClr val="0072CE"/>
                </a:solidFill>
                <a:latin typeface="Arial"/>
              </a:rPr>
              <a:t>05</a:t>
            </a:r>
          </a:p>
        </p:txBody>
      </p:sp>
      <p:sp>
        <p:nvSpPr>
          <p:cNvPr id="16" name="TextBox 15"/>
          <p:cNvSpPr/>
          <p:nvPr>
            <p:ph type="body" idx="14"/>
          </p:nvPr>
        </p:nvSpPr>
        <p:spPr>
          <a:xfrm>
            <a:off x="1371600" y="5151728"/>
            <a:ext cx="10363200" cy="518159"/>
          </a:xfrm>
          <a:prstGeom prst="rect">
            <a:avLst/>
          </a:prstGeom>
          <a:noFill/>
        </p:spPr>
        <p:txBody>
          <a:bodyPr wrap="none" lIns="0" rIns="0">
            <a:noAutofit/>
          </a:bodyPr>
          <a:lstStyle/>
          <a:p>
            <a:pPr algn="l"/>
            <a:r>
              <a:rPr sz="3400" b="0" i="0">
                <a:solidFill>
                  <a:srgbClr val="0A2240"/>
                </a:solidFill>
                <a:latin typeface="Arial"/>
              </a:rPr>
              <a:t>Decisions we need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slidekit · Big Numb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body" idx="1"/>
          </p:nvPr>
        </p:nvSpPr>
        <p:spPr>
          <a:xfrm>
            <a:off x="457200" y="2025396"/>
            <a:ext cx="11277600" cy="1691640"/>
          </a:xfrm>
          <a:prstGeom prst="rect">
            <a:avLst/>
          </a:prstGeom>
          <a:noFill/>
        </p:spPr>
        <p:txBody>
          <a:bodyPr wrap="none" lIns="0" rIns="0">
            <a:noAutofit/>
          </a:bodyPr>
          <a:lstStyle/>
          <a:p>
            <a:pPr algn="ctr"/>
            <a:r>
              <a:rPr sz="10500" b="1" i="0">
                <a:solidFill>
                  <a:srgbClr val="0072CE"/>
                </a:solidFill>
                <a:latin typeface="Arial"/>
              </a:rPr>
              <a:t>3.2M</a:t>
            </a:r>
          </a:p>
        </p:txBody>
      </p:sp>
      <p:sp>
        <p:nvSpPr>
          <p:cNvPr id="6" name="Rectangle 5"/>
          <p:cNvSpPr/>
          <p:nvPr>
            <p:ph type="body" idx="2"/>
          </p:nvPr>
        </p:nvSpPr>
        <p:spPr>
          <a:xfrm>
            <a:off x="5547360" y="3771900"/>
            <a:ext cx="1097280" cy="54864"/>
          </a:xfrm>
          <a:prstGeom prst="rect">
            <a:avLst/>
          </a:prstGeom>
          <a:solidFill>
            <a:srgbClr val="0072CE"/>
          </a:solidFill>
          <a:ln>
            <a:noFill/>
          </a:ln>
          <a:effectLst/>
        </p:spPr>
        <p:txBody>
          <a:bodyPr rtlCol="0" anchor="ctr"/>
          <a:lstStyle/>
          <a:p>
            <a:pPr algn="ctr"/>
          </a:p>
        </p:txBody>
      </p:sp>
      <p:sp>
        <p:nvSpPr>
          <p:cNvPr id="7" name="TextBox 6"/>
          <p:cNvSpPr/>
          <p:nvPr>
            <p:ph type="body" idx="3"/>
          </p:nvPr>
        </p:nvSpPr>
        <p:spPr>
          <a:xfrm>
            <a:off x="457200" y="4101084"/>
            <a:ext cx="11277600" cy="731520"/>
          </a:xfrm>
          <a:prstGeom prst="rect">
            <a:avLst/>
          </a:prstGeom>
          <a:noFill/>
        </p:spPr>
        <p:txBody>
          <a:bodyPr wrap="none" lIns="0" rIns="0">
            <a:noAutofit/>
          </a:bodyPr>
          <a:lstStyle/>
          <a:p>
            <a:pPr algn="ctr"/>
            <a:r>
              <a:rPr sz="4200" b="0" i="0">
                <a:solidFill>
                  <a:srgbClr val="0A2240"/>
                </a:solidFill>
                <a:latin typeface="Arial"/>
              </a:rPr>
              <a:t>Active customers worldwide</a:t>
            </a:r>
          </a:p>
        </p:txBody>
      </p:sp>
    </p:spTree>
    <p:extLst>
      <p:ext uri="{BB962C8B-B14F-4D97-AF65-F5344CB8AC3E}">
        <p14:creationId xmlns:p14="http://schemas.microsoft.com/office/powerpoint/2010/main" val="121299981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slidekit · Pull Quot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301240"/>
            <a:ext cx="128016" cy="225552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301240"/>
            <a:ext cx="10738104" cy="1371600"/>
          </a:xfrm>
          <a:prstGeom prst="rect">
            <a:avLst/>
          </a:prstGeom>
          <a:noFill/>
        </p:spPr>
        <p:txBody>
          <a:bodyPr wrap="square" lIns="0" rIns="0">
            <a:noAutofit/>
          </a:bodyPr>
          <a:lstStyle/>
          <a:p>
            <a:pPr algn="l"/>
            <a:r>
              <a:rPr sz="4200" b="1" i="0">
                <a:solidFill>
                  <a:srgbClr val="0A2240"/>
                </a:solidFill>
                <a:latin typeface="Arial"/>
              </a:rPr>
              <a:t>"We stopped buying tools and started buying outcomes."</a:t>
            </a:r>
          </a:p>
        </p:txBody>
      </p:sp>
      <p:sp>
        <p:nvSpPr>
          <p:cNvPr id="7" name="TextBox 6"/>
          <p:cNvSpPr/>
          <p:nvPr>
            <p:ph type="body" idx="3"/>
          </p:nvPr>
        </p:nvSpPr>
        <p:spPr>
          <a:xfrm>
            <a:off x="996696" y="3947160"/>
            <a:ext cx="11195304" cy="609600"/>
          </a:xfrm>
          <a:prstGeom prst="rect">
            <a:avLst/>
          </a:prstGeom>
          <a:noFill/>
        </p:spPr>
        <p:txBody>
          <a:bodyPr wrap="none" lIns="0" rIns="0">
            <a:noAutofit/>
          </a:bodyPr>
          <a:lstStyle/>
          <a:p>
            <a:pPr algn="l"/>
            <a:r>
              <a:rPr sz="3400" b="0" i="0">
                <a:solidFill>
                  <a:srgbClr val="5B6B82"/>
                </a:solidFill>
                <a:latin typeface="Arial"/>
              </a:rPr>
              <a:t>- VP of Engineering, enterprise customer</a:t>
            </a:r>
          </a:p>
        </p:txBody>
      </p:sp>
    </p:spTree>
    <p:extLst>
      <p:ext uri="{BB962C8B-B14F-4D97-AF65-F5344CB8AC3E}">
        <p14:creationId xmlns:p14="http://schemas.microsoft.com/office/powerpoint/2010/main" val="12129998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slidekit · Defini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965960"/>
            <a:ext cx="128016" cy="29260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965960"/>
            <a:ext cx="11195304" cy="1005840"/>
          </a:xfrm>
          <a:prstGeom prst="rect">
            <a:avLst/>
          </a:prstGeom>
          <a:noFill/>
        </p:spPr>
        <p:txBody>
          <a:bodyPr wrap="none" lIns="0" rIns="0">
            <a:noAutofit/>
          </a:bodyPr>
          <a:lstStyle/>
          <a:p>
            <a:pPr algn="l"/>
            <a:r>
              <a:rPr sz="6000" b="1" i="0">
                <a:solidFill>
                  <a:srgbClr val="0072CE"/>
                </a:solidFill>
                <a:latin typeface="Arial"/>
              </a:rPr>
              <a:t>Net Revenue Retention</a:t>
            </a:r>
          </a:p>
        </p:txBody>
      </p:sp>
      <p:sp>
        <p:nvSpPr>
          <p:cNvPr id="7" name="TextBox 6"/>
          <p:cNvSpPr/>
          <p:nvPr>
            <p:ph type="body" idx="3"/>
          </p:nvPr>
        </p:nvSpPr>
        <p:spPr>
          <a:xfrm>
            <a:off x="996696" y="3246120"/>
            <a:ext cx="10738104" cy="1645920"/>
          </a:xfrm>
          <a:prstGeom prst="rect">
            <a:avLst/>
          </a:prstGeom>
          <a:noFill/>
        </p:spPr>
        <p:txBody>
          <a:bodyPr wrap="square" lIns="0" rIns="0">
            <a:noAutofit/>
          </a:bodyPr>
          <a:lstStyle/>
          <a:p>
            <a:pPr algn="l"/>
            <a:r>
              <a:rPr sz="3400" b="0" i="0">
                <a:solidFill>
                  <a:srgbClr val="0A2240"/>
                </a:solidFill>
                <a:latin typeface="Arial"/>
              </a:rPr>
              <a:t>The percentage of recurring revenue retained from existing customers over a period, including expansion and after churn.</a:t>
            </a:r>
          </a:p>
        </p:txBody>
      </p:sp>
    </p:spTree>
    <p:extLst>
      <p:ext uri="{BB962C8B-B14F-4D97-AF65-F5344CB8AC3E}">
        <p14:creationId xmlns:p14="http://schemas.microsoft.com/office/powerpoint/2010/main" val="121299981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slidekit · Ques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011680"/>
            <a:ext cx="128016" cy="283464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011680"/>
            <a:ext cx="10738104" cy="2834640"/>
          </a:xfrm>
          <a:prstGeom prst="rect">
            <a:avLst/>
          </a:prstGeom>
          <a:noFill/>
        </p:spPr>
        <p:txBody>
          <a:bodyPr wrap="square" lIns="0" rIns="0">
            <a:noAutofit/>
          </a:bodyPr>
          <a:lstStyle/>
          <a:p>
            <a:pPr algn="l"/>
            <a:r>
              <a:rPr sz="6000" b="1" i="0">
                <a:solidFill>
                  <a:srgbClr val="0A2240"/>
                </a:solidFill>
                <a:latin typeface="Arial"/>
              </a:rPr>
              <a:t>What would we build if we trusted our customers completely?</a:t>
            </a:r>
          </a:p>
        </p:txBody>
      </p:sp>
    </p:spTree>
    <p:extLst>
      <p:ext uri="{BB962C8B-B14F-4D97-AF65-F5344CB8AC3E}">
        <p14:creationId xmlns:p14="http://schemas.microsoft.com/office/powerpoint/2010/main" val="12129998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slidekit · Bullet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468040" cy="768096"/>
          </a:xfrm>
          <a:prstGeom prst="rect">
            <a:avLst/>
          </a:prstGeom>
          <a:noFill/>
        </p:spPr>
        <p:txBody>
          <a:bodyPr wrap="none" lIns="0" rIns="0">
            <a:noAutofit/>
          </a:bodyPr>
          <a:lstStyle/>
          <a:p>
            <a:pPr algn="l"/>
            <a:r>
              <a:rPr sz="4200" b="1" i="0">
                <a:solidFill>
                  <a:srgbClr val="0072CE"/>
                </a:solidFill>
                <a:latin typeface="Arial"/>
              </a:rPr>
              <a:t>What Changed This Quarter</a:t>
            </a:r>
          </a:p>
        </p:txBody>
      </p:sp>
      <p:sp>
        <p:nvSpPr>
          <p:cNvPr id="6" name="TextBox 5"/>
          <p:cNvSpPr/>
          <p:nvPr>
            <p:ph type="body" id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Activation time dropped by half</a:t>
            </a:r>
          </a:p>
        </p:txBody>
      </p:sp>
      <p:sp>
        <p:nvSpPr>
          <p:cNvPr id="7" name="TextBox 6"/>
          <p:cNvSpPr/>
          <p:nvPr>
            <p:ph type="body" idx="2"/>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Support tickets fell sharply</a:t>
            </a:r>
          </a:p>
        </p:txBody>
      </p:sp>
      <p:sp>
        <p:nvSpPr>
          <p:cNvPr id="8" name="TextBox 7"/>
          <p:cNvSpPr/>
          <p:nvPr>
            <p:ph type="body" idx="3"/>
          </p:nvPr>
        </p:nvSpPr>
        <p:spPr>
          <a:xfrm>
            <a:off x="457200" y="4346447"/>
            <a:ext cx="11734800" cy="518159"/>
          </a:xfrm>
          <a:prstGeom prst="rect">
            <a:avLst/>
          </a:prstGeom>
          <a:noFill/>
        </p:spPr>
        <p:txBody>
          <a:bodyPr wrap="none" lIns="0" rIns="0">
            <a:noAutofit/>
          </a:bodyPr>
          <a:lstStyle/>
          <a:p>
            <a:pPr algn="l"/>
            <a:r>
              <a:rPr sz="3400" b="0" i="0">
                <a:solidFill>
                  <a:srgbClr val="0A2240"/>
                </a:solidFill>
                <a:latin typeface="Arial"/>
              </a:rPr>
              <a:t>Expansion revenue outpaced new sales</a:t>
            </a:r>
          </a:p>
        </p:txBody>
      </p:sp>
    </p:spTree>
    <p:extLst>
      <p:ext uri="{BB962C8B-B14F-4D97-AF65-F5344CB8AC3E}">
        <p14:creationId xmlns:p14="http://schemas.microsoft.com/office/powerpoint/2010/main" val="121299981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slidekit · Code Block">
    <p:bg>
      <p:bgPr>
        <a:solidFill>
          <a:srgbClr val="0C1A1C"/>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457200"/>
            <a:ext cx="146304" cy="146304"/>
          </a:xfrm>
          <a:prstGeom prst="rect">
            <a:avLst/>
          </a:prstGeom>
          <a:solidFill>
            <a:srgbClr val="FF5F56"/>
          </a:solidFill>
          <a:ln>
            <a:noFill/>
          </a:ln>
          <a:effectLst/>
        </p:spPr>
        <p:txBody>
          <a:bodyPr rtlCol="0" anchor="ctr"/>
          <a:lstStyle/>
          <a:p>
            <a:pPr algn="ctr"/>
          </a:p>
        </p:txBody>
      </p:sp>
      <p:sp>
        <p:nvSpPr>
          <p:cNvPr id="6" name="Rectangle 5"/>
          <p:cNvSpPr/>
          <p:nvPr>
            <p:ph type="body" idx="2"/>
          </p:nvPr>
        </p:nvSpPr>
        <p:spPr>
          <a:xfrm>
            <a:off x="713232" y="457200"/>
            <a:ext cx="146304" cy="146304"/>
          </a:xfrm>
          <a:prstGeom prst="rect">
            <a:avLst/>
          </a:prstGeom>
          <a:solidFill>
            <a:srgbClr val="FFBD2E"/>
          </a:solidFill>
          <a:ln>
            <a:noFill/>
          </a:ln>
          <a:effectLst/>
        </p:spPr>
        <p:txBody>
          <a:bodyPr rtlCol="0" anchor="ctr"/>
          <a:lstStyle/>
          <a:p>
            <a:pPr algn="ctr"/>
          </a:p>
        </p:txBody>
      </p:sp>
      <p:sp>
        <p:nvSpPr>
          <p:cNvPr id="7" name="Rectangle 6"/>
          <p:cNvSpPr/>
          <p:nvPr>
            <p:ph type="body" idx="3"/>
          </p:nvPr>
        </p:nvSpPr>
        <p:spPr>
          <a:xfrm>
            <a:off x="969264" y="457200"/>
            <a:ext cx="146304" cy="146304"/>
          </a:xfrm>
          <a:prstGeom prst="rect">
            <a:avLst/>
          </a:prstGeom>
          <a:solidFill>
            <a:srgbClr val="27C93F"/>
          </a:solidFill>
          <a:ln>
            <a:noFill/>
          </a:ln>
          <a:effectLst/>
        </p:spPr>
        <p:txBody>
          <a:bodyPr rtlCol="0" anchor="ctr"/>
          <a:lstStyle/>
          <a:p>
            <a:pPr algn="ctr"/>
          </a:p>
        </p:txBody>
      </p:sp>
      <p:sp>
        <p:nvSpPr>
          <p:cNvPr id="8" name="TextBox 7"/>
          <p:cNvSpPr/>
          <p:nvPr>
            <p:ph type="body" idx="4"/>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hello.py</a:t>
            </a:r>
          </a:p>
        </p:txBody>
      </p:sp>
      <p:sp>
        <p:nvSpPr>
          <p:cNvPr id="9" name="TextBox 8"/>
          <p:cNvSpPr/>
          <p:nvPr>
            <p:ph type="body" idx="5"/>
          </p:nvPr>
        </p:nvSpPr>
        <p:spPr>
          <a:xfrm>
            <a:off x="457200" y="1837944"/>
            <a:ext cx="7851377" cy="518159"/>
          </a:xfrm>
          <a:prstGeom prst="rect">
            <a:avLst/>
          </a:prstGeom>
          <a:noFill/>
        </p:spPr>
        <p:txBody>
          <a:bodyPr wrap="none" lIns="0" rIns="0">
            <a:noAutofit/>
          </a:bodyPr>
          <a:lstStyle/>
          <a:p>
            <a:pPr algn="l"/>
            <a:r>
              <a:rPr sz="3400" b="0" i="0">
                <a:solidFill>
                  <a:srgbClr val="6A9955"/>
                </a:solidFill>
                <a:latin typeface="Arial"/>
              </a:rPr>
              <a:t># The classic, end to end</a:t>
            </a:r>
          </a:p>
        </p:txBody>
      </p:sp>
      <p:sp>
        <p:nvSpPr>
          <p:cNvPr id="10" name="TextBox 9"/>
          <p:cNvSpPr/>
          <p:nvPr>
            <p:ph type="body" idx="6"/>
          </p:nvPr>
        </p:nvSpPr>
        <p:spPr>
          <a:xfrm>
            <a:off x="457200" y="2356103"/>
            <a:ext cx="1143297" cy="518159"/>
          </a:xfrm>
          <a:prstGeom prst="rect">
            <a:avLst/>
          </a:prstGeom>
          <a:noFill/>
        </p:spPr>
        <p:txBody>
          <a:bodyPr wrap="none" lIns="0" rIns="0">
            <a:noAutofit/>
          </a:bodyPr>
          <a:lstStyle/>
          <a:p>
            <a:pPr algn="l"/>
            <a:r>
              <a:rPr sz="3400" b="0" i="0">
                <a:solidFill>
                  <a:srgbClr val="569CD6"/>
                </a:solidFill>
                <a:latin typeface="Arial"/>
              </a:rPr>
              <a:t>def</a:t>
            </a:r>
          </a:p>
        </p:txBody>
      </p:sp>
      <p:sp>
        <p:nvSpPr>
          <p:cNvPr id="11" name="TextBox 10"/>
          <p:cNvSpPr/>
          <p:nvPr>
            <p:ph type="body" idx="7"/>
          </p:nvPr>
        </p:nvSpPr>
        <p:spPr>
          <a:xfrm>
            <a:off x="1057461" y="2356103"/>
            <a:ext cx="302848"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2" name="TextBox 11"/>
          <p:cNvSpPr/>
          <p:nvPr>
            <p:ph type="body" idx="8"/>
          </p:nvPr>
        </p:nvSpPr>
        <p:spPr>
          <a:xfrm>
            <a:off x="1177429" y="2356103"/>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13" name="TextBox 12"/>
          <p:cNvSpPr/>
          <p:nvPr>
            <p:ph type="body" idx="9"/>
          </p:nvPr>
        </p:nvSpPr>
        <p:spPr>
          <a:xfrm>
            <a:off x="2113347" y="2356103"/>
            <a:ext cx="834964" cy="518159"/>
          </a:xfrm>
          <a:prstGeom prst="rect">
            <a:avLst/>
          </a:prstGeom>
          <a:noFill/>
        </p:spPr>
        <p:txBody>
          <a:bodyPr wrap="none" lIns="0" rIns="0">
            <a:noAutofit/>
          </a:bodyPr>
          <a:lstStyle/>
          <a:p>
            <a:pPr algn="l"/>
            <a:r>
              <a:rPr sz="3400" b="0" i="0">
                <a:solidFill>
                  <a:srgbClr val="D4D4D4"/>
                </a:solidFill>
                <a:latin typeface="Arial"/>
              </a:rPr>
              <a:t>():</a:t>
            </a:r>
          </a:p>
        </p:txBody>
      </p:sp>
      <p:sp>
        <p:nvSpPr>
          <p:cNvPr id="14" name="TextBox 13"/>
          <p:cNvSpPr/>
          <p:nvPr>
            <p:ph type="body" idx="13"/>
          </p:nvPr>
        </p:nvSpPr>
        <p:spPr>
          <a:xfrm>
            <a:off x="457200" y="2874262"/>
            <a:ext cx="662751"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5" name="TextBox 14"/>
          <p:cNvSpPr/>
          <p:nvPr>
            <p:ph type="body" idx="14"/>
          </p:nvPr>
        </p:nvSpPr>
        <p:spPr>
          <a:xfrm>
            <a:off x="937071" y="2874262"/>
            <a:ext cx="1526857" cy="518159"/>
          </a:xfrm>
          <a:prstGeom prst="rect">
            <a:avLst/>
          </a:prstGeom>
          <a:noFill/>
        </p:spPr>
        <p:txBody>
          <a:bodyPr wrap="none" lIns="0" rIns="0">
            <a:noAutofit/>
          </a:bodyPr>
          <a:lstStyle/>
          <a:p>
            <a:pPr algn="l"/>
            <a:r>
              <a:rPr sz="3400" b="0" i="0">
                <a:solidFill>
                  <a:srgbClr val="DCDCAA"/>
                </a:solidFill>
                <a:latin typeface="Arial"/>
              </a:rPr>
              <a:t>print</a:t>
            </a:r>
          </a:p>
        </p:txBody>
      </p:sp>
      <p:sp>
        <p:nvSpPr>
          <p:cNvPr id="16" name="TextBox 15"/>
          <p:cNvSpPr/>
          <p:nvPr>
            <p:ph type="body" idx="15"/>
          </p:nvPr>
        </p:nvSpPr>
        <p:spPr>
          <a:xfrm>
            <a:off x="1777057"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7" name="TextBox 16"/>
          <p:cNvSpPr/>
          <p:nvPr>
            <p:ph type="body" idx="16"/>
          </p:nvPr>
        </p:nvSpPr>
        <p:spPr>
          <a:xfrm>
            <a:off x="1920850" y="2874262"/>
            <a:ext cx="4474566" cy="518159"/>
          </a:xfrm>
          <a:prstGeom prst="rect">
            <a:avLst/>
          </a:prstGeom>
          <a:noFill/>
        </p:spPr>
        <p:txBody>
          <a:bodyPr wrap="none" lIns="0" rIns="0">
            <a:noAutofit/>
          </a:bodyPr>
          <a:lstStyle/>
          <a:p>
            <a:pPr algn="l"/>
            <a:r>
              <a:rPr sz="3400" b="0" i="0">
                <a:solidFill>
                  <a:srgbClr val="CE9178"/>
                </a:solidFill>
                <a:latin typeface="Arial"/>
              </a:rPr>
              <a:t>"Hello, world!"</a:t>
            </a:r>
          </a:p>
        </p:txBody>
      </p:sp>
      <p:sp>
        <p:nvSpPr>
          <p:cNvPr id="18" name="TextBox 17"/>
          <p:cNvSpPr/>
          <p:nvPr>
            <p:ph type="body" idx="17"/>
          </p:nvPr>
        </p:nvSpPr>
        <p:spPr>
          <a:xfrm>
            <a:off x="4603155"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9" name="TextBox 18"/>
          <p:cNvSpPr/>
          <p:nvPr>
            <p:ph type="body" idx="18"/>
          </p:nvPr>
        </p:nvSpPr>
        <p:spPr>
          <a:xfrm>
            <a:off x="457200" y="3910580"/>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20" name="TextBox 19"/>
          <p:cNvSpPr/>
          <p:nvPr>
            <p:ph type="body" idx="19"/>
          </p:nvPr>
        </p:nvSpPr>
        <p:spPr>
          <a:xfrm>
            <a:off x="1393118" y="3910580"/>
            <a:ext cx="643017" cy="518159"/>
          </a:xfrm>
          <a:prstGeom prst="rect">
            <a:avLst/>
          </a:prstGeom>
          <a:noFill/>
        </p:spPr>
        <p:txBody>
          <a:bodyPr wrap="none" lIns="0" rIns="0">
            <a:noAutofit/>
          </a:bodyPr>
          <a:lstStyle/>
          <a:p>
            <a:pPr algn="l"/>
            <a:r>
              <a:rPr sz="3400" b="0" i="0">
                <a:solidFill>
                  <a:srgbClr val="D4D4D4"/>
                </a:solidFill>
                <a:latin typeface="Arial"/>
              </a:rPr>
              <a:t>()</a:t>
            </a:r>
          </a:p>
        </p:txBody>
      </p:sp>
      <p:sp>
        <p:nvSpPr>
          <p:cNvPr id="21" name="TextBox 20"/>
          <p:cNvSpPr/>
          <p:nvPr>
            <p:ph type="body" idx="20"/>
          </p:nvPr>
        </p:nvSpPr>
        <p:spPr>
          <a:xfrm>
            <a:off x="457200" y="4946898"/>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22" name="TextBox 21"/>
          <p:cNvSpPr/>
          <p:nvPr>
            <p:ph type="body" idx="21"/>
          </p:nvPr>
        </p:nvSpPr>
        <p:spPr>
          <a:xfrm>
            <a:off x="697347" y="4946898"/>
            <a:ext cx="5022412" cy="518159"/>
          </a:xfrm>
          <a:prstGeom prst="rect">
            <a:avLst/>
          </a:prstGeom>
          <a:noFill/>
        </p:spPr>
        <p:txBody>
          <a:bodyPr wrap="none" lIns="0" rIns="0">
            <a:noAutofit/>
          </a:bodyPr>
          <a:lstStyle/>
          <a:p>
            <a:pPr algn="l"/>
            <a:r>
              <a:rPr sz="3400" b="0" i="0">
                <a:solidFill>
                  <a:srgbClr val="D4D4D4"/>
                </a:solidFill>
                <a:latin typeface="Arial"/>
              </a:rPr>
              <a:t> python hello.py</a:t>
            </a:r>
          </a:p>
        </p:txBody>
      </p:sp>
      <p:sp>
        <p:nvSpPr>
          <p:cNvPr id="23" name="TextBox 22"/>
          <p:cNvSpPr/>
          <p:nvPr>
            <p:ph type="body" idx="22"/>
          </p:nvPr>
        </p:nvSpPr>
        <p:spPr>
          <a:xfrm>
            <a:off x="457200" y="5465057"/>
            <a:ext cx="3984068" cy="518159"/>
          </a:xfrm>
          <a:prstGeom prst="rect">
            <a:avLst/>
          </a:prstGeom>
          <a:noFill/>
        </p:spPr>
        <p:txBody>
          <a:bodyPr wrap="none" lIns="0" rIns="0">
            <a:noAutofit/>
          </a:bodyPr>
          <a:lstStyle/>
          <a:p>
            <a:pPr algn="l"/>
            <a:r>
              <a:rPr sz="3400" b="0" i="0">
                <a:solidFill>
                  <a:srgbClr val="D4D4D4"/>
                </a:solidFill>
                <a:latin typeface="Arial"/>
              </a:rPr>
              <a:t>Hello, world!</a:t>
            </a:r>
          </a:p>
        </p:txBody>
      </p:sp>
    </p:spTree>
    <p:extLst>
      <p:ext uri="{BB962C8B-B14F-4D97-AF65-F5344CB8AC3E}">
        <p14:creationId xmlns:p14="http://schemas.microsoft.com/office/powerpoint/2010/main" val="121299981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slidekit · File Tre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Final folder shape</a:t>
            </a:r>
          </a:p>
        </p:txBody>
      </p:sp>
      <p:sp>
        <p:nvSpPr>
          <p:cNvPr id="6" name="Rounded Rectangle 5"/>
          <p:cNvSpPr/>
          <p:nvPr>
            <p:ph type="body" idx="1"/>
          </p:nvPr>
        </p:nvSpPr>
        <p:spPr>
          <a:xfrm>
            <a:off x="457200" y="1499616"/>
            <a:ext cx="11277600" cy="4261104"/>
          </a:xfrm>
          <a:prstGeom prst="roundRect">
            <a:avLst>
              <a:gd name="adj" fmla="val 3004"/>
            </a:avLst>
          </a:prstGeom>
          <a:solidFill>
            <a:srgbClr val="0C1A1C"/>
          </a:solidFill>
          <a:ln>
            <a:noFill/>
          </a:ln>
          <a:effectLst/>
        </p:spPr>
        <p:txBody>
          <a:bodyPr rtlCol="0" anchor="ctr"/>
          <a:lstStyle/>
          <a:p>
            <a:pPr algn="ctr"/>
          </a:p>
        </p:txBody>
      </p:sp>
      <p:sp>
        <p:nvSpPr>
          <p:cNvPr id="7" name="TextBox 6"/>
          <p:cNvSpPr/>
          <p:nvPr>
            <p:ph type="body" idx="2"/>
          </p:nvPr>
        </p:nvSpPr>
        <p:spPr>
          <a:xfrm>
            <a:off x="822960" y="1819656"/>
            <a:ext cx="6206708" cy="396240"/>
          </a:xfrm>
          <a:prstGeom prst="rect">
            <a:avLst/>
          </a:prstGeom>
          <a:noFill/>
        </p:spPr>
        <p:txBody>
          <a:bodyPr wrap="none" lIns="0" rIns="0">
            <a:noAutofit/>
          </a:bodyPr>
          <a:lstStyle/>
          <a:p>
            <a:pPr algn="l"/>
            <a:r>
              <a:rPr sz="2600" b="1" i="0">
                <a:solidFill>
                  <a:srgbClr val="569CD6"/>
                </a:solidFill>
                <a:latin typeface="Courier New"/>
              </a:rPr>
              <a:t>simple-eda-project/</a:t>
            </a:r>
          </a:p>
        </p:txBody>
      </p:sp>
      <p:sp>
        <p:nvSpPr>
          <p:cNvPr id="8" name="TextBox 7"/>
          <p:cNvSpPr/>
          <p:nvPr>
            <p:ph type="body" idx="3"/>
          </p:nvPr>
        </p:nvSpPr>
        <p:spPr>
          <a:xfrm>
            <a:off x="822960" y="22158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9" name="TextBox 8"/>
          <p:cNvSpPr/>
          <p:nvPr>
            <p:ph type="body" idx="4"/>
          </p:nvPr>
        </p:nvSpPr>
        <p:spPr>
          <a:xfrm>
            <a:off x="1417417" y="2215896"/>
            <a:ext cx="1451054" cy="396240"/>
          </a:xfrm>
          <a:prstGeom prst="rect">
            <a:avLst/>
          </a:prstGeom>
          <a:noFill/>
        </p:spPr>
        <p:txBody>
          <a:bodyPr wrap="none" lIns="0" rIns="0">
            <a:noAutofit/>
          </a:bodyPr>
          <a:lstStyle/>
          <a:p>
            <a:pPr algn="l"/>
            <a:r>
              <a:rPr sz="2600" b="1" i="0">
                <a:solidFill>
                  <a:srgbClr val="569CD6"/>
                </a:solidFill>
                <a:latin typeface="Courier New"/>
              </a:rPr>
              <a:t>src/</a:t>
            </a:r>
          </a:p>
        </p:txBody>
      </p:sp>
      <p:sp>
        <p:nvSpPr>
          <p:cNvPr id="10" name="TextBox 9"/>
          <p:cNvSpPr/>
          <p:nvPr>
            <p:ph type="body" idx="5"/>
          </p:nvPr>
        </p:nvSpPr>
        <p:spPr>
          <a:xfrm>
            <a:off x="822960" y="2612136"/>
            <a:ext cx="2085140"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1" name="TextBox 10"/>
          <p:cNvSpPr/>
          <p:nvPr>
            <p:ph type="body" idx="6"/>
          </p:nvPr>
        </p:nvSpPr>
        <p:spPr>
          <a:xfrm>
            <a:off x="2011873" y="2612136"/>
            <a:ext cx="3670360" cy="396240"/>
          </a:xfrm>
          <a:prstGeom prst="rect">
            <a:avLst/>
          </a:prstGeom>
          <a:noFill/>
        </p:spPr>
        <p:txBody>
          <a:bodyPr wrap="none" lIns="0" rIns="0">
            <a:noAutofit/>
          </a:bodyPr>
          <a:lstStyle/>
          <a:p>
            <a:pPr algn="l"/>
            <a:r>
              <a:rPr sz="2600" b="1" i="0">
                <a:solidFill>
                  <a:srgbClr val="569CD6"/>
                </a:solidFill>
                <a:latin typeface="Courier New"/>
              </a:rPr>
              <a:t>simple_eda/</a:t>
            </a:r>
          </a:p>
        </p:txBody>
      </p:sp>
      <p:sp>
        <p:nvSpPr>
          <p:cNvPr id="12" name="TextBox 11"/>
          <p:cNvSpPr/>
          <p:nvPr>
            <p:ph type="body" idx="7"/>
          </p:nvPr>
        </p:nvSpPr>
        <p:spPr>
          <a:xfrm>
            <a:off x="822960" y="300837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3" name="TextBox 12"/>
          <p:cNvSpPr/>
          <p:nvPr>
            <p:ph type="body" idx="8"/>
          </p:nvPr>
        </p:nvSpPr>
        <p:spPr>
          <a:xfrm>
            <a:off x="2606330" y="3008376"/>
            <a:ext cx="3670360" cy="396240"/>
          </a:xfrm>
          <a:prstGeom prst="rect">
            <a:avLst/>
          </a:prstGeom>
          <a:noFill/>
        </p:spPr>
        <p:txBody>
          <a:bodyPr wrap="none" lIns="0" rIns="0">
            <a:noAutofit/>
          </a:bodyPr>
          <a:lstStyle/>
          <a:p>
            <a:pPr algn="l"/>
            <a:r>
              <a:rPr sz="2600" b="0" i="0">
                <a:solidFill>
                  <a:srgbClr val="D4D4D4"/>
                </a:solidFill>
                <a:latin typeface="Courier New"/>
              </a:rPr>
              <a:t>__init__.py</a:t>
            </a:r>
          </a:p>
        </p:txBody>
      </p:sp>
      <p:sp>
        <p:nvSpPr>
          <p:cNvPr id="14" name="TextBox 13"/>
          <p:cNvSpPr/>
          <p:nvPr>
            <p:ph type="body" idx="9"/>
          </p:nvPr>
        </p:nvSpPr>
        <p:spPr>
          <a:xfrm>
            <a:off x="822960" y="340461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5" name="TextBox 14"/>
          <p:cNvSpPr/>
          <p:nvPr>
            <p:ph type="body" idx="13"/>
          </p:nvPr>
        </p:nvSpPr>
        <p:spPr>
          <a:xfrm>
            <a:off x="2606330" y="3404616"/>
            <a:ext cx="2402185" cy="396240"/>
          </a:xfrm>
          <a:prstGeom prst="rect">
            <a:avLst/>
          </a:prstGeom>
          <a:noFill/>
        </p:spPr>
        <p:txBody>
          <a:bodyPr wrap="none" lIns="0" rIns="0">
            <a:noAutofit/>
          </a:bodyPr>
          <a:lstStyle/>
          <a:p>
            <a:pPr algn="l"/>
            <a:r>
              <a:rPr sz="2600" b="0" i="0">
                <a:solidFill>
                  <a:srgbClr val="D4D4D4"/>
                </a:solidFill>
                <a:latin typeface="Courier New"/>
              </a:rPr>
              <a:t>core.py</a:t>
            </a:r>
          </a:p>
        </p:txBody>
      </p:sp>
      <p:sp>
        <p:nvSpPr>
          <p:cNvPr id="16" name="TextBox 15"/>
          <p:cNvSpPr/>
          <p:nvPr>
            <p:ph type="body" idx="14"/>
          </p:nvPr>
        </p:nvSpPr>
        <p:spPr>
          <a:xfrm>
            <a:off x="822960" y="380085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7" name="TextBox 16"/>
          <p:cNvSpPr/>
          <p:nvPr>
            <p:ph type="body" idx="15"/>
          </p:nvPr>
        </p:nvSpPr>
        <p:spPr>
          <a:xfrm>
            <a:off x="1417417" y="3800856"/>
            <a:ext cx="3036272" cy="396240"/>
          </a:xfrm>
          <a:prstGeom prst="rect">
            <a:avLst/>
          </a:prstGeom>
          <a:noFill/>
        </p:spPr>
        <p:txBody>
          <a:bodyPr wrap="none" lIns="0" rIns="0">
            <a:noAutofit/>
          </a:bodyPr>
          <a:lstStyle/>
          <a:p>
            <a:pPr algn="l"/>
            <a:r>
              <a:rPr sz="2600" b="0" i="0">
                <a:solidFill>
                  <a:srgbClr val="D4D4D4"/>
                </a:solidFill>
                <a:latin typeface="Courier New"/>
              </a:rPr>
              <a:t>README.md</a:t>
            </a:r>
          </a:p>
        </p:txBody>
      </p:sp>
      <p:sp>
        <p:nvSpPr>
          <p:cNvPr id="18" name="TextBox 17"/>
          <p:cNvSpPr/>
          <p:nvPr>
            <p:ph type="body" idx="16"/>
          </p:nvPr>
        </p:nvSpPr>
        <p:spPr>
          <a:xfrm>
            <a:off x="822960" y="41970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9" name="TextBox 18"/>
          <p:cNvSpPr/>
          <p:nvPr>
            <p:ph type="body" idx="17"/>
          </p:nvPr>
        </p:nvSpPr>
        <p:spPr>
          <a:xfrm>
            <a:off x="1417417" y="4197096"/>
            <a:ext cx="4621489" cy="396240"/>
          </a:xfrm>
          <a:prstGeom prst="rect">
            <a:avLst/>
          </a:prstGeom>
          <a:noFill/>
        </p:spPr>
        <p:txBody>
          <a:bodyPr wrap="none" lIns="0" rIns="0">
            <a:noAutofit/>
          </a:bodyPr>
          <a:lstStyle/>
          <a:p>
            <a:pPr algn="l"/>
            <a:r>
              <a:rPr sz="2600" b="0" i="0">
                <a:solidFill>
                  <a:srgbClr val="D4D4D4"/>
                </a:solidFill>
                <a:latin typeface="Courier New"/>
              </a:rPr>
              <a:t>pyproject.toml</a:t>
            </a:r>
          </a:p>
        </p:txBody>
      </p:sp>
      <p:sp>
        <p:nvSpPr>
          <p:cNvPr id="20" name="TextBox 19"/>
          <p:cNvSpPr/>
          <p:nvPr>
            <p:ph type="body" idx="18"/>
          </p:nvPr>
        </p:nvSpPr>
        <p:spPr>
          <a:xfrm>
            <a:off x="822960" y="459333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21" name="TextBox 20"/>
          <p:cNvSpPr/>
          <p:nvPr>
            <p:ph type="body" idx="19"/>
          </p:nvPr>
        </p:nvSpPr>
        <p:spPr>
          <a:xfrm>
            <a:off x="1417417" y="4593336"/>
            <a:ext cx="2402185" cy="396240"/>
          </a:xfrm>
          <a:prstGeom prst="rect">
            <a:avLst/>
          </a:prstGeom>
          <a:noFill/>
        </p:spPr>
        <p:txBody>
          <a:bodyPr wrap="none" lIns="0" rIns="0">
            <a:noAutofit/>
          </a:bodyPr>
          <a:lstStyle/>
          <a:p>
            <a:pPr algn="l"/>
            <a:r>
              <a:rPr sz="2600" b="0" i="0">
                <a:solidFill>
                  <a:srgbClr val="D4D4D4"/>
                </a:solidFill>
                <a:latin typeface="Courier New"/>
              </a:rPr>
              <a:t>LICENSE</a:t>
            </a:r>
          </a:p>
        </p:txBody>
      </p:sp>
    </p:spTree>
    <p:extLst>
      <p:ext uri="{BB962C8B-B14F-4D97-AF65-F5344CB8AC3E}">
        <p14:creationId xmlns:p14="http://schemas.microsoft.com/office/powerpoint/2010/main" val="121299981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slidekit · Numbered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Steps to Onboard</a:t>
            </a:r>
          </a:p>
        </p:txBody>
      </p:sp>
      <p:sp>
        <p:nvSpPr>
          <p:cNvPr id="6" name="TextBox 5"/>
          <p:cNvSpPr/>
          <p:nvPr>
            <p:ph type="body" id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TextBox 6"/>
          <p:cNvSpPr/>
          <p:nvPr>
            <p:ph type="body" idx="2"/>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Connect your data</a:t>
            </a:r>
          </a:p>
        </p:txBody>
      </p:sp>
      <p:sp>
        <p:nvSpPr>
          <p:cNvPr id="8" name="TextBox 7"/>
          <p:cNvSpPr/>
          <p:nvPr>
            <p:ph type="body" idx="3"/>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Link a source in minutes with a guided wizard.</a:t>
            </a:r>
          </a:p>
        </p:txBody>
      </p:sp>
      <p:sp>
        <p:nvSpPr>
          <p:cNvPr id="9" name="TextBox 8"/>
          <p:cNvSpPr/>
          <p:nvPr>
            <p:ph type="body" idx="4"/>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0" name="TextBox 9"/>
          <p:cNvSpPr/>
          <p:nvPr>
            <p:ph type="body" idx="5"/>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Pick a template</a:t>
            </a:r>
          </a:p>
        </p:txBody>
      </p:sp>
      <p:sp>
        <p:nvSpPr>
          <p:cNvPr id="11" name="TextBox 10"/>
          <p:cNvSpPr/>
          <p:nvPr>
            <p:ph type="body" idx="6"/>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Start from a proven layout, then tailor it.</a:t>
            </a:r>
          </a:p>
        </p:txBody>
      </p:sp>
      <p:sp>
        <p:nvSpPr>
          <p:cNvPr id="12" name="TextBox 11"/>
          <p:cNvSpPr/>
          <p:nvPr>
            <p:ph type="body" idx="7"/>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3" name="TextBox 12"/>
          <p:cNvSpPr/>
          <p:nvPr>
            <p:ph type="body" idx="8"/>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Share the result</a:t>
            </a:r>
          </a:p>
        </p:txBody>
      </p:sp>
      <p:sp>
        <p:nvSpPr>
          <p:cNvPr id="14" name="TextBox 13"/>
          <p:cNvSpPr/>
          <p:nvPr>
            <p:ph type="body" idx="9"/>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Publish to your team and gather feedback fast.</a:t>
            </a:r>
          </a:p>
        </p:txBody>
      </p:sp>
    </p:spTree>
    <p:extLst>
      <p:ext uri="{BB962C8B-B14F-4D97-AF65-F5344CB8AC3E}">
        <p14:creationId xmlns:p14="http://schemas.microsoft.com/office/powerpoint/2010/main" val="12129998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slidekit · Two Panel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Reworked</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123A6B"/>
                </a:solidFill>
                <a:latin typeface="Arial"/>
              </a:rPr>
              <a:t>Before</a:t>
            </a:r>
          </a:p>
        </p:txBody>
      </p:sp>
      <p:sp>
        <p:nvSpPr>
          <p:cNvPr id="7" name="Rectangle 6"/>
          <p:cNvSpPr/>
          <p:nvPr>
            <p:ph type="body" idx="2"/>
          </p:nvPr>
        </p:nvSpPr>
        <p:spPr>
          <a:xfrm>
            <a:off x="548640" y="2176271"/>
            <a:ext cx="1650492"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After</a:t>
            </a:r>
          </a:p>
        </p:txBody>
      </p:sp>
      <p:sp>
        <p:nvSpPr>
          <p:cNvPr id="9" name="Rectangle 8"/>
          <p:cNvSpPr/>
          <p:nvPr>
            <p:ph type="body" idx="4"/>
          </p:nvPr>
        </p:nvSpPr>
        <p:spPr>
          <a:xfrm>
            <a:off x="6324600" y="2176271"/>
            <a:ext cx="1650492" cy="54864"/>
          </a:xfrm>
          <a:prstGeom prst="rect">
            <a:avLst/>
          </a:prstGeom>
          <a:solidFill>
            <a:srgbClr val="5B6B82"/>
          </a:solidFill>
          <a:ln>
            <a:noFill/>
          </a:ln>
          <a:effectLst/>
        </p:spPr>
        <p:txBody>
          <a:bodyPr rtlCol="0" anchor="ctr"/>
          <a:lstStyle/>
          <a:p>
            <a:pPr algn="ctr"/>
          </a:p>
        </p:txBody>
      </p:sp>
      <p:sp>
        <p:nvSpPr>
          <p:cNvPr id="10" name="TextBox 9"/>
          <p:cNvSpPr/>
          <p:nvPr>
            <p:ph type="body" idx="5"/>
          </p:nvPr>
        </p:nvSpPr>
        <p:spPr>
          <a:xfrm>
            <a:off x="457200" y="2395727"/>
            <a:ext cx="6942574" cy="609600"/>
          </a:xfrm>
          <a:prstGeom prst="rect">
            <a:avLst/>
          </a:prstGeom>
          <a:noFill/>
        </p:spPr>
        <p:txBody>
          <a:bodyPr wrap="none" lIns="0" rIns="0">
            <a:noAutofit/>
          </a:bodyPr>
          <a:lstStyle/>
          <a:p>
            <a:pPr algn="l"/>
            <a:r>
              <a:rPr sz="3400" b="0" i="0">
                <a:solidFill>
                  <a:srgbClr val="0A2240"/>
                </a:solidFill>
                <a:latin typeface="Arial"/>
              </a:rPr>
              <a:t>Manual account setup</a:t>
            </a:r>
          </a:p>
        </p:txBody>
      </p:sp>
      <p:sp>
        <p:nvSpPr>
          <p:cNvPr id="11" name="TextBox 10"/>
          <p:cNvSpPr/>
          <p:nvPr>
            <p:ph type="body" idx="6"/>
          </p:nvPr>
        </p:nvSpPr>
        <p:spPr>
          <a:xfrm>
            <a:off x="457200" y="3608831"/>
            <a:ext cx="7594321" cy="609600"/>
          </a:xfrm>
          <a:prstGeom prst="rect">
            <a:avLst/>
          </a:prstGeom>
          <a:noFill/>
        </p:spPr>
        <p:txBody>
          <a:bodyPr wrap="none" lIns="0" rIns="0">
            <a:noAutofit/>
          </a:bodyPr>
          <a:lstStyle/>
          <a:p>
            <a:pPr algn="l"/>
            <a:r>
              <a:rPr sz="3400" b="0" i="0">
                <a:solidFill>
                  <a:srgbClr val="0A2240"/>
                </a:solidFill>
                <a:latin typeface="Arial"/>
              </a:rPr>
              <a:t>Three-day approval wait</a:t>
            </a:r>
          </a:p>
        </p:txBody>
      </p:sp>
      <p:sp>
        <p:nvSpPr>
          <p:cNvPr id="12" name="TextBox 11"/>
          <p:cNvSpPr/>
          <p:nvPr>
            <p:ph type="body" idx="7"/>
          </p:nvPr>
        </p:nvSpPr>
        <p:spPr>
          <a:xfrm>
            <a:off x="457200" y="4821935"/>
            <a:ext cx="5904230" cy="609600"/>
          </a:xfrm>
          <a:prstGeom prst="rect">
            <a:avLst/>
          </a:prstGeom>
          <a:noFill/>
        </p:spPr>
        <p:txBody>
          <a:bodyPr wrap="none" lIns="0" rIns="0">
            <a:noAutofit/>
          </a:bodyPr>
          <a:lstStyle/>
          <a:p>
            <a:pPr algn="l"/>
            <a:r>
              <a:rPr sz="3400" b="0" i="0">
                <a:solidFill>
                  <a:srgbClr val="0A2240"/>
                </a:solidFill>
                <a:latin typeface="Arial"/>
              </a:rPr>
              <a:t>Email-only support</a:t>
            </a:r>
          </a:p>
        </p:txBody>
      </p:sp>
      <p:sp>
        <p:nvSpPr>
          <p:cNvPr id="13" name="TextBox 12"/>
          <p:cNvSpPr/>
          <p:nvPr>
            <p:ph type="body" idx="8"/>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One-click provisioning</a:t>
            </a:r>
          </a:p>
        </p:txBody>
      </p:sp>
      <p:sp>
        <p:nvSpPr>
          <p:cNvPr id="14" name="TextBox 13"/>
          <p:cNvSpPr/>
          <p:nvPr>
            <p:ph type="body" idx="9"/>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Same-day approval</a:t>
            </a:r>
          </a:p>
        </p:txBody>
      </p:sp>
      <p:sp>
        <p:nvSpPr>
          <p:cNvPr id="15" name="TextBox 14"/>
          <p:cNvSpPr/>
          <p:nvPr>
            <p:ph type="body" idx="13"/>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In-product live chat</a:t>
            </a:r>
          </a:p>
        </p:txBody>
      </p:sp>
    </p:spTree>
    <p:extLst>
      <p:ext uri="{BB962C8B-B14F-4D97-AF65-F5344CB8AC3E}">
        <p14:creationId xmlns:p14="http://schemas.microsoft.com/office/powerpoint/2010/main" val="121299981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slidekit · This vs Tha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Cloud or On-Prem</a:t>
            </a:r>
          </a:p>
        </p:txBody>
      </p:sp>
      <p:sp>
        <p:nvSpPr>
          <p:cNvPr id="6" name="TextBox 5"/>
          <p:cNvSpPr/>
          <p:nvPr>
            <p:ph type="body" id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3 wks</a:t>
            </a:r>
          </a:p>
        </p:txBody>
      </p:sp>
      <p:sp>
        <p:nvSpPr>
          <p:cNvPr id="7" name="TextBox 6"/>
          <p:cNvSpPr/>
          <p:nvPr>
            <p:ph type="body" idx="2"/>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Cloud time-to-launch</a:t>
            </a:r>
          </a:p>
        </p:txBody>
      </p:sp>
      <p:sp>
        <p:nvSpPr>
          <p:cNvPr id="8" name="TextBox 7"/>
          <p:cNvSpPr/>
          <p:nvPr>
            <p:ph type="body" idx="3"/>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6 mo</a:t>
            </a:r>
          </a:p>
        </p:txBody>
      </p:sp>
      <p:sp>
        <p:nvSpPr>
          <p:cNvPr id="9" name="TextBox 8"/>
          <p:cNvSpPr/>
          <p:nvPr>
            <p:ph type="body" idx="4"/>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On-prem time-to-launch</a:t>
            </a:r>
          </a:p>
        </p:txBody>
      </p:sp>
      <p:sp>
        <p:nvSpPr>
          <p:cNvPr id="10" name="TextBox 9"/>
          <p:cNvSpPr/>
          <p:nvPr>
            <p:ph type="body" idx="5"/>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Tree>
    <p:extLst>
      <p:ext uri="{BB962C8B-B14F-4D97-AF65-F5344CB8AC3E}">
        <p14:creationId xmlns:p14="http://schemas.microsoft.com/office/powerpoint/2010/main" val="121299981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slidekit · KPI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Metrics This Quarter</a:t>
            </a:r>
          </a:p>
        </p:txBody>
      </p:sp>
      <p:sp>
        <p:nvSpPr>
          <p:cNvPr id="6" name="TextBox 5"/>
          <p:cNvSpPr/>
          <p:nvPr>
            <p:ph type="body" idx="1"/>
          </p:nvPr>
        </p:nvSpPr>
        <p:spPr>
          <a:xfrm>
            <a:off x="457200" y="1789176"/>
            <a:ext cx="3576320" cy="640080"/>
          </a:xfrm>
          <a:prstGeom prst="rect">
            <a:avLst/>
          </a:prstGeom>
          <a:noFill/>
        </p:spPr>
        <p:txBody>
          <a:bodyPr wrap="none" lIns="0" rIns="0">
            <a:noAutofit/>
          </a:bodyPr>
          <a:lstStyle/>
          <a:p>
            <a:pPr algn="ctr"/>
            <a:r>
              <a:rPr sz="4200" b="1" i="0">
                <a:solidFill>
                  <a:srgbClr val="0072CE"/>
                </a:solidFill>
                <a:latin typeface="Arial"/>
              </a:rPr>
              <a:t>98.7%</a:t>
            </a:r>
          </a:p>
        </p:txBody>
      </p:sp>
      <p:sp>
        <p:nvSpPr>
          <p:cNvPr id="7" name="Rectangle 6"/>
          <p:cNvSpPr/>
          <p:nvPr>
            <p:ph type="body" idx="2"/>
          </p:nvPr>
        </p:nvSpPr>
        <p:spPr>
          <a:xfrm>
            <a:off x="1708912" y="2484120"/>
            <a:ext cx="1072896"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593848"/>
            <a:ext cx="3576320" cy="609600"/>
          </a:xfrm>
          <a:prstGeom prst="rect">
            <a:avLst/>
          </a:prstGeom>
          <a:noFill/>
        </p:spPr>
        <p:txBody>
          <a:bodyPr wrap="none" lIns="0" rIns="0">
            <a:noAutofit/>
          </a:bodyPr>
          <a:lstStyle/>
          <a:p>
            <a:pPr algn="ctr"/>
            <a:r>
              <a:rPr sz="3400" b="0" i="0">
                <a:solidFill>
                  <a:srgbClr val="0A2240"/>
                </a:solidFill>
                <a:latin typeface="Arial"/>
              </a:rPr>
              <a:t>Uptime</a:t>
            </a:r>
          </a:p>
        </p:txBody>
      </p:sp>
      <p:sp>
        <p:nvSpPr>
          <p:cNvPr id="9" name="TextBox 8"/>
          <p:cNvSpPr/>
          <p:nvPr>
            <p:ph type="body" idx="4"/>
          </p:nvPr>
        </p:nvSpPr>
        <p:spPr>
          <a:xfrm>
            <a:off x="4307840" y="1789176"/>
            <a:ext cx="3576320" cy="640080"/>
          </a:xfrm>
          <a:prstGeom prst="rect">
            <a:avLst/>
          </a:prstGeom>
          <a:noFill/>
        </p:spPr>
        <p:txBody>
          <a:bodyPr wrap="none" lIns="0" rIns="0">
            <a:noAutofit/>
          </a:bodyPr>
          <a:lstStyle/>
          <a:p>
            <a:pPr algn="ctr"/>
            <a:r>
              <a:rPr sz="4200" b="1" i="0">
                <a:solidFill>
                  <a:srgbClr val="0072CE"/>
                </a:solidFill>
                <a:latin typeface="Arial"/>
              </a:rPr>
              <a:t>1,240</a:t>
            </a:r>
          </a:p>
        </p:txBody>
      </p:sp>
      <p:sp>
        <p:nvSpPr>
          <p:cNvPr id="10" name="Rectangle 9"/>
          <p:cNvSpPr/>
          <p:nvPr>
            <p:ph type="body" idx="5"/>
          </p:nvPr>
        </p:nvSpPr>
        <p:spPr>
          <a:xfrm>
            <a:off x="5559552" y="2484120"/>
            <a:ext cx="1072896" cy="54864"/>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3834934" y="2593848"/>
            <a:ext cx="4522132" cy="609600"/>
          </a:xfrm>
          <a:prstGeom prst="rect">
            <a:avLst/>
          </a:prstGeom>
          <a:noFill/>
        </p:spPr>
        <p:txBody>
          <a:bodyPr wrap="none" lIns="0" rIns="0">
            <a:noAutofit/>
          </a:bodyPr>
          <a:lstStyle/>
          <a:p>
            <a:pPr algn="ctr"/>
            <a:r>
              <a:rPr sz="3400" b="0" i="0">
                <a:solidFill>
                  <a:srgbClr val="0A2240"/>
                </a:solidFill>
                <a:latin typeface="Arial"/>
              </a:rPr>
              <a:t>New accounts</a:t>
            </a:r>
          </a:p>
        </p:txBody>
      </p:sp>
      <p:sp>
        <p:nvSpPr>
          <p:cNvPr id="12" name="TextBox 11"/>
          <p:cNvSpPr/>
          <p:nvPr>
            <p:ph type="body" idx="7"/>
          </p:nvPr>
        </p:nvSpPr>
        <p:spPr>
          <a:xfrm>
            <a:off x="8158480" y="1789176"/>
            <a:ext cx="3576320" cy="640080"/>
          </a:xfrm>
          <a:prstGeom prst="rect">
            <a:avLst/>
          </a:prstGeom>
          <a:noFill/>
        </p:spPr>
        <p:txBody>
          <a:bodyPr wrap="none" lIns="0" rIns="0">
            <a:noAutofit/>
          </a:bodyPr>
          <a:lstStyle/>
          <a:p>
            <a:pPr algn="ctr"/>
            <a:r>
              <a:rPr sz="4200" b="1" i="0">
                <a:solidFill>
                  <a:srgbClr val="0072CE"/>
                </a:solidFill>
                <a:latin typeface="Arial"/>
              </a:rPr>
              <a:t>4.6/5</a:t>
            </a:r>
          </a:p>
        </p:txBody>
      </p:sp>
      <p:sp>
        <p:nvSpPr>
          <p:cNvPr id="13" name="Rectangle 12"/>
          <p:cNvSpPr/>
          <p:nvPr>
            <p:ph type="body" idx="8"/>
          </p:nvPr>
        </p:nvSpPr>
        <p:spPr>
          <a:xfrm>
            <a:off x="9410192" y="2484120"/>
            <a:ext cx="1072896"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7701280" y="2593848"/>
            <a:ext cx="4490720" cy="609600"/>
          </a:xfrm>
          <a:prstGeom prst="rect">
            <a:avLst/>
          </a:prstGeom>
          <a:noFill/>
        </p:spPr>
        <p:txBody>
          <a:bodyPr wrap="none" lIns="0" rIns="0">
            <a:noAutofit/>
          </a:bodyPr>
          <a:lstStyle/>
          <a:p>
            <a:pPr algn="ctr"/>
            <a:r>
              <a:rPr sz="3400" b="0" i="0">
                <a:solidFill>
                  <a:srgbClr val="0A2240"/>
                </a:solidFill>
                <a:latin typeface="Arial"/>
              </a:rPr>
              <a:t>Support rating</a:t>
            </a:r>
          </a:p>
        </p:txBody>
      </p:sp>
      <p:sp>
        <p:nvSpPr>
          <p:cNvPr id="15" name="TextBox 14"/>
          <p:cNvSpPr/>
          <p:nvPr>
            <p:ph type="body" idx="13"/>
          </p:nvPr>
        </p:nvSpPr>
        <p:spPr>
          <a:xfrm>
            <a:off x="457200" y="4056888"/>
            <a:ext cx="3576320" cy="640080"/>
          </a:xfrm>
          <a:prstGeom prst="rect">
            <a:avLst/>
          </a:prstGeom>
          <a:noFill/>
        </p:spPr>
        <p:txBody>
          <a:bodyPr wrap="none" lIns="0" rIns="0">
            <a:noAutofit/>
          </a:bodyPr>
          <a:lstStyle/>
          <a:p>
            <a:pPr algn="ctr"/>
            <a:r>
              <a:rPr sz="4200" b="1" i="0">
                <a:solidFill>
                  <a:srgbClr val="0072CE"/>
                </a:solidFill>
                <a:latin typeface="Arial"/>
              </a:rPr>
              <a:t>$2.1M</a:t>
            </a:r>
          </a:p>
        </p:txBody>
      </p:sp>
      <p:sp>
        <p:nvSpPr>
          <p:cNvPr id="16" name="Rectangle 15"/>
          <p:cNvSpPr/>
          <p:nvPr>
            <p:ph type="body" idx="14"/>
          </p:nvPr>
        </p:nvSpPr>
        <p:spPr>
          <a:xfrm>
            <a:off x="1708912" y="4751832"/>
            <a:ext cx="1072896" cy="548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0" y="4861560"/>
            <a:ext cx="4490720" cy="609600"/>
          </a:xfrm>
          <a:prstGeom prst="rect">
            <a:avLst/>
          </a:prstGeom>
          <a:noFill/>
        </p:spPr>
        <p:txBody>
          <a:bodyPr wrap="none" lIns="0" rIns="0">
            <a:noAutofit/>
          </a:bodyPr>
          <a:lstStyle/>
          <a:p>
            <a:pPr algn="ctr"/>
            <a:r>
              <a:rPr sz="3400" b="0" i="0">
                <a:solidFill>
                  <a:srgbClr val="0A2240"/>
                </a:solidFill>
                <a:latin typeface="Arial"/>
              </a:rPr>
              <a:t>Net new revenue</a:t>
            </a:r>
          </a:p>
        </p:txBody>
      </p:sp>
      <p:sp>
        <p:nvSpPr>
          <p:cNvPr id="18" name="TextBox 17"/>
          <p:cNvSpPr/>
          <p:nvPr>
            <p:ph type="body" idx="16"/>
          </p:nvPr>
        </p:nvSpPr>
        <p:spPr>
          <a:xfrm>
            <a:off x="4307840" y="3797808"/>
            <a:ext cx="3576320" cy="640080"/>
          </a:xfrm>
          <a:prstGeom prst="rect">
            <a:avLst/>
          </a:prstGeom>
          <a:noFill/>
        </p:spPr>
        <p:txBody>
          <a:bodyPr wrap="none" lIns="0" rIns="0">
            <a:noAutofit/>
          </a:bodyPr>
          <a:lstStyle/>
          <a:p>
            <a:pPr algn="ctr"/>
            <a:r>
              <a:rPr sz="4200" b="1" i="0">
                <a:solidFill>
                  <a:srgbClr val="0072CE"/>
                </a:solidFill>
                <a:latin typeface="Arial"/>
              </a:rPr>
              <a:t>12 days</a:t>
            </a:r>
          </a:p>
        </p:txBody>
      </p:sp>
      <p:sp>
        <p:nvSpPr>
          <p:cNvPr id="19" name="Rectangle 18"/>
          <p:cNvSpPr/>
          <p:nvPr>
            <p:ph type="body" idx="17"/>
          </p:nvPr>
        </p:nvSpPr>
        <p:spPr>
          <a:xfrm>
            <a:off x="5559552" y="4492752"/>
            <a:ext cx="1072896" cy="54864"/>
          </a:xfrm>
          <a:prstGeom prst="rect">
            <a:avLst/>
          </a:prstGeom>
          <a:solidFill>
            <a:srgbClr val="0072CE"/>
          </a:solidFill>
          <a:ln>
            <a:noFill/>
          </a:ln>
          <a:effectLst/>
        </p:spPr>
        <p:txBody>
          <a:bodyPr rtlCol="0" anchor="ctr"/>
          <a:lstStyle/>
          <a:p>
            <a:pPr algn="ctr"/>
          </a:p>
        </p:txBody>
      </p:sp>
      <p:sp>
        <p:nvSpPr>
          <p:cNvPr id="20" name="TextBox 19"/>
          <p:cNvSpPr/>
          <p:nvPr>
            <p:ph type="body" idx="18"/>
          </p:nvPr>
        </p:nvSpPr>
        <p:spPr>
          <a:xfrm>
            <a:off x="4307840" y="4602480"/>
            <a:ext cx="3576320" cy="1127760"/>
          </a:xfrm>
          <a:prstGeom prst="rect">
            <a:avLst/>
          </a:prstGeom>
          <a:noFill/>
        </p:spPr>
        <p:txBody>
          <a:bodyPr wrap="square" lIns="0" rIns="0">
            <a:noAutofit/>
          </a:bodyPr>
          <a:lstStyle/>
          <a:p>
            <a:pPr algn="ctr"/>
            <a:r>
              <a:rPr sz="3400" b="0" i="0">
                <a:solidFill>
                  <a:srgbClr val="0A2240"/>
                </a:solidFill>
                <a:latin typeface="Arial"/>
              </a:rPr>
              <a:t>Avg. time to value</a:t>
            </a:r>
          </a:p>
        </p:txBody>
      </p:sp>
      <p:sp>
        <p:nvSpPr>
          <p:cNvPr id="21" name="TextBox 20"/>
          <p:cNvSpPr/>
          <p:nvPr>
            <p:ph type="body" idx="19"/>
          </p:nvPr>
        </p:nvSpPr>
        <p:spPr>
          <a:xfrm>
            <a:off x="8158480" y="4056888"/>
            <a:ext cx="3576320" cy="640080"/>
          </a:xfrm>
          <a:prstGeom prst="rect">
            <a:avLst/>
          </a:prstGeom>
          <a:noFill/>
        </p:spPr>
        <p:txBody>
          <a:bodyPr wrap="none" lIns="0" rIns="0">
            <a:noAutofit/>
          </a:bodyPr>
          <a:lstStyle/>
          <a:p>
            <a:pPr algn="ctr"/>
            <a:r>
              <a:rPr sz="4200" b="1" i="0">
                <a:solidFill>
                  <a:srgbClr val="0072CE"/>
                </a:solidFill>
                <a:latin typeface="Arial"/>
              </a:rPr>
              <a:t>31%</a:t>
            </a:r>
          </a:p>
        </p:txBody>
      </p:sp>
      <p:sp>
        <p:nvSpPr>
          <p:cNvPr id="22" name="Rectangle 21"/>
          <p:cNvSpPr/>
          <p:nvPr>
            <p:ph type="body" idx="20"/>
          </p:nvPr>
        </p:nvSpPr>
        <p:spPr>
          <a:xfrm>
            <a:off x="9410192" y="4751832"/>
            <a:ext cx="1072896" cy="54864"/>
          </a:xfrm>
          <a:prstGeom prst="rect">
            <a:avLst/>
          </a:prstGeom>
          <a:solidFill>
            <a:srgbClr val="0072CE"/>
          </a:solidFill>
          <a:ln>
            <a:noFill/>
          </a:ln>
          <a:effectLst/>
        </p:spPr>
        <p:txBody>
          <a:bodyPr rtlCol="0" anchor="ctr"/>
          <a:lstStyle/>
          <a:p>
            <a:pPr algn="ctr"/>
          </a:p>
        </p:txBody>
      </p:sp>
      <p:sp>
        <p:nvSpPr>
          <p:cNvPr id="23" name="TextBox 22"/>
          <p:cNvSpPr/>
          <p:nvPr>
            <p:ph type="body" idx="21"/>
          </p:nvPr>
        </p:nvSpPr>
        <p:spPr>
          <a:xfrm>
            <a:off x="7701280" y="4861560"/>
            <a:ext cx="4490720" cy="609600"/>
          </a:xfrm>
          <a:prstGeom prst="rect">
            <a:avLst/>
          </a:prstGeom>
          <a:noFill/>
        </p:spPr>
        <p:txBody>
          <a:bodyPr wrap="none" lIns="0" rIns="0">
            <a:noAutofit/>
          </a:bodyPr>
          <a:lstStyle/>
          <a:p>
            <a:pPr algn="ctr"/>
            <a:r>
              <a:rPr sz="3400" b="0" i="0">
                <a:solidFill>
                  <a:srgbClr val="0A2240"/>
                </a:solidFill>
                <a:latin typeface="Arial"/>
              </a:rPr>
              <a:t>Expansion rate</a:t>
            </a:r>
          </a:p>
        </p:txBody>
      </p:sp>
    </p:spTree>
    <p:extLst>
      <p:ext uri="{BB962C8B-B14F-4D97-AF65-F5344CB8AC3E}">
        <p14:creationId xmlns:p14="http://schemas.microsoft.com/office/powerpoint/2010/main" val="121299981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slidekit · Chart With Insigh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Monthly Active Teams</a:t>
            </a:r>
          </a:p>
        </p:txBody>
      </p:sp>
      <p:sp>
        <p:nvSpPr>
          <p:cNvPr id="6" name="TextBox 5"/>
          <p:cNvSpPr/>
          <p:nvPr>
            <p:ph type="body" idx="1"/>
          </p:nvPr>
        </p:nvSpPr>
        <p:spPr>
          <a:xfrm>
            <a:off x="457200" y="3680394"/>
            <a:ext cx="1485900" cy="381000"/>
          </a:xfrm>
          <a:prstGeom prst="rect">
            <a:avLst/>
          </a:prstGeom>
          <a:noFill/>
        </p:spPr>
        <p:txBody>
          <a:bodyPr wrap="none" lIns="0" rIns="0">
            <a:noAutofit/>
          </a:bodyPr>
          <a:lstStyle/>
          <a:p>
            <a:pPr algn="l"/>
            <a:r>
              <a:rPr sz="2500" b="1" i="0">
                <a:solidFill>
                  <a:srgbClr val="0072CE"/>
                </a:solidFill>
                <a:latin typeface="Arial"/>
              </a:rPr>
              <a:t>120</a:t>
            </a:r>
          </a:p>
        </p:txBody>
      </p:sp>
      <p:sp>
        <p:nvSpPr>
          <p:cNvPr id="7" name="Rectangle 6"/>
          <p:cNvSpPr/>
          <p:nvPr>
            <p:ph type="body" idx="2"/>
          </p:nvPr>
        </p:nvSpPr>
        <p:spPr>
          <a:xfrm>
            <a:off x="680085" y="4335714"/>
            <a:ext cx="1040129" cy="769686"/>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5379720"/>
            <a:ext cx="1485900" cy="381000"/>
          </a:xfrm>
          <a:prstGeom prst="rect">
            <a:avLst/>
          </a:prstGeom>
          <a:noFill/>
        </p:spPr>
        <p:txBody>
          <a:bodyPr wrap="none" lIns="0" rIns="0">
            <a:noAutofit/>
          </a:bodyPr>
          <a:lstStyle/>
          <a:p>
            <a:pPr algn="l"/>
            <a:r>
              <a:rPr sz="2500" b="0" i="0">
                <a:solidFill>
                  <a:srgbClr val="5B6B82"/>
                </a:solidFill>
                <a:latin typeface="Arial"/>
              </a:rPr>
              <a:t>Jan</a:t>
            </a:r>
          </a:p>
        </p:txBody>
      </p:sp>
      <p:sp>
        <p:nvSpPr>
          <p:cNvPr id="9" name="TextBox 8"/>
          <p:cNvSpPr/>
          <p:nvPr>
            <p:ph type="body" idx="4"/>
          </p:nvPr>
        </p:nvSpPr>
        <p:spPr>
          <a:xfrm>
            <a:off x="2217420" y="3295551"/>
            <a:ext cx="1485900" cy="381000"/>
          </a:xfrm>
          <a:prstGeom prst="rect">
            <a:avLst/>
          </a:prstGeom>
          <a:noFill/>
        </p:spPr>
        <p:txBody>
          <a:bodyPr wrap="none" lIns="0" rIns="0">
            <a:noAutofit/>
          </a:bodyPr>
          <a:lstStyle/>
          <a:p>
            <a:pPr algn="l"/>
            <a:r>
              <a:rPr sz="2500" b="1" i="0">
                <a:solidFill>
                  <a:srgbClr val="0072CE"/>
                </a:solidFill>
                <a:latin typeface="Arial"/>
              </a:rPr>
              <a:t>180</a:t>
            </a:r>
          </a:p>
        </p:txBody>
      </p:sp>
      <p:sp>
        <p:nvSpPr>
          <p:cNvPr id="10" name="Rectangle 9"/>
          <p:cNvSpPr/>
          <p:nvPr>
            <p:ph type="body" idx="5"/>
          </p:nvPr>
        </p:nvSpPr>
        <p:spPr>
          <a:xfrm>
            <a:off x="2440305" y="3950871"/>
            <a:ext cx="1040129" cy="1154529"/>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217420" y="5379720"/>
            <a:ext cx="1485900" cy="381000"/>
          </a:xfrm>
          <a:prstGeom prst="rect">
            <a:avLst/>
          </a:prstGeom>
          <a:noFill/>
        </p:spPr>
        <p:txBody>
          <a:bodyPr wrap="none" lIns="0" rIns="0">
            <a:noAutofit/>
          </a:bodyPr>
          <a:lstStyle/>
          <a:p>
            <a:pPr algn="l"/>
            <a:r>
              <a:rPr sz="2500" b="0" i="0">
                <a:solidFill>
                  <a:srgbClr val="5B6B82"/>
                </a:solidFill>
                <a:latin typeface="Arial"/>
              </a:rPr>
              <a:t>Feb</a:t>
            </a:r>
          </a:p>
        </p:txBody>
      </p:sp>
      <p:sp>
        <p:nvSpPr>
          <p:cNvPr id="12" name="TextBox 11"/>
          <p:cNvSpPr/>
          <p:nvPr>
            <p:ph type="body" idx="7"/>
          </p:nvPr>
        </p:nvSpPr>
        <p:spPr>
          <a:xfrm>
            <a:off x="3977640" y="2590005"/>
            <a:ext cx="1485900" cy="381000"/>
          </a:xfrm>
          <a:prstGeom prst="rect">
            <a:avLst/>
          </a:prstGeom>
          <a:noFill/>
        </p:spPr>
        <p:txBody>
          <a:bodyPr wrap="none" lIns="0" rIns="0">
            <a:noAutofit/>
          </a:bodyPr>
          <a:lstStyle/>
          <a:p>
            <a:pPr algn="l"/>
            <a:r>
              <a:rPr sz="2500" b="1" i="0">
                <a:solidFill>
                  <a:srgbClr val="0072CE"/>
                </a:solidFill>
                <a:latin typeface="Arial"/>
              </a:rPr>
              <a:t>290</a:t>
            </a:r>
          </a:p>
        </p:txBody>
      </p:sp>
      <p:sp>
        <p:nvSpPr>
          <p:cNvPr id="13" name="Rectangle 12"/>
          <p:cNvSpPr/>
          <p:nvPr>
            <p:ph type="body" idx="8"/>
          </p:nvPr>
        </p:nvSpPr>
        <p:spPr>
          <a:xfrm>
            <a:off x="4200525" y="3245325"/>
            <a:ext cx="1040129" cy="1860075"/>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3977640" y="5379720"/>
            <a:ext cx="1485900" cy="381000"/>
          </a:xfrm>
          <a:prstGeom prst="rect">
            <a:avLst/>
          </a:prstGeom>
          <a:noFill/>
        </p:spPr>
        <p:txBody>
          <a:bodyPr wrap="none" lIns="0" rIns="0">
            <a:noAutofit/>
          </a:bodyPr>
          <a:lstStyle/>
          <a:p>
            <a:pPr algn="l"/>
            <a:r>
              <a:rPr sz="2500" b="0" i="0">
                <a:solidFill>
                  <a:srgbClr val="5B6B82"/>
                </a:solidFill>
                <a:latin typeface="Arial"/>
              </a:rPr>
              <a:t>Mar</a:t>
            </a:r>
          </a:p>
        </p:txBody>
      </p:sp>
      <p:sp>
        <p:nvSpPr>
          <p:cNvPr id="15" name="TextBox 14"/>
          <p:cNvSpPr/>
          <p:nvPr>
            <p:ph type="body" idx="13"/>
          </p:nvPr>
        </p:nvSpPr>
        <p:spPr>
          <a:xfrm>
            <a:off x="5737860" y="1499616"/>
            <a:ext cx="1485900" cy="381000"/>
          </a:xfrm>
          <a:prstGeom prst="rect">
            <a:avLst/>
          </a:prstGeom>
          <a:noFill/>
        </p:spPr>
        <p:txBody>
          <a:bodyPr wrap="none" lIns="0" rIns="0">
            <a:noAutofit/>
          </a:bodyPr>
          <a:lstStyle/>
          <a:p>
            <a:pPr algn="l"/>
            <a:r>
              <a:rPr sz="2500" b="1" i="0">
                <a:solidFill>
                  <a:srgbClr val="0072CE"/>
                </a:solidFill>
                <a:latin typeface="Arial"/>
              </a:rPr>
              <a:t>460</a:t>
            </a:r>
          </a:p>
        </p:txBody>
      </p:sp>
      <p:sp>
        <p:nvSpPr>
          <p:cNvPr id="16" name="Rectangle 15"/>
          <p:cNvSpPr/>
          <p:nvPr>
            <p:ph type="body" idx="14"/>
          </p:nvPr>
        </p:nvSpPr>
        <p:spPr>
          <a:xfrm>
            <a:off x="5960745" y="2154936"/>
            <a:ext cx="1040129" cy="29504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5737860" y="5379720"/>
            <a:ext cx="1485900" cy="381000"/>
          </a:xfrm>
          <a:prstGeom prst="rect">
            <a:avLst/>
          </a:prstGeom>
          <a:noFill/>
        </p:spPr>
        <p:txBody>
          <a:bodyPr wrap="none" lIns="0" rIns="0">
            <a:noAutofit/>
          </a:bodyPr>
          <a:lstStyle/>
          <a:p>
            <a:pPr algn="l"/>
            <a:r>
              <a:rPr sz="2500" b="0" i="0">
                <a:solidFill>
                  <a:srgbClr val="5B6B82"/>
                </a:solidFill>
                <a:latin typeface="Arial"/>
              </a:rPr>
              <a:t>Apr</a:t>
            </a:r>
          </a:p>
        </p:txBody>
      </p:sp>
      <p:sp>
        <p:nvSpPr>
          <p:cNvPr id="18" name="Rectangle 17"/>
          <p:cNvSpPr/>
          <p:nvPr>
            <p:ph type="body" idx="16"/>
          </p:nvPr>
        </p:nvSpPr>
        <p:spPr>
          <a:xfrm>
            <a:off x="7498080" y="1770888"/>
            <a:ext cx="128016" cy="3718560"/>
          </a:xfrm>
          <a:prstGeom prst="rect">
            <a:avLst/>
          </a:prstGeom>
          <a:solidFill>
            <a:srgbClr val="0072CE"/>
          </a:solidFill>
          <a:ln>
            <a:noFill/>
          </a:ln>
          <a:effectLst/>
        </p:spPr>
        <p:txBody>
          <a:bodyPr rtlCol="0" anchor="ctr"/>
          <a:lstStyle/>
          <a:p>
            <a:pPr algn="ctr"/>
          </a:p>
        </p:txBody>
      </p:sp>
      <p:sp>
        <p:nvSpPr>
          <p:cNvPr id="19" name="TextBox 18"/>
          <p:cNvSpPr/>
          <p:nvPr>
            <p:ph type="body" idx="17"/>
          </p:nvPr>
        </p:nvSpPr>
        <p:spPr>
          <a:xfrm>
            <a:off x="8037576" y="1770888"/>
            <a:ext cx="3697224" cy="3718560"/>
          </a:xfrm>
          <a:prstGeom prst="rect">
            <a:avLst/>
          </a:prstGeom>
          <a:noFill/>
        </p:spPr>
        <p:txBody>
          <a:bodyPr wrap="square" lIns="0" rIns="0">
            <a:noAutofit/>
          </a:bodyPr>
          <a:lstStyle/>
          <a:p>
            <a:pPr algn="l"/>
            <a:r>
              <a:rPr sz="3400" b="1" i="0">
                <a:solidFill>
                  <a:srgbClr val="0A2240"/>
                </a:solidFill>
                <a:latin typeface="Arial"/>
              </a:rPr>
              <a:t>Activations nearly quadrupled once self-serve onboarding shipped in February.</a:t>
            </a:r>
          </a:p>
        </p:txBody>
      </p:sp>
    </p:spTree>
    <p:extLst>
      <p:ext uri="{BB962C8B-B14F-4D97-AF65-F5344CB8AC3E}">
        <p14:creationId xmlns:p14="http://schemas.microsoft.com/office/powerpoint/2010/main" val="121299981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slidekit · Tabl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Pricing Tiers</a:t>
            </a:r>
          </a:p>
        </p:txBody>
      </p:sp>
      <p:sp>
        <p:nvSpPr>
          <p:cNvPr id="6" name="TextBox 5"/>
          <p:cNvSpPr/>
          <p:nvPr>
            <p:ph type="body" idx="1"/>
          </p:nvPr>
        </p:nvSpPr>
        <p:spPr>
          <a:xfrm>
            <a:off x="457200" y="1499616"/>
            <a:ext cx="2333739" cy="518159"/>
          </a:xfrm>
          <a:prstGeom prst="rect">
            <a:avLst/>
          </a:prstGeom>
          <a:noFill/>
        </p:spPr>
        <p:txBody>
          <a:bodyPr wrap="none" lIns="0" rIns="0">
            <a:noAutofit/>
          </a:bodyPr>
          <a:lstStyle/>
          <a:p>
            <a:pPr algn="l"/>
            <a:r>
              <a:rPr sz="3400" b="1" i="0">
                <a:solidFill>
                  <a:srgbClr val="123A6B"/>
                </a:solidFill>
                <a:latin typeface="Arial"/>
              </a:rPr>
              <a:t>Plan</a:t>
            </a:r>
          </a:p>
        </p:txBody>
      </p:sp>
      <p:sp>
        <p:nvSpPr>
          <p:cNvPr id="7" name="TextBox 6"/>
          <p:cNvSpPr/>
          <p:nvPr>
            <p:ph type="body" idx="2"/>
          </p:nvPr>
        </p:nvSpPr>
        <p:spPr>
          <a:xfrm>
            <a:off x="3339579" y="1499616"/>
            <a:ext cx="2238229" cy="518159"/>
          </a:xfrm>
          <a:prstGeom prst="rect">
            <a:avLst/>
          </a:prstGeom>
          <a:noFill/>
        </p:spPr>
        <p:txBody>
          <a:bodyPr wrap="none" lIns="0" rIns="0">
            <a:noAutofit/>
          </a:bodyPr>
          <a:lstStyle/>
          <a:p>
            <a:pPr algn="l"/>
            <a:r>
              <a:rPr sz="3400" b="1" i="0">
                <a:solidFill>
                  <a:srgbClr val="123A6B"/>
                </a:solidFill>
                <a:latin typeface="Arial"/>
              </a:rPr>
              <a:t>Seats</a:t>
            </a:r>
          </a:p>
        </p:txBody>
      </p:sp>
      <p:sp>
        <p:nvSpPr>
          <p:cNvPr id="8" name="TextBox 7"/>
          <p:cNvSpPr/>
          <p:nvPr>
            <p:ph type="body" idx="3"/>
          </p:nvPr>
        </p:nvSpPr>
        <p:spPr>
          <a:xfrm>
            <a:off x="6126448" y="1499616"/>
            <a:ext cx="2022329" cy="518159"/>
          </a:xfrm>
          <a:prstGeom prst="rect">
            <a:avLst/>
          </a:prstGeom>
          <a:noFill/>
        </p:spPr>
        <p:txBody>
          <a:bodyPr wrap="none" lIns="0" rIns="0">
            <a:noAutofit/>
          </a:bodyPr>
          <a:lstStyle/>
          <a:p>
            <a:pPr algn="l"/>
            <a:r>
              <a:rPr sz="3400" b="1" i="0">
                <a:solidFill>
                  <a:srgbClr val="123A6B"/>
                </a:solidFill>
                <a:latin typeface="Arial"/>
              </a:rPr>
              <a:t>Price</a:t>
            </a:r>
          </a:p>
        </p:txBody>
      </p:sp>
      <p:sp>
        <p:nvSpPr>
          <p:cNvPr id="9" name="Rectangle 8"/>
          <p:cNvSpPr/>
          <p:nvPr>
            <p:ph type="body" idx="4"/>
          </p:nvPr>
        </p:nvSpPr>
        <p:spPr>
          <a:xfrm>
            <a:off x="457200" y="2072639"/>
            <a:ext cx="7691577"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2333739" cy="633984"/>
          </a:xfrm>
          <a:prstGeom prst="rect">
            <a:avLst/>
          </a:prstGeom>
          <a:noFill/>
        </p:spPr>
        <p:txBody>
          <a:bodyPr wrap="none" lIns="0" rIns="0">
            <a:noAutofit/>
          </a:bodyPr>
          <a:lstStyle/>
          <a:p>
            <a:pPr algn="l"/>
            <a:r>
              <a:rPr sz="3400" b="0" i="0">
                <a:solidFill>
                  <a:srgbClr val="0A2240"/>
                </a:solidFill>
                <a:latin typeface="Arial"/>
              </a:rPr>
              <a:t>Starter</a:t>
            </a:r>
          </a:p>
        </p:txBody>
      </p:sp>
      <p:sp>
        <p:nvSpPr>
          <p:cNvPr id="11" name="TextBox 10"/>
          <p:cNvSpPr/>
          <p:nvPr>
            <p:ph type="body" idx="6"/>
          </p:nvPr>
        </p:nvSpPr>
        <p:spPr>
          <a:xfrm>
            <a:off x="3339579" y="2401823"/>
            <a:ext cx="2410360" cy="633984"/>
          </a:xfrm>
          <a:prstGeom prst="rect">
            <a:avLst/>
          </a:prstGeom>
          <a:noFill/>
        </p:spPr>
        <p:txBody>
          <a:bodyPr wrap="none" lIns="0" rIns="0">
            <a:noAutofit/>
          </a:bodyPr>
          <a:lstStyle/>
          <a:p>
            <a:pPr algn="l"/>
            <a:r>
              <a:rPr sz="3400" b="0" i="0">
                <a:solidFill>
                  <a:srgbClr val="0A2240"/>
                </a:solidFill>
                <a:latin typeface="Arial"/>
              </a:rPr>
              <a:t>Up to 5</a:t>
            </a:r>
          </a:p>
        </p:txBody>
      </p:sp>
      <p:sp>
        <p:nvSpPr>
          <p:cNvPr id="12" name="TextBox 11"/>
          <p:cNvSpPr/>
          <p:nvPr>
            <p:ph type="body" idx="7"/>
          </p:nvPr>
        </p:nvSpPr>
        <p:spPr>
          <a:xfrm>
            <a:off x="6126448" y="2401823"/>
            <a:ext cx="2022329" cy="633984"/>
          </a:xfrm>
          <a:prstGeom prst="rect">
            <a:avLst/>
          </a:prstGeom>
          <a:noFill/>
        </p:spPr>
        <p:txBody>
          <a:bodyPr wrap="none" lIns="0" rIns="0">
            <a:noAutofit/>
          </a:bodyPr>
          <a:lstStyle/>
          <a:p>
            <a:pPr algn="l"/>
            <a:r>
              <a:rPr sz="3400" b="0" i="0">
                <a:solidFill>
                  <a:srgbClr val="0A2240"/>
                </a:solidFill>
                <a:latin typeface="Arial"/>
              </a:rPr>
              <a:t>$0</a:t>
            </a:r>
          </a:p>
        </p:txBody>
      </p:sp>
      <p:sp>
        <p:nvSpPr>
          <p:cNvPr id="13" name="TextBox 12"/>
          <p:cNvSpPr/>
          <p:nvPr>
            <p:ph type="body" idx="8"/>
          </p:nvPr>
        </p:nvSpPr>
        <p:spPr>
          <a:xfrm>
            <a:off x="457200" y="3310127"/>
            <a:ext cx="2333739" cy="633984"/>
          </a:xfrm>
          <a:prstGeom prst="rect">
            <a:avLst/>
          </a:prstGeom>
          <a:noFill/>
        </p:spPr>
        <p:txBody>
          <a:bodyPr wrap="none" lIns="0" rIns="0">
            <a:noAutofit/>
          </a:bodyPr>
          <a:lstStyle/>
          <a:p>
            <a:pPr algn="l"/>
            <a:r>
              <a:rPr sz="3400" b="0" i="0">
                <a:solidFill>
                  <a:srgbClr val="0A2240"/>
                </a:solidFill>
                <a:latin typeface="Arial"/>
              </a:rPr>
              <a:t>Team</a:t>
            </a:r>
          </a:p>
        </p:txBody>
      </p:sp>
      <p:sp>
        <p:nvSpPr>
          <p:cNvPr id="14" name="TextBox 13"/>
          <p:cNvSpPr/>
          <p:nvPr>
            <p:ph type="body" idx="9"/>
          </p:nvPr>
        </p:nvSpPr>
        <p:spPr>
          <a:xfrm>
            <a:off x="3339579" y="3310127"/>
            <a:ext cx="2794595" cy="633984"/>
          </a:xfrm>
          <a:prstGeom prst="rect">
            <a:avLst/>
          </a:prstGeom>
          <a:noFill/>
        </p:spPr>
        <p:txBody>
          <a:bodyPr wrap="none" lIns="0" rIns="0">
            <a:noAutofit/>
          </a:bodyPr>
          <a:lstStyle/>
          <a:p>
            <a:pPr algn="l"/>
            <a:r>
              <a:rPr sz="3400" b="0" i="0">
                <a:solidFill>
                  <a:srgbClr val="0A2240"/>
                </a:solidFill>
                <a:latin typeface="Arial"/>
              </a:rPr>
              <a:t>Up to 50</a:t>
            </a:r>
          </a:p>
        </p:txBody>
      </p:sp>
      <p:sp>
        <p:nvSpPr>
          <p:cNvPr id="15" name="TextBox 14"/>
          <p:cNvSpPr/>
          <p:nvPr>
            <p:ph type="body" idx="13"/>
          </p:nvPr>
        </p:nvSpPr>
        <p:spPr>
          <a:xfrm>
            <a:off x="6126448" y="3310127"/>
            <a:ext cx="2833390" cy="633984"/>
          </a:xfrm>
          <a:prstGeom prst="rect">
            <a:avLst/>
          </a:prstGeom>
          <a:noFill/>
        </p:spPr>
        <p:txBody>
          <a:bodyPr wrap="none" lIns="0" rIns="0">
            <a:noAutofit/>
          </a:bodyPr>
          <a:lstStyle/>
          <a:p>
            <a:pPr algn="l"/>
            <a:r>
              <a:rPr sz="3400" b="0" i="0">
                <a:solidFill>
                  <a:srgbClr val="0A2240"/>
                </a:solidFill>
                <a:latin typeface="Arial"/>
              </a:rPr>
              <a:t>$12/seat</a:t>
            </a:r>
          </a:p>
        </p:txBody>
      </p:sp>
      <p:sp>
        <p:nvSpPr>
          <p:cNvPr id="16" name="TextBox 15"/>
          <p:cNvSpPr/>
          <p:nvPr>
            <p:ph type="body" idx="14"/>
          </p:nvPr>
        </p:nvSpPr>
        <p:spPr>
          <a:xfrm>
            <a:off x="457200" y="4218431"/>
            <a:ext cx="2986206" cy="633984"/>
          </a:xfrm>
          <a:prstGeom prst="rect">
            <a:avLst/>
          </a:prstGeom>
          <a:noFill/>
        </p:spPr>
        <p:txBody>
          <a:bodyPr wrap="none" lIns="0" rIns="0">
            <a:noAutofit/>
          </a:bodyPr>
          <a:lstStyle/>
          <a:p>
            <a:pPr algn="l"/>
            <a:r>
              <a:rPr sz="3400" b="0" i="0">
                <a:solidFill>
                  <a:srgbClr val="0A2240"/>
                </a:solidFill>
                <a:latin typeface="Arial"/>
              </a:rPr>
              <a:t>Business</a:t>
            </a:r>
          </a:p>
        </p:txBody>
      </p:sp>
      <p:sp>
        <p:nvSpPr>
          <p:cNvPr id="17" name="TextBox 16"/>
          <p:cNvSpPr/>
          <p:nvPr>
            <p:ph type="body" idx="15"/>
          </p:nvPr>
        </p:nvSpPr>
        <p:spPr>
          <a:xfrm>
            <a:off x="3339579" y="4218431"/>
            <a:ext cx="3178830" cy="633984"/>
          </a:xfrm>
          <a:prstGeom prst="rect">
            <a:avLst/>
          </a:prstGeom>
          <a:noFill/>
        </p:spPr>
        <p:txBody>
          <a:bodyPr wrap="none" lIns="0" rIns="0">
            <a:noAutofit/>
          </a:bodyPr>
          <a:lstStyle/>
          <a:p>
            <a:pPr algn="l"/>
            <a:r>
              <a:rPr sz="3400" b="0" i="0">
                <a:solidFill>
                  <a:srgbClr val="0A2240"/>
                </a:solidFill>
                <a:latin typeface="Arial"/>
              </a:rPr>
              <a:t>Up to 250</a:t>
            </a:r>
          </a:p>
        </p:txBody>
      </p:sp>
      <p:sp>
        <p:nvSpPr>
          <p:cNvPr id="18" name="TextBox 17"/>
          <p:cNvSpPr/>
          <p:nvPr>
            <p:ph type="body" idx="16"/>
          </p:nvPr>
        </p:nvSpPr>
        <p:spPr>
          <a:xfrm>
            <a:off x="6126448" y="4218431"/>
            <a:ext cx="2833390" cy="633984"/>
          </a:xfrm>
          <a:prstGeom prst="rect">
            <a:avLst/>
          </a:prstGeom>
          <a:noFill/>
        </p:spPr>
        <p:txBody>
          <a:bodyPr wrap="none" lIns="0" rIns="0">
            <a:noAutofit/>
          </a:bodyPr>
          <a:lstStyle/>
          <a:p>
            <a:pPr algn="l"/>
            <a:r>
              <a:rPr sz="3400" b="0" i="0">
                <a:solidFill>
                  <a:srgbClr val="0A2240"/>
                </a:solidFill>
                <a:latin typeface="Arial"/>
              </a:rPr>
              <a:t>$20/seat</a:t>
            </a:r>
          </a:p>
        </p:txBody>
      </p:sp>
      <p:sp>
        <p:nvSpPr>
          <p:cNvPr id="19" name="TextBox 18"/>
          <p:cNvSpPr/>
          <p:nvPr>
            <p:ph type="body" idx="17"/>
          </p:nvPr>
        </p:nvSpPr>
        <p:spPr>
          <a:xfrm>
            <a:off x="457200" y="5126735"/>
            <a:ext cx="3331646" cy="633984"/>
          </a:xfrm>
          <a:prstGeom prst="rect">
            <a:avLst/>
          </a:prstGeom>
          <a:noFill/>
        </p:spPr>
        <p:txBody>
          <a:bodyPr wrap="none" lIns="0" rIns="0">
            <a:noAutofit/>
          </a:bodyPr>
          <a:lstStyle/>
          <a:p>
            <a:pPr algn="l"/>
            <a:r>
              <a:rPr sz="3400" b="0" i="0">
                <a:solidFill>
                  <a:srgbClr val="0A2240"/>
                </a:solidFill>
                <a:latin typeface="Arial"/>
              </a:rPr>
              <a:t>Enterprise</a:t>
            </a:r>
          </a:p>
        </p:txBody>
      </p:sp>
      <p:sp>
        <p:nvSpPr>
          <p:cNvPr id="20" name="TextBox 19"/>
          <p:cNvSpPr/>
          <p:nvPr>
            <p:ph type="body" idx="18"/>
          </p:nvPr>
        </p:nvSpPr>
        <p:spPr>
          <a:xfrm>
            <a:off x="3339579" y="5126735"/>
            <a:ext cx="3062446" cy="633984"/>
          </a:xfrm>
          <a:prstGeom prst="rect">
            <a:avLst/>
          </a:prstGeom>
          <a:noFill/>
        </p:spPr>
        <p:txBody>
          <a:bodyPr wrap="none" lIns="0" rIns="0">
            <a:noAutofit/>
          </a:bodyPr>
          <a:lstStyle/>
          <a:p>
            <a:pPr algn="l"/>
            <a:r>
              <a:rPr sz="3400" b="0" i="0">
                <a:solidFill>
                  <a:srgbClr val="0A2240"/>
                </a:solidFill>
                <a:latin typeface="Arial"/>
              </a:rPr>
              <a:t>Unlimited</a:t>
            </a:r>
          </a:p>
        </p:txBody>
      </p:sp>
      <p:sp>
        <p:nvSpPr>
          <p:cNvPr id="21" name="TextBox 20"/>
          <p:cNvSpPr/>
          <p:nvPr>
            <p:ph type="body" idx="19"/>
          </p:nvPr>
        </p:nvSpPr>
        <p:spPr>
          <a:xfrm>
            <a:off x="6126448" y="5126735"/>
            <a:ext cx="2563177" cy="633984"/>
          </a:xfrm>
          <a:prstGeom prst="rect">
            <a:avLst/>
          </a:prstGeom>
          <a:noFill/>
        </p:spPr>
        <p:txBody>
          <a:bodyPr wrap="none" lIns="0" rIns="0">
            <a:noAutofit/>
          </a:bodyPr>
          <a:lstStyle/>
          <a:p>
            <a:pPr algn="l"/>
            <a:r>
              <a:rPr sz="3400" b="0" i="0">
                <a:solidFill>
                  <a:srgbClr val="0A2240"/>
                </a:solidFill>
                <a:latin typeface="Arial"/>
              </a:rPr>
              <a:t>Custom</a:t>
            </a:r>
          </a:p>
        </p:txBody>
      </p:sp>
    </p:spTree>
    <p:extLst>
      <p:ext uri="{BB962C8B-B14F-4D97-AF65-F5344CB8AC3E}">
        <p14:creationId xmlns:p14="http://schemas.microsoft.com/office/powerpoint/2010/main" val="121299981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slidekit · Metric Comparis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Performance vs Last Year</a:t>
            </a:r>
          </a:p>
        </p:txBody>
      </p:sp>
      <p:sp>
        <p:nvSpPr>
          <p:cNvPr id="6" name="TextBox 5"/>
          <p:cNvSpPr/>
          <p:nvPr>
            <p:ph type="body" idx="1"/>
          </p:nvPr>
        </p:nvSpPr>
        <p:spPr>
          <a:xfrm>
            <a:off x="457200" y="2075688"/>
            <a:ext cx="3576320" cy="914400"/>
          </a:xfrm>
          <a:prstGeom prst="rect">
            <a:avLst/>
          </a:prstGeom>
          <a:noFill/>
        </p:spPr>
        <p:txBody>
          <a:bodyPr wrap="none" lIns="0" rIns="0">
            <a:noAutofit/>
          </a:bodyPr>
          <a:lstStyle/>
          <a:p>
            <a:pPr algn="ctr"/>
            <a:r>
              <a:rPr sz="6000" b="1" i="0">
                <a:solidFill>
                  <a:srgbClr val="0072CE"/>
                </a:solidFill>
                <a:latin typeface="Arial"/>
              </a:rPr>
              <a:t>$8.4M</a:t>
            </a:r>
          </a:p>
        </p:txBody>
      </p:sp>
      <p:sp>
        <p:nvSpPr>
          <p:cNvPr id="7" name="TextBox 6"/>
          <p:cNvSpPr/>
          <p:nvPr>
            <p:ph type="body" idx="2"/>
          </p:nvPr>
        </p:nvSpPr>
        <p:spPr>
          <a:xfrm>
            <a:off x="457200" y="3264408"/>
            <a:ext cx="3576320" cy="1127760"/>
          </a:xfrm>
          <a:prstGeom prst="rect">
            <a:avLst/>
          </a:prstGeom>
          <a:noFill/>
        </p:spPr>
        <p:txBody>
          <a:bodyPr wrap="square" lIns="0" rIns="0">
            <a:noAutofit/>
          </a:bodyPr>
          <a:lstStyle/>
          <a:p>
            <a:pPr algn="ctr"/>
            <a:r>
              <a:rPr sz="3400" b="0" i="0">
                <a:solidFill>
                  <a:srgbClr val="0A2240"/>
                </a:solidFill>
                <a:latin typeface="Arial"/>
              </a:rPr>
              <a:t>Annual recurring revenue</a:t>
            </a:r>
          </a:p>
        </p:txBody>
      </p:sp>
      <p:sp>
        <p:nvSpPr>
          <p:cNvPr id="8" name="Rectangle 7"/>
          <p:cNvSpPr/>
          <p:nvPr>
            <p:ph type="body" idx="3"/>
          </p:nvPr>
        </p:nvSpPr>
        <p:spPr>
          <a:xfrm>
            <a:off x="1522569" y="4666488"/>
            <a:ext cx="1445581" cy="518159"/>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260802" y="4666488"/>
            <a:ext cx="1969115" cy="518159"/>
          </a:xfrm>
          <a:prstGeom prst="rect">
            <a:avLst/>
          </a:prstGeom>
          <a:noFill/>
        </p:spPr>
        <p:txBody>
          <a:bodyPr wrap="none" lIns="0" rIns="0">
            <a:noAutofit/>
          </a:bodyPr>
          <a:lstStyle/>
          <a:p>
            <a:pPr algn="ctr"/>
            <a:r>
              <a:rPr sz="3400" b="1" i="0">
                <a:solidFill>
                  <a:srgbClr val="FFFFFF"/>
                </a:solidFill>
                <a:latin typeface="Arial"/>
              </a:rPr>
              <a:t>+24%</a:t>
            </a:r>
          </a:p>
        </p:txBody>
      </p:sp>
      <p:sp>
        <p:nvSpPr>
          <p:cNvPr id="10" name="TextBox 9"/>
          <p:cNvSpPr/>
          <p:nvPr>
            <p:ph type="body" idx="5"/>
          </p:nvPr>
        </p:nvSpPr>
        <p:spPr>
          <a:xfrm>
            <a:off x="4307840" y="2075688"/>
            <a:ext cx="3576320" cy="914400"/>
          </a:xfrm>
          <a:prstGeom prst="rect">
            <a:avLst/>
          </a:prstGeom>
          <a:noFill/>
        </p:spPr>
        <p:txBody>
          <a:bodyPr wrap="none" lIns="0" rIns="0">
            <a:noAutofit/>
          </a:bodyPr>
          <a:lstStyle/>
          <a:p>
            <a:pPr algn="ctr"/>
            <a:r>
              <a:rPr sz="6000" b="1" i="0">
                <a:solidFill>
                  <a:srgbClr val="0072CE"/>
                </a:solidFill>
                <a:latin typeface="Arial"/>
              </a:rPr>
              <a:t>2.1%</a:t>
            </a:r>
          </a:p>
        </p:txBody>
      </p:sp>
      <p:sp>
        <p:nvSpPr>
          <p:cNvPr id="11" name="TextBox 10"/>
          <p:cNvSpPr/>
          <p:nvPr>
            <p:ph type="body" idx="6"/>
          </p:nvPr>
        </p:nvSpPr>
        <p:spPr>
          <a:xfrm>
            <a:off x="3834934" y="3264408"/>
            <a:ext cx="4522132" cy="1127760"/>
          </a:xfrm>
          <a:prstGeom prst="rect">
            <a:avLst/>
          </a:prstGeom>
          <a:noFill/>
        </p:spPr>
        <p:txBody>
          <a:bodyPr wrap="none" lIns="0" rIns="0">
            <a:noAutofit/>
          </a:bodyPr>
          <a:lstStyle/>
          <a:p>
            <a:pPr algn="ctr"/>
            <a:r>
              <a:rPr sz="3400" b="0" i="0">
                <a:solidFill>
                  <a:srgbClr val="0A2240"/>
                </a:solidFill>
                <a:latin typeface="Arial"/>
              </a:rPr>
              <a:t>Monthly churn</a:t>
            </a:r>
          </a:p>
        </p:txBody>
      </p:sp>
      <p:sp>
        <p:nvSpPr>
          <p:cNvPr id="12" name="Rectangle 11"/>
          <p:cNvSpPr/>
          <p:nvPr>
            <p:ph type="body" idx="7"/>
          </p:nvPr>
        </p:nvSpPr>
        <p:spPr>
          <a:xfrm>
            <a:off x="5175547" y="4666488"/>
            <a:ext cx="1840906" cy="518159"/>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795183" y="4666488"/>
            <a:ext cx="2601634" cy="518159"/>
          </a:xfrm>
          <a:prstGeom prst="rect">
            <a:avLst/>
          </a:prstGeom>
          <a:noFill/>
        </p:spPr>
        <p:txBody>
          <a:bodyPr wrap="none" lIns="0" rIns="0">
            <a:noAutofit/>
          </a:bodyPr>
          <a:lstStyle/>
          <a:p>
            <a:pPr algn="ctr"/>
            <a:r>
              <a:rPr sz="3400" b="1" i="0">
                <a:solidFill>
                  <a:srgbClr val="FFFFFF"/>
                </a:solidFill>
                <a:latin typeface="Arial"/>
              </a:rPr>
              <a:t>-0.8 pts</a:t>
            </a:r>
          </a:p>
        </p:txBody>
      </p:sp>
      <p:sp>
        <p:nvSpPr>
          <p:cNvPr id="14" name="TextBox 13"/>
          <p:cNvSpPr/>
          <p:nvPr>
            <p:ph type="body" idx="9"/>
          </p:nvPr>
        </p:nvSpPr>
        <p:spPr>
          <a:xfrm>
            <a:off x="8158480" y="2075688"/>
            <a:ext cx="3576320" cy="914400"/>
          </a:xfrm>
          <a:prstGeom prst="rect">
            <a:avLst/>
          </a:prstGeom>
          <a:noFill/>
        </p:spPr>
        <p:txBody>
          <a:bodyPr wrap="none" lIns="0" rIns="0">
            <a:noAutofit/>
          </a:bodyPr>
          <a:lstStyle/>
          <a:p>
            <a:pPr algn="ctr"/>
            <a:r>
              <a:rPr sz="6000" b="1" i="0">
                <a:solidFill>
                  <a:srgbClr val="0072CE"/>
                </a:solidFill>
                <a:latin typeface="Arial"/>
              </a:rPr>
              <a:t>63</a:t>
            </a:r>
          </a:p>
        </p:txBody>
      </p:sp>
      <p:sp>
        <p:nvSpPr>
          <p:cNvPr id="15" name="TextBox 14"/>
          <p:cNvSpPr/>
          <p:nvPr>
            <p:ph type="body" idx="13"/>
          </p:nvPr>
        </p:nvSpPr>
        <p:spPr>
          <a:xfrm>
            <a:off x="8158480" y="3264408"/>
            <a:ext cx="3576320" cy="1127760"/>
          </a:xfrm>
          <a:prstGeom prst="rect">
            <a:avLst/>
          </a:prstGeom>
          <a:noFill/>
        </p:spPr>
        <p:txBody>
          <a:bodyPr wrap="square" lIns="0" rIns="0">
            <a:noAutofit/>
          </a:bodyPr>
          <a:lstStyle/>
          <a:p>
            <a:pPr algn="ctr"/>
            <a:r>
              <a:rPr sz="3400" b="0" i="0">
                <a:solidFill>
                  <a:srgbClr val="0A2240"/>
                </a:solidFill>
                <a:latin typeface="Arial"/>
              </a:rPr>
              <a:t>Net promoter score</a:t>
            </a:r>
          </a:p>
        </p:txBody>
      </p:sp>
      <p:sp>
        <p:nvSpPr>
          <p:cNvPr id="16" name="Rectangle 15"/>
          <p:cNvSpPr/>
          <p:nvPr>
            <p:ph type="body" idx="14"/>
          </p:nvPr>
        </p:nvSpPr>
        <p:spPr>
          <a:xfrm>
            <a:off x="9427731" y="4666488"/>
            <a:ext cx="1037817" cy="518159"/>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9288294" y="4666488"/>
            <a:ext cx="1316691" cy="518159"/>
          </a:xfrm>
          <a:prstGeom prst="rect">
            <a:avLst/>
          </a:prstGeom>
          <a:noFill/>
        </p:spPr>
        <p:txBody>
          <a:bodyPr wrap="none" lIns="0" rIns="0">
            <a:noAutofit/>
          </a:bodyPr>
          <a:lstStyle/>
          <a:p>
            <a:pPr algn="ctr"/>
            <a:r>
              <a:rPr sz="3400" b="1" i="0">
                <a:solidFill>
                  <a:srgbClr val="FFFFFF"/>
                </a:solidFill>
                <a:latin typeface="Arial"/>
              </a:rPr>
              <a:t>+11</a:t>
            </a:r>
          </a:p>
        </p:txBody>
      </p:sp>
    </p:spTree>
    <p:extLst>
      <p:ext uri="{BB962C8B-B14F-4D97-AF65-F5344CB8AC3E}">
        <p14:creationId xmlns:p14="http://schemas.microsoft.com/office/powerpoint/2010/main" val="121299981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slidekit · Process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Flow</a:t>
            </a:r>
          </a:p>
        </p:txBody>
      </p:sp>
      <p:sp>
        <p:nvSpPr>
          <p:cNvPr id="6" name="TextBox 5"/>
          <p:cNvSpPr/>
          <p:nvPr>
            <p:ph type="body" id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Rectangle 6"/>
          <p:cNvSpPr/>
          <p:nvPr>
            <p:ph type="body" idx="2"/>
          </p:nvPr>
        </p:nvSpPr>
        <p:spPr>
          <a:xfrm>
            <a:off x="457200" y="2194560"/>
            <a:ext cx="784098"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457200" y="2414016"/>
            <a:ext cx="2715657" cy="518159"/>
          </a:xfrm>
          <a:prstGeom prst="rect">
            <a:avLst/>
          </a:prstGeom>
          <a:noFill/>
        </p:spPr>
        <p:txBody>
          <a:bodyPr wrap="none" lIns="0" rIns="0">
            <a:noAutofit/>
          </a:bodyPr>
          <a:lstStyle/>
          <a:p>
            <a:pPr algn="l"/>
            <a:r>
              <a:rPr sz="3400" b="1" i="0">
                <a:solidFill>
                  <a:srgbClr val="123A6B"/>
                </a:solidFill>
                <a:latin typeface="Arial"/>
              </a:rPr>
              <a:t>Sign up</a:t>
            </a:r>
          </a:p>
        </p:txBody>
      </p:sp>
      <p:sp>
        <p:nvSpPr>
          <p:cNvPr id="9" name="TextBox 8"/>
          <p:cNvSpPr/>
          <p:nvPr>
            <p:ph type="body" idx="4"/>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Create an account</a:t>
            </a:r>
          </a:p>
        </p:txBody>
      </p:sp>
      <p:sp>
        <p:nvSpPr>
          <p:cNvPr id="10" name="TextBox 9"/>
          <p:cNvSpPr/>
          <p:nvPr>
            <p:ph type="body" idx="5"/>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1" name="Rectangle 10"/>
          <p:cNvSpPr/>
          <p:nvPr>
            <p:ph type="body" idx="6"/>
          </p:nvPr>
        </p:nvSpPr>
        <p:spPr>
          <a:xfrm>
            <a:off x="3345180" y="2194560"/>
            <a:ext cx="784098" cy="54864"/>
          </a:xfrm>
          <a:prstGeom prst="rect">
            <a:avLst/>
          </a:prstGeom>
          <a:solidFill>
            <a:srgbClr val="123A6B"/>
          </a:solidFill>
          <a:ln>
            <a:noFill/>
          </a:ln>
          <a:effectLst/>
        </p:spPr>
        <p:txBody>
          <a:bodyPr rtlCol="0" anchor="ctr"/>
          <a:lstStyle/>
          <a:p>
            <a:pPr algn="ctr"/>
          </a:p>
        </p:txBody>
      </p:sp>
      <p:sp>
        <p:nvSpPr>
          <p:cNvPr id="12" name="TextBox 11"/>
          <p:cNvSpPr/>
          <p:nvPr>
            <p:ph type="body" idx="7"/>
          </p:nvPr>
        </p:nvSpPr>
        <p:spPr>
          <a:xfrm>
            <a:off x="3345180" y="2414016"/>
            <a:ext cx="2946400" cy="518159"/>
          </a:xfrm>
          <a:prstGeom prst="rect">
            <a:avLst/>
          </a:prstGeom>
          <a:noFill/>
        </p:spPr>
        <p:txBody>
          <a:bodyPr wrap="none" lIns="0" rIns="0">
            <a:noAutofit/>
          </a:bodyPr>
          <a:lstStyle/>
          <a:p>
            <a:pPr algn="l"/>
            <a:r>
              <a:rPr sz="3400" b="1" i="0">
                <a:solidFill>
                  <a:srgbClr val="123A6B"/>
                </a:solidFill>
                <a:latin typeface="Arial"/>
              </a:rPr>
              <a:t>Connect</a:t>
            </a:r>
          </a:p>
        </p:txBody>
      </p:sp>
      <p:sp>
        <p:nvSpPr>
          <p:cNvPr id="13" name="TextBox 12"/>
          <p:cNvSpPr/>
          <p:nvPr>
            <p:ph type="body" idx="8"/>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Link your data</a:t>
            </a:r>
          </a:p>
        </p:txBody>
      </p:sp>
      <p:sp>
        <p:nvSpPr>
          <p:cNvPr id="14" name="TextBox 13"/>
          <p:cNvSpPr/>
          <p:nvPr>
            <p:ph type="body" idx="9"/>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5" name="Rectangle 14"/>
          <p:cNvSpPr/>
          <p:nvPr>
            <p:ph type="body" idx="13"/>
          </p:nvPr>
        </p:nvSpPr>
        <p:spPr>
          <a:xfrm>
            <a:off x="6233160" y="2194560"/>
            <a:ext cx="784098" cy="54864"/>
          </a:xfrm>
          <a:prstGeom prst="rect">
            <a:avLst/>
          </a:prstGeom>
          <a:solidFill>
            <a:srgbClr val="123A6B"/>
          </a:solidFill>
          <a:ln>
            <a:noFill/>
          </a:ln>
          <a:effectLst/>
        </p:spPr>
        <p:txBody>
          <a:bodyPr rtlCol="0" anchor="ctr"/>
          <a:lstStyle/>
          <a:p>
            <a:pPr algn="ctr"/>
          </a:p>
        </p:txBody>
      </p:sp>
      <p:sp>
        <p:nvSpPr>
          <p:cNvPr id="16" name="TextBox 15"/>
          <p:cNvSpPr/>
          <p:nvPr>
            <p:ph type="body" idx="14"/>
          </p:nvPr>
        </p:nvSpPr>
        <p:spPr>
          <a:xfrm>
            <a:off x="6233160" y="2414016"/>
            <a:ext cx="3444993" cy="518159"/>
          </a:xfrm>
          <a:prstGeom prst="rect">
            <a:avLst/>
          </a:prstGeom>
          <a:noFill/>
        </p:spPr>
        <p:txBody>
          <a:bodyPr wrap="none" lIns="0" rIns="0">
            <a:noAutofit/>
          </a:bodyPr>
          <a:lstStyle/>
          <a:p>
            <a:pPr algn="l"/>
            <a:r>
              <a:rPr sz="3400" b="1" i="0">
                <a:solidFill>
                  <a:srgbClr val="123A6B"/>
                </a:solidFill>
                <a:latin typeface="Arial"/>
              </a:rPr>
              <a:t>Configure</a:t>
            </a:r>
          </a:p>
        </p:txBody>
      </p:sp>
      <p:sp>
        <p:nvSpPr>
          <p:cNvPr id="17" name="TextBox 16"/>
          <p:cNvSpPr/>
          <p:nvPr>
            <p:ph type="body" idx="15"/>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Pick your metrics</a:t>
            </a:r>
          </a:p>
        </p:txBody>
      </p:sp>
      <p:sp>
        <p:nvSpPr>
          <p:cNvPr id="18" name="TextBox 17"/>
          <p:cNvSpPr/>
          <p:nvPr>
            <p:ph type="body" idx="16"/>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9" name="Rectangle 18"/>
          <p:cNvSpPr/>
          <p:nvPr>
            <p:ph type="body" idx="17"/>
          </p:nvPr>
        </p:nvSpPr>
        <p:spPr>
          <a:xfrm>
            <a:off x="9121140" y="2194560"/>
            <a:ext cx="784098" cy="54864"/>
          </a:xfrm>
          <a:prstGeom prst="rect">
            <a:avLst/>
          </a:prstGeom>
          <a:solidFill>
            <a:srgbClr val="123A6B"/>
          </a:solidFill>
          <a:ln>
            <a:noFill/>
          </a:ln>
          <a:effectLst/>
        </p:spPr>
        <p:txBody>
          <a:bodyPr rtlCol="0" anchor="ctr"/>
          <a:lstStyle/>
          <a:p>
            <a:pPr algn="ctr"/>
          </a:p>
        </p:txBody>
      </p:sp>
      <p:sp>
        <p:nvSpPr>
          <p:cNvPr id="20" name="TextBox 19"/>
          <p:cNvSpPr/>
          <p:nvPr>
            <p:ph type="body" idx="18"/>
          </p:nvPr>
        </p:nvSpPr>
        <p:spPr>
          <a:xfrm>
            <a:off x="9121140" y="2414016"/>
            <a:ext cx="2639417" cy="518159"/>
          </a:xfrm>
          <a:prstGeom prst="rect">
            <a:avLst/>
          </a:prstGeom>
          <a:noFill/>
        </p:spPr>
        <p:txBody>
          <a:bodyPr wrap="none" lIns="0" rIns="0">
            <a:noAutofit/>
          </a:bodyPr>
          <a:lstStyle/>
          <a:p>
            <a:pPr algn="l"/>
            <a:r>
              <a:rPr sz="3400" b="1" i="0">
                <a:solidFill>
                  <a:srgbClr val="123A6B"/>
                </a:solidFill>
                <a:latin typeface="Arial"/>
              </a:rPr>
              <a:t>Launch</a:t>
            </a:r>
          </a:p>
        </p:txBody>
      </p:sp>
      <p:sp>
        <p:nvSpPr>
          <p:cNvPr id="21" name="TextBox 20"/>
          <p:cNvSpPr/>
          <p:nvPr>
            <p:ph type="body" idx="19"/>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Go live in minutes</a:t>
            </a:r>
          </a:p>
        </p:txBody>
      </p:sp>
    </p:spTree>
    <p:extLst>
      <p:ext uri="{BB962C8B-B14F-4D97-AF65-F5344CB8AC3E}">
        <p14:creationId xmlns:p14="http://schemas.microsoft.com/office/powerpoint/2010/main" val="121299981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slidekit · Roadmap">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2026 Plan</a:t>
            </a:r>
          </a:p>
        </p:txBody>
      </p:sp>
      <p:sp>
        <p:nvSpPr>
          <p:cNvPr id="6" name="Rectangle 5"/>
          <p:cNvSpPr/>
          <p:nvPr>
            <p:ph type="body" idx="1"/>
          </p:nvPr>
        </p:nvSpPr>
        <p:spPr>
          <a:xfrm>
            <a:off x="457200" y="1499616"/>
            <a:ext cx="3576320" cy="621791"/>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3576320" cy="621791"/>
          </a:xfrm>
          <a:prstGeom prst="rect">
            <a:avLst/>
          </a:prstGeom>
          <a:noFill/>
        </p:spPr>
        <p:txBody>
          <a:bodyPr wrap="none" lIns="0" rIns="0">
            <a:noAutofit/>
          </a:bodyPr>
          <a:lstStyle/>
          <a:p>
            <a:pPr algn="l"/>
            <a:r>
              <a:rPr sz="3400" b="1" i="0">
                <a:solidFill>
                  <a:srgbClr val="FFFFFF"/>
                </a:solidFill>
                <a:latin typeface="Arial"/>
              </a:rPr>
              <a:t>Q1</a:t>
            </a:r>
          </a:p>
        </p:txBody>
      </p:sp>
      <p:sp>
        <p:nvSpPr>
          <p:cNvPr id="8" name="TextBox 7"/>
          <p:cNvSpPr/>
          <p:nvPr>
            <p:ph type="body" idx="3"/>
          </p:nvPr>
        </p:nvSpPr>
        <p:spPr>
          <a:xfrm>
            <a:off x="457200" y="2395727"/>
            <a:ext cx="3576320" cy="609600"/>
          </a:xfrm>
          <a:prstGeom prst="rect">
            <a:avLst/>
          </a:prstGeom>
          <a:noFill/>
        </p:spPr>
        <p:txBody>
          <a:bodyPr wrap="none" lIns="0" rIns="0">
            <a:noAutofit/>
          </a:bodyPr>
          <a:lstStyle/>
          <a:p>
            <a:pPr algn="l"/>
            <a:r>
              <a:rPr sz="3400" b="0" i="0">
                <a:solidFill>
                  <a:srgbClr val="0A2240"/>
                </a:solidFill>
                <a:latin typeface="Arial"/>
              </a:rPr>
              <a:t>Ship API</a:t>
            </a:r>
          </a:p>
        </p:txBody>
      </p:sp>
      <p:sp>
        <p:nvSpPr>
          <p:cNvPr id="9" name="TextBox 8"/>
          <p:cNvSpPr/>
          <p:nvPr>
            <p:ph type="body" idx="4"/>
          </p:nvPr>
        </p:nvSpPr>
        <p:spPr>
          <a:xfrm>
            <a:off x="457200" y="3279647"/>
            <a:ext cx="3831928" cy="609600"/>
          </a:xfrm>
          <a:prstGeom prst="rect">
            <a:avLst/>
          </a:prstGeom>
          <a:noFill/>
        </p:spPr>
        <p:txBody>
          <a:bodyPr wrap="none" lIns="0" rIns="0">
            <a:noAutofit/>
          </a:bodyPr>
          <a:lstStyle/>
          <a:p>
            <a:pPr algn="l"/>
            <a:r>
              <a:rPr sz="3400" b="0" i="0">
                <a:solidFill>
                  <a:srgbClr val="0A2240"/>
                </a:solidFill>
                <a:latin typeface="Arial"/>
              </a:rPr>
              <a:t>Beta launch</a:t>
            </a:r>
          </a:p>
        </p:txBody>
      </p:sp>
      <p:sp>
        <p:nvSpPr>
          <p:cNvPr id="10" name="Rectangle 9"/>
          <p:cNvSpPr/>
          <p:nvPr>
            <p:ph type="body" idx="5"/>
          </p:nvPr>
        </p:nvSpPr>
        <p:spPr>
          <a:xfrm>
            <a:off x="4307840" y="1499616"/>
            <a:ext cx="3576320" cy="621791"/>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4307840" y="1499616"/>
            <a:ext cx="3576320" cy="621791"/>
          </a:xfrm>
          <a:prstGeom prst="rect">
            <a:avLst/>
          </a:prstGeom>
          <a:noFill/>
        </p:spPr>
        <p:txBody>
          <a:bodyPr wrap="none" lIns="0" rIns="0">
            <a:noAutofit/>
          </a:bodyPr>
          <a:lstStyle/>
          <a:p>
            <a:pPr algn="l"/>
            <a:r>
              <a:rPr sz="3400" b="1" i="0">
                <a:solidFill>
                  <a:srgbClr val="FFFFFF"/>
                </a:solidFill>
                <a:latin typeface="Arial"/>
              </a:rPr>
              <a:t>Q2</a:t>
            </a:r>
          </a:p>
        </p:txBody>
      </p:sp>
      <p:sp>
        <p:nvSpPr>
          <p:cNvPr id="12" name="TextBox 11"/>
          <p:cNvSpPr/>
          <p:nvPr>
            <p:ph type="body" idx="7"/>
          </p:nvPr>
        </p:nvSpPr>
        <p:spPr>
          <a:xfrm>
            <a:off x="4307840" y="2395727"/>
            <a:ext cx="3576320" cy="609600"/>
          </a:xfrm>
          <a:prstGeom prst="rect">
            <a:avLst/>
          </a:prstGeom>
          <a:noFill/>
        </p:spPr>
        <p:txBody>
          <a:bodyPr wrap="none" lIns="0" rIns="0">
            <a:noAutofit/>
          </a:bodyPr>
          <a:lstStyle/>
          <a:p>
            <a:pPr algn="l"/>
            <a:r>
              <a:rPr sz="3400" b="0" i="0">
                <a:solidFill>
                  <a:srgbClr val="0A2240"/>
                </a:solidFill>
                <a:latin typeface="Arial"/>
              </a:rPr>
              <a:t>Mobile app</a:t>
            </a:r>
          </a:p>
        </p:txBody>
      </p:sp>
      <p:sp>
        <p:nvSpPr>
          <p:cNvPr id="13" name="TextBox 12"/>
          <p:cNvSpPr/>
          <p:nvPr>
            <p:ph type="body" idx="8"/>
          </p:nvPr>
        </p:nvSpPr>
        <p:spPr>
          <a:xfrm>
            <a:off x="4307840" y="3279647"/>
            <a:ext cx="3793132" cy="609600"/>
          </a:xfrm>
          <a:prstGeom prst="rect">
            <a:avLst/>
          </a:prstGeom>
          <a:noFill/>
        </p:spPr>
        <p:txBody>
          <a:bodyPr wrap="none" lIns="0" rIns="0">
            <a:noAutofit/>
          </a:bodyPr>
          <a:lstStyle/>
          <a:p>
            <a:pPr algn="l"/>
            <a:r>
              <a:rPr sz="3400" b="0" i="0">
                <a:solidFill>
                  <a:srgbClr val="0A2240"/>
                </a:solidFill>
                <a:latin typeface="Arial"/>
              </a:rPr>
              <a:t>Integrations</a:t>
            </a:r>
          </a:p>
        </p:txBody>
      </p:sp>
      <p:sp>
        <p:nvSpPr>
          <p:cNvPr id="14" name="Rectangle 13"/>
          <p:cNvSpPr/>
          <p:nvPr>
            <p:ph type="body" idx="9"/>
          </p:nvPr>
        </p:nvSpPr>
        <p:spPr>
          <a:xfrm>
            <a:off x="8158480" y="1499616"/>
            <a:ext cx="3576320" cy="621791"/>
          </a:xfrm>
          <a:prstGeom prst="rect">
            <a:avLst/>
          </a:prstGeom>
          <a:solidFill>
            <a:srgbClr val="0072CE"/>
          </a:solidFill>
          <a:ln>
            <a:noFill/>
          </a:ln>
          <a:effectLst/>
        </p:spPr>
        <p:txBody>
          <a:bodyPr rtlCol="0" anchor="ctr"/>
          <a:lstStyle/>
          <a:p>
            <a:pPr algn="ctr"/>
          </a:p>
        </p:txBody>
      </p:sp>
      <p:sp>
        <p:nvSpPr>
          <p:cNvPr id="15" name="TextBox 14"/>
          <p:cNvSpPr/>
          <p:nvPr>
            <p:ph type="body" idx="13"/>
          </p:nvPr>
        </p:nvSpPr>
        <p:spPr>
          <a:xfrm>
            <a:off x="8158480" y="1499616"/>
            <a:ext cx="3576320" cy="621791"/>
          </a:xfrm>
          <a:prstGeom prst="rect">
            <a:avLst/>
          </a:prstGeom>
          <a:noFill/>
        </p:spPr>
        <p:txBody>
          <a:bodyPr wrap="none" lIns="0" rIns="0">
            <a:noAutofit/>
          </a:bodyPr>
          <a:lstStyle/>
          <a:p>
            <a:pPr algn="l"/>
            <a:r>
              <a:rPr sz="3400" b="1" i="0">
                <a:solidFill>
                  <a:srgbClr val="FFFFFF"/>
                </a:solidFill>
                <a:latin typeface="Arial"/>
              </a:rPr>
              <a:t>Q3</a:t>
            </a:r>
          </a:p>
        </p:txBody>
      </p:sp>
      <p:sp>
        <p:nvSpPr>
          <p:cNvPr id="16" name="TextBox 15"/>
          <p:cNvSpPr/>
          <p:nvPr>
            <p:ph type="body" idx="14"/>
          </p:nvPr>
        </p:nvSpPr>
        <p:spPr>
          <a:xfrm>
            <a:off x="8158480" y="2395727"/>
            <a:ext cx="4033520" cy="609600"/>
          </a:xfrm>
          <a:prstGeom prst="rect">
            <a:avLst/>
          </a:prstGeom>
          <a:noFill/>
        </p:spPr>
        <p:txBody>
          <a:bodyPr wrap="none" lIns="0" rIns="0">
            <a:noAutofit/>
          </a:bodyPr>
          <a:lstStyle/>
          <a:p>
            <a:pPr algn="l"/>
            <a:r>
              <a:rPr sz="3400" b="0" i="0">
                <a:solidFill>
                  <a:srgbClr val="0A2240"/>
                </a:solidFill>
                <a:latin typeface="Arial"/>
              </a:rPr>
              <a:t>Enterprise tier</a:t>
            </a:r>
          </a:p>
        </p:txBody>
      </p:sp>
      <p:sp>
        <p:nvSpPr>
          <p:cNvPr id="17" name="TextBox 16"/>
          <p:cNvSpPr/>
          <p:nvPr>
            <p:ph type="body" idx="15"/>
          </p:nvPr>
        </p:nvSpPr>
        <p:spPr>
          <a:xfrm>
            <a:off x="8158480" y="3279647"/>
            <a:ext cx="3576320" cy="609600"/>
          </a:xfrm>
          <a:prstGeom prst="rect">
            <a:avLst/>
          </a:prstGeom>
          <a:noFill/>
        </p:spPr>
        <p:txBody>
          <a:bodyPr wrap="none" lIns="0" rIns="0">
            <a:noAutofit/>
          </a:bodyPr>
          <a:lstStyle/>
          <a:p>
            <a:pPr algn="l"/>
            <a:r>
              <a:rPr sz="3400" b="0" i="0">
                <a:solidFill>
                  <a:srgbClr val="0A2240"/>
                </a:solidFill>
                <a:latin typeface="Arial"/>
              </a:rPr>
              <a:t>SSO</a:t>
            </a:r>
          </a:p>
        </p:txBody>
      </p:sp>
    </p:spTree>
    <p:extLst>
      <p:ext uri="{BB962C8B-B14F-4D97-AF65-F5344CB8AC3E}">
        <p14:creationId xmlns:p14="http://schemas.microsoft.com/office/powerpoint/2010/main" val="121299981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slidekit · Funnel">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Sales Pipeline</a:t>
            </a:r>
          </a:p>
        </p:txBody>
      </p:sp>
      <p:sp>
        <p:nvSpPr>
          <p:cNvPr id="6" name="Rectangle 5"/>
          <p:cNvSpPr/>
          <p:nvPr>
            <p:ph type="body" idx="1"/>
          </p:nvPr>
        </p:nvSpPr>
        <p:spPr>
          <a:xfrm>
            <a:off x="457200" y="1499616"/>
            <a:ext cx="11277600" cy="859536"/>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11277600" cy="859536"/>
          </a:xfrm>
          <a:prstGeom prst="rect">
            <a:avLst/>
          </a:prstGeom>
          <a:noFill/>
        </p:spPr>
        <p:txBody>
          <a:bodyPr wrap="none" lIns="0" rIns="0">
            <a:noAutofit/>
          </a:bodyPr>
          <a:lstStyle/>
          <a:p>
            <a:pPr algn="l"/>
            <a:r>
              <a:rPr sz="3400" b="1" i="0">
                <a:solidFill>
                  <a:srgbClr val="FFFFFF"/>
                </a:solidFill>
                <a:latin typeface="Arial"/>
              </a:rPr>
              <a:t>Visitors · 50,000</a:t>
            </a:r>
          </a:p>
        </p:txBody>
      </p:sp>
      <p:sp>
        <p:nvSpPr>
          <p:cNvPr id="8" name="Rectangle 7"/>
          <p:cNvSpPr/>
          <p:nvPr>
            <p:ph type="body" idx="3"/>
          </p:nvPr>
        </p:nvSpPr>
        <p:spPr>
          <a:xfrm>
            <a:off x="1490980" y="2633472"/>
            <a:ext cx="921004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490980" y="2633472"/>
            <a:ext cx="9210040" cy="859536"/>
          </a:xfrm>
          <a:prstGeom prst="rect">
            <a:avLst/>
          </a:prstGeom>
          <a:noFill/>
        </p:spPr>
        <p:txBody>
          <a:bodyPr wrap="none" lIns="0" rIns="0">
            <a:noAutofit/>
          </a:bodyPr>
          <a:lstStyle/>
          <a:p>
            <a:pPr algn="l"/>
            <a:r>
              <a:rPr sz="3400" b="1" i="0">
                <a:solidFill>
                  <a:srgbClr val="FFFFFF"/>
                </a:solidFill>
                <a:latin typeface="Arial"/>
              </a:rPr>
              <a:t>Signups · 8,000</a:t>
            </a:r>
          </a:p>
        </p:txBody>
      </p:sp>
      <p:sp>
        <p:nvSpPr>
          <p:cNvPr id="10" name="Rectangle 9"/>
          <p:cNvSpPr/>
          <p:nvPr>
            <p:ph type="body" idx="5"/>
          </p:nvPr>
        </p:nvSpPr>
        <p:spPr>
          <a:xfrm>
            <a:off x="2524760" y="3767328"/>
            <a:ext cx="7142480" cy="859536"/>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524760" y="3767328"/>
            <a:ext cx="7142480" cy="859536"/>
          </a:xfrm>
          <a:prstGeom prst="rect">
            <a:avLst/>
          </a:prstGeom>
          <a:noFill/>
        </p:spPr>
        <p:txBody>
          <a:bodyPr wrap="none" lIns="0" rIns="0">
            <a:noAutofit/>
          </a:bodyPr>
          <a:lstStyle/>
          <a:p>
            <a:pPr algn="l"/>
            <a:r>
              <a:rPr sz="3400" b="1" i="0">
                <a:solidFill>
                  <a:srgbClr val="FFFFFF"/>
                </a:solidFill>
                <a:latin typeface="Arial"/>
              </a:rPr>
              <a:t>Trials · 2,400</a:t>
            </a:r>
          </a:p>
        </p:txBody>
      </p:sp>
      <p:sp>
        <p:nvSpPr>
          <p:cNvPr id="12" name="Rectangle 11"/>
          <p:cNvSpPr/>
          <p:nvPr>
            <p:ph type="body" idx="7"/>
          </p:nvPr>
        </p:nvSpPr>
        <p:spPr>
          <a:xfrm>
            <a:off x="3558540" y="4901184"/>
            <a:ext cx="5074919"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3558540" y="4901184"/>
            <a:ext cx="5558452" cy="859536"/>
          </a:xfrm>
          <a:prstGeom prst="rect">
            <a:avLst/>
          </a:prstGeom>
          <a:noFill/>
        </p:spPr>
        <p:txBody>
          <a:bodyPr wrap="none" lIns="0" rIns="0">
            <a:noAutofit/>
          </a:bodyPr>
          <a:lstStyle/>
          <a:p>
            <a:pPr algn="l"/>
            <a:r>
              <a:rPr sz="3400" b="1" i="0">
                <a:solidFill>
                  <a:srgbClr val="FFFFFF"/>
                </a:solidFill>
                <a:latin typeface="Arial"/>
              </a:rPr>
              <a:t>Customers · 600</a:t>
            </a:r>
          </a:p>
        </p:txBody>
      </p:sp>
    </p:spTree>
    <p:extLst>
      <p:ext uri="{BB962C8B-B14F-4D97-AF65-F5344CB8AC3E}">
        <p14:creationId xmlns:p14="http://schemas.microsoft.com/office/powerpoint/2010/main" val="121299981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blank" preserve="1">
  <p:cSld name="slidekit · Nested Circle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Job Search Funnel (2021)</a:t>
            </a:r>
          </a:p>
        </p:txBody>
      </p:sp>
      <p:sp>
        <p:nvSpPr>
          <p:cNvPr id="6" name="Oval 5"/>
          <p:cNvSpPr/>
          <p:nvPr>
            <p:ph type="body" idx="1"/>
          </p:nvPr>
        </p:nvSpPr>
        <p:spPr>
          <a:xfrm>
            <a:off x="3645408" y="1499616"/>
            <a:ext cx="4901184" cy="4901184"/>
          </a:xfrm>
          <a:prstGeom prst="ellipse">
            <a:avLst/>
          </a:prstGeom>
          <a:solidFill>
            <a:srgbClr val="5B6B82"/>
          </a:solidFill>
          <a:ln>
            <a:noFill/>
          </a:ln>
          <a:effectLst/>
        </p:spPr>
        <p:txBody>
          <a:bodyPr rtlCol="0" anchor="ctr"/>
          <a:lstStyle/>
          <a:p>
            <a:pPr algn="ctr"/>
          </a:p>
        </p:txBody>
      </p:sp>
      <p:sp>
        <p:nvSpPr>
          <p:cNvPr id="7" name="Oval 6"/>
          <p:cNvSpPr/>
          <p:nvPr>
            <p:ph type="body" idx="2"/>
          </p:nvPr>
        </p:nvSpPr>
        <p:spPr>
          <a:xfrm>
            <a:off x="4462272" y="3133344"/>
            <a:ext cx="3267456" cy="3267456"/>
          </a:xfrm>
          <a:prstGeom prst="ellipse">
            <a:avLst/>
          </a:prstGeom>
          <a:solidFill>
            <a:srgbClr val="0072CE"/>
          </a:solidFill>
          <a:ln>
            <a:noFill/>
          </a:ln>
          <a:effectLst/>
        </p:spPr>
        <p:txBody>
          <a:bodyPr rtlCol="0" anchor="ctr"/>
          <a:lstStyle/>
          <a:p>
            <a:pPr algn="ctr"/>
          </a:p>
        </p:txBody>
      </p:sp>
      <p:sp>
        <p:nvSpPr>
          <p:cNvPr id="8" name="Oval 7"/>
          <p:cNvSpPr/>
          <p:nvPr>
            <p:ph type="body" idx="3"/>
          </p:nvPr>
        </p:nvSpPr>
        <p:spPr>
          <a:xfrm>
            <a:off x="5279136" y="4767072"/>
            <a:ext cx="1633728" cy="1633728"/>
          </a:xfrm>
          <a:prstGeom prst="ellipse">
            <a:avLst/>
          </a:prstGeom>
          <a:solidFill>
            <a:srgbClr val="123A6B"/>
          </a:solidFill>
          <a:ln>
            <a:noFill/>
          </a:ln>
          <a:effectLst/>
        </p:spPr>
        <p:txBody>
          <a:bodyPr rtlCol="0" anchor="ctr"/>
          <a:lstStyle/>
          <a:p>
            <a:pPr algn="ctr"/>
          </a:p>
        </p:txBody>
      </p:sp>
      <p:sp>
        <p:nvSpPr>
          <p:cNvPr id="9" name="TextBox 8"/>
          <p:cNvSpPr/>
          <p:nvPr>
            <p:ph type="body" idx="4"/>
          </p:nvPr>
        </p:nvSpPr>
        <p:spPr>
          <a:xfrm>
            <a:off x="4577329" y="1645920"/>
            <a:ext cx="3037342" cy="762000"/>
          </a:xfrm>
          <a:prstGeom prst="rect">
            <a:avLst/>
          </a:prstGeom>
          <a:noFill/>
        </p:spPr>
        <p:txBody>
          <a:bodyPr wrap="none" lIns="0" rIns="0">
            <a:noAutofit/>
          </a:bodyPr>
          <a:lstStyle/>
          <a:p>
            <a:pPr algn="ctr"/>
            <a:r>
              <a:rPr sz="5000" b="1" i="0">
                <a:solidFill>
                  <a:srgbClr val="FFFFFF"/>
                </a:solidFill>
                <a:latin typeface="Arial"/>
              </a:rPr>
              <a:t>&gt;700</a:t>
            </a:r>
          </a:p>
        </p:txBody>
      </p:sp>
      <p:sp>
        <p:nvSpPr>
          <p:cNvPr id="10" name="TextBox 9"/>
          <p:cNvSpPr/>
          <p:nvPr>
            <p:ph type="body" idx="5"/>
          </p:nvPr>
        </p:nvSpPr>
        <p:spPr>
          <a:xfrm>
            <a:off x="3594080" y="2316480"/>
            <a:ext cx="5003840" cy="670560"/>
          </a:xfrm>
          <a:prstGeom prst="rect">
            <a:avLst/>
          </a:prstGeom>
          <a:noFill/>
        </p:spPr>
        <p:txBody>
          <a:bodyPr wrap="none" lIns="0" rIns="0">
            <a:noAutofit/>
          </a:bodyPr>
          <a:lstStyle/>
          <a:p>
            <a:pPr algn="ctr"/>
            <a:r>
              <a:rPr sz="4400" b="0" i="0">
                <a:solidFill>
                  <a:srgbClr val="FFFFFF"/>
                </a:solidFill>
                <a:latin typeface="Arial"/>
              </a:rPr>
              <a:t>Applications</a:t>
            </a:r>
          </a:p>
        </p:txBody>
      </p:sp>
      <p:sp>
        <p:nvSpPr>
          <p:cNvPr id="11" name="TextBox 10"/>
          <p:cNvSpPr/>
          <p:nvPr>
            <p:ph type="body" idx="6"/>
          </p:nvPr>
        </p:nvSpPr>
        <p:spPr>
          <a:xfrm>
            <a:off x="4840583" y="3401568"/>
            <a:ext cx="2510834" cy="640080"/>
          </a:xfrm>
          <a:prstGeom prst="rect">
            <a:avLst/>
          </a:prstGeom>
          <a:noFill/>
        </p:spPr>
        <p:txBody>
          <a:bodyPr wrap="none" lIns="0" rIns="0">
            <a:noAutofit/>
          </a:bodyPr>
          <a:lstStyle/>
          <a:p>
            <a:pPr algn="ctr"/>
            <a:r>
              <a:rPr sz="4200" b="1" i="0">
                <a:solidFill>
                  <a:srgbClr val="FFFFFF"/>
                </a:solidFill>
                <a:latin typeface="Arial"/>
              </a:rPr>
              <a:t>6</a:t>
            </a:r>
          </a:p>
        </p:txBody>
      </p:sp>
      <p:sp>
        <p:nvSpPr>
          <p:cNvPr id="12" name="TextBox 11"/>
          <p:cNvSpPr/>
          <p:nvPr>
            <p:ph type="body" idx="7"/>
          </p:nvPr>
        </p:nvSpPr>
        <p:spPr>
          <a:xfrm>
            <a:off x="4358104" y="3950208"/>
            <a:ext cx="3475792" cy="548640"/>
          </a:xfrm>
          <a:prstGeom prst="rect">
            <a:avLst/>
          </a:prstGeom>
          <a:noFill/>
        </p:spPr>
        <p:txBody>
          <a:bodyPr wrap="none" lIns="0" rIns="0">
            <a:noAutofit/>
          </a:bodyPr>
          <a:lstStyle/>
          <a:p>
            <a:pPr algn="ctr"/>
            <a:r>
              <a:rPr sz="3600" b="0" i="0">
                <a:solidFill>
                  <a:srgbClr val="FFFFFF"/>
                </a:solidFill>
                <a:latin typeface="Arial"/>
              </a:rPr>
              <a:t>Interviews</a:t>
            </a:r>
          </a:p>
        </p:txBody>
      </p:sp>
      <p:sp>
        <p:nvSpPr>
          <p:cNvPr id="13" name="TextBox 12"/>
          <p:cNvSpPr/>
          <p:nvPr>
            <p:ph type="body" idx="8"/>
          </p:nvPr>
        </p:nvSpPr>
        <p:spPr>
          <a:xfrm>
            <a:off x="5296524" y="5157216"/>
            <a:ext cx="1598952" cy="518159"/>
          </a:xfrm>
          <a:prstGeom prst="rect">
            <a:avLst/>
          </a:prstGeom>
          <a:noFill/>
        </p:spPr>
        <p:txBody>
          <a:bodyPr wrap="none" lIns="0" rIns="0">
            <a:noAutofit/>
          </a:bodyPr>
          <a:lstStyle/>
          <a:p>
            <a:pPr algn="ctr"/>
            <a:r>
              <a:rPr sz="3400" b="1" i="0">
                <a:solidFill>
                  <a:srgbClr val="FFFFFF"/>
                </a:solidFill>
                <a:latin typeface="Arial"/>
              </a:rPr>
              <a:t>1.5</a:t>
            </a:r>
          </a:p>
        </p:txBody>
      </p:sp>
      <p:sp>
        <p:nvSpPr>
          <p:cNvPr id="14" name="TextBox 13"/>
          <p:cNvSpPr/>
          <p:nvPr>
            <p:ph type="body" idx="9"/>
          </p:nvPr>
        </p:nvSpPr>
        <p:spPr>
          <a:xfrm>
            <a:off x="5235159" y="5583935"/>
            <a:ext cx="1721682" cy="426720"/>
          </a:xfrm>
          <a:prstGeom prst="rect">
            <a:avLst/>
          </a:prstGeom>
          <a:noFill/>
        </p:spPr>
        <p:txBody>
          <a:bodyPr wrap="none" lIns="0" rIns="0">
            <a:noAutofit/>
          </a:bodyPr>
          <a:lstStyle/>
          <a:p>
            <a:pPr algn="ctr"/>
            <a:r>
              <a:rPr sz="2800" b="0" i="0">
                <a:solidFill>
                  <a:srgbClr val="FFFFFF"/>
                </a:solidFill>
                <a:latin typeface="Arial"/>
              </a:rPr>
              <a:t>Offers</a:t>
            </a:r>
          </a:p>
        </p:txBody>
      </p:sp>
    </p:spTree>
    <p:extLst>
      <p:ext uri="{BB962C8B-B14F-4D97-AF65-F5344CB8AC3E}">
        <p14:creationId xmlns:p14="http://schemas.microsoft.com/office/powerpoint/2010/main" val="121299981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slidekit · Pyram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Hierarchy of Needs</a:t>
            </a:r>
          </a:p>
        </p:txBody>
      </p:sp>
      <p:sp>
        <p:nvSpPr>
          <p:cNvPr id="6" name="Rectangle 5"/>
          <p:cNvSpPr/>
          <p:nvPr>
            <p:ph type="body" idx="1"/>
          </p:nvPr>
        </p:nvSpPr>
        <p:spPr>
          <a:xfrm>
            <a:off x="3840480" y="1499616"/>
            <a:ext cx="4511040" cy="859536"/>
          </a:xfrm>
          <a:prstGeom prst="rect">
            <a:avLst/>
          </a:prstGeom>
          <a:solidFill>
            <a:srgbClr val="123A6B"/>
          </a:solidFill>
          <a:ln>
            <a:noFill/>
          </a:ln>
          <a:effectLst/>
        </p:spPr>
        <p:txBody>
          <a:bodyPr rtlCol="0" anchor="ctr"/>
          <a:lstStyle/>
          <a:p>
            <a:pPr algn="ctr"/>
          </a:p>
        </p:txBody>
      </p:sp>
      <p:sp>
        <p:nvSpPr>
          <p:cNvPr id="7" name="TextBox 6"/>
          <p:cNvSpPr/>
          <p:nvPr>
            <p:ph type="body" idx="2"/>
          </p:nvPr>
        </p:nvSpPr>
        <p:spPr>
          <a:xfrm>
            <a:off x="3840480" y="1499616"/>
            <a:ext cx="4511040" cy="859536"/>
          </a:xfrm>
          <a:prstGeom prst="rect">
            <a:avLst/>
          </a:prstGeom>
          <a:noFill/>
        </p:spPr>
        <p:txBody>
          <a:bodyPr wrap="none" lIns="0" rIns="0">
            <a:noAutofit/>
          </a:bodyPr>
          <a:lstStyle/>
          <a:p>
            <a:pPr algn="l"/>
            <a:r>
              <a:rPr sz="3400" b="1" i="0">
                <a:solidFill>
                  <a:srgbClr val="FFFFFF"/>
                </a:solidFill>
                <a:latin typeface="Arial"/>
              </a:rPr>
              <a:t>Vision</a:t>
            </a:r>
          </a:p>
        </p:txBody>
      </p:sp>
      <p:sp>
        <p:nvSpPr>
          <p:cNvPr id="8" name="Rectangle 7"/>
          <p:cNvSpPr/>
          <p:nvPr>
            <p:ph type="body" idx="3"/>
          </p:nvPr>
        </p:nvSpPr>
        <p:spPr>
          <a:xfrm>
            <a:off x="2712720" y="2633472"/>
            <a:ext cx="676656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2712720" y="2633472"/>
            <a:ext cx="6766560" cy="859536"/>
          </a:xfrm>
          <a:prstGeom prst="rect">
            <a:avLst/>
          </a:prstGeom>
          <a:noFill/>
        </p:spPr>
        <p:txBody>
          <a:bodyPr wrap="none" lIns="0" rIns="0">
            <a:noAutofit/>
          </a:bodyPr>
          <a:lstStyle/>
          <a:p>
            <a:pPr algn="l"/>
            <a:r>
              <a:rPr sz="3400" b="1" i="0">
                <a:solidFill>
                  <a:srgbClr val="FFFFFF"/>
                </a:solidFill>
                <a:latin typeface="Arial"/>
              </a:rPr>
              <a:t>Strategy</a:t>
            </a:r>
          </a:p>
        </p:txBody>
      </p:sp>
      <p:sp>
        <p:nvSpPr>
          <p:cNvPr id="10" name="Rectangle 9"/>
          <p:cNvSpPr/>
          <p:nvPr>
            <p:ph type="body" idx="5"/>
          </p:nvPr>
        </p:nvSpPr>
        <p:spPr>
          <a:xfrm>
            <a:off x="1584960" y="3767328"/>
            <a:ext cx="9022080" cy="859536"/>
          </a:xfrm>
          <a:prstGeom prst="rect">
            <a:avLst/>
          </a:prstGeom>
          <a:solidFill>
            <a:srgbClr val="123A6B"/>
          </a:solidFill>
          <a:ln>
            <a:noFill/>
          </a:ln>
          <a:effectLst/>
        </p:spPr>
        <p:txBody>
          <a:bodyPr rtlCol="0" anchor="ctr"/>
          <a:lstStyle/>
          <a:p>
            <a:pPr algn="ctr"/>
          </a:p>
        </p:txBody>
      </p:sp>
      <p:sp>
        <p:nvSpPr>
          <p:cNvPr id="11" name="TextBox 10"/>
          <p:cNvSpPr/>
          <p:nvPr>
            <p:ph type="body" idx="6"/>
          </p:nvPr>
        </p:nvSpPr>
        <p:spPr>
          <a:xfrm>
            <a:off x="1584960" y="3767328"/>
            <a:ext cx="9022080" cy="859536"/>
          </a:xfrm>
          <a:prstGeom prst="rect">
            <a:avLst/>
          </a:prstGeom>
          <a:noFill/>
        </p:spPr>
        <p:txBody>
          <a:bodyPr wrap="none" lIns="0" rIns="0">
            <a:noAutofit/>
          </a:bodyPr>
          <a:lstStyle/>
          <a:p>
            <a:pPr algn="l"/>
            <a:r>
              <a:rPr sz="3400" b="1" i="0">
                <a:solidFill>
                  <a:srgbClr val="FFFFFF"/>
                </a:solidFill>
                <a:latin typeface="Arial"/>
              </a:rPr>
              <a:t>Goals</a:t>
            </a:r>
          </a:p>
        </p:txBody>
      </p:sp>
      <p:sp>
        <p:nvSpPr>
          <p:cNvPr id="12" name="Rectangle 11"/>
          <p:cNvSpPr/>
          <p:nvPr>
            <p:ph type="body" idx="7"/>
          </p:nvPr>
        </p:nvSpPr>
        <p:spPr>
          <a:xfrm>
            <a:off x="457200" y="4901184"/>
            <a:ext cx="11277600"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57200" y="4901184"/>
            <a:ext cx="11277600" cy="859536"/>
          </a:xfrm>
          <a:prstGeom prst="rect">
            <a:avLst/>
          </a:prstGeom>
          <a:noFill/>
        </p:spPr>
        <p:txBody>
          <a:bodyPr wrap="none" lIns="0" rIns="0">
            <a:noAutofit/>
          </a:bodyPr>
          <a:lstStyle/>
          <a:p>
            <a:pPr algn="l"/>
            <a:r>
              <a:rPr sz="3400" b="1" i="0">
                <a:solidFill>
                  <a:srgbClr val="FFFFFF"/>
                </a:solidFill>
                <a:latin typeface="Arial"/>
              </a:rPr>
              <a:t>Tactics</a:t>
            </a:r>
          </a:p>
        </p:txBody>
      </p:sp>
    </p:spTree>
    <p:extLst>
      <p:ext uri="{BB962C8B-B14F-4D97-AF65-F5344CB8AC3E}">
        <p14:creationId xmlns:p14="http://schemas.microsoft.com/office/powerpoint/2010/main" val="121299981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slidekit · SWO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SWOT Analysis</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Strengths</a:t>
            </a:r>
          </a:p>
        </p:txBody>
      </p:sp>
      <p:sp>
        <p:nvSpPr>
          <p:cNvPr id="7" name="Rectangle 6"/>
          <p:cNvSpPr/>
          <p:nvPr>
            <p:ph type="body" idx="2"/>
          </p:nvPr>
        </p:nvSpPr>
        <p:spPr>
          <a:xfrm>
            <a:off x="457200" y="2176271"/>
            <a:ext cx="1650492"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395727"/>
            <a:ext cx="5501640" cy="1097281"/>
          </a:xfrm>
          <a:prstGeom prst="rect">
            <a:avLst/>
          </a:prstGeom>
          <a:noFill/>
        </p:spPr>
        <p:txBody>
          <a:bodyPr wrap="square" lIns="0" rIns="0">
            <a:noAutofit/>
          </a:bodyPr>
          <a:lstStyle/>
          <a:p>
            <a:pPr algn="l"/>
            <a:r>
              <a:rPr sz="3400" b="0" i="0">
                <a:solidFill>
                  <a:srgbClr val="0A2240"/>
                </a:solidFill>
                <a:latin typeface="Arial"/>
              </a:rPr>
              <a:t>A strong brand with loyal users</a:t>
            </a:r>
          </a:p>
        </p:txBody>
      </p:sp>
      <p:sp>
        <p:nvSpPr>
          <p:cNvPr id="9" name="TextBox 8"/>
          <p:cNvSpPr/>
          <p:nvPr>
            <p:ph type="body" idx="4"/>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Weaknesses</a:t>
            </a:r>
          </a:p>
        </p:txBody>
      </p:sp>
      <p:sp>
        <p:nvSpPr>
          <p:cNvPr id="10" name="Rectangle 9"/>
          <p:cNvSpPr/>
          <p:nvPr>
            <p:ph type="body" idx="5"/>
          </p:nvPr>
        </p:nvSpPr>
        <p:spPr>
          <a:xfrm>
            <a:off x="6233160" y="2176271"/>
            <a:ext cx="1650492" cy="54864"/>
          </a:xfrm>
          <a:prstGeom prst="rect">
            <a:avLst/>
          </a:prstGeom>
          <a:solidFill>
            <a:srgbClr val="5B6B82"/>
          </a:solidFill>
          <a:ln>
            <a:noFill/>
          </a:ln>
          <a:effectLst/>
        </p:spPr>
        <p:txBody>
          <a:bodyPr rtlCol="0" anchor="ctr"/>
          <a:lstStyle/>
          <a:p>
            <a:pPr algn="ctr"/>
          </a:p>
        </p:txBody>
      </p:sp>
      <p:sp>
        <p:nvSpPr>
          <p:cNvPr id="11" name="TextBox 10"/>
          <p:cNvSpPr/>
          <p:nvPr>
            <p:ph type="body" idx="6"/>
          </p:nvPr>
        </p:nvSpPr>
        <p:spPr>
          <a:xfrm>
            <a:off x="6233160" y="2395727"/>
            <a:ext cx="5501640" cy="1097281"/>
          </a:xfrm>
          <a:prstGeom prst="rect">
            <a:avLst/>
          </a:prstGeom>
          <a:noFill/>
        </p:spPr>
        <p:txBody>
          <a:bodyPr wrap="square" lIns="0" rIns="0">
            <a:noAutofit/>
          </a:bodyPr>
          <a:lstStyle/>
          <a:p>
            <a:pPr algn="l"/>
            <a:r>
              <a:rPr sz="3400" b="0" i="0">
                <a:solidFill>
                  <a:srgbClr val="0A2240"/>
                </a:solidFill>
                <a:latin typeface="Arial"/>
              </a:rPr>
              <a:t>Thin margins and a small team</a:t>
            </a:r>
          </a:p>
        </p:txBody>
      </p:sp>
      <p:sp>
        <p:nvSpPr>
          <p:cNvPr id="12" name="TextBox 11"/>
          <p:cNvSpPr/>
          <p:nvPr>
            <p:ph type="body" idx="7"/>
          </p:nvPr>
        </p:nvSpPr>
        <p:spPr>
          <a:xfrm>
            <a:off x="457200" y="3767328"/>
            <a:ext cx="5501640" cy="621791"/>
          </a:xfrm>
          <a:prstGeom prst="rect">
            <a:avLst/>
          </a:prstGeom>
          <a:noFill/>
        </p:spPr>
        <p:txBody>
          <a:bodyPr wrap="none" lIns="0" rIns="0">
            <a:noAutofit/>
          </a:bodyPr>
          <a:lstStyle/>
          <a:p>
            <a:pPr algn="l"/>
            <a:r>
              <a:rPr sz="3400" b="1" i="0">
                <a:solidFill>
                  <a:srgbClr val="0072CE"/>
                </a:solidFill>
                <a:latin typeface="Arial"/>
              </a:rPr>
              <a:t>Opportunities</a:t>
            </a:r>
          </a:p>
        </p:txBody>
      </p:sp>
      <p:sp>
        <p:nvSpPr>
          <p:cNvPr id="13" name="Rectangle 12"/>
          <p:cNvSpPr/>
          <p:nvPr>
            <p:ph type="body" idx="8"/>
          </p:nvPr>
        </p:nvSpPr>
        <p:spPr>
          <a:xfrm>
            <a:off x="457200" y="4443983"/>
            <a:ext cx="1650492"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457200" y="4663439"/>
            <a:ext cx="5501640" cy="1097281"/>
          </a:xfrm>
          <a:prstGeom prst="rect">
            <a:avLst/>
          </a:prstGeom>
          <a:noFill/>
        </p:spPr>
        <p:txBody>
          <a:bodyPr wrap="square" lIns="0" rIns="0">
            <a:noAutofit/>
          </a:bodyPr>
          <a:lstStyle/>
          <a:p>
            <a:pPr algn="l"/>
            <a:r>
              <a:rPr sz="3400" b="0" i="0">
                <a:solidFill>
                  <a:srgbClr val="0A2240"/>
                </a:solidFill>
                <a:latin typeface="Arial"/>
              </a:rPr>
              <a:t>New markets through partnerships</a:t>
            </a:r>
          </a:p>
        </p:txBody>
      </p:sp>
      <p:sp>
        <p:nvSpPr>
          <p:cNvPr id="15" name="TextBox 14"/>
          <p:cNvSpPr/>
          <p:nvPr>
            <p:ph type="body" idx="13"/>
          </p:nvPr>
        </p:nvSpPr>
        <p:spPr>
          <a:xfrm>
            <a:off x="6233160" y="3767328"/>
            <a:ext cx="5501640" cy="621791"/>
          </a:xfrm>
          <a:prstGeom prst="rect">
            <a:avLst/>
          </a:prstGeom>
          <a:noFill/>
        </p:spPr>
        <p:txBody>
          <a:bodyPr wrap="none" lIns="0" rIns="0">
            <a:noAutofit/>
          </a:bodyPr>
          <a:lstStyle/>
          <a:p>
            <a:pPr algn="l"/>
            <a:r>
              <a:rPr sz="3400" b="1" i="0">
                <a:solidFill>
                  <a:srgbClr val="5B6B82"/>
                </a:solidFill>
                <a:latin typeface="Arial"/>
              </a:rPr>
              <a:t>Threats</a:t>
            </a:r>
          </a:p>
        </p:txBody>
      </p:sp>
      <p:sp>
        <p:nvSpPr>
          <p:cNvPr id="16" name="Rectangle 15"/>
          <p:cNvSpPr/>
          <p:nvPr>
            <p:ph type="body" idx="14"/>
          </p:nvPr>
        </p:nvSpPr>
        <p:spPr>
          <a:xfrm>
            <a:off x="6233160" y="4443983"/>
            <a:ext cx="1650492" cy="54864"/>
          </a:xfrm>
          <a:prstGeom prst="rect">
            <a:avLst/>
          </a:prstGeom>
          <a:solidFill>
            <a:srgbClr val="5B6B82"/>
          </a:solidFill>
          <a:ln>
            <a:noFill/>
          </a:ln>
          <a:effectLst/>
        </p:spPr>
        <p:txBody>
          <a:bodyPr rtlCol="0" anchor="ctr"/>
          <a:lstStyle/>
          <a:p>
            <a:pPr algn="ctr"/>
          </a:p>
        </p:txBody>
      </p:sp>
      <p:sp>
        <p:nvSpPr>
          <p:cNvPr id="17" name="TextBox 16"/>
          <p:cNvSpPr/>
          <p:nvPr>
            <p:ph type="body" idx="15"/>
          </p:nvPr>
        </p:nvSpPr>
        <p:spPr>
          <a:xfrm>
            <a:off x="6233160" y="4663439"/>
            <a:ext cx="5501640" cy="1097281"/>
          </a:xfrm>
          <a:prstGeom prst="rect">
            <a:avLst/>
          </a:prstGeom>
          <a:noFill/>
        </p:spPr>
        <p:txBody>
          <a:bodyPr wrap="square" lIns="0" rIns="0">
            <a:noAutofit/>
          </a:bodyPr>
          <a:lstStyle/>
          <a:p>
            <a:pPr algn="l"/>
            <a:r>
              <a:rPr sz="3400" b="0" i="0">
                <a:solidFill>
                  <a:srgbClr val="0A2240"/>
                </a:solidFill>
                <a:latin typeface="Arial"/>
              </a:rPr>
              <a:t>New entrants driving price pressure</a:t>
            </a:r>
          </a:p>
        </p:txBody>
      </p:sp>
    </p:spTree>
    <p:extLst>
      <p:ext uri="{BB962C8B-B14F-4D97-AF65-F5344CB8AC3E}">
        <p14:creationId xmlns:p14="http://schemas.microsoft.com/office/powerpoint/2010/main" val="121299981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slidekit · Comparison Matrix">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Evaluation Matrix</a:t>
            </a:r>
          </a:p>
        </p:txBody>
      </p:sp>
      <p:sp>
        <p:nvSpPr>
          <p:cNvPr id="6" name="TextBox 5"/>
          <p:cNvSpPr/>
          <p:nvPr>
            <p:ph type="body" idx="1"/>
          </p:nvPr>
        </p:nvSpPr>
        <p:spPr>
          <a:xfrm>
            <a:off x="3280182" y="1499616"/>
            <a:ext cx="3650436" cy="518159"/>
          </a:xfrm>
          <a:prstGeom prst="rect">
            <a:avLst/>
          </a:prstGeom>
          <a:noFill/>
        </p:spPr>
        <p:txBody>
          <a:bodyPr wrap="none" lIns="0" rIns="0">
            <a:noAutofit/>
          </a:bodyPr>
          <a:lstStyle/>
          <a:p>
            <a:pPr algn="ctr"/>
            <a:r>
              <a:rPr sz="3400" b="1" i="0">
                <a:solidFill>
                  <a:srgbClr val="0A2240"/>
                </a:solidFill>
                <a:latin typeface="Arial"/>
              </a:rPr>
              <a:t>Platform A</a:t>
            </a:r>
          </a:p>
        </p:txBody>
      </p:sp>
      <p:sp>
        <p:nvSpPr>
          <p:cNvPr id="7" name="TextBox 6"/>
          <p:cNvSpPr/>
          <p:nvPr>
            <p:ph type="body" idx="2"/>
          </p:nvPr>
        </p:nvSpPr>
        <p:spPr>
          <a:xfrm>
            <a:off x="5973987" y="1499616"/>
            <a:ext cx="3676074" cy="518159"/>
          </a:xfrm>
          <a:prstGeom prst="rect">
            <a:avLst/>
          </a:prstGeom>
          <a:noFill/>
        </p:spPr>
        <p:txBody>
          <a:bodyPr wrap="none" lIns="0" rIns="0">
            <a:noAutofit/>
          </a:bodyPr>
          <a:lstStyle/>
          <a:p>
            <a:pPr algn="ctr"/>
            <a:r>
              <a:rPr sz="3400" b="1" i="0">
                <a:solidFill>
                  <a:srgbClr val="0A2240"/>
                </a:solidFill>
                <a:latin typeface="Arial"/>
              </a:rPr>
              <a:t>Platform B</a:t>
            </a:r>
          </a:p>
        </p:txBody>
      </p:sp>
      <p:sp>
        <p:nvSpPr>
          <p:cNvPr id="8" name="TextBox 7"/>
          <p:cNvSpPr/>
          <p:nvPr>
            <p:ph type="body" idx="3"/>
          </p:nvPr>
        </p:nvSpPr>
        <p:spPr>
          <a:xfrm>
            <a:off x="8845296" y="1499616"/>
            <a:ext cx="3346704" cy="518159"/>
          </a:xfrm>
          <a:prstGeom prst="rect">
            <a:avLst/>
          </a:prstGeom>
          <a:noFill/>
        </p:spPr>
        <p:txBody>
          <a:bodyPr wrap="none" lIns="0" rIns="0">
            <a:noAutofit/>
          </a:bodyPr>
          <a:lstStyle/>
          <a:p>
            <a:pPr algn="ctr"/>
            <a:r>
              <a:rPr sz="3400" b="1" i="0">
                <a:solidFill>
                  <a:srgbClr val="0A2240"/>
                </a:solidFill>
                <a:latin typeface="Arial"/>
              </a:rPr>
              <a:t>Platform C</a:t>
            </a:r>
          </a:p>
        </p:txBody>
      </p:sp>
      <p:sp>
        <p:nvSpPr>
          <p:cNvPr id="9" name="Rectangle 8"/>
          <p:cNvSpPr/>
          <p:nvPr>
            <p:ph type="body" idx="4"/>
          </p:nvPr>
        </p:nvSpPr>
        <p:spPr>
          <a:xfrm>
            <a:off x="457200" y="2072639"/>
            <a:ext cx="11277600"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3157728" cy="936752"/>
          </a:xfrm>
          <a:prstGeom prst="rect">
            <a:avLst/>
          </a:prstGeom>
          <a:noFill/>
        </p:spPr>
        <p:txBody>
          <a:bodyPr wrap="none" lIns="0" rIns="0">
            <a:noAutofit/>
          </a:bodyPr>
          <a:lstStyle/>
          <a:p>
            <a:pPr algn="l"/>
            <a:r>
              <a:rPr sz="3400" b="1" i="0">
                <a:solidFill>
                  <a:srgbClr val="0A2240"/>
                </a:solidFill>
                <a:latin typeface="Arial"/>
              </a:rPr>
              <a:t>Security</a:t>
            </a:r>
          </a:p>
        </p:txBody>
      </p:sp>
      <p:sp>
        <p:nvSpPr>
          <p:cNvPr id="11" name="Rectangle 10"/>
          <p:cNvSpPr/>
          <p:nvPr>
            <p:ph type="body" idx="6"/>
          </p:nvPr>
        </p:nvSpPr>
        <p:spPr>
          <a:xfrm>
            <a:off x="4245247" y="2401823"/>
            <a:ext cx="1720305" cy="518159"/>
          </a:xfrm>
          <a:prstGeom prst="rect">
            <a:avLst/>
          </a:prstGeom>
          <a:solidFill>
            <a:srgbClr val="0072CE"/>
          </a:solidFill>
          <a:ln>
            <a:noFill/>
          </a:ln>
          <a:effectLst/>
        </p:spPr>
        <p:txBody>
          <a:bodyPr rtlCol="0" anchor="ctr"/>
          <a:lstStyle/>
          <a:p>
            <a:pPr algn="ctr"/>
          </a:p>
        </p:txBody>
      </p:sp>
      <p:sp>
        <p:nvSpPr>
          <p:cNvPr id="12" name="TextBox 11"/>
          <p:cNvSpPr/>
          <p:nvPr>
            <p:ph type="body" idx="7"/>
          </p:nvPr>
        </p:nvSpPr>
        <p:spPr>
          <a:xfrm>
            <a:off x="3901063" y="2401823"/>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13" name="TextBox 12"/>
          <p:cNvSpPr/>
          <p:nvPr>
            <p:ph type="body" idx="8"/>
          </p:nvPr>
        </p:nvSpPr>
        <p:spPr>
          <a:xfrm>
            <a:off x="6491979" y="2401823"/>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4" name="TextBox 13"/>
          <p:cNvSpPr/>
          <p:nvPr>
            <p:ph type="body" idx="9"/>
          </p:nvPr>
        </p:nvSpPr>
        <p:spPr>
          <a:xfrm>
            <a:off x="9302496" y="2401823"/>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5" name="TextBox 14"/>
          <p:cNvSpPr/>
          <p:nvPr>
            <p:ph type="body" idx="13"/>
          </p:nvPr>
        </p:nvSpPr>
        <p:spPr>
          <a:xfrm>
            <a:off x="457200" y="3612895"/>
            <a:ext cx="3279020" cy="936752"/>
          </a:xfrm>
          <a:prstGeom prst="rect">
            <a:avLst/>
          </a:prstGeom>
          <a:noFill/>
        </p:spPr>
        <p:txBody>
          <a:bodyPr wrap="none" lIns="0" rIns="0">
            <a:noAutofit/>
          </a:bodyPr>
          <a:lstStyle/>
          <a:p>
            <a:pPr algn="l"/>
            <a:r>
              <a:rPr sz="3400" b="1" i="0">
                <a:solidFill>
                  <a:srgbClr val="0A2240"/>
                </a:solidFill>
                <a:latin typeface="Arial"/>
              </a:rPr>
              <a:t>Workflow</a:t>
            </a:r>
          </a:p>
        </p:txBody>
      </p:sp>
      <p:sp>
        <p:nvSpPr>
          <p:cNvPr id="16" name="TextBox 15"/>
          <p:cNvSpPr/>
          <p:nvPr>
            <p:ph type="body" idx="14"/>
          </p:nvPr>
        </p:nvSpPr>
        <p:spPr>
          <a:xfrm>
            <a:off x="3785355"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7" name="TextBox 16"/>
          <p:cNvSpPr/>
          <p:nvPr>
            <p:ph type="body" idx="15"/>
          </p:nvPr>
        </p:nvSpPr>
        <p:spPr>
          <a:xfrm>
            <a:off x="6595872" y="3612895"/>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8" name="TextBox 17"/>
          <p:cNvSpPr/>
          <p:nvPr>
            <p:ph type="body" idx="16"/>
          </p:nvPr>
        </p:nvSpPr>
        <p:spPr>
          <a:xfrm>
            <a:off x="9198603"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9" name="TextBox 18"/>
          <p:cNvSpPr/>
          <p:nvPr>
            <p:ph type="body" idx="17"/>
          </p:nvPr>
        </p:nvSpPr>
        <p:spPr>
          <a:xfrm>
            <a:off x="457200" y="4823967"/>
            <a:ext cx="3157728" cy="936752"/>
          </a:xfrm>
          <a:prstGeom prst="rect">
            <a:avLst/>
          </a:prstGeom>
          <a:noFill/>
        </p:spPr>
        <p:txBody>
          <a:bodyPr wrap="none" lIns="0" rIns="0">
            <a:noAutofit/>
          </a:bodyPr>
          <a:lstStyle/>
          <a:p>
            <a:pPr algn="l"/>
            <a:r>
              <a:rPr sz="3400" b="1" i="0">
                <a:solidFill>
                  <a:srgbClr val="0A2240"/>
                </a:solidFill>
                <a:latin typeface="Arial"/>
              </a:rPr>
              <a:t>Support</a:t>
            </a:r>
          </a:p>
        </p:txBody>
      </p:sp>
      <p:sp>
        <p:nvSpPr>
          <p:cNvPr id="20" name="Rectangle 19"/>
          <p:cNvSpPr/>
          <p:nvPr>
            <p:ph type="body" idx="18"/>
          </p:nvPr>
        </p:nvSpPr>
        <p:spPr>
          <a:xfrm>
            <a:off x="4245247" y="4823967"/>
            <a:ext cx="1720305" cy="518159"/>
          </a:xfrm>
          <a:prstGeom prst="rect">
            <a:avLst/>
          </a:prstGeom>
          <a:solidFill>
            <a:srgbClr val="0072CE"/>
          </a:solidFill>
          <a:ln>
            <a:noFill/>
          </a:ln>
          <a:effectLst/>
        </p:spPr>
        <p:txBody>
          <a:bodyPr rtlCol="0" anchor="ctr"/>
          <a:lstStyle/>
          <a:p>
            <a:pPr algn="ctr"/>
          </a:p>
        </p:txBody>
      </p:sp>
      <p:sp>
        <p:nvSpPr>
          <p:cNvPr id="21" name="TextBox 20"/>
          <p:cNvSpPr/>
          <p:nvPr>
            <p:ph type="body" idx="19"/>
          </p:nvPr>
        </p:nvSpPr>
        <p:spPr>
          <a:xfrm>
            <a:off x="3901063" y="4823967"/>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22" name="TextBox 21"/>
          <p:cNvSpPr/>
          <p:nvPr>
            <p:ph type="body" idx="20"/>
          </p:nvPr>
        </p:nvSpPr>
        <p:spPr>
          <a:xfrm>
            <a:off x="6595872" y="4823967"/>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23" name="TextBox 22"/>
          <p:cNvSpPr/>
          <p:nvPr>
            <p:ph type="body" idx="21"/>
          </p:nvPr>
        </p:nvSpPr>
        <p:spPr>
          <a:xfrm>
            <a:off x="9198603" y="4823967"/>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slideLayout" Target="../slideLayouts/slideLayout35.xml"/><Relationship Id="rId37" Type="http://schemas.openxmlformats.org/officeDocument/2006/relationships/slideLayout" Target="../slideLayouts/slideLayout36.xml"/><Relationship Id="rId38" Type="http://schemas.openxmlformats.org/officeDocument/2006/relationships/slideLayout" Target="../slideLayouts/slideLayout37.xml"/><Relationship Id="rId39" Type="http://schemas.openxmlformats.org/officeDocument/2006/relationships/slideLayout" Target="../slideLayouts/slideLayout38.xml"/><Relationship Id="rId40" Type="http://schemas.openxmlformats.org/officeDocument/2006/relationships/slideLayout" Target="../slideLayouts/slideLayout39.xml"/><Relationship Id="rId41" Type="http://schemas.openxmlformats.org/officeDocument/2006/relationships/slideLayout" Target="../slideLayouts/slideLayout40.xml"/><Relationship Id="rId42"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712" r:id="rId13"/>
    <p:sldLayoutId id="2147483713" r:id="rId14"/>
    <p:sldLayoutId id="2147483714" r:id="rId15"/>
    <p:sldLayoutId id="2147483715" r:id="rId16"/>
    <p:sldLayoutId id="2147483716" r:id="rId17"/>
    <p:sldLayoutId id="2147483717" r:id="rId18"/>
    <p:sldLayoutId id="2147483718" r:id="rId19"/>
    <p:sldLayoutId id="2147483719" r:id="rId20"/>
    <p:sldLayoutId id="2147483720" r:id="rId21"/>
    <p:sldLayoutId id="2147483721" r:id="rId22"/>
    <p:sldLayoutId id="2147483722" r:id="rId23"/>
    <p:sldLayoutId id="2147483723" r:id="rId24"/>
    <p:sldLayoutId id="2147483724" r:id="rId25"/>
    <p:sldLayoutId id="2147483725" r:id="rId26"/>
    <p:sldLayoutId id="2147483726" r:id="rId27"/>
    <p:sldLayoutId id="2147483727" r:id="rId28"/>
    <p:sldLayoutId id="2147483728" r:id="rId29"/>
    <p:sldLayoutId id="2147483729" r:id="rId30"/>
    <p:sldLayoutId id="2147483730" r:id="rId31"/>
    <p:sldLayoutId id="2147483731" r:id="rId32"/>
    <p:sldLayoutId id="2147483732" r:id="rId33"/>
    <p:sldLayoutId id="2147483733" r:id="rId34"/>
    <p:sldLayoutId id="2147483734" r:id="rId35"/>
    <p:sldLayoutId id="2147483735" r:id="rId36"/>
    <p:sldLayoutId id="2147483736" r:id="rId37"/>
    <p:sldLayoutId id="2147483737" r:id="rId38"/>
    <p:sldLayoutId id="2147483738" r:id="rId39"/>
    <p:sldLayoutId id="2147483739" r:id="rId40"/>
    <p:sldLayoutId id="2147483740" r:id="rId41"/>
    <p:sldLayoutId id="2147483741" r:id="rId4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3.xml"/></Relationships>
</file>

<file path=ppt/slides/slide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914400" y="2575560"/>
            <a:ext cx="11277600" cy="914400"/>
          </a:xfrm>
          <a:prstGeom prst="rect">
            <a:avLst/>
          </a:prstGeom>
          <a:noFill/>
        </p:spPr>
        <p:txBody>
          <a:bodyPr wrap="none" lIns="0" rIns="0">
            <a:noAutofit/>
          </a:bodyPr>
          <a:lstStyle/>
          <a:p>
            <a:pPr algn="l"/>
            <a:r>
              <a:rPr sz="6000" b="1" i="0">
                <a:solidFill>
                  <a:srgbClr val="0072CE"/>
                </a:solidFill>
                <a:latin typeface="Arial"/>
              </a:rPr>
              <a:t>Peer Red-Team Round</a:t>
            </a:r>
          </a:p>
        </p:txBody>
      </p:sp>
      <p:sp>
        <p:nvSpPr>
          <p:cNvPr id="3" name="TextBox 2"/>
          <p:cNvSpPr txBox="1"/>
          <p:nvPr/>
        </p:nvSpPr>
        <p:spPr>
          <a:xfrm>
            <a:off x="914400" y="3764280"/>
            <a:ext cx="11277600" cy="518159"/>
          </a:xfrm>
          <a:prstGeom prst="rect">
            <a:avLst/>
          </a:prstGeom>
          <a:noFill/>
        </p:spPr>
        <p:txBody>
          <a:bodyPr wrap="none" lIns="0" rIns="0">
            <a:noAutofit/>
          </a:bodyPr>
          <a:lstStyle/>
          <a:p>
            <a:pPr algn="l"/>
            <a:r>
              <a:rPr sz="3400" b="0" i="0">
                <a:solidFill>
                  <a:srgbClr val="0A2240"/>
                </a:solidFill>
                <a:latin typeface="Arial"/>
              </a:rPr>
              <a:t>Immersion Week SF · Day 3 · Session 3.2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1583436"/>
            <a:ext cx="11277600" cy="1691640"/>
          </a:xfrm>
          <a:prstGeom prst="rect">
            <a:avLst/>
          </a:prstGeom>
          <a:noFill/>
        </p:spPr>
        <p:txBody>
          <a:bodyPr wrap="none" lIns="0" rIns="0">
            <a:noAutofit/>
          </a:bodyPr>
          <a:lstStyle/>
          <a:p>
            <a:pPr algn="ctr"/>
            <a:r>
              <a:rPr sz="10500" b="1" i="0">
                <a:solidFill>
                  <a:srgbClr val="0072CE"/>
                </a:solidFill>
                <a:latin typeface="Arial"/>
              </a:rPr>
              <a:t>55</a:t>
            </a:r>
          </a:p>
        </p:txBody>
      </p:sp>
      <p:sp>
        <p:nvSpPr>
          <p:cNvPr id="3" name="Rectangle 2"/>
          <p:cNvSpPr/>
          <p:nvPr/>
        </p:nvSpPr>
        <p:spPr>
          <a:xfrm>
            <a:off x="5547360" y="3329940"/>
            <a:ext cx="109728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659124"/>
            <a:ext cx="11277600" cy="731520"/>
          </a:xfrm>
          <a:prstGeom prst="rect">
            <a:avLst/>
          </a:prstGeom>
          <a:noFill/>
        </p:spPr>
        <p:txBody>
          <a:bodyPr wrap="none" lIns="0" rIns="0">
            <a:noAutofit/>
          </a:bodyPr>
          <a:lstStyle/>
          <a:p>
            <a:pPr algn="ctr"/>
            <a:r>
              <a:rPr sz="4200" b="0" i="0">
                <a:solidFill>
                  <a:srgbClr val="0A2240"/>
                </a:solidFill>
                <a:latin typeface="Arial"/>
              </a:rPr>
              <a:t>Minutes</a:t>
            </a:r>
          </a:p>
        </p:txBody>
      </p:sp>
      <p:sp>
        <p:nvSpPr>
          <p:cNvPr id="5" name="TextBox 4"/>
          <p:cNvSpPr txBox="1"/>
          <p:nvPr/>
        </p:nvSpPr>
        <p:spPr>
          <a:xfrm>
            <a:off x="457200" y="4664964"/>
            <a:ext cx="11277600" cy="609600"/>
          </a:xfrm>
          <a:prstGeom prst="rect">
            <a:avLst/>
          </a:prstGeom>
          <a:noFill/>
        </p:spPr>
        <p:txBody>
          <a:bodyPr wrap="none" lIns="0" rIns="0">
            <a:noAutofit/>
          </a:bodyPr>
          <a:lstStyle/>
          <a:p>
            <a:pPr algn="ctr"/>
            <a:r>
              <a:rPr sz="3400" b="0" i="0">
                <a:solidFill>
                  <a:srgbClr val="5B6B82"/>
                </a:solidFill>
                <a:latin typeface="Arial"/>
              </a:rPr>
              <a:t>You leave holding your own log</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This Session Covers</a:t>
            </a:r>
          </a:p>
        </p:txBody>
      </p:sp>
      <p:sp>
        <p:nvSpPr>
          <p:cNvPr id="3" name="Rectangle 2"/>
          <p:cNvSpPr/>
          <p:nvPr/>
        </p:nvSpPr>
        <p:spPr>
          <a:xfrm>
            <a:off x="457200" y="1280160"/>
            <a:ext cx="11277600" cy="64008"/>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5" name="TextBox 4"/>
          <p:cNvSpPr txBox="1"/>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Swap builds with another team</a:t>
            </a:r>
          </a:p>
        </p:txBody>
      </p:sp>
      <p:sp>
        <p:nvSpPr>
          <p:cNvPr id="6" name="TextBox 5"/>
          <p:cNvSpPr txBox="1"/>
          <p:nvPr/>
        </p:nvSpPr>
        <p:spPr>
          <a:xfrm>
            <a:off x="457200" y="2722626"/>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7" name="TextBox 6"/>
          <p:cNvSpPr txBox="1"/>
          <p:nvPr/>
        </p:nvSpPr>
        <p:spPr>
          <a:xfrm>
            <a:off x="1371600" y="2722626"/>
            <a:ext cx="10363200" cy="518159"/>
          </a:xfrm>
          <a:prstGeom prst="rect">
            <a:avLst/>
          </a:prstGeom>
          <a:noFill/>
        </p:spPr>
        <p:txBody>
          <a:bodyPr wrap="none" lIns="0" rIns="0">
            <a:noAutofit/>
          </a:bodyPr>
          <a:lstStyle/>
          <a:p>
            <a:pPr algn="l"/>
            <a:r>
              <a:rPr sz="3400" b="0" i="0">
                <a:solidFill>
                  <a:srgbClr val="0A2240"/>
                </a:solidFill>
                <a:latin typeface="Arial"/>
              </a:rPr>
              <a:t>Break it by hand, then by agent</a:t>
            </a:r>
          </a:p>
        </p:txBody>
      </p:sp>
      <p:sp>
        <p:nvSpPr>
          <p:cNvPr id="8" name="TextBox 7"/>
          <p:cNvSpPr txBox="1"/>
          <p:nvPr/>
        </p:nvSpPr>
        <p:spPr>
          <a:xfrm>
            <a:off x="457200" y="3826764"/>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9" name="TextBox 8"/>
          <p:cNvSpPr txBox="1"/>
          <p:nvPr/>
        </p:nvSpPr>
        <p:spPr>
          <a:xfrm>
            <a:off x="1371600" y="3826764"/>
            <a:ext cx="10363200" cy="518159"/>
          </a:xfrm>
          <a:prstGeom prst="rect">
            <a:avLst/>
          </a:prstGeom>
          <a:noFill/>
        </p:spPr>
        <p:txBody>
          <a:bodyPr wrap="none" lIns="0" rIns="0">
            <a:noAutofit/>
          </a:bodyPr>
          <a:lstStyle/>
          <a:p>
            <a:pPr algn="l"/>
            <a:r>
              <a:rPr sz="3400" b="0" i="0">
                <a:solidFill>
                  <a:srgbClr val="0A2240"/>
                </a:solidFill>
                <a:latin typeface="Arial"/>
              </a:rPr>
              <a:t>Generate inputs in bulk, free</a:t>
            </a:r>
          </a:p>
        </p:txBody>
      </p:sp>
      <p:sp>
        <p:nvSpPr>
          <p:cNvPr id="10" name="TextBox 9"/>
          <p:cNvSpPr txBox="1"/>
          <p:nvPr/>
        </p:nvSpPr>
        <p:spPr>
          <a:xfrm>
            <a:off x="457200" y="4930902"/>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1" name="TextBox 10"/>
          <p:cNvSpPr txBox="1"/>
          <p:nvPr/>
        </p:nvSpPr>
        <p:spPr>
          <a:xfrm>
            <a:off x="1371600" y="4930902"/>
            <a:ext cx="10363200" cy="518159"/>
          </a:xfrm>
          <a:prstGeom prst="rect">
            <a:avLst/>
          </a:prstGeom>
          <a:noFill/>
        </p:spPr>
        <p:txBody>
          <a:bodyPr wrap="none" lIns="0" rIns="0">
            <a:noAutofit/>
          </a:bodyPr>
          <a:lstStyle/>
          <a:p>
            <a:pPr algn="l"/>
            <a:r>
              <a:rPr sz="3400" b="0" i="0">
                <a:solidFill>
                  <a:srgbClr val="0A2240"/>
                </a:solidFill>
                <a:latin typeface="Arial"/>
              </a:rPr>
              <a:t>Trade logs without defending</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Whose build will you break?</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From 3.1 to Now</a:t>
            </a:r>
          </a:p>
        </p:txBody>
      </p:sp>
      <p:sp>
        <p:nvSpPr>
          <p:cNvPr id="3" name="TextBox 2"/>
          <p:cNvSpPr txBo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A plan</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An inventory, a probe</a:t>
            </a:r>
          </a:p>
        </p:txBody>
      </p:sp>
      <p:sp>
        <p:nvSpPr>
          <p:cNvPr id="5" name="TextBox 4"/>
          <p:cNvSpPr txBox="1"/>
          <p:nvPr/>
        </p:nvSpPr>
        <p:spPr>
          <a:xfrm>
            <a:off x="6933188" y="2776728"/>
            <a:ext cx="4810244" cy="914400"/>
          </a:xfrm>
          <a:prstGeom prst="rect">
            <a:avLst/>
          </a:prstGeom>
          <a:noFill/>
        </p:spPr>
        <p:txBody>
          <a:bodyPr wrap="none" lIns="0" rIns="0">
            <a:noAutofit/>
          </a:bodyPr>
          <a:lstStyle/>
          <a:p>
            <a:pPr algn="ctr"/>
            <a:r>
              <a:rPr sz="6000" b="1" i="0">
                <a:solidFill>
                  <a:srgbClr val="0A2240"/>
                </a:solidFill>
                <a:latin typeface="Arial"/>
              </a:rPr>
              <a:t>A round</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Pointed at real software</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How We Get There</a:t>
            </a:r>
          </a:p>
        </p:txBody>
      </p:sp>
      <p:sp>
        <p:nvSpPr>
          <p:cNvPr id="3" name="TextBox 2"/>
          <p:cNvSpPr txBo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Rectangle 3"/>
          <p:cNvSpPr/>
          <p:nvPr/>
        </p:nvSpPr>
        <p:spPr>
          <a:xfrm>
            <a:off x="45720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14016"/>
            <a:ext cx="2613660" cy="518159"/>
          </a:xfrm>
          <a:prstGeom prst="rect">
            <a:avLst/>
          </a:prstGeom>
          <a:noFill/>
        </p:spPr>
        <p:txBody>
          <a:bodyPr wrap="none" lIns="0" rIns="0">
            <a:noAutofit/>
          </a:bodyPr>
          <a:lstStyle/>
          <a:p>
            <a:pPr algn="l"/>
            <a:r>
              <a:rPr sz="3400" b="1" i="0">
                <a:solidFill>
                  <a:srgbClr val="123A6B"/>
                </a:solidFill>
                <a:latin typeface="Arial"/>
              </a:rPr>
              <a:t>Swap</a:t>
            </a:r>
          </a:p>
        </p:txBody>
      </p:sp>
      <p:sp>
        <p:nvSpPr>
          <p:cNvPr id="6" name="TextBox 5"/>
          <p:cNvSpPr txBox="1"/>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URLs, caveats, edge cases</a:t>
            </a:r>
          </a:p>
        </p:txBody>
      </p:sp>
      <p:sp>
        <p:nvSpPr>
          <p:cNvPr id="7" name="TextBox 6"/>
          <p:cNvSpPr txBox="1"/>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8" name="Rectangle 7"/>
          <p:cNvSpPr/>
          <p:nvPr/>
        </p:nvSpPr>
        <p:spPr>
          <a:xfrm>
            <a:off x="334518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45180" y="2414016"/>
            <a:ext cx="2613660" cy="518159"/>
          </a:xfrm>
          <a:prstGeom prst="rect">
            <a:avLst/>
          </a:prstGeom>
          <a:noFill/>
        </p:spPr>
        <p:txBody>
          <a:bodyPr wrap="none" lIns="0" rIns="0">
            <a:noAutofit/>
          </a:bodyPr>
          <a:lstStyle/>
          <a:p>
            <a:pPr algn="l"/>
            <a:r>
              <a:rPr sz="3400" b="1" i="0">
                <a:solidFill>
                  <a:srgbClr val="123A6B"/>
                </a:solidFill>
                <a:latin typeface="Arial"/>
              </a:rPr>
              <a:t>Hand</a:t>
            </a:r>
          </a:p>
        </p:txBody>
      </p:sp>
      <p:sp>
        <p:nvSpPr>
          <p:cNvPr id="10" name="TextBox 9"/>
          <p:cNvSpPr txBox="1"/>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Ten minutes, yourself</a:t>
            </a:r>
          </a:p>
        </p:txBody>
      </p:sp>
      <p:sp>
        <p:nvSpPr>
          <p:cNvPr id="11" name="TextBox 10"/>
          <p:cNvSpPr txBox="1"/>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2" name="Rectangle 11"/>
          <p:cNvSpPr/>
          <p:nvPr/>
        </p:nvSpPr>
        <p:spPr>
          <a:xfrm>
            <a:off x="623316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160" y="2414016"/>
            <a:ext cx="2613660" cy="518159"/>
          </a:xfrm>
          <a:prstGeom prst="rect">
            <a:avLst/>
          </a:prstGeom>
          <a:noFill/>
        </p:spPr>
        <p:txBody>
          <a:bodyPr wrap="none" lIns="0" rIns="0">
            <a:noAutofit/>
          </a:bodyPr>
          <a:lstStyle/>
          <a:p>
            <a:pPr algn="l"/>
            <a:r>
              <a:rPr sz="3400" b="1" i="0">
                <a:solidFill>
                  <a:srgbClr val="123A6B"/>
                </a:solidFill>
                <a:latin typeface="Arial"/>
              </a:rPr>
              <a:t>Probe</a:t>
            </a:r>
          </a:p>
        </p:txBody>
      </p:sp>
      <p:sp>
        <p:nvSpPr>
          <p:cNvPr id="14" name="TextBox 13"/>
          <p:cNvSpPr txBox="1"/>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Turn the agent loose</a:t>
            </a:r>
          </a:p>
        </p:txBody>
      </p:sp>
      <p:sp>
        <p:nvSpPr>
          <p:cNvPr id="15" name="TextBox 14"/>
          <p:cNvSpPr txBox="1"/>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6" name="Rectangle 15"/>
          <p:cNvSpPr/>
          <p:nvPr/>
        </p:nvSpPr>
        <p:spPr>
          <a:xfrm>
            <a:off x="912114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21140" y="2414016"/>
            <a:ext cx="2613660" cy="518159"/>
          </a:xfrm>
          <a:prstGeom prst="rect">
            <a:avLst/>
          </a:prstGeom>
          <a:noFill/>
        </p:spPr>
        <p:txBody>
          <a:bodyPr wrap="none" lIns="0" rIns="0">
            <a:noAutofit/>
          </a:bodyPr>
          <a:lstStyle/>
          <a:p>
            <a:pPr algn="l"/>
            <a:r>
              <a:rPr sz="3400" b="1" i="0">
                <a:solidFill>
                  <a:srgbClr val="123A6B"/>
                </a:solidFill>
                <a:latin typeface="Arial"/>
              </a:rPr>
              <a:t>Trade</a:t>
            </a:r>
          </a:p>
        </p:txBody>
      </p:sp>
      <p:sp>
        <p:nvSpPr>
          <p:cNvPr id="18" name="TextBox 17"/>
          <p:cNvSpPr txBox="1"/>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Logs back, no arguing</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Next 55 Minutes</a:t>
            </a:r>
          </a:p>
        </p:txBody>
      </p:sp>
      <p:sp>
        <p:nvSpPr>
          <p:cNvPr id="3" name="TextBox 2"/>
          <p:cNvSpPr txBo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10:00</a:t>
            </a:r>
          </a:p>
        </p:txBody>
      </p:sp>
      <p:sp>
        <p:nvSpPr>
          <p:cNvPr id="4" name="TextBox 3"/>
          <p:cNvSpPr txBox="1"/>
          <p:nvPr/>
        </p:nvSpPr>
        <p:spPr>
          <a:xfrm>
            <a:off x="457200" y="2154936"/>
            <a:ext cx="2613660" cy="518159"/>
          </a:xfrm>
          <a:prstGeom prst="rect">
            <a:avLst/>
          </a:prstGeom>
          <a:noFill/>
        </p:spPr>
        <p:txBody>
          <a:bodyPr wrap="none" lIns="0" rIns="0">
            <a:noAutofit/>
          </a:bodyPr>
          <a:lstStyle/>
          <a:p>
            <a:pPr algn="l"/>
            <a:r>
              <a:rPr sz="3400" b="1" i="0">
                <a:solidFill>
                  <a:srgbClr val="0A2240"/>
                </a:solidFill>
                <a:latin typeface="Arial"/>
              </a:rPr>
              <a:t>Swap</a:t>
            </a:r>
          </a:p>
        </p:txBody>
      </p:sp>
      <p:sp>
        <p:nvSpPr>
          <p:cNvPr id="5" name="TextBox 4"/>
          <p:cNvSpPr txBox="1"/>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Links and lists change hands</a:t>
            </a:r>
          </a:p>
        </p:txBody>
      </p:sp>
      <p:sp>
        <p:nvSpPr>
          <p:cNvPr id="6" name="TextBox 5"/>
          <p:cNvSpPr txBox="1"/>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10:10</a:t>
            </a:r>
          </a:p>
        </p:txBody>
      </p:sp>
      <p:sp>
        <p:nvSpPr>
          <p:cNvPr id="7" name="TextBox 6"/>
          <p:cNvSpPr txBox="1"/>
          <p:nvPr/>
        </p:nvSpPr>
        <p:spPr>
          <a:xfrm>
            <a:off x="3345180" y="2154936"/>
            <a:ext cx="2908280" cy="518159"/>
          </a:xfrm>
          <a:prstGeom prst="rect">
            <a:avLst/>
          </a:prstGeom>
          <a:noFill/>
        </p:spPr>
        <p:txBody>
          <a:bodyPr wrap="none" lIns="0" rIns="0">
            <a:noAutofit/>
          </a:bodyPr>
          <a:lstStyle/>
          <a:p>
            <a:pPr algn="l"/>
            <a:r>
              <a:rPr sz="3400" b="1" i="0">
                <a:solidFill>
                  <a:srgbClr val="0A2240"/>
                </a:solidFill>
                <a:latin typeface="Arial"/>
              </a:rPr>
              <a:t>By hand</a:t>
            </a:r>
          </a:p>
        </p:txBody>
      </p:sp>
      <p:sp>
        <p:nvSpPr>
          <p:cNvPr id="8" name="TextBox 7"/>
          <p:cNvSpPr txBox="1"/>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Their edge cases, run by you</a:t>
            </a:r>
          </a:p>
        </p:txBody>
      </p:sp>
      <p:sp>
        <p:nvSpPr>
          <p:cNvPr id="9" name="TextBox 8"/>
          <p:cNvSpPr txBox="1"/>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10:25</a:t>
            </a:r>
          </a:p>
        </p:txBody>
      </p:sp>
      <p:sp>
        <p:nvSpPr>
          <p:cNvPr id="10" name="TextBox 9"/>
          <p:cNvSpPr txBox="1"/>
          <p:nvPr/>
        </p:nvSpPr>
        <p:spPr>
          <a:xfrm>
            <a:off x="6233160" y="2154936"/>
            <a:ext cx="3522582" cy="518159"/>
          </a:xfrm>
          <a:prstGeom prst="rect">
            <a:avLst/>
          </a:prstGeom>
          <a:noFill/>
        </p:spPr>
        <p:txBody>
          <a:bodyPr wrap="none" lIns="0" rIns="0">
            <a:noAutofit/>
          </a:bodyPr>
          <a:lstStyle/>
          <a:p>
            <a:pPr algn="l"/>
            <a:r>
              <a:rPr sz="3400" b="1" i="0">
                <a:solidFill>
                  <a:srgbClr val="0A2240"/>
                </a:solidFill>
                <a:latin typeface="Arial"/>
              </a:rPr>
              <a:t>At volume</a:t>
            </a:r>
          </a:p>
        </p:txBody>
      </p:sp>
      <p:sp>
        <p:nvSpPr>
          <p:cNvPr id="11" name="TextBox 10"/>
          <p:cNvSpPr txBox="1"/>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Agent and generated inputs</a:t>
            </a:r>
          </a:p>
        </p:txBody>
      </p:sp>
      <p:sp>
        <p:nvSpPr>
          <p:cNvPr id="12" name="TextBox 11"/>
          <p:cNvSpPr txBox="1"/>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10:45</a:t>
            </a:r>
          </a:p>
        </p:txBody>
      </p:sp>
      <p:sp>
        <p:nvSpPr>
          <p:cNvPr id="13" name="TextBox 12"/>
          <p:cNvSpPr txBox="1"/>
          <p:nvPr/>
        </p:nvSpPr>
        <p:spPr>
          <a:xfrm>
            <a:off x="9121140" y="2154936"/>
            <a:ext cx="3070860" cy="518159"/>
          </a:xfrm>
          <a:prstGeom prst="rect">
            <a:avLst/>
          </a:prstGeom>
          <a:noFill/>
        </p:spPr>
        <p:txBody>
          <a:bodyPr wrap="none" lIns="0" rIns="0">
            <a:noAutofit/>
          </a:bodyPr>
          <a:lstStyle/>
          <a:p>
            <a:pPr algn="l"/>
            <a:r>
              <a:rPr sz="3400" b="1" i="0">
                <a:solidFill>
                  <a:srgbClr val="0A2240"/>
                </a:solidFill>
                <a:latin typeface="Arial"/>
              </a:rPr>
              <a:t>Trade logs</a:t>
            </a:r>
          </a:p>
        </p:txBody>
      </p:sp>
      <p:sp>
        <p:nvSpPr>
          <p:cNvPr id="14" name="TextBox 13"/>
          <p:cNvSpPr txBox="1"/>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Hand it over, then receive</a:t>
            </a:r>
          </a:p>
        </p:txBody>
      </p:sp>
      <p:sp>
        <p:nvSpPr>
          <p:cNvPr id="15" name="TextBox 1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"A friend who breaks it is a gift."</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5B6B82"/>
                </a:solidFill>
                <a:latin typeface="Arial"/>
              </a:rPr>
              <a:t>- The red-team rule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Break It by Hand</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Red team</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People trying to break it, on purpose, for you</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Rules of the Round</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Attack the build, never the team</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Everything you find gets written</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No fixing, only finding</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No defending when it is your turn</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Swap</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Trade three things</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The URL, the caveats, the edge cases</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Say nothing else</a:t>
            </a:r>
          </a:p>
        </p:txBody>
      </p:sp>
      <p:sp>
        <p:nvSpPr>
          <p:cNvPr id="8" name="TextBox 7"/>
          <p:cNvSpPr txBox="1"/>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No walkthrough, no context, no warnings</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Start the clock</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Ten minutes of hands before anything else</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You Hand Over</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The public URL from 2.3</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CAVEATS.md, unedited</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tests/edge-cases.md from 3.1</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Nothing spoken out loud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Your First Ten Minutes</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Use it normally, once</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The happy path, as a real person would</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Run their own list</a:t>
            </a:r>
          </a:p>
        </p:txBody>
      </p:sp>
      <p:sp>
        <p:nvSpPr>
          <p:cNvPr id="8" name="TextBox 7"/>
          <p:cNvSpPr txBox="1"/>
          <p:nvPr/>
        </p:nvSpPr>
        <p:spPr>
          <a:xfrm>
            <a:off x="1461983" y="3697224"/>
            <a:ext cx="10359192" cy="551688"/>
          </a:xfrm>
          <a:prstGeom prst="rect">
            <a:avLst/>
          </a:prstGeom>
          <a:noFill/>
        </p:spPr>
        <p:txBody>
          <a:bodyPr wrap="none" lIns="0" rIns="0">
            <a:noAutofit/>
          </a:bodyPr>
          <a:lstStyle/>
          <a:p>
            <a:pPr algn="l"/>
            <a:r>
              <a:rPr sz="3400" b="0" i="0">
                <a:solidFill>
                  <a:srgbClr val="0A2240"/>
                </a:solidFill>
                <a:latin typeface="Arial"/>
              </a:rPr>
              <a:t>Every case in their edge-case file</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Then go off-script</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Whatever occurred to you while doing that</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Why Hands Before Agents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You notice what looks wrong</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You try things nobody wrote down</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You feel the slow parts</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You find the confusing screen</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Each Method Finds</a:t>
            </a:r>
          </a:p>
        </p:txBody>
      </p:sp>
      <p:sp>
        <p:nvSpPr>
          <p:cNvPr id="3" name="TextBox 2"/>
          <p:cNvSpPr txBox="1"/>
          <p:nvPr/>
        </p:nvSpPr>
        <p:spPr>
          <a:xfrm>
            <a:off x="3889248" y="1499616"/>
            <a:ext cx="3785616" cy="518159"/>
          </a:xfrm>
          <a:prstGeom prst="rect">
            <a:avLst/>
          </a:prstGeom>
          <a:noFill/>
        </p:spPr>
        <p:txBody>
          <a:bodyPr wrap="none" lIns="0" rIns="0">
            <a:noAutofit/>
          </a:bodyPr>
          <a:lstStyle/>
          <a:p>
            <a:pPr algn="ctr"/>
            <a:r>
              <a:rPr sz="3400" b="1" i="0">
                <a:solidFill>
                  <a:srgbClr val="0A2240"/>
                </a:solidFill>
                <a:latin typeface="Arial"/>
              </a:rPr>
              <a:t>By hand</a:t>
            </a:r>
          </a:p>
        </p:txBody>
      </p:sp>
      <p:sp>
        <p:nvSpPr>
          <p:cNvPr id="4" name="TextBox 3"/>
          <p:cNvSpPr txBox="1"/>
          <p:nvPr/>
        </p:nvSpPr>
        <p:spPr>
          <a:xfrm>
            <a:off x="7949184" y="1499616"/>
            <a:ext cx="3785616" cy="518159"/>
          </a:xfrm>
          <a:prstGeom prst="rect">
            <a:avLst/>
          </a:prstGeom>
          <a:noFill/>
        </p:spPr>
        <p:txBody>
          <a:bodyPr wrap="none" lIns="0" rIns="0">
            <a:noAutofit/>
          </a:bodyPr>
          <a:lstStyle/>
          <a:p>
            <a:pPr algn="ctr"/>
            <a:r>
              <a:rPr sz="3400" b="1" i="0">
                <a:solidFill>
                  <a:srgbClr val="0A2240"/>
                </a:solidFill>
                <a:latin typeface="Arial"/>
              </a:rPr>
              <a:t>By agent</a:t>
            </a:r>
          </a:p>
        </p:txBody>
      </p:sp>
      <p:sp>
        <p:nvSpPr>
          <p:cNvPr id="5" name="Rectangle 4"/>
          <p:cNvSpPr/>
          <p:nvPr/>
        </p:nvSpPr>
        <p:spPr>
          <a:xfrm>
            <a:off x="457200" y="2072639"/>
            <a:ext cx="1127760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4480976" cy="936752"/>
          </a:xfrm>
          <a:prstGeom prst="rect">
            <a:avLst/>
          </a:prstGeom>
          <a:noFill/>
        </p:spPr>
        <p:txBody>
          <a:bodyPr wrap="none" lIns="0" rIns="0">
            <a:noAutofit/>
          </a:bodyPr>
          <a:lstStyle/>
          <a:p>
            <a:pPr algn="l"/>
            <a:r>
              <a:rPr sz="3400" b="1" i="0">
                <a:solidFill>
                  <a:srgbClr val="0A2240"/>
                </a:solidFill>
                <a:latin typeface="Arial"/>
              </a:rPr>
              <a:t>Confusing UI</a:t>
            </a:r>
          </a:p>
        </p:txBody>
      </p:sp>
      <p:sp>
        <p:nvSpPr>
          <p:cNvPr id="7" name="Rectangle 6"/>
          <p:cNvSpPr/>
          <p:nvPr/>
        </p:nvSpPr>
        <p:spPr>
          <a:xfrm>
            <a:off x="4849901" y="2401823"/>
            <a:ext cx="1864309" cy="518159"/>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62516" y="2401823"/>
            <a:ext cx="2639079" cy="518159"/>
          </a:xfrm>
          <a:prstGeom prst="rect">
            <a:avLst/>
          </a:prstGeom>
          <a:noFill/>
        </p:spPr>
        <p:txBody>
          <a:bodyPr wrap="none" lIns="0" rIns="0">
            <a:noAutofit/>
          </a:bodyPr>
          <a:lstStyle/>
          <a:p>
            <a:pPr algn="ctr"/>
            <a:r>
              <a:rPr sz="3400" b="1" i="0">
                <a:solidFill>
                  <a:srgbClr val="FFFFFF"/>
                </a:solidFill>
                <a:latin typeface="Arial"/>
              </a:rPr>
              <a:t>Finds it</a:t>
            </a:r>
          </a:p>
        </p:txBody>
      </p:sp>
      <p:sp>
        <p:nvSpPr>
          <p:cNvPr id="9" name="TextBox 8"/>
          <p:cNvSpPr txBox="1"/>
          <p:nvPr/>
        </p:nvSpPr>
        <p:spPr>
          <a:xfrm>
            <a:off x="7949184" y="2401823"/>
            <a:ext cx="3785616" cy="936752"/>
          </a:xfrm>
          <a:prstGeom prst="rect">
            <a:avLst/>
          </a:prstGeom>
          <a:noFill/>
        </p:spPr>
        <p:txBody>
          <a:bodyPr wrap="none" lIns="0" rIns="0">
            <a:noAutofit/>
          </a:bodyPr>
          <a:lstStyle/>
          <a:p>
            <a:pPr algn="ctr"/>
            <a:r>
              <a:rPr sz="3400" b="0" i="0">
                <a:solidFill>
                  <a:srgbClr val="0A2240"/>
                </a:solidFill>
                <a:latin typeface="Arial"/>
              </a:rPr>
              <a:t>Blind to it</a:t>
            </a:r>
          </a:p>
        </p:txBody>
      </p:sp>
      <p:sp>
        <p:nvSpPr>
          <p:cNvPr id="10" name="TextBox 9"/>
          <p:cNvSpPr txBox="1"/>
          <p:nvPr/>
        </p:nvSpPr>
        <p:spPr>
          <a:xfrm>
            <a:off x="457200" y="3612895"/>
            <a:ext cx="3983395" cy="936752"/>
          </a:xfrm>
          <a:prstGeom prst="rect">
            <a:avLst/>
          </a:prstGeom>
          <a:noFill/>
        </p:spPr>
        <p:txBody>
          <a:bodyPr wrap="none" lIns="0" rIns="0">
            <a:noAutofit/>
          </a:bodyPr>
          <a:lstStyle/>
          <a:p>
            <a:pPr algn="l"/>
            <a:r>
              <a:rPr sz="3400" b="1" i="0">
                <a:solidFill>
                  <a:srgbClr val="0A2240"/>
                </a:solidFill>
                <a:latin typeface="Arial"/>
              </a:rPr>
              <a:t>Rare inputs</a:t>
            </a:r>
          </a:p>
        </p:txBody>
      </p:sp>
      <p:sp>
        <p:nvSpPr>
          <p:cNvPr id="11" name="TextBox 10"/>
          <p:cNvSpPr txBox="1"/>
          <p:nvPr/>
        </p:nvSpPr>
        <p:spPr>
          <a:xfrm>
            <a:off x="3771299" y="3612895"/>
            <a:ext cx="4021514" cy="936752"/>
          </a:xfrm>
          <a:prstGeom prst="rect">
            <a:avLst/>
          </a:prstGeom>
          <a:noFill/>
        </p:spPr>
        <p:txBody>
          <a:bodyPr wrap="none" lIns="0" rIns="0">
            <a:noAutofit/>
          </a:bodyPr>
          <a:lstStyle/>
          <a:p>
            <a:pPr algn="ctr"/>
            <a:r>
              <a:rPr sz="3400" b="0" i="0">
                <a:solidFill>
                  <a:srgbClr val="0A2240"/>
                </a:solidFill>
                <a:latin typeface="Arial"/>
              </a:rPr>
              <a:t>Misses most</a:t>
            </a:r>
          </a:p>
        </p:txBody>
      </p:sp>
      <p:sp>
        <p:nvSpPr>
          <p:cNvPr id="12" name="Rectangle 11"/>
          <p:cNvSpPr/>
          <p:nvPr/>
        </p:nvSpPr>
        <p:spPr>
          <a:xfrm>
            <a:off x="8525898" y="3612895"/>
            <a:ext cx="2632188" cy="518159"/>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8149" y="3612895"/>
            <a:ext cx="3867686" cy="518159"/>
          </a:xfrm>
          <a:prstGeom prst="rect">
            <a:avLst/>
          </a:prstGeom>
          <a:noFill/>
        </p:spPr>
        <p:txBody>
          <a:bodyPr wrap="none" lIns="0" rIns="0">
            <a:noAutofit/>
          </a:bodyPr>
          <a:lstStyle/>
          <a:p>
            <a:pPr algn="ctr"/>
            <a:r>
              <a:rPr sz="3400" b="1" i="0">
                <a:solidFill>
                  <a:srgbClr val="FFFFFF"/>
                </a:solidFill>
                <a:latin typeface="Arial"/>
              </a:rPr>
              <a:t>Finds them</a:t>
            </a:r>
          </a:p>
        </p:txBody>
      </p:sp>
      <p:sp>
        <p:nvSpPr>
          <p:cNvPr id="14" name="TextBox 13"/>
          <p:cNvSpPr txBox="1"/>
          <p:nvPr/>
        </p:nvSpPr>
        <p:spPr>
          <a:xfrm>
            <a:off x="457200" y="4823967"/>
            <a:ext cx="3157728" cy="936752"/>
          </a:xfrm>
          <a:prstGeom prst="rect">
            <a:avLst/>
          </a:prstGeom>
          <a:noFill/>
        </p:spPr>
        <p:txBody>
          <a:bodyPr wrap="none" lIns="0" rIns="0">
            <a:noAutofit/>
          </a:bodyPr>
          <a:lstStyle/>
          <a:p>
            <a:pPr algn="l"/>
            <a:r>
              <a:rPr sz="3400" b="1" i="0">
                <a:solidFill>
                  <a:srgbClr val="0A2240"/>
                </a:solidFill>
                <a:latin typeface="Arial"/>
              </a:rPr>
              <a:t>Speed</a:t>
            </a:r>
          </a:p>
        </p:txBody>
      </p:sp>
      <p:sp>
        <p:nvSpPr>
          <p:cNvPr id="15" name="TextBox 14"/>
          <p:cNvSpPr txBox="1"/>
          <p:nvPr/>
        </p:nvSpPr>
        <p:spPr>
          <a:xfrm>
            <a:off x="3828141" y="4823967"/>
            <a:ext cx="3907830" cy="936752"/>
          </a:xfrm>
          <a:prstGeom prst="rect">
            <a:avLst/>
          </a:prstGeom>
          <a:noFill/>
        </p:spPr>
        <p:txBody>
          <a:bodyPr wrap="none" lIns="0" rIns="0">
            <a:noAutofit/>
          </a:bodyPr>
          <a:lstStyle/>
          <a:p>
            <a:pPr algn="ctr"/>
            <a:r>
              <a:rPr sz="3400" b="0" i="0">
                <a:solidFill>
                  <a:srgbClr val="0A2240"/>
                </a:solidFill>
                <a:latin typeface="Arial"/>
              </a:rPr>
              <a:t>Ten minutes</a:t>
            </a:r>
          </a:p>
        </p:txBody>
      </p:sp>
      <p:sp>
        <p:nvSpPr>
          <p:cNvPr id="16" name="TextBox 15"/>
          <p:cNvSpPr txBox="1"/>
          <p:nvPr/>
        </p:nvSpPr>
        <p:spPr>
          <a:xfrm>
            <a:off x="7599986" y="4823967"/>
            <a:ext cx="4484012" cy="936752"/>
          </a:xfrm>
          <a:prstGeom prst="rect">
            <a:avLst/>
          </a:prstGeom>
          <a:noFill/>
        </p:spPr>
        <p:txBody>
          <a:bodyPr wrap="none" lIns="0" rIns="0">
            <a:noAutofit/>
          </a:bodyPr>
          <a:lstStyle/>
          <a:p>
            <a:pPr algn="ctr"/>
            <a:r>
              <a:rPr sz="3400" b="0" i="0">
                <a:solidFill>
                  <a:srgbClr val="0A2240"/>
                </a:solidFill>
                <a:latin typeface="Arial"/>
              </a:rPr>
              <a:t>Hundreds fast</a:t>
            </a:r>
          </a:p>
        </p:txBody>
      </p:sp>
      <p:sp>
        <p:nvSpPr>
          <p:cNvPr id="17" name="TextBox 1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How to Break What You Did Not Build</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Do the obvious wrong thing first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Give it the opposite of the example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Click before it finishes</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Try the same thing twice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Postures That Work</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The confused user</a:t>
            </a:r>
          </a:p>
        </p:txBody>
      </p:sp>
      <p:sp>
        <p:nvSpPr>
          <p:cNvPr id="4" name="TextBox 3"/>
          <p:cNvSpPr txBox="1"/>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Does the wrong thing sincerely, not cleverly</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The impatient user</a:t>
            </a:r>
          </a:p>
        </p:txBody>
      </p:sp>
      <p:sp>
        <p:nvSpPr>
          <p:cNvPr id="6" name="TextBox 5"/>
          <p:cNvSpPr txBox="1"/>
          <p:nvPr/>
        </p:nvSpPr>
        <p:spPr>
          <a:xfrm>
            <a:off x="457200" y="3621023"/>
            <a:ext cx="11277600" cy="627889"/>
          </a:xfrm>
          <a:prstGeom prst="rect">
            <a:avLst/>
          </a:prstGeom>
          <a:noFill/>
        </p:spPr>
        <p:txBody>
          <a:bodyPr wrap="none" lIns="0" rIns="0">
            <a:noAutofit/>
          </a:bodyPr>
          <a:lstStyle/>
          <a:p>
            <a:pPr algn="l"/>
            <a:r>
              <a:rPr sz="3400" b="0" i="0">
                <a:solidFill>
                  <a:srgbClr val="0A2240"/>
                </a:solidFill>
                <a:latin typeface="Arial"/>
              </a:rPr>
              <a:t>Clicks twice, refreshes, will not wait</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The bad actor</a:t>
            </a:r>
          </a:p>
        </p:txBody>
      </p:sp>
      <p:sp>
        <p:nvSpPr>
          <p:cNvPr id="8" name="TextBox 7"/>
          <p:cNvSpPr txBox="1"/>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Reads the page to work out what to abuse</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Two Kinds of Finding</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5B6B82"/>
                </a:solidFill>
                <a:latin typeface="Arial"/>
              </a:rPr>
              <a:t>Not useful</a:t>
            </a:r>
          </a:p>
        </p:txBody>
      </p:sp>
      <p:sp>
        <p:nvSpPr>
          <p:cNvPr id="4" name="Rectangle 3"/>
          <p:cNvSpPr/>
          <p:nvPr/>
        </p:nvSpPr>
        <p:spPr>
          <a:xfrm>
            <a:off x="54864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501640" cy="621791"/>
          </a:xfrm>
          <a:prstGeom prst="rect">
            <a:avLst/>
          </a:prstGeom>
          <a:noFill/>
        </p:spPr>
        <p:txBody>
          <a:bodyPr wrap="none" lIns="0" rIns="0">
            <a:noAutofit/>
          </a:bodyPr>
          <a:lstStyle/>
          <a:p>
            <a:pPr algn="l"/>
            <a:r>
              <a:rPr sz="3400" b="1" i="0">
                <a:solidFill>
                  <a:srgbClr val="0072CE"/>
                </a:solidFill>
                <a:latin typeface="Arial"/>
              </a:rPr>
              <a:t>Useful</a:t>
            </a:r>
          </a:p>
        </p:txBody>
      </p:sp>
      <p:sp>
        <p:nvSpPr>
          <p:cNvPr id="6" name="Rectangle 5"/>
          <p:cNvSpPr/>
          <p:nvPr/>
        </p:nvSpPr>
        <p:spPr>
          <a:xfrm>
            <a:off x="632460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5501640" cy="609600"/>
          </a:xfrm>
          <a:prstGeom prst="rect">
            <a:avLst/>
          </a:prstGeom>
          <a:noFill/>
        </p:spPr>
        <p:txBody>
          <a:bodyPr wrap="none" lIns="0" rIns="0">
            <a:noAutofit/>
          </a:bodyPr>
          <a:lstStyle/>
          <a:p>
            <a:pPr algn="l"/>
            <a:r>
              <a:rPr sz="3400" b="0" i="0">
                <a:solidFill>
                  <a:srgbClr val="0A2240"/>
                </a:solidFill>
                <a:latin typeface="Arial"/>
              </a:rPr>
              <a:t>"It felt slow"</a:t>
            </a:r>
          </a:p>
        </p:txBody>
      </p:sp>
      <p:sp>
        <p:nvSpPr>
          <p:cNvPr id="8" name="TextBox 7"/>
          <p:cNvSpPr txBox="1"/>
          <p:nvPr/>
        </p:nvSpPr>
        <p:spPr>
          <a:xfrm>
            <a:off x="457200" y="3608831"/>
            <a:ext cx="6741516" cy="609600"/>
          </a:xfrm>
          <a:prstGeom prst="rect">
            <a:avLst/>
          </a:prstGeom>
          <a:noFill/>
        </p:spPr>
        <p:txBody>
          <a:bodyPr wrap="none" lIns="0" rIns="0">
            <a:noAutofit/>
          </a:bodyPr>
          <a:lstStyle/>
          <a:p>
            <a:pPr algn="l"/>
            <a:r>
              <a:rPr sz="3400" b="0" i="0">
                <a:solidFill>
                  <a:srgbClr val="0A2240"/>
                </a:solidFill>
                <a:latin typeface="Arial"/>
              </a:rPr>
              <a:t>"The design is rough"</a:t>
            </a:r>
          </a:p>
        </p:txBody>
      </p:sp>
      <p:sp>
        <p:nvSpPr>
          <p:cNvPr id="9" name="TextBox 8"/>
          <p:cNvSpPr txBox="1"/>
          <p:nvPr/>
        </p:nvSpPr>
        <p:spPr>
          <a:xfrm>
            <a:off x="457200" y="4821935"/>
            <a:ext cx="6126201" cy="609600"/>
          </a:xfrm>
          <a:prstGeom prst="rect">
            <a:avLst/>
          </a:prstGeom>
          <a:noFill/>
        </p:spPr>
        <p:txBody>
          <a:bodyPr wrap="none" lIns="0" rIns="0">
            <a:noAutofit/>
          </a:bodyPr>
          <a:lstStyle/>
          <a:p>
            <a:pPr algn="l"/>
            <a:r>
              <a:rPr sz="3400" b="0" i="0">
                <a:solidFill>
                  <a:srgbClr val="0A2240"/>
                </a:solidFill>
                <a:latin typeface="Arial"/>
              </a:rPr>
              <a:t>"It broke somehow"</a:t>
            </a:r>
          </a:p>
        </p:txBody>
      </p:sp>
      <p:sp>
        <p:nvSpPr>
          <p:cNvPr id="10" name="TextBox 9"/>
          <p:cNvSpPr txBox="1"/>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The exact input used</a:t>
            </a:r>
          </a:p>
        </p:txBody>
      </p:sp>
      <p:sp>
        <p:nvSpPr>
          <p:cNvPr id="11" name="TextBox 10"/>
          <p:cNvSpPr txBox="1"/>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What came back instead</a:t>
            </a:r>
          </a:p>
        </p:txBody>
      </p:sp>
      <p:sp>
        <p:nvSpPr>
          <p:cNvPr id="12" name="TextBox 11"/>
          <p:cNvSpPr txBox="1"/>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How to make it happen</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Write it down as it happens</a:t>
            </a:r>
          </a:p>
        </p:txBody>
      </p:sp>
      <p:sp>
        <p:nvSpPr>
          <p:cNvPr id="6" name="TextBox 5"/>
          <p:cNvSpPr txBox="1"/>
          <p:nvPr/>
        </p:nvSpPr>
        <p:spPr>
          <a:xfrm>
            <a:off x="457200" y="1837944"/>
            <a:ext cx="5291276" cy="518159"/>
          </a:xfrm>
          <a:prstGeom prst="rect">
            <a:avLst/>
          </a:prstGeom>
          <a:noFill/>
        </p:spPr>
        <p:txBody>
          <a:bodyPr wrap="none" lIns="0" rIns="0">
            <a:noAutofit/>
          </a:bodyPr>
          <a:lstStyle/>
          <a:p>
            <a:pPr algn="l"/>
            <a:r>
              <a:rPr sz="3400" b="0" i="0">
                <a:solidFill>
                  <a:srgbClr val="6A9955"/>
                </a:solidFill>
                <a:latin typeface="Arial"/>
              </a:rPr>
              <a:t>## empty upload</a:t>
            </a:r>
          </a:p>
        </p:txBody>
      </p:sp>
      <p:sp>
        <p:nvSpPr>
          <p:cNvPr id="7" name="TextBox 6"/>
          <p:cNvSpPr txBox="1"/>
          <p:nvPr/>
        </p:nvSpPr>
        <p:spPr>
          <a:xfrm>
            <a:off x="457200" y="2356103"/>
            <a:ext cx="7671236" cy="518159"/>
          </a:xfrm>
          <a:prstGeom prst="rect">
            <a:avLst/>
          </a:prstGeom>
          <a:noFill/>
        </p:spPr>
        <p:txBody>
          <a:bodyPr wrap="none" lIns="0" rIns="0">
            <a:noAutofit/>
          </a:bodyPr>
          <a:lstStyle/>
          <a:p>
            <a:pPr algn="l"/>
            <a:r>
              <a:rPr sz="3400" b="0" i="0">
                <a:solidFill>
                  <a:srgbClr val="D4D4D4"/>
                </a:solidFill>
                <a:latin typeface="Arial"/>
              </a:rPr>
              <a:t>sent: no file, clicked Run</a:t>
            </a:r>
          </a:p>
        </p:txBody>
      </p:sp>
      <p:sp>
        <p:nvSpPr>
          <p:cNvPr id="8" name="TextBox 7"/>
          <p:cNvSpPr txBox="1"/>
          <p:nvPr/>
        </p:nvSpPr>
        <p:spPr>
          <a:xfrm>
            <a:off x="457200" y="2874262"/>
            <a:ext cx="10398660" cy="518159"/>
          </a:xfrm>
          <a:prstGeom prst="rect">
            <a:avLst/>
          </a:prstGeom>
          <a:noFill/>
        </p:spPr>
        <p:txBody>
          <a:bodyPr wrap="none" lIns="0" rIns="0">
            <a:noAutofit/>
          </a:bodyPr>
          <a:lstStyle/>
          <a:p>
            <a:pPr algn="l"/>
            <a:r>
              <a:rPr sz="3400" b="0" i="0">
                <a:solidFill>
                  <a:srgbClr val="D4D4D4"/>
                </a:solidFill>
                <a:latin typeface="Arial"/>
              </a:rPr>
              <a:t>got: spinner, forever, no message</a:t>
            </a:r>
          </a:p>
        </p:txBody>
      </p:sp>
      <p:sp>
        <p:nvSpPr>
          <p:cNvPr id="9" name="TextBox 8"/>
          <p:cNvSpPr txBox="1"/>
          <p:nvPr/>
        </p:nvSpPr>
        <p:spPr>
          <a:xfrm>
            <a:off x="457200" y="3392421"/>
            <a:ext cx="4253270" cy="518159"/>
          </a:xfrm>
          <a:prstGeom prst="rect">
            <a:avLst/>
          </a:prstGeom>
          <a:noFill/>
        </p:spPr>
        <p:txBody>
          <a:bodyPr wrap="none" lIns="0" rIns="0">
            <a:noAutofit/>
          </a:bodyPr>
          <a:lstStyle/>
          <a:p>
            <a:pPr algn="l"/>
            <a:r>
              <a:rPr sz="3400" b="0" i="0">
                <a:solidFill>
                  <a:srgbClr val="D4D4D4"/>
                </a:solidFill>
                <a:latin typeface="Arial"/>
              </a:rPr>
              <a:t>severity: high</a:t>
            </a:r>
          </a:p>
        </p:txBody>
      </p:sp>
      <p:sp>
        <p:nvSpPr>
          <p:cNvPr id="10" name="TextBox 9"/>
          <p:cNvSpPr txBox="1"/>
          <p:nvPr/>
        </p:nvSpPr>
        <p:spPr>
          <a:xfrm>
            <a:off x="457200" y="3910580"/>
            <a:ext cx="8477150" cy="518159"/>
          </a:xfrm>
          <a:prstGeom prst="rect">
            <a:avLst/>
          </a:prstGeom>
          <a:noFill/>
        </p:spPr>
        <p:txBody>
          <a:bodyPr wrap="none" lIns="0" rIns="0">
            <a:noAutofit/>
          </a:bodyPr>
          <a:lstStyle/>
          <a:p>
            <a:pPr algn="l"/>
            <a:r>
              <a:rPr sz="3400" b="0" i="0">
                <a:solidFill>
                  <a:srgbClr val="D4D4D4"/>
                </a:solidFill>
                <a:latin typeface="Arial"/>
              </a:rPr>
              <a:t>repro: open URL, click Run</a:t>
            </a:r>
          </a:p>
        </p:txBody>
      </p:sp>
      <p:sp>
        <p:nvSpPr>
          <p:cNvPr id="11" name="TextBox 10"/>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Do Not Do These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Do not fix anything you find</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Do not tell them mid-round</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Do not test their teammates</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Do not stop at the first break</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02</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Volume for Free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22</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How many have you tried?</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23</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Why Volume Finds More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Rare inputs need many tries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You repeat yourself, models vary</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Combinations you would not pair</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It never gets bored or polite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24</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Nvidia's free API</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Hosted models you can call in bulk at no cost</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25</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Standing It Up</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Get a key</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Sign in, create one, keep it out of git</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617100" cy="640080"/>
          </a:xfrm>
          <a:prstGeom prst="rect">
            <a:avLst/>
          </a:prstGeom>
          <a:noFill/>
        </p:spPr>
        <p:txBody>
          <a:bodyPr wrap="none" lIns="0" rIns="0">
            <a:noAutofit/>
          </a:bodyPr>
          <a:lstStyle/>
          <a:p>
            <a:pPr algn="l"/>
            <a:r>
              <a:rPr sz="4200" b="1" i="0">
                <a:solidFill>
                  <a:srgbClr val="123A6B"/>
                </a:solidFill>
                <a:latin typeface="Arial"/>
              </a:rPr>
              <a:t>Call it like any chat model</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The interface is the familiar one</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730017" cy="640080"/>
          </a:xfrm>
          <a:prstGeom prst="rect">
            <a:avLst/>
          </a:prstGeom>
          <a:noFill/>
        </p:spPr>
        <p:txBody>
          <a:bodyPr wrap="none" lIns="0" rIns="0">
            <a:noAutofit/>
          </a:bodyPr>
          <a:lstStyle/>
          <a:p>
            <a:pPr algn="l"/>
            <a:r>
              <a:rPr sz="4200" b="1" i="0">
                <a:solidFill>
                  <a:srgbClr val="123A6B"/>
                </a:solidFill>
                <a:latin typeface="Arial"/>
              </a:rPr>
              <a:t>Ask for inputs, not answers</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You want test material, not opinions</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26</a:t>
            </a:fld>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One call, a hundred inputs</a:t>
            </a:r>
          </a:p>
        </p:txBody>
      </p:sp>
      <p:sp>
        <p:nvSpPr>
          <p:cNvPr id="6" name="TextBox 5"/>
          <p:cNvSpPr txBox="1"/>
          <p:nvPr/>
        </p:nvSpPr>
        <p:spPr>
          <a:xfrm>
            <a:off x="457200" y="1837944"/>
            <a:ext cx="2583080" cy="518159"/>
          </a:xfrm>
          <a:prstGeom prst="rect">
            <a:avLst/>
          </a:prstGeom>
          <a:noFill/>
        </p:spPr>
        <p:txBody>
          <a:bodyPr wrap="none" lIns="0" rIns="0">
            <a:noAutofit/>
          </a:bodyPr>
          <a:lstStyle/>
          <a:p>
            <a:pPr algn="l"/>
            <a:r>
              <a:rPr sz="3400" b="0" i="0">
                <a:solidFill>
                  <a:srgbClr val="D4D4D4"/>
                </a:solidFill>
                <a:latin typeface="Arial"/>
              </a:rPr>
              <a:t>client = </a:t>
            </a:r>
          </a:p>
        </p:txBody>
      </p:sp>
      <p:sp>
        <p:nvSpPr>
          <p:cNvPr id="7" name="TextBox 6"/>
          <p:cNvSpPr txBox="1"/>
          <p:nvPr/>
        </p:nvSpPr>
        <p:spPr>
          <a:xfrm>
            <a:off x="1957325" y="1837944"/>
            <a:ext cx="2525732" cy="518159"/>
          </a:xfrm>
          <a:prstGeom prst="rect">
            <a:avLst/>
          </a:prstGeom>
          <a:noFill/>
        </p:spPr>
        <p:txBody>
          <a:bodyPr wrap="none" lIns="0" rIns="0">
            <a:noAutofit/>
          </a:bodyPr>
          <a:lstStyle/>
          <a:p>
            <a:pPr algn="l"/>
            <a:r>
              <a:rPr sz="3400" b="0" i="0">
                <a:solidFill>
                  <a:srgbClr val="DCDCAA"/>
                </a:solidFill>
                <a:latin typeface="Arial"/>
              </a:rPr>
              <a:t>OpenAI</a:t>
            </a:r>
          </a:p>
        </p:txBody>
      </p:sp>
      <p:sp>
        <p:nvSpPr>
          <p:cNvPr id="8" name="TextBox 7"/>
          <p:cNvSpPr txBox="1"/>
          <p:nvPr/>
        </p:nvSpPr>
        <p:spPr>
          <a:xfrm>
            <a:off x="3421608" y="1837944"/>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9" name="TextBox 8"/>
          <p:cNvSpPr txBox="1"/>
          <p:nvPr/>
        </p:nvSpPr>
        <p:spPr>
          <a:xfrm>
            <a:off x="457200" y="2356103"/>
            <a:ext cx="3620412" cy="518159"/>
          </a:xfrm>
          <a:prstGeom prst="rect">
            <a:avLst/>
          </a:prstGeom>
          <a:noFill/>
        </p:spPr>
        <p:txBody>
          <a:bodyPr wrap="none" lIns="0" rIns="0">
            <a:noAutofit/>
          </a:bodyPr>
          <a:lstStyle/>
          <a:p>
            <a:pPr algn="l"/>
            <a:r>
              <a:rPr sz="3400" b="0" i="0">
                <a:solidFill>
                  <a:srgbClr val="D4D4D4"/>
                </a:solidFill>
                <a:latin typeface="Arial"/>
              </a:rPr>
              <a:t>  base_url=</a:t>
            </a:r>
          </a:p>
        </p:txBody>
      </p:sp>
      <p:sp>
        <p:nvSpPr>
          <p:cNvPr id="10" name="TextBox 9"/>
          <p:cNvSpPr txBox="1"/>
          <p:nvPr/>
        </p:nvSpPr>
        <p:spPr>
          <a:xfrm>
            <a:off x="2605658" y="2356103"/>
            <a:ext cx="9586342" cy="518159"/>
          </a:xfrm>
          <a:prstGeom prst="rect">
            <a:avLst/>
          </a:prstGeom>
          <a:noFill/>
        </p:spPr>
        <p:txBody>
          <a:bodyPr wrap="none" lIns="0" rIns="0">
            <a:noAutofit/>
          </a:bodyPr>
          <a:lstStyle/>
          <a:p>
            <a:pPr algn="l"/>
            <a:r>
              <a:rPr sz="3400" b="0" i="0">
                <a:solidFill>
                  <a:srgbClr val="CE9178"/>
                </a:solidFill>
                <a:latin typeface="Arial"/>
              </a:rPr>
              <a:t>"https://integrate.api.nvidia.com/v1"</a:t>
            </a:r>
          </a:p>
        </p:txBody>
      </p:sp>
      <p:sp>
        <p:nvSpPr>
          <p:cNvPr id="11" name="TextBox 10"/>
          <p:cNvSpPr txBox="1"/>
          <p:nvPr/>
        </p:nvSpPr>
        <p:spPr>
          <a:xfrm>
            <a:off x="9344732" y="2356103"/>
            <a:ext cx="37482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2" name="TextBox 11"/>
          <p:cNvSpPr txBox="1"/>
          <p:nvPr/>
        </p:nvSpPr>
        <p:spPr>
          <a:xfrm>
            <a:off x="457200" y="2874262"/>
            <a:ext cx="6731059" cy="518159"/>
          </a:xfrm>
          <a:prstGeom prst="rect">
            <a:avLst/>
          </a:prstGeom>
          <a:noFill/>
        </p:spPr>
        <p:txBody>
          <a:bodyPr wrap="none" lIns="0" rIns="0">
            <a:noAutofit/>
          </a:bodyPr>
          <a:lstStyle/>
          <a:p>
            <a:pPr algn="l"/>
            <a:r>
              <a:rPr sz="3400" b="0" i="0">
                <a:solidFill>
                  <a:srgbClr val="D4D4D4"/>
                </a:solidFill>
                <a:latin typeface="Arial"/>
              </a:rPr>
              <a:t>  api_key=os.environ[</a:t>
            </a:r>
          </a:p>
        </p:txBody>
      </p:sp>
      <p:sp>
        <p:nvSpPr>
          <p:cNvPr id="13" name="TextBox 12"/>
          <p:cNvSpPr txBox="1"/>
          <p:nvPr/>
        </p:nvSpPr>
        <p:spPr>
          <a:xfrm>
            <a:off x="4549812" y="2874262"/>
            <a:ext cx="6241236" cy="518159"/>
          </a:xfrm>
          <a:prstGeom prst="rect">
            <a:avLst/>
          </a:prstGeom>
          <a:noFill/>
        </p:spPr>
        <p:txBody>
          <a:bodyPr wrap="none" lIns="0" rIns="0">
            <a:noAutofit/>
          </a:bodyPr>
          <a:lstStyle/>
          <a:p>
            <a:pPr algn="l"/>
            <a:r>
              <a:rPr sz="3400" b="0" i="0">
                <a:solidFill>
                  <a:srgbClr val="CE9178"/>
                </a:solidFill>
                <a:latin typeface="Arial"/>
              </a:rPr>
              <a:t>"NVIDIA_API_KEY"</a:t>
            </a:r>
          </a:p>
        </p:txBody>
      </p:sp>
      <p:sp>
        <p:nvSpPr>
          <p:cNvPr id="14" name="TextBox 13"/>
          <p:cNvSpPr txBox="1"/>
          <p:nvPr/>
        </p:nvSpPr>
        <p:spPr>
          <a:xfrm>
            <a:off x="8336285" y="2874262"/>
            <a:ext cx="566777" cy="518159"/>
          </a:xfrm>
          <a:prstGeom prst="rect">
            <a:avLst/>
          </a:prstGeom>
          <a:noFill/>
        </p:spPr>
        <p:txBody>
          <a:bodyPr wrap="none" lIns="0" rIns="0">
            <a:noAutofit/>
          </a:bodyPr>
          <a:lstStyle/>
          <a:p>
            <a:pPr algn="l"/>
            <a:r>
              <a:rPr sz="3400" b="0" i="0">
                <a:solidFill>
                  <a:srgbClr val="D4D4D4"/>
                </a:solidFill>
                <a:latin typeface="Arial"/>
              </a:rPr>
              <a:t>],</a:t>
            </a:r>
          </a:p>
        </p:txBody>
      </p:sp>
      <p:sp>
        <p:nvSpPr>
          <p:cNvPr id="15" name="TextBox 14"/>
          <p:cNvSpPr txBox="1"/>
          <p:nvPr/>
        </p:nvSpPr>
        <p:spPr>
          <a:xfrm>
            <a:off x="457200" y="3392421"/>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6" name="TextBox 15"/>
          <p:cNvSpPr txBox="1"/>
          <p:nvPr/>
        </p:nvSpPr>
        <p:spPr>
          <a:xfrm>
            <a:off x="457200" y="3910580"/>
            <a:ext cx="10052883" cy="518159"/>
          </a:xfrm>
          <a:prstGeom prst="rect">
            <a:avLst/>
          </a:prstGeom>
          <a:noFill/>
        </p:spPr>
        <p:txBody>
          <a:bodyPr wrap="none" lIns="0" rIns="0">
            <a:noAutofit/>
          </a:bodyPr>
          <a:lstStyle/>
          <a:p>
            <a:pPr algn="l"/>
            <a:r>
              <a:rPr sz="3400" b="0" i="0">
                <a:solidFill>
                  <a:srgbClr val="6A9955"/>
                </a:solidFill>
                <a:latin typeface="Arial"/>
              </a:rPr>
              <a:t># then loop: ask for 20 at a time,</a:t>
            </a:r>
          </a:p>
        </p:txBody>
      </p:sp>
      <p:sp>
        <p:nvSpPr>
          <p:cNvPr id="17" name="TextBox 16"/>
          <p:cNvSpPr txBox="1"/>
          <p:nvPr/>
        </p:nvSpPr>
        <p:spPr>
          <a:xfrm>
            <a:off x="457200" y="4428739"/>
            <a:ext cx="9898380" cy="518159"/>
          </a:xfrm>
          <a:prstGeom prst="rect">
            <a:avLst/>
          </a:prstGeom>
          <a:noFill/>
        </p:spPr>
        <p:txBody>
          <a:bodyPr wrap="none" lIns="0" rIns="0">
            <a:noAutofit/>
          </a:bodyPr>
          <a:lstStyle/>
          <a:p>
            <a:pPr algn="l"/>
            <a:r>
              <a:rPr sz="3400" b="0" i="0">
                <a:solidFill>
                  <a:srgbClr val="6A9955"/>
                </a:solidFill>
                <a:latin typeface="Arial"/>
              </a:rPr>
              <a:t># five times, one axis per batch.</a:t>
            </a:r>
          </a:p>
        </p:txBody>
      </p:sp>
      <p:sp>
        <p:nvSpPr>
          <p:cNvPr id="18" name="TextBox 1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27</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734800" cy="640080"/>
          </a:xfrm>
          <a:prstGeom prst="rect">
            <a:avLst/>
          </a:prstGeom>
          <a:noFill/>
        </p:spPr>
        <p:txBody>
          <a:bodyPr wrap="none" lIns="0" rIns="0">
            <a:noAutofit/>
          </a:bodyPr>
          <a:lstStyle/>
          <a:p>
            <a:pPr algn="l"/>
            <a:r>
              <a:rPr sz="4200" b="0" i="0">
                <a:solidFill>
                  <a:srgbClr val="D4D4D4"/>
                </a:solidFill>
                <a:latin typeface="Arial"/>
              </a:rPr>
              <a:t>The generation prompt that works</a:t>
            </a:r>
          </a:p>
        </p:txBody>
      </p:sp>
      <p:sp>
        <p:nvSpPr>
          <p:cNvPr id="6" name="TextBox 5"/>
          <p:cNvSpPr txBox="1"/>
          <p:nvPr/>
        </p:nvSpPr>
        <p:spPr>
          <a:xfrm>
            <a:off x="457200" y="1837944"/>
            <a:ext cx="1872297" cy="518159"/>
          </a:xfrm>
          <a:prstGeom prst="rect">
            <a:avLst/>
          </a:prstGeom>
          <a:noFill/>
        </p:spPr>
        <p:txBody>
          <a:bodyPr wrap="none" lIns="0" rIns="0">
            <a:noAutofit/>
          </a:bodyPr>
          <a:lstStyle/>
          <a:p>
            <a:pPr algn="l"/>
            <a:r>
              <a:rPr sz="3400" b="0" i="0">
                <a:solidFill>
                  <a:srgbClr val="D4D4D4"/>
                </a:solidFill>
                <a:latin typeface="Arial"/>
              </a:rPr>
              <a:t>Here </a:t>
            </a:r>
          </a:p>
        </p:txBody>
      </p:sp>
      <p:sp>
        <p:nvSpPr>
          <p:cNvPr id="7" name="TextBox 6"/>
          <p:cNvSpPr txBox="1"/>
          <p:nvPr/>
        </p:nvSpPr>
        <p:spPr>
          <a:xfrm>
            <a:off x="1513086" y="1837944"/>
            <a:ext cx="681811" cy="518159"/>
          </a:xfrm>
          <a:prstGeom prst="rect">
            <a:avLst/>
          </a:prstGeom>
          <a:noFill/>
        </p:spPr>
        <p:txBody>
          <a:bodyPr wrap="none" lIns="0" rIns="0">
            <a:noAutofit/>
          </a:bodyPr>
          <a:lstStyle/>
          <a:p>
            <a:pPr algn="l"/>
            <a:r>
              <a:rPr sz="3400" b="0" i="0">
                <a:solidFill>
                  <a:srgbClr val="569CD6"/>
                </a:solidFill>
                <a:latin typeface="Arial"/>
              </a:rPr>
              <a:t>is</a:t>
            </a:r>
          </a:p>
        </p:txBody>
      </p:sp>
      <p:sp>
        <p:nvSpPr>
          <p:cNvPr id="8" name="TextBox 7"/>
          <p:cNvSpPr txBox="1"/>
          <p:nvPr/>
        </p:nvSpPr>
        <p:spPr>
          <a:xfrm>
            <a:off x="1824918" y="1837944"/>
            <a:ext cx="7057270" cy="518159"/>
          </a:xfrm>
          <a:prstGeom prst="rect">
            <a:avLst/>
          </a:prstGeom>
          <a:noFill/>
        </p:spPr>
        <p:txBody>
          <a:bodyPr wrap="none" lIns="0" rIns="0">
            <a:noAutofit/>
          </a:bodyPr>
          <a:lstStyle/>
          <a:p>
            <a:pPr algn="l"/>
            <a:r>
              <a:rPr sz="3400" b="0" i="0">
                <a:solidFill>
                  <a:srgbClr val="D4D4D4"/>
                </a:solidFill>
                <a:latin typeface="Arial"/>
              </a:rPr>
              <a:t> what the tool accepts:</a:t>
            </a:r>
          </a:p>
        </p:txBody>
      </p:sp>
      <p:sp>
        <p:nvSpPr>
          <p:cNvPr id="9" name="TextBox 8"/>
          <p:cNvSpPr txBox="1"/>
          <p:nvPr/>
        </p:nvSpPr>
        <p:spPr>
          <a:xfrm>
            <a:off x="457200" y="2356103"/>
            <a:ext cx="7152064" cy="518159"/>
          </a:xfrm>
          <a:prstGeom prst="rect">
            <a:avLst/>
          </a:prstGeom>
          <a:noFill/>
        </p:spPr>
        <p:txBody>
          <a:bodyPr wrap="none" lIns="0" rIns="0">
            <a:noAutofit/>
          </a:bodyPr>
          <a:lstStyle/>
          <a:p>
            <a:pPr algn="l"/>
            <a:r>
              <a:rPr sz="3400" b="0" i="0">
                <a:solidFill>
                  <a:srgbClr val="D4D4D4"/>
                </a:solidFill>
                <a:latin typeface="Arial"/>
              </a:rPr>
              <a:t>&lt;paste their README </a:t>
            </a:r>
          </a:p>
        </p:txBody>
      </p:sp>
      <p:sp>
        <p:nvSpPr>
          <p:cNvPr id="10" name="TextBox 9"/>
          <p:cNvSpPr txBox="1"/>
          <p:nvPr/>
        </p:nvSpPr>
        <p:spPr>
          <a:xfrm>
            <a:off x="4812940" y="2356103"/>
            <a:ext cx="797182" cy="518159"/>
          </a:xfrm>
          <a:prstGeom prst="rect">
            <a:avLst/>
          </a:prstGeom>
          <a:noFill/>
        </p:spPr>
        <p:txBody>
          <a:bodyPr wrap="none" lIns="0" rIns="0">
            <a:noAutofit/>
          </a:bodyPr>
          <a:lstStyle/>
          <a:p>
            <a:pPr algn="l"/>
            <a:r>
              <a:rPr sz="3400" b="0" i="0">
                <a:solidFill>
                  <a:srgbClr val="569CD6"/>
                </a:solidFill>
                <a:latin typeface="Arial"/>
              </a:rPr>
              <a:t>or</a:t>
            </a:r>
          </a:p>
        </p:txBody>
      </p:sp>
      <p:sp>
        <p:nvSpPr>
          <p:cNvPr id="11" name="TextBox 10"/>
          <p:cNvSpPr txBox="1"/>
          <p:nvPr/>
        </p:nvSpPr>
        <p:spPr>
          <a:xfrm>
            <a:off x="5196880" y="2356103"/>
            <a:ext cx="3159264" cy="518159"/>
          </a:xfrm>
          <a:prstGeom prst="rect">
            <a:avLst/>
          </a:prstGeom>
          <a:noFill/>
        </p:spPr>
        <p:txBody>
          <a:bodyPr wrap="none" lIns="0" rIns="0">
            <a:noAutofit/>
          </a:bodyPr>
          <a:lstStyle/>
          <a:p>
            <a:pPr algn="l"/>
            <a:r>
              <a:rPr sz="3400" b="0" i="0">
                <a:solidFill>
                  <a:srgbClr val="D4D4D4"/>
                </a:solidFill>
                <a:latin typeface="Arial"/>
              </a:rPr>
              <a:t> caveats&gt;</a:t>
            </a:r>
          </a:p>
        </p:txBody>
      </p:sp>
      <p:sp>
        <p:nvSpPr>
          <p:cNvPr id="12" name="TextBox 11"/>
          <p:cNvSpPr txBox="1"/>
          <p:nvPr/>
        </p:nvSpPr>
        <p:spPr>
          <a:xfrm>
            <a:off x="457200" y="3392421"/>
            <a:ext cx="2947075" cy="518159"/>
          </a:xfrm>
          <a:prstGeom prst="rect">
            <a:avLst/>
          </a:prstGeom>
          <a:noFill/>
        </p:spPr>
        <p:txBody>
          <a:bodyPr wrap="none" lIns="0" rIns="0">
            <a:noAutofit/>
          </a:bodyPr>
          <a:lstStyle/>
          <a:p>
            <a:pPr algn="l"/>
            <a:r>
              <a:rPr sz="3400" b="0" i="0">
                <a:solidFill>
                  <a:srgbClr val="D4D4D4"/>
                </a:solidFill>
                <a:latin typeface="Arial"/>
              </a:rPr>
              <a:t>Give me </a:t>
            </a:r>
          </a:p>
        </p:txBody>
      </p:sp>
      <p:sp>
        <p:nvSpPr>
          <p:cNvPr id="13" name="TextBox 12"/>
          <p:cNvSpPr txBox="1"/>
          <p:nvPr/>
        </p:nvSpPr>
        <p:spPr>
          <a:xfrm>
            <a:off x="2184822" y="3392421"/>
            <a:ext cx="951348" cy="518159"/>
          </a:xfrm>
          <a:prstGeom prst="rect">
            <a:avLst/>
          </a:prstGeom>
          <a:noFill/>
        </p:spPr>
        <p:txBody>
          <a:bodyPr wrap="none" lIns="0" rIns="0">
            <a:noAutofit/>
          </a:bodyPr>
          <a:lstStyle/>
          <a:p>
            <a:pPr algn="l"/>
            <a:r>
              <a:rPr sz="3400" b="0" i="0">
                <a:solidFill>
                  <a:srgbClr val="B5CEA8"/>
                </a:solidFill>
                <a:latin typeface="Arial"/>
              </a:rPr>
              <a:t>20</a:t>
            </a:r>
          </a:p>
        </p:txBody>
      </p:sp>
      <p:sp>
        <p:nvSpPr>
          <p:cNvPr id="14" name="TextBox 13"/>
          <p:cNvSpPr txBox="1"/>
          <p:nvPr/>
        </p:nvSpPr>
        <p:spPr>
          <a:xfrm>
            <a:off x="2665115" y="3392421"/>
            <a:ext cx="9526885" cy="518159"/>
          </a:xfrm>
          <a:prstGeom prst="rect">
            <a:avLst/>
          </a:prstGeom>
          <a:noFill/>
        </p:spPr>
        <p:txBody>
          <a:bodyPr wrap="none" lIns="0" rIns="0">
            <a:noAutofit/>
          </a:bodyPr>
          <a:lstStyle/>
          <a:p>
            <a:pPr algn="l"/>
            <a:r>
              <a:rPr sz="3400" b="0" i="0">
                <a:solidFill>
                  <a:srgbClr val="D4D4D4"/>
                </a:solidFill>
                <a:latin typeface="Arial"/>
              </a:rPr>
              <a:t> inputs that are MALFORMED.</a:t>
            </a:r>
          </a:p>
        </p:txBody>
      </p:sp>
      <p:sp>
        <p:nvSpPr>
          <p:cNvPr id="15" name="TextBox 14"/>
          <p:cNvSpPr txBox="1"/>
          <p:nvPr/>
        </p:nvSpPr>
        <p:spPr>
          <a:xfrm>
            <a:off x="457200" y="3910580"/>
            <a:ext cx="7351772" cy="518159"/>
          </a:xfrm>
          <a:prstGeom prst="rect">
            <a:avLst/>
          </a:prstGeom>
          <a:noFill/>
        </p:spPr>
        <p:txBody>
          <a:bodyPr wrap="none" lIns="0" rIns="0">
            <a:noAutofit/>
          </a:bodyPr>
          <a:lstStyle/>
          <a:p>
            <a:pPr algn="l"/>
            <a:r>
              <a:rPr sz="3400" b="0" i="0">
                <a:solidFill>
                  <a:srgbClr val="D4D4D4"/>
                </a:solidFill>
                <a:latin typeface="Arial"/>
              </a:rPr>
              <a:t>Vary the way each one </a:t>
            </a:r>
          </a:p>
        </p:txBody>
      </p:sp>
      <p:sp>
        <p:nvSpPr>
          <p:cNvPr id="16" name="TextBox 15"/>
          <p:cNvSpPr txBox="1"/>
          <p:nvPr/>
        </p:nvSpPr>
        <p:spPr>
          <a:xfrm>
            <a:off x="4937758" y="3910580"/>
            <a:ext cx="681811" cy="518159"/>
          </a:xfrm>
          <a:prstGeom prst="rect">
            <a:avLst/>
          </a:prstGeom>
          <a:noFill/>
        </p:spPr>
        <p:txBody>
          <a:bodyPr wrap="none" lIns="0" rIns="0">
            <a:noAutofit/>
          </a:bodyPr>
          <a:lstStyle/>
          <a:p>
            <a:pPr algn="l"/>
            <a:r>
              <a:rPr sz="3400" b="0" i="0">
                <a:solidFill>
                  <a:srgbClr val="569CD6"/>
                </a:solidFill>
                <a:latin typeface="Arial"/>
              </a:rPr>
              <a:t>is</a:t>
            </a:r>
          </a:p>
        </p:txBody>
      </p:sp>
      <p:sp>
        <p:nvSpPr>
          <p:cNvPr id="17" name="TextBox 16"/>
          <p:cNvSpPr txBox="1"/>
          <p:nvPr/>
        </p:nvSpPr>
        <p:spPr>
          <a:xfrm>
            <a:off x="5249590" y="3910580"/>
            <a:ext cx="2679224" cy="518159"/>
          </a:xfrm>
          <a:prstGeom prst="rect">
            <a:avLst/>
          </a:prstGeom>
          <a:noFill/>
        </p:spPr>
        <p:txBody>
          <a:bodyPr wrap="none" lIns="0" rIns="0">
            <a:noAutofit/>
          </a:bodyPr>
          <a:lstStyle/>
          <a:p>
            <a:pPr algn="l"/>
            <a:r>
              <a:rPr sz="3400" b="0" i="0">
                <a:solidFill>
                  <a:srgbClr val="D4D4D4"/>
                </a:solidFill>
                <a:latin typeface="Arial"/>
              </a:rPr>
              <a:t> broken.</a:t>
            </a:r>
          </a:p>
        </p:txBody>
      </p:sp>
      <p:sp>
        <p:nvSpPr>
          <p:cNvPr id="18" name="TextBox 17"/>
          <p:cNvSpPr txBox="1"/>
          <p:nvPr/>
        </p:nvSpPr>
        <p:spPr>
          <a:xfrm>
            <a:off x="457200" y="4428739"/>
            <a:ext cx="11090553" cy="518159"/>
          </a:xfrm>
          <a:prstGeom prst="rect">
            <a:avLst/>
          </a:prstGeom>
          <a:noFill/>
        </p:spPr>
        <p:txBody>
          <a:bodyPr wrap="none" lIns="0" rIns="0">
            <a:noAutofit/>
          </a:bodyPr>
          <a:lstStyle/>
          <a:p>
            <a:pPr algn="l"/>
            <a:r>
              <a:rPr sz="3400" b="0" i="0">
                <a:solidFill>
                  <a:srgbClr val="D4D4D4"/>
                </a:solidFill>
                <a:latin typeface="Arial"/>
              </a:rPr>
              <a:t>Output only the inputs, one per line.</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28</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Ask for One Axis at a Time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Twenty empty-ish inputs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Twenty malformed ones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Twenty adversarial ones</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Twenty out of scope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29</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The Trap of Generated Inputs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They rhyme with each other</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All broken the same way</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Too polite to be adversarial</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Plausible, but never weird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30</a:t>
            </a:fld>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A Hundred Inputs, Spread</a:t>
            </a:r>
          </a:p>
        </p:txBody>
      </p:sp>
      <p:sp>
        <p:nvSpPr>
          <p:cNvPr id="3" name="TextBox 2"/>
          <p:cNvSpPr txBox="1"/>
          <p:nvPr/>
        </p:nvSpPr>
        <p:spPr>
          <a:xfrm>
            <a:off x="457200" y="1499616"/>
            <a:ext cx="2814032" cy="518159"/>
          </a:xfrm>
          <a:prstGeom prst="rect">
            <a:avLst/>
          </a:prstGeom>
          <a:noFill/>
        </p:spPr>
        <p:txBody>
          <a:bodyPr wrap="none" lIns="0" rIns="0">
            <a:noAutofit/>
          </a:bodyPr>
          <a:lstStyle/>
          <a:p>
            <a:pPr algn="l"/>
            <a:r>
              <a:rPr sz="3400" b="1" i="0">
                <a:solidFill>
                  <a:srgbClr val="123A6B"/>
                </a:solidFill>
                <a:latin typeface="Arial"/>
              </a:rPr>
              <a:t>Axis</a:t>
            </a:r>
          </a:p>
        </p:txBody>
      </p:sp>
      <p:sp>
        <p:nvSpPr>
          <p:cNvPr id="4" name="TextBox 3"/>
          <p:cNvSpPr txBox="1"/>
          <p:nvPr/>
        </p:nvSpPr>
        <p:spPr>
          <a:xfrm>
            <a:off x="3819872" y="1499616"/>
            <a:ext cx="5556766" cy="518159"/>
          </a:xfrm>
          <a:prstGeom prst="rect">
            <a:avLst/>
          </a:prstGeom>
          <a:noFill/>
        </p:spPr>
        <p:txBody>
          <a:bodyPr wrap="none" lIns="0" rIns="0">
            <a:noAutofit/>
          </a:bodyPr>
          <a:lstStyle/>
          <a:p>
            <a:pPr algn="l"/>
            <a:r>
              <a:rPr sz="3400" b="1" i="0">
                <a:solidFill>
                  <a:srgbClr val="123A6B"/>
                </a:solidFill>
                <a:latin typeface="Arial"/>
              </a:rPr>
              <a:t>How to ask for it</a:t>
            </a:r>
          </a:p>
        </p:txBody>
      </p:sp>
      <p:sp>
        <p:nvSpPr>
          <p:cNvPr id="5" name="Rectangle 4"/>
          <p:cNvSpPr/>
          <p:nvPr/>
        </p:nvSpPr>
        <p:spPr>
          <a:xfrm>
            <a:off x="457200" y="2072639"/>
            <a:ext cx="8889159"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2814032" cy="452323"/>
          </a:xfrm>
          <a:prstGeom prst="rect">
            <a:avLst/>
          </a:prstGeom>
          <a:noFill/>
        </p:spPr>
        <p:txBody>
          <a:bodyPr wrap="none" lIns="0" rIns="0">
            <a:noAutofit/>
          </a:bodyPr>
          <a:lstStyle/>
          <a:p>
            <a:pPr algn="l"/>
            <a:r>
              <a:rPr sz="3400" b="0" i="0">
                <a:solidFill>
                  <a:srgbClr val="0A2240"/>
                </a:solidFill>
                <a:latin typeface="Arial"/>
              </a:rPr>
              <a:t>Empty</a:t>
            </a:r>
          </a:p>
        </p:txBody>
      </p:sp>
      <p:sp>
        <p:nvSpPr>
          <p:cNvPr id="7" name="TextBox 6"/>
          <p:cNvSpPr txBox="1"/>
          <p:nvPr/>
        </p:nvSpPr>
        <p:spPr>
          <a:xfrm>
            <a:off x="3819872" y="2401823"/>
            <a:ext cx="8372128" cy="452323"/>
          </a:xfrm>
          <a:prstGeom prst="rect">
            <a:avLst/>
          </a:prstGeom>
          <a:noFill/>
        </p:spPr>
        <p:txBody>
          <a:bodyPr wrap="none" lIns="0" rIns="0">
            <a:noAutofit/>
          </a:bodyPr>
          <a:lstStyle/>
          <a:p>
            <a:pPr algn="l"/>
            <a:r>
              <a:rPr sz="3400" b="0" i="0">
                <a:solidFill>
                  <a:srgbClr val="0A2240"/>
                </a:solidFill>
                <a:latin typeface="Arial"/>
              </a:rPr>
              <a:t>Nothing, blank, whitespace</a:t>
            </a:r>
          </a:p>
        </p:txBody>
      </p:sp>
      <p:sp>
        <p:nvSpPr>
          <p:cNvPr id="8" name="TextBox 7"/>
          <p:cNvSpPr txBox="1"/>
          <p:nvPr/>
        </p:nvSpPr>
        <p:spPr>
          <a:xfrm>
            <a:off x="457200" y="3128466"/>
            <a:ext cx="3446344" cy="452323"/>
          </a:xfrm>
          <a:prstGeom prst="rect">
            <a:avLst/>
          </a:prstGeom>
          <a:noFill/>
        </p:spPr>
        <p:txBody>
          <a:bodyPr wrap="none" lIns="0" rIns="0">
            <a:noAutofit/>
          </a:bodyPr>
          <a:lstStyle/>
          <a:p>
            <a:pPr algn="l"/>
            <a:r>
              <a:rPr sz="3400" b="0" i="0">
                <a:solidFill>
                  <a:srgbClr val="0A2240"/>
                </a:solidFill>
                <a:latin typeface="Arial"/>
              </a:rPr>
              <a:t>Malformed</a:t>
            </a:r>
          </a:p>
        </p:txBody>
      </p:sp>
      <p:sp>
        <p:nvSpPr>
          <p:cNvPr id="9" name="TextBox 8"/>
          <p:cNvSpPr txBox="1"/>
          <p:nvPr/>
        </p:nvSpPr>
        <p:spPr>
          <a:xfrm>
            <a:off x="3819872" y="3128466"/>
            <a:ext cx="6967537" cy="452323"/>
          </a:xfrm>
          <a:prstGeom prst="rect">
            <a:avLst/>
          </a:prstGeom>
          <a:noFill/>
        </p:spPr>
        <p:txBody>
          <a:bodyPr wrap="none" lIns="0" rIns="0">
            <a:noAutofit/>
          </a:bodyPr>
          <a:lstStyle/>
          <a:p>
            <a:pPr algn="l"/>
            <a:r>
              <a:rPr sz="3400" b="0" i="0">
                <a:solidFill>
                  <a:srgbClr val="0A2240"/>
                </a:solidFill>
                <a:latin typeface="Arial"/>
              </a:rPr>
              <a:t>Wrong type, truncated</a:t>
            </a:r>
          </a:p>
        </p:txBody>
      </p:sp>
      <p:sp>
        <p:nvSpPr>
          <p:cNvPr id="10" name="TextBox 9"/>
          <p:cNvSpPr txBox="1"/>
          <p:nvPr/>
        </p:nvSpPr>
        <p:spPr>
          <a:xfrm>
            <a:off x="457200" y="3855109"/>
            <a:ext cx="3638628" cy="452323"/>
          </a:xfrm>
          <a:prstGeom prst="rect">
            <a:avLst/>
          </a:prstGeom>
          <a:noFill/>
        </p:spPr>
        <p:txBody>
          <a:bodyPr wrap="none" lIns="0" rIns="0">
            <a:noAutofit/>
          </a:bodyPr>
          <a:lstStyle/>
          <a:p>
            <a:pPr algn="l"/>
            <a:r>
              <a:rPr sz="3400" b="0" i="0">
                <a:solidFill>
                  <a:srgbClr val="0A2240"/>
                </a:solidFill>
                <a:latin typeface="Arial"/>
              </a:rPr>
              <a:t>Adversarial</a:t>
            </a:r>
          </a:p>
        </p:txBody>
      </p:sp>
      <p:sp>
        <p:nvSpPr>
          <p:cNvPr id="11" name="TextBox 10"/>
          <p:cNvSpPr txBox="1"/>
          <p:nvPr/>
        </p:nvSpPr>
        <p:spPr>
          <a:xfrm>
            <a:off x="3819872" y="3855109"/>
            <a:ext cx="6058396" cy="452323"/>
          </a:xfrm>
          <a:prstGeom prst="rect">
            <a:avLst/>
          </a:prstGeom>
          <a:noFill/>
        </p:spPr>
        <p:txBody>
          <a:bodyPr wrap="none" lIns="0" rIns="0">
            <a:noAutofit/>
          </a:bodyPr>
          <a:lstStyle/>
          <a:p>
            <a:pPr algn="l"/>
            <a:r>
              <a:rPr sz="3400" b="0" i="0">
                <a:solidFill>
                  <a:srgbClr val="0A2240"/>
                </a:solidFill>
                <a:latin typeface="Arial"/>
              </a:rPr>
              <a:t>Hidden instructions</a:t>
            </a:r>
          </a:p>
        </p:txBody>
      </p:sp>
      <p:sp>
        <p:nvSpPr>
          <p:cNvPr id="12" name="TextBox 11"/>
          <p:cNvSpPr txBox="1"/>
          <p:nvPr/>
        </p:nvSpPr>
        <p:spPr>
          <a:xfrm>
            <a:off x="457200" y="4581752"/>
            <a:ext cx="4100115" cy="452323"/>
          </a:xfrm>
          <a:prstGeom prst="rect">
            <a:avLst/>
          </a:prstGeom>
          <a:noFill/>
        </p:spPr>
        <p:txBody>
          <a:bodyPr wrap="none" lIns="0" rIns="0">
            <a:noAutofit/>
          </a:bodyPr>
          <a:lstStyle/>
          <a:p>
            <a:pPr algn="l"/>
            <a:r>
              <a:rPr sz="3400" b="0" i="0">
                <a:solidFill>
                  <a:srgbClr val="0A2240"/>
                </a:solidFill>
                <a:latin typeface="Arial"/>
              </a:rPr>
              <a:t>Out of scope</a:t>
            </a:r>
          </a:p>
        </p:txBody>
      </p:sp>
      <p:sp>
        <p:nvSpPr>
          <p:cNvPr id="13" name="TextBox 12"/>
          <p:cNvSpPr txBox="1"/>
          <p:nvPr/>
        </p:nvSpPr>
        <p:spPr>
          <a:xfrm>
            <a:off x="3819872" y="4581752"/>
            <a:ext cx="6750288" cy="452323"/>
          </a:xfrm>
          <a:prstGeom prst="rect">
            <a:avLst/>
          </a:prstGeom>
          <a:noFill/>
        </p:spPr>
        <p:txBody>
          <a:bodyPr wrap="none" lIns="0" rIns="0">
            <a:noAutofit/>
          </a:bodyPr>
          <a:lstStyle/>
          <a:p>
            <a:pPr algn="l"/>
            <a:r>
              <a:rPr sz="3400" b="0" i="0">
                <a:solidFill>
                  <a:srgbClr val="0A2240"/>
                </a:solidFill>
                <a:latin typeface="Arial"/>
              </a:rPr>
              <a:t>Real, but not your job</a:t>
            </a:r>
          </a:p>
        </p:txBody>
      </p:sp>
      <p:sp>
        <p:nvSpPr>
          <p:cNvPr id="14" name="TextBox 13"/>
          <p:cNvSpPr txBox="1"/>
          <p:nvPr/>
        </p:nvSpPr>
        <p:spPr>
          <a:xfrm>
            <a:off x="457200" y="5308395"/>
            <a:ext cx="2814032" cy="452323"/>
          </a:xfrm>
          <a:prstGeom prst="rect">
            <a:avLst/>
          </a:prstGeom>
          <a:noFill/>
        </p:spPr>
        <p:txBody>
          <a:bodyPr wrap="none" lIns="0" rIns="0">
            <a:noAutofit/>
          </a:bodyPr>
          <a:lstStyle/>
          <a:p>
            <a:pPr algn="l"/>
            <a:r>
              <a:rPr sz="3400" b="0" i="0">
                <a:solidFill>
                  <a:srgbClr val="0A2240"/>
                </a:solidFill>
                <a:latin typeface="Arial"/>
              </a:rPr>
              <a:t>At scale</a:t>
            </a:r>
          </a:p>
        </p:txBody>
      </p:sp>
      <p:sp>
        <p:nvSpPr>
          <p:cNvPr id="15" name="TextBox 14"/>
          <p:cNvSpPr txBox="1"/>
          <p:nvPr/>
        </p:nvSpPr>
        <p:spPr>
          <a:xfrm>
            <a:off x="3819872" y="5308395"/>
            <a:ext cx="7557214" cy="452323"/>
          </a:xfrm>
          <a:prstGeom prst="rect">
            <a:avLst/>
          </a:prstGeom>
          <a:noFill/>
        </p:spPr>
        <p:txBody>
          <a:bodyPr wrap="none" lIns="0" rIns="0">
            <a:noAutofit/>
          </a:bodyPr>
          <a:lstStyle/>
          <a:p>
            <a:pPr algn="l"/>
            <a:r>
              <a:rPr sz="3400" b="0" i="0">
                <a:solidFill>
                  <a:srgbClr val="0A2240"/>
                </a:solidFill>
                <a:latin typeface="Arial"/>
              </a:rPr>
              <a:t>Huge, repeated, parallel</a:t>
            </a:r>
          </a:p>
        </p:txBody>
      </p:sp>
      <p:sp>
        <p:nvSpPr>
          <p:cNvPr id="16" name="TextBox 1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31</a:t>
            </a:fld>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Turning the Probe Loose</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Point it at their URL</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The brief from 3.1, one line changed</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730017" cy="640080"/>
          </a:xfrm>
          <a:prstGeom prst="rect">
            <a:avLst/>
          </a:prstGeom>
          <a:noFill/>
        </p:spPr>
        <p:txBody>
          <a:bodyPr wrap="none" lIns="0" rIns="0">
            <a:noAutofit/>
          </a:bodyPr>
          <a:lstStyle/>
          <a:p>
            <a:pPr algn="l"/>
            <a:r>
              <a:rPr sz="4200" b="1" i="0">
                <a:solidFill>
                  <a:srgbClr val="123A6B"/>
                </a:solidFill>
                <a:latin typeface="Arial"/>
              </a:rPr>
              <a:t>Feed it the generated inputs</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Its starting list, not its only one</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Let it run, and watch it</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Stopping rule armed, someone looking</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32</a:t>
            </a:fld>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94268" cy="768096"/>
          </a:xfrm>
          <a:prstGeom prst="rect">
            <a:avLst/>
          </a:prstGeom>
          <a:noFill/>
        </p:spPr>
        <p:txBody>
          <a:bodyPr wrap="none" lIns="0" rIns="0">
            <a:noAutofit/>
          </a:bodyPr>
          <a:lstStyle/>
          <a:p>
            <a:pPr algn="l"/>
            <a:r>
              <a:rPr sz="4200" b="1" i="0">
                <a:solidFill>
                  <a:srgbClr val="0072CE"/>
                </a:solidFill>
                <a:latin typeface="Arial"/>
              </a:rPr>
              <a:t>Before You Point It at Them</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Tell them the probe is starting</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Agree a rate you both accept</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Never test during their demo</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Do not leave junk they must clear</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33</a:t>
            </a:fld>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Rules at Volume</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Do not flood them</a:t>
            </a:r>
          </a:p>
        </p:txBody>
      </p:sp>
      <p:sp>
        <p:nvSpPr>
          <p:cNvPr id="4" name="TextBox 3"/>
          <p:cNvSpPr txBox="1"/>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Space the requests; you share one URL</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Cluster before logging</a:t>
            </a:r>
          </a:p>
        </p:txBody>
      </p:sp>
      <p:sp>
        <p:nvSpPr>
          <p:cNvPr id="6" name="TextBox 5"/>
          <p:cNvSpPr txBox="1"/>
          <p:nvPr/>
        </p:nvSpPr>
        <p:spPr>
          <a:xfrm>
            <a:off x="457200" y="3621023"/>
            <a:ext cx="11734800" cy="627889"/>
          </a:xfrm>
          <a:prstGeom prst="rect">
            <a:avLst/>
          </a:prstGeom>
          <a:noFill/>
        </p:spPr>
        <p:txBody>
          <a:bodyPr wrap="none" lIns="0" rIns="0">
            <a:noAutofit/>
          </a:bodyPr>
          <a:lstStyle/>
          <a:p>
            <a:pPr algn="l"/>
            <a:r>
              <a:rPr sz="3400" b="0" i="0">
                <a:solidFill>
                  <a:srgbClr val="0A2240"/>
                </a:solidFill>
                <a:latin typeface="Arial"/>
              </a:rPr>
              <a:t>Forty crashes of one cause is one finding</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Read a sample yourself</a:t>
            </a:r>
          </a:p>
        </p:txBody>
      </p:sp>
      <p:sp>
        <p:nvSpPr>
          <p:cNvPr id="8" name="TextBox 7"/>
          <p:cNvSpPr txBox="1"/>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A pass rate you never looked at is a guess</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34</a:t>
            </a:fld>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Triaging the Flood</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Group by what actually broke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Keep the smallest example of each</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Drop what their caveats admit</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Rank what is left by severity</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35</a:t>
            </a:fld>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"Volume is free. Attention is not."</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5B6B82"/>
                </a:solidFill>
                <a:latin typeface="Arial"/>
              </a:rPr>
              <a:t>- Objective two, with the catch</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36</a:t>
            </a:fld>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03</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The Log</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37</a:t>
            </a:fld>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1195304" cy="1005840"/>
          </a:xfrm>
          <a:prstGeom prst="rect">
            <a:avLst/>
          </a:prstGeom>
          <a:noFill/>
        </p:spPr>
        <p:txBody>
          <a:bodyPr wrap="none" lIns="0" rIns="0">
            <a:noAutofit/>
          </a:bodyPr>
          <a:lstStyle/>
          <a:p>
            <a:pPr algn="l"/>
            <a:r>
              <a:rPr sz="6000" b="1" i="0">
                <a:solidFill>
                  <a:srgbClr val="0072CE"/>
                </a:solidFill>
                <a:latin typeface="Arial"/>
              </a:rPr>
              <a:t>Reproduction steps</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Enough for a stranger to see it themselves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38</a:t>
            </a:fld>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377612" cy="768096"/>
          </a:xfrm>
          <a:prstGeom prst="rect">
            <a:avLst/>
          </a:prstGeom>
          <a:noFill/>
        </p:spPr>
        <p:txBody>
          <a:bodyPr wrap="none" lIns="0" rIns="0">
            <a:noAutofit/>
          </a:bodyPr>
          <a:lstStyle/>
          <a:p>
            <a:pPr algn="l"/>
            <a:r>
              <a:rPr sz="4200" b="1" i="0">
                <a:solidFill>
                  <a:srgbClr val="0072CE"/>
                </a:solidFill>
                <a:latin typeface="Arial"/>
              </a:rPr>
              <a:t>Every Entry Has Five Fields</a:t>
            </a:r>
          </a:p>
        </p:txBody>
      </p:sp>
      <p:sp>
        <p:nvSpPr>
          <p:cNvPr id="3" name="TextBox 2"/>
          <p:cNvSpPr txBox="1"/>
          <p:nvPr/>
        </p:nvSpPr>
        <p:spPr>
          <a:xfrm>
            <a:off x="457200" y="1499616"/>
            <a:ext cx="4326808" cy="518159"/>
          </a:xfrm>
          <a:prstGeom prst="rect">
            <a:avLst/>
          </a:prstGeom>
          <a:noFill/>
        </p:spPr>
        <p:txBody>
          <a:bodyPr wrap="none" lIns="0" rIns="0">
            <a:noAutofit/>
          </a:bodyPr>
          <a:lstStyle/>
          <a:p>
            <a:pPr algn="l"/>
            <a:r>
              <a:rPr sz="3400" b="1" i="0">
                <a:solidFill>
                  <a:srgbClr val="123A6B"/>
                </a:solidFill>
                <a:latin typeface="Arial"/>
              </a:rPr>
              <a:t>Field</a:t>
            </a:r>
          </a:p>
        </p:txBody>
      </p:sp>
      <p:sp>
        <p:nvSpPr>
          <p:cNvPr id="4" name="TextBox 3"/>
          <p:cNvSpPr txBox="1"/>
          <p:nvPr/>
        </p:nvSpPr>
        <p:spPr>
          <a:xfrm>
            <a:off x="5332648" y="1499616"/>
            <a:ext cx="4397439" cy="518159"/>
          </a:xfrm>
          <a:prstGeom prst="rect">
            <a:avLst/>
          </a:prstGeom>
          <a:noFill/>
        </p:spPr>
        <p:txBody>
          <a:bodyPr wrap="none" lIns="0" rIns="0">
            <a:noAutofit/>
          </a:bodyPr>
          <a:lstStyle/>
          <a:p>
            <a:pPr algn="l"/>
            <a:r>
              <a:rPr sz="3400" b="1" i="0">
                <a:solidFill>
                  <a:srgbClr val="123A6B"/>
                </a:solidFill>
                <a:latin typeface="Arial"/>
              </a:rPr>
              <a:t>Example</a:t>
            </a:r>
          </a:p>
        </p:txBody>
      </p:sp>
      <p:sp>
        <p:nvSpPr>
          <p:cNvPr id="5" name="Rectangle 4"/>
          <p:cNvSpPr/>
          <p:nvPr/>
        </p:nvSpPr>
        <p:spPr>
          <a:xfrm>
            <a:off x="457200" y="2072639"/>
            <a:ext cx="9272887"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4599046" cy="452323"/>
          </a:xfrm>
          <a:prstGeom prst="rect">
            <a:avLst/>
          </a:prstGeom>
          <a:noFill/>
        </p:spPr>
        <p:txBody>
          <a:bodyPr wrap="none" lIns="0" rIns="0">
            <a:noAutofit/>
          </a:bodyPr>
          <a:lstStyle/>
          <a:p>
            <a:pPr algn="l"/>
            <a:r>
              <a:rPr sz="3400" b="0" i="0">
                <a:solidFill>
                  <a:srgbClr val="0A2240"/>
                </a:solidFill>
                <a:latin typeface="Arial"/>
              </a:rPr>
              <a:t>What you sent</a:t>
            </a:r>
          </a:p>
        </p:txBody>
      </p:sp>
      <p:sp>
        <p:nvSpPr>
          <p:cNvPr id="7" name="TextBox 6"/>
          <p:cNvSpPr txBox="1"/>
          <p:nvPr/>
        </p:nvSpPr>
        <p:spPr>
          <a:xfrm>
            <a:off x="5332648" y="2401823"/>
            <a:ext cx="4397439" cy="452323"/>
          </a:xfrm>
          <a:prstGeom prst="rect">
            <a:avLst/>
          </a:prstGeom>
          <a:noFill/>
        </p:spPr>
        <p:txBody>
          <a:bodyPr wrap="none" lIns="0" rIns="0">
            <a:noAutofit/>
          </a:bodyPr>
          <a:lstStyle/>
          <a:p>
            <a:pPr algn="l"/>
            <a:r>
              <a:rPr sz="3400" b="0" i="0">
                <a:solidFill>
                  <a:srgbClr val="0A2240"/>
                </a:solidFill>
                <a:latin typeface="Arial"/>
              </a:rPr>
              <a:t>empty.pdf</a:t>
            </a:r>
          </a:p>
        </p:txBody>
      </p:sp>
      <p:sp>
        <p:nvSpPr>
          <p:cNvPr id="8" name="TextBox 7"/>
          <p:cNvSpPr txBox="1"/>
          <p:nvPr/>
        </p:nvSpPr>
        <p:spPr>
          <a:xfrm>
            <a:off x="457200" y="3128466"/>
            <a:ext cx="5328046" cy="452323"/>
          </a:xfrm>
          <a:prstGeom prst="rect">
            <a:avLst/>
          </a:prstGeom>
          <a:noFill/>
        </p:spPr>
        <p:txBody>
          <a:bodyPr wrap="none" lIns="0" rIns="0">
            <a:noAutofit/>
          </a:bodyPr>
          <a:lstStyle/>
          <a:p>
            <a:pPr algn="l"/>
            <a:r>
              <a:rPr sz="3400" b="0" i="0">
                <a:solidFill>
                  <a:srgbClr val="0A2240"/>
                </a:solidFill>
                <a:latin typeface="Arial"/>
              </a:rPr>
              <a:t>What came back</a:t>
            </a:r>
          </a:p>
        </p:txBody>
      </p:sp>
      <p:sp>
        <p:nvSpPr>
          <p:cNvPr id="9" name="TextBox 8"/>
          <p:cNvSpPr txBox="1"/>
          <p:nvPr/>
        </p:nvSpPr>
        <p:spPr>
          <a:xfrm>
            <a:off x="5332648" y="3128466"/>
            <a:ext cx="5023088" cy="452323"/>
          </a:xfrm>
          <a:prstGeom prst="rect">
            <a:avLst/>
          </a:prstGeom>
          <a:noFill/>
        </p:spPr>
        <p:txBody>
          <a:bodyPr wrap="none" lIns="0" rIns="0">
            <a:noAutofit/>
          </a:bodyPr>
          <a:lstStyle/>
          <a:p>
            <a:pPr algn="l"/>
            <a:r>
              <a:rPr sz="3400" b="0" i="0">
                <a:solidFill>
                  <a:srgbClr val="0A2240"/>
                </a:solidFill>
                <a:latin typeface="Arial"/>
              </a:rPr>
              <a:t>Spinner, no end</a:t>
            </a:r>
          </a:p>
        </p:txBody>
      </p:sp>
      <p:sp>
        <p:nvSpPr>
          <p:cNvPr id="10" name="TextBox 9"/>
          <p:cNvSpPr txBox="1"/>
          <p:nvPr/>
        </p:nvSpPr>
        <p:spPr>
          <a:xfrm>
            <a:off x="457200" y="3855109"/>
            <a:ext cx="6520556" cy="452323"/>
          </a:xfrm>
          <a:prstGeom prst="rect">
            <a:avLst/>
          </a:prstGeom>
          <a:noFill/>
        </p:spPr>
        <p:txBody>
          <a:bodyPr wrap="none" lIns="0" rIns="0">
            <a:noAutofit/>
          </a:bodyPr>
          <a:lstStyle/>
          <a:p>
            <a:pPr algn="l"/>
            <a:r>
              <a:rPr sz="3400" b="0" i="0">
                <a:solidFill>
                  <a:srgbClr val="0A2240"/>
                </a:solidFill>
                <a:latin typeface="Arial"/>
              </a:rPr>
              <a:t>What should happen</a:t>
            </a:r>
          </a:p>
        </p:txBody>
      </p:sp>
      <p:sp>
        <p:nvSpPr>
          <p:cNvPr id="11" name="TextBox 10"/>
          <p:cNvSpPr txBox="1"/>
          <p:nvPr/>
        </p:nvSpPr>
        <p:spPr>
          <a:xfrm>
            <a:off x="5332648" y="3855109"/>
            <a:ext cx="4674948" cy="452323"/>
          </a:xfrm>
          <a:prstGeom prst="rect">
            <a:avLst/>
          </a:prstGeom>
          <a:noFill/>
        </p:spPr>
        <p:txBody>
          <a:bodyPr wrap="none" lIns="0" rIns="0">
            <a:noAutofit/>
          </a:bodyPr>
          <a:lstStyle/>
          <a:p>
            <a:pPr algn="l"/>
            <a:r>
              <a:rPr sz="3400" b="0" i="0">
                <a:solidFill>
                  <a:srgbClr val="0A2240"/>
                </a:solidFill>
                <a:latin typeface="Arial"/>
              </a:rPr>
              <a:t>Say it is empty</a:t>
            </a:r>
          </a:p>
        </p:txBody>
      </p:sp>
      <p:sp>
        <p:nvSpPr>
          <p:cNvPr id="12" name="TextBox 11"/>
          <p:cNvSpPr txBox="1"/>
          <p:nvPr/>
        </p:nvSpPr>
        <p:spPr>
          <a:xfrm>
            <a:off x="457200" y="4581752"/>
            <a:ext cx="4326808" cy="452323"/>
          </a:xfrm>
          <a:prstGeom prst="rect">
            <a:avLst/>
          </a:prstGeom>
          <a:noFill/>
        </p:spPr>
        <p:txBody>
          <a:bodyPr wrap="none" lIns="0" rIns="0">
            <a:noAutofit/>
          </a:bodyPr>
          <a:lstStyle/>
          <a:p>
            <a:pPr algn="l"/>
            <a:r>
              <a:rPr sz="3400" b="0" i="0">
                <a:solidFill>
                  <a:srgbClr val="0A2240"/>
                </a:solidFill>
                <a:latin typeface="Arial"/>
              </a:rPr>
              <a:t>Severity</a:t>
            </a:r>
          </a:p>
        </p:txBody>
      </p:sp>
      <p:sp>
        <p:nvSpPr>
          <p:cNvPr id="13" name="TextBox 12"/>
          <p:cNvSpPr txBox="1"/>
          <p:nvPr/>
        </p:nvSpPr>
        <p:spPr>
          <a:xfrm>
            <a:off x="5332648" y="4581752"/>
            <a:ext cx="4397439" cy="452323"/>
          </a:xfrm>
          <a:prstGeom prst="rect">
            <a:avLst/>
          </a:prstGeom>
          <a:noFill/>
        </p:spPr>
        <p:txBody>
          <a:bodyPr wrap="none" lIns="0" rIns="0">
            <a:noAutofit/>
          </a:bodyPr>
          <a:lstStyle/>
          <a:p>
            <a:pPr algn="l"/>
            <a:r>
              <a:rPr sz="3400" b="0" i="0">
                <a:solidFill>
                  <a:srgbClr val="0A2240"/>
                </a:solidFill>
                <a:latin typeface="Arial"/>
              </a:rPr>
              <a:t>High</a:t>
            </a:r>
          </a:p>
        </p:txBody>
      </p:sp>
      <p:sp>
        <p:nvSpPr>
          <p:cNvPr id="14" name="TextBox 13"/>
          <p:cNvSpPr txBox="1"/>
          <p:nvPr/>
        </p:nvSpPr>
        <p:spPr>
          <a:xfrm>
            <a:off x="457200" y="5308395"/>
            <a:ext cx="4326808" cy="452323"/>
          </a:xfrm>
          <a:prstGeom prst="rect">
            <a:avLst/>
          </a:prstGeom>
          <a:noFill/>
        </p:spPr>
        <p:txBody>
          <a:bodyPr wrap="none" lIns="0" rIns="0">
            <a:noAutofit/>
          </a:bodyPr>
          <a:lstStyle/>
          <a:p>
            <a:pPr algn="l"/>
            <a:r>
              <a:rPr sz="3400" b="0" i="0">
                <a:solidFill>
                  <a:srgbClr val="0A2240"/>
                </a:solidFill>
                <a:latin typeface="Arial"/>
              </a:rPr>
              <a:t>Repro</a:t>
            </a:r>
          </a:p>
        </p:txBody>
      </p:sp>
      <p:sp>
        <p:nvSpPr>
          <p:cNvPr id="15" name="TextBox 14"/>
          <p:cNvSpPr txBox="1"/>
          <p:nvPr/>
        </p:nvSpPr>
        <p:spPr>
          <a:xfrm>
            <a:off x="5332648" y="5308395"/>
            <a:ext cx="6633566" cy="452323"/>
          </a:xfrm>
          <a:prstGeom prst="rect">
            <a:avLst/>
          </a:prstGeom>
          <a:noFill/>
        </p:spPr>
        <p:txBody>
          <a:bodyPr wrap="none" lIns="0" rIns="0">
            <a:noAutofit/>
          </a:bodyPr>
          <a:lstStyle/>
          <a:p>
            <a:pPr algn="l"/>
            <a:r>
              <a:rPr sz="3400" b="0" i="0">
                <a:solidFill>
                  <a:srgbClr val="0A2240"/>
                </a:solidFill>
                <a:latin typeface="Arial"/>
              </a:rPr>
              <a:t>Open URL, click Run</a:t>
            </a:r>
          </a:p>
        </p:txBody>
      </p:sp>
      <p:sp>
        <p:nvSpPr>
          <p:cNvPr id="16" name="TextBox 1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39</a:t>
            </a:fld>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734800" cy="640080"/>
          </a:xfrm>
          <a:prstGeom prst="rect">
            <a:avLst/>
          </a:prstGeom>
          <a:noFill/>
        </p:spPr>
        <p:txBody>
          <a:bodyPr wrap="none" lIns="0" rIns="0">
            <a:noAutofit/>
          </a:bodyPr>
          <a:lstStyle/>
          <a:p>
            <a:pPr algn="l"/>
            <a:r>
              <a:rPr sz="4200" b="0" i="0">
                <a:solidFill>
                  <a:srgbClr val="D4D4D4"/>
                </a:solidFill>
                <a:latin typeface="Arial"/>
              </a:rPr>
              <a:t>FINDINGS.md, handed over as a file</a:t>
            </a:r>
          </a:p>
        </p:txBody>
      </p:sp>
      <p:sp>
        <p:nvSpPr>
          <p:cNvPr id="6" name="TextBox 5"/>
          <p:cNvSpPr txBox="1"/>
          <p:nvPr/>
        </p:nvSpPr>
        <p:spPr>
          <a:xfrm>
            <a:off x="457200" y="1837944"/>
            <a:ext cx="7669550" cy="518159"/>
          </a:xfrm>
          <a:prstGeom prst="rect">
            <a:avLst/>
          </a:prstGeom>
          <a:noFill/>
        </p:spPr>
        <p:txBody>
          <a:bodyPr wrap="none" lIns="0" rIns="0">
            <a:noAutofit/>
          </a:bodyPr>
          <a:lstStyle/>
          <a:p>
            <a:pPr algn="l"/>
            <a:r>
              <a:rPr sz="3400" b="0" i="0">
                <a:solidFill>
                  <a:srgbClr val="6A9955"/>
                </a:solidFill>
                <a:latin typeface="Arial"/>
              </a:rPr>
              <a:t>## F-03  severity: critical</a:t>
            </a:r>
          </a:p>
        </p:txBody>
      </p:sp>
      <p:sp>
        <p:nvSpPr>
          <p:cNvPr id="7" name="TextBox 6"/>
          <p:cNvSpPr txBox="1"/>
          <p:nvPr/>
        </p:nvSpPr>
        <p:spPr>
          <a:xfrm>
            <a:off x="457200" y="2356103"/>
            <a:ext cx="4291388" cy="518159"/>
          </a:xfrm>
          <a:prstGeom prst="rect">
            <a:avLst/>
          </a:prstGeom>
          <a:noFill/>
        </p:spPr>
        <p:txBody>
          <a:bodyPr wrap="none" lIns="0" rIns="0">
            <a:noAutofit/>
          </a:bodyPr>
          <a:lstStyle/>
          <a:p>
            <a:pPr algn="l"/>
            <a:r>
              <a:rPr sz="3400" b="0" i="0">
                <a:solidFill>
                  <a:srgbClr val="D4D4D4"/>
                </a:solidFill>
                <a:latin typeface="Arial"/>
              </a:rPr>
              <a:t>sent:   report-</a:t>
            </a:r>
          </a:p>
        </p:txBody>
      </p:sp>
      <p:sp>
        <p:nvSpPr>
          <p:cNvPr id="8" name="TextBox 7"/>
          <p:cNvSpPr txBox="1"/>
          <p:nvPr/>
        </p:nvSpPr>
        <p:spPr>
          <a:xfrm>
            <a:off x="3025018" y="2356103"/>
            <a:ext cx="1719817" cy="518159"/>
          </a:xfrm>
          <a:prstGeom prst="rect">
            <a:avLst/>
          </a:prstGeom>
          <a:noFill/>
        </p:spPr>
        <p:txBody>
          <a:bodyPr wrap="none" lIns="0" rIns="0">
            <a:noAutofit/>
          </a:bodyPr>
          <a:lstStyle/>
          <a:p>
            <a:pPr algn="l"/>
            <a:r>
              <a:rPr sz="3400" b="0" i="0">
                <a:solidFill>
                  <a:srgbClr val="B5CEA8"/>
                </a:solidFill>
                <a:latin typeface="Arial"/>
              </a:rPr>
              <a:t>2019</a:t>
            </a:r>
          </a:p>
        </p:txBody>
      </p:sp>
      <p:sp>
        <p:nvSpPr>
          <p:cNvPr id="9" name="TextBox 8"/>
          <p:cNvSpPr txBox="1"/>
          <p:nvPr/>
        </p:nvSpPr>
        <p:spPr>
          <a:xfrm>
            <a:off x="3985605" y="2356103"/>
            <a:ext cx="4714081" cy="518159"/>
          </a:xfrm>
          <a:prstGeom prst="rect">
            <a:avLst/>
          </a:prstGeom>
          <a:noFill/>
        </p:spPr>
        <p:txBody>
          <a:bodyPr wrap="none" lIns="0" rIns="0">
            <a:noAutofit/>
          </a:bodyPr>
          <a:lstStyle/>
          <a:p>
            <a:pPr algn="l"/>
            <a:r>
              <a:rPr sz="3400" b="0" i="0">
                <a:solidFill>
                  <a:srgbClr val="D4D4D4"/>
                </a:solidFill>
                <a:latin typeface="Arial"/>
              </a:rPr>
              <a:t>.pdf (valid, old)</a:t>
            </a:r>
          </a:p>
        </p:txBody>
      </p:sp>
      <p:sp>
        <p:nvSpPr>
          <p:cNvPr id="10" name="TextBox 9"/>
          <p:cNvSpPr txBox="1"/>
          <p:nvPr/>
        </p:nvSpPr>
        <p:spPr>
          <a:xfrm>
            <a:off x="457200" y="2874262"/>
            <a:ext cx="9475688" cy="518159"/>
          </a:xfrm>
          <a:prstGeom prst="rect">
            <a:avLst/>
          </a:prstGeom>
          <a:noFill/>
        </p:spPr>
        <p:txBody>
          <a:bodyPr wrap="none" lIns="0" rIns="0">
            <a:noAutofit/>
          </a:bodyPr>
          <a:lstStyle/>
          <a:p>
            <a:pPr algn="l"/>
            <a:r>
              <a:rPr sz="3400" b="0" i="0">
                <a:solidFill>
                  <a:srgbClr val="D4D4D4"/>
                </a:solidFill>
                <a:latin typeface="Arial"/>
              </a:rPr>
              <a:t>got:    a confident summary of </a:t>
            </a:r>
          </a:p>
        </p:txBody>
      </p:sp>
      <p:sp>
        <p:nvSpPr>
          <p:cNvPr id="11" name="TextBox 10"/>
          <p:cNvSpPr txBox="1"/>
          <p:nvPr/>
        </p:nvSpPr>
        <p:spPr>
          <a:xfrm>
            <a:off x="6265205" y="2874262"/>
            <a:ext cx="1719817" cy="518159"/>
          </a:xfrm>
          <a:prstGeom prst="rect">
            <a:avLst/>
          </a:prstGeom>
          <a:noFill/>
        </p:spPr>
        <p:txBody>
          <a:bodyPr wrap="none" lIns="0" rIns="0">
            <a:noAutofit/>
          </a:bodyPr>
          <a:lstStyle/>
          <a:p>
            <a:pPr algn="l"/>
            <a:r>
              <a:rPr sz="3400" b="0" i="0">
                <a:solidFill>
                  <a:srgbClr val="B5CEA8"/>
                </a:solidFill>
                <a:latin typeface="Arial"/>
              </a:rPr>
              <a:t>2024</a:t>
            </a:r>
          </a:p>
        </p:txBody>
      </p:sp>
      <p:sp>
        <p:nvSpPr>
          <p:cNvPr id="12" name="TextBox 11"/>
          <p:cNvSpPr txBox="1"/>
          <p:nvPr/>
        </p:nvSpPr>
        <p:spPr>
          <a:xfrm>
            <a:off x="457200" y="3392421"/>
            <a:ext cx="4906366" cy="518159"/>
          </a:xfrm>
          <a:prstGeom prst="rect">
            <a:avLst/>
          </a:prstGeom>
          <a:noFill/>
        </p:spPr>
        <p:txBody>
          <a:bodyPr wrap="none" lIns="0" rIns="0">
            <a:noAutofit/>
          </a:bodyPr>
          <a:lstStyle/>
          <a:p>
            <a:pPr algn="l"/>
            <a:r>
              <a:rPr sz="3400" b="0" i="0">
                <a:solidFill>
                  <a:srgbClr val="D4D4D4"/>
                </a:solidFill>
                <a:latin typeface="Arial"/>
              </a:rPr>
              <a:t>expect: refuse, </a:t>
            </a:r>
          </a:p>
        </p:txBody>
      </p:sp>
      <p:sp>
        <p:nvSpPr>
          <p:cNvPr id="13" name="TextBox 12"/>
          <p:cNvSpPr txBox="1"/>
          <p:nvPr/>
        </p:nvSpPr>
        <p:spPr>
          <a:xfrm>
            <a:off x="3409379" y="3392421"/>
            <a:ext cx="797182" cy="518159"/>
          </a:xfrm>
          <a:prstGeom prst="rect">
            <a:avLst/>
          </a:prstGeom>
          <a:noFill/>
        </p:spPr>
        <p:txBody>
          <a:bodyPr wrap="none" lIns="0" rIns="0">
            <a:noAutofit/>
          </a:bodyPr>
          <a:lstStyle/>
          <a:p>
            <a:pPr algn="l"/>
            <a:r>
              <a:rPr sz="3400" b="0" i="0">
                <a:solidFill>
                  <a:srgbClr val="569CD6"/>
                </a:solidFill>
                <a:latin typeface="Arial"/>
              </a:rPr>
              <a:t>or</a:t>
            </a:r>
          </a:p>
        </p:txBody>
      </p:sp>
      <p:sp>
        <p:nvSpPr>
          <p:cNvPr id="14" name="TextBox 13"/>
          <p:cNvSpPr txBox="1"/>
          <p:nvPr/>
        </p:nvSpPr>
        <p:spPr>
          <a:xfrm>
            <a:off x="3793319" y="3392421"/>
            <a:ext cx="4944150" cy="518159"/>
          </a:xfrm>
          <a:prstGeom prst="rect">
            <a:avLst/>
          </a:prstGeom>
          <a:noFill/>
        </p:spPr>
        <p:txBody>
          <a:bodyPr wrap="none" lIns="0" rIns="0">
            <a:noAutofit/>
          </a:bodyPr>
          <a:lstStyle/>
          <a:p>
            <a:pPr algn="l"/>
            <a:r>
              <a:rPr sz="3400" b="0" i="0">
                <a:solidFill>
                  <a:srgbClr val="D4D4D4"/>
                </a:solidFill>
                <a:latin typeface="Arial"/>
              </a:rPr>
              <a:t> say which year</a:t>
            </a:r>
          </a:p>
        </p:txBody>
      </p:sp>
      <p:sp>
        <p:nvSpPr>
          <p:cNvPr id="15" name="TextBox 14"/>
          <p:cNvSpPr txBox="1"/>
          <p:nvPr/>
        </p:nvSpPr>
        <p:spPr>
          <a:xfrm>
            <a:off x="457200" y="3910580"/>
            <a:ext cx="8170168" cy="518159"/>
          </a:xfrm>
          <a:prstGeom prst="rect">
            <a:avLst/>
          </a:prstGeom>
          <a:noFill/>
        </p:spPr>
        <p:txBody>
          <a:bodyPr wrap="none" lIns="0" rIns="0">
            <a:noAutofit/>
          </a:bodyPr>
          <a:lstStyle/>
          <a:p>
            <a:pPr algn="l"/>
            <a:r>
              <a:rPr sz="3400" b="0" i="0">
                <a:solidFill>
                  <a:srgbClr val="D4D4D4"/>
                </a:solidFill>
                <a:latin typeface="Arial"/>
              </a:rPr>
              <a:t>repro:  upload it, click Run</a:t>
            </a:r>
          </a:p>
        </p:txBody>
      </p:sp>
      <p:sp>
        <p:nvSpPr>
          <p:cNvPr id="16" name="TextBox 1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40</a:t>
            </a:fld>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Severity, in Four Levels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Critical: wrong output, looks right</a:t>
            </a:r>
          </a:p>
        </p:txBody>
      </p:sp>
      <p:sp>
        <p:nvSpPr>
          <p:cNvPr id="4" name="TextBox 3"/>
          <p:cNvSpPr txBox="1"/>
          <p:nvPr/>
        </p:nvSpPr>
        <p:spPr>
          <a:xfrm>
            <a:off x="457200" y="2883409"/>
            <a:ext cx="11281827" cy="518159"/>
          </a:xfrm>
          <a:prstGeom prst="rect">
            <a:avLst/>
          </a:prstGeom>
          <a:noFill/>
        </p:spPr>
        <p:txBody>
          <a:bodyPr wrap="none" lIns="0" rIns="0">
            <a:noAutofit/>
          </a:bodyPr>
          <a:lstStyle/>
          <a:p>
            <a:pPr algn="l"/>
            <a:r>
              <a:rPr sz="3400" b="0" i="0">
                <a:solidFill>
                  <a:srgbClr val="0A2240"/>
                </a:solidFill>
                <a:latin typeface="Arial"/>
              </a:rPr>
              <a:t>High: crashes or hangs on real input</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Medium: fails, but says so</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Low: ugly, confusing, slow</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41</a:t>
            </a:fld>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Assigning It Honestly</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Severity is about the user</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Not how clever the input was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Not how hard it looks to fix</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Documented limits drop a level</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42</a:t>
            </a:fld>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Makes a Log Useless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Findings with no input attached</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Forty entries, one real cause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Severity on everything the same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Opinions mixed in with failures</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43</a:t>
            </a:fld>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Handing It Back</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Give them the file</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Written, not spoken, not a conversation</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Say one sentence</a:t>
            </a:r>
          </a:p>
        </p:txBody>
      </p:sp>
      <p:sp>
        <p:nvSpPr>
          <p:cNvPr id="8" name="TextBox 7"/>
          <p:cNvSpPr txBox="1"/>
          <p:nvPr/>
        </p:nvSpPr>
        <p:spPr>
          <a:xfrm>
            <a:off x="1461983" y="3697224"/>
            <a:ext cx="10551140" cy="551688"/>
          </a:xfrm>
          <a:prstGeom prst="rect">
            <a:avLst/>
          </a:prstGeom>
          <a:noFill/>
        </p:spPr>
        <p:txBody>
          <a:bodyPr wrap="none" lIns="0" rIns="0">
            <a:noAutofit/>
          </a:bodyPr>
          <a:lstStyle/>
          <a:p>
            <a:pPr algn="l"/>
            <a:r>
              <a:rPr sz="3400" b="0" i="0">
                <a:solidFill>
                  <a:srgbClr val="0A2240"/>
                </a:solidFill>
                <a:latin typeface="Arial"/>
              </a:rPr>
              <a:t>The single thing you would fix first</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Then stop talking</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Let them read it without you narrating</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44</a:t>
            </a:fld>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Receiving it</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Reading the whole log before saying anything</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45</a:t>
            </a:fld>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Two Ways to Take It</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5B6B82"/>
                </a:solidFill>
                <a:latin typeface="Arial"/>
              </a:rPr>
              <a:t>Defending</a:t>
            </a:r>
          </a:p>
        </p:txBody>
      </p:sp>
      <p:sp>
        <p:nvSpPr>
          <p:cNvPr id="4" name="Rectangle 3"/>
          <p:cNvSpPr/>
          <p:nvPr/>
        </p:nvSpPr>
        <p:spPr>
          <a:xfrm>
            <a:off x="54864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501640" cy="621791"/>
          </a:xfrm>
          <a:prstGeom prst="rect">
            <a:avLst/>
          </a:prstGeom>
          <a:noFill/>
        </p:spPr>
        <p:txBody>
          <a:bodyPr wrap="none" lIns="0" rIns="0">
            <a:noAutofit/>
          </a:bodyPr>
          <a:lstStyle/>
          <a:p>
            <a:pPr algn="l"/>
            <a:r>
              <a:rPr sz="3400" b="1" i="0">
                <a:solidFill>
                  <a:srgbClr val="0072CE"/>
                </a:solidFill>
                <a:latin typeface="Arial"/>
              </a:rPr>
              <a:t>Receiving</a:t>
            </a:r>
          </a:p>
        </p:txBody>
      </p:sp>
      <p:sp>
        <p:nvSpPr>
          <p:cNvPr id="6" name="Rectangle 5"/>
          <p:cNvSpPr/>
          <p:nvPr/>
        </p:nvSpPr>
        <p:spPr>
          <a:xfrm>
            <a:off x="632460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7509312" cy="609600"/>
          </a:xfrm>
          <a:prstGeom prst="rect">
            <a:avLst/>
          </a:prstGeom>
          <a:noFill/>
        </p:spPr>
        <p:txBody>
          <a:bodyPr wrap="none" lIns="0" rIns="0">
            <a:noAutofit/>
          </a:bodyPr>
          <a:lstStyle/>
          <a:p>
            <a:pPr algn="l"/>
            <a:r>
              <a:rPr sz="3400" b="0" i="0">
                <a:solidFill>
                  <a:srgbClr val="0A2240"/>
                </a:solidFill>
                <a:latin typeface="Arial"/>
              </a:rPr>
              <a:t>"That is not a real input"</a:t>
            </a:r>
          </a:p>
        </p:txBody>
      </p:sp>
      <p:sp>
        <p:nvSpPr>
          <p:cNvPr id="8" name="TextBox 7"/>
          <p:cNvSpPr txBox="1"/>
          <p:nvPr/>
        </p:nvSpPr>
        <p:spPr>
          <a:xfrm>
            <a:off x="457200" y="3608831"/>
            <a:ext cx="6140371" cy="609600"/>
          </a:xfrm>
          <a:prstGeom prst="rect">
            <a:avLst/>
          </a:prstGeom>
          <a:noFill/>
        </p:spPr>
        <p:txBody>
          <a:bodyPr wrap="none" lIns="0" rIns="0">
            <a:noAutofit/>
          </a:bodyPr>
          <a:lstStyle/>
          <a:p>
            <a:pPr algn="l"/>
            <a:r>
              <a:rPr sz="3400" b="0" i="0">
                <a:solidFill>
                  <a:srgbClr val="0A2240"/>
                </a:solidFill>
                <a:latin typeface="Arial"/>
              </a:rPr>
              <a:t>"You used it wrong"</a:t>
            </a:r>
          </a:p>
        </p:txBody>
      </p:sp>
      <p:sp>
        <p:nvSpPr>
          <p:cNvPr id="9" name="TextBox 8"/>
          <p:cNvSpPr txBox="1"/>
          <p:nvPr/>
        </p:nvSpPr>
        <p:spPr>
          <a:xfrm>
            <a:off x="457200" y="4821935"/>
            <a:ext cx="8186697" cy="609600"/>
          </a:xfrm>
          <a:prstGeom prst="rect">
            <a:avLst/>
          </a:prstGeom>
          <a:noFill/>
        </p:spPr>
        <p:txBody>
          <a:bodyPr wrap="none" lIns="0" rIns="0">
            <a:noAutofit/>
          </a:bodyPr>
          <a:lstStyle/>
          <a:p>
            <a:pPr algn="l"/>
            <a:r>
              <a:rPr sz="3400" b="0" i="0">
                <a:solidFill>
                  <a:srgbClr val="0A2240"/>
                </a:solidFill>
                <a:latin typeface="Arial"/>
              </a:rPr>
              <a:t>"We know, it is in caveats"</a:t>
            </a:r>
          </a:p>
        </p:txBody>
      </p:sp>
      <p:sp>
        <p:nvSpPr>
          <p:cNvPr id="10" name="TextBox 9"/>
          <p:cNvSpPr txBox="1"/>
          <p:nvPr/>
        </p:nvSpPr>
        <p:spPr>
          <a:xfrm>
            <a:off x="6233160" y="2395727"/>
            <a:ext cx="5501640" cy="609600"/>
          </a:xfrm>
          <a:prstGeom prst="rect">
            <a:avLst/>
          </a:prstGeom>
          <a:noFill/>
        </p:spPr>
        <p:txBody>
          <a:bodyPr wrap="none" lIns="0" rIns="0">
            <a:noAutofit/>
          </a:bodyPr>
          <a:lstStyle/>
          <a:p>
            <a:pPr algn="l"/>
            <a:r>
              <a:rPr sz="3400" b="0" i="0">
                <a:solidFill>
                  <a:srgbClr val="0A2240"/>
                </a:solidFill>
                <a:latin typeface="Arial"/>
              </a:rPr>
              <a:t>Read all of it first</a:t>
            </a:r>
          </a:p>
        </p:txBody>
      </p:sp>
      <p:sp>
        <p:nvSpPr>
          <p:cNvPr id="11" name="TextBox 10"/>
          <p:cNvSpPr txBox="1"/>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Ask only how to reproduce</a:t>
            </a:r>
          </a:p>
        </p:txBody>
      </p:sp>
      <p:sp>
        <p:nvSpPr>
          <p:cNvPr id="12" name="TextBox 11"/>
          <p:cNvSpPr txBox="1"/>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Write it down and move on</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46</a:t>
            </a:fld>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Only Question to Ask</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"How do I reproduce that?"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Not why they tried it</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Not whether it counts</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Not what they misunderstood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47</a:t>
            </a:fld>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Why This Is Worth the Discomfort</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They had no reason to be kind</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They are not going to fix it</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The next tester is a judge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This is the last free round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48</a:t>
            </a:fld>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If You Are Behind</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429993" cy="640080"/>
          </a:xfrm>
          <a:prstGeom prst="rect">
            <a:avLst/>
          </a:prstGeom>
          <a:noFill/>
        </p:spPr>
        <p:txBody>
          <a:bodyPr wrap="none" lIns="0" rIns="0">
            <a:noAutofit/>
          </a:bodyPr>
          <a:lstStyle/>
          <a:p>
            <a:pPr algn="l"/>
            <a:r>
              <a:rPr sz="4200" b="1" i="0">
                <a:solidFill>
                  <a:srgbClr val="123A6B"/>
                </a:solidFill>
                <a:latin typeface="Arial"/>
              </a:rPr>
              <a:t>Trade at 10:45 regardless</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A short log on time beats a full one late</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Drop the volume run</a:t>
            </a:r>
          </a:p>
        </p:txBody>
      </p:sp>
      <p:sp>
        <p:nvSpPr>
          <p:cNvPr id="8" name="TextBox 7"/>
          <p:cNvSpPr txBox="1"/>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Hand findings are the ones worth having</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Never skip severity</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An unranked log cannot be triaged</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49</a:t>
            </a:fld>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Leaving This Session</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You broke someone else's build</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You ran hands, then volume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You handed over a written log</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You read yours without arguing</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50</a:t>
            </a:fld>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Write This Down Now</a:t>
            </a:r>
          </a:p>
        </p:txBody>
      </p:sp>
      <p:sp>
        <p:nvSpPr>
          <p:cNvPr id="3" name="TextBox 2"/>
          <p:cNvSpPr txBox="1"/>
          <p:nvPr/>
        </p:nvSpPr>
        <p:spPr>
          <a:xfrm>
            <a:off x="457200" y="1499616"/>
            <a:ext cx="4678278" cy="518159"/>
          </a:xfrm>
          <a:prstGeom prst="rect">
            <a:avLst/>
          </a:prstGeom>
          <a:noFill/>
        </p:spPr>
        <p:txBody>
          <a:bodyPr wrap="none" lIns="0" rIns="0">
            <a:noAutofit/>
          </a:bodyPr>
          <a:lstStyle/>
          <a:p>
            <a:pPr algn="l"/>
            <a:r>
              <a:rPr sz="3400" b="1" i="0">
                <a:solidFill>
                  <a:srgbClr val="123A6B"/>
                </a:solidFill>
                <a:latin typeface="Arial"/>
              </a:rPr>
              <a:t>Question</a:t>
            </a:r>
          </a:p>
        </p:txBody>
      </p:sp>
      <p:sp>
        <p:nvSpPr>
          <p:cNvPr id="4" name="TextBox 3"/>
          <p:cNvSpPr txBox="1"/>
          <p:nvPr/>
        </p:nvSpPr>
        <p:spPr>
          <a:xfrm>
            <a:off x="5684118" y="1499616"/>
            <a:ext cx="4278233" cy="518159"/>
          </a:xfrm>
          <a:prstGeom prst="rect">
            <a:avLst/>
          </a:prstGeom>
          <a:noFill/>
        </p:spPr>
        <p:txBody>
          <a:bodyPr wrap="none" lIns="0" rIns="0">
            <a:noAutofit/>
          </a:bodyPr>
          <a:lstStyle/>
          <a:p>
            <a:pPr algn="l"/>
            <a:r>
              <a:rPr sz="3400" b="1" i="0">
                <a:solidFill>
                  <a:srgbClr val="123A6B"/>
                </a:solidFill>
                <a:latin typeface="Arial"/>
              </a:rPr>
              <a:t>Your answer</a:t>
            </a:r>
          </a:p>
        </p:txBody>
      </p:sp>
      <p:sp>
        <p:nvSpPr>
          <p:cNvPr id="5" name="Rectangle 4"/>
          <p:cNvSpPr/>
          <p:nvPr/>
        </p:nvSpPr>
        <p:spPr>
          <a:xfrm>
            <a:off x="457200" y="2072639"/>
            <a:ext cx="8152274"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7082908" cy="633984"/>
          </a:xfrm>
          <a:prstGeom prst="rect">
            <a:avLst/>
          </a:prstGeom>
          <a:noFill/>
        </p:spPr>
        <p:txBody>
          <a:bodyPr wrap="none" lIns="0" rIns="0">
            <a:noAutofit/>
          </a:bodyPr>
          <a:lstStyle/>
          <a:p>
            <a:pPr algn="l"/>
            <a:r>
              <a:rPr sz="3400" b="0" i="0">
                <a:solidFill>
                  <a:srgbClr val="0A2240"/>
                </a:solidFill>
                <a:latin typeface="Arial"/>
              </a:rPr>
              <a:t>Worst thing they found</a:t>
            </a:r>
          </a:p>
        </p:txBody>
      </p:sp>
      <p:sp>
        <p:nvSpPr>
          <p:cNvPr id="7" name="TextBox 6"/>
          <p:cNvSpPr txBox="1"/>
          <p:nvPr/>
        </p:nvSpPr>
        <p:spPr>
          <a:xfrm>
            <a:off x="5684118" y="2401823"/>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8" name="TextBox 7"/>
          <p:cNvSpPr txBox="1"/>
          <p:nvPr/>
        </p:nvSpPr>
        <p:spPr>
          <a:xfrm>
            <a:off x="457200" y="3310127"/>
            <a:ext cx="5328384" cy="633984"/>
          </a:xfrm>
          <a:prstGeom prst="rect">
            <a:avLst/>
          </a:prstGeom>
          <a:noFill/>
        </p:spPr>
        <p:txBody>
          <a:bodyPr wrap="none" lIns="0" rIns="0">
            <a:noAutofit/>
          </a:bodyPr>
          <a:lstStyle/>
          <a:p>
            <a:pPr algn="l"/>
            <a:r>
              <a:rPr sz="3400" b="0" i="0">
                <a:solidFill>
                  <a:srgbClr val="0A2240"/>
                </a:solidFill>
                <a:latin typeface="Arial"/>
              </a:rPr>
              <a:t>Did you predict it</a:t>
            </a:r>
          </a:p>
        </p:txBody>
      </p:sp>
      <p:sp>
        <p:nvSpPr>
          <p:cNvPr id="9" name="TextBox 8"/>
          <p:cNvSpPr txBox="1"/>
          <p:nvPr/>
        </p:nvSpPr>
        <p:spPr>
          <a:xfrm>
            <a:off x="5684118" y="3310127"/>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0" name="TextBox 9"/>
          <p:cNvSpPr txBox="1"/>
          <p:nvPr/>
        </p:nvSpPr>
        <p:spPr>
          <a:xfrm>
            <a:off x="457200" y="4218431"/>
            <a:ext cx="4867235" cy="633984"/>
          </a:xfrm>
          <a:prstGeom prst="rect">
            <a:avLst/>
          </a:prstGeom>
          <a:noFill/>
        </p:spPr>
        <p:txBody>
          <a:bodyPr wrap="none" lIns="0" rIns="0">
            <a:noAutofit/>
          </a:bodyPr>
          <a:lstStyle/>
          <a:p>
            <a:pPr algn="l"/>
            <a:r>
              <a:rPr sz="3400" b="0" i="0">
                <a:solidFill>
                  <a:srgbClr val="0A2240"/>
                </a:solidFill>
                <a:latin typeface="Arial"/>
              </a:rPr>
              <a:t>Critical findings</a:t>
            </a:r>
          </a:p>
        </p:txBody>
      </p:sp>
      <p:sp>
        <p:nvSpPr>
          <p:cNvPr id="11" name="TextBox 10"/>
          <p:cNvSpPr txBox="1"/>
          <p:nvPr/>
        </p:nvSpPr>
        <p:spPr>
          <a:xfrm>
            <a:off x="5684118" y="4218431"/>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2" name="TextBox 11"/>
          <p:cNvSpPr txBox="1"/>
          <p:nvPr/>
        </p:nvSpPr>
        <p:spPr>
          <a:xfrm>
            <a:off x="457200" y="5126735"/>
            <a:ext cx="5826641" cy="633984"/>
          </a:xfrm>
          <a:prstGeom prst="rect">
            <a:avLst/>
          </a:prstGeom>
          <a:noFill/>
        </p:spPr>
        <p:txBody>
          <a:bodyPr wrap="none" lIns="0" rIns="0">
            <a:noAutofit/>
          </a:bodyPr>
          <a:lstStyle/>
          <a:p>
            <a:pPr algn="l"/>
            <a:r>
              <a:rPr sz="3400" b="0" i="0">
                <a:solidFill>
                  <a:srgbClr val="0A2240"/>
                </a:solidFill>
                <a:latin typeface="Arial"/>
              </a:rPr>
              <a:t>Fix first after lunch</a:t>
            </a:r>
          </a:p>
        </p:txBody>
      </p:sp>
      <p:sp>
        <p:nvSpPr>
          <p:cNvPr id="13" name="TextBox 12"/>
          <p:cNvSpPr txBox="1"/>
          <p:nvPr/>
        </p:nvSpPr>
        <p:spPr>
          <a:xfrm>
            <a:off x="5684118" y="5126735"/>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51</a:t>
            </a:fld>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What did you not expect?</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52</a:t>
            </a:fld>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Next: Hardening and Handoff</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Triage by severity against cost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Commit to a cut line, out loud</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Fix, re-run the exact test, push</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Schedule checks that outlive you</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53</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