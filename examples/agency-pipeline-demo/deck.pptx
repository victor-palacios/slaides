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41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</p:sldIdLst>
  <p:sldSz cx="12192000" cy="6858000" type="screen16x9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slidekit · Title Slide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/>
          <p:nvPr>
            <p:ph type="title"/>
          </p:nvPr>
        </p:nvSpPr>
        <p:spPr>
          <a:xfrm>
            <a:off x="914400" y="2987040"/>
            <a:ext cx="10363200" cy="883919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5800" b="1" i="0">
                <a:solidFill>
                  <a:srgbClr val="16504B"/>
                </a:solidFill>
                <a:latin typeface="Calibri"/>
              </a:rPr>
              <a:t>Quarterly Business Review</a:t>
            </a:r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slidekit · Icon Text Rows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/>
          <p:nvPr>
            <p:ph type="title"/>
          </p:nvPr>
        </p:nvSpPr>
        <p:spPr>
          <a:xfrm>
            <a:off x="457200" y="457200"/>
            <a:ext cx="11277600" cy="768096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4200" b="1" i="0">
                <a:solidFill>
                  <a:srgbClr val="16504B"/>
                </a:solidFill>
                <a:latin typeface="Calibri"/>
              </a:rPr>
              <a:t>What Drives Us</a:t>
            </a:r>
          </a:p>
        </p:txBody>
      </p:sp>
      <p:sp>
        <p:nvSpPr>
          <p:cNvPr id="3" name="TextBox 2"/>
          <p:cNvSpPr/>
          <p:nvPr>
            <p:ph type="body" idx="1"/>
          </p:nvPr>
        </p:nvSpPr>
        <p:spPr>
          <a:xfrm>
            <a:off x="457200" y="1499616"/>
            <a:ext cx="11277600" cy="518159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3400" b="1" i="0">
                <a:solidFill>
                  <a:srgbClr val="1C1C28"/>
                </a:solidFill>
                <a:latin typeface="Calibri"/>
              </a:rPr>
              <a:t>Excellence</a:t>
            </a:r>
          </a:p>
        </p:txBody>
      </p:sp>
      <p:sp>
        <p:nvSpPr>
          <p:cNvPr id="4" name="TextBox 3"/>
          <p:cNvSpPr/>
          <p:nvPr>
            <p:ph type="body" idx="2"/>
          </p:nvPr>
        </p:nvSpPr>
        <p:spPr>
          <a:xfrm>
            <a:off x="457200" y="2109215"/>
            <a:ext cx="11277600" cy="627889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3400" b="0" i="0">
                <a:solidFill>
                  <a:srgbClr val="1C1C28"/>
                </a:solidFill>
                <a:latin typeface="Calibri"/>
              </a:rPr>
              <a:t>High standards in every deliverable we ship.</a:t>
            </a:r>
          </a:p>
        </p:txBody>
      </p:sp>
      <p:sp>
        <p:nvSpPr>
          <p:cNvPr id="5" name="TextBox 4"/>
          <p:cNvSpPr/>
          <p:nvPr>
            <p:ph type="body" idx="3"/>
          </p:nvPr>
        </p:nvSpPr>
        <p:spPr>
          <a:xfrm>
            <a:off x="457200" y="3011424"/>
            <a:ext cx="11277600" cy="518159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3400" b="1" i="0">
                <a:solidFill>
                  <a:srgbClr val="1C1C28"/>
                </a:solidFill>
                <a:latin typeface="Calibri"/>
              </a:rPr>
              <a:t>Integrity</a:t>
            </a:r>
          </a:p>
        </p:txBody>
      </p:sp>
      <p:sp>
        <p:nvSpPr>
          <p:cNvPr id="6" name="TextBox 5"/>
          <p:cNvSpPr/>
          <p:nvPr>
            <p:ph type="body" idx="4"/>
          </p:nvPr>
        </p:nvSpPr>
        <p:spPr>
          <a:xfrm>
            <a:off x="457200" y="3621023"/>
            <a:ext cx="11277600" cy="627889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3400" b="0" i="0">
                <a:solidFill>
                  <a:srgbClr val="1C1C28"/>
                </a:solidFill>
                <a:latin typeface="Calibri"/>
              </a:rPr>
              <a:t>Transparent and honest in all we do.</a:t>
            </a:r>
          </a:p>
        </p:txBody>
      </p:sp>
      <p:sp>
        <p:nvSpPr>
          <p:cNvPr id="7" name="TextBox 6"/>
          <p:cNvSpPr/>
          <p:nvPr>
            <p:ph type="body" idx="5"/>
          </p:nvPr>
        </p:nvSpPr>
        <p:spPr>
          <a:xfrm>
            <a:off x="457200" y="4523232"/>
            <a:ext cx="11277600" cy="518159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3400" b="1" i="0">
                <a:solidFill>
                  <a:srgbClr val="1C1C28"/>
                </a:solidFill>
                <a:latin typeface="Calibri"/>
              </a:rPr>
              <a:t>Innovation</a:t>
            </a:r>
          </a:p>
        </p:txBody>
      </p:sp>
      <p:sp>
        <p:nvSpPr>
          <p:cNvPr id="8" name="TextBox 7"/>
          <p:cNvSpPr/>
          <p:nvPr>
            <p:ph type="body" idx="6"/>
          </p:nvPr>
        </p:nvSpPr>
        <p:spPr>
          <a:xfrm>
            <a:off x="457200" y="5132831"/>
            <a:ext cx="11277600" cy="627889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3400" b="0" i="0">
                <a:solidFill>
                  <a:srgbClr val="1C1C28"/>
                </a:solidFill>
                <a:latin typeface="Calibri"/>
              </a:rPr>
              <a:t>Investing in ideas that shape tomorrow.</a:t>
            </a:r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slidekit · Stat Callout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/>
          <p:nvPr>
            <p:ph type="title"/>
          </p:nvPr>
        </p:nvSpPr>
        <p:spPr>
          <a:xfrm>
            <a:off x="457200" y="457200"/>
            <a:ext cx="11277600" cy="768096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4200" b="1" i="0">
                <a:solidFill>
                  <a:srgbClr val="16504B"/>
                </a:solidFill>
                <a:latin typeface="Calibri"/>
              </a:rPr>
              <a:t>By the Numbers</a:t>
            </a:r>
          </a:p>
        </p:txBody>
      </p:sp>
      <p:sp>
        <p:nvSpPr>
          <p:cNvPr id="3" name="TextBox 2"/>
          <p:cNvSpPr/>
          <p:nvPr>
            <p:ph type="body" idx="1"/>
          </p:nvPr>
        </p:nvSpPr>
        <p:spPr>
          <a:xfrm>
            <a:off x="457200" y="2791969"/>
            <a:ext cx="3576320" cy="883919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5800" b="1" i="0">
                <a:solidFill>
                  <a:srgbClr val="E2A03F"/>
                </a:solidFill>
                <a:latin typeface="Calibri"/>
              </a:rPr>
              <a:t>127%</a:t>
            </a:r>
          </a:p>
        </p:txBody>
      </p:sp>
      <p:sp>
        <p:nvSpPr>
          <p:cNvPr id="4" name="TextBox 3"/>
          <p:cNvSpPr/>
          <p:nvPr>
            <p:ph type="body" idx="2"/>
          </p:nvPr>
        </p:nvSpPr>
        <p:spPr>
          <a:xfrm>
            <a:off x="457200" y="3950208"/>
            <a:ext cx="3576320" cy="518159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3400" b="0" i="0">
                <a:solidFill>
                  <a:srgbClr val="1C1C28"/>
                </a:solidFill>
                <a:latin typeface="Calibri"/>
              </a:rPr>
              <a:t>Revenue Target</a:t>
            </a:r>
          </a:p>
        </p:txBody>
      </p:sp>
      <p:sp>
        <p:nvSpPr>
          <p:cNvPr id="5" name="TextBox 4"/>
          <p:cNvSpPr/>
          <p:nvPr>
            <p:ph type="body" idx="3"/>
          </p:nvPr>
        </p:nvSpPr>
        <p:spPr>
          <a:xfrm>
            <a:off x="4307840" y="2791969"/>
            <a:ext cx="3576320" cy="883919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5800" b="1" i="0">
                <a:solidFill>
                  <a:srgbClr val="E2A03F"/>
                </a:solidFill>
                <a:latin typeface="Calibri"/>
              </a:rPr>
              <a:t>94%</a:t>
            </a:r>
          </a:p>
        </p:txBody>
      </p:sp>
      <p:sp>
        <p:nvSpPr>
          <p:cNvPr id="6" name="TextBox 5"/>
          <p:cNvSpPr/>
          <p:nvPr>
            <p:ph type="body" idx="4"/>
          </p:nvPr>
        </p:nvSpPr>
        <p:spPr>
          <a:xfrm>
            <a:off x="4307840" y="3950208"/>
            <a:ext cx="3576320" cy="518159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3400" b="0" i="0">
                <a:solidFill>
                  <a:srgbClr val="1C1C28"/>
                </a:solidFill>
                <a:latin typeface="Calibri"/>
              </a:rPr>
              <a:t>Retention Rate</a:t>
            </a:r>
          </a:p>
        </p:txBody>
      </p:sp>
      <p:sp>
        <p:nvSpPr>
          <p:cNvPr id="7" name="TextBox 6"/>
          <p:cNvSpPr/>
          <p:nvPr>
            <p:ph type="body" idx="5"/>
          </p:nvPr>
        </p:nvSpPr>
        <p:spPr>
          <a:xfrm>
            <a:off x="8158480" y="2791969"/>
            <a:ext cx="3576320" cy="883919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5800" b="1" i="0">
                <a:solidFill>
                  <a:srgbClr val="E2A03F"/>
                </a:solidFill>
                <a:latin typeface="Calibri"/>
              </a:rPr>
              <a:t>48 NPS</a:t>
            </a:r>
          </a:p>
        </p:txBody>
      </p:sp>
      <p:sp>
        <p:nvSpPr>
          <p:cNvPr id="8" name="TextBox 7"/>
          <p:cNvSpPr/>
          <p:nvPr>
            <p:ph type="body" idx="6"/>
          </p:nvPr>
        </p:nvSpPr>
        <p:spPr>
          <a:xfrm>
            <a:off x="8158480" y="3950208"/>
            <a:ext cx="3576320" cy="518159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3400" b="0" i="0">
                <a:solidFill>
                  <a:srgbClr val="1C1C28"/>
                </a:solidFill>
                <a:latin typeface="Calibri"/>
              </a:rPr>
              <a:t>Net Promoter</a:t>
            </a:r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slidekit · Comparison Columns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/>
          <p:nvPr>
            <p:ph type="title"/>
          </p:nvPr>
        </p:nvSpPr>
        <p:spPr>
          <a:xfrm>
            <a:off x="457200" y="457200"/>
            <a:ext cx="11277600" cy="768096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4200" b="1" i="0">
                <a:solidFill>
                  <a:srgbClr val="16504B"/>
                </a:solidFill>
                <a:latin typeface="Calibri"/>
              </a:rPr>
              <a:t>Side-by-Side Evaluation</a:t>
            </a:r>
          </a:p>
        </p:txBody>
      </p:sp>
      <p:sp>
        <p:nvSpPr>
          <p:cNvPr id="3" name="TextBox 2"/>
          <p:cNvSpPr/>
          <p:nvPr>
            <p:ph type="body" idx="1"/>
          </p:nvPr>
        </p:nvSpPr>
        <p:spPr>
          <a:xfrm>
            <a:off x="457200" y="1499616"/>
            <a:ext cx="5501640" cy="621791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3400" b="1" i="0">
                <a:solidFill>
                  <a:srgbClr val="16504B"/>
                </a:solidFill>
                <a:latin typeface="Calibri"/>
              </a:rPr>
              <a:t>Legacy Platform</a:t>
            </a:r>
          </a:p>
        </p:txBody>
      </p:sp>
      <p:sp>
        <p:nvSpPr>
          <p:cNvPr id="4" name="TextBox 3"/>
          <p:cNvSpPr/>
          <p:nvPr>
            <p:ph type="body" idx="2"/>
          </p:nvPr>
        </p:nvSpPr>
        <p:spPr>
          <a:xfrm>
            <a:off x="6233160" y="1499616"/>
            <a:ext cx="5501640" cy="621791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3400" b="1" i="0">
                <a:solidFill>
                  <a:srgbClr val="16504B"/>
                </a:solidFill>
                <a:latin typeface="Calibri"/>
              </a:rPr>
              <a:t>Modern Stack</a:t>
            </a:r>
          </a:p>
        </p:txBody>
      </p:sp>
      <p:sp>
        <p:nvSpPr>
          <p:cNvPr id="5" name="TextBox 4"/>
          <p:cNvSpPr/>
          <p:nvPr>
            <p:ph type="body" idx="3"/>
          </p:nvPr>
        </p:nvSpPr>
        <p:spPr>
          <a:xfrm>
            <a:off x="457200" y="2395727"/>
            <a:ext cx="5501640" cy="847344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3400" b="0" i="0">
                <a:solidFill>
                  <a:srgbClr val="1C1C28"/>
                </a:solidFill>
                <a:latin typeface="Calibri"/>
              </a:rPr>
              <a:t>Deploy time: 4 hours</a:t>
            </a:r>
          </a:p>
        </p:txBody>
      </p:sp>
      <p:sp>
        <p:nvSpPr>
          <p:cNvPr id="6" name="TextBox 5"/>
          <p:cNvSpPr/>
          <p:nvPr>
            <p:ph type="body" idx="4"/>
          </p:nvPr>
        </p:nvSpPr>
        <p:spPr>
          <a:xfrm>
            <a:off x="6233160" y="2395727"/>
            <a:ext cx="5501640" cy="847344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3400" b="0" i="0">
                <a:solidFill>
                  <a:srgbClr val="1C1C28"/>
                </a:solidFill>
                <a:latin typeface="Calibri"/>
              </a:rPr>
              <a:t>Deploy time: 8 min</a:t>
            </a:r>
          </a:p>
        </p:txBody>
      </p:sp>
      <p:sp>
        <p:nvSpPr>
          <p:cNvPr id="7" name="TextBox 6"/>
          <p:cNvSpPr/>
          <p:nvPr>
            <p:ph type="body" idx="5"/>
          </p:nvPr>
        </p:nvSpPr>
        <p:spPr>
          <a:xfrm>
            <a:off x="457200" y="3517391"/>
            <a:ext cx="5501640" cy="847344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3400" b="0" i="0">
                <a:solidFill>
                  <a:srgbClr val="1C1C28"/>
                </a:solidFill>
                <a:latin typeface="Calibri"/>
              </a:rPr>
              <a:t>Manual scaling</a:t>
            </a:r>
          </a:p>
        </p:txBody>
      </p:sp>
      <p:sp>
        <p:nvSpPr>
          <p:cNvPr id="8" name="TextBox 7"/>
          <p:cNvSpPr/>
          <p:nvPr>
            <p:ph type="body" idx="6"/>
          </p:nvPr>
        </p:nvSpPr>
        <p:spPr>
          <a:xfrm>
            <a:off x="6233160" y="3517391"/>
            <a:ext cx="5501640" cy="847344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3400" b="0" i="0">
                <a:solidFill>
                  <a:srgbClr val="1C1C28"/>
                </a:solidFill>
                <a:latin typeface="Calibri"/>
              </a:rPr>
              <a:t>Auto-scales fast</a:t>
            </a:r>
          </a:p>
        </p:txBody>
      </p:sp>
      <p:sp>
        <p:nvSpPr>
          <p:cNvPr id="9" name="TextBox 8"/>
          <p:cNvSpPr/>
          <p:nvPr>
            <p:ph type="body" idx="7"/>
          </p:nvPr>
        </p:nvSpPr>
        <p:spPr>
          <a:xfrm>
            <a:off x="457200" y="4639055"/>
            <a:ext cx="5501640" cy="847344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3400" b="0" i="0">
                <a:solidFill>
                  <a:srgbClr val="1C1C28"/>
                </a:solidFill>
                <a:latin typeface="Calibri"/>
              </a:rPr>
              <a:t>On-premise; high cost</a:t>
            </a:r>
          </a:p>
        </p:txBody>
      </p:sp>
      <p:sp>
        <p:nvSpPr>
          <p:cNvPr id="10" name="TextBox 9"/>
          <p:cNvSpPr/>
          <p:nvPr>
            <p:ph type="body" idx="8"/>
          </p:nvPr>
        </p:nvSpPr>
        <p:spPr>
          <a:xfrm>
            <a:off x="6233160" y="4639055"/>
            <a:ext cx="5501640" cy="847344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3400" b="0" i="0">
                <a:solidFill>
                  <a:srgbClr val="1C1C28"/>
                </a:solidFill>
                <a:latin typeface="Calibri"/>
              </a:rPr>
              <a:t>Cloud-native; low cost</a:t>
            </a:r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slidekit · Timeline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/>
          <p:nvPr>
            <p:ph type="title"/>
          </p:nvPr>
        </p:nvSpPr>
        <p:spPr>
          <a:xfrm>
            <a:off x="457200" y="457200"/>
            <a:ext cx="11277600" cy="768096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4200" b="1" i="0">
                <a:solidFill>
                  <a:srgbClr val="16504B"/>
                </a:solidFill>
                <a:latin typeface="Calibri"/>
              </a:rPr>
              <a:t>Key Milestones</a:t>
            </a:r>
          </a:p>
        </p:txBody>
      </p:sp>
      <p:sp>
        <p:nvSpPr>
          <p:cNvPr id="3" name="TextBox 2"/>
          <p:cNvSpPr/>
          <p:nvPr>
            <p:ph type="body" idx="1"/>
          </p:nvPr>
        </p:nvSpPr>
        <p:spPr>
          <a:xfrm>
            <a:off x="457200" y="1499616"/>
            <a:ext cx="2613660" cy="365759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2400" b="1" i="0">
                <a:solidFill>
                  <a:srgbClr val="E2A03F"/>
                </a:solidFill>
                <a:latin typeface="Calibri"/>
              </a:rPr>
              <a:t>Q1</a:t>
            </a:r>
          </a:p>
        </p:txBody>
      </p:sp>
      <p:sp>
        <p:nvSpPr>
          <p:cNvPr id="4" name="TextBox 3"/>
          <p:cNvSpPr/>
          <p:nvPr>
            <p:ph type="body" idx="2"/>
          </p:nvPr>
        </p:nvSpPr>
        <p:spPr>
          <a:xfrm>
            <a:off x="457200" y="2139695"/>
            <a:ext cx="2613660" cy="518159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3400" b="1" i="0">
                <a:solidFill>
                  <a:srgbClr val="1C1C28"/>
                </a:solidFill>
                <a:latin typeface="Calibri"/>
              </a:rPr>
              <a:t>Foundation</a:t>
            </a:r>
          </a:p>
        </p:txBody>
      </p:sp>
      <p:sp>
        <p:nvSpPr>
          <p:cNvPr id="5" name="TextBox 4"/>
          <p:cNvSpPr/>
          <p:nvPr>
            <p:ph type="body" idx="3"/>
          </p:nvPr>
        </p:nvSpPr>
        <p:spPr>
          <a:xfrm>
            <a:off x="457200" y="2932174"/>
            <a:ext cx="2613660" cy="2828546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3400" b="0" i="0">
                <a:solidFill>
                  <a:srgbClr val="1C1C28"/>
                </a:solidFill>
                <a:latin typeface="Calibri"/>
              </a:rPr>
              <a:t>Cloud platform migration done.</a:t>
            </a:r>
          </a:p>
        </p:txBody>
      </p:sp>
      <p:sp>
        <p:nvSpPr>
          <p:cNvPr id="6" name="TextBox 5"/>
          <p:cNvSpPr/>
          <p:nvPr>
            <p:ph type="body" idx="4"/>
          </p:nvPr>
        </p:nvSpPr>
        <p:spPr>
          <a:xfrm>
            <a:off x="3345180" y="1499616"/>
            <a:ext cx="2613660" cy="365759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2400" b="1" i="0">
                <a:solidFill>
                  <a:srgbClr val="E2A03F"/>
                </a:solidFill>
                <a:latin typeface="Calibri"/>
              </a:rPr>
              <a:t>Q2</a:t>
            </a:r>
          </a:p>
        </p:txBody>
      </p:sp>
      <p:sp>
        <p:nvSpPr>
          <p:cNvPr id="7" name="TextBox 6"/>
          <p:cNvSpPr/>
          <p:nvPr>
            <p:ph type="body" idx="5"/>
          </p:nvPr>
        </p:nvSpPr>
        <p:spPr>
          <a:xfrm>
            <a:off x="3345180" y="2139695"/>
            <a:ext cx="2613660" cy="518159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3400" b="1" i="0">
                <a:solidFill>
                  <a:srgbClr val="1C1C28"/>
                </a:solidFill>
                <a:latin typeface="Calibri"/>
              </a:rPr>
              <a:t>API Launch</a:t>
            </a:r>
          </a:p>
        </p:txBody>
      </p:sp>
      <p:sp>
        <p:nvSpPr>
          <p:cNvPr id="8" name="TextBox 7"/>
          <p:cNvSpPr/>
          <p:nvPr>
            <p:ph type="body" idx="6"/>
          </p:nvPr>
        </p:nvSpPr>
        <p:spPr>
          <a:xfrm>
            <a:off x="3345180" y="2932174"/>
            <a:ext cx="2613660" cy="2828546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3400" b="0" i="0">
                <a:solidFill>
                  <a:srgbClr val="1C1C28"/>
                </a:solidFill>
                <a:latin typeface="Calibri"/>
              </a:rPr>
              <a:t>REST API live with 99.99% SLA.</a:t>
            </a:r>
          </a:p>
        </p:txBody>
      </p:sp>
      <p:sp>
        <p:nvSpPr>
          <p:cNvPr id="9" name="TextBox 8"/>
          <p:cNvSpPr/>
          <p:nvPr>
            <p:ph type="body" idx="7"/>
          </p:nvPr>
        </p:nvSpPr>
        <p:spPr>
          <a:xfrm>
            <a:off x="6233160" y="1499616"/>
            <a:ext cx="2613660" cy="365759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2400" b="1" i="0">
                <a:solidFill>
                  <a:srgbClr val="E2A03F"/>
                </a:solidFill>
                <a:latin typeface="Calibri"/>
              </a:rPr>
              <a:t>Q3</a:t>
            </a:r>
          </a:p>
        </p:txBody>
      </p:sp>
      <p:sp>
        <p:nvSpPr>
          <p:cNvPr id="10" name="TextBox 9"/>
          <p:cNvSpPr/>
          <p:nvPr>
            <p:ph type="body" idx="8"/>
          </p:nvPr>
        </p:nvSpPr>
        <p:spPr>
          <a:xfrm>
            <a:off x="6233160" y="2139695"/>
            <a:ext cx="2613660" cy="518159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3400" b="1" i="0">
                <a:solidFill>
                  <a:srgbClr val="1C1C28"/>
                </a:solidFill>
                <a:latin typeface="Calibri"/>
              </a:rPr>
              <a:t>AI Beta</a:t>
            </a:r>
          </a:p>
        </p:txBody>
      </p:sp>
      <p:sp>
        <p:nvSpPr>
          <p:cNvPr id="11" name="TextBox 10"/>
          <p:cNvSpPr/>
          <p:nvPr>
            <p:ph type="body" idx="9"/>
          </p:nvPr>
        </p:nvSpPr>
        <p:spPr>
          <a:xfrm>
            <a:off x="6233160" y="2932174"/>
            <a:ext cx="2613660" cy="2828546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3400" b="0" i="0">
                <a:solidFill>
                  <a:srgbClr val="1C1C28"/>
                </a:solidFill>
                <a:latin typeface="Calibri"/>
              </a:rPr>
              <a:t>AI features shipped to 500 partners.</a:t>
            </a:r>
          </a:p>
        </p:txBody>
      </p:sp>
      <p:sp>
        <p:nvSpPr>
          <p:cNvPr id="12" name="TextBox 11"/>
          <p:cNvSpPr/>
          <p:nvPr>
            <p:ph type="body" idx="13"/>
          </p:nvPr>
        </p:nvSpPr>
        <p:spPr>
          <a:xfrm>
            <a:off x="9121140" y="1499616"/>
            <a:ext cx="2613660" cy="365759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2400" b="1" i="0">
                <a:solidFill>
                  <a:srgbClr val="E2A03F"/>
                </a:solidFill>
                <a:latin typeface="Calibri"/>
              </a:rPr>
              <a:t>Q4</a:t>
            </a:r>
          </a:p>
        </p:txBody>
      </p:sp>
      <p:sp>
        <p:nvSpPr>
          <p:cNvPr id="13" name="TextBox 12"/>
          <p:cNvSpPr/>
          <p:nvPr>
            <p:ph type="body" idx="14"/>
          </p:nvPr>
        </p:nvSpPr>
        <p:spPr>
          <a:xfrm>
            <a:off x="9121140" y="2139695"/>
            <a:ext cx="2613660" cy="518159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3400" b="1" i="0">
                <a:solidFill>
                  <a:srgbClr val="1C1C28"/>
                </a:solidFill>
                <a:latin typeface="Calibri"/>
              </a:rPr>
              <a:t>Scale Out</a:t>
            </a:r>
          </a:p>
        </p:txBody>
      </p:sp>
      <p:sp>
        <p:nvSpPr>
          <p:cNvPr id="14" name="TextBox 13"/>
          <p:cNvSpPr/>
          <p:nvPr>
            <p:ph type="body" idx="15"/>
          </p:nvPr>
        </p:nvSpPr>
        <p:spPr>
          <a:xfrm>
            <a:off x="9121140" y="2932174"/>
            <a:ext cx="2613660" cy="2828546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3400" b="0" i="0">
                <a:solidFill>
                  <a:srgbClr val="1C1C28"/>
                </a:solidFill>
                <a:latin typeface="Calibri"/>
              </a:rPr>
              <a:t>APAC regions live; global coverage.</a:t>
            </a:r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slidekit · Image Half Bleed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/>
          <p:nvPr>
            <p:ph type="title"/>
          </p:nvPr>
        </p:nvSpPr>
        <p:spPr>
          <a:xfrm>
            <a:off x="457200" y="457200"/>
            <a:ext cx="11277600" cy="768096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4200" b="1" i="0">
                <a:solidFill>
                  <a:srgbClr val="16504B"/>
                </a:solidFill>
                <a:latin typeface="Calibri"/>
              </a:rPr>
              <a:t>Built in the Field</a:t>
            </a:r>
          </a:p>
        </p:txBody>
      </p:sp>
      <p:sp>
        <p:nvSpPr>
          <p:cNvPr id="3" name="TextBox 2"/>
          <p:cNvSpPr/>
          <p:nvPr>
            <p:ph type="body" idx="1"/>
          </p:nvPr>
        </p:nvSpPr>
        <p:spPr>
          <a:xfrm>
            <a:off x="6233160" y="1499616"/>
            <a:ext cx="5501640" cy="112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3400" b="0" i="0">
                <a:solidFill>
                  <a:srgbClr val="1C1C28"/>
                </a:solidFill>
                <a:latin typeface="Calibri"/>
              </a:rPr>
              <a:t>Built with customers, not just for them.</a:t>
            </a:r>
          </a:p>
        </p:txBody>
      </p:sp>
      <p:sp>
        <p:nvSpPr>
          <p:cNvPr id="4" name="TextBox 3"/>
          <p:cNvSpPr/>
          <p:nvPr>
            <p:ph type="body" idx="2"/>
          </p:nvPr>
        </p:nvSpPr>
        <p:spPr>
          <a:xfrm>
            <a:off x="6233160" y="2901696"/>
            <a:ext cx="5501640" cy="112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3400" b="0" i="0">
                <a:solidFill>
                  <a:srgbClr val="1C1C28"/>
                </a:solidFill>
                <a:latin typeface="Calibri"/>
              </a:rPr>
              <a:t>60% faster rollout; 50% fewer tickets.</a:t>
            </a:r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slidekit · Card Grid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/>
          <p:nvPr>
            <p:ph type="title"/>
          </p:nvPr>
        </p:nvSpPr>
        <p:spPr>
          <a:xfrm>
            <a:off x="457200" y="457200"/>
            <a:ext cx="11277600" cy="768096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4200" b="1" i="0">
                <a:solidFill>
                  <a:srgbClr val="16504B"/>
                </a:solidFill>
                <a:latin typeface="Calibri"/>
              </a:rPr>
              <a:t>What We Offer</a:t>
            </a:r>
          </a:p>
        </p:txBody>
      </p:sp>
      <p:sp>
        <p:nvSpPr>
          <p:cNvPr id="3" name="TextBox 2"/>
          <p:cNvSpPr/>
          <p:nvPr>
            <p:ph type="body" idx="1"/>
          </p:nvPr>
        </p:nvSpPr>
        <p:spPr>
          <a:xfrm>
            <a:off x="457200" y="1499616"/>
            <a:ext cx="2613660" cy="518159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3400" b="1" i="0">
                <a:solidFill>
                  <a:srgbClr val="1C1C28"/>
                </a:solidFill>
                <a:latin typeface="Calibri"/>
              </a:rPr>
              <a:t>Insights</a:t>
            </a:r>
          </a:p>
        </p:txBody>
      </p:sp>
      <p:sp>
        <p:nvSpPr>
          <p:cNvPr id="4" name="TextBox 3"/>
          <p:cNvSpPr/>
          <p:nvPr>
            <p:ph type="body" idx="2"/>
          </p:nvPr>
        </p:nvSpPr>
        <p:spPr>
          <a:xfrm>
            <a:off x="457200" y="2154935"/>
            <a:ext cx="2613660" cy="3605785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3400" b="0" i="0">
                <a:solidFill>
                  <a:srgbClr val="1C1C28"/>
                </a:solidFill>
                <a:latin typeface="Calibri"/>
              </a:rPr>
              <a:t>Live data and AI analytics.</a:t>
            </a:r>
          </a:p>
        </p:txBody>
      </p:sp>
      <p:sp>
        <p:nvSpPr>
          <p:cNvPr id="5" name="TextBox 4"/>
          <p:cNvSpPr/>
          <p:nvPr>
            <p:ph type="body" idx="3"/>
          </p:nvPr>
        </p:nvSpPr>
        <p:spPr>
          <a:xfrm>
            <a:off x="3345180" y="1499616"/>
            <a:ext cx="2613660" cy="518159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3400" b="1" i="0">
                <a:solidFill>
                  <a:srgbClr val="1C1C28"/>
                </a:solidFill>
                <a:latin typeface="Calibri"/>
              </a:rPr>
              <a:t>Security</a:t>
            </a:r>
          </a:p>
        </p:txBody>
      </p:sp>
      <p:sp>
        <p:nvSpPr>
          <p:cNvPr id="6" name="TextBox 5"/>
          <p:cNvSpPr/>
          <p:nvPr>
            <p:ph type="body" idx="4"/>
          </p:nvPr>
        </p:nvSpPr>
        <p:spPr>
          <a:xfrm>
            <a:off x="3345180" y="2154935"/>
            <a:ext cx="2613660" cy="3605785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3400" b="0" i="0">
                <a:solidFill>
                  <a:srgbClr val="1C1C28"/>
                </a:solidFill>
                <a:latin typeface="Calibri"/>
              </a:rPr>
              <a:t>Zero-trust, SOC 2 ready.</a:t>
            </a:r>
          </a:p>
        </p:txBody>
      </p:sp>
      <p:sp>
        <p:nvSpPr>
          <p:cNvPr id="7" name="TextBox 6"/>
          <p:cNvSpPr/>
          <p:nvPr>
            <p:ph type="body" idx="5"/>
          </p:nvPr>
        </p:nvSpPr>
        <p:spPr>
          <a:xfrm>
            <a:off x="6233160" y="1499616"/>
            <a:ext cx="2613660" cy="518159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3400" b="1" i="0">
                <a:solidFill>
                  <a:srgbClr val="1C1C28"/>
                </a:solidFill>
                <a:latin typeface="Calibri"/>
              </a:rPr>
              <a:t>Speed</a:t>
            </a:r>
          </a:p>
        </p:txBody>
      </p:sp>
      <p:sp>
        <p:nvSpPr>
          <p:cNvPr id="8" name="TextBox 7"/>
          <p:cNvSpPr/>
          <p:nvPr>
            <p:ph type="body" idx="6"/>
          </p:nvPr>
        </p:nvSpPr>
        <p:spPr>
          <a:xfrm>
            <a:off x="6233160" y="2154935"/>
            <a:ext cx="2613660" cy="3605785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3400" b="0" i="0">
                <a:solidFill>
                  <a:srgbClr val="1C1C28"/>
                </a:solidFill>
                <a:latin typeface="Calibri"/>
              </a:rPr>
              <a:t>Sub-100ms p99 latency.</a:t>
            </a:r>
          </a:p>
        </p:txBody>
      </p:sp>
      <p:sp>
        <p:nvSpPr>
          <p:cNvPr id="9" name="TextBox 8"/>
          <p:cNvSpPr/>
          <p:nvPr>
            <p:ph type="body" idx="7"/>
          </p:nvPr>
        </p:nvSpPr>
        <p:spPr>
          <a:xfrm>
            <a:off x="9121140" y="1499616"/>
            <a:ext cx="2613660" cy="518159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3400" b="1" i="0">
                <a:solidFill>
                  <a:srgbClr val="1C1C28"/>
                </a:solidFill>
                <a:latin typeface="Calibri"/>
              </a:rPr>
              <a:t>APIs</a:t>
            </a:r>
          </a:p>
        </p:txBody>
      </p:sp>
      <p:sp>
        <p:nvSpPr>
          <p:cNvPr id="10" name="TextBox 9"/>
          <p:cNvSpPr/>
          <p:nvPr>
            <p:ph type="body" idx="8"/>
          </p:nvPr>
        </p:nvSpPr>
        <p:spPr>
          <a:xfrm>
            <a:off x="9121140" y="2154935"/>
            <a:ext cx="2613660" cy="3605785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3400" b="0" i="0">
                <a:solidFill>
                  <a:srgbClr val="1C1C28"/>
                </a:solidFill>
                <a:latin typeface="Calibri"/>
              </a:rPr>
              <a:t>300+ open connectors.</a:t>
            </a:r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slidekit · Section Divider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>
            <p:ph type="body" idx="1"/>
          </p:nvPr>
        </p:nvSpPr>
        <p:spPr>
          <a:xfrm>
            <a:off x="457200" y="1813560"/>
            <a:ext cx="128016" cy="1981200"/>
          </a:xfrm>
          <a:prstGeom prst="rect">
            <a:avLst/>
          </a:prstGeom>
          <a:solidFill>
            <a:srgbClr val="E2A03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/>
          <p:nvPr>
            <p:ph type="body" idx="2"/>
          </p:nvPr>
        </p:nvSpPr>
        <p:spPr>
          <a:xfrm>
            <a:off x="996696" y="1813560"/>
            <a:ext cx="10738104" cy="9753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5800" b="1" i="0">
                <a:solidFill>
                  <a:srgbClr val="E2A03F"/>
                </a:solidFill>
                <a:latin typeface="Calibri"/>
              </a:rPr>
              <a:t>01</a:t>
            </a:r>
          </a:p>
        </p:txBody>
      </p:sp>
      <p:sp>
        <p:nvSpPr>
          <p:cNvPr id="4" name="TextBox 3"/>
          <p:cNvSpPr/>
          <p:nvPr>
            <p:ph type="body" idx="3"/>
          </p:nvPr>
        </p:nvSpPr>
        <p:spPr>
          <a:xfrm>
            <a:off x="996696" y="3063240"/>
            <a:ext cx="10738104" cy="7315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4200" b="1" i="0">
                <a:solidFill>
                  <a:srgbClr val="1C1C28"/>
                </a:solidFill>
                <a:latin typeface="Calibri"/>
              </a:rPr>
              <a:t>Where We Stand Today</a:t>
            </a:r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slidekit · Agenda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/>
          <p:nvPr>
            <p:ph type="title"/>
          </p:nvPr>
        </p:nvSpPr>
        <p:spPr>
          <a:xfrm>
            <a:off x="457200" y="457200"/>
            <a:ext cx="11277600" cy="768096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4200" b="1" i="0">
                <a:solidFill>
                  <a:srgbClr val="1C1C28"/>
                </a:solidFill>
                <a:latin typeface="Calibri"/>
              </a:rPr>
              <a:t>What We Will Cover</a:t>
            </a:r>
          </a:p>
        </p:txBody>
      </p:sp>
      <p:sp>
        <p:nvSpPr>
          <p:cNvPr id="3" name="Rectangle 2"/>
          <p:cNvSpPr/>
          <p:nvPr>
            <p:ph type="body" idx="1"/>
          </p:nvPr>
        </p:nvSpPr>
        <p:spPr>
          <a:xfrm>
            <a:off x="457200" y="1280160"/>
            <a:ext cx="11277600" cy="64008"/>
          </a:xfrm>
          <a:prstGeom prst="rect">
            <a:avLst/>
          </a:prstGeom>
          <a:solidFill>
            <a:srgbClr val="E2A03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/>
          <p:nvPr>
            <p:ph type="body" idx="2"/>
          </p:nvPr>
        </p:nvSpPr>
        <p:spPr>
          <a:xfrm>
            <a:off x="457200" y="1618488"/>
            <a:ext cx="914400" cy="518159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3400" b="1" i="0">
                <a:solidFill>
                  <a:srgbClr val="E2A03F"/>
                </a:solidFill>
                <a:latin typeface="Calibri"/>
              </a:rPr>
              <a:t>01</a:t>
            </a:r>
          </a:p>
        </p:txBody>
      </p:sp>
      <p:sp>
        <p:nvSpPr>
          <p:cNvPr id="5" name="TextBox 4"/>
          <p:cNvSpPr/>
          <p:nvPr>
            <p:ph type="body" idx="3"/>
          </p:nvPr>
        </p:nvSpPr>
        <p:spPr>
          <a:xfrm>
            <a:off x="1371600" y="1618488"/>
            <a:ext cx="10363200" cy="518159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3400" b="0" i="0">
                <a:solidFill>
                  <a:srgbClr val="1C1C28"/>
                </a:solidFill>
                <a:latin typeface="Calibri"/>
              </a:rPr>
              <a:t>Performance against targets</a:t>
            </a:r>
          </a:p>
        </p:txBody>
      </p:sp>
      <p:sp>
        <p:nvSpPr>
          <p:cNvPr id="6" name="TextBox 5"/>
          <p:cNvSpPr/>
          <p:nvPr>
            <p:ph type="body" idx="4"/>
          </p:nvPr>
        </p:nvSpPr>
        <p:spPr>
          <a:xfrm>
            <a:off x="457200" y="2501798"/>
            <a:ext cx="914400" cy="518159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3400" b="1" i="0">
                <a:solidFill>
                  <a:srgbClr val="E2A03F"/>
                </a:solidFill>
                <a:latin typeface="Calibri"/>
              </a:rPr>
              <a:t>02</a:t>
            </a:r>
          </a:p>
        </p:txBody>
      </p:sp>
      <p:sp>
        <p:nvSpPr>
          <p:cNvPr id="7" name="TextBox 6"/>
          <p:cNvSpPr/>
          <p:nvPr>
            <p:ph type="body" idx="5"/>
          </p:nvPr>
        </p:nvSpPr>
        <p:spPr>
          <a:xfrm>
            <a:off x="1371600" y="2501798"/>
            <a:ext cx="10363200" cy="518159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3400" b="0" i="0">
                <a:solidFill>
                  <a:srgbClr val="1C1C28"/>
                </a:solidFill>
                <a:latin typeface="Calibri"/>
              </a:rPr>
              <a:t>Customer and market signals</a:t>
            </a:r>
          </a:p>
        </p:txBody>
      </p:sp>
      <p:sp>
        <p:nvSpPr>
          <p:cNvPr id="8" name="TextBox 7"/>
          <p:cNvSpPr/>
          <p:nvPr>
            <p:ph type="body" idx="6"/>
          </p:nvPr>
        </p:nvSpPr>
        <p:spPr>
          <a:xfrm>
            <a:off x="457200" y="3385108"/>
            <a:ext cx="914400" cy="518159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3400" b="1" i="0">
                <a:solidFill>
                  <a:srgbClr val="E2A03F"/>
                </a:solidFill>
                <a:latin typeface="Calibri"/>
              </a:rPr>
              <a:t>03</a:t>
            </a:r>
          </a:p>
        </p:txBody>
      </p:sp>
      <p:sp>
        <p:nvSpPr>
          <p:cNvPr id="9" name="TextBox 8"/>
          <p:cNvSpPr/>
          <p:nvPr>
            <p:ph type="body" idx="7"/>
          </p:nvPr>
        </p:nvSpPr>
        <p:spPr>
          <a:xfrm>
            <a:off x="1371600" y="3385108"/>
            <a:ext cx="10363200" cy="518159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3400" b="0" i="0">
                <a:solidFill>
                  <a:srgbClr val="1C1C28"/>
                </a:solidFill>
                <a:latin typeface="Calibri"/>
              </a:rPr>
              <a:t>Operational health and risks</a:t>
            </a:r>
          </a:p>
        </p:txBody>
      </p:sp>
      <p:sp>
        <p:nvSpPr>
          <p:cNvPr id="10" name="TextBox 9"/>
          <p:cNvSpPr/>
          <p:nvPr>
            <p:ph type="body" idx="8"/>
          </p:nvPr>
        </p:nvSpPr>
        <p:spPr>
          <a:xfrm>
            <a:off x="457200" y="4268418"/>
            <a:ext cx="914400" cy="518159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3400" b="1" i="0">
                <a:solidFill>
                  <a:srgbClr val="E2A03F"/>
                </a:solidFill>
                <a:latin typeface="Calibri"/>
              </a:rPr>
              <a:t>04</a:t>
            </a:r>
          </a:p>
        </p:txBody>
      </p:sp>
      <p:sp>
        <p:nvSpPr>
          <p:cNvPr id="11" name="TextBox 10"/>
          <p:cNvSpPr/>
          <p:nvPr>
            <p:ph type="body" idx="9"/>
          </p:nvPr>
        </p:nvSpPr>
        <p:spPr>
          <a:xfrm>
            <a:off x="1371600" y="4268418"/>
            <a:ext cx="10363200" cy="518159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3400" b="0" i="0">
                <a:solidFill>
                  <a:srgbClr val="1C1C28"/>
                </a:solidFill>
                <a:latin typeface="Calibri"/>
              </a:rPr>
              <a:t>Roadmap for next quarter</a:t>
            </a:r>
          </a:p>
        </p:txBody>
      </p:sp>
      <p:sp>
        <p:nvSpPr>
          <p:cNvPr id="12" name="TextBox 11"/>
          <p:cNvSpPr/>
          <p:nvPr>
            <p:ph type="body" idx="13"/>
          </p:nvPr>
        </p:nvSpPr>
        <p:spPr>
          <a:xfrm>
            <a:off x="457200" y="5151728"/>
            <a:ext cx="914400" cy="518159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3400" b="1" i="0">
                <a:solidFill>
                  <a:srgbClr val="E2A03F"/>
                </a:solidFill>
                <a:latin typeface="Calibri"/>
              </a:rPr>
              <a:t>05</a:t>
            </a:r>
          </a:p>
        </p:txBody>
      </p:sp>
      <p:sp>
        <p:nvSpPr>
          <p:cNvPr id="13" name="TextBox 12"/>
          <p:cNvSpPr/>
          <p:nvPr>
            <p:ph type="body" idx="14"/>
          </p:nvPr>
        </p:nvSpPr>
        <p:spPr>
          <a:xfrm>
            <a:off x="1371600" y="5151728"/>
            <a:ext cx="10363200" cy="518159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3400" b="0" i="0">
                <a:solidFill>
                  <a:srgbClr val="1C1C28"/>
                </a:solidFill>
                <a:latin typeface="Calibri"/>
              </a:rPr>
              <a:t>Decisions we need today</a:t>
            </a:r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slidekit · Big Number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/>
          <p:nvPr>
            <p:ph type="body" idx="1"/>
          </p:nvPr>
        </p:nvSpPr>
        <p:spPr>
          <a:xfrm>
            <a:off x="457200" y="2052066"/>
            <a:ext cx="11277600" cy="16383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/>
            <a:r>
              <a:rPr sz="10150" b="1" i="0">
                <a:solidFill>
                  <a:srgbClr val="E2A03F"/>
                </a:solidFill>
                <a:latin typeface="Calibri"/>
              </a:rPr>
              <a:t>3.2M</a:t>
            </a:r>
          </a:p>
        </p:txBody>
      </p:sp>
      <p:sp>
        <p:nvSpPr>
          <p:cNvPr id="3" name="Rectangle 2"/>
          <p:cNvSpPr/>
          <p:nvPr>
            <p:ph type="body" idx="2"/>
          </p:nvPr>
        </p:nvSpPr>
        <p:spPr>
          <a:xfrm>
            <a:off x="5547360" y="3745230"/>
            <a:ext cx="1097280" cy="54864"/>
          </a:xfrm>
          <a:prstGeom prst="rect">
            <a:avLst/>
          </a:prstGeom>
          <a:solidFill>
            <a:srgbClr val="E2A03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/>
          <p:nvPr>
            <p:ph type="body" idx="3"/>
          </p:nvPr>
        </p:nvSpPr>
        <p:spPr>
          <a:xfrm>
            <a:off x="457200" y="4074414"/>
            <a:ext cx="11277600" cy="7315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/>
            <a:r>
              <a:rPr sz="4200" b="0" i="0">
                <a:solidFill>
                  <a:srgbClr val="1C1C28"/>
                </a:solidFill>
                <a:latin typeface="Calibri"/>
              </a:rPr>
              <a:t>Active customers worldwide</a:t>
            </a:r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slidekit · Pull Quote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>
            <p:ph type="body" idx="1"/>
          </p:nvPr>
        </p:nvSpPr>
        <p:spPr>
          <a:xfrm>
            <a:off x="457200" y="2301240"/>
            <a:ext cx="128016" cy="2255520"/>
          </a:xfrm>
          <a:prstGeom prst="rect">
            <a:avLst/>
          </a:prstGeom>
          <a:solidFill>
            <a:srgbClr val="E2A03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/>
          <p:nvPr>
            <p:ph type="body" idx="2"/>
          </p:nvPr>
        </p:nvSpPr>
        <p:spPr>
          <a:xfrm>
            <a:off x="996696" y="2301240"/>
            <a:ext cx="10738104" cy="1371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4200" b="1" i="0">
                <a:solidFill>
                  <a:srgbClr val="1C1C28"/>
                </a:solidFill>
                <a:latin typeface="Calibri"/>
              </a:rPr>
              <a:t>"We stopped buying tools and started buying outcomes."</a:t>
            </a:r>
          </a:p>
        </p:txBody>
      </p:sp>
      <p:sp>
        <p:nvSpPr>
          <p:cNvPr id="4" name="TextBox 3"/>
          <p:cNvSpPr/>
          <p:nvPr>
            <p:ph type="body" idx="3"/>
          </p:nvPr>
        </p:nvSpPr>
        <p:spPr>
          <a:xfrm>
            <a:off x="996696" y="3947160"/>
            <a:ext cx="10738104" cy="609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3400" b="0" i="0">
                <a:solidFill>
                  <a:srgbClr val="8A8A9A"/>
                </a:solidFill>
                <a:latin typeface="Calibri"/>
              </a:rPr>
              <a:t>- VP of Engineering, enterprise customer</a:t>
            </a:r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slidekit · Definition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>
            <p:ph type="body" idx="1"/>
          </p:nvPr>
        </p:nvSpPr>
        <p:spPr>
          <a:xfrm>
            <a:off x="457200" y="1981200"/>
            <a:ext cx="128016" cy="2895600"/>
          </a:xfrm>
          <a:prstGeom prst="rect">
            <a:avLst/>
          </a:prstGeom>
          <a:solidFill>
            <a:srgbClr val="E2A03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/>
          <p:nvPr>
            <p:ph type="body" idx="2"/>
          </p:nvPr>
        </p:nvSpPr>
        <p:spPr>
          <a:xfrm>
            <a:off x="996696" y="1981200"/>
            <a:ext cx="10738104" cy="9753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5800" b="1" i="0">
                <a:solidFill>
                  <a:srgbClr val="E2A03F"/>
                </a:solidFill>
                <a:latin typeface="Calibri"/>
              </a:rPr>
              <a:t>Net Revenue Retention</a:t>
            </a:r>
          </a:p>
        </p:txBody>
      </p:sp>
      <p:sp>
        <p:nvSpPr>
          <p:cNvPr id="4" name="TextBox 3"/>
          <p:cNvSpPr/>
          <p:nvPr>
            <p:ph type="body" idx="3"/>
          </p:nvPr>
        </p:nvSpPr>
        <p:spPr>
          <a:xfrm>
            <a:off x="996696" y="3230880"/>
            <a:ext cx="10738104" cy="16459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3400" b="0" i="0">
                <a:solidFill>
                  <a:srgbClr val="1C1C28"/>
                </a:solidFill>
                <a:latin typeface="Calibri"/>
              </a:rPr>
              <a:t>The percentage of recurring revenue retained from existing customers over a period, including expansion and after churn.</a:t>
            </a:r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slidekit · Question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>
            <p:ph type="body" idx="1"/>
          </p:nvPr>
        </p:nvSpPr>
        <p:spPr>
          <a:xfrm>
            <a:off x="457200" y="2057400"/>
            <a:ext cx="128016" cy="2743200"/>
          </a:xfrm>
          <a:prstGeom prst="rect">
            <a:avLst/>
          </a:prstGeom>
          <a:solidFill>
            <a:srgbClr val="E2A03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/>
          <p:nvPr>
            <p:ph type="body" idx="2"/>
          </p:nvPr>
        </p:nvSpPr>
        <p:spPr>
          <a:xfrm>
            <a:off x="996696" y="2057400"/>
            <a:ext cx="10738104" cy="27432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5800" b="1" i="0">
                <a:solidFill>
                  <a:srgbClr val="1C1C28"/>
                </a:solidFill>
                <a:latin typeface="Calibri"/>
              </a:rPr>
              <a:t>What would we build if we trusted our customers completely?</a:t>
            </a:r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slidekit · Bullet List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/>
          <p:nvPr>
            <p:ph type="title"/>
          </p:nvPr>
        </p:nvSpPr>
        <p:spPr>
          <a:xfrm>
            <a:off x="457200" y="457200"/>
            <a:ext cx="11277600" cy="768096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4200" b="1" i="0">
                <a:solidFill>
                  <a:srgbClr val="1C1C28"/>
                </a:solidFill>
                <a:latin typeface="Calibri"/>
              </a:rPr>
              <a:t>What Changed This Quarter</a:t>
            </a:r>
          </a:p>
        </p:txBody>
      </p:sp>
      <p:sp>
        <p:nvSpPr>
          <p:cNvPr id="3" name="TextBox 2"/>
          <p:cNvSpPr/>
          <p:nvPr>
            <p:ph type="body" idx="1"/>
          </p:nvPr>
        </p:nvSpPr>
        <p:spPr>
          <a:xfrm>
            <a:off x="457200" y="1499616"/>
            <a:ext cx="11277600" cy="518159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3400" b="0" i="0">
                <a:solidFill>
                  <a:srgbClr val="1C1C28"/>
                </a:solidFill>
                <a:latin typeface="Calibri"/>
              </a:rPr>
              <a:t>Activation time dropped by half</a:t>
            </a:r>
          </a:p>
        </p:txBody>
      </p:sp>
      <p:sp>
        <p:nvSpPr>
          <p:cNvPr id="4" name="TextBox 3"/>
          <p:cNvSpPr/>
          <p:nvPr>
            <p:ph type="body" idx="2"/>
          </p:nvPr>
        </p:nvSpPr>
        <p:spPr>
          <a:xfrm>
            <a:off x="457200" y="3011424"/>
            <a:ext cx="11277600" cy="518159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3400" b="0" i="0">
                <a:solidFill>
                  <a:srgbClr val="1C1C28"/>
                </a:solidFill>
                <a:latin typeface="Calibri"/>
              </a:rPr>
              <a:t>Support tickets fell sharply</a:t>
            </a:r>
          </a:p>
        </p:txBody>
      </p:sp>
      <p:sp>
        <p:nvSpPr>
          <p:cNvPr id="5" name="TextBox 4"/>
          <p:cNvSpPr/>
          <p:nvPr>
            <p:ph type="body" idx="3"/>
          </p:nvPr>
        </p:nvSpPr>
        <p:spPr>
          <a:xfrm>
            <a:off x="457200" y="4523232"/>
            <a:ext cx="11277600" cy="518159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3400" b="0" i="0">
                <a:solidFill>
                  <a:srgbClr val="1C1C28"/>
                </a:solidFill>
                <a:latin typeface="Calibri"/>
              </a:rPr>
              <a:t>Expansion revenue outpaced new sales</a:t>
            </a:r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slidekit · Code Block">
    <p:bg>
      <p:bgPr>
        <a:solidFill>
          <a:srgbClr val="0C1A1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>
            <p:ph type="body" idx="1"/>
          </p:nvPr>
        </p:nvSpPr>
        <p:spPr>
          <a:xfrm>
            <a:off x="457200" y="457200"/>
            <a:ext cx="146304" cy="146304"/>
          </a:xfrm>
          <a:prstGeom prst="rect">
            <a:avLst/>
          </a:prstGeom>
          <a:solidFill>
            <a:srgbClr val="FF5F5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>
            <p:ph type="body" idx="2"/>
          </p:nvPr>
        </p:nvSpPr>
        <p:spPr>
          <a:xfrm>
            <a:off x="713232" y="457200"/>
            <a:ext cx="146304" cy="146304"/>
          </a:xfrm>
          <a:prstGeom prst="rect">
            <a:avLst/>
          </a:prstGeom>
          <a:solidFill>
            <a:srgbClr val="FFBD2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>
            <p:ph type="body" idx="3"/>
          </p:nvPr>
        </p:nvSpPr>
        <p:spPr>
          <a:xfrm>
            <a:off x="969264" y="457200"/>
            <a:ext cx="146304" cy="146304"/>
          </a:xfrm>
          <a:prstGeom prst="rect">
            <a:avLst/>
          </a:prstGeom>
          <a:solidFill>
            <a:srgbClr val="27C93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/>
          <p:nvPr>
            <p:ph type="body" idx="4"/>
          </p:nvPr>
        </p:nvSpPr>
        <p:spPr>
          <a:xfrm>
            <a:off x="457200" y="923544"/>
            <a:ext cx="11277600" cy="365759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2400" b="1" i="0">
                <a:solidFill>
                  <a:srgbClr val="858585"/>
                </a:solidFill>
                <a:latin typeface="Courier New"/>
              </a:rPr>
              <a:t>hello.py</a:t>
            </a:r>
          </a:p>
        </p:txBody>
      </p:sp>
      <p:sp>
        <p:nvSpPr>
          <p:cNvPr id="6" name="TextBox 5"/>
          <p:cNvSpPr/>
          <p:nvPr>
            <p:ph type="body" idx="5"/>
          </p:nvPr>
        </p:nvSpPr>
        <p:spPr>
          <a:xfrm>
            <a:off x="457200" y="1563623"/>
            <a:ext cx="6660934" cy="518159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3400" b="0" i="0">
                <a:solidFill>
                  <a:srgbClr val="6A9955"/>
                </a:solidFill>
                <a:latin typeface="Courier New"/>
              </a:rPr>
              <a:t># The classic, end to end</a:t>
            </a:r>
          </a:p>
        </p:txBody>
      </p:sp>
      <p:sp>
        <p:nvSpPr>
          <p:cNvPr id="7" name="TextBox 6"/>
          <p:cNvSpPr/>
          <p:nvPr>
            <p:ph type="body" idx="6"/>
          </p:nvPr>
        </p:nvSpPr>
        <p:spPr>
          <a:xfrm>
            <a:off x="457200" y="2081782"/>
            <a:ext cx="960247" cy="518159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3400" b="0" i="0">
                <a:solidFill>
                  <a:srgbClr val="569CD6"/>
                </a:solidFill>
                <a:latin typeface="Courier New"/>
              </a:rPr>
              <a:t>def</a:t>
            </a:r>
          </a:p>
        </p:txBody>
      </p:sp>
      <p:sp>
        <p:nvSpPr>
          <p:cNvPr id="8" name="TextBox 7"/>
          <p:cNvSpPr/>
          <p:nvPr>
            <p:ph type="body" idx="7"/>
          </p:nvPr>
        </p:nvSpPr>
        <p:spPr>
          <a:xfrm>
            <a:off x="1234567" y="2081782"/>
            <a:ext cx="442002" cy="518159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3400" b="0" i="0">
                <a:solidFill>
                  <a:srgbClr val="D4D4D4"/>
                </a:solidFill>
                <a:latin typeface="Courier New"/>
              </a:rPr>
              <a:t> </a:t>
            </a:r>
          </a:p>
        </p:txBody>
      </p:sp>
      <p:sp>
        <p:nvSpPr>
          <p:cNvPr id="9" name="TextBox 8"/>
          <p:cNvSpPr/>
          <p:nvPr>
            <p:ph type="body" idx="8"/>
          </p:nvPr>
        </p:nvSpPr>
        <p:spPr>
          <a:xfrm>
            <a:off x="1493689" y="2081782"/>
            <a:ext cx="1219369" cy="518159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3400" b="0" i="0">
                <a:solidFill>
                  <a:srgbClr val="DCDCAA"/>
                </a:solidFill>
                <a:latin typeface="Courier New"/>
              </a:rPr>
              <a:t>main</a:t>
            </a:r>
          </a:p>
        </p:txBody>
      </p:sp>
      <p:sp>
        <p:nvSpPr>
          <p:cNvPr id="10" name="TextBox 9"/>
          <p:cNvSpPr/>
          <p:nvPr>
            <p:ph type="body" idx="9"/>
          </p:nvPr>
        </p:nvSpPr>
        <p:spPr>
          <a:xfrm>
            <a:off x="2530177" y="2081782"/>
            <a:ext cx="960247" cy="518159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3400" b="0" i="0">
                <a:solidFill>
                  <a:srgbClr val="D4D4D4"/>
                </a:solidFill>
                <a:latin typeface="Courier New"/>
              </a:rPr>
              <a:t>():</a:t>
            </a:r>
          </a:p>
        </p:txBody>
      </p:sp>
      <p:sp>
        <p:nvSpPr>
          <p:cNvPr id="11" name="TextBox 10"/>
          <p:cNvSpPr/>
          <p:nvPr>
            <p:ph type="body" idx="13"/>
          </p:nvPr>
        </p:nvSpPr>
        <p:spPr>
          <a:xfrm>
            <a:off x="457200" y="2599941"/>
            <a:ext cx="1219369" cy="518159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3400" b="0" i="0">
                <a:solidFill>
                  <a:srgbClr val="D4D4D4"/>
                </a:solidFill>
                <a:latin typeface="Courier New"/>
              </a:rPr>
              <a:t>    </a:t>
            </a:r>
          </a:p>
        </p:txBody>
      </p:sp>
      <p:sp>
        <p:nvSpPr>
          <p:cNvPr id="12" name="TextBox 11"/>
          <p:cNvSpPr/>
          <p:nvPr>
            <p:ph type="body" idx="14"/>
          </p:nvPr>
        </p:nvSpPr>
        <p:spPr>
          <a:xfrm>
            <a:off x="1493689" y="2599941"/>
            <a:ext cx="1478491" cy="518159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3400" b="0" i="0">
                <a:solidFill>
                  <a:srgbClr val="DCDCAA"/>
                </a:solidFill>
                <a:latin typeface="Courier New"/>
              </a:rPr>
              <a:t>print</a:t>
            </a:r>
          </a:p>
        </p:txBody>
      </p:sp>
      <p:sp>
        <p:nvSpPr>
          <p:cNvPr id="13" name="TextBox 12"/>
          <p:cNvSpPr/>
          <p:nvPr>
            <p:ph type="body" idx="15"/>
          </p:nvPr>
        </p:nvSpPr>
        <p:spPr>
          <a:xfrm>
            <a:off x="2789300" y="2599941"/>
            <a:ext cx="442002" cy="518159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3400" b="0" i="0">
                <a:solidFill>
                  <a:srgbClr val="D4D4D4"/>
                </a:solidFill>
                <a:latin typeface="Courier New"/>
              </a:rPr>
              <a:t>(</a:t>
            </a:r>
          </a:p>
        </p:txBody>
      </p:sp>
      <p:sp>
        <p:nvSpPr>
          <p:cNvPr id="14" name="TextBox 13"/>
          <p:cNvSpPr/>
          <p:nvPr>
            <p:ph type="body" idx="16"/>
          </p:nvPr>
        </p:nvSpPr>
        <p:spPr>
          <a:xfrm>
            <a:off x="3048422" y="2599941"/>
            <a:ext cx="4069713" cy="518159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3400" b="0" i="0">
                <a:solidFill>
                  <a:srgbClr val="CE9178"/>
                </a:solidFill>
                <a:latin typeface="Courier New"/>
              </a:rPr>
              <a:t>"Hello, world!"</a:t>
            </a:r>
          </a:p>
        </p:txBody>
      </p:sp>
      <p:sp>
        <p:nvSpPr>
          <p:cNvPr id="15" name="TextBox 14"/>
          <p:cNvSpPr/>
          <p:nvPr>
            <p:ph type="body" idx="17"/>
          </p:nvPr>
        </p:nvSpPr>
        <p:spPr>
          <a:xfrm>
            <a:off x="6935254" y="2599941"/>
            <a:ext cx="442002" cy="518159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3400" b="0" i="0">
                <a:solidFill>
                  <a:srgbClr val="D4D4D4"/>
                </a:solidFill>
                <a:latin typeface="Courier New"/>
              </a:rPr>
              <a:t>)</a:t>
            </a:r>
          </a:p>
        </p:txBody>
      </p:sp>
      <p:sp>
        <p:nvSpPr>
          <p:cNvPr id="16" name="TextBox 15"/>
          <p:cNvSpPr/>
          <p:nvPr>
            <p:ph type="body" idx="18"/>
          </p:nvPr>
        </p:nvSpPr>
        <p:spPr>
          <a:xfrm>
            <a:off x="457200" y="3636259"/>
            <a:ext cx="1219369" cy="518159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3400" b="0" i="0">
                <a:solidFill>
                  <a:srgbClr val="DCDCAA"/>
                </a:solidFill>
                <a:latin typeface="Courier New"/>
              </a:rPr>
              <a:t>main</a:t>
            </a:r>
          </a:p>
        </p:txBody>
      </p:sp>
      <p:sp>
        <p:nvSpPr>
          <p:cNvPr id="17" name="TextBox 16"/>
          <p:cNvSpPr/>
          <p:nvPr>
            <p:ph type="body" idx="19"/>
          </p:nvPr>
        </p:nvSpPr>
        <p:spPr>
          <a:xfrm>
            <a:off x="1493689" y="3636259"/>
            <a:ext cx="701124" cy="518159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3400" b="0" i="0">
                <a:solidFill>
                  <a:srgbClr val="D4D4D4"/>
                </a:solidFill>
                <a:latin typeface="Courier New"/>
              </a:rPr>
              <a:t>()</a:t>
            </a:r>
          </a:p>
        </p:txBody>
      </p:sp>
      <p:sp>
        <p:nvSpPr>
          <p:cNvPr id="18" name="TextBox 17"/>
          <p:cNvSpPr/>
          <p:nvPr>
            <p:ph type="body" idx="20"/>
          </p:nvPr>
        </p:nvSpPr>
        <p:spPr>
          <a:xfrm>
            <a:off x="457200" y="4672577"/>
            <a:ext cx="442002" cy="518159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3400" b="0" i="0">
                <a:solidFill>
                  <a:srgbClr val="4EC9B0"/>
                </a:solidFill>
                <a:latin typeface="Courier New"/>
              </a:rPr>
              <a:t>$</a:t>
            </a:r>
          </a:p>
        </p:txBody>
      </p:sp>
      <p:sp>
        <p:nvSpPr>
          <p:cNvPr id="19" name="TextBox 18"/>
          <p:cNvSpPr/>
          <p:nvPr>
            <p:ph type="body" idx="21"/>
          </p:nvPr>
        </p:nvSpPr>
        <p:spPr>
          <a:xfrm>
            <a:off x="716322" y="4672577"/>
            <a:ext cx="4328835" cy="518159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3400" b="0" i="0">
                <a:solidFill>
                  <a:srgbClr val="D4D4D4"/>
                </a:solidFill>
                <a:latin typeface="Courier New"/>
              </a:rPr>
              <a:t> python hello.py</a:t>
            </a:r>
          </a:p>
        </p:txBody>
      </p:sp>
      <p:sp>
        <p:nvSpPr>
          <p:cNvPr id="20" name="TextBox 19"/>
          <p:cNvSpPr/>
          <p:nvPr>
            <p:ph type="body" idx="22"/>
          </p:nvPr>
        </p:nvSpPr>
        <p:spPr>
          <a:xfrm>
            <a:off x="457200" y="5190736"/>
            <a:ext cx="3551468" cy="518159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3400" b="0" i="0">
                <a:solidFill>
                  <a:srgbClr val="D4D4D4"/>
                </a:solidFill>
                <a:latin typeface="Courier New"/>
              </a:rPr>
              <a:t>Hello, world!</a:t>
            </a:r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slidekit · File Tree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/>
          <p:nvPr>
            <p:ph type="title"/>
          </p:nvPr>
        </p:nvSpPr>
        <p:spPr>
          <a:xfrm>
            <a:off x="457200" y="457200"/>
            <a:ext cx="11277600" cy="768096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4200" b="1" i="0">
                <a:solidFill>
                  <a:srgbClr val="16504B"/>
                </a:solidFill>
                <a:latin typeface="Calibri"/>
              </a:rPr>
              <a:t>Final folder shape</a:t>
            </a:r>
          </a:p>
        </p:txBody>
      </p:sp>
      <p:sp>
        <p:nvSpPr>
          <p:cNvPr id="3" name="Rounded Rectangle 2"/>
          <p:cNvSpPr/>
          <p:nvPr>
            <p:ph type="body" idx="1"/>
          </p:nvPr>
        </p:nvSpPr>
        <p:spPr>
          <a:xfrm>
            <a:off x="457200" y="1499616"/>
            <a:ext cx="11277600" cy="4261104"/>
          </a:xfrm>
          <a:prstGeom prst="roundRect">
            <a:avLst>
              <a:gd name="adj" fmla="val 3004"/>
            </a:avLst>
          </a:prstGeom>
          <a:solidFill>
            <a:srgbClr val="0C1A1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/>
          <p:nvPr>
            <p:ph type="body" idx="2"/>
          </p:nvPr>
        </p:nvSpPr>
        <p:spPr>
          <a:xfrm>
            <a:off x="822960" y="1819656"/>
            <a:ext cx="3947773" cy="396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2600" b="1" i="0">
                <a:solidFill>
                  <a:srgbClr val="E2A03F"/>
                </a:solidFill>
                <a:latin typeface="Courier New"/>
              </a:rPr>
              <a:t>simple-eda-project/</a:t>
            </a:r>
          </a:p>
        </p:txBody>
      </p:sp>
      <p:sp>
        <p:nvSpPr>
          <p:cNvPr id="5" name="TextBox 4"/>
          <p:cNvSpPr/>
          <p:nvPr>
            <p:ph type="body" idx="3"/>
          </p:nvPr>
        </p:nvSpPr>
        <p:spPr>
          <a:xfrm>
            <a:off x="822960" y="2215896"/>
            <a:ext cx="777337" cy="396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2600" b="0" i="0">
                <a:solidFill>
                  <a:srgbClr val="55707A"/>
                </a:solidFill>
                <a:latin typeface="Courier New"/>
              </a:rPr>
              <a:t>├─ </a:t>
            </a:r>
          </a:p>
        </p:txBody>
      </p:sp>
      <p:sp>
        <p:nvSpPr>
          <p:cNvPr id="6" name="TextBox 5"/>
          <p:cNvSpPr/>
          <p:nvPr>
            <p:ph type="body" idx="4"/>
          </p:nvPr>
        </p:nvSpPr>
        <p:spPr>
          <a:xfrm>
            <a:off x="1417417" y="2215896"/>
            <a:ext cx="975489" cy="396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2600" b="1" i="0">
                <a:solidFill>
                  <a:srgbClr val="E2A03F"/>
                </a:solidFill>
                <a:latin typeface="Courier New"/>
              </a:rPr>
              <a:t>src/</a:t>
            </a:r>
          </a:p>
        </p:txBody>
      </p:sp>
      <p:sp>
        <p:nvSpPr>
          <p:cNvPr id="7" name="TextBox 6"/>
          <p:cNvSpPr/>
          <p:nvPr>
            <p:ph type="body" idx="5"/>
          </p:nvPr>
        </p:nvSpPr>
        <p:spPr>
          <a:xfrm>
            <a:off x="822960" y="2612136"/>
            <a:ext cx="1371793" cy="396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2600" b="0" i="0">
                <a:solidFill>
                  <a:srgbClr val="55707A"/>
                </a:solidFill>
                <a:latin typeface="Courier New"/>
              </a:rPr>
              <a:t>│  └─ </a:t>
            </a:r>
          </a:p>
        </p:txBody>
      </p:sp>
      <p:sp>
        <p:nvSpPr>
          <p:cNvPr id="8" name="TextBox 7"/>
          <p:cNvSpPr/>
          <p:nvPr>
            <p:ph type="body" idx="6"/>
          </p:nvPr>
        </p:nvSpPr>
        <p:spPr>
          <a:xfrm>
            <a:off x="2011873" y="2612136"/>
            <a:ext cx="2362555" cy="396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2600" b="1" i="0">
                <a:solidFill>
                  <a:srgbClr val="E2A03F"/>
                </a:solidFill>
                <a:latin typeface="Courier New"/>
              </a:rPr>
              <a:t>simple_eda/</a:t>
            </a:r>
          </a:p>
        </p:txBody>
      </p:sp>
      <p:sp>
        <p:nvSpPr>
          <p:cNvPr id="9" name="TextBox 8"/>
          <p:cNvSpPr/>
          <p:nvPr>
            <p:ph type="body" idx="7"/>
          </p:nvPr>
        </p:nvSpPr>
        <p:spPr>
          <a:xfrm>
            <a:off x="822960" y="3008376"/>
            <a:ext cx="1966250" cy="396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2600" b="0" i="0">
                <a:solidFill>
                  <a:srgbClr val="55707A"/>
                </a:solidFill>
                <a:latin typeface="Courier New"/>
              </a:rPr>
              <a:t>│     ├─ </a:t>
            </a:r>
          </a:p>
        </p:txBody>
      </p:sp>
      <p:sp>
        <p:nvSpPr>
          <p:cNvPr id="10" name="TextBox 9"/>
          <p:cNvSpPr/>
          <p:nvPr>
            <p:ph type="body" idx="8"/>
          </p:nvPr>
        </p:nvSpPr>
        <p:spPr>
          <a:xfrm>
            <a:off x="2606330" y="3008376"/>
            <a:ext cx="2362555" cy="396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2600" b="0" i="0">
                <a:solidFill>
                  <a:srgbClr val="D4D4D4"/>
                </a:solidFill>
                <a:latin typeface="Courier New"/>
              </a:rPr>
              <a:t>__init__.py</a:t>
            </a:r>
          </a:p>
        </p:txBody>
      </p:sp>
      <p:sp>
        <p:nvSpPr>
          <p:cNvPr id="11" name="TextBox 10"/>
          <p:cNvSpPr/>
          <p:nvPr>
            <p:ph type="body" idx="9"/>
          </p:nvPr>
        </p:nvSpPr>
        <p:spPr>
          <a:xfrm>
            <a:off x="822960" y="3404616"/>
            <a:ext cx="1966250" cy="396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2600" b="0" i="0">
                <a:solidFill>
                  <a:srgbClr val="55707A"/>
                </a:solidFill>
                <a:latin typeface="Courier New"/>
              </a:rPr>
              <a:t>│     └─ </a:t>
            </a:r>
          </a:p>
        </p:txBody>
      </p:sp>
      <p:sp>
        <p:nvSpPr>
          <p:cNvPr id="12" name="TextBox 11"/>
          <p:cNvSpPr/>
          <p:nvPr>
            <p:ph type="body" idx="13"/>
          </p:nvPr>
        </p:nvSpPr>
        <p:spPr>
          <a:xfrm>
            <a:off x="2606330" y="3404616"/>
            <a:ext cx="1569946" cy="396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2600" b="0" i="0">
                <a:solidFill>
                  <a:srgbClr val="D4D4D4"/>
                </a:solidFill>
                <a:latin typeface="Courier New"/>
              </a:rPr>
              <a:t>core.py</a:t>
            </a:r>
          </a:p>
        </p:txBody>
      </p:sp>
      <p:sp>
        <p:nvSpPr>
          <p:cNvPr id="13" name="TextBox 12"/>
          <p:cNvSpPr/>
          <p:nvPr>
            <p:ph type="body" idx="14"/>
          </p:nvPr>
        </p:nvSpPr>
        <p:spPr>
          <a:xfrm>
            <a:off x="822960" y="3800856"/>
            <a:ext cx="777337" cy="396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2600" b="0" i="0">
                <a:solidFill>
                  <a:srgbClr val="55707A"/>
                </a:solidFill>
                <a:latin typeface="Courier New"/>
              </a:rPr>
              <a:t>├─ </a:t>
            </a:r>
          </a:p>
        </p:txBody>
      </p:sp>
      <p:sp>
        <p:nvSpPr>
          <p:cNvPr id="14" name="TextBox 13"/>
          <p:cNvSpPr/>
          <p:nvPr>
            <p:ph type="body" idx="15"/>
          </p:nvPr>
        </p:nvSpPr>
        <p:spPr>
          <a:xfrm>
            <a:off x="1417417" y="3800856"/>
            <a:ext cx="1966250" cy="396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2600" b="0" i="0">
                <a:solidFill>
                  <a:srgbClr val="D4D4D4"/>
                </a:solidFill>
                <a:latin typeface="Courier New"/>
              </a:rPr>
              <a:t>README.md</a:t>
            </a:r>
          </a:p>
        </p:txBody>
      </p:sp>
      <p:sp>
        <p:nvSpPr>
          <p:cNvPr id="15" name="TextBox 14"/>
          <p:cNvSpPr/>
          <p:nvPr>
            <p:ph type="body" idx="16"/>
          </p:nvPr>
        </p:nvSpPr>
        <p:spPr>
          <a:xfrm>
            <a:off x="822960" y="4197096"/>
            <a:ext cx="777337" cy="396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2600" b="0" i="0">
                <a:solidFill>
                  <a:srgbClr val="55707A"/>
                </a:solidFill>
                <a:latin typeface="Courier New"/>
              </a:rPr>
              <a:t>├─ </a:t>
            </a:r>
          </a:p>
        </p:txBody>
      </p:sp>
      <p:sp>
        <p:nvSpPr>
          <p:cNvPr id="16" name="TextBox 15"/>
          <p:cNvSpPr/>
          <p:nvPr>
            <p:ph type="body" idx="17"/>
          </p:nvPr>
        </p:nvSpPr>
        <p:spPr>
          <a:xfrm>
            <a:off x="1417417" y="4197096"/>
            <a:ext cx="2957011" cy="396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2600" b="0" i="0">
                <a:solidFill>
                  <a:srgbClr val="D4D4D4"/>
                </a:solidFill>
                <a:latin typeface="Courier New"/>
              </a:rPr>
              <a:t>pyproject.toml</a:t>
            </a:r>
          </a:p>
        </p:txBody>
      </p:sp>
      <p:sp>
        <p:nvSpPr>
          <p:cNvPr id="17" name="TextBox 16"/>
          <p:cNvSpPr/>
          <p:nvPr>
            <p:ph type="body" idx="18"/>
          </p:nvPr>
        </p:nvSpPr>
        <p:spPr>
          <a:xfrm>
            <a:off x="822960" y="4593336"/>
            <a:ext cx="777337" cy="396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2600" b="0" i="0">
                <a:solidFill>
                  <a:srgbClr val="55707A"/>
                </a:solidFill>
                <a:latin typeface="Courier New"/>
              </a:rPr>
              <a:t>└─ </a:t>
            </a:r>
          </a:p>
        </p:txBody>
      </p:sp>
      <p:sp>
        <p:nvSpPr>
          <p:cNvPr id="18" name="TextBox 17"/>
          <p:cNvSpPr/>
          <p:nvPr>
            <p:ph type="body" idx="19"/>
          </p:nvPr>
        </p:nvSpPr>
        <p:spPr>
          <a:xfrm>
            <a:off x="1417417" y="4593336"/>
            <a:ext cx="1569946" cy="396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2600" b="0" i="0">
                <a:solidFill>
                  <a:srgbClr val="D4D4D4"/>
                </a:solidFill>
                <a:latin typeface="Courier New"/>
              </a:rPr>
              <a:t>LICENSE</a:t>
            </a:r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slidekit · Numbered Steps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/>
          <p:nvPr>
            <p:ph type="title"/>
          </p:nvPr>
        </p:nvSpPr>
        <p:spPr>
          <a:xfrm>
            <a:off x="457200" y="457200"/>
            <a:ext cx="11277600" cy="768096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4200" b="1" i="0">
                <a:solidFill>
                  <a:srgbClr val="1C1C28"/>
                </a:solidFill>
                <a:latin typeface="Calibri"/>
              </a:rPr>
              <a:t>Three Steps to Onboard</a:t>
            </a:r>
          </a:p>
        </p:txBody>
      </p:sp>
      <p:sp>
        <p:nvSpPr>
          <p:cNvPr id="3" name="TextBox 2"/>
          <p:cNvSpPr/>
          <p:nvPr>
            <p:ph type="body" idx="1"/>
          </p:nvPr>
        </p:nvSpPr>
        <p:spPr>
          <a:xfrm>
            <a:off x="457200" y="1499616"/>
            <a:ext cx="925160" cy="6400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4200" b="1" i="0">
                <a:solidFill>
                  <a:srgbClr val="E2A03F"/>
                </a:solidFill>
                <a:latin typeface="Calibri"/>
              </a:rPr>
              <a:t>01</a:t>
            </a:r>
          </a:p>
        </p:txBody>
      </p:sp>
      <p:sp>
        <p:nvSpPr>
          <p:cNvPr id="4" name="TextBox 3"/>
          <p:cNvSpPr/>
          <p:nvPr>
            <p:ph type="body" idx="2"/>
          </p:nvPr>
        </p:nvSpPr>
        <p:spPr>
          <a:xfrm>
            <a:off x="1610960" y="1499616"/>
            <a:ext cx="10123840" cy="518159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3400" b="1" i="0">
                <a:solidFill>
                  <a:srgbClr val="16504B"/>
                </a:solidFill>
                <a:latin typeface="Calibri"/>
              </a:rPr>
              <a:t>Connect your data</a:t>
            </a:r>
          </a:p>
        </p:txBody>
      </p:sp>
      <p:sp>
        <p:nvSpPr>
          <p:cNvPr id="5" name="TextBox 4"/>
          <p:cNvSpPr/>
          <p:nvPr>
            <p:ph type="body" idx="3"/>
          </p:nvPr>
        </p:nvSpPr>
        <p:spPr>
          <a:xfrm>
            <a:off x="1610960" y="2109215"/>
            <a:ext cx="10123840" cy="627889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3400" b="0" i="0">
                <a:solidFill>
                  <a:srgbClr val="1C1C28"/>
                </a:solidFill>
                <a:latin typeface="Calibri"/>
              </a:rPr>
              <a:t>Link a source in minutes with a guided wizard.</a:t>
            </a:r>
          </a:p>
        </p:txBody>
      </p:sp>
      <p:sp>
        <p:nvSpPr>
          <p:cNvPr id="6" name="TextBox 5"/>
          <p:cNvSpPr/>
          <p:nvPr>
            <p:ph type="body" idx="4"/>
          </p:nvPr>
        </p:nvSpPr>
        <p:spPr>
          <a:xfrm>
            <a:off x="457200" y="3011424"/>
            <a:ext cx="925160" cy="6400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4200" b="1" i="0">
                <a:solidFill>
                  <a:srgbClr val="E2A03F"/>
                </a:solidFill>
                <a:latin typeface="Calibri"/>
              </a:rPr>
              <a:t>02</a:t>
            </a:r>
          </a:p>
        </p:txBody>
      </p:sp>
      <p:sp>
        <p:nvSpPr>
          <p:cNvPr id="7" name="TextBox 6"/>
          <p:cNvSpPr/>
          <p:nvPr>
            <p:ph type="body" idx="5"/>
          </p:nvPr>
        </p:nvSpPr>
        <p:spPr>
          <a:xfrm>
            <a:off x="1610960" y="3011424"/>
            <a:ext cx="10123840" cy="518159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3400" b="1" i="0">
                <a:solidFill>
                  <a:srgbClr val="16504B"/>
                </a:solidFill>
                <a:latin typeface="Calibri"/>
              </a:rPr>
              <a:t>Pick a template</a:t>
            </a:r>
          </a:p>
        </p:txBody>
      </p:sp>
      <p:sp>
        <p:nvSpPr>
          <p:cNvPr id="8" name="TextBox 7"/>
          <p:cNvSpPr/>
          <p:nvPr>
            <p:ph type="body" idx="6"/>
          </p:nvPr>
        </p:nvSpPr>
        <p:spPr>
          <a:xfrm>
            <a:off x="1610960" y="3621023"/>
            <a:ext cx="10123840" cy="627889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3400" b="0" i="0">
                <a:solidFill>
                  <a:srgbClr val="1C1C28"/>
                </a:solidFill>
                <a:latin typeface="Calibri"/>
              </a:rPr>
              <a:t>Start from a proven layout, then tailor it.</a:t>
            </a:r>
          </a:p>
        </p:txBody>
      </p:sp>
      <p:sp>
        <p:nvSpPr>
          <p:cNvPr id="9" name="TextBox 8"/>
          <p:cNvSpPr/>
          <p:nvPr>
            <p:ph type="body" idx="7"/>
          </p:nvPr>
        </p:nvSpPr>
        <p:spPr>
          <a:xfrm>
            <a:off x="457200" y="4523232"/>
            <a:ext cx="925160" cy="6400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4200" b="1" i="0">
                <a:solidFill>
                  <a:srgbClr val="E2A03F"/>
                </a:solidFill>
                <a:latin typeface="Calibri"/>
              </a:rPr>
              <a:t>03</a:t>
            </a:r>
          </a:p>
        </p:txBody>
      </p:sp>
      <p:sp>
        <p:nvSpPr>
          <p:cNvPr id="10" name="TextBox 9"/>
          <p:cNvSpPr/>
          <p:nvPr>
            <p:ph type="body" idx="8"/>
          </p:nvPr>
        </p:nvSpPr>
        <p:spPr>
          <a:xfrm>
            <a:off x="1610960" y="4523232"/>
            <a:ext cx="10123840" cy="518159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3400" b="1" i="0">
                <a:solidFill>
                  <a:srgbClr val="16504B"/>
                </a:solidFill>
                <a:latin typeface="Calibri"/>
              </a:rPr>
              <a:t>Share the result</a:t>
            </a:r>
          </a:p>
        </p:txBody>
      </p:sp>
      <p:sp>
        <p:nvSpPr>
          <p:cNvPr id="11" name="TextBox 10"/>
          <p:cNvSpPr/>
          <p:nvPr>
            <p:ph type="body" idx="9"/>
          </p:nvPr>
        </p:nvSpPr>
        <p:spPr>
          <a:xfrm>
            <a:off x="1610960" y="5132831"/>
            <a:ext cx="10123840" cy="627889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3400" b="0" i="0">
                <a:solidFill>
                  <a:srgbClr val="1C1C28"/>
                </a:solidFill>
                <a:latin typeface="Calibri"/>
              </a:rPr>
              <a:t>Publish to your team and gather feedback fast.</a:t>
            </a:r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slidekit · Two Panel List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/>
          <p:nvPr>
            <p:ph type="title"/>
          </p:nvPr>
        </p:nvSpPr>
        <p:spPr>
          <a:xfrm>
            <a:off x="457200" y="457200"/>
            <a:ext cx="11277600" cy="768096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4200" b="1" i="0">
                <a:solidFill>
                  <a:srgbClr val="16504B"/>
                </a:solidFill>
                <a:latin typeface="Calibri"/>
              </a:rPr>
              <a:t>Onboarding, Reworked</a:t>
            </a:r>
          </a:p>
        </p:txBody>
      </p:sp>
      <p:sp>
        <p:nvSpPr>
          <p:cNvPr id="3" name="TextBox 2"/>
          <p:cNvSpPr/>
          <p:nvPr>
            <p:ph type="body" idx="1"/>
          </p:nvPr>
        </p:nvSpPr>
        <p:spPr>
          <a:xfrm>
            <a:off x="457200" y="1499616"/>
            <a:ext cx="5501640" cy="621791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3400" b="1" i="0">
                <a:solidFill>
                  <a:srgbClr val="8A8A9A"/>
                </a:solidFill>
                <a:latin typeface="Calibri"/>
              </a:rPr>
              <a:t>Before</a:t>
            </a:r>
          </a:p>
        </p:txBody>
      </p:sp>
      <p:sp>
        <p:nvSpPr>
          <p:cNvPr id="4" name="Rectangle 3"/>
          <p:cNvSpPr/>
          <p:nvPr>
            <p:ph type="body" idx="2"/>
          </p:nvPr>
        </p:nvSpPr>
        <p:spPr>
          <a:xfrm>
            <a:off x="457200" y="2176271"/>
            <a:ext cx="1650492" cy="54864"/>
          </a:xfrm>
          <a:prstGeom prst="rect">
            <a:avLst/>
          </a:prstGeom>
          <a:solidFill>
            <a:srgbClr val="8A8A9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/>
          <p:nvPr>
            <p:ph type="body" idx="3"/>
          </p:nvPr>
        </p:nvSpPr>
        <p:spPr>
          <a:xfrm>
            <a:off x="6233160" y="1499616"/>
            <a:ext cx="5501640" cy="621791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3400" b="1" i="0">
                <a:solidFill>
                  <a:srgbClr val="E2A03F"/>
                </a:solidFill>
                <a:latin typeface="Calibri"/>
              </a:rPr>
              <a:t>After</a:t>
            </a:r>
          </a:p>
        </p:txBody>
      </p:sp>
      <p:sp>
        <p:nvSpPr>
          <p:cNvPr id="6" name="Rectangle 5"/>
          <p:cNvSpPr/>
          <p:nvPr>
            <p:ph type="body" idx="4"/>
          </p:nvPr>
        </p:nvSpPr>
        <p:spPr>
          <a:xfrm>
            <a:off x="6233160" y="2176271"/>
            <a:ext cx="1650492" cy="54864"/>
          </a:xfrm>
          <a:prstGeom prst="rect">
            <a:avLst/>
          </a:prstGeom>
          <a:solidFill>
            <a:srgbClr val="E2A03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/>
          <p:nvPr>
            <p:ph type="body" idx="5"/>
          </p:nvPr>
        </p:nvSpPr>
        <p:spPr>
          <a:xfrm>
            <a:off x="457200" y="2395727"/>
            <a:ext cx="5501640" cy="609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3400" b="0" i="0">
                <a:solidFill>
                  <a:srgbClr val="1C1C28"/>
                </a:solidFill>
                <a:latin typeface="Calibri"/>
              </a:rPr>
              <a:t>Manual account setup</a:t>
            </a:r>
          </a:p>
        </p:txBody>
      </p:sp>
      <p:sp>
        <p:nvSpPr>
          <p:cNvPr id="8" name="TextBox 7"/>
          <p:cNvSpPr/>
          <p:nvPr>
            <p:ph type="body" idx="6"/>
          </p:nvPr>
        </p:nvSpPr>
        <p:spPr>
          <a:xfrm>
            <a:off x="457200" y="3608831"/>
            <a:ext cx="5501640" cy="609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3400" b="0" i="0">
                <a:solidFill>
                  <a:srgbClr val="1C1C28"/>
                </a:solidFill>
                <a:latin typeface="Calibri"/>
              </a:rPr>
              <a:t>Three-day approval wait</a:t>
            </a:r>
          </a:p>
        </p:txBody>
      </p:sp>
      <p:sp>
        <p:nvSpPr>
          <p:cNvPr id="9" name="TextBox 8"/>
          <p:cNvSpPr/>
          <p:nvPr>
            <p:ph type="body" idx="7"/>
          </p:nvPr>
        </p:nvSpPr>
        <p:spPr>
          <a:xfrm>
            <a:off x="457200" y="4821935"/>
            <a:ext cx="5501640" cy="609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3400" b="0" i="0">
                <a:solidFill>
                  <a:srgbClr val="1C1C28"/>
                </a:solidFill>
                <a:latin typeface="Calibri"/>
              </a:rPr>
              <a:t>Email-only support</a:t>
            </a:r>
          </a:p>
        </p:txBody>
      </p:sp>
      <p:sp>
        <p:nvSpPr>
          <p:cNvPr id="10" name="TextBox 9"/>
          <p:cNvSpPr/>
          <p:nvPr>
            <p:ph type="body" idx="8"/>
          </p:nvPr>
        </p:nvSpPr>
        <p:spPr>
          <a:xfrm>
            <a:off x="6233160" y="2395727"/>
            <a:ext cx="5501640" cy="609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3400" b="0" i="0">
                <a:solidFill>
                  <a:srgbClr val="1C1C28"/>
                </a:solidFill>
                <a:latin typeface="Calibri"/>
              </a:rPr>
              <a:t>One-click provisioning</a:t>
            </a:r>
          </a:p>
        </p:txBody>
      </p:sp>
      <p:sp>
        <p:nvSpPr>
          <p:cNvPr id="11" name="TextBox 10"/>
          <p:cNvSpPr/>
          <p:nvPr>
            <p:ph type="body" idx="9"/>
          </p:nvPr>
        </p:nvSpPr>
        <p:spPr>
          <a:xfrm>
            <a:off x="6233160" y="3608831"/>
            <a:ext cx="5501640" cy="609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3400" b="0" i="0">
                <a:solidFill>
                  <a:srgbClr val="1C1C28"/>
                </a:solidFill>
                <a:latin typeface="Calibri"/>
              </a:rPr>
              <a:t>Same-day approval</a:t>
            </a:r>
          </a:p>
        </p:txBody>
      </p:sp>
      <p:sp>
        <p:nvSpPr>
          <p:cNvPr id="12" name="TextBox 11"/>
          <p:cNvSpPr/>
          <p:nvPr>
            <p:ph type="body" idx="13"/>
          </p:nvPr>
        </p:nvSpPr>
        <p:spPr>
          <a:xfrm>
            <a:off x="6233160" y="4821935"/>
            <a:ext cx="5501640" cy="609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3400" b="0" i="0">
                <a:solidFill>
                  <a:srgbClr val="1C1C28"/>
                </a:solidFill>
                <a:latin typeface="Calibri"/>
              </a:rPr>
              <a:t>In-product live chat</a:t>
            </a:r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slidekit · This vs That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/>
          <p:nvPr>
            <p:ph type="title"/>
          </p:nvPr>
        </p:nvSpPr>
        <p:spPr>
          <a:xfrm>
            <a:off x="457200" y="457200"/>
            <a:ext cx="11277600" cy="768096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4200" b="1" i="0">
                <a:solidFill>
                  <a:srgbClr val="16504B"/>
                </a:solidFill>
                <a:latin typeface="Calibri"/>
              </a:rPr>
              <a:t>Cloud or On-Prem</a:t>
            </a:r>
          </a:p>
        </p:txBody>
      </p:sp>
      <p:sp>
        <p:nvSpPr>
          <p:cNvPr id="3" name="TextBox 2"/>
          <p:cNvSpPr/>
          <p:nvPr>
            <p:ph type="body" idx="1"/>
          </p:nvPr>
        </p:nvSpPr>
        <p:spPr>
          <a:xfrm>
            <a:off x="457200" y="2791969"/>
            <a:ext cx="4792980" cy="883919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/>
            <a:r>
              <a:rPr sz="5800" b="1" i="0">
                <a:solidFill>
                  <a:srgbClr val="1C1C28"/>
                </a:solidFill>
                <a:latin typeface="Calibri"/>
              </a:rPr>
              <a:t>3 wks</a:t>
            </a:r>
          </a:p>
        </p:txBody>
      </p:sp>
      <p:sp>
        <p:nvSpPr>
          <p:cNvPr id="4" name="TextBox 3"/>
          <p:cNvSpPr/>
          <p:nvPr>
            <p:ph type="body" idx="2"/>
          </p:nvPr>
        </p:nvSpPr>
        <p:spPr>
          <a:xfrm>
            <a:off x="457200" y="3950208"/>
            <a:ext cx="4792980" cy="518159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/>
            <a:r>
              <a:rPr sz="3400" b="0" i="0">
                <a:solidFill>
                  <a:srgbClr val="1C1C28"/>
                </a:solidFill>
                <a:latin typeface="Calibri"/>
              </a:rPr>
              <a:t>Cloud time-to-launch</a:t>
            </a:r>
          </a:p>
        </p:txBody>
      </p:sp>
      <p:sp>
        <p:nvSpPr>
          <p:cNvPr id="5" name="TextBox 4"/>
          <p:cNvSpPr/>
          <p:nvPr>
            <p:ph type="body" idx="3"/>
          </p:nvPr>
        </p:nvSpPr>
        <p:spPr>
          <a:xfrm>
            <a:off x="6941820" y="2791969"/>
            <a:ext cx="4792980" cy="883919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/>
            <a:r>
              <a:rPr sz="5800" b="1" i="0">
                <a:solidFill>
                  <a:srgbClr val="1C1C28"/>
                </a:solidFill>
                <a:latin typeface="Calibri"/>
              </a:rPr>
              <a:t>6 mo</a:t>
            </a:r>
          </a:p>
        </p:txBody>
      </p:sp>
      <p:sp>
        <p:nvSpPr>
          <p:cNvPr id="6" name="TextBox 5"/>
          <p:cNvSpPr/>
          <p:nvPr>
            <p:ph type="body" idx="4"/>
          </p:nvPr>
        </p:nvSpPr>
        <p:spPr>
          <a:xfrm>
            <a:off x="6941820" y="3950208"/>
            <a:ext cx="4792980" cy="518159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/>
            <a:r>
              <a:rPr sz="3400" b="0" i="0">
                <a:solidFill>
                  <a:srgbClr val="1C1C28"/>
                </a:solidFill>
                <a:latin typeface="Calibri"/>
              </a:rPr>
              <a:t>On-prem time-to-launch</a:t>
            </a:r>
          </a:p>
        </p:txBody>
      </p:sp>
      <p:sp>
        <p:nvSpPr>
          <p:cNvPr id="7" name="TextBox 6"/>
          <p:cNvSpPr/>
          <p:nvPr>
            <p:ph type="body" idx="5"/>
          </p:nvPr>
        </p:nvSpPr>
        <p:spPr>
          <a:xfrm>
            <a:off x="5524500" y="3310128"/>
            <a:ext cx="1143000" cy="6400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/>
            <a:r>
              <a:rPr sz="4200" b="1" i="0">
                <a:solidFill>
                  <a:srgbClr val="8A8A9A"/>
                </a:solidFill>
                <a:latin typeface="Calibri"/>
              </a:rPr>
              <a:t>VS</a:t>
            </a:r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slidekit · KPI Grid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/>
          <p:nvPr>
            <p:ph type="title"/>
          </p:nvPr>
        </p:nvSpPr>
        <p:spPr>
          <a:xfrm>
            <a:off x="457200" y="457200"/>
            <a:ext cx="11277600" cy="768096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4200" b="1" i="0">
                <a:solidFill>
                  <a:srgbClr val="16504B"/>
                </a:solidFill>
                <a:latin typeface="Calibri"/>
              </a:rPr>
              <a:t>Key Metrics This Quarter</a:t>
            </a:r>
          </a:p>
        </p:txBody>
      </p:sp>
      <p:sp>
        <p:nvSpPr>
          <p:cNvPr id="3" name="TextBox 2"/>
          <p:cNvSpPr/>
          <p:nvPr>
            <p:ph type="body" idx="1"/>
          </p:nvPr>
        </p:nvSpPr>
        <p:spPr>
          <a:xfrm>
            <a:off x="457200" y="1789176"/>
            <a:ext cx="3576320" cy="6400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/>
            <a:r>
              <a:rPr sz="4200" b="1" i="0">
                <a:solidFill>
                  <a:srgbClr val="E2A03F"/>
                </a:solidFill>
                <a:latin typeface="Calibri"/>
              </a:rPr>
              <a:t>98.7%</a:t>
            </a:r>
          </a:p>
        </p:txBody>
      </p:sp>
      <p:sp>
        <p:nvSpPr>
          <p:cNvPr id="4" name="Rectangle 3"/>
          <p:cNvSpPr/>
          <p:nvPr>
            <p:ph type="body" idx="2"/>
          </p:nvPr>
        </p:nvSpPr>
        <p:spPr>
          <a:xfrm>
            <a:off x="1708912" y="2484120"/>
            <a:ext cx="1072896" cy="54864"/>
          </a:xfrm>
          <a:prstGeom prst="rect">
            <a:avLst/>
          </a:prstGeom>
          <a:solidFill>
            <a:srgbClr val="E2A03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/>
          <p:nvPr>
            <p:ph type="body" idx="3"/>
          </p:nvPr>
        </p:nvSpPr>
        <p:spPr>
          <a:xfrm>
            <a:off x="457200" y="2593848"/>
            <a:ext cx="3576320" cy="609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/>
            <a:r>
              <a:rPr sz="3400" b="0" i="0">
                <a:solidFill>
                  <a:srgbClr val="1C1C28"/>
                </a:solidFill>
                <a:latin typeface="Calibri"/>
              </a:rPr>
              <a:t>Uptime</a:t>
            </a:r>
          </a:p>
        </p:txBody>
      </p:sp>
      <p:sp>
        <p:nvSpPr>
          <p:cNvPr id="6" name="TextBox 5"/>
          <p:cNvSpPr/>
          <p:nvPr>
            <p:ph type="body" idx="4"/>
          </p:nvPr>
        </p:nvSpPr>
        <p:spPr>
          <a:xfrm>
            <a:off x="4307840" y="1789176"/>
            <a:ext cx="3576320" cy="6400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/>
            <a:r>
              <a:rPr sz="4200" b="1" i="0">
                <a:solidFill>
                  <a:srgbClr val="E2A03F"/>
                </a:solidFill>
                <a:latin typeface="Calibri"/>
              </a:rPr>
              <a:t>1,240</a:t>
            </a:r>
          </a:p>
        </p:txBody>
      </p:sp>
      <p:sp>
        <p:nvSpPr>
          <p:cNvPr id="7" name="Rectangle 6"/>
          <p:cNvSpPr/>
          <p:nvPr>
            <p:ph type="body" idx="5"/>
          </p:nvPr>
        </p:nvSpPr>
        <p:spPr>
          <a:xfrm>
            <a:off x="5559552" y="2484120"/>
            <a:ext cx="1072896" cy="54864"/>
          </a:xfrm>
          <a:prstGeom prst="rect">
            <a:avLst/>
          </a:prstGeom>
          <a:solidFill>
            <a:srgbClr val="E2A03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/>
          <p:nvPr>
            <p:ph type="body" idx="6"/>
          </p:nvPr>
        </p:nvSpPr>
        <p:spPr>
          <a:xfrm>
            <a:off x="4307840" y="2593848"/>
            <a:ext cx="3576320" cy="609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/>
            <a:r>
              <a:rPr sz="3400" b="0" i="0">
                <a:solidFill>
                  <a:srgbClr val="1C1C28"/>
                </a:solidFill>
                <a:latin typeface="Calibri"/>
              </a:rPr>
              <a:t>New accounts</a:t>
            </a:r>
          </a:p>
        </p:txBody>
      </p:sp>
      <p:sp>
        <p:nvSpPr>
          <p:cNvPr id="9" name="TextBox 8"/>
          <p:cNvSpPr/>
          <p:nvPr>
            <p:ph type="body" idx="7"/>
          </p:nvPr>
        </p:nvSpPr>
        <p:spPr>
          <a:xfrm>
            <a:off x="8158480" y="1789176"/>
            <a:ext cx="3576320" cy="6400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/>
            <a:r>
              <a:rPr sz="4200" b="1" i="0">
                <a:solidFill>
                  <a:srgbClr val="E2A03F"/>
                </a:solidFill>
                <a:latin typeface="Calibri"/>
              </a:rPr>
              <a:t>4.6/5</a:t>
            </a:r>
          </a:p>
        </p:txBody>
      </p:sp>
      <p:sp>
        <p:nvSpPr>
          <p:cNvPr id="10" name="Rectangle 9"/>
          <p:cNvSpPr/>
          <p:nvPr>
            <p:ph type="body" idx="8"/>
          </p:nvPr>
        </p:nvSpPr>
        <p:spPr>
          <a:xfrm>
            <a:off x="9410192" y="2484120"/>
            <a:ext cx="1072896" cy="54864"/>
          </a:xfrm>
          <a:prstGeom prst="rect">
            <a:avLst/>
          </a:prstGeom>
          <a:solidFill>
            <a:srgbClr val="E2A03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/>
          <p:nvPr>
            <p:ph type="body" idx="9"/>
          </p:nvPr>
        </p:nvSpPr>
        <p:spPr>
          <a:xfrm>
            <a:off x="8158480" y="2593848"/>
            <a:ext cx="3576320" cy="609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/>
            <a:r>
              <a:rPr sz="3400" b="0" i="0">
                <a:solidFill>
                  <a:srgbClr val="1C1C28"/>
                </a:solidFill>
                <a:latin typeface="Calibri"/>
              </a:rPr>
              <a:t>Support rating</a:t>
            </a:r>
          </a:p>
        </p:txBody>
      </p:sp>
      <p:sp>
        <p:nvSpPr>
          <p:cNvPr id="12" name="TextBox 11"/>
          <p:cNvSpPr/>
          <p:nvPr>
            <p:ph type="body" idx="13"/>
          </p:nvPr>
        </p:nvSpPr>
        <p:spPr>
          <a:xfrm>
            <a:off x="457200" y="3797808"/>
            <a:ext cx="3576320" cy="6400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/>
            <a:r>
              <a:rPr sz="4200" b="1" i="0">
                <a:solidFill>
                  <a:srgbClr val="E2A03F"/>
                </a:solidFill>
                <a:latin typeface="Calibri"/>
              </a:rPr>
              <a:t>$2.1M</a:t>
            </a:r>
          </a:p>
        </p:txBody>
      </p:sp>
      <p:sp>
        <p:nvSpPr>
          <p:cNvPr id="13" name="Rectangle 12"/>
          <p:cNvSpPr/>
          <p:nvPr>
            <p:ph type="body" idx="14"/>
          </p:nvPr>
        </p:nvSpPr>
        <p:spPr>
          <a:xfrm>
            <a:off x="1708912" y="4492752"/>
            <a:ext cx="1072896" cy="54864"/>
          </a:xfrm>
          <a:prstGeom prst="rect">
            <a:avLst/>
          </a:prstGeom>
          <a:solidFill>
            <a:srgbClr val="E2A03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/>
          <p:nvPr>
            <p:ph type="body" idx="15"/>
          </p:nvPr>
        </p:nvSpPr>
        <p:spPr>
          <a:xfrm>
            <a:off x="457200" y="4602480"/>
            <a:ext cx="3576320" cy="112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/>
            <a:r>
              <a:rPr sz="3400" b="0" i="0">
                <a:solidFill>
                  <a:srgbClr val="1C1C28"/>
                </a:solidFill>
                <a:latin typeface="Calibri"/>
              </a:rPr>
              <a:t>Net new revenue</a:t>
            </a:r>
          </a:p>
        </p:txBody>
      </p:sp>
      <p:sp>
        <p:nvSpPr>
          <p:cNvPr id="15" name="TextBox 14"/>
          <p:cNvSpPr/>
          <p:nvPr>
            <p:ph type="body" idx="16"/>
          </p:nvPr>
        </p:nvSpPr>
        <p:spPr>
          <a:xfrm>
            <a:off x="4307840" y="3797808"/>
            <a:ext cx="3576320" cy="6400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/>
            <a:r>
              <a:rPr sz="4200" b="1" i="0">
                <a:solidFill>
                  <a:srgbClr val="E2A03F"/>
                </a:solidFill>
                <a:latin typeface="Calibri"/>
              </a:rPr>
              <a:t>12 days</a:t>
            </a:r>
          </a:p>
        </p:txBody>
      </p:sp>
      <p:sp>
        <p:nvSpPr>
          <p:cNvPr id="16" name="Rectangle 15"/>
          <p:cNvSpPr/>
          <p:nvPr>
            <p:ph type="body" idx="17"/>
          </p:nvPr>
        </p:nvSpPr>
        <p:spPr>
          <a:xfrm>
            <a:off x="5559552" y="4492752"/>
            <a:ext cx="1072896" cy="54864"/>
          </a:xfrm>
          <a:prstGeom prst="rect">
            <a:avLst/>
          </a:prstGeom>
          <a:solidFill>
            <a:srgbClr val="E2A03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/>
          <p:nvPr>
            <p:ph type="body" idx="18"/>
          </p:nvPr>
        </p:nvSpPr>
        <p:spPr>
          <a:xfrm>
            <a:off x="4307840" y="4602480"/>
            <a:ext cx="3576320" cy="112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/>
            <a:r>
              <a:rPr sz="3400" b="0" i="0">
                <a:solidFill>
                  <a:srgbClr val="1C1C28"/>
                </a:solidFill>
                <a:latin typeface="Calibri"/>
              </a:rPr>
              <a:t>Avg. time to value</a:t>
            </a:r>
          </a:p>
        </p:txBody>
      </p:sp>
      <p:sp>
        <p:nvSpPr>
          <p:cNvPr id="18" name="TextBox 17"/>
          <p:cNvSpPr/>
          <p:nvPr>
            <p:ph type="body" idx="19"/>
          </p:nvPr>
        </p:nvSpPr>
        <p:spPr>
          <a:xfrm>
            <a:off x="8158480" y="4056888"/>
            <a:ext cx="3576320" cy="6400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/>
            <a:r>
              <a:rPr sz="4200" b="1" i="0">
                <a:solidFill>
                  <a:srgbClr val="E2A03F"/>
                </a:solidFill>
                <a:latin typeface="Calibri"/>
              </a:rPr>
              <a:t>31%</a:t>
            </a:r>
          </a:p>
        </p:txBody>
      </p:sp>
      <p:sp>
        <p:nvSpPr>
          <p:cNvPr id="19" name="Rectangle 18"/>
          <p:cNvSpPr/>
          <p:nvPr>
            <p:ph type="body" idx="20"/>
          </p:nvPr>
        </p:nvSpPr>
        <p:spPr>
          <a:xfrm>
            <a:off x="9410192" y="4751832"/>
            <a:ext cx="1072896" cy="54864"/>
          </a:xfrm>
          <a:prstGeom prst="rect">
            <a:avLst/>
          </a:prstGeom>
          <a:solidFill>
            <a:srgbClr val="E2A03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/>
          <p:nvPr>
            <p:ph type="body" idx="21"/>
          </p:nvPr>
        </p:nvSpPr>
        <p:spPr>
          <a:xfrm>
            <a:off x="8158480" y="4861560"/>
            <a:ext cx="3576320" cy="609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/>
            <a:r>
              <a:rPr sz="3400" b="0" i="0">
                <a:solidFill>
                  <a:srgbClr val="1C1C28"/>
                </a:solidFill>
                <a:latin typeface="Calibri"/>
              </a:rPr>
              <a:t>Expansion rate</a:t>
            </a:r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slidekit · Chart With Insight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/>
          <p:nvPr>
            <p:ph type="title"/>
          </p:nvPr>
        </p:nvSpPr>
        <p:spPr>
          <a:xfrm>
            <a:off x="457200" y="457200"/>
            <a:ext cx="11277600" cy="768096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4200" b="1" i="0">
                <a:solidFill>
                  <a:srgbClr val="16504B"/>
                </a:solidFill>
                <a:latin typeface="Calibri"/>
              </a:rPr>
              <a:t>Monthly Active Teams</a:t>
            </a:r>
          </a:p>
        </p:txBody>
      </p:sp>
      <p:sp>
        <p:nvSpPr>
          <p:cNvPr id="3" name="TextBox 2"/>
          <p:cNvSpPr/>
          <p:nvPr>
            <p:ph type="body" idx="1"/>
          </p:nvPr>
        </p:nvSpPr>
        <p:spPr>
          <a:xfrm>
            <a:off x="457200" y="3702924"/>
            <a:ext cx="1485900" cy="365759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2400" b="1" i="0">
                <a:solidFill>
                  <a:srgbClr val="E2A03F"/>
                </a:solidFill>
                <a:latin typeface="Calibri"/>
              </a:rPr>
              <a:t>120</a:t>
            </a:r>
          </a:p>
        </p:txBody>
      </p:sp>
      <p:sp>
        <p:nvSpPr>
          <p:cNvPr id="4" name="Rectangle 3"/>
          <p:cNvSpPr/>
          <p:nvPr>
            <p:ph type="body" idx="2"/>
          </p:nvPr>
        </p:nvSpPr>
        <p:spPr>
          <a:xfrm>
            <a:off x="680085" y="4343003"/>
            <a:ext cx="1040129" cy="777638"/>
          </a:xfrm>
          <a:prstGeom prst="rect">
            <a:avLst/>
          </a:prstGeom>
          <a:solidFill>
            <a:srgbClr val="E2A03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/>
          <p:nvPr>
            <p:ph type="body" idx="3"/>
          </p:nvPr>
        </p:nvSpPr>
        <p:spPr>
          <a:xfrm>
            <a:off x="457200" y="5394961"/>
            <a:ext cx="1485900" cy="365759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2400" b="0" i="0">
                <a:solidFill>
                  <a:srgbClr val="8A8A9A"/>
                </a:solidFill>
                <a:latin typeface="Calibri"/>
              </a:rPr>
              <a:t>Jan</a:t>
            </a:r>
          </a:p>
        </p:txBody>
      </p:sp>
      <p:sp>
        <p:nvSpPr>
          <p:cNvPr id="6" name="TextBox 5"/>
          <p:cNvSpPr/>
          <p:nvPr>
            <p:ph type="body" idx="4"/>
          </p:nvPr>
        </p:nvSpPr>
        <p:spPr>
          <a:xfrm>
            <a:off x="2217420" y="3314105"/>
            <a:ext cx="1485900" cy="365759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2400" b="1" i="0">
                <a:solidFill>
                  <a:srgbClr val="E2A03F"/>
                </a:solidFill>
                <a:latin typeface="Calibri"/>
              </a:rPr>
              <a:t>180</a:t>
            </a:r>
          </a:p>
        </p:txBody>
      </p:sp>
      <p:sp>
        <p:nvSpPr>
          <p:cNvPr id="7" name="Rectangle 6"/>
          <p:cNvSpPr/>
          <p:nvPr>
            <p:ph type="body" idx="5"/>
          </p:nvPr>
        </p:nvSpPr>
        <p:spPr>
          <a:xfrm>
            <a:off x="2440305" y="3954184"/>
            <a:ext cx="1040129" cy="1166457"/>
          </a:xfrm>
          <a:prstGeom prst="rect">
            <a:avLst/>
          </a:prstGeom>
          <a:solidFill>
            <a:srgbClr val="E2A03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/>
          <p:nvPr>
            <p:ph type="body" idx="6"/>
          </p:nvPr>
        </p:nvSpPr>
        <p:spPr>
          <a:xfrm>
            <a:off x="2217420" y="5394961"/>
            <a:ext cx="1485900" cy="365759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2400" b="0" i="0">
                <a:solidFill>
                  <a:srgbClr val="8A8A9A"/>
                </a:solidFill>
                <a:latin typeface="Calibri"/>
              </a:rPr>
              <a:t>Feb</a:t>
            </a:r>
          </a:p>
        </p:txBody>
      </p:sp>
      <p:sp>
        <p:nvSpPr>
          <p:cNvPr id="9" name="TextBox 8"/>
          <p:cNvSpPr/>
          <p:nvPr>
            <p:ph type="body" idx="7"/>
          </p:nvPr>
        </p:nvSpPr>
        <p:spPr>
          <a:xfrm>
            <a:off x="3977640" y="2601270"/>
            <a:ext cx="1485900" cy="365759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2400" b="1" i="0">
                <a:solidFill>
                  <a:srgbClr val="E2A03F"/>
                </a:solidFill>
                <a:latin typeface="Calibri"/>
              </a:rPr>
              <a:t>290</a:t>
            </a:r>
          </a:p>
        </p:txBody>
      </p:sp>
      <p:sp>
        <p:nvSpPr>
          <p:cNvPr id="10" name="Rectangle 9"/>
          <p:cNvSpPr/>
          <p:nvPr>
            <p:ph type="body" idx="8"/>
          </p:nvPr>
        </p:nvSpPr>
        <p:spPr>
          <a:xfrm>
            <a:off x="4200525" y="3241349"/>
            <a:ext cx="1040129" cy="1879292"/>
          </a:xfrm>
          <a:prstGeom prst="rect">
            <a:avLst/>
          </a:prstGeom>
          <a:solidFill>
            <a:srgbClr val="E2A03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/>
          <p:nvPr>
            <p:ph type="body" idx="9"/>
          </p:nvPr>
        </p:nvSpPr>
        <p:spPr>
          <a:xfrm>
            <a:off x="3977640" y="5394961"/>
            <a:ext cx="1485900" cy="365759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2400" b="0" i="0">
                <a:solidFill>
                  <a:srgbClr val="8A8A9A"/>
                </a:solidFill>
                <a:latin typeface="Calibri"/>
              </a:rPr>
              <a:t>Mar</a:t>
            </a:r>
          </a:p>
        </p:txBody>
      </p:sp>
      <p:sp>
        <p:nvSpPr>
          <p:cNvPr id="12" name="TextBox 11"/>
          <p:cNvSpPr/>
          <p:nvPr>
            <p:ph type="body" idx="13"/>
          </p:nvPr>
        </p:nvSpPr>
        <p:spPr>
          <a:xfrm>
            <a:off x="5737860" y="1499616"/>
            <a:ext cx="1485900" cy="365759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2400" b="1" i="0">
                <a:solidFill>
                  <a:srgbClr val="E2A03F"/>
                </a:solidFill>
                <a:latin typeface="Calibri"/>
              </a:rPr>
              <a:t>460</a:t>
            </a:r>
          </a:p>
        </p:txBody>
      </p:sp>
      <p:sp>
        <p:nvSpPr>
          <p:cNvPr id="13" name="Rectangle 12"/>
          <p:cNvSpPr/>
          <p:nvPr>
            <p:ph type="body" idx="14"/>
          </p:nvPr>
        </p:nvSpPr>
        <p:spPr>
          <a:xfrm>
            <a:off x="5960745" y="2139695"/>
            <a:ext cx="1040129" cy="2980946"/>
          </a:xfrm>
          <a:prstGeom prst="rect">
            <a:avLst/>
          </a:prstGeom>
          <a:solidFill>
            <a:srgbClr val="E2A03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/>
          <p:nvPr>
            <p:ph type="body" idx="15"/>
          </p:nvPr>
        </p:nvSpPr>
        <p:spPr>
          <a:xfrm>
            <a:off x="5737860" y="5394961"/>
            <a:ext cx="1485900" cy="365759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2400" b="0" i="0">
                <a:solidFill>
                  <a:srgbClr val="8A8A9A"/>
                </a:solidFill>
                <a:latin typeface="Calibri"/>
              </a:rPr>
              <a:t>Apr</a:t>
            </a:r>
          </a:p>
        </p:txBody>
      </p:sp>
      <p:sp>
        <p:nvSpPr>
          <p:cNvPr id="15" name="Rectangle 14"/>
          <p:cNvSpPr/>
          <p:nvPr>
            <p:ph type="body" idx="16"/>
          </p:nvPr>
        </p:nvSpPr>
        <p:spPr>
          <a:xfrm>
            <a:off x="7498080" y="1511808"/>
            <a:ext cx="128016" cy="4236720"/>
          </a:xfrm>
          <a:prstGeom prst="rect">
            <a:avLst/>
          </a:prstGeom>
          <a:solidFill>
            <a:srgbClr val="E2A03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/>
          <p:nvPr>
            <p:ph type="body" idx="17"/>
          </p:nvPr>
        </p:nvSpPr>
        <p:spPr>
          <a:xfrm>
            <a:off x="8037576" y="1511808"/>
            <a:ext cx="3697224" cy="42367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3400" b="1" i="0">
                <a:solidFill>
                  <a:srgbClr val="1C1C28"/>
                </a:solidFill>
                <a:latin typeface="Calibri"/>
              </a:rPr>
              <a:t>Activations nearly quadrupled once self-serve onboarding shipped in February.</a:t>
            </a:r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slidekit · Table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/>
          <p:nvPr>
            <p:ph type="title"/>
          </p:nvPr>
        </p:nvSpPr>
        <p:spPr>
          <a:xfrm>
            <a:off x="457200" y="457200"/>
            <a:ext cx="11277600" cy="768096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4200" b="1" i="0">
                <a:solidFill>
                  <a:srgbClr val="16504B"/>
                </a:solidFill>
                <a:latin typeface="Calibri"/>
              </a:rPr>
              <a:t>Pricing Tiers</a:t>
            </a:r>
          </a:p>
        </p:txBody>
      </p:sp>
      <p:sp>
        <p:nvSpPr>
          <p:cNvPr id="3" name="TextBox 2"/>
          <p:cNvSpPr/>
          <p:nvPr>
            <p:ph type="body" idx="1"/>
          </p:nvPr>
        </p:nvSpPr>
        <p:spPr>
          <a:xfrm>
            <a:off x="457200" y="1499616"/>
            <a:ext cx="3576320" cy="518159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3400" b="1" i="0">
                <a:solidFill>
                  <a:srgbClr val="16504B"/>
                </a:solidFill>
                <a:latin typeface="Calibri"/>
              </a:rPr>
              <a:t>Plan</a:t>
            </a:r>
          </a:p>
        </p:txBody>
      </p:sp>
      <p:sp>
        <p:nvSpPr>
          <p:cNvPr id="4" name="TextBox 3"/>
          <p:cNvSpPr/>
          <p:nvPr>
            <p:ph type="body" idx="2"/>
          </p:nvPr>
        </p:nvSpPr>
        <p:spPr>
          <a:xfrm>
            <a:off x="4307840" y="1499616"/>
            <a:ext cx="3576320" cy="518159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3400" b="1" i="0">
                <a:solidFill>
                  <a:srgbClr val="16504B"/>
                </a:solidFill>
                <a:latin typeface="Calibri"/>
              </a:rPr>
              <a:t>Seats</a:t>
            </a:r>
          </a:p>
        </p:txBody>
      </p:sp>
      <p:sp>
        <p:nvSpPr>
          <p:cNvPr id="5" name="TextBox 4"/>
          <p:cNvSpPr/>
          <p:nvPr>
            <p:ph type="body" idx="3"/>
          </p:nvPr>
        </p:nvSpPr>
        <p:spPr>
          <a:xfrm>
            <a:off x="8158480" y="1499616"/>
            <a:ext cx="3576320" cy="518159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3400" b="1" i="0">
                <a:solidFill>
                  <a:srgbClr val="16504B"/>
                </a:solidFill>
                <a:latin typeface="Calibri"/>
              </a:rPr>
              <a:t>Price</a:t>
            </a:r>
          </a:p>
        </p:txBody>
      </p:sp>
      <p:sp>
        <p:nvSpPr>
          <p:cNvPr id="6" name="Rectangle 5"/>
          <p:cNvSpPr/>
          <p:nvPr>
            <p:ph type="body" idx="4"/>
          </p:nvPr>
        </p:nvSpPr>
        <p:spPr>
          <a:xfrm>
            <a:off x="457200" y="2072639"/>
            <a:ext cx="11277600" cy="54864"/>
          </a:xfrm>
          <a:prstGeom prst="rect">
            <a:avLst/>
          </a:prstGeom>
          <a:solidFill>
            <a:srgbClr val="E2A03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/>
          <p:nvPr>
            <p:ph type="body" idx="5"/>
          </p:nvPr>
        </p:nvSpPr>
        <p:spPr>
          <a:xfrm>
            <a:off x="457200" y="2401823"/>
            <a:ext cx="3576320" cy="633984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3400" b="0" i="0">
                <a:solidFill>
                  <a:srgbClr val="1C1C28"/>
                </a:solidFill>
                <a:latin typeface="Calibri"/>
              </a:rPr>
              <a:t>Starter</a:t>
            </a:r>
          </a:p>
        </p:txBody>
      </p:sp>
      <p:sp>
        <p:nvSpPr>
          <p:cNvPr id="8" name="TextBox 7"/>
          <p:cNvSpPr/>
          <p:nvPr>
            <p:ph type="body" idx="6"/>
          </p:nvPr>
        </p:nvSpPr>
        <p:spPr>
          <a:xfrm>
            <a:off x="4307840" y="2401823"/>
            <a:ext cx="3576320" cy="633984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3400" b="0" i="0">
                <a:solidFill>
                  <a:srgbClr val="1C1C28"/>
                </a:solidFill>
                <a:latin typeface="Calibri"/>
              </a:rPr>
              <a:t>Up to 5</a:t>
            </a:r>
          </a:p>
        </p:txBody>
      </p:sp>
      <p:sp>
        <p:nvSpPr>
          <p:cNvPr id="9" name="TextBox 8"/>
          <p:cNvSpPr/>
          <p:nvPr>
            <p:ph type="body" idx="7"/>
          </p:nvPr>
        </p:nvSpPr>
        <p:spPr>
          <a:xfrm>
            <a:off x="8158480" y="2401823"/>
            <a:ext cx="3576320" cy="633984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3400" b="0" i="0">
                <a:solidFill>
                  <a:srgbClr val="1C1C28"/>
                </a:solidFill>
                <a:latin typeface="Calibri"/>
              </a:rPr>
              <a:t>$0</a:t>
            </a:r>
          </a:p>
        </p:txBody>
      </p:sp>
      <p:sp>
        <p:nvSpPr>
          <p:cNvPr id="10" name="TextBox 9"/>
          <p:cNvSpPr/>
          <p:nvPr>
            <p:ph type="body" idx="8"/>
          </p:nvPr>
        </p:nvSpPr>
        <p:spPr>
          <a:xfrm>
            <a:off x="457200" y="3310127"/>
            <a:ext cx="3576320" cy="633984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3400" b="0" i="0">
                <a:solidFill>
                  <a:srgbClr val="1C1C28"/>
                </a:solidFill>
                <a:latin typeface="Calibri"/>
              </a:rPr>
              <a:t>Team</a:t>
            </a:r>
          </a:p>
        </p:txBody>
      </p:sp>
      <p:sp>
        <p:nvSpPr>
          <p:cNvPr id="11" name="TextBox 10"/>
          <p:cNvSpPr/>
          <p:nvPr>
            <p:ph type="body" idx="9"/>
          </p:nvPr>
        </p:nvSpPr>
        <p:spPr>
          <a:xfrm>
            <a:off x="4307840" y="3310127"/>
            <a:ext cx="3576320" cy="633984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3400" b="0" i="0">
                <a:solidFill>
                  <a:srgbClr val="1C1C28"/>
                </a:solidFill>
                <a:latin typeface="Calibri"/>
              </a:rPr>
              <a:t>Up to 50</a:t>
            </a:r>
          </a:p>
        </p:txBody>
      </p:sp>
      <p:sp>
        <p:nvSpPr>
          <p:cNvPr id="12" name="TextBox 11"/>
          <p:cNvSpPr/>
          <p:nvPr>
            <p:ph type="body" idx="13"/>
          </p:nvPr>
        </p:nvSpPr>
        <p:spPr>
          <a:xfrm>
            <a:off x="8158480" y="3310127"/>
            <a:ext cx="3576320" cy="633984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3400" b="0" i="0">
                <a:solidFill>
                  <a:srgbClr val="1C1C28"/>
                </a:solidFill>
                <a:latin typeface="Calibri"/>
              </a:rPr>
              <a:t>$12/seat</a:t>
            </a:r>
          </a:p>
        </p:txBody>
      </p:sp>
      <p:sp>
        <p:nvSpPr>
          <p:cNvPr id="13" name="TextBox 12"/>
          <p:cNvSpPr/>
          <p:nvPr>
            <p:ph type="body" idx="14"/>
          </p:nvPr>
        </p:nvSpPr>
        <p:spPr>
          <a:xfrm>
            <a:off x="457200" y="4218431"/>
            <a:ext cx="3576320" cy="633984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3400" b="0" i="0">
                <a:solidFill>
                  <a:srgbClr val="1C1C28"/>
                </a:solidFill>
                <a:latin typeface="Calibri"/>
              </a:rPr>
              <a:t>Business</a:t>
            </a:r>
          </a:p>
        </p:txBody>
      </p:sp>
      <p:sp>
        <p:nvSpPr>
          <p:cNvPr id="14" name="TextBox 13"/>
          <p:cNvSpPr/>
          <p:nvPr>
            <p:ph type="body" idx="15"/>
          </p:nvPr>
        </p:nvSpPr>
        <p:spPr>
          <a:xfrm>
            <a:off x="4307840" y="4218431"/>
            <a:ext cx="3576320" cy="633984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3400" b="0" i="0">
                <a:solidFill>
                  <a:srgbClr val="1C1C28"/>
                </a:solidFill>
                <a:latin typeface="Calibri"/>
              </a:rPr>
              <a:t>Up to 250</a:t>
            </a:r>
          </a:p>
        </p:txBody>
      </p:sp>
      <p:sp>
        <p:nvSpPr>
          <p:cNvPr id="15" name="TextBox 14"/>
          <p:cNvSpPr/>
          <p:nvPr>
            <p:ph type="body" idx="16"/>
          </p:nvPr>
        </p:nvSpPr>
        <p:spPr>
          <a:xfrm>
            <a:off x="8158480" y="4218431"/>
            <a:ext cx="3576320" cy="633984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3400" b="0" i="0">
                <a:solidFill>
                  <a:srgbClr val="1C1C28"/>
                </a:solidFill>
                <a:latin typeface="Calibri"/>
              </a:rPr>
              <a:t>$20/seat</a:t>
            </a:r>
          </a:p>
        </p:txBody>
      </p:sp>
      <p:sp>
        <p:nvSpPr>
          <p:cNvPr id="16" name="TextBox 15"/>
          <p:cNvSpPr/>
          <p:nvPr>
            <p:ph type="body" idx="17"/>
          </p:nvPr>
        </p:nvSpPr>
        <p:spPr>
          <a:xfrm>
            <a:off x="457200" y="5126735"/>
            <a:ext cx="3576320" cy="633984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3400" b="0" i="0">
                <a:solidFill>
                  <a:srgbClr val="1C1C28"/>
                </a:solidFill>
                <a:latin typeface="Calibri"/>
              </a:rPr>
              <a:t>Enterprise</a:t>
            </a:r>
          </a:p>
        </p:txBody>
      </p:sp>
      <p:sp>
        <p:nvSpPr>
          <p:cNvPr id="17" name="TextBox 16"/>
          <p:cNvSpPr/>
          <p:nvPr>
            <p:ph type="body" idx="18"/>
          </p:nvPr>
        </p:nvSpPr>
        <p:spPr>
          <a:xfrm>
            <a:off x="4307840" y="5126735"/>
            <a:ext cx="3576320" cy="633984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3400" b="0" i="0">
                <a:solidFill>
                  <a:srgbClr val="1C1C28"/>
                </a:solidFill>
                <a:latin typeface="Calibri"/>
              </a:rPr>
              <a:t>Unlimited</a:t>
            </a:r>
          </a:p>
        </p:txBody>
      </p:sp>
      <p:sp>
        <p:nvSpPr>
          <p:cNvPr id="18" name="TextBox 17"/>
          <p:cNvSpPr/>
          <p:nvPr>
            <p:ph type="body" idx="19"/>
          </p:nvPr>
        </p:nvSpPr>
        <p:spPr>
          <a:xfrm>
            <a:off x="8158480" y="5126735"/>
            <a:ext cx="3576320" cy="633984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3400" b="0" i="0">
                <a:solidFill>
                  <a:srgbClr val="1C1C28"/>
                </a:solidFill>
                <a:latin typeface="Calibri"/>
              </a:rPr>
              <a:t>Custom</a:t>
            </a:r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slidekit · Metric Comparison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/>
          <p:nvPr>
            <p:ph type="title"/>
          </p:nvPr>
        </p:nvSpPr>
        <p:spPr>
          <a:xfrm>
            <a:off x="457200" y="457200"/>
            <a:ext cx="11277600" cy="768096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4200" b="1" i="0">
                <a:solidFill>
                  <a:srgbClr val="16504B"/>
                </a:solidFill>
                <a:latin typeface="Calibri"/>
              </a:rPr>
              <a:t>Performance vs Last Year</a:t>
            </a:r>
          </a:p>
        </p:txBody>
      </p:sp>
      <p:sp>
        <p:nvSpPr>
          <p:cNvPr id="3" name="TextBox 2"/>
          <p:cNvSpPr/>
          <p:nvPr>
            <p:ph type="body" idx="1"/>
          </p:nvPr>
        </p:nvSpPr>
        <p:spPr>
          <a:xfrm>
            <a:off x="457200" y="1831849"/>
            <a:ext cx="3576320" cy="883919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/>
            <a:r>
              <a:rPr sz="5800" b="1" i="0">
                <a:solidFill>
                  <a:srgbClr val="E2A03F"/>
                </a:solidFill>
                <a:latin typeface="Calibri"/>
              </a:rPr>
              <a:t>$8.4M</a:t>
            </a:r>
          </a:p>
        </p:txBody>
      </p:sp>
      <p:sp>
        <p:nvSpPr>
          <p:cNvPr id="4" name="TextBox 3"/>
          <p:cNvSpPr/>
          <p:nvPr>
            <p:ph type="body" idx="2"/>
          </p:nvPr>
        </p:nvSpPr>
        <p:spPr>
          <a:xfrm>
            <a:off x="457200" y="2990088"/>
            <a:ext cx="3576320" cy="16459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/>
            <a:r>
              <a:rPr sz="3400" b="0" i="0">
                <a:solidFill>
                  <a:srgbClr val="1C1C28"/>
                </a:solidFill>
                <a:latin typeface="Calibri"/>
              </a:rPr>
              <a:t>Annual recurring revenue</a:t>
            </a:r>
          </a:p>
        </p:txBody>
      </p:sp>
      <p:sp>
        <p:nvSpPr>
          <p:cNvPr id="5" name="Rectangle 4"/>
          <p:cNvSpPr/>
          <p:nvPr>
            <p:ph type="body" idx="3"/>
          </p:nvPr>
        </p:nvSpPr>
        <p:spPr>
          <a:xfrm>
            <a:off x="1383099" y="4910328"/>
            <a:ext cx="1724522" cy="518159"/>
          </a:xfrm>
          <a:prstGeom prst="rect">
            <a:avLst/>
          </a:prstGeom>
          <a:solidFill>
            <a:srgbClr val="E2A03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/>
          <p:nvPr>
            <p:ph type="body" idx="4"/>
          </p:nvPr>
        </p:nvSpPr>
        <p:spPr>
          <a:xfrm>
            <a:off x="1383099" y="4910328"/>
            <a:ext cx="1724522" cy="518159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/>
            <a:r>
              <a:rPr sz="3400" b="1" i="0">
                <a:solidFill>
                  <a:srgbClr val="FFFFFF"/>
                </a:solidFill>
                <a:latin typeface="Calibri"/>
              </a:rPr>
              <a:t>+24%</a:t>
            </a:r>
          </a:p>
        </p:txBody>
      </p:sp>
      <p:sp>
        <p:nvSpPr>
          <p:cNvPr id="7" name="TextBox 6"/>
          <p:cNvSpPr/>
          <p:nvPr>
            <p:ph type="body" idx="5"/>
          </p:nvPr>
        </p:nvSpPr>
        <p:spPr>
          <a:xfrm>
            <a:off x="4307840" y="1831849"/>
            <a:ext cx="3576320" cy="883919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/>
            <a:r>
              <a:rPr sz="5800" b="1" i="0">
                <a:solidFill>
                  <a:srgbClr val="E2A03F"/>
                </a:solidFill>
                <a:latin typeface="Calibri"/>
              </a:rPr>
              <a:t>2.1%</a:t>
            </a:r>
          </a:p>
        </p:txBody>
      </p:sp>
      <p:sp>
        <p:nvSpPr>
          <p:cNvPr id="8" name="TextBox 7"/>
          <p:cNvSpPr/>
          <p:nvPr>
            <p:ph type="body" idx="6"/>
          </p:nvPr>
        </p:nvSpPr>
        <p:spPr>
          <a:xfrm>
            <a:off x="4307840" y="2990088"/>
            <a:ext cx="3576320" cy="16459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/>
            <a:r>
              <a:rPr sz="3400" b="0" i="0">
                <a:solidFill>
                  <a:srgbClr val="1C1C28"/>
                </a:solidFill>
                <a:latin typeface="Calibri"/>
              </a:rPr>
              <a:t>Monthly churn</a:t>
            </a:r>
          </a:p>
        </p:txBody>
      </p:sp>
      <p:sp>
        <p:nvSpPr>
          <p:cNvPr id="9" name="Rectangle 8"/>
          <p:cNvSpPr/>
          <p:nvPr>
            <p:ph type="body" idx="7"/>
          </p:nvPr>
        </p:nvSpPr>
        <p:spPr>
          <a:xfrm>
            <a:off x="4997914" y="4910328"/>
            <a:ext cx="2196171" cy="518159"/>
          </a:xfrm>
          <a:prstGeom prst="rect">
            <a:avLst/>
          </a:prstGeom>
          <a:solidFill>
            <a:srgbClr val="E2A03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/>
          <p:nvPr>
            <p:ph type="body" idx="8"/>
          </p:nvPr>
        </p:nvSpPr>
        <p:spPr>
          <a:xfrm>
            <a:off x="4997914" y="4910328"/>
            <a:ext cx="2196171" cy="518159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/>
            <a:r>
              <a:rPr sz="3400" b="1" i="0">
                <a:solidFill>
                  <a:srgbClr val="FFFFFF"/>
                </a:solidFill>
                <a:latin typeface="Calibri"/>
              </a:rPr>
              <a:t>-0.8 pts</a:t>
            </a:r>
          </a:p>
        </p:txBody>
      </p:sp>
      <p:sp>
        <p:nvSpPr>
          <p:cNvPr id="11" name="TextBox 10"/>
          <p:cNvSpPr/>
          <p:nvPr>
            <p:ph type="body" idx="9"/>
          </p:nvPr>
        </p:nvSpPr>
        <p:spPr>
          <a:xfrm>
            <a:off x="8158480" y="1831849"/>
            <a:ext cx="3576320" cy="883919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/>
            <a:r>
              <a:rPr sz="5800" b="1" i="0">
                <a:solidFill>
                  <a:srgbClr val="E2A03F"/>
                </a:solidFill>
                <a:latin typeface="Calibri"/>
              </a:rPr>
              <a:t>63</a:t>
            </a:r>
          </a:p>
        </p:txBody>
      </p:sp>
      <p:sp>
        <p:nvSpPr>
          <p:cNvPr id="12" name="TextBox 11"/>
          <p:cNvSpPr/>
          <p:nvPr>
            <p:ph type="body" idx="13"/>
          </p:nvPr>
        </p:nvSpPr>
        <p:spPr>
          <a:xfrm>
            <a:off x="8158480" y="2990088"/>
            <a:ext cx="3576320" cy="16459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/>
            <a:r>
              <a:rPr sz="3400" b="0" i="0">
                <a:solidFill>
                  <a:srgbClr val="1C1C28"/>
                </a:solidFill>
                <a:latin typeface="Calibri"/>
              </a:rPr>
              <a:t>Net promoter score</a:t>
            </a:r>
          </a:p>
        </p:txBody>
      </p:sp>
      <p:sp>
        <p:nvSpPr>
          <p:cNvPr id="13" name="Rectangle 12"/>
          <p:cNvSpPr/>
          <p:nvPr>
            <p:ph type="body" idx="14"/>
          </p:nvPr>
        </p:nvSpPr>
        <p:spPr>
          <a:xfrm>
            <a:off x="9300700" y="4910328"/>
            <a:ext cx="1291879" cy="518159"/>
          </a:xfrm>
          <a:prstGeom prst="rect">
            <a:avLst/>
          </a:prstGeom>
          <a:solidFill>
            <a:srgbClr val="E2A03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/>
          <p:nvPr>
            <p:ph type="body" idx="15"/>
          </p:nvPr>
        </p:nvSpPr>
        <p:spPr>
          <a:xfrm>
            <a:off x="9300700" y="4910328"/>
            <a:ext cx="1291879" cy="518159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/>
            <a:r>
              <a:rPr sz="3400" b="1" i="0">
                <a:solidFill>
                  <a:srgbClr val="FFFFFF"/>
                </a:solidFill>
                <a:latin typeface="Calibri"/>
              </a:rPr>
              <a:t>+11</a:t>
            </a:r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slidekit · Process Steps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/>
          <p:nvPr>
            <p:ph type="title"/>
          </p:nvPr>
        </p:nvSpPr>
        <p:spPr>
          <a:xfrm>
            <a:off x="457200" y="457200"/>
            <a:ext cx="11277600" cy="768096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4200" b="1" i="0">
                <a:solidFill>
                  <a:srgbClr val="16504B"/>
                </a:solidFill>
                <a:latin typeface="Calibri"/>
              </a:rPr>
              <a:t>Onboarding Flow</a:t>
            </a:r>
          </a:p>
        </p:txBody>
      </p:sp>
      <p:sp>
        <p:nvSpPr>
          <p:cNvPr id="3" name="TextBox 2"/>
          <p:cNvSpPr/>
          <p:nvPr>
            <p:ph type="body" idx="1"/>
          </p:nvPr>
        </p:nvSpPr>
        <p:spPr>
          <a:xfrm>
            <a:off x="457200" y="1499616"/>
            <a:ext cx="2613660" cy="6400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4200" b="1" i="0">
                <a:solidFill>
                  <a:srgbClr val="E2A03F"/>
                </a:solidFill>
                <a:latin typeface="Calibri"/>
              </a:rPr>
              <a:t>01</a:t>
            </a:r>
          </a:p>
        </p:txBody>
      </p:sp>
      <p:sp>
        <p:nvSpPr>
          <p:cNvPr id="4" name="Rectangle 3"/>
          <p:cNvSpPr/>
          <p:nvPr>
            <p:ph type="body" idx="2"/>
          </p:nvPr>
        </p:nvSpPr>
        <p:spPr>
          <a:xfrm>
            <a:off x="457200" y="2194560"/>
            <a:ext cx="784098" cy="54864"/>
          </a:xfrm>
          <a:prstGeom prst="rect">
            <a:avLst/>
          </a:prstGeom>
          <a:solidFill>
            <a:srgbClr val="E2A03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/>
          <p:nvPr>
            <p:ph type="body" idx="3"/>
          </p:nvPr>
        </p:nvSpPr>
        <p:spPr>
          <a:xfrm>
            <a:off x="457200" y="2414016"/>
            <a:ext cx="2613660" cy="518159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3400" b="1" i="0">
                <a:solidFill>
                  <a:srgbClr val="16504B"/>
                </a:solidFill>
                <a:latin typeface="Calibri"/>
              </a:rPr>
              <a:t>Sign up</a:t>
            </a:r>
          </a:p>
        </p:txBody>
      </p:sp>
      <p:sp>
        <p:nvSpPr>
          <p:cNvPr id="6" name="TextBox 5"/>
          <p:cNvSpPr/>
          <p:nvPr>
            <p:ph type="body" idx="4"/>
          </p:nvPr>
        </p:nvSpPr>
        <p:spPr>
          <a:xfrm>
            <a:off x="457200" y="3041903"/>
            <a:ext cx="2613660" cy="2718817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3400" b="0" i="0">
                <a:solidFill>
                  <a:srgbClr val="1C1C28"/>
                </a:solidFill>
                <a:latin typeface="Calibri"/>
              </a:rPr>
              <a:t>Create an account</a:t>
            </a:r>
          </a:p>
        </p:txBody>
      </p:sp>
      <p:sp>
        <p:nvSpPr>
          <p:cNvPr id="7" name="TextBox 6"/>
          <p:cNvSpPr/>
          <p:nvPr>
            <p:ph type="body" idx="5"/>
          </p:nvPr>
        </p:nvSpPr>
        <p:spPr>
          <a:xfrm>
            <a:off x="3345180" y="1499616"/>
            <a:ext cx="2613660" cy="6400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4200" b="1" i="0">
                <a:solidFill>
                  <a:srgbClr val="E2A03F"/>
                </a:solidFill>
                <a:latin typeface="Calibri"/>
              </a:rPr>
              <a:t>02</a:t>
            </a:r>
          </a:p>
        </p:txBody>
      </p:sp>
      <p:sp>
        <p:nvSpPr>
          <p:cNvPr id="8" name="Rectangle 7"/>
          <p:cNvSpPr/>
          <p:nvPr>
            <p:ph type="body" idx="6"/>
          </p:nvPr>
        </p:nvSpPr>
        <p:spPr>
          <a:xfrm>
            <a:off x="3345180" y="2194560"/>
            <a:ext cx="784098" cy="54864"/>
          </a:xfrm>
          <a:prstGeom prst="rect">
            <a:avLst/>
          </a:prstGeom>
          <a:solidFill>
            <a:srgbClr val="E2A03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/>
          <p:nvPr>
            <p:ph type="body" idx="7"/>
          </p:nvPr>
        </p:nvSpPr>
        <p:spPr>
          <a:xfrm>
            <a:off x="3345180" y="2414016"/>
            <a:ext cx="2613660" cy="518159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3400" b="1" i="0">
                <a:solidFill>
                  <a:srgbClr val="16504B"/>
                </a:solidFill>
                <a:latin typeface="Calibri"/>
              </a:rPr>
              <a:t>Connect</a:t>
            </a:r>
          </a:p>
        </p:txBody>
      </p:sp>
      <p:sp>
        <p:nvSpPr>
          <p:cNvPr id="10" name="TextBox 9"/>
          <p:cNvSpPr/>
          <p:nvPr>
            <p:ph type="body" idx="8"/>
          </p:nvPr>
        </p:nvSpPr>
        <p:spPr>
          <a:xfrm>
            <a:off x="3345180" y="3041903"/>
            <a:ext cx="2613660" cy="2718817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3400" b="0" i="0">
                <a:solidFill>
                  <a:srgbClr val="1C1C28"/>
                </a:solidFill>
                <a:latin typeface="Calibri"/>
              </a:rPr>
              <a:t>Link your data</a:t>
            </a:r>
          </a:p>
        </p:txBody>
      </p:sp>
      <p:sp>
        <p:nvSpPr>
          <p:cNvPr id="11" name="TextBox 10"/>
          <p:cNvSpPr/>
          <p:nvPr>
            <p:ph type="body" idx="9"/>
          </p:nvPr>
        </p:nvSpPr>
        <p:spPr>
          <a:xfrm>
            <a:off x="6233160" y="1499616"/>
            <a:ext cx="2613660" cy="6400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4200" b="1" i="0">
                <a:solidFill>
                  <a:srgbClr val="E2A03F"/>
                </a:solidFill>
                <a:latin typeface="Calibri"/>
              </a:rPr>
              <a:t>03</a:t>
            </a:r>
          </a:p>
        </p:txBody>
      </p:sp>
      <p:sp>
        <p:nvSpPr>
          <p:cNvPr id="12" name="Rectangle 11"/>
          <p:cNvSpPr/>
          <p:nvPr>
            <p:ph type="body" idx="13"/>
          </p:nvPr>
        </p:nvSpPr>
        <p:spPr>
          <a:xfrm>
            <a:off x="6233160" y="2194560"/>
            <a:ext cx="784098" cy="54864"/>
          </a:xfrm>
          <a:prstGeom prst="rect">
            <a:avLst/>
          </a:prstGeom>
          <a:solidFill>
            <a:srgbClr val="E2A03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/>
          <p:nvPr>
            <p:ph type="body" idx="14"/>
          </p:nvPr>
        </p:nvSpPr>
        <p:spPr>
          <a:xfrm>
            <a:off x="6233160" y="2414016"/>
            <a:ext cx="2613660" cy="518159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3400" b="1" i="0">
                <a:solidFill>
                  <a:srgbClr val="16504B"/>
                </a:solidFill>
                <a:latin typeface="Calibri"/>
              </a:rPr>
              <a:t>Configure</a:t>
            </a:r>
          </a:p>
        </p:txBody>
      </p:sp>
      <p:sp>
        <p:nvSpPr>
          <p:cNvPr id="14" name="TextBox 13"/>
          <p:cNvSpPr/>
          <p:nvPr>
            <p:ph type="body" idx="15"/>
          </p:nvPr>
        </p:nvSpPr>
        <p:spPr>
          <a:xfrm>
            <a:off x="6233160" y="3041903"/>
            <a:ext cx="2613660" cy="2718817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3400" b="0" i="0">
                <a:solidFill>
                  <a:srgbClr val="1C1C28"/>
                </a:solidFill>
                <a:latin typeface="Calibri"/>
              </a:rPr>
              <a:t>Pick your metrics</a:t>
            </a:r>
          </a:p>
        </p:txBody>
      </p:sp>
      <p:sp>
        <p:nvSpPr>
          <p:cNvPr id="15" name="TextBox 14"/>
          <p:cNvSpPr/>
          <p:nvPr>
            <p:ph type="body" idx="16"/>
          </p:nvPr>
        </p:nvSpPr>
        <p:spPr>
          <a:xfrm>
            <a:off x="9121140" y="1499616"/>
            <a:ext cx="2613660" cy="6400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4200" b="1" i="0">
                <a:solidFill>
                  <a:srgbClr val="E2A03F"/>
                </a:solidFill>
                <a:latin typeface="Calibri"/>
              </a:rPr>
              <a:t>04</a:t>
            </a:r>
          </a:p>
        </p:txBody>
      </p:sp>
      <p:sp>
        <p:nvSpPr>
          <p:cNvPr id="16" name="Rectangle 15"/>
          <p:cNvSpPr/>
          <p:nvPr>
            <p:ph type="body" idx="17"/>
          </p:nvPr>
        </p:nvSpPr>
        <p:spPr>
          <a:xfrm>
            <a:off x="9121140" y="2194560"/>
            <a:ext cx="784098" cy="54864"/>
          </a:xfrm>
          <a:prstGeom prst="rect">
            <a:avLst/>
          </a:prstGeom>
          <a:solidFill>
            <a:srgbClr val="E2A03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/>
          <p:nvPr>
            <p:ph type="body" idx="18"/>
          </p:nvPr>
        </p:nvSpPr>
        <p:spPr>
          <a:xfrm>
            <a:off x="9121140" y="2414016"/>
            <a:ext cx="2613660" cy="518159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3400" b="1" i="0">
                <a:solidFill>
                  <a:srgbClr val="16504B"/>
                </a:solidFill>
                <a:latin typeface="Calibri"/>
              </a:rPr>
              <a:t>Launch</a:t>
            </a:r>
          </a:p>
        </p:txBody>
      </p:sp>
      <p:sp>
        <p:nvSpPr>
          <p:cNvPr id="18" name="TextBox 17"/>
          <p:cNvSpPr/>
          <p:nvPr>
            <p:ph type="body" idx="19"/>
          </p:nvPr>
        </p:nvSpPr>
        <p:spPr>
          <a:xfrm>
            <a:off x="9121140" y="3041903"/>
            <a:ext cx="2613660" cy="2718817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3400" b="0" i="0">
                <a:solidFill>
                  <a:srgbClr val="1C1C28"/>
                </a:solidFill>
                <a:latin typeface="Calibri"/>
              </a:rPr>
              <a:t>Go live in minutes</a:t>
            </a:r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slidekit · Roadmap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/>
          <p:nvPr>
            <p:ph type="title"/>
          </p:nvPr>
        </p:nvSpPr>
        <p:spPr>
          <a:xfrm>
            <a:off x="457200" y="457200"/>
            <a:ext cx="11277600" cy="768096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4200" b="1" i="0">
                <a:solidFill>
                  <a:srgbClr val="16504B"/>
                </a:solidFill>
                <a:latin typeface="Calibri"/>
              </a:rPr>
              <a:t>2026 Plan</a:t>
            </a:r>
          </a:p>
        </p:txBody>
      </p:sp>
      <p:sp>
        <p:nvSpPr>
          <p:cNvPr id="3" name="Rectangle 2"/>
          <p:cNvSpPr/>
          <p:nvPr>
            <p:ph type="body" idx="1"/>
          </p:nvPr>
        </p:nvSpPr>
        <p:spPr>
          <a:xfrm>
            <a:off x="457200" y="1499616"/>
            <a:ext cx="3576320" cy="621791"/>
          </a:xfrm>
          <a:prstGeom prst="rect">
            <a:avLst/>
          </a:prstGeom>
          <a:solidFill>
            <a:srgbClr val="E2A03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/>
          <p:nvPr>
            <p:ph type="body" idx="2"/>
          </p:nvPr>
        </p:nvSpPr>
        <p:spPr>
          <a:xfrm>
            <a:off x="457200" y="1499616"/>
            <a:ext cx="3576320" cy="621791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3400" b="1" i="0">
                <a:solidFill>
                  <a:srgbClr val="FFFFFF"/>
                </a:solidFill>
                <a:latin typeface="Calibri"/>
              </a:rPr>
              <a:t>Q1</a:t>
            </a:r>
          </a:p>
        </p:txBody>
      </p:sp>
      <p:sp>
        <p:nvSpPr>
          <p:cNvPr id="5" name="TextBox 4"/>
          <p:cNvSpPr/>
          <p:nvPr>
            <p:ph type="body" idx="3"/>
          </p:nvPr>
        </p:nvSpPr>
        <p:spPr>
          <a:xfrm>
            <a:off x="457200" y="2395727"/>
            <a:ext cx="3576320" cy="609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3400" b="0" i="0">
                <a:solidFill>
                  <a:srgbClr val="1C1C28"/>
                </a:solidFill>
                <a:latin typeface="Calibri"/>
              </a:rPr>
              <a:t>Ship API</a:t>
            </a:r>
          </a:p>
        </p:txBody>
      </p:sp>
      <p:sp>
        <p:nvSpPr>
          <p:cNvPr id="6" name="TextBox 5"/>
          <p:cNvSpPr/>
          <p:nvPr>
            <p:ph type="body" idx="4"/>
          </p:nvPr>
        </p:nvSpPr>
        <p:spPr>
          <a:xfrm>
            <a:off x="457200" y="3279647"/>
            <a:ext cx="3576320" cy="609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3400" b="0" i="0">
                <a:solidFill>
                  <a:srgbClr val="1C1C28"/>
                </a:solidFill>
                <a:latin typeface="Calibri"/>
              </a:rPr>
              <a:t>Beta launch</a:t>
            </a:r>
          </a:p>
        </p:txBody>
      </p:sp>
      <p:sp>
        <p:nvSpPr>
          <p:cNvPr id="7" name="Rectangle 6"/>
          <p:cNvSpPr/>
          <p:nvPr>
            <p:ph type="body" idx="5"/>
          </p:nvPr>
        </p:nvSpPr>
        <p:spPr>
          <a:xfrm>
            <a:off x="4307840" y="1499616"/>
            <a:ext cx="3576320" cy="621791"/>
          </a:xfrm>
          <a:prstGeom prst="rect">
            <a:avLst/>
          </a:prstGeom>
          <a:solidFill>
            <a:srgbClr val="E2A03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/>
          <p:nvPr>
            <p:ph type="body" idx="6"/>
          </p:nvPr>
        </p:nvSpPr>
        <p:spPr>
          <a:xfrm>
            <a:off x="4307840" y="1499616"/>
            <a:ext cx="3576320" cy="621791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3400" b="1" i="0">
                <a:solidFill>
                  <a:srgbClr val="FFFFFF"/>
                </a:solidFill>
                <a:latin typeface="Calibri"/>
              </a:rPr>
              <a:t>Q2</a:t>
            </a:r>
          </a:p>
        </p:txBody>
      </p:sp>
      <p:sp>
        <p:nvSpPr>
          <p:cNvPr id="9" name="TextBox 8"/>
          <p:cNvSpPr/>
          <p:nvPr>
            <p:ph type="body" idx="7"/>
          </p:nvPr>
        </p:nvSpPr>
        <p:spPr>
          <a:xfrm>
            <a:off x="4307840" y="2395727"/>
            <a:ext cx="3576320" cy="609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3400" b="0" i="0">
                <a:solidFill>
                  <a:srgbClr val="1C1C28"/>
                </a:solidFill>
                <a:latin typeface="Calibri"/>
              </a:rPr>
              <a:t>Mobile app</a:t>
            </a:r>
          </a:p>
        </p:txBody>
      </p:sp>
      <p:sp>
        <p:nvSpPr>
          <p:cNvPr id="10" name="TextBox 9"/>
          <p:cNvSpPr/>
          <p:nvPr>
            <p:ph type="body" idx="8"/>
          </p:nvPr>
        </p:nvSpPr>
        <p:spPr>
          <a:xfrm>
            <a:off x="4307840" y="3279647"/>
            <a:ext cx="3576320" cy="609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3400" b="0" i="0">
                <a:solidFill>
                  <a:srgbClr val="1C1C28"/>
                </a:solidFill>
                <a:latin typeface="Calibri"/>
              </a:rPr>
              <a:t>Integrations</a:t>
            </a:r>
          </a:p>
        </p:txBody>
      </p:sp>
      <p:sp>
        <p:nvSpPr>
          <p:cNvPr id="11" name="Rectangle 10"/>
          <p:cNvSpPr/>
          <p:nvPr>
            <p:ph type="body" idx="9"/>
          </p:nvPr>
        </p:nvSpPr>
        <p:spPr>
          <a:xfrm>
            <a:off x="8158480" y="1499616"/>
            <a:ext cx="3576320" cy="621791"/>
          </a:xfrm>
          <a:prstGeom prst="rect">
            <a:avLst/>
          </a:prstGeom>
          <a:solidFill>
            <a:srgbClr val="E2A03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/>
          <p:nvPr>
            <p:ph type="body" idx="13"/>
          </p:nvPr>
        </p:nvSpPr>
        <p:spPr>
          <a:xfrm>
            <a:off x="8158480" y="1499616"/>
            <a:ext cx="3576320" cy="621791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3400" b="1" i="0">
                <a:solidFill>
                  <a:srgbClr val="FFFFFF"/>
                </a:solidFill>
                <a:latin typeface="Calibri"/>
              </a:rPr>
              <a:t>Q3</a:t>
            </a:r>
          </a:p>
        </p:txBody>
      </p:sp>
      <p:sp>
        <p:nvSpPr>
          <p:cNvPr id="13" name="TextBox 12"/>
          <p:cNvSpPr/>
          <p:nvPr>
            <p:ph type="body" idx="14"/>
          </p:nvPr>
        </p:nvSpPr>
        <p:spPr>
          <a:xfrm>
            <a:off x="8158480" y="2395727"/>
            <a:ext cx="3576320" cy="609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3400" b="0" i="0">
                <a:solidFill>
                  <a:srgbClr val="1C1C28"/>
                </a:solidFill>
                <a:latin typeface="Calibri"/>
              </a:rPr>
              <a:t>Enterprise tier</a:t>
            </a:r>
          </a:p>
        </p:txBody>
      </p:sp>
      <p:sp>
        <p:nvSpPr>
          <p:cNvPr id="14" name="TextBox 13"/>
          <p:cNvSpPr/>
          <p:nvPr>
            <p:ph type="body" idx="15"/>
          </p:nvPr>
        </p:nvSpPr>
        <p:spPr>
          <a:xfrm>
            <a:off x="8158480" y="3279647"/>
            <a:ext cx="3576320" cy="609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3400" b="0" i="0">
                <a:solidFill>
                  <a:srgbClr val="1C1C28"/>
                </a:solidFill>
                <a:latin typeface="Calibri"/>
              </a:rPr>
              <a:t>SSO</a:t>
            </a:r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slidekit · Funnel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/>
          <p:nvPr>
            <p:ph type="title"/>
          </p:nvPr>
        </p:nvSpPr>
        <p:spPr>
          <a:xfrm>
            <a:off x="457200" y="457200"/>
            <a:ext cx="11277600" cy="768096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4200" b="1" i="0">
                <a:solidFill>
                  <a:srgbClr val="16504B"/>
                </a:solidFill>
                <a:latin typeface="Calibri"/>
              </a:rPr>
              <a:t>Sales Pipeline</a:t>
            </a:r>
          </a:p>
        </p:txBody>
      </p:sp>
      <p:sp>
        <p:nvSpPr>
          <p:cNvPr id="3" name="Rectangle 2"/>
          <p:cNvSpPr/>
          <p:nvPr>
            <p:ph type="body" idx="1"/>
          </p:nvPr>
        </p:nvSpPr>
        <p:spPr>
          <a:xfrm>
            <a:off x="457200" y="1499616"/>
            <a:ext cx="11277600" cy="859536"/>
          </a:xfrm>
          <a:prstGeom prst="rect">
            <a:avLst/>
          </a:prstGeom>
          <a:solidFill>
            <a:srgbClr val="E2A03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/>
          <p:nvPr>
            <p:ph type="body" idx="2"/>
          </p:nvPr>
        </p:nvSpPr>
        <p:spPr>
          <a:xfrm>
            <a:off x="457200" y="1499616"/>
            <a:ext cx="11277600" cy="859536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3400" b="1" i="0">
                <a:solidFill>
                  <a:srgbClr val="FFFFFF"/>
                </a:solidFill>
                <a:latin typeface="Calibri"/>
              </a:rPr>
              <a:t>Visitors · 50,000</a:t>
            </a:r>
          </a:p>
        </p:txBody>
      </p:sp>
      <p:sp>
        <p:nvSpPr>
          <p:cNvPr id="5" name="Rectangle 4"/>
          <p:cNvSpPr/>
          <p:nvPr>
            <p:ph type="body" idx="3"/>
          </p:nvPr>
        </p:nvSpPr>
        <p:spPr>
          <a:xfrm>
            <a:off x="1490980" y="2633472"/>
            <a:ext cx="9210040" cy="859536"/>
          </a:xfrm>
          <a:prstGeom prst="rect">
            <a:avLst/>
          </a:prstGeom>
          <a:solidFill>
            <a:srgbClr val="E2A03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/>
          <p:nvPr>
            <p:ph type="body" idx="4"/>
          </p:nvPr>
        </p:nvSpPr>
        <p:spPr>
          <a:xfrm>
            <a:off x="1490980" y="2633472"/>
            <a:ext cx="9210040" cy="859536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3400" b="1" i="0">
                <a:solidFill>
                  <a:srgbClr val="FFFFFF"/>
                </a:solidFill>
                <a:latin typeface="Calibri"/>
              </a:rPr>
              <a:t>Signups · 8,000</a:t>
            </a:r>
          </a:p>
        </p:txBody>
      </p:sp>
      <p:sp>
        <p:nvSpPr>
          <p:cNvPr id="7" name="Rectangle 6"/>
          <p:cNvSpPr/>
          <p:nvPr>
            <p:ph type="body" idx="5"/>
          </p:nvPr>
        </p:nvSpPr>
        <p:spPr>
          <a:xfrm>
            <a:off x="2524760" y="3767328"/>
            <a:ext cx="7142480" cy="859536"/>
          </a:xfrm>
          <a:prstGeom prst="rect">
            <a:avLst/>
          </a:prstGeom>
          <a:solidFill>
            <a:srgbClr val="E2A03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/>
          <p:nvPr>
            <p:ph type="body" idx="6"/>
          </p:nvPr>
        </p:nvSpPr>
        <p:spPr>
          <a:xfrm>
            <a:off x="2524760" y="3767328"/>
            <a:ext cx="7142480" cy="859536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3400" b="1" i="0">
                <a:solidFill>
                  <a:srgbClr val="FFFFFF"/>
                </a:solidFill>
                <a:latin typeface="Calibri"/>
              </a:rPr>
              <a:t>Trials · 2,400</a:t>
            </a:r>
          </a:p>
        </p:txBody>
      </p:sp>
      <p:sp>
        <p:nvSpPr>
          <p:cNvPr id="9" name="Rectangle 8"/>
          <p:cNvSpPr/>
          <p:nvPr>
            <p:ph type="body" idx="7"/>
          </p:nvPr>
        </p:nvSpPr>
        <p:spPr>
          <a:xfrm>
            <a:off x="3558540" y="4901184"/>
            <a:ext cx="5074919" cy="859536"/>
          </a:xfrm>
          <a:prstGeom prst="rect">
            <a:avLst/>
          </a:prstGeom>
          <a:solidFill>
            <a:srgbClr val="E2A03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/>
          <p:nvPr>
            <p:ph type="body" idx="8"/>
          </p:nvPr>
        </p:nvSpPr>
        <p:spPr>
          <a:xfrm>
            <a:off x="3558540" y="4901184"/>
            <a:ext cx="5074919" cy="859536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3400" b="1" i="0">
                <a:solidFill>
                  <a:srgbClr val="FFFFFF"/>
                </a:solidFill>
                <a:latin typeface="Calibri"/>
              </a:rPr>
              <a:t>Customers · 600</a:t>
            </a:r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slidekit · Nested Circles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/>
          <p:nvPr>
            <p:ph type="title"/>
          </p:nvPr>
        </p:nvSpPr>
        <p:spPr>
          <a:xfrm>
            <a:off x="457200" y="457200"/>
            <a:ext cx="11277600" cy="768096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4200" b="1" i="0">
                <a:solidFill>
                  <a:srgbClr val="16504B"/>
                </a:solidFill>
                <a:latin typeface="Calibri"/>
              </a:rPr>
              <a:t>Job Search Funnel (2021)</a:t>
            </a:r>
          </a:p>
        </p:txBody>
      </p:sp>
      <p:sp>
        <p:nvSpPr>
          <p:cNvPr id="3" name="Oval 2"/>
          <p:cNvSpPr/>
          <p:nvPr>
            <p:ph type="body" idx="1"/>
          </p:nvPr>
        </p:nvSpPr>
        <p:spPr>
          <a:xfrm>
            <a:off x="3645408" y="1499616"/>
            <a:ext cx="4901184" cy="4901184"/>
          </a:xfrm>
          <a:prstGeom prst="ellipse">
            <a:avLst/>
          </a:prstGeom>
          <a:solidFill>
            <a:srgbClr val="8A8A9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>
            <p:ph type="body" idx="2"/>
          </p:nvPr>
        </p:nvSpPr>
        <p:spPr>
          <a:xfrm>
            <a:off x="4462272" y="3133344"/>
            <a:ext cx="3267456" cy="3267456"/>
          </a:xfrm>
          <a:prstGeom prst="ellipse">
            <a:avLst/>
          </a:prstGeom>
          <a:solidFill>
            <a:srgbClr val="E2A03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>
            <p:ph type="body" idx="3"/>
          </p:nvPr>
        </p:nvSpPr>
        <p:spPr>
          <a:xfrm>
            <a:off x="5279136" y="4767072"/>
            <a:ext cx="1633728" cy="1633728"/>
          </a:xfrm>
          <a:prstGeom prst="ellipse">
            <a:avLst/>
          </a:prstGeom>
          <a:solidFill>
            <a:srgbClr val="16504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/>
          <p:nvPr>
            <p:ph type="body" idx="4"/>
          </p:nvPr>
        </p:nvSpPr>
        <p:spPr>
          <a:xfrm>
            <a:off x="4577329" y="1645920"/>
            <a:ext cx="3037342" cy="7620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/>
            <a:r>
              <a:rPr sz="5000" b="1" i="0">
                <a:solidFill>
                  <a:srgbClr val="FFFFFF"/>
                </a:solidFill>
                <a:latin typeface="Calibri"/>
              </a:rPr>
              <a:t>&gt;700</a:t>
            </a:r>
          </a:p>
        </p:txBody>
      </p:sp>
      <p:sp>
        <p:nvSpPr>
          <p:cNvPr id="7" name="TextBox 6"/>
          <p:cNvSpPr/>
          <p:nvPr>
            <p:ph type="body" idx="5"/>
          </p:nvPr>
        </p:nvSpPr>
        <p:spPr>
          <a:xfrm>
            <a:off x="4017676" y="2316480"/>
            <a:ext cx="4156648" cy="6705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/>
            <a:r>
              <a:rPr sz="4400" b="0" i="0">
                <a:solidFill>
                  <a:srgbClr val="FFFFFF"/>
                </a:solidFill>
                <a:latin typeface="Calibri"/>
              </a:rPr>
              <a:t>Applications</a:t>
            </a:r>
          </a:p>
        </p:txBody>
      </p:sp>
      <p:sp>
        <p:nvSpPr>
          <p:cNvPr id="8" name="TextBox 7"/>
          <p:cNvSpPr/>
          <p:nvPr>
            <p:ph type="body" idx="6"/>
          </p:nvPr>
        </p:nvSpPr>
        <p:spPr>
          <a:xfrm>
            <a:off x="4840583" y="3401568"/>
            <a:ext cx="2510834" cy="6400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/>
            <a:r>
              <a:rPr sz="4200" b="1" i="0">
                <a:solidFill>
                  <a:srgbClr val="FFFFFF"/>
                </a:solidFill>
                <a:latin typeface="Calibri"/>
              </a:rPr>
              <a:t>6</a:t>
            </a:r>
          </a:p>
        </p:txBody>
      </p:sp>
      <p:sp>
        <p:nvSpPr>
          <p:cNvPr id="9" name="TextBox 8"/>
          <p:cNvSpPr/>
          <p:nvPr>
            <p:ph type="body" idx="7"/>
          </p:nvPr>
        </p:nvSpPr>
        <p:spPr>
          <a:xfrm>
            <a:off x="4554990" y="3950208"/>
            <a:ext cx="3082020" cy="5486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/>
            <a:r>
              <a:rPr sz="3600" b="0" i="0">
                <a:solidFill>
                  <a:srgbClr val="FFFFFF"/>
                </a:solidFill>
                <a:latin typeface="Calibri"/>
              </a:rPr>
              <a:t>Interviews</a:t>
            </a:r>
          </a:p>
        </p:txBody>
      </p:sp>
      <p:sp>
        <p:nvSpPr>
          <p:cNvPr id="10" name="TextBox 9"/>
          <p:cNvSpPr/>
          <p:nvPr>
            <p:ph type="body" idx="8"/>
          </p:nvPr>
        </p:nvSpPr>
        <p:spPr>
          <a:xfrm>
            <a:off x="5296524" y="5157216"/>
            <a:ext cx="1598952" cy="518159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/>
            <a:r>
              <a:rPr sz="3400" b="1" i="0">
                <a:solidFill>
                  <a:srgbClr val="FFFFFF"/>
                </a:solidFill>
                <a:latin typeface="Calibri"/>
              </a:rPr>
              <a:t>1.5</a:t>
            </a:r>
          </a:p>
        </p:txBody>
      </p:sp>
      <p:sp>
        <p:nvSpPr>
          <p:cNvPr id="11" name="TextBox 10"/>
          <p:cNvSpPr/>
          <p:nvPr>
            <p:ph type="body" idx="9"/>
          </p:nvPr>
        </p:nvSpPr>
        <p:spPr>
          <a:xfrm>
            <a:off x="5307493" y="5583935"/>
            <a:ext cx="1577014" cy="4267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/>
            <a:r>
              <a:rPr sz="2800" b="0" i="0">
                <a:solidFill>
                  <a:srgbClr val="FFFFFF"/>
                </a:solidFill>
                <a:latin typeface="Calibri"/>
              </a:rPr>
              <a:t>Offers</a:t>
            </a:r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39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slidekit · Pyramid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/>
          <p:nvPr>
            <p:ph type="title"/>
          </p:nvPr>
        </p:nvSpPr>
        <p:spPr>
          <a:xfrm>
            <a:off x="457200" y="457200"/>
            <a:ext cx="11277600" cy="768096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4200" b="1" i="0">
                <a:solidFill>
                  <a:srgbClr val="16504B"/>
                </a:solidFill>
                <a:latin typeface="Calibri"/>
              </a:rPr>
              <a:t>Hierarchy of Needs</a:t>
            </a:r>
          </a:p>
        </p:txBody>
      </p:sp>
      <p:sp>
        <p:nvSpPr>
          <p:cNvPr id="3" name="Rectangle 2"/>
          <p:cNvSpPr/>
          <p:nvPr>
            <p:ph type="body" idx="1"/>
          </p:nvPr>
        </p:nvSpPr>
        <p:spPr>
          <a:xfrm>
            <a:off x="3840480" y="1499616"/>
            <a:ext cx="4511040" cy="859536"/>
          </a:xfrm>
          <a:prstGeom prst="rect">
            <a:avLst/>
          </a:prstGeom>
          <a:solidFill>
            <a:srgbClr val="16504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/>
          <p:nvPr>
            <p:ph type="body" idx="2"/>
          </p:nvPr>
        </p:nvSpPr>
        <p:spPr>
          <a:xfrm>
            <a:off x="3840480" y="1499616"/>
            <a:ext cx="4511040" cy="859536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3400" b="1" i="0">
                <a:solidFill>
                  <a:srgbClr val="FFFFFF"/>
                </a:solidFill>
                <a:latin typeface="Calibri"/>
              </a:rPr>
              <a:t>Vision</a:t>
            </a:r>
          </a:p>
        </p:txBody>
      </p:sp>
      <p:sp>
        <p:nvSpPr>
          <p:cNvPr id="5" name="Rectangle 4"/>
          <p:cNvSpPr/>
          <p:nvPr>
            <p:ph type="body" idx="3"/>
          </p:nvPr>
        </p:nvSpPr>
        <p:spPr>
          <a:xfrm>
            <a:off x="2712720" y="2633472"/>
            <a:ext cx="6766560" cy="859536"/>
          </a:xfrm>
          <a:prstGeom prst="rect">
            <a:avLst/>
          </a:prstGeom>
          <a:solidFill>
            <a:srgbClr val="E2A03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/>
          <p:nvPr>
            <p:ph type="body" idx="4"/>
          </p:nvPr>
        </p:nvSpPr>
        <p:spPr>
          <a:xfrm>
            <a:off x="2712720" y="2633472"/>
            <a:ext cx="6766560" cy="859536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3400" b="1" i="0">
                <a:solidFill>
                  <a:srgbClr val="FFFFFF"/>
                </a:solidFill>
                <a:latin typeface="Calibri"/>
              </a:rPr>
              <a:t>Strategy</a:t>
            </a:r>
          </a:p>
        </p:txBody>
      </p:sp>
      <p:sp>
        <p:nvSpPr>
          <p:cNvPr id="7" name="Rectangle 6"/>
          <p:cNvSpPr/>
          <p:nvPr>
            <p:ph type="body" idx="5"/>
          </p:nvPr>
        </p:nvSpPr>
        <p:spPr>
          <a:xfrm>
            <a:off x="1584960" y="3767328"/>
            <a:ext cx="9022080" cy="859536"/>
          </a:xfrm>
          <a:prstGeom prst="rect">
            <a:avLst/>
          </a:prstGeom>
          <a:solidFill>
            <a:srgbClr val="16504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/>
          <p:nvPr>
            <p:ph type="body" idx="6"/>
          </p:nvPr>
        </p:nvSpPr>
        <p:spPr>
          <a:xfrm>
            <a:off x="1584960" y="3767328"/>
            <a:ext cx="9022080" cy="859536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3400" b="1" i="0">
                <a:solidFill>
                  <a:srgbClr val="FFFFFF"/>
                </a:solidFill>
                <a:latin typeface="Calibri"/>
              </a:rPr>
              <a:t>Goals</a:t>
            </a:r>
          </a:p>
        </p:txBody>
      </p:sp>
      <p:sp>
        <p:nvSpPr>
          <p:cNvPr id="9" name="Rectangle 8"/>
          <p:cNvSpPr/>
          <p:nvPr>
            <p:ph type="body" idx="7"/>
          </p:nvPr>
        </p:nvSpPr>
        <p:spPr>
          <a:xfrm>
            <a:off x="457200" y="4901184"/>
            <a:ext cx="11277600" cy="859536"/>
          </a:xfrm>
          <a:prstGeom prst="rect">
            <a:avLst/>
          </a:prstGeom>
          <a:solidFill>
            <a:srgbClr val="E2A03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/>
          <p:nvPr>
            <p:ph type="body" idx="8"/>
          </p:nvPr>
        </p:nvSpPr>
        <p:spPr>
          <a:xfrm>
            <a:off x="457200" y="4901184"/>
            <a:ext cx="11277600" cy="859536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3400" b="1" i="0">
                <a:solidFill>
                  <a:srgbClr val="FFFFFF"/>
                </a:solidFill>
                <a:latin typeface="Calibri"/>
              </a:rPr>
              <a:t>Tactics</a:t>
            </a:r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40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slidekit · SWOT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/>
          <p:nvPr>
            <p:ph type="title"/>
          </p:nvPr>
        </p:nvSpPr>
        <p:spPr>
          <a:xfrm>
            <a:off x="457200" y="457200"/>
            <a:ext cx="11277600" cy="768096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4200" b="1" i="0">
                <a:solidFill>
                  <a:srgbClr val="16504B"/>
                </a:solidFill>
                <a:latin typeface="Calibri"/>
              </a:rPr>
              <a:t>SWOT Analysis</a:t>
            </a:r>
          </a:p>
        </p:txBody>
      </p:sp>
      <p:sp>
        <p:nvSpPr>
          <p:cNvPr id="3" name="TextBox 2"/>
          <p:cNvSpPr/>
          <p:nvPr>
            <p:ph type="body" idx="1"/>
          </p:nvPr>
        </p:nvSpPr>
        <p:spPr>
          <a:xfrm>
            <a:off x="457200" y="1499616"/>
            <a:ext cx="5501640" cy="621791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3400" b="1" i="0">
                <a:solidFill>
                  <a:srgbClr val="E2A03F"/>
                </a:solidFill>
                <a:latin typeface="Calibri"/>
              </a:rPr>
              <a:t>Strengths</a:t>
            </a:r>
          </a:p>
        </p:txBody>
      </p:sp>
      <p:sp>
        <p:nvSpPr>
          <p:cNvPr id="4" name="Rectangle 3"/>
          <p:cNvSpPr/>
          <p:nvPr>
            <p:ph type="body" idx="2"/>
          </p:nvPr>
        </p:nvSpPr>
        <p:spPr>
          <a:xfrm>
            <a:off x="457200" y="2176271"/>
            <a:ext cx="1650492" cy="54864"/>
          </a:xfrm>
          <a:prstGeom prst="rect">
            <a:avLst/>
          </a:prstGeom>
          <a:solidFill>
            <a:srgbClr val="E2A03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/>
          <p:nvPr>
            <p:ph type="body" idx="3"/>
          </p:nvPr>
        </p:nvSpPr>
        <p:spPr>
          <a:xfrm>
            <a:off x="457200" y="2395727"/>
            <a:ext cx="5501640" cy="1097281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3400" b="0" i="0">
                <a:solidFill>
                  <a:srgbClr val="1C1C28"/>
                </a:solidFill>
                <a:latin typeface="Calibri"/>
              </a:rPr>
              <a:t>A strong brand with loyal users</a:t>
            </a:r>
          </a:p>
        </p:txBody>
      </p:sp>
      <p:sp>
        <p:nvSpPr>
          <p:cNvPr id="6" name="TextBox 5"/>
          <p:cNvSpPr/>
          <p:nvPr>
            <p:ph type="body" idx="4"/>
          </p:nvPr>
        </p:nvSpPr>
        <p:spPr>
          <a:xfrm>
            <a:off x="6233160" y="1499616"/>
            <a:ext cx="5501640" cy="621791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3400" b="1" i="0">
                <a:solidFill>
                  <a:srgbClr val="8A8A9A"/>
                </a:solidFill>
                <a:latin typeface="Calibri"/>
              </a:rPr>
              <a:t>Weaknesses</a:t>
            </a:r>
          </a:p>
        </p:txBody>
      </p:sp>
      <p:sp>
        <p:nvSpPr>
          <p:cNvPr id="7" name="Rectangle 6"/>
          <p:cNvSpPr/>
          <p:nvPr>
            <p:ph type="body" idx="5"/>
          </p:nvPr>
        </p:nvSpPr>
        <p:spPr>
          <a:xfrm>
            <a:off x="6233160" y="2176271"/>
            <a:ext cx="1650492" cy="54864"/>
          </a:xfrm>
          <a:prstGeom prst="rect">
            <a:avLst/>
          </a:prstGeom>
          <a:solidFill>
            <a:srgbClr val="8A8A9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/>
          <p:nvPr>
            <p:ph type="body" idx="6"/>
          </p:nvPr>
        </p:nvSpPr>
        <p:spPr>
          <a:xfrm>
            <a:off x="6233160" y="2395727"/>
            <a:ext cx="5501640" cy="1097281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3400" b="0" i="0">
                <a:solidFill>
                  <a:srgbClr val="1C1C28"/>
                </a:solidFill>
                <a:latin typeface="Calibri"/>
              </a:rPr>
              <a:t>Thin margins and a small team</a:t>
            </a:r>
          </a:p>
        </p:txBody>
      </p:sp>
      <p:sp>
        <p:nvSpPr>
          <p:cNvPr id="9" name="TextBox 8"/>
          <p:cNvSpPr/>
          <p:nvPr>
            <p:ph type="body" idx="7"/>
          </p:nvPr>
        </p:nvSpPr>
        <p:spPr>
          <a:xfrm>
            <a:off x="457200" y="3767328"/>
            <a:ext cx="5501640" cy="621791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3400" b="1" i="0">
                <a:solidFill>
                  <a:srgbClr val="E2A03F"/>
                </a:solidFill>
                <a:latin typeface="Calibri"/>
              </a:rPr>
              <a:t>Opportunities</a:t>
            </a:r>
          </a:p>
        </p:txBody>
      </p:sp>
      <p:sp>
        <p:nvSpPr>
          <p:cNvPr id="10" name="Rectangle 9"/>
          <p:cNvSpPr/>
          <p:nvPr>
            <p:ph type="body" idx="8"/>
          </p:nvPr>
        </p:nvSpPr>
        <p:spPr>
          <a:xfrm>
            <a:off x="457200" y="4443983"/>
            <a:ext cx="1650492" cy="54864"/>
          </a:xfrm>
          <a:prstGeom prst="rect">
            <a:avLst/>
          </a:prstGeom>
          <a:solidFill>
            <a:srgbClr val="E2A03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/>
          <p:nvPr>
            <p:ph type="body" idx="9"/>
          </p:nvPr>
        </p:nvSpPr>
        <p:spPr>
          <a:xfrm>
            <a:off x="457200" y="4663439"/>
            <a:ext cx="5501640" cy="1097281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3400" b="0" i="0">
                <a:solidFill>
                  <a:srgbClr val="1C1C28"/>
                </a:solidFill>
                <a:latin typeface="Calibri"/>
              </a:rPr>
              <a:t>New markets through partnerships</a:t>
            </a:r>
          </a:p>
        </p:txBody>
      </p:sp>
      <p:sp>
        <p:nvSpPr>
          <p:cNvPr id="12" name="TextBox 11"/>
          <p:cNvSpPr/>
          <p:nvPr>
            <p:ph type="body" idx="13"/>
          </p:nvPr>
        </p:nvSpPr>
        <p:spPr>
          <a:xfrm>
            <a:off x="6233160" y="3767328"/>
            <a:ext cx="5501640" cy="621791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3400" b="1" i="0">
                <a:solidFill>
                  <a:srgbClr val="8A8A9A"/>
                </a:solidFill>
                <a:latin typeface="Calibri"/>
              </a:rPr>
              <a:t>Threats</a:t>
            </a:r>
          </a:p>
        </p:txBody>
      </p:sp>
      <p:sp>
        <p:nvSpPr>
          <p:cNvPr id="13" name="Rectangle 12"/>
          <p:cNvSpPr/>
          <p:nvPr>
            <p:ph type="body" idx="14"/>
          </p:nvPr>
        </p:nvSpPr>
        <p:spPr>
          <a:xfrm>
            <a:off x="6233160" y="4443983"/>
            <a:ext cx="1650492" cy="54864"/>
          </a:xfrm>
          <a:prstGeom prst="rect">
            <a:avLst/>
          </a:prstGeom>
          <a:solidFill>
            <a:srgbClr val="8A8A9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/>
          <p:nvPr>
            <p:ph type="body" idx="15"/>
          </p:nvPr>
        </p:nvSpPr>
        <p:spPr>
          <a:xfrm>
            <a:off x="6233160" y="4663439"/>
            <a:ext cx="5501640" cy="1097281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3400" b="0" i="0">
                <a:solidFill>
                  <a:srgbClr val="1C1C28"/>
                </a:solidFill>
                <a:latin typeface="Calibri"/>
              </a:rPr>
              <a:t>New entrants driving price pressure</a:t>
            </a:r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4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slidekit · Comparison Matrix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/>
          <p:nvPr>
            <p:ph type="title"/>
          </p:nvPr>
        </p:nvSpPr>
        <p:spPr>
          <a:xfrm>
            <a:off x="457200" y="457200"/>
            <a:ext cx="11277600" cy="768096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4200" b="1" i="0">
                <a:solidFill>
                  <a:srgbClr val="16504B"/>
                </a:solidFill>
                <a:latin typeface="Calibri"/>
              </a:rPr>
              <a:t>Evaluation Matrix</a:t>
            </a:r>
          </a:p>
        </p:txBody>
      </p:sp>
      <p:sp>
        <p:nvSpPr>
          <p:cNvPr id="3" name="TextBox 2"/>
          <p:cNvSpPr/>
          <p:nvPr>
            <p:ph type="body" idx="1"/>
          </p:nvPr>
        </p:nvSpPr>
        <p:spPr>
          <a:xfrm>
            <a:off x="3889248" y="1499616"/>
            <a:ext cx="2432304" cy="518159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/>
            <a:r>
              <a:rPr sz="3400" b="1" i="0">
                <a:solidFill>
                  <a:srgbClr val="1C1C28"/>
                </a:solidFill>
                <a:latin typeface="Calibri"/>
              </a:rPr>
              <a:t>Platform A</a:t>
            </a:r>
          </a:p>
        </p:txBody>
      </p:sp>
      <p:sp>
        <p:nvSpPr>
          <p:cNvPr id="4" name="TextBox 3"/>
          <p:cNvSpPr/>
          <p:nvPr>
            <p:ph type="body" idx="2"/>
          </p:nvPr>
        </p:nvSpPr>
        <p:spPr>
          <a:xfrm>
            <a:off x="6595872" y="1499616"/>
            <a:ext cx="2432304" cy="518159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/>
            <a:r>
              <a:rPr sz="3400" b="1" i="0">
                <a:solidFill>
                  <a:srgbClr val="1C1C28"/>
                </a:solidFill>
                <a:latin typeface="Calibri"/>
              </a:rPr>
              <a:t>Platform B</a:t>
            </a:r>
          </a:p>
        </p:txBody>
      </p:sp>
      <p:sp>
        <p:nvSpPr>
          <p:cNvPr id="5" name="TextBox 4"/>
          <p:cNvSpPr/>
          <p:nvPr>
            <p:ph type="body" idx="3"/>
          </p:nvPr>
        </p:nvSpPr>
        <p:spPr>
          <a:xfrm>
            <a:off x="9302496" y="1499616"/>
            <a:ext cx="2432304" cy="518159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/>
            <a:r>
              <a:rPr sz="3400" b="1" i="0">
                <a:solidFill>
                  <a:srgbClr val="1C1C28"/>
                </a:solidFill>
                <a:latin typeface="Calibri"/>
              </a:rPr>
              <a:t>Platform C</a:t>
            </a:r>
          </a:p>
        </p:txBody>
      </p:sp>
      <p:sp>
        <p:nvSpPr>
          <p:cNvPr id="6" name="Rectangle 5"/>
          <p:cNvSpPr/>
          <p:nvPr>
            <p:ph type="body" idx="4"/>
          </p:nvPr>
        </p:nvSpPr>
        <p:spPr>
          <a:xfrm>
            <a:off x="457200" y="2072639"/>
            <a:ext cx="11277600" cy="54864"/>
          </a:xfrm>
          <a:prstGeom prst="rect">
            <a:avLst/>
          </a:prstGeom>
          <a:solidFill>
            <a:srgbClr val="E2A03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/>
          <p:nvPr>
            <p:ph type="body" idx="5"/>
          </p:nvPr>
        </p:nvSpPr>
        <p:spPr>
          <a:xfrm>
            <a:off x="457200" y="2401823"/>
            <a:ext cx="3157728" cy="93675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3400" b="1" i="0">
                <a:solidFill>
                  <a:srgbClr val="1C1C28"/>
                </a:solidFill>
                <a:latin typeface="Calibri"/>
              </a:rPr>
              <a:t>Security</a:t>
            </a:r>
          </a:p>
        </p:txBody>
      </p:sp>
      <p:sp>
        <p:nvSpPr>
          <p:cNvPr id="8" name="Rectangle 7"/>
          <p:cNvSpPr/>
          <p:nvPr>
            <p:ph type="body" idx="6"/>
          </p:nvPr>
        </p:nvSpPr>
        <p:spPr>
          <a:xfrm>
            <a:off x="4119059" y="2401823"/>
            <a:ext cx="1972681" cy="518159"/>
          </a:xfrm>
          <a:prstGeom prst="rect">
            <a:avLst/>
          </a:prstGeom>
          <a:solidFill>
            <a:srgbClr val="E2A03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/>
          <p:nvPr>
            <p:ph type="body" idx="7"/>
          </p:nvPr>
        </p:nvSpPr>
        <p:spPr>
          <a:xfrm>
            <a:off x="4119059" y="2401823"/>
            <a:ext cx="1972681" cy="518159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/>
            <a:r>
              <a:rPr sz="3400" b="1" i="0">
                <a:solidFill>
                  <a:srgbClr val="FFFFFF"/>
                </a:solidFill>
                <a:latin typeface="Calibri"/>
              </a:rPr>
              <a:t>Strong</a:t>
            </a:r>
          </a:p>
        </p:txBody>
      </p:sp>
      <p:sp>
        <p:nvSpPr>
          <p:cNvPr id="10" name="TextBox 9"/>
          <p:cNvSpPr/>
          <p:nvPr>
            <p:ph type="body" idx="8"/>
          </p:nvPr>
        </p:nvSpPr>
        <p:spPr>
          <a:xfrm>
            <a:off x="6595872" y="2401823"/>
            <a:ext cx="2432304" cy="93675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/>
            <a:r>
              <a:rPr sz="3400" b="0" i="0">
                <a:solidFill>
                  <a:srgbClr val="1C1C28"/>
                </a:solidFill>
                <a:latin typeface="Calibri"/>
              </a:rPr>
              <a:t>Medium</a:t>
            </a:r>
          </a:p>
        </p:txBody>
      </p:sp>
      <p:sp>
        <p:nvSpPr>
          <p:cNvPr id="11" name="TextBox 10"/>
          <p:cNvSpPr/>
          <p:nvPr>
            <p:ph type="body" idx="9"/>
          </p:nvPr>
        </p:nvSpPr>
        <p:spPr>
          <a:xfrm>
            <a:off x="9302496" y="2401823"/>
            <a:ext cx="2432304" cy="93675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/>
            <a:r>
              <a:rPr sz="3400" b="0" i="0">
                <a:solidFill>
                  <a:srgbClr val="1C1C28"/>
                </a:solidFill>
                <a:latin typeface="Calibri"/>
              </a:rPr>
              <a:t>Strong</a:t>
            </a:r>
          </a:p>
        </p:txBody>
      </p:sp>
      <p:sp>
        <p:nvSpPr>
          <p:cNvPr id="12" name="TextBox 11"/>
          <p:cNvSpPr/>
          <p:nvPr>
            <p:ph type="body" idx="13"/>
          </p:nvPr>
        </p:nvSpPr>
        <p:spPr>
          <a:xfrm>
            <a:off x="457200" y="3612895"/>
            <a:ext cx="3157728" cy="93675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3400" b="1" i="0">
                <a:solidFill>
                  <a:srgbClr val="1C1C28"/>
                </a:solidFill>
                <a:latin typeface="Calibri"/>
              </a:rPr>
              <a:t>Workflow</a:t>
            </a:r>
          </a:p>
        </p:txBody>
      </p:sp>
      <p:sp>
        <p:nvSpPr>
          <p:cNvPr id="13" name="TextBox 12"/>
          <p:cNvSpPr/>
          <p:nvPr>
            <p:ph type="body" idx="14"/>
          </p:nvPr>
        </p:nvSpPr>
        <p:spPr>
          <a:xfrm>
            <a:off x="3889248" y="3612895"/>
            <a:ext cx="2432304" cy="93675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/>
            <a:r>
              <a:rPr sz="3400" b="0" i="0">
                <a:solidFill>
                  <a:srgbClr val="1C1C28"/>
                </a:solidFill>
                <a:latin typeface="Calibri"/>
              </a:rPr>
              <a:t>Medium</a:t>
            </a:r>
          </a:p>
        </p:txBody>
      </p:sp>
      <p:sp>
        <p:nvSpPr>
          <p:cNvPr id="14" name="TextBox 13"/>
          <p:cNvSpPr/>
          <p:nvPr>
            <p:ph type="body" idx="15"/>
          </p:nvPr>
        </p:nvSpPr>
        <p:spPr>
          <a:xfrm>
            <a:off x="6595872" y="3612895"/>
            <a:ext cx="2432304" cy="93675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/>
            <a:r>
              <a:rPr sz="3400" b="0" i="0">
                <a:solidFill>
                  <a:srgbClr val="1C1C28"/>
                </a:solidFill>
                <a:latin typeface="Calibri"/>
              </a:rPr>
              <a:t>Strong</a:t>
            </a:r>
          </a:p>
        </p:txBody>
      </p:sp>
      <p:sp>
        <p:nvSpPr>
          <p:cNvPr id="15" name="TextBox 14"/>
          <p:cNvSpPr/>
          <p:nvPr>
            <p:ph type="body" idx="16"/>
          </p:nvPr>
        </p:nvSpPr>
        <p:spPr>
          <a:xfrm>
            <a:off x="9302496" y="3612895"/>
            <a:ext cx="2432304" cy="93675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/>
            <a:r>
              <a:rPr sz="3400" b="0" i="0">
                <a:solidFill>
                  <a:srgbClr val="1C1C28"/>
                </a:solidFill>
                <a:latin typeface="Calibri"/>
              </a:rPr>
              <a:t>Medium</a:t>
            </a:r>
          </a:p>
        </p:txBody>
      </p:sp>
      <p:sp>
        <p:nvSpPr>
          <p:cNvPr id="16" name="TextBox 15"/>
          <p:cNvSpPr/>
          <p:nvPr>
            <p:ph type="body" idx="17"/>
          </p:nvPr>
        </p:nvSpPr>
        <p:spPr>
          <a:xfrm>
            <a:off x="457200" y="4823967"/>
            <a:ext cx="3157728" cy="93675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3400" b="1" i="0">
                <a:solidFill>
                  <a:srgbClr val="1C1C28"/>
                </a:solidFill>
                <a:latin typeface="Calibri"/>
              </a:rPr>
              <a:t>Support</a:t>
            </a:r>
          </a:p>
        </p:txBody>
      </p:sp>
      <p:sp>
        <p:nvSpPr>
          <p:cNvPr id="17" name="Rectangle 16"/>
          <p:cNvSpPr/>
          <p:nvPr>
            <p:ph type="body" idx="18"/>
          </p:nvPr>
        </p:nvSpPr>
        <p:spPr>
          <a:xfrm>
            <a:off x="4119059" y="4823967"/>
            <a:ext cx="1972681" cy="518159"/>
          </a:xfrm>
          <a:prstGeom prst="rect">
            <a:avLst/>
          </a:prstGeom>
          <a:solidFill>
            <a:srgbClr val="E2A03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/>
          <p:nvPr>
            <p:ph type="body" idx="19"/>
          </p:nvPr>
        </p:nvSpPr>
        <p:spPr>
          <a:xfrm>
            <a:off x="4119059" y="4823967"/>
            <a:ext cx="1972681" cy="518159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/>
            <a:r>
              <a:rPr sz="3400" b="1" i="0">
                <a:solidFill>
                  <a:srgbClr val="FFFFFF"/>
                </a:solidFill>
                <a:latin typeface="Calibri"/>
              </a:rPr>
              <a:t>Strong</a:t>
            </a:r>
          </a:p>
        </p:txBody>
      </p:sp>
      <p:sp>
        <p:nvSpPr>
          <p:cNvPr id="19" name="TextBox 18"/>
          <p:cNvSpPr/>
          <p:nvPr>
            <p:ph type="body" idx="20"/>
          </p:nvPr>
        </p:nvSpPr>
        <p:spPr>
          <a:xfrm>
            <a:off x="6595872" y="4823967"/>
            <a:ext cx="2432304" cy="93675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/>
            <a:r>
              <a:rPr sz="3400" b="0" i="0">
                <a:solidFill>
                  <a:srgbClr val="1C1C28"/>
                </a:solidFill>
                <a:latin typeface="Calibri"/>
              </a:rPr>
              <a:t>Strong</a:t>
            </a:r>
          </a:p>
        </p:txBody>
      </p:sp>
      <p:sp>
        <p:nvSpPr>
          <p:cNvPr id="20" name="TextBox 19"/>
          <p:cNvSpPr/>
          <p:nvPr>
            <p:ph type="body" idx="21"/>
          </p:nvPr>
        </p:nvSpPr>
        <p:spPr>
          <a:xfrm>
            <a:off x="9302496" y="4823967"/>
            <a:ext cx="2432304" cy="93675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/>
            <a:r>
              <a:rPr sz="3400" b="0" i="0">
                <a:solidFill>
                  <a:srgbClr val="1C1C28"/>
                </a:solidFill>
                <a:latin typeface="Calibri"/>
              </a:rPr>
              <a:t>Medium</a:t>
            </a:r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Relationship Id="rId13" Type="http://schemas.openxmlformats.org/officeDocument/2006/relationships/slideLayout" Target="../slideLayouts/slideLayout12.xml"/><Relationship Id="rId14" Type="http://schemas.openxmlformats.org/officeDocument/2006/relationships/slideLayout" Target="../slideLayouts/slideLayout13.xml"/><Relationship Id="rId15" Type="http://schemas.openxmlformats.org/officeDocument/2006/relationships/slideLayout" Target="../slideLayouts/slideLayout14.xml"/><Relationship Id="rId16" Type="http://schemas.openxmlformats.org/officeDocument/2006/relationships/slideLayout" Target="../slideLayouts/slideLayout15.xml"/><Relationship Id="rId17" Type="http://schemas.openxmlformats.org/officeDocument/2006/relationships/slideLayout" Target="../slideLayouts/slideLayout16.xml"/><Relationship Id="rId18" Type="http://schemas.openxmlformats.org/officeDocument/2006/relationships/slideLayout" Target="../slideLayouts/slideLayout17.xml"/><Relationship Id="rId19" Type="http://schemas.openxmlformats.org/officeDocument/2006/relationships/slideLayout" Target="../slideLayouts/slideLayout18.xml"/><Relationship Id="rId20" Type="http://schemas.openxmlformats.org/officeDocument/2006/relationships/slideLayout" Target="../slideLayouts/slideLayout19.xml"/><Relationship Id="rId21" Type="http://schemas.openxmlformats.org/officeDocument/2006/relationships/slideLayout" Target="../slideLayouts/slideLayout20.xml"/><Relationship Id="rId22" Type="http://schemas.openxmlformats.org/officeDocument/2006/relationships/slideLayout" Target="../slideLayouts/slideLayout21.xml"/><Relationship Id="rId23" Type="http://schemas.openxmlformats.org/officeDocument/2006/relationships/slideLayout" Target="../slideLayouts/slideLayout22.xml"/><Relationship Id="rId24" Type="http://schemas.openxmlformats.org/officeDocument/2006/relationships/slideLayout" Target="../slideLayouts/slideLayout23.xml"/><Relationship Id="rId25" Type="http://schemas.openxmlformats.org/officeDocument/2006/relationships/slideLayout" Target="../slideLayouts/slideLayout24.xml"/><Relationship Id="rId26" Type="http://schemas.openxmlformats.org/officeDocument/2006/relationships/slideLayout" Target="../slideLayouts/slideLayout25.xml"/><Relationship Id="rId27" Type="http://schemas.openxmlformats.org/officeDocument/2006/relationships/slideLayout" Target="../slideLayouts/slideLayout26.xml"/><Relationship Id="rId28" Type="http://schemas.openxmlformats.org/officeDocument/2006/relationships/slideLayout" Target="../slideLayouts/slideLayout27.xml"/><Relationship Id="rId29" Type="http://schemas.openxmlformats.org/officeDocument/2006/relationships/slideLayout" Target="../slideLayouts/slideLayout28.xml"/><Relationship Id="rId30" Type="http://schemas.openxmlformats.org/officeDocument/2006/relationships/slideLayout" Target="../slideLayouts/slideLayout29.xml"/><Relationship Id="rId31" Type="http://schemas.openxmlformats.org/officeDocument/2006/relationships/slideLayout" Target="../slideLayouts/slideLayout30.xml"/><Relationship Id="rId32" Type="http://schemas.openxmlformats.org/officeDocument/2006/relationships/slideLayout" Target="../slideLayouts/slideLayout31.xml"/><Relationship Id="rId33" Type="http://schemas.openxmlformats.org/officeDocument/2006/relationships/slideLayout" Target="../slideLayouts/slideLayout32.xml"/><Relationship Id="rId34" Type="http://schemas.openxmlformats.org/officeDocument/2006/relationships/slideLayout" Target="../slideLayouts/slideLayout33.xml"/><Relationship Id="rId35" Type="http://schemas.openxmlformats.org/officeDocument/2006/relationships/slideLayout" Target="../slideLayouts/slideLayout34.xml"/><Relationship Id="rId36" Type="http://schemas.openxmlformats.org/officeDocument/2006/relationships/slideLayout" Target="../slideLayouts/slideLayout35.xml"/><Relationship Id="rId37" Type="http://schemas.openxmlformats.org/officeDocument/2006/relationships/slideLayout" Target="../slideLayouts/slideLayout36.xml"/><Relationship Id="rId38" Type="http://schemas.openxmlformats.org/officeDocument/2006/relationships/slideLayout" Target="../slideLayouts/slideLayout37.xml"/><Relationship Id="rId39" Type="http://schemas.openxmlformats.org/officeDocument/2006/relationships/slideLayout" Target="../slideLayouts/slideLayout38.xml"/><Relationship Id="rId40" Type="http://schemas.openxmlformats.org/officeDocument/2006/relationships/slideLayout" Target="../slideLayouts/slideLayout39.xml"/><Relationship Id="rId41" Type="http://schemas.openxmlformats.org/officeDocument/2006/relationships/slideLayout" Target="../slideLayouts/slideLayout40.xml"/><Relationship Id="rId42" Type="http://schemas.openxmlformats.org/officeDocument/2006/relationships/slideLayout" Target="../slideLayouts/slideLayout4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712" r:id="rId13"/>
    <p:sldLayoutId id="2147483713" r:id="rId14"/>
    <p:sldLayoutId id="2147483714" r:id="rId15"/>
    <p:sldLayoutId id="2147483715" r:id="rId16"/>
    <p:sldLayoutId id="2147483716" r:id="rId17"/>
    <p:sldLayoutId id="2147483717" r:id="rId18"/>
    <p:sldLayoutId id="2147483718" r:id="rId19"/>
    <p:sldLayoutId id="2147483719" r:id="rId20"/>
    <p:sldLayoutId id="2147483720" r:id="rId21"/>
    <p:sldLayoutId id="2147483721" r:id="rId22"/>
    <p:sldLayoutId id="2147483722" r:id="rId23"/>
    <p:sldLayoutId id="2147483723" r:id="rId24"/>
    <p:sldLayoutId id="2147483724" r:id="rId25"/>
    <p:sldLayoutId id="2147483725" r:id="rId26"/>
    <p:sldLayoutId id="2147483726" r:id="rId27"/>
    <p:sldLayoutId id="2147483727" r:id="rId28"/>
    <p:sldLayoutId id="2147483728" r:id="rId29"/>
    <p:sldLayoutId id="2147483729" r:id="rId30"/>
    <p:sldLayoutId id="2147483730" r:id="rId31"/>
    <p:sldLayoutId id="2147483731" r:id="rId32"/>
    <p:sldLayoutId id="2147483732" r:id="rId33"/>
    <p:sldLayoutId id="2147483733" r:id="rId34"/>
    <p:sldLayoutId id="2147483734" r:id="rId35"/>
    <p:sldLayoutId id="2147483735" r:id="rId36"/>
    <p:sldLayoutId id="2147483736" r:id="rId37"/>
    <p:sldLayoutId id="2147483737" r:id="rId38"/>
    <p:sldLayoutId id="2147483738" r:id="rId39"/>
    <p:sldLayoutId id="2147483739" r:id="rId40"/>
    <p:sldLayoutId id="2147483740" r:id="rId41"/>
    <p:sldLayoutId id="2147483741" r:id="rId42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showMasterSp="0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590801"/>
            <a:ext cx="10363200" cy="883919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5800" b="1" i="0">
                <a:solidFill>
                  <a:srgbClr val="16504B"/>
                </a:solidFill>
                <a:latin typeface="Calibri"/>
              </a:rPr>
              <a:t>Meridian Analytics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3749040"/>
            <a:ext cx="10363200" cy="518159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3400" b="0" i="0">
                <a:solidFill>
                  <a:srgbClr val="1C1C28"/>
                </a:solidFill>
                <a:latin typeface="Calibri"/>
              </a:rPr>
              <a:t>Turn raw events into decisions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showMasterSp="0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57200"/>
            <a:ext cx="11277600" cy="768096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4200" b="1" i="0">
                <a:solidFill>
                  <a:srgbClr val="16504B"/>
                </a:solidFill>
                <a:latin typeface="Calibri"/>
              </a:rPr>
              <a:t>Why Teams Switch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2471929"/>
            <a:ext cx="3576320" cy="883919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5800" b="1" i="0">
                <a:solidFill>
                  <a:srgbClr val="E2A03F"/>
                </a:solidFill>
                <a:latin typeface="Calibri"/>
              </a:rPr>
              <a:t>3.2x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3630168"/>
            <a:ext cx="3576320" cy="518159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3400" b="0" i="0">
                <a:solidFill>
                  <a:srgbClr val="1C1C28"/>
                </a:solidFill>
                <a:latin typeface="Calibri"/>
              </a:rPr>
              <a:t>Faster Insights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422647"/>
            <a:ext cx="3576320" cy="365759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2400" b="0" i="0">
                <a:solidFill>
                  <a:srgbClr val="8A8A9A"/>
                </a:solidFill>
                <a:latin typeface="Calibri"/>
              </a:rPr>
              <a:t>median query time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307840" y="2471929"/>
            <a:ext cx="3576320" cy="883919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5800" b="1" i="0">
                <a:solidFill>
                  <a:srgbClr val="E2A03F"/>
                </a:solidFill>
                <a:latin typeface="Calibri"/>
              </a:rPr>
              <a:t>40%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07840" y="3630168"/>
            <a:ext cx="3576320" cy="518159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3400" b="0" i="0">
                <a:solidFill>
                  <a:srgbClr val="1C1C28"/>
                </a:solidFill>
                <a:latin typeface="Calibri"/>
              </a:rPr>
              <a:t>Lower Cost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307840" y="4422647"/>
            <a:ext cx="3576320" cy="365759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2400" b="0" i="0">
                <a:solidFill>
                  <a:srgbClr val="8A8A9A"/>
                </a:solidFill>
                <a:latin typeface="Calibri"/>
              </a:rPr>
              <a:t>vs prior stack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158480" y="2471929"/>
            <a:ext cx="3576320" cy="883919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5800" b="1" i="0">
                <a:solidFill>
                  <a:srgbClr val="E2A03F"/>
                </a:solidFill>
                <a:latin typeface="Calibri"/>
              </a:rPr>
              <a:t>99.9%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158480" y="3630168"/>
            <a:ext cx="3576320" cy="518159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3400" b="0" i="0">
                <a:solidFill>
                  <a:srgbClr val="1C1C28"/>
                </a:solidFill>
                <a:latin typeface="Calibri"/>
              </a:rPr>
              <a:t>Uptime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158480" y="4422647"/>
            <a:ext cx="3576320" cy="365759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2400" b="0" i="0">
                <a:solidFill>
                  <a:srgbClr val="8A8A9A"/>
                </a:solidFill>
                <a:latin typeface="Calibri"/>
              </a:rPr>
              <a:t>trailing 12 months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363200" y="6035040"/>
            <a:ext cx="1371600" cy="365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600" b="0" i="0">
                <a:solidFill>
                  <a:srgbClr val="8A8A9A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showMasterSp="0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57200"/>
            <a:ext cx="11277600" cy="768096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4200" b="1" i="0">
                <a:solidFill>
                  <a:srgbClr val="16504B"/>
                </a:solidFill>
                <a:latin typeface="Calibri"/>
              </a:rPr>
              <a:t>How It Works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499616"/>
            <a:ext cx="11277600" cy="518159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3400" b="1" i="0">
                <a:solidFill>
                  <a:srgbClr val="1C1C28"/>
                </a:solidFill>
                <a:latin typeface="Calibri"/>
              </a:rPr>
              <a:t>Ingest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2109215"/>
            <a:ext cx="11277600" cy="627889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3400" b="0" i="0">
                <a:solidFill>
                  <a:srgbClr val="1C1C28"/>
                </a:solidFill>
                <a:latin typeface="Calibri"/>
              </a:rPr>
              <a:t>Stream events from any source.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011424"/>
            <a:ext cx="11277600" cy="518159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3400" b="1" i="0">
                <a:solidFill>
                  <a:srgbClr val="1C1C28"/>
                </a:solidFill>
                <a:latin typeface="Calibri"/>
              </a:rPr>
              <a:t>Model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621023"/>
            <a:ext cx="11277600" cy="627889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3400" b="0" i="0">
                <a:solidFill>
                  <a:srgbClr val="1C1C28"/>
                </a:solidFill>
                <a:latin typeface="Calibri"/>
              </a:rPr>
              <a:t>Define metrics once, reuse everywhere.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23232"/>
            <a:ext cx="11277600" cy="518159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3400" b="1" i="0">
                <a:solidFill>
                  <a:srgbClr val="1C1C28"/>
                </a:solidFill>
                <a:latin typeface="Calibri"/>
              </a:rPr>
              <a:t>Decide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5132831"/>
            <a:ext cx="11277600" cy="627889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3400" b="0" i="0">
                <a:solidFill>
                  <a:srgbClr val="1C1C28"/>
                </a:solidFill>
                <a:latin typeface="Calibri"/>
              </a:rPr>
              <a:t>Dashboards update in real time.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363200" y="6035040"/>
            <a:ext cx="1371600" cy="365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600" b="0" i="0">
                <a:solidFill>
                  <a:srgbClr val="8A8A9A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showMasterSp="0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57200"/>
            <a:ext cx="11277600" cy="768096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4200" b="1" i="0">
                <a:solidFill>
                  <a:srgbClr val="16504B"/>
                </a:solidFill>
                <a:latin typeface="Calibri"/>
              </a:rPr>
              <a:t>Old Way vs Meridian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499616"/>
            <a:ext cx="5501640" cy="621791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3400" b="1" i="0">
                <a:solidFill>
                  <a:srgbClr val="16504B"/>
                </a:solidFill>
                <a:latin typeface="Calibri"/>
              </a:rPr>
              <a:t>Spreadsheets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33160" y="1499616"/>
            <a:ext cx="5501640" cy="621791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3400" b="1" i="0">
                <a:solidFill>
                  <a:srgbClr val="16504B"/>
                </a:solidFill>
                <a:latin typeface="Calibri"/>
              </a:rPr>
              <a:t>Meridian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395727"/>
            <a:ext cx="5501640" cy="847344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3400" b="0" i="0">
                <a:solidFill>
                  <a:srgbClr val="1C1C28"/>
                </a:solidFill>
                <a:latin typeface="Calibri"/>
              </a:rPr>
              <a:t>Manual exports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33160" y="2395727"/>
            <a:ext cx="5501640" cy="847344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3400" b="0" i="0">
                <a:solidFill>
                  <a:srgbClr val="1C1C28"/>
                </a:solidFill>
                <a:latin typeface="Calibri"/>
              </a:rPr>
              <a:t>Live pipelines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517391"/>
            <a:ext cx="5501640" cy="847344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3400" b="0" i="0">
                <a:solidFill>
                  <a:srgbClr val="1C1C28"/>
                </a:solidFill>
                <a:latin typeface="Calibri"/>
              </a:rPr>
              <a:t>Stale numbers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33160" y="3517391"/>
            <a:ext cx="5501640" cy="847344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3400" b="0" i="0">
                <a:solidFill>
                  <a:srgbClr val="1C1C28"/>
                </a:solidFill>
                <a:latin typeface="Calibri"/>
              </a:rPr>
              <a:t>Always current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4639055"/>
            <a:ext cx="5501640" cy="847344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3400" b="0" i="0">
                <a:solidFill>
                  <a:srgbClr val="1C1C28"/>
                </a:solidFill>
                <a:latin typeface="Calibri"/>
              </a:rPr>
              <a:t>No lineage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233160" y="4639055"/>
            <a:ext cx="5501640" cy="847344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3400" b="0" i="0">
                <a:solidFill>
                  <a:srgbClr val="1C1C28"/>
                </a:solidFill>
                <a:latin typeface="Calibri"/>
              </a:rPr>
              <a:t>Full lineage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363200" y="6035040"/>
            <a:ext cx="1371600" cy="365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600" b="0" i="0">
                <a:solidFill>
                  <a:srgbClr val="8A8A9A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