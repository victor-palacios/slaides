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914400" y="2987040"/>
            <a:ext cx="10363200" cy="88391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5800" b="1" i="0">
                <a:solidFill>
                  <a:srgbClr val="16504B"/>
                </a:solidFill>
                <a:latin typeface="Calibri"/>
              </a:rPr>
              <a:t>Quarterly Business Review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con Text Row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What Drives Us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Excellence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09215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High standards in every deliverable we ship.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Integrity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621023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Transparent and honest in all we do.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Innovation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5132831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Investing in ideas that shape tomorrow.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tat Call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By the Numbers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91969"/>
            <a:ext cx="3823870" cy="88391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127%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950208"/>
            <a:ext cx="55486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Revenue Target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307840" y="2791969"/>
            <a:ext cx="3576320" cy="88391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94%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3950208"/>
            <a:ext cx="531792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Retention Rate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158480" y="2791969"/>
            <a:ext cx="4033520" cy="88391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48 NPS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8158480" y="3950208"/>
            <a:ext cx="40335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Net Promoter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Colum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635144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Side-by-Side Evaluation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6528315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Legacy Platform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1499616"/>
            <a:ext cx="5544284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Modern Stack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7436444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Deploy time: 4 hours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2395727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Deploy time: 8 min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Manual scaling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3517391"/>
            <a:ext cx="5706209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Auto-scales fast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639055"/>
            <a:ext cx="780786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On-premise; high cost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4639055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Cloud-native; low cost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Key Milestones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Q1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39695"/>
            <a:ext cx="457948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Foundation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932174"/>
            <a:ext cx="2613660" cy="282854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Cloud platform migration done.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1499616"/>
            <a:ext cx="2613660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Q2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2139695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API Launch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45180" y="2932174"/>
            <a:ext cx="2613660" cy="282854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REST API live with 99.99% SLA.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233160" y="1499616"/>
            <a:ext cx="2613660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Q3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139695"/>
            <a:ext cx="300678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AI Beta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2932174"/>
            <a:ext cx="2613660" cy="282854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AI features shipped to 500 partners.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9121140" y="1499616"/>
            <a:ext cx="2613660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Q4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9121140" y="2139695"/>
            <a:ext cx="30708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Scale Out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121140" y="2932174"/>
            <a:ext cx="2613660" cy="282854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APAC regions live; global coverage.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mage Half Ble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Built in the Field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6233160" y="149961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Built with customers, not just for them.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290169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60% faster rollout; 50% fewer tickets.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ard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What We Offer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330769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Insights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Live data and AI analytics.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3345180" y="1499616"/>
            <a:ext cx="340856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Security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Zero-trust, SOC 2 ready.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Speed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Sub-100ms p99 latency.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APIs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300+ open connectors.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ection Divi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813560"/>
            <a:ext cx="128016" cy="198120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813560"/>
            <a:ext cx="10738104" cy="9753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063240"/>
            <a:ext cx="111953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Where We Stand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What We Will Cover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618488"/>
            <a:ext cx="114431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Performance against targets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2501798"/>
            <a:ext cx="114431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371600" y="250179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Customer and market signals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385108"/>
            <a:ext cx="114431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1371600" y="338510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Operational health and risks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268418"/>
            <a:ext cx="114431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04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371600" y="426841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Roadmap for next quarter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5151728"/>
            <a:ext cx="114431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05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1371600" y="515172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Decisions we need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ig Nu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body" idx="1"/>
          </p:nvPr>
        </p:nvSpPr>
        <p:spPr>
          <a:xfrm>
            <a:off x="457200" y="2052066"/>
            <a:ext cx="11277600" cy="16383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10150" b="1" i="0">
                <a:solidFill>
                  <a:srgbClr val="E2A03F"/>
                </a:solidFill>
                <a:latin typeface="Calibri"/>
              </a:rPr>
              <a:t>3.2M</a:t>
            </a:r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5547360" y="3745230"/>
            <a:ext cx="1097280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5686" y="4074414"/>
            <a:ext cx="12180628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0" i="0">
                <a:solidFill>
                  <a:srgbClr val="1C1C28"/>
                </a:solidFill>
                <a:latin typeface="Calibri"/>
              </a:rPr>
              <a:t>Active customers worldwide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ull Quo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301240"/>
            <a:ext cx="128016" cy="225552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301240"/>
            <a:ext cx="10738104" cy="1371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"We stopped buying tools and started buying outcomes."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94716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8A8A9A"/>
                </a:solidFill>
                <a:latin typeface="Calibri"/>
              </a:rPr>
              <a:t>- VP of Engineering, enterprise customer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Defin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981200"/>
            <a:ext cx="128016" cy="289560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981200"/>
            <a:ext cx="11195304" cy="9753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Net Revenue Retention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230880"/>
            <a:ext cx="10738104" cy="16459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The percentage of recurring revenue retained from existing customers over a period, including expansion and after churn.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Ques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057400"/>
            <a:ext cx="128016" cy="274320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057400"/>
            <a:ext cx="10738104" cy="27432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5800" b="1" i="0">
                <a:solidFill>
                  <a:srgbClr val="1C1C28"/>
                </a:solidFill>
                <a:latin typeface="Calibri"/>
              </a:rPr>
              <a:t>What would we build if we trusted our customers completely?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ullet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What Changed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Activation time dropped by half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Support tickets fell sharply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Expansion revenue outpaced new sales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de Block"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>
            <p:ph type="body" idx="3"/>
          </p:nvPr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Calibri"/>
              </a:rPr>
              <a:t>hello.py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57200" y="1837944"/>
            <a:ext cx="894774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Calibri"/>
              </a:rPr>
              <a:t># The classic, end to end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457200" y="2356103"/>
            <a:ext cx="128970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Calibri"/>
              </a:rPr>
              <a:t>def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1148966" y="2356103"/>
            <a:ext cx="32013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alibri"/>
              </a:rPr>
              <a:t> 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1286222" y="2356103"/>
            <a:ext cx="190906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alibri"/>
              </a:rPr>
              <a:t>main</a:t>
            </a:r>
          </a:p>
        </p:txBody>
      </p:sp>
      <p:sp>
        <p:nvSpPr>
          <p:cNvPr id="13" name="TextBox 12"/>
          <p:cNvSpPr/>
          <p:nvPr>
            <p:ph type="body" idx="9"/>
          </p:nvPr>
        </p:nvSpPr>
        <p:spPr>
          <a:xfrm>
            <a:off x="2365090" y="2356103"/>
            <a:ext cx="95472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alibri"/>
              </a:rPr>
              <a:t>():</a:t>
            </a:r>
          </a:p>
        </p:txBody>
      </p:sp>
      <p:sp>
        <p:nvSpPr>
          <p:cNvPr id="14" name="TextBox 13"/>
          <p:cNvSpPr/>
          <p:nvPr>
            <p:ph type="body" idx="13"/>
          </p:nvPr>
        </p:nvSpPr>
        <p:spPr>
          <a:xfrm>
            <a:off x="457200" y="2874262"/>
            <a:ext cx="73190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alibri"/>
              </a:rPr>
              <a:t>    </a:t>
            </a:r>
          </a:p>
        </p:txBody>
      </p:sp>
      <p:sp>
        <p:nvSpPr>
          <p:cNvPr id="15" name="TextBox 14"/>
          <p:cNvSpPr/>
          <p:nvPr>
            <p:ph type="body" idx="14"/>
          </p:nvPr>
        </p:nvSpPr>
        <p:spPr>
          <a:xfrm>
            <a:off x="1006227" y="2874262"/>
            <a:ext cx="18061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alibri"/>
              </a:rPr>
              <a:t>print</a:t>
            </a:r>
          </a:p>
        </p:txBody>
      </p:sp>
      <p:sp>
        <p:nvSpPr>
          <p:cNvPr id="16" name="TextBox 15"/>
          <p:cNvSpPr/>
          <p:nvPr>
            <p:ph type="body" idx="15"/>
          </p:nvPr>
        </p:nvSpPr>
        <p:spPr>
          <a:xfrm>
            <a:off x="2020788" y="2874262"/>
            <a:ext cx="4524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alibri"/>
              </a:rPr>
              <a:t>(</a:t>
            </a:r>
          </a:p>
        </p:txBody>
      </p:sp>
      <p:sp>
        <p:nvSpPr>
          <p:cNvPr id="17" name="TextBox 16"/>
          <p:cNvSpPr/>
          <p:nvPr>
            <p:ph type="body" idx="16"/>
          </p:nvPr>
        </p:nvSpPr>
        <p:spPr>
          <a:xfrm>
            <a:off x="2189249" y="2874262"/>
            <a:ext cx="518804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Calibri"/>
              </a:rPr>
              <a:t>"Hello, world!"</a:t>
            </a:r>
          </a:p>
        </p:txBody>
      </p:sp>
      <p:sp>
        <p:nvSpPr>
          <p:cNvPr id="18" name="TextBox 17"/>
          <p:cNvSpPr/>
          <p:nvPr>
            <p:ph type="body" idx="17"/>
          </p:nvPr>
        </p:nvSpPr>
        <p:spPr>
          <a:xfrm>
            <a:off x="5317480" y="2874262"/>
            <a:ext cx="4524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alibri"/>
              </a:rPr>
              <a:t>)</a:t>
            </a:r>
          </a:p>
        </p:txBody>
      </p:sp>
      <p:sp>
        <p:nvSpPr>
          <p:cNvPr id="19" name="TextBox 18"/>
          <p:cNvSpPr/>
          <p:nvPr>
            <p:ph type="body" idx="18"/>
          </p:nvPr>
        </p:nvSpPr>
        <p:spPr>
          <a:xfrm>
            <a:off x="457200" y="3910580"/>
            <a:ext cx="190906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alibri"/>
              </a:rPr>
              <a:t>main</a:t>
            </a:r>
          </a:p>
        </p:txBody>
      </p:sp>
      <p:sp>
        <p:nvSpPr>
          <p:cNvPr id="20" name="TextBox 19"/>
          <p:cNvSpPr/>
          <p:nvPr>
            <p:ph type="body" idx="19"/>
          </p:nvPr>
        </p:nvSpPr>
        <p:spPr>
          <a:xfrm>
            <a:off x="1536067" y="3910580"/>
            <a:ext cx="72195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alibri"/>
              </a:rPr>
              <a:t>()</a:t>
            </a:r>
          </a:p>
        </p:txBody>
      </p:sp>
      <p:sp>
        <p:nvSpPr>
          <p:cNvPr id="21" name="TextBox 20"/>
          <p:cNvSpPr/>
          <p:nvPr>
            <p:ph type="body" idx="20"/>
          </p:nvPr>
        </p:nvSpPr>
        <p:spPr>
          <a:xfrm>
            <a:off x="457200" y="4946898"/>
            <a:ext cx="62243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Calibri"/>
              </a:rPr>
              <a:t>$</a:t>
            </a:r>
          </a:p>
        </p:txBody>
      </p:sp>
      <p:sp>
        <p:nvSpPr>
          <p:cNvPr id="22" name="TextBox 21"/>
          <p:cNvSpPr/>
          <p:nvPr>
            <p:ph type="body" idx="21"/>
          </p:nvPr>
        </p:nvSpPr>
        <p:spPr>
          <a:xfrm>
            <a:off x="731924" y="4946898"/>
            <a:ext cx="57632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alibri"/>
              </a:rPr>
              <a:t> python hello.py</a:t>
            </a:r>
          </a:p>
        </p:txBody>
      </p:sp>
      <p:sp>
        <p:nvSpPr>
          <p:cNvPr id="23" name="TextBox 22"/>
          <p:cNvSpPr/>
          <p:nvPr>
            <p:ph type="body" idx="22"/>
          </p:nvPr>
        </p:nvSpPr>
        <p:spPr>
          <a:xfrm>
            <a:off x="457200" y="5465057"/>
            <a:ext cx="45524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alibri"/>
              </a:rPr>
              <a:t>Hello, world!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ile Tre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Final folder shape</a:t>
            </a:r>
          </a:p>
        </p:txBody>
      </p:sp>
      <p:sp>
        <p:nvSpPr>
          <p:cNvPr id="6" name="Rounded Rectangle 5"/>
          <p:cNvSpPr/>
          <p:nvPr>
            <p:ph type="body" idx="1"/>
          </p:nvPr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822960" y="1819656"/>
            <a:ext cx="6206708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simple-eda-project/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22960" y="22158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17417" y="2215896"/>
            <a:ext cx="1451054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src/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22960" y="2612136"/>
            <a:ext cx="208514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011873" y="261213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simple_eda/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22960" y="300837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2606330" y="300837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22960" y="340461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2606330" y="340461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22960" y="380085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1417417" y="380085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822960" y="41970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1417417" y="4197096"/>
            <a:ext cx="4621489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822960" y="459333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1417417" y="459333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umbered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695152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Three Steps to Onboard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370528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1610960" y="1499616"/>
            <a:ext cx="1012384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Connect your data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610960" y="2185416"/>
            <a:ext cx="10123840" cy="551688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Link a source in minutes with a guided wizard.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11424"/>
            <a:ext cx="1370528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610960" y="3011424"/>
            <a:ext cx="1012384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Pick a template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610960" y="3697224"/>
            <a:ext cx="10581040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Start from a proven layout, then tailor it.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523232"/>
            <a:ext cx="1370528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03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1610960" y="4523232"/>
            <a:ext cx="1012384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Share the result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610960" y="5209032"/>
            <a:ext cx="10123840" cy="551688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Publish to your team and gather feedback fast.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wo Panel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Onboarding, Reworked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Before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16504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Calibri"/>
              </a:rPr>
              <a:t>After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395727"/>
            <a:ext cx="7817307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Manual account setup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608831"/>
            <a:ext cx="8588473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Three-day approval wait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821935"/>
            <a:ext cx="669530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Email-only support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One-click provisioning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Same-day approval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In-product live chat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his vs Tha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Cloud or On-Prem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91969"/>
            <a:ext cx="4792980" cy="88391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800" b="1" i="0">
                <a:solidFill>
                  <a:srgbClr val="1C1C28"/>
                </a:solidFill>
                <a:latin typeface="Calibri"/>
              </a:rPr>
              <a:t>3 wks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0" y="3950208"/>
            <a:ext cx="745061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Cloud time-to-launch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941820" y="2791969"/>
            <a:ext cx="4792980" cy="88391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800" b="1" i="0">
                <a:solidFill>
                  <a:srgbClr val="1C1C28"/>
                </a:solidFill>
                <a:latin typeface="Calibri"/>
              </a:rPr>
              <a:t>6 mo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941820" y="3950208"/>
            <a:ext cx="479298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On-prem time-to-launch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5366980" y="3310128"/>
            <a:ext cx="145804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8A8A9A"/>
                </a:solidFill>
                <a:latin typeface="Calibri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KPI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Key Metrics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98.7%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593848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Uptime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1,240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585131" y="2593848"/>
            <a:ext cx="5021739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New accounts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4.6/5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7356496" y="2593848"/>
            <a:ext cx="48355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Support rating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379780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$2.1M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1708912" y="4492752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457200" y="4602480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Net new revenue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4149745" y="3797808"/>
            <a:ext cx="389251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12 days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5559552" y="4492752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4307840" y="4602480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Avg. time to value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815848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31%</a:t>
            </a:r>
          </a:p>
        </p:txBody>
      </p:sp>
      <p:sp>
        <p:nvSpPr>
          <p:cNvPr id="22" name="Rectangle 21"/>
          <p:cNvSpPr/>
          <p:nvPr>
            <p:ph type="body" idx="20"/>
          </p:nvPr>
        </p:nvSpPr>
        <p:spPr>
          <a:xfrm>
            <a:off x="9410192" y="4751832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7264907" y="4861560"/>
            <a:ext cx="4927093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Expansion rate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hart With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Monthly Active Teams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3702924"/>
            <a:ext cx="1485900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120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680085" y="4343003"/>
            <a:ext cx="1040129" cy="77763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5394961"/>
            <a:ext cx="1485900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Jan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217420" y="3314105"/>
            <a:ext cx="1485900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180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440305" y="3954184"/>
            <a:ext cx="1040129" cy="1166457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217420" y="5394961"/>
            <a:ext cx="1485900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Feb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77640" y="2601270"/>
            <a:ext cx="1485900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290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200525" y="3241349"/>
            <a:ext cx="1040129" cy="1879292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977640" y="5394961"/>
            <a:ext cx="1485900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Mar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5737860" y="1499616"/>
            <a:ext cx="1485900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460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5960745" y="2139695"/>
            <a:ext cx="1040129" cy="298094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5737860" y="5394961"/>
            <a:ext cx="1485900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Apr</a:t>
            </a:r>
          </a:p>
        </p:txBody>
      </p:sp>
      <p:sp>
        <p:nvSpPr>
          <p:cNvPr id="18" name="Rectangle 17"/>
          <p:cNvSpPr/>
          <p:nvPr>
            <p:ph type="body" idx="16"/>
          </p:nvPr>
        </p:nvSpPr>
        <p:spPr>
          <a:xfrm>
            <a:off x="7498080" y="1511808"/>
            <a:ext cx="128016" cy="423672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8037576" y="1511808"/>
            <a:ext cx="3697224" cy="42367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Activations nearly quadrupled once self-serve onboarding shipped in February.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Pricing Tiers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58695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Plan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592798" y="1499616"/>
            <a:ext cx="248807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Seats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629512" y="1499616"/>
            <a:ext cx="225994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Price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8432257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2586958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Starter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592798" y="2401823"/>
            <a:ext cx="269946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Up to 5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629512" y="2401823"/>
            <a:ext cx="225994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$0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3310127"/>
            <a:ext cx="2586958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Team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592798" y="3310127"/>
            <a:ext cx="313902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Up to 50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629512" y="3310127"/>
            <a:ext cx="321357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$12/seat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457200" y="4218431"/>
            <a:ext cx="3229432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Business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3592798" y="4218431"/>
            <a:ext cx="3578582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Up to 250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6629512" y="4218431"/>
            <a:ext cx="321357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$20/seat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5126735"/>
            <a:ext cx="373679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Enterprise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3592798" y="5126735"/>
            <a:ext cx="350976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Unlimited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6629512" y="5126735"/>
            <a:ext cx="2829678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Custom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Metric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Performance vs Last Year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113596" y="1831849"/>
            <a:ext cx="4263529" cy="88391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800" b="1" i="0">
                <a:solidFill>
                  <a:srgbClr val="E2A03F"/>
                </a:solidFill>
                <a:latin typeface="Calibri"/>
              </a:rPr>
              <a:t>$8.4M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990088"/>
            <a:ext cx="3576320" cy="16459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Annual recurring revenue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383099" y="4910328"/>
            <a:ext cx="1724522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037650" y="4910328"/>
            <a:ext cx="24154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+24%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307840" y="1831849"/>
            <a:ext cx="3576320" cy="88391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800" b="1" i="0">
                <a:solidFill>
                  <a:srgbClr val="E2A03F"/>
                </a:solidFill>
                <a:latin typeface="Calibri"/>
              </a:rPr>
              <a:t>2.1%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528964" y="2990088"/>
            <a:ext cx="5134073" cy="16459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Monthly churn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4997914" y="4910328"/>
            <a:ext cx="2196171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10970" y="4910328"/>
            <a:ext cx="317005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-0.8 pts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158480" y="1831849"/>
            <a:ext cx="3576320" cy="88391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800" b="1" i="0">
                <a:solidFill>
                  <a:srgbClr val="E2A03F"/>
                </a:solidFill>
                <a:latin typeface="Calibri"/>
              </a:rPr>
              <a:t>63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2990088"/>
            <a:ext cx="3576320" cy="16459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Net promoter score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9300700" y="4910328"/>
            <a:ext cx="1291879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085044" y="4910328"/>
            <a:ext cx="17231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+11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rocess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Onboarding Flow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01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16504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414016"/>
            <a:ext cx="313059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Sign up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Create an account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02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16504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345180" y="2414016"/>
            <a:ext cx="335660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Connect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Link your data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03</a:t>
            </a:r>
          </a:p>
        </p:txBody>
      </p:sp>
      <p:sp>
        <p:nvSpPr>
          <p:cNvPr id="15" name="Rectangle 14"/>
          <p:cNvSpPr/>
          <p:nvPr>
            <p:ph type="body" idx="13"/>
          </p:nvPr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16504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6233160" y="2414016"/>
            <a:ext cx="398946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Configure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Pick your metrics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04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16504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9121140" y="2414016"/>
            <a:ext cx="29744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Launch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Go live in minutes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Roadma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2026 Plan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Q1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Ship API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279647"/>
            <a:ext cx="4304545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Beta launch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07840" y="2395727"/>
            <a:ext cx="3969225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Mobile app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307840" y="3279647"/>
            <a:ext cx="434975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Integrations</a:t>
            </a:r>
          </a:p>
        </p:txBody>
      </p:sp>
      <p:sp>
        <p:nvSpPr>
          <p:cNvPr id="14" name="Rectangle 13"/>
          <p:cNvSpPr/>
          <p:nvPr>
            <p:ph type="body" idx="9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Q3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158480" y="2395727"/>
            <a:ext cx="40335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Enterprise tier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8158480" y="327964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SSO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un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Sales Pipeline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Visitors · 50,000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Signups · 8,000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Trials · 2,400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558540" y="4901184"/>
            <a:ext cx="6523931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Customers · 600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ested Circ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Job Search Funnel (2021)</a:t>
            </a:r>
          </a:p>
        </p:txBody>
      </p:sp>
      <p:sp>
        <p:nvSpPr>
          <p:cNvPr id="6" name="Oval 5"/>
          <p:cNvSpPr/>
          <p:nvPr>
            <p:ph type="body" idx="1"/>
          </p:nvPr>
        </p:nvSpPr>
        <p:spPr>
          <a:xfrm>
            <a:off x="3645408" y="1499616"/>
            <a:ext cx="4901184" cy="4901184"/>
          </a:xfrm>
          <a:prstGeom prst="ellipse">
            <a:avLst/>
          </a:prstGeom>
          <a:solidFill>
            <a:srgbClr val="8A8A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>
            <p:ph type="body" idx="2"/>
          </p:nvPr>
        </p:nvSpPr>
        <p:spPr>
          <a:xfrm>
            <a:off x="4462272" y="3133344"/>
            <a:ext cx="3267456" cy="3267456"/>
          </a:xfrm>
          <a:prstGeom prst="ellipse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>
            <p:ph type="body" idx="3"/>
          </p:nvPr>
        </p:nvSpPr>
        <p:spPr>
          <a:xfrm>
            <a:off x="5279136" y="4767072"/>
            <a:ext cx="1633728" cy="1633728"/>
          </a:xfrm>
          <a:prstGeom prst="ellipse">
            <a:avLst/>
          </a:prstGeom>
          <a:solidFill>
            <a:srgbClr val="16504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18512" y="1645920"/>
            <a:ext cx="3154977" cy="762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Calibri"/>
              </a:rPr>
              <a:t>&gt;700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273862" y="2316480"/>
            <a:ext cx="5644276" cy="6705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  <a:latin typeface="Calibri"/>
              </a:rPr>
              <a:t>Applications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840583" y="3401568"/>
            <a:ext cx="251083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113252" y="3950208"/>
            <a:ext cx="3965496" cy="548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Calibri"/>
              </a:rPr>
              <a:t>Interviews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5296524" y="5157216"/>
            <a:ext cx="159895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1.5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5140147" y="5583935"/>
            <a:ext cx="1911707" cy="4267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Offers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yram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Hierarchy of Needs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solidFill>
            <a:srgbClr val="16504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Vision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Strategy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solidFill>
            <a:srgbClr val="16504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Goals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Tactics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WO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SWOT Analysis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Strengths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 strong brand with loyal users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Calibri"/>
              </a:rPr>
              <a:t>Weaknesses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Thin margins and a small team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3767328"/>
            <a:ext cx="5572283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Opportunities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45720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New markets through partnerships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Calibri"/>
              </a:rPr>
              <a:t>Threats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New entrants driving price pressure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Matr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Evaluation Matrix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3889248" y="1499616"/>
            <a:ext cx="2432304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1" i="0">
                <a:solidFill>
                  <a:srgbClr val="1C1C28"/>
                </a:solidFill>
                <a:latin typeface="Calibri"/>
              </a:rPr>
              <a:t>Platform A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595872" y="1499616"/>
            <a:ext cx="2432304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1" i="0">
                <a:solidFill>
                  <a:srgbClr val="1C1C28"/>
                </a:solidFill>
                <a:latin typeface="Calibri"/>
              </a:rPr>
              <a:t>Platform B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9302496" y="1499616"/>
            <a:ext cx="2432304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1" i="0">
                <a:solidFill>
                  <a:srgbClr val="1C1C28"/>
                </a:solidFill>
                <a:latin typeface="Calibri"/>
              </a:rPr>
              <a:t>Platform C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3408561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Security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4119059" y="2401823"/>
            <a:ext cx="1972681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699162" y="2401823"/>
            <a:ext cx="281247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Strong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339331" y="2401823"/>
            <a:ext cx="2945387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Medium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9288504" y="2401823"/>
            <a:ext cx="246028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Strong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3612895"/>
            <a:ext cx="384542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Workflow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3632707" y="3612895"/>
            <a:ext cx="2945387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Medium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581880" y="3612895"/>
            <a:ext cx="246028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Strong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045955" y="3612895"/>
            <a:ext cx="2945387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Medium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4823967"/>
            <a:ext cx="330702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Support</a:t>
            </a:r>
          </a:p>
        </p:txBody>
      </p:sp>
      <p:sp>
        <p:nvSpPr>
          <p:cNvPr id="20" name="Rectangle 19"/>
          <p:cNvSpPr/>
          <p:nvPr>
            <p:ph type="body" idx="18"/>
          </p:nvPr>
        </p:nvSpPr>
        <p:spPr>
          <a:xfrm>
            <a:off x="4119059" y="4823967"/>
            <a:ext cx="1972681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3699162" y="4823967"/>
            <a:ext cx="281247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Strong</a:t>
            </a:r>
          </a:p>
        </p:txBody>
      </p:sp>
      <p:sp>
        <p:nvSpPr>
          <p:cNvPr id="22" name="TextBox 21"/>
          <p:cNvSpPr/>
          <p:nvPr>
            <p:ph type="body" idx="20"/>
          </p:nvPr>
        </p:nvSpPr>
        <p:spPr>
          <a:xfrm>
            <a:off x="6581880" y="4823967"/>
            <a:ext cx="246028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Strong</a:t>
            </a:r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9045955" y="4823967"/>
            <a:ext cx="2945387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90801"/>
            <a:ext cx="11277600" cy="88391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5800" b="1" i="0">
                <a:solidFill>
                  <a:srgbClr val="16504B"/>
                </a:solidFill>
                <a:latin typeface="Calibri"/>
              </a:rPr>
              <a:t>Meridian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40"/>
            <a:ext cx="1065740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Turn raw events into decisions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Why Teams Switch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71929"/>
            <a:ext cx="3576320" cy="88391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3.2x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30168"/>
            <a:ext cx="520053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Faster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422647"/>
            <a:ext cx="4830603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median query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7840" y="2471929"/>
            <a:ext cx="3576320" cy="88391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40%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07840" y="3630168"/>
            <a:ext cx="40080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Lower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07840" y="4422647"/>
            <a:ext cx="3576320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vs prior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8480" y="2471929"/>
            <a:ext cx="4033520" cy="88391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99.9%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8480" y="3630168"/>
            <a:ext cx="35763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Uptime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8480" y="4422647"/>
            <a:ext cx="4033520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trailing 12 months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Calibri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Ingest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80476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Stream events from any source.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Define metrics once, reuse everywhere.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Decide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32332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Dashboards update in real time.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Calibri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Old Way vs Meridian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26742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Spreadsheets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Meridian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5510886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Manual exports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2395727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Live pipelines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Stale numbers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Always current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9055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No lineage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4639055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Full lineage</a:t>
            </a:r>
          </a:p>
        </p:txBody>
      </p:sp>
      <p:sp>
        <p:nvSpPr>
          <p:cNvPr id="11" name="TextBox 10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Calibri"/>
              </a:rPr>
              <a:t>4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