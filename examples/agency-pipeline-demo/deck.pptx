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987040"/>
            <a:ext cx="1036320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16504B"/>
                </a:solidFill>
                <a:latin typeface="Calibri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What Drives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Excellence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High standards in every deliverable we ship.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Integrity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Transparent and honest in all we 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Innovation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9196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127%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5020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Revenue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7840" y="279196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94%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395020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Retention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8480" y="279196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48 NPS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58480" y="395020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Side-by-Side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Legacy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Modern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Deploy time: 4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Deploy time: 8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scaling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Auto-scales fast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On-premise; high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Key 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39695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32174"/>
            <a:ext cx="2613660" cy="282854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Cloud platform migration done.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1499616"/>
            <a:ext cx="261366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2139695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API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5180" y="2932174"/>
            <a:ext cx="2613660" cy="282854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REST API live with 99.99% SLA.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160" y="1499616"/>
            <a:ext cx="261366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139695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AI Beta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932174"/>
            <a:ext cx="2613660" cy="282854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AI features shipped to 500 partners.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21140" y="1499616"/>
            <a:ext cx="261366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21140" y="2139695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Scale 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1140" y="2932174"/>
            <a:ext cx="2613660" cy="282854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Built in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Built with customers, not just for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What We Offer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Live data and AI analytics.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4518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Zero-trust, SOC 2 ready.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Speed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Sub-100ms p99 latency.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813560"/>
            <a:ext cx="128016" cy="19812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813560"/>
            <a:ext cx="10738104" cy="975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What We Will 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1848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Performance against targets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0179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Customer and market signals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510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Operational health and 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6841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Roadmap for next quarter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5172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052066"/>
            <a:ext cx="11277600" cy="163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150" b="1" i="0">
                <a:solidFill>
                  <a:srgbClr val="E2A03F"/>
                </a:solidFill>
                <a:latin typeface="Calibri"/>
              </a:rPr>
              <a:t>3.2M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360" y="3745230"/>
            <a:ext cx="1097280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074414"/>
            <a:ext cx="112776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0" i="0">
                <a:solidFill>
                  <a:srgbClr val="1C1C28"/>
                </a:solidFill>
                <a:latin typeface="Calibri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"We stopped buying tools and started buying outcomes."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947160"/>
            <a:ext cx="10738104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8A8A9A"/>
                </a:solidFill>
                <a:latin typeface="Calibri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981200"/>
            <a:ext cx="128016" cy="28956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981200"/>
            <a:ext cx="10738104" cy="975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Net Revenue Retention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230880"/>
            <a:ext cx="10738104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057400"/>
            <a:ext cx="128016" cy="27432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057400"/>
            <a:ext cx="10738104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1C1C28"/>
                </a:solidFill>
                <a:latin typeface="Calibri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What Changed This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Activation time dropped by half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Support tickets fell sharply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858585"/>
                </a:solidFill>
                <a:latin typeface="Courier New"/>
              </a:rPr>
              <a:t>hello.py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63623"/>
            <a:ext cx="666093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Courier New"/>
              </a:rPr>
              <a:t># The classic, end to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81782"/>
            <a:ext cx="96024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Courier New"/>
              </a:rPr>
              <a:t>def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567" y="2081782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3689" y="2081782"/>
            <a:ext cx="121936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0177" y="2081782"/>
            <a:ext cx="96024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99941"/>
            <a:ext cx="121936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3689" y="2599941"/>
            <a:ext cx="147849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print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9300" y="2599941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422" y="2599941"/>
            <a:ext cx="4069713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Courier New"/>
              </a:rPr>
              <a:t>"Hello, world!"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5254" y="2599941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36259"/>
            <a:ext cx="121936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3689" y="3636259"/>
            <a:ext cx="70112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72577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Courier New"/>
              </a:rPr>
              <a:t>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322" y="4672577"/>
            <a:ext cx="4328835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python hello.py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190736"/>
            <a:ext cx="3551468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Final folder shape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3947773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E2A03F"/>
                </a:solidFill>
                <a:latin typeface="Courier New"/>
              </a:rPr>
              <a:t>simple-eda-project/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1589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417" y="2215896"/>
            <a:ext cx="975489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E2A03F"/>
                </a:solidFill>
                <a:latin typeface="Courier New"/>
              </a:rPr>
              <a:t>src/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12136"/>
            <a:ext cx="1371793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873" y="2612136"/>
            <a:ext cx="2362555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E2A03F"/>
                </a:solidFill>
                <a:latin typeface="Courier New"/>
              </a:rPr>
              <a:t>simple_eda/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08376"/>
            <a:ext cx="1966250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330" y="3008376"/>
            <a:ext cx="2362555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04616"/>
            <a:ext cx="1966250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330" y="3404616"/>
            <a:ext cx="1569946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0085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417" y="3800856"/>
            <a:ext cx="1966250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9709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417" y="4197096"/>
            <a:ext cx="2957011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9333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417" y="4593336"/>
            <a:ext cx="1569946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Three Steps to Onboard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9251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0960" y="1499616"/>
            <a:ext cx="1012384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Connect your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0960" y="2109215"/>
            <a:ext cx="1012384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Link a source in minutes with a guided wizard.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9251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10960" y="3011424"/>
            <a:ext cx="1012384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Pick a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0960" y="3621023"/>
            <a:ext cx="1012384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Start from a proven layout, then tailor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9251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0960" y="4523232"/>
            <a:ext cx="1012384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Share the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0960" y="5132831"/>
            <a:ext cx="1012384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Onboarding, Reworked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Calibri"/>
              </a:rPr>
              <a:t>Before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After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account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Three-day approval wait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Email-only support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One-click provisioning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Same-day approval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Cloud or On-Prem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91969"/>
            <a:ext cx="479298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800" b="1" i="0">
                <a:solidFill>
                  <a:srgbClr val="1C1C28"/>
                </a:solidFill>
                <a:latin typeface="Calibri"/>
              </a:rPr>
              <a:t>3 wks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50208"/>
            <a:ext cx="47929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Cloud time-to-launch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1820" y="2791969"/>
            <a:ext cx="479298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800" b="1" i="0">
                <a:solidFill>
                  <a:srgbClr val="1C1C28"/>
                </a:solidFill>
                <a:latin typeface="Calibri"/>
              </a:rPr>
              <a:t>6 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1820" y="3950208"/>
            <a:ext cx="47929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On-prem time-to-launch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0" y="3310128"/>
            <a:ext cx="11430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8A8A9A"/>
                </a:solidFill>
                <a:latin typeface="Calibr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Key Metrics This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98.7%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Uptime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1,240</a:t>
            </a:r>
          </a:p>
        </p:txBody>
      </p:sp>
      <p:sp>
        <p:nvSpPr>
          <p:cNvPr id="7" name="Rectangle 6"/>
          <p:cNvSpPr/>
          <p:nvPr/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07840" y="2593848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New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4.6/5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8480" y="2593848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Support rating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97808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$2.1M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08912" y="4492752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602480"/>
            <a:ext cx="357632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Net new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12 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Avg. time to value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31%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480" y="4861560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Monthly Active Teams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702924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120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0085" y="4343003"/>
            <a:ext cx="1040129" cy="77763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394961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Jan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17420" y="3314105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180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0305" y="3954184"/>
            <a:ext cx="1040129" cy="1166457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17420" y="5394961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Feb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40" y="2601270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290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0525" y="3241349"/>
            <a:ext cx="1040129" cy="1879292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40" y="5394961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Mar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37860" y="1499616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460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60745" y="2139695"/>
            <a:ext cx="1040129" cy="298094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7860" y="5394961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Apr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0" y="1511808"/>
            <a:ext cx="128016" cy="423672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6" y="1511808"/>
            <a:ext cx="3697224" cy="4236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Pricing Tiers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07840" y="1499616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58480" y="1499616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Price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01823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7840" y="2401823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 to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8480" y="2401823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$0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10127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7840" y="3310127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 to 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8480" y="3310127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$12/seat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18431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Business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7840" y="4218431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 to 250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480" y="4218431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$20/seat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26735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Enterprise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07840" y="5126735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Unlimited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8480" y="5126735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Performance vs Last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3184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800" b="1" i="0">
                <a:solidFill>
                  <a:srgbClr val="E2A03F"/>
                </a:solidFill>
                <a:latin typeface="Calibri"/>
              </a:rPr>
              <a:t>$8.4M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90088"/>
            <a:ext cx="35763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Annual recurring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83099" y="4910328"/>
            <a:ext cx="1724522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83099" y="4910328"/>
            <a:ext cx="172452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+24%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07840" y="183184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800" b="1" i="0">
                <a:solidFill>
                  <a:srgbClr val="E2A03F"/>
                </a:solidFill>
                <a:latin typeface="Calibri"/>
              </a:rPr>
              <a:t>2.1%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7840" y="2990088"/>
            <a:ext cx="35763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Monthly churn</a:t>
            </a:r>
          </a:p>
        </p:txBody>
      </p:sp>
      <p:sp>
        <p:nvSpPr>
          <p:cNvPr id="9" name="Rectangle 8"/>
          <p:cNvSpPr/>
          <p:nvPr/>
        </p:nvSpPr>
        <p:spPr>
          <a:xfrm>
            <a:off x="4997914" y="4910328"/>
            <a:ext cx="2196171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97914" y="4910328"/>
            <a:ext cx="219617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-0.8 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8480" y="183184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800" b="1" i="0">
                <a:solidFill>
                  <a:srgbClr val="E2A03F"/>
                </a:solidFill>
                <a:latin typeface="Calibri"/>
              </a:rPr>
              <a:t>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8480" y="2990088"/>
            <a:ext cx="35763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Net promoter 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00700" y="4910328"/>
            <a:ext cx="1291879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00700" y="4910328"/>
            <a:ext cx="129187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Onboarding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Sign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Create an account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Connect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Link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Configure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Pick your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Launch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2026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Ship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7964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Beta launch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Mobile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7840" y="327964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Integrations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8480" y="239572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Enterprise tier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Sales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Visitors · 50,000</a:t>
            </a:r>
          </a:p>
        </p:txBody>
      </p:sp>
      <p:sp>
        <p:nvSpPr>
          <p:cNvPr id="5" name="Rectangle 4"/>
          <p:cNvSpPr/>
          <p:nvPr/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Signups · 8,000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Trials · 2,400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8540" y="4901184"/>
            <a:ext cx="5074919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Job Search Funnel (2021)</a:t>
            </a:r>
          </a:p>
        </p:txBody>
      </p:sp>
      <p:sp>
        <p:nvSpPr>
          <p:cNvPr id="3" name="Oval 2"/>
          <p:cNvSpPr/>
          <p:nvPr/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65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Calibri"/>
              </a:rPr>
              <a:t>&gt;700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17676" y="2316480"/>
            <a:ext cx="4156648" cy="670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Calibri"/>
              </a:rPr>
              <a:t>Applications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4990" y="3950208"/>
            <a:ext cx="30820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Calibri"/>
              </a:rPr>
              <a:t>Interviews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7493" y="5583935"/>
            <a:ext cx="1577014" cy="426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Hierarchy of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7" name="Rectangle 6"/>
          <p:cNvSpPr/>
          <p:nvPr/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Goals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SWOT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Strengths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 strong brand with loyal 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Calibri"/>
              </a:rPr>
              <a:t>Weaknesses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Thin margins and a small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Opportunities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New markets through partnerships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Calibri"/>
              </a:rPr>
              <a:t>Threats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Evaluation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9248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C1C28"/>
                </a:solidFill>
                <a:latin typeface="Calibri"/>
              </a:rPr>
              <a:t>Platform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C1C28"/>
                </a:solidFill>
                <a:latin typeface="Calibri"/>
              </a:rPr>
              <a:t>Platform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02496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C1C28"/>
                </a:solidFill>
                <a:latin typeface="Calibri"/>
              </a:rPr>
              <a:t>Platform 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Security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9059" y="2401823"/>
            <a:ext cx="1972681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9059" y="2401823"/>
            <a:ext cx="197268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Strong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5872" y="2401823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Strong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12895"/>
            <a:ext cx="3157728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9248" y="3612895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Strong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02496" y="3612895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9059" y="4823967"/>
            <a:ext cx="1972681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9059" y="4823967"/>
            <a:ext cx="197268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Strong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2496" y="4823967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90801"/>
            <a:ext cx="1036320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16504B"/>
                </a:solidFill>
                <a:latin typeface="Calibri"/>
              </a:rPr>
              <a:t>Meridian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40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Turn raw events into decisions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Why Teams Switch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7192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3.2x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3016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Faster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422647"/>
            <a:ext cx="357632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median query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247192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07840" y="363016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Lower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7840" y="4422647"/>
            <a:ext cx="357632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vs prior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8480" y="247192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99.9%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8480" y="363016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8480" y="4422647"/>
            <a:ext cx="357632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trailing 12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Ingest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Stream events from any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Define metrics once, reuse everywhere.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Dashboards update in real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Old Way vs Meridian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Meridian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exports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Live pipelines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Stale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Always 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No lineage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Full lineage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