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87040"/>
            <a:ext cx="10363200" cy="883919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91969"/>
            <a:ext cx="382387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50208"/>
            <a:ext cx="5548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91969"/>
            <a:ext cx="357632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50208"/>
            <a:ext cx="531792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91969"/>
            <a:ext cx="403352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5020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635144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65283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44284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436444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706209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780786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39695"/>
            <a:ext cx="457948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32174"/>
            <a:ext cx="2613660" cy="2828546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39695"/>
            <a:ext cx="2613660" cy="518159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32174"/>
            <a:ext cx="2613660" cy="2828546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39695"/>
            <a:ext cx="300678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32174"/>
            <a:ext cx="2613660" cy="2828546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39695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32174"/>
            <a:ext cx="2613660" cy="2828546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813560"/>
            <a:ext cx="128016" cy="1981200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813560"/>
            <a:ext cx="10738104" cy="9753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114431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114431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114431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114431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114431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52066"/>
            <a:ext cx="11277600" cy="16383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150" b="1" i="0">
                <a:solidFill>
                  <a:srgbClr val="E2A03F"/>
                </a:solidFill>
                <a:latin typeface="Calibri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45230"/>
            <a:ext cx="1097280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5686" y="4074414"/>
            <a:ext cx="12180628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1C1C28"/>
                </a:solidFill>
                <a:latin typeface="Calibri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1C1C28"/>
                </a:solidFill>
                <a:latin typeface="Calibri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99360"/>
            <a:ext cx="128016" cy="1859280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99360"/>
            <a:ext cx="11195304" cy="9753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4904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99360"/>
            <a:ext cx="128016" cy="1859280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99360"/>
            <a:ext cx="10738104" cy="185928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5800" b="1" i="0">
                <a:solidFill>
                  <a:srgbClr val="1C1C28"/>
                </a:solidFill>
                <a:latin typeface="Calibri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Calibri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894774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28970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Calibri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148966" y="2356103"/>
            <a:ext cx="290052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822886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4481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62243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Calibri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731924" y="4946898"/>
            <a:ext cx="57632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455249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1C1C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E2A03F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E2A03F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E2A03F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E2A03F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E2A03F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E2A03F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E2A03F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E2A03F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E2A03F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E2A03F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695152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370528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610960" y="1499616"/>
            <a:ext cx="1012384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610960" y="2185416"/>
            <a:ext cx="10123840" cy="55168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370528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610960" y="3011424"/>
            <a:ext cx="1012384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610960" y="3697224"/>
            <a:ext cx="10581040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370528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610960" y="4523232"/>
            <a:ext cx="1012384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610960" y="5209032"/>
            <a:ext cx="10123840" cy="551688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612292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234256" cy="54864"/>
          </a:xfrm>
          <a:prstGeom prst="rect">
            <a:avLst/>
          </a:prstGeom>
          <a:solidFill>
            <a:srgbClr val="1C1C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7817307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858847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669530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91969"/>
            <a:ext cx="479298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800" b="1" i="0">
                <a:solidFill>
                  <a:srgbClr val="1C1C28"/>
                </a:solidFill>
                <a:latin typeface="Calibri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5020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91969"/>
            <a:ext cx="479298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800" b="1" i="0">
                <a:solidFill>
                  <a:srgbClr val="1C1C28"/>
                </a:solidFill>
                <a:latin typeface="Calibri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941820" y="3950208"/>
            <a:ext cx="4792980" cy="518159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366980" y="3310128"/>
            <a:ext cx="145804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1C1C28"/>
                </a:solidFill>
                <a:latin typeface="Calibr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E2A03F"/>
                </a:solidFill>
                <a:latin typeface="Calibri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E2A03F"/>
                </a:solidFill>
                <a:latin typeface="Calibri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585131" y="2593848"/>
            <a:ext cx="502173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E2A03F"/>
                </a:solidFill>
                <a:latin typeface="Calibri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79780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E2A03F"/>
                </a:solidFill>
                <a:latin typeface="Calibri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492752"/>
            <a:ext cx="1072896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457200" y="4602480"/>
            <a:ext cx="357632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149745" y="4056888"/>
            <a:ext cx="389251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E2A03F"/>
                </a:solidFill>
                <a:latin typeface="Calibri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649226" y="4861560"/>
            <a:ext cx="489354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E2A03F"/>
                </a:solidFill>
                <a:latin typeface="Calibri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702924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43003"/>
            <a:ext cx="1040129" cy="777638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94961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0" i="0">
                <a:solidFill>
                  <a:srgbClr val="1C1C28"/>
                </a:solidFill>
                <a:latin typeface="Calibri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314105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4184"/>
            <a:ext cx="1040129" cy="1166457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94961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0" i="0">
                <a:solidFill>
                  <a:srgbClr val="1C1C28"/>
                </a:solidFill>
                <a:latin typeface="Calibri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601270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1349"/>
            <a:ext cx="1040129" cy="1879292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94961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0" i="0">
                <a:solidFill>
                  <a:srgbClr val="1C1C28"/>
                </a:solidFill>
                <a:latin typeface="Calibri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1" i="0">
                <a:solidFill>
                  <a:srgbClr val="E2A03F"/>
                </a:solidFill>
                <a:latin typeface="Calibri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39695"/>
            <a:ext cx="1040129" cy="298094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94961"/>
            <a:ext cx="148590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0" i="0">
                <a:solidFill>
                  <a:srgbClr val="1C1C28"/>
                </a:solidFill>
                <a:latin typeface="Calibri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066288"/>
            <a:ext cx="128016" cy="1127760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066288"/>
            <a:ext cx="3697224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58695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592798" y="1499616"/>
            <a:ext cx="2488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629512" y="1499616"/>
            <a:ext cx="225994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8432257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58695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592798" y="2401823"/>
            <a:ext cx="26994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629512" y="2401823"/>
            <a:ext cx="225994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58695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592798" y="3310127"/>
            <a:ext cx="313902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629512" y="3310127"/>
            <a:ext cx="321357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322943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592798" y="4218431"/>
            <a:ext cx="357858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629512" y="4218431"/>
            <a:ext cx="321357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73679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592798" y="5126735"/>
            <a:ext cx="35097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629512" y="5126735"/>
            <a:ext cx="282967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113596" y="2350009"/>
            <a:ext cx="4263528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800" b="1" i="0">
                <a:solidFill>
                  <a:srgbClr val="E2A03F"/>
                </a:solidFill>
                <a:latin typeface="Calibri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082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383099" y="4392168"/>
            <a:ext cx="1724522" cy="518159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037650" y="4392168"/>
            <a:ext cx="24154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50009"/>
            <a:ext cx="357632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800" b="1" i="0">
                <a:solidFill>
                  <a:srgbClr val="E2A03F"/>
                </a:solidFill>
                <a:latin typeface="Calibri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528964" y="3508248"/>
            <a:ext cx="513407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997914" y="4392168"/>
            <a:ext cx="2196171" cy="518159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10970" y="4392168"/>
            <a:ext cx="317005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50009"/>
            <a:ext cx="357632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800" b="1" i="0">
                <a:solidFill>
                  <a:srgbClr val="E2A03F"/>
                </a:solidFill>
                <a:latin typeface="Calibri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082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300700" y="4392168"/>
            <a:ext cx="1291879" cy="518159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085044" y="4392168"/>
            <a:ext cx="17231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742280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313059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742280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335660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742280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98946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742280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974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430454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96922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434975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6523931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1C1C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1C1C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18512" y="1645920"/>
            <a:ext cx="3154976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273862" y="2316480"/>
            <a:ext cx="5644276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113252" y="3950208"/>
            <a:ext cx="3965496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140147" y="5583935"/>
            <a:ext cx="1911706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410532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996456" cy="54864"/>
          </a:xfrm>
          <a:prstGeom prst="rect">
            <a:avLst/>
          </a:prstGeom>
          <a:solidFill>
            <a:srgbClr val="1C1C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72283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3368377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5501640" cy="1097281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862559" cy="54864"/>
          </a:xfrm>
          <a:prstGeom prst="rect">
            <a:avLst/>
          </a:prstGeom>
          <a:solidFill>
            <a:srgbClr val="1C1C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889248" y="1499616"/>
            <a:ext cx="2432304" cy="518159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 i="0">
                <a:solidFill>
                  <a:srgbClr val="1C1C28"/>
                </a:solidFill>
                <a:latin typeface="Calibri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595872" y="1499616"/>
            <a:ext cx="2432304" cy="518159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 i="0">
                <a:solidFill>
                  <a:srgbClr val="1C1C28"/>
                </a:solidFill>
                <a:latin typeface="Calibri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9302496" y="1499616"/>
            <a:ext cx="2432304" cy="518159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ctr"/>
            <a:r>
              <a:rPr sz="3400" b="1" i="0">
                <a:solidFill>
                  <a:srgbClr val="1C1C28"/>
                </a:solidFill>
                <a:latin typeface="Calibri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408561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119059" y="2401823"/>
            <a:ext cx="1972681" cy="518159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699162" y="2401823"/>
            <a:ext cx="2812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339331" y="2401823"/>
            <a:ext cx="2945386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288504" y="2401823"/>
            <a:ext cx="246028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8454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632707" y="3612895"/>
            <a:ext cx="2945386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81880" y="3612895"/>
            <a:ext cx="246028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045955" y="3612895"/>
            <a:ext cx="2945386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307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119059" y="4823967"/>
            <a:ext cx="1972681" cy="518159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699162" y="4823967"/>
            <a:ext cx="2812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81880" y="4823967"/>
            <a:ext cx="246028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045955" y="4823967"/>
            <a:ext cx="2945386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1C1C28"/>
                </a:solidFill>
                <a:latin typeface="Calibri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90801"/>
            <a:ext cx="1127760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Meridian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40"/>
            <a:ext cx="1065740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Turn raw events into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Why Teams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71929"/>
            <a:ext cx="357632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3.2x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30168"/>
            <a:ext cx="520053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Faster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22647"/>
            <a:ext cx="4830603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0" i="0">
                <a:solidFill>
                  <a:srgbClr val="1C1C28"/>
                </a:solidFill>
                <a:latin typeface="Calibri"/>
              </a:rPr>
              <a:t>median query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2471929"/>
            <a:ext cx="357632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840" y="3630168"/>
            <a:ext cx="40080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Lower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840" y="4422647"/>
            <a:ext cx="357632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0" i="0">
                <a:solidFill>
                  <a:srgbClr val="1C1C28"/>
                </a:solidFill>
                <a:latin typeface="Calibri"/>
              </a:rPr>
              <a:t>vs prior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2471929"/>
            <a:ext cx="4033520" cy="88391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5800" b="1" i="0">
                <a:solidFill>
                  <a:srgbClr val="E2A03F"/>
                </a:solidFill>
                <a:latin typeface="Calibri"/>
              </a:rPr>
              <a:t>99.9%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8480" y="3630168"/>
            <a:ext cx="35763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Uptime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4422647"/>
            <a:ext cx="4033520" cy="3657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400" b="0" i="0">
                <a:solidFill>
                  <a:srgbClr val="1C1C28"/>
                </a:solidFill>
                <a:latin typeface="Calibri"/>
              </a:rPr>
              <a:t>trailing 12 months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C1C28"/>
                </a:solidFill>
                <a:latin typeface="Calibri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80476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Stream events from any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Define metrics once, reuse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1C1C28"/>
                </a:solidFill>
                <a:latin typeface="Calibri"/>
              </a:rPr>
              <a:t>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32332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Dashboards update in real time.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C1C28"/>
                </a:solidFill>
                <a:latin typeface="Calibri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2A03F"/>
                </a:solidFill>
                <a:latin typeface="Calibri"/>
              </a:rPr>
              <a:t>Old Way vs Meridian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26742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Spreadsheets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2A03F"/>
                </a:solidFill>
                <a:latin typeface="Calibri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510886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Manual exports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Live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Stale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Always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No lineage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1C1C28"/>
                </a:solidFill>
                <a:latin typeface="Calibri"/>
              </a:rPr>
              <a:t>Full lineage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1C1C28"/>
                </a:solidFill>
                <a:latin typeface="Calibri"/>
              </a:rPr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