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2000" cy="6858000" type="screen16x9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tle Slid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914400" y="2987040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Quarterly Business Review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con Text Row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Drives Us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Excellence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High standards in every deliverable we ship.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Integrity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Transparent and honest in all we do.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Innovation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Investing in ideas that shape tomorrow.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tat Callou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By the Numbers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127%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Revenue Target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30784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94%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30784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Retention Rate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8158480" y="279196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48 NPS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8158480" y="395020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Net Promoter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Column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Side-by-Side Evaluation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Legacy Platform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Modern Stack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4 hours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Deploy time: 8 min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scaling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Auto-scales fast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On-premise; high cost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Cloud-native; low cost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imelin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Milestones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Foundation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Cloud platform migration done.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334518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 Launch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334518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REST API live with 99.99% SLA.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623316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623316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AI Beta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623316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AI features shipped to 500 partners.</a:t>
            </a:r>
          </a:p>
        </p:txBody>
      </p:sp>
      <p:sp>
        <p:nvSpPr>
          <p:cNvPr id="12" name="TextBox 11"/>
          <p:cNvSpPr/>
          <p:nvPr>
            <p:ph type="body" idx="13"/>
          </p:nvPr>
        </p:nvSpPr>
        <p:spPr>
          <a:xfrm>
            <a:off x="9121140" y="1499616"/>
            <a:ext cx="261366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Q4</a:t>
            </a:r>
          </a:p>
        </p:txBody>
      </p:sp>
      <p:sp>
        <p:nvSpPr>
          <p:cNvPr id="13" name="TextBox 12"/>
          <p:cNvSpPr/>
          <p:nvPr>
            <p:ph type="body" idx="14"/>
          </p:nvPr>
        </p:nvSpPr>
        <p:spPr>
          <a:xfrm>
            <a:off x="9121140" y="2139695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Scale Out</a:t>
            </a:r>
          </a:p>
        </p:txBody>
      </p:sp>
      <p:sp>
        <p:nvSpPr>
          <p:cNvPr id="14" name="TextBox 13"/>
          <p:cNvSpPr/>
          <p:nvPr>
            <p:ph type="body" idx="15"/>
          </p:nvPr>
        </p:nvSpPr>
        <p:spPr>
          <a:xfrm>
            <a:off x="9121140" y="2932174"/>
            <a:ext cx="2613660" cy="282854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APAC regions live; global coverage.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Image Half Blee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Built in the Field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6233160" y="149961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Built with customers, not just for them.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233160" y="2901696"/>
            <a:ext cx="550164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60% faster rollout; 50% fewer tickets.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ard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What We Offer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Insights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data and AI analytics.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334518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334518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Zero-trust, SOC 2 ready.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623316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Speed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623316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Sub-100ms p99 latency.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9121140" y="14996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APIs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9121140" y="2154935"/>
            <a:ext cx="2613660" cy="3605785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300+ open connectors.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ection 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813560"/>
            <a:ext cx="128016" cy="1981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181356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063240"/>
            <a:ext cx="10738104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Where We Stand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We Will Cover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600" cy="6400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61848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1371600" y="161848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Performance against targets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250179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1371600" y="250179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Customer and market signals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57200" y="338510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1371600" y="338510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Operational health and risks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457200" y="426841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1371600" y="426841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Roadmap for next quarter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457200" y="5151728"/>
            <a:ext cx="9144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05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1371600" y="5151728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Decisions we need today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ig Numb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body" idx="1"/>
          </p:nvPr>
        </p:nvSpPr>
        <p:spPr>
          <a:xfrm>
            <a:off x="457200" y="2052066"/>
            <a:ext cx="11277600" cy="16383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10150" b="1" i="0">
                <a:solidFill>
                  <a:srgbClr val="E2A03F"/>
                </a:solidFill>
                <a:latin typeface="Calibri"/>
              </a:rPr>
              <a:t>3.2M</a:t>
            </a:r>
          </a:p>
        </p:txBody>
      </p:sp>
      <p:sp>
        <p:nvSpPr>
          <p:cNvPr id="3" name="Rectangle 2"/>
          <p:cNvSpPr/>
          <p:nvPr/>
        </p:nvSpPr>
        <p:spPr>
          <a:xfrm>
            <a:off x="5547360" y="3745230"/>
            <a:ext cx="109728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4074414"/>
            <a:ext cx="11277600" cy="7315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0" i="0">
                <a:solidFill>
                  <a:srgbClr val="1C1C28"/>
                </a:solidFill>
                <a:latin typeface="Calibri"/>
              </a:rPr>
              <a:t>Active customers worldwide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ull Quo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301240"/>
            <a:ext cx="128016" cy="22555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2301240"/>
            <a:ext cx="10738104" cy="1371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"We stopped buying tools and started buying outcomes."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947160"/>
            <a:ext cx="10738104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8A8A9A"/>
                </a:solidFill>
                <a:latin typeface="Calibri"/>
              </a:rPr>
              <a:t>- VP of Engineering, enterprise customer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Defini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1981200"/>
            <a:ext cx="128016" cy="28956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1981200"/>
            <a:ext cx="10738104" cy="9753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Net Revenue Retention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996696" y="3230880"/>
            <a:ext cx="10738104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The percentage of recurring revenue retained from existing customers over a period, including expansion and after churn.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Ques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2057400"/>
            <a:ext cx="128016" cy="274320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996696" y="2057400"/>
            <a:ext cx="10738104" cy="27432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C1C28"/>
                </a:solidFill>
                <a:latin typeface="Calibri"/>
              </a:rPr>
              <a:t>What would we build if we trusted our customers completely?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Bullet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What Changed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Activation time dropped by half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Support tickets fell sharply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Expansion revenue outpaced new sales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de Block">
    <p:bg>
      <p:bgPr>
        <a:solidFill>
          <a:srgbClr val="0C1A1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457200" y="457200"/>
            <a:ext cx="146304" cy="146304"/>
          </a:xfrm>
          <a:prstGeom prst="rect">
            <a:avLst/>
          </a:prstGeom>
          <a:solidFill>
            <a:srgbClr val="FF5F5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13232" y="457200"/>
            <a:ext cx="146304" cy="146304"/>
          </a:xfrm>
          <a:prstGeom prst="rect">
            <a:avLst/>
          </a:prstGeom>
          <a:solidFill>
            <a:srgbClr val="FFBD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969264" y="457200"/>
            <a:ext cx="146304" cy="146304"/>
          </a:xfrm>
          <a:prstGeom prst="rect">
            <a:avLst/>
          </a:prstGeom>
          <a:solidFill>
            <a:srgbClr val="27C9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1"/>
          </p:nvPr>
        </p:nvSpPr>
        <p:spPr>
          <a:xfrm>
            <a:off x="457200" y="923544"/>
            <a:ext cx="112776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858585"/>
                </a:solidFill>
                <a:latin typeface="Courier New"/>
              </a:rPr>
              <a:t>hello.py</a:t>
            </a:r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457200" y="1563623"/>
            <a:ext cx="666093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6A9955"/>
                </a:solidFill>
                <a:latin typeface="Courier New"/>
              </a:rPr>
              <a:t># The classic, end to end</a:t>
            </a:r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569CD6"/>
                </a:solidFill>
                <a:latin typeface="Courier New"/>
              </a:rPr>
              <a:t>def</a:t>
            </a:r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1234567" y="2081782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1493689" y="2081782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2530177" y="2081782"/>
            <a:ext cx="960247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():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457200" y="2599941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   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1493689" y="2599941"/>
            <a:ext cx="147849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print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2789300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3048422" y="2599941"/>
            <a:ext cx="4069713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CE9178"/>
                </a:solidFill>
                <a:latin typeface="Courier New"/>
              </a:rPr>
              <a:t>"Hello, world!"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6935254" y="2599941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)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3636259"/>
            <a:ext cx="121936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CDCAA"/>
                </a:solidFill>
                <a:latin typeface="Courier New"/>
              </a:rPr>
              <a:t>main</a:t>
            </a:r>
          </a:p>
        </p:txBody>
      </p:sp>
      <p:sp>
        <p:nvSpPr>
          <p:cNvPr id="17" name="TextBox 16"/>
          <p:cNvSpPr/>
          <p:nvPr>
            <p:ph type="body" idx="16"/>
          </p:nvPr>
        </p:nvSpPr>
        <p:spPr>
          <a:xfrm>
            <a:off x="1493689" y="3636259"/>
            <a:ext cx="70112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()</a:t>
            </a:r>
          </a:p>
        </p:txBody>
      </p:sp>
      <p:sp>
        <p:nvSpPr>
          <p:cNvPr id="18" name="TextBox 17"/>
          <p:cNvSpPr/>
          <p:nvPr>
            <p:ph type="body" idx="17"/>
          </p:nvPr>
        </p:nvSpPr>
        <p:spPr>
          <a:xfrm>
            <a:off x="457200" y="4672577"/>
            <a:ext cx="44200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4EC9B0"/>
                </a:solidFill>
                <a:latin typeface="Courier New"/>
              </a:rPr>
              <a:t>$</a:t>
            </a:r>
          </a:p>
        </p:txBody>
      </p:sp>
      <p:sp>
        <p:nvSpPr>
          <p:cNvPr id="19" name="TextBox 18"/>
          <p:cNvSpPr/>
          <p:nvPr>
            <p:ph type="body" idx="18"/>
          </p:nvPr>
        </p:nvSpPr>
        <p:spPr>
          <a:xfrm>
            <a:off x="716322" y="4672577"/>
            <a:ext cx="4328835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 python hello.py</a:t>
            </a:r>
          </a:p>
        </p:txBody>
      </p:sp>
      <p:sp>
        <p:nvSpPr>
          <p:cNvPr id="20" name="TextBox 19"/>
          <p:cNvSpPr/>
          <p:nvPr>
            <p:ph type="body" idx="19"/>
          </p:nvPr>
        </p:nvSpPr>
        <p:spPr>
          <a:xfrm>
            <a:off x="457200" y="5190736"/>
            <a:ext cx="3551468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D4D4D4"/>
                </a:solidFill>
                <a:latin typeface="Courier New"/>
              </a:rPr>
              <a:t>Hello, world!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ile Tre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Final folder shape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99616"/>
            <a:ext cx="11277600" cy="4261104"/>
          </a:xfrm>
          <a:prstGeom prst="roundRect">
            <a:avLst>
              <a:gd name="adj" fmla="val 3004"/>
            </a:avLst>
          </a:prstGeom>
          <a:solidFill>
            <a:srgbClr val="0C1A1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822960" y="1819656"/>
            <a:ext cx="394777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simple-eda-project/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822960" y="22158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1417417" y="2215896"/>
            <a:ext cx="975489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src/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822960" y="2612136"/>
            <a:ext cx="1371793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└─ 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2011873" y="261213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1" i="0">
                <a:solidFill>
                  <a:srgbClr val="E2A03F"/>
                </a:solidFill>
                <a:latin typeface="Courier New"/>
              </a:rPr>
              <a:t>simple_eda/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822960" y="300837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├─ 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2606330" y="3008376"/>
            <a:ext cx="2362555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__init__.py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822960" y="340461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│     └─ 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2606330" y="340461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core.py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822960" y="380085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4" name="TextBox 13"/>
          <p:cNvSpPr/>
          <p:nvPr>
            <p:ph type="body" idx="14"/>
          </p:nvPr>
        </p:nvSpPr>
        <p:spPr>
          <a:xfrm>
            <a:off x="1417417" y="3800856"/>
            <a:ext cx="1966250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README.md</a:t>
            </a:r>
          </a:p>
        </p:txBody>
      </p:sp>
      <p:sp>
        <p:nvSpPr>
          <p:cNvPr id="15" name="TextBox 14"/>
          <p:cNvSpPr/>
          <p:nvPr>
            <p:ph type="body" idx="15"/>
          </p:nvPr>
        </p:nvSpPr>
        <p:spPr>
          <a:xfrm>
            <a:off x="822960" y="419709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├─ </a:t>
            </a:r>
          </a:p>
        </p:txBody>
      </p:sp>
      <p:sp>
        <p:nvSpPr>
          <p:cNvPr id="16" name="TextBox 15"/>
          <p:cNvSpPr/>
          <p:nvPr>
            <p:ph type="body" idx="16"/>
          </p:nvPr>
        </p:nvSpPr>
        <p:spPr>
          <a:xfrm>
            <a:off x="1417417" y="4197096"/>
            <a:ext cx="2957011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pyproject.toml</a:t>
            </a:r>
          </a:p>
        </p:txBody>
      </p:sp>
      <p:sp>
        <p:nvSpPr>
          <p:cNvPr id="17" name="TextBox 16"/>
          <p:cNvSpPr/>
          <p:nvPr>
            <p:ph type="body" idx="17"/>
          </p:nvPr>
        </p:nvSpPr>
        <p:spPr>
          <a:xfrm>
            <a:off x="822960" y="4593336"/>
            <a:ext cx="777337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55707A"/>
                </a:solidFill>
                <a:latin typeface="Courier New"/>
              </a:rPr>
              <a:t>└─ </a:t>
            </a:r>
          </a:p>
        </p:txBody>
      </p:sp>
      <p:sp>
        <p:nvSpPr>
          <p:cNvPr id="18" name="TextBox 17"/>
          <p:cNvSpPr/>
          <p:nvPr>
            <p:ph type="body" idx="18"/>
          </p:nvPr>
        </p:nvSpPr>
        <p:spPr>
          <a:xfrm>
            <a:off x="1417417" y="4593336"/>
            <a:ext cx="1569946" cy="3962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600" b="0" i="0">
                <a:solidFill>
                  <a:srgbClr val="D4D4D4"/>
                </a:solidFill>
                <a:latin typeface="Courier New"/>
              </a:rPr>
              <a:t>LICENSE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umbered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C1C28"/>
                </a:solidFill>
                <a:latin typeface="Calibri"/>
              </a:rPr>
              <a:t>Three Steps to Onboard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1610960" y="1499616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 your data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1610960" y="2109215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a source in minutes with a guided wizard.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457200" y="3011424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1610960" y="3011424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Pick a template</a:t>
            </a:r>
          </a:p>
        </p:txBody>
      </p:sp>
      <p:sp>
        <p:nvSpPr>
          <p:cNvPr id="8" name="TextBox 7"/>
          <p:cNvSpPr/>
          <p:nvPr>
            <p:ph type="body" idx="6"/>
          </p:nvPr>
        </p:nvSpPr>
        <p:spPr>
          <a:xfrm>
            <a:off x="1610960" y="3621023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 from a proven layout, then tailor it.</a:t>
            </a:r>
          </a:p>
        </p:txBody>
      </p:sp>
      <p:sp>
        <p:nvSpPr>
          <p:cNvPr id="9" name="TextBox 8"/>
          <p:cNvSpPr/>
          <p:nvPr>
            <p:ph type="body" idx="7"/>
          </p:nvPr>
        </p:nvSpPr>
        <p:spPr>
          <a:xfrm>
            <a:off x="457200" y="4523232"/>
            <a:ext cx="9251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0" name="TextBox 9"/>
          <p:cNvSpPr/>
          <p:nvPr>
            <p:ph type="body" idx="8"/>
          </p:nvPr>
        </p:nvSpPr>
        <p:spPr>
          <a:xfrm>
            <a:off x="1610960" y="4523232"/>
            <a:ext cx="1012384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Share the result</a:t>
            </a:r>
          </a:p>
        </p:txBody>
      </p:sp>
      <p:sp>
        <p:nvSpPr>
          <p:cNvPr id="11" name="TextBox 10"/>
          <p:cNvSpPr/>
          <p:nvPr>
            <p:ph type="body" idx="9"/>
          </p:nvPr>
        </p:nvSpPr>
        <p:spPr>
          <a:xfrm>
            <a:off x="1610960" y="5132831"/>
            <a:ext cx="1012384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Publish to your team and gather feedback fast.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wo Panel Lis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Onboarding, Reworked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Before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After</a:t>
            </a:r>
          </a:p>
        </p:txBody>
      </p:sp>
      <p:sp>
        <p:nvSpPr>
          <p:cNvPr id="6" name="Rectangle 5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3"/>
          </p:nvPr>
        </p:nvSpPr>
        <p:spPr>
          <a:xfrm>
            <a:off x="45720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account setup</a:t>
            </a:r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5720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Three-day approval wait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Email-only support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6233160" y="2395727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One-click provisioning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6233160" y="3608831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Same-day approval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6233160" y="4821935"/>
            <a:ext cx="550164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In-product live chat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his vs Tha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Cloud or On-Prem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3 wks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Cloud time-to-launch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6941820" y="2791969"/>
            <a:ext cx="479298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1C1C28"/>
                </a:solidFill>
                <a:latin typeface="Calibri"/>
              </a:rPr>
              <a:t>6 mo</a:t>
            </a:r>
          </a:p>
        </p:txBody>
      </p:sp>
      <p:sp>
        <p:nvSpPr>
          <p:cNvPr id="6" name="TextBox 5"/>
          <p:cNvSpPr/>
          <p:nvPr>
            <p:ph type="body" idx="4"/>
          </p:nvPr>
        </p:nvSpPr>
        <p:spPr>
          <a:xfrm>
            <a:off x="6941820" y="3950208"/>
            <a:ext cx="479298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On-prem time-to-launch</a:t>
            </a:r>
          </a:p>
        </p:txBody>
      </p:sp>
      <p:sp>
        <p:nvSpPr>
          <p:cNvPr id="7" name="TextBox 6"/>
          <p:cNvSpPr/>
          <p:nvPr>
            <p:ph type="body" idx="5"/>
          </p:nvPr>
        </p:nvSpPr>
        <p:spPr>
          <a:xfrm>
            <a:off x="5524500" y="3310128"/>
            <a:ext cx="114300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8A8A9A"/>
                </a:solidFill>
                <a:latin typeface="Calibri"/>
              </a:rPr>
              <a:t>VS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KPI Gr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Key Metrics This Quarter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98.7%</a:t>
            </a:r>
          </a:p>
        </p:txBody>
      </p:sp>
      <p:sp>
        <p:nvSpPr>
          <p:cNvPr id="4" name="Rectangle 3"/>
          <p:cNvSpPr/>
          <p:nvPr/>
        </p:nvSpPr>
        <p:spPr>
          <a:xfrm>
            <a:off x="170891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30784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1,240</a:t>
            </a:r>
          </a:p>
        </p:txBody>
      </p:sp>
      <p:sp>
        <p:nvSpPr>
          <p:cNvPr id="7" name="Rectangle 6"/>
          <p:cNvSpPr/>
          <p:nvPr/>
        </p:nvSpPr>
        <p:spPr>
          <a:xfrm>
            <a:off x="555955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30784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New accounts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8158480" y="1789176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4.6/5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10192" y="2484120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8158480" y="2593848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Support rating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45720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$2.1M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70891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45720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new revenue</a:t>
            </a:r>
          </a:p>
        </p:txBody>
      </p:sp>
      <p:sp>
        <p:nvSpPr>
          <p:cNvPr id="15" name="TextBox 14"/>
          <p:cNvSpPr/>
          <p:nvPr>
            <p:ph type="body" idx="9"/>
          </p:nvPr>
        </p:nvSpPr>
        <p:spPr>
          <a:xfrm>
            <a:off x="4307840" y="379780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12 days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559552" y="449275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3"/>
          </p:nvPr>
        </p:nvSpPr>
        <p:spPr>
          <a:xfrm>
            <a:off x="4307840" y="4602480"/>
            <a:ext cx="3576320" cy="1127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Avg. time to value</a:t>
            </a:r>
          </a:p>
        </p:txBody>
      </p:sp>
      <p:sp>
        <p:nvSpPr>
          <p:cNvPr id="18" name="TextBox 17"/>
          <p:cNvSpPr/>
          <p:nvPr>
            <p:ph type="body" idx="14"/>
          </p:nvPr>
        </p:nvSpPr>
        <p:spPr>
          <a:xfrm>
            <a:off x="8158480" y="4056888"/>
            <a:ext cx="357632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E2A03F"/>
                </a:solidFill>
                <a:latin typeface="Calibri"/>
              </a:rPr>
              <a:t>31%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10192" y="4751832"/>
            <a:ext cx="1072896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/>
          <p:nvPr>
            <p:ph type="body" idx="15"/>
          </p:nvPr>
        </p:nvSpPr>
        <p:spPr>
          <a:xfrm>
            <a:off x="8158480" y="4861560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Expansion rate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hart With Insigh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Monthly Active Teams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3702924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120</a:t>
            </a:r>
          </a:p>
        </p:txBody>
      </p:sp>
      <p:sp>
        <p:nvSpPr>
          <p:cNvPr id="4" name="Rectangle 3"/>
          <p:cNvSpPr/>
          <p:nvPr/>
        </p:nvSpPr>
        <p:spPr>
          <a:xfrm>
            <a:off x="680085" y="4343003"/>
            <a:ext cx="1040129" cy="777638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Jan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2217420" y="3314105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180</a:t>
            </a:r>
          </a:p>
        </p:txBody>
      </p:sp>
      <p:sp>
        <p:nvSpPr>
          <p:cNvPr id="7" name="Rectangle 6"/>
          <p:cNvSpPr/>
          <p:nvPr/>
        </p:nvSpPr>
        <p:spPr>
          <a:xfrm>
            <a:off x="2440305" y="3954184"/>
            <a:ext cx="1040129" cy="1166457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221742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Feb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3977640" y="2601270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290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00525" y="3241349"/>
            <a:ext cx="1040129" cy="1879292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397764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Mar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5737860" y="1499616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1" i="0">
                <a:solidFill>
                  <a:srgbClr val="E2A03F"/>
                </a:solidFill>
                <a:latin typeface="Calibri"/>
              </a:rPr>
              <a:t>460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60745" y="2139695"/>
            <a:ext cx="1040129" cy="298094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5737860" y="5394961"/>
            <a:ext cx="148590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Apr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0" y="1511808"/>
            <a:ext cx="128016" cy="4236720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/>
          <p:nvPr>
            <p:ph type="body" idx="9"/>
          </p:nvPr>
        </p:nvSpPr>
        <p:spPr>
          <a:xfrm>
            <a:off x="8037576" y="1511808"/>
            <a:ext cx="3697224" cy="423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Activations nearly quadrupled once self-serve onboarding shipped in February.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Tab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Pricing Tiers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Plan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30784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Seats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8158480" y="1499616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Price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5720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Starter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30784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</a:t>
            </a:r>
          </a:p>
        </p:txBody>
      </p:sp>
      <p:sp>
        <p:nvSpPr>
          <p:cNvPr id="9" name="TextBox 8"/>
          <p:cNvSpPr/>
          <p:nvPr>
            <p:ph type="body" idx="6"/>
          </p:nvPr>
        </p:nvSpPr>
        <p:spPr>
          <a:xfrm>
            <a:off x="8158480" y="2401823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$0</a:t>
            </a:r>
          </a:p>
        </p:txBody>
      </p:sp>
      <p:sp>
        <p:nvSpPr>
          <p:cNvPr id="10" name="TextBox 9"/>
          <p:cNvSpPr/>
          <p:nvPr>
            <p:ph type="body" idx="7"/>
          </p:nvPr>
        </p:nvSpPr>
        <p:spPr>
          <a:xfrm>
            <a:off x="45720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Team</a:t>
            </a:r>
          </a:p>
        </p:txBody>
      </p:sp>
      <p:sp>
        <p:nvSpPr>
          <p:cNvPr id="11" name="TextBox 10"/>
          <p:cNvSpPr/>
          <p:nvPr>
            <p:ph type="body" idx="8"/>
          </p:nvPr>
        </p:nvSpPr>
        <p:spPr>
          <a:xfrm>
            <a:off x="430784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50</a:t>
            </a:r>
          </a:p>
        </p:txBody>
      </p:sp>
      <p:sp>
        <p:nvSpPr>
          <p:cNvPr id="12" name="TextBox 11"/>
          <p:cNvSpPr/>
          <p:nvPr>
            <p:ph type="body" idx="9"/>
          </p:nvPr>
        </p:nvSpPr>
        <p:spPr>
          <a:xfrm>
            <a:off x="8158480" y="3310127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$12/seat</a:t>
            </a:r>
          </a:p>
        </p:txBody>
      </p:sp>
      <p:sp>
        <p:nvSpPr>
          <p:cNvPr id="13" name="TextBox 12"/>
          <p:cNvSpPr/>
          <p:nvPr>
            <p:ph type="body" idx="13"/>
          </p:nvPr>
        </p:nvSpPr>
        <p:spPr>
          <a:xfrm>
            <a:off x="45720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Business</a:t>
            </a:r>
          </a:p>
        </p:txBody>
      </p:sp>
      <p:sp>
        <p:nvSpPr>
          <p:cNvPr id="14" name="TextBox 13"/>
          <p:cNvSpPr/>
          <p:nvPr>
            <p:ph type="body" idx="14"/>
          </p:nvPr>
        </p:nvSpPr>
        <p:spPr>
          <a:xfrm>
            <a:off x="430784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 to 250</a:t>
            </a:r>
          </a:p>
        </p:txBody>
      </p:sp>
      <p:sp>
        <p:nvSpPr>
          <p:cNvPr id="15" name="TextBox 14"/>
          <p:cNvSpPr/>
          <p:nvPr>
            <p:ph type="body" idx="15"/>
          </p:nvPr>
        </p:nvSpPr>
        <p:spPr>
          <a:xfrm>
            <a:off x="8158480" y="4218431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$20/seat</a:t>
            </a:r>
          </a:p>
        </p:txBody>
      </p:sp>
      <p:sp>
        <p:nvSpPr>
          <p:cNvPr id="16" name="TextBox 15"/>
          <p:cNvSpPr/>
          <p:nvPr>
            <p:ph type="body" idx="16"/>
          </p:nvPr>
        </p:nvSpPr>
        <p:spPr>
          <a:xfrm>
            <a:off x="45720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</a:t>
            </a:r>
          </a:p>
        </p:txBody>
      </p:sp>
      <p:sp>
        <p:nvSpPr>
          <p:cNvPr id="17" name="TextBox 16"/>
          <p:cNvSpPr/>
          <p:nvPr>
            <p:ph type="body" idx="17"/>
          </p:nvPr>
        </p:nvSpPr>
        <p:spPr>
          <a:xfrm>
            <a:off x="430784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Unlimited</a:t>
            </a:r>
          </a:p>
        </p:txBody>
      </p:sp>
      <p:sp>
        <p:nvSpPr>
          <p:cNvPr id="18" name="TextBox 17"/>
          <p:cNvSpPr/>
          <p:nvPr>
            <p:ph type="body" idx="18"/>
          </p:nvPr>
        </p:nvSpPr>
        <p:spPr>
          <a:xfrm>
            <a:off x="8158480" y="5126735"/>
            <a:ext cx="3576320" cy="63398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Custom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Metric Comparis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Performance vs Last Year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$8.4M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45720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Annual recurring revenue</a:t>
            </a:r>
          </a:p>
        </p:txBody>
      </p:sp>
      <p:sp>
        <p:nvSpPr>
          <p:cNvPr id="5" name="Rectangle 4"/>
          <p:cNvSpPr/>
          <p:nvPr/>
        </p:nvSpPr>
        <p:spPr>
          <a:xfrm>
            <a:off x="1383099" y="4910328"/>
            <a:ext cx="1724522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1383099" y="4910328"/>
            <a:ext cx="172452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+24%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30784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2.1%</a:t>
            </a:r>
          </a:p>
        </p:txBody>
      </p:sp>
      <p:sp>
        <p:nvSpPr>
          <p:cNvPr id="8" name="TextBox 7"/>
          <p:cNvSpPr/>
          <p:nvPr>
            <p:ph type="body" idx="5"/>
          </p:nvPr>
        </p:nvSpPr>
        <p:spPr>
          <a:xfrm>
            <a:off x="430784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Monthly churn</a:t>
            </a:r>
          </a:p>
        </p:txBody>
      </p:sp>
      <p:sp>
        <p:nvSpPr>
          <p:cNvPr id="9" name="Rectangle 8"/>
          <p:cNvSpPr/>
          <p:nvPr/>
        </p:nvSpPr>
        <p:spPr>
          <a:xfrm>
            <a:off x="4997914" y="4910328"/>
            <a:ext cx="219617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997914" y="4910328"/>
            <a:ext cx="219617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-0.8 pts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8158480" y="183184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800" b="1" i="0">
                <a:solidFill>
                  <a:srgbClr val="E2A03F"/>
                </a:solidFill>
                <a:latin typeface="Calibri"/>
              </a:rPr>
              <a:t>63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8158480" y="2990088"/>
            <a:ext cx="3576320" cy="16459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Net promoter score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00700" y="4910328"/>
            <a:ext cx="1291879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9300700" y="4910328"/>
            <a:ext cx="1291879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+11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rocess Step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Onboarding Flow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01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Sign up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Create an account</a:t>
            </a:r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334518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02</a:t>
            </a:r>
          </a:p>
        </p:txBody>
      </p:sp>
      <p:sp>
        <p:nvSpPr>
          <p:cNvPr id="8" name="Rectangle 7"/>
          <p:cNvSpPr/>
          <p:nvPr/>
        </p:nvSpPr>
        <p:spPr>
          <a:xfrm>
            <a:off x="334518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334518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Connect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334518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Link your data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623316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03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3316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623316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Configure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623316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Pick your metrics</a:t>
            </a:r>
          </a:p>
        </p:txBody>
      </p:sp>
      <p:sp>
        <p:nvSpPr>
          <p:cNvPr id="15" name="TextBox 14"/>
          <p:cNvSpPr/>
          <p:nvPr>
            <p:ph type="body" idx="13"/>
          </p:nvPr>
        </p:nvSpPr>
        <p:spPr>
          <a:xfrm>
            <a:off x="9121140" y="1499616"/>
            <a:ext cx="2613660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E2A03F"/>
                </a:solidFill>
                <a:latin typeface="Calibri"/>
              </a:rPr>
              <a:t>04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121140" y="2194560"/>
            <a:ext cx="784098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/>
          <p:nvPr>
            <p:ph type="body" idx="14"/>
          </p:nvPr>
        </p:nvSpPr>
        <p:spPr>
          <a:xfrm>
            <a:off x="9121140" y="2414016"/>
            <a:ext cx="261366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Launch</a:t>
            </a:r>
          </a:p>
        </p:txBody>
      </p:sp>
      <p:sp>
        <p:nvSpPr>
          <p:cNvPr id="18" name="TextBox 17"/>
          <p:cNvSpPr/>
          <p:nvPr>
            <p:ph type="body" idx="15"/>
          </p:nvPr>
        </p:nvSpPr>
        <p:spPr>
          <a:xfrm>
            <a:off x="9121140" y="3041903"/>
            <a:ext cx="2613660" cy="2718817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Go live in minutes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Roadma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2026 Plan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Q1</a:t>
            </a:r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Ship API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45720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Beta launch</a:t>
            </a:r>
          </a:p>
        </p:txBody>
      </p:sp>
      <p:sp>
        <p:nvSpPr>
          <p:cNvPr id="7" name="Rectangle 6"/>
          <p:cNvSpPr/>
          <p:nvPr/>
        </p:nvSpPr>
        <p:spPr>
          <a:xfrm>
            <a:off x="430784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430784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Q2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30784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Mobile app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430784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Integrations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158480" y="1499616"/>
            <a:ext cx="3576320" cy="621791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8158480" y="1499616"/>
            <a:ext cx="357632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Q3</a:t>
            </a:r>
          </a:p>
        </p:txBody>
      </p:sp>
      <p:sp>
        <p:nvSpPr>
          <p:cNvPr id="13" name="TextBox 12"/>
          <p:cNvSpPr/>
          <p:nvPr>
            <p:ph type="body" idx="8"/>
          </p:nvPr>
        </p:nvSpPr>
        <p:spPr>
          <a:xfrm>
            <a:off x="8158480" y="239572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Enterprise tier</a:t>
            </a:r>
          </a:p>
        </p:txBody>
      </p:sp>
      <p:sp>
        <p:nvSpPr>
          <p:cNvPr id="14" name="TextBox 13"/>
          <p:cNvSpPr/>
          <p:nvPr>
            <p:ph type="body" idx="9"/>
          </p:nvPr>
        </p:nvSpPr>
        <p:spPr>
          <a:xfrm>
            <a:off x="8158480" y="3279647"/>
            <a:ext cx="3576320" cy="6096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SSO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Funne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Sales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499616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457200" y="1499616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Visitors · 50,000</a:t>
            </a:r>
          </a:p>
        </p:txBody>
      </p:sp>
      <p:sp>
        <p:nvSpPr>
          <p:cNvPr id="5" name="Rectangle 4"/>
          <p:cNvSpPr/>
          <p:nvPr/>
        </p:nvSpPr>
        <p:spPr>
          <a:xfrm>
            <a:off x="1490980" y="2633472"/>
            <a:ext cx="921004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1490980" y="2633472"/>
            <a:ext cx="9210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Signups · 8,000</a:t>
            </a:r>
          </a:p>
        </p:txBody>
      </p:sp>
      <p:sp>
        <p:nvSpPr>
          <p:cNvPr id="7" name="Rectangle 6"/>
          <p:cNvSpPr/>
          <p:nvPr/>
        </p:nvSpPr>
        <p:spPr>
          <a:xfrm>
            <a:off x="2524760" y="3767328"/>
            <a:ext cx="714248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2524760" y="3767328"/>
            <a:ext cx="71424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Trials · 2,400</a:t>
            </a:r>
          </a:p>
        </p:txBody>
      </p:sp>
      <p:sp>
        <p:nvSpPr>
          <p:cNvPr id="9" name="Rectangle 8"/>
          <p:cNvSpPr/>
          <p:nvPr/>
        </p:nvSpPr>
        <p:spPr>
          <a:xfrm>
            <a:off x="3558540" y="4901184"/>
            <a:ext cx="5074919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4"/>
          </p:nvPr>
        </p:nvSpPr>
        <p:spPr>
          <a:xfrm>
            <a:off x="3558540" y="4901184"/>
            <a:ext cx="5074919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Customers · 600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Nested Circles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Job Search Funnel (2021)</a:t>
            </a:r>
          </a:p>
        </p:txBody>
      </p:sp>
      <p:sp>
        <p:nvSpPr>
          <p:cNvPr id="3" name="Oval 2"/>
          <p:cNvSpPr/>
          <p:nvPr/>
        </p:nvSpPr>
        <p:spPr>
          <a:xfrm>
            <a:off x="3645408" y="1499616"/>
            <a:ext cx="4901184" cy="4901184"/>
          </a:xfrm>
          <a:prstGeom prst="ellipse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462272" y="3133344"/>
            <a:ext cx="3267456" cy="3267456"/>
          </a:xfrm>
          <a:prstGeom prst="ellipse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5279136" y="4767072"/>
            <a:ext cx="1633728" cy="1633728"/>
          </a:xfrm>
          <a:prstGeom prst="ellipse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1"/>
          </p:nvPr>
        </p:nvSpPr>
        <p:spPr>
          <a:xfrm>
            <a:off x="4577329" y="1645920"/>
            <a:ext cx="3037342" cy="7620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5000" b="1" i="0">
                <a:solidFill>
                  <a:srgbClr val="FFFFFF"/>
                </a:solidFill>
                <a:latin typeface="Calibri"/>
              </a:rPr>
              <a:t>&gt;700</a:t>
            </a:r>
          </a:p>
        </p:txBody>
      </p:sp>
      <p:sp>
        <p:nvSpPr>
          <p:cNvPr id="7" name="TextBox 6"/>
          <p:cNvSpPr/>
          <p:nvPr>
            <p:ph type="body" idx="2"/>
          </p:nvPr>
        </p:nvSpPr>
        <p:spPr>
          <a:xfrm>
            <a:off x="4017676" y="2316480"/>
            <a:ext cx="4156648" cy="6705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400" b="0" i="0">
                <a:solidFill>
                  <a:srgbClr val="FFFFFF"/>
                </a:solidFill>
                <a:latin typeface="Calibri"/>
              </a:rPr>
              <a:t>Applications</a:t>
            </a:r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4840583" y="3401568"/>
            <a:ext cx="2510834" cy="64008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9" name="TextBox 8"/>
          <p:cNvSpPr/>
          <p:nvPr>
            <p:ph type="body" idx="4"/>
          </p:nvPr>
        </p:nvSpPr>
        <p:spPr>
          <a:xfrm>
            <a:off x="4554990" y="3950208"/>
            <a:ext cx="3082020" cy="54864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600" b="0" i="0">
                <a:solidFill>
                  <a:srgbClr val="FFFFFF"/>
                </a:solidFill>
                <a:latin typeface="Calibri"/>
              </a:rPr>
              <a:t>Interviews</a:t>
            </a:r>
          </a:p>
        </p:txBody>
      </p:sp>
      <p:sp>
        <p:nvSpPr>
          <p:cNvPr id="10" name="TextBox 9"/>
          <p:cNvSpPr/>
          <p:nvPr>
            <p:ph type="body" idx="5"/>
          </p:nvPr>
        </p:nvSpPr>
        <p:spPr>
          <a:xfrm>
            <a:off x="5296524" y="5157216"/>
            <a:ext cx="1598952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1.5</a:t>
            </a:r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5307493" y="5583935"/>
            <a:ext cx="1577014" cy="42672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2800" b="0" i="0">
                <a:solidFill>
                  <a:srgbClr val="FFFFFF"/>
                </a:solidFill>
                <a:latin typeface="Calibri"/>
              </a:rPr>
              <a:t>Offers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Pyrami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Hierarchy of Needs</a:t>
            </a:r>
          </a:p>
        </p:txBody>
      </p:sp>
      <p:sp>
        <p:nvSpPr>
          <p:cNvPr id="3" name="Rectangle 2"/>
          <p:cNvSpPr/>
          <p:nvPr/>
        </p:nvSpPr>
        <p:spPr>
          <a:xfrm>
            <a:off x="3840480" y="1499616"/>
            <a:ext cx="451104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/>
          <p:nvPr>
            <p:ph type="body" idx="1"/>
          </p:nvPr>
        </p:nvSpPr>
        <p:spPr>
          <a:xfrm>
            <a:off x="3840480" y="1499616"/>
            <a:ext cx="451104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Vision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2712720" y="2633472"/>
            <a:ext cx="676656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/>
          <p:nvPr>
            <p:ph type="body" idx="2"/>
          </p:nvPr>
        </p:nvSpPr>
        <p:spPr>
          <a:xfrm>
            <a:off x="2712720" y="2633472"/>
            <a:ext cx="676656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Strategy</a:t>
            </a:r>
          </a:p>
        </p:txBody>
      </p:sp>
      <p:sp>
        <p:nvSpPr>
          <p:cNvPr id="7" name="Rectangle 6"/>
          <p:cNvSpPr/>
          <p:nvPr/>
        </p:nvSpPr>
        <p:spPr>
          <a:xfrm>
            <a:off x="1584960" y="3767328"/>
            <a:ext cx="9022080" cy="859536"/>
          </a:xfrm>
          <a:prstGeom prst="rect">
            <a:avLst/>
          </a:prstGeom>
          <a:solidFill>
            <a:srgbClr val="1650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3"/>
          </p:nvPr>
        </p:nvSpPr>
        <p:spPr>
          <a:xfrm>
            <a:off x="1584960" y="3767328"/>
            <a:ext cx="902208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Goals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4901184"/>
            <a:ext cx="11277600" cy="859536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/>
          <p:nvPr>
            <p:ph type="body" idx="4"/>
          </p:nvPr>
        </p:nvSpPr>
        <p:spPr>
          <a:xfrm>
            <a:off x="457200" y="4901184"/>
            <a:ext cx="11277600" cy="85953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Calibri"/>
              </a:rPr>
              <a:t>Tactics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SWO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SWOT Analysis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Strengths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2176271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/>
          <p:nvPr>
            <p:ph type="body" idx="2"/>
          </p:nvPr>
        </p:nvSpPr>
        <p:spPr>
          <a:xfrm>
            <a:off x="45720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 strong brand with loyal users</a:t>
            </a:r>
          </a:p>
        </p:txBody>
      </p:sp>
      <p:sp>
        <p:nvSpPr>
          <p:cNvPr id="6" name="TextBox 5"/>
          <p:cNvSpPr/>
          <p:nvPr>
            <p:ph type="body" idx="3"/>
          </p:nvPr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Weaknesses</a:t>
            </a:r>
          </a:p>
        </p:txBody>
      </p:sp>
      <p:sp>
        <p:nvSpPr>
          <p:cNvPr id="7" name="Rectangle 6"/>
          <p:cNvSpPr/>
          <p:nvPr/>
        </p:nvSpPr>
        <p:spPr>
          <a:xfrm>
            <a:off x="6233160" y="2176271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/>
          <p:nvPr>
            <p:ph type="body" idx="4"/>
          </p:nvPr>
        </p:nvSpPr>
        <p:spPr>
          <a:xfrm>
            <a:off x="6233160" y="2395727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Thin margins and a small team</a:t>
            </a:r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5720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E2A03F"/>
                </a:solidFill>
                <a:latin typeface="Calibri"/>
              </a:rPr>
              <a:t>Opportunities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443983"/>
            <a:ext cx="1650492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/>
          <p:nvPr>
            <p:ph type="body" idx="6"/>
          </p:nvPr>
        </p:nvSpPr>
        <p:spPr>
          <a:xfrm>
            <a:off x="45720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markets through partnerships</a:t>
            </a:r>
          </a:p>
        </p:txBody>
      </p:sp>
      <p:sp>
        <p:nvSpPr>
          <p:cNvPr id="12" name="TextBox 11"/>
          <p:cNvSpPr/>
          <p:nvPr>
            <p:ph type="body" idx="7"/>
          </p:nvPr>
        </p:nvSpPr>
        <p:spPr>
          <a:xfrm>
            <a:off x="6233160" y="3767328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8A8A9A"/>
                </a:solidFill>
                <a:latin typeface="Calibri"/>
              </a:rPr>
              <a:t>Threats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33160" y="4443983"/>
            <a:ext cx="1650492" cy="54864"/>
          </a:xfrm>
          <a:prstGeom prst="rect">
            <a:avLst/>
          </a:prstGeom>
          <a:solidFill>
            <a:srgbClr val="8A8A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/>
          <p:nvPr>
            <p:ph type="body" idx="8"/>
          </p:nvPr>
        </p:nvSpPr>
        <p:spPr>
          <a:xfrm>
            <a:off x="6233160" y="4663439"/>
            <a:ext cx="5501640" cy="109728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New entrants driving price pressure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slidekit · Comparison Matrix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/>
          <p:nvPr>
            <p:ph type="title"/>
          </p:nvPr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Evaluation Matrix</a:t>
            </a:r>
          </a:p>
        </p:txBody>
      </p:sp>
      <p:sp>
        <p:nvSpPr>
          <p:cNvPr id="3" name="TextBox 2"/>
          <p:cNvSpPr/>
          <p:nvPr>
            <p:ph type="body" idx="1"/>
          </p:nvPr>
        </p:nvSpPr>
        <p:spPr>
          <a:xfrm>
            <a:off x="3889248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A</a:t>
            </a:r>
          </a:p>
        </p:txBody>
      </p:sp>
      <p:sp>
        <p:nvSpPr>
          <p:cNvPr id="4" name="TextBox 3"/>
          <p:cNvSpPr/>
          <p:nvPr>
            <p:ph type="body" idx="2"/>
          </p:nvPr>
        </p:nvSpPr>
        <p:spPr>
          <a:xfrm>
            <a:off x="6595872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B</a:t>
            </a:r>
          </a:p>
        </p:txBody>
      </p:sp>
      <p:sp>
        <p:nvSpPr>
          <p:cNvPr id="5" name="TextBox 4"/>
          <p:cNvSpPr/>
          <p:nvPr>
            <p:ph type="body" idx="3"/>
          </p:nvPr>
        </p:nvSpPr>
        <p:spPr>
          <a:xfrm>
            <a:off x="9302496" y="1499616"/>
            <a:ext cx="2432304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1C1C28"/>
                </a:solidFill>
                <a:latin typeface="Calibri"/>
              </a:rPr>
              <a:t>Platform C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072639"/>
            <a:ext cx="11277600" cy="54864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/>
          <p:nvPr>
            <p:ph type="body" idx="4"/>
          </p:nvPr>
        </p:nvSpPr>
        <p:spPr>
          <a:xfrm>
            <a:off x="457200" y="2401823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Security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9059" y="2401823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/>
          <p:nvPr>
            <p:ph type="body" idx="5"/>
          </p:nvPr>
        </p:nvSpPr>
        <p:spPr>
          <a:xfrm>
            <a:off x="4119059" y="2401823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0" name="TextBox 9"/>
          <p:cNvSpPr/>
          <p:nvPr>
            <p:ph type="body" idx="6"/>
          </p:nvPr>
        </p:nvSpPr>
        <p:spPr>
          <a:xfrm>
            <a:off x="6595872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1" name="TextBox 10"/>
          <p:cNvSpPr/>
          <p:nvPr>
            <p:ph type="body" idx="7"/>
          </p:nvPr>
        </p:nvSpPr>
        <p:spPr>
          <a:xfrm>
            <a:off x="9302496" y="2401823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2" name="TextBox 11"/>
          <p:cNvSpPr/>
          <p:nvPr>
            <p:ph type="body" idx="8"/>
          </p:nvPr>
        </p:nvSpPr>
        <p:spPr>
          <a:xfrm>
            <a:off x="457200" y="3612895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Workflow</a:t>
            </a:r>
          </a:p>
        </p:txBody>
      </p:sp>
      <p:sp>
        <p:nvSpPr>
          <p:cNvPr id="13" name="TextBox 12"/>
          <p:cNvSpPr/>
          <p:nvPr>
            <p:ph type="body" idx="9"/>
          </p:nvPr>
        </p:nvSpPr>
        <p:spPr>
          <a:xfrm>
            <a:off x="3889248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4" name="TextBox 13"/>
          <p:cNvSpPr/>
          <p:nvPr>
            <p:ph type="body" idx="13"/>
          </p:nvPr>
        </p:nvSpPr>
        <p:spPr>
          <a:xfrm>
            <a:off x="6595872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15" name="TextBox 14"/>
          <p:cNvSpPr/>
          <p:nvPr>
            <p:ph type="body" idx="14"/>
          </p:nvPr>
        </p:nvSpPr>
        <p:spPr>
          <a:xfrm>
            <a:off x="9302496" y="3612895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  <p:sp>
        <p:nvSpPr>
          <p:cNvPr id="16" name="TextBox 15"/>
          <p:cNvSpPr/>
          <p:nvPr>
            <p:ph type="body" idx="15"/>
          </p:nvPr>
        </p:nvSpPr>
        <p:spPr>
          <a:xfrm>
            <a:off x="457200" y="4823967"/>
            <a:ext cx="3157728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Support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9059" y="4823967"/>
            <a:ext cx="1972681" cy="518159"/>
          </a:xfrm>
          <a:prstGeom prst="rect">
            <a:avLst/>
          </a:prstGeom>
          <a:solidFill>
            <a:srgbClr val="E2A03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/>
          <p:nvPr>
            <p:ph type="body" idx="16"/>
          </p:nvPr>
        </p:nvSpPr>
        <p:spPr>
          <a:xfrm>
            <a:off x="4119059" y="4823967"/>
            <a:ext cx="1972681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Strong</a:t>
            </a:r>
          </a:p>
        </p:txBody>
      </p:sp>
      <p:sp>
        <p:nvSpPr>
          <p:cNvPr id="19" name="TextBox 18"/>
          <p:cNvSpPr/>
          <p:nvPr>
            <p:ph type="body" idx="17"/>
          </p:nvPr>
        </p:nvSpPr>
        <p:spPr>
          <a:xfrm>
            <a:off x="6595872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Strong</a:t>
            </a:r>
          </a:p>
        </p:txBody>
      </p:sp>
      <p:sp>
        <p:nvSpPr>
          <p:cNvPr id="20" name="TextBox 19"/>
          <p:cNvSpPr/>
          <p:nvPr>
            <p:ph type="body" idx="18"/>
          </p:nvPr>
        </p:nvSpPr>
        <p:spPr>
          <a:xfrm>
            <a:off x="9302496" y="4823967"/>
            <a:ext cx="2432304" cy="936752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ctr"/>
            <a:r>
              <a:rPr sz="3400" b="0" i="0">
                <a:solidFill>
                  <a:srgbClr val="1C1C28"/>
                </a:solidFill>
                <a:latin typeface="Calibri"/>
              </a:rPr>
              <a:t>Medium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slideLayout" Target="../slideLayouts/slideLayout12.xml"/><Relationship Id="rId14" Type="http://schemas.openxmlformats.org/officeDocument/2006/relationships/slideLayout" Target="../slideLayouts/slideLayout13.xml"/><Relationship Id="rId15" Type="http://schemas.openxmlformats.org/officeDocument/2006/relationships/slideLayout" Target="../slideLayouts/slideLayout14.xml"/><Relationship Id="rId16" Type="http://schemas.openxmlformats.org/officeDocument/2006/relationships/slideLayout" Target="../slideLayouts/slideLayout15.xml"/><Relationship Id="rId17" Type="http://schemas.openxmlformats.org/officeDocument/2006/relationships/slideLayout" Target="../slideLayouts/slideLayout16.xml"/><Relationship Id="rId18" Type="http://schemas.openxmlformats.org/officeDocument/2006/relationships/slideLayout" Target="../slideLayouts/slideLayout17.xml"/><Relationship Id="rId19" Type="http://schemas.openxmlformats.org/officeDocument/2006/relationships/slideLayout" Target="../slideLayouts/slideLayout18.xml"/><Relationship Id="rId20" Type="http://schemas.openxmlformats.org/officeDocument/2006/relationships/slideLayout" Target="../slideLayouts/slideLayout19.xml"/><Relationship Id="rId21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1.xml"/><Relationship Id="rId23" Type="http://schemas.openxmlformats.org/officeDocument/2006/relationships/slideLayout" Target="../slideLayouts/slideLayout22.xml"/><Relationship Id="rId24" Type="http://schemas.openxmlformats.org/officeDocument/2006/relationships/slideLayout" Target="../slideLayouts/slideLayout23.xml"/><Relationship Id="rId25" Type="http://schemas.openxmlformats.org/officeDocument/2006/relationships/slideLayout" Target="../slideLayouts/slideLayout24.xml"/><Relationship Id="rId26" Type="http://schemas.openxmlformats.org/officeDocument/2006/relationships/slideLayout" Target="../slideLayouts/slideLayout25.xml"/><Relationship Id="rId27" Type="http://schemas.openxmlformats.org/officeDocument/2006/relationships/slideLayout" Target="../slideLayouts/slideLayout26.xml"/><Relationship Id="rId28" Type="http://schemas.openxmlformats.org/officeDocument/2006/relationships/slideLayout" Target="../slideLayouts/slideLayout27.xml"/><Relationship Id="rId29" Type="http://schemas.openxmlformats.org/officeDocument/2006/relationships/slideLayout" Target="../slideLayouts/slideLayout28.xml"/><Relationship Id="rId30" Type="http://schemas.openxmlformats.org/officeDocument/2006/relationships/slideLayout" Target="../slideLayouts/slideLayout29.xml"/><Relationship Id="rId31" Type="http://schemas.openxmlformats.org/officeDocument/2006/relationships/slideLayout" Target="../slideLayouts/slideLayout30.xml"/><Relationship Id="rId32" Type="http://schemas.openxmlformats.org/officeDocument/2006/relationships/slideLayout" Target="../slideLayouts/slideLayout31.xml"/><Relationship Id="rId33" Type="http://schemas.openxmlformats.org/officeDocument/2006/relationships/slideLayout" Target="../slideLayouts/slideLayout32.xml"/><Relationship Id="rId34" Type="http://schemas.openxmlformats.org/officeDocument/2006/relationships/slideLayout" Target="../slideLayouts/slideLayout33.xml"/><Relationship Id="rId35" Type="http://schemas.openxmlformats.org/officeDocument/2006/relationships/slideLayout" Target="../slideLayouts/slideLayout34.xml"/><Relationship Id="rId36" Type="http://schemas.openxmlformats.org/officeDocument/2006/relationships/slideLayout" Target="../slideLayouts/slideLayout35.xml"/><Relationship Id="rId37" Type="http://schemas.openxmlformats.org/officeDocument/2006/relationships/slideLayout" Target="../slideLayouts/slideLayout36.xml"/><Relationship Id="rId38" Type="http://schemas.openxmlformats.org/officeDocument/2006/relationships/slideLayout" Target="../slideLayouts/slideLayout37.xml"/><Relationship Id="rId39" Type="http://schemas.openxmlformats.org/officeDocument/2006/relationships/slideLayout" Target="../slideLayouts/slideLayout38.xml"/><Relationship Id="rId40" Type="http://schemas.openxmlformats.org/officeDocument/2006/relationships/slideLayout" Target="../slideLayouts/slideLayout39.xml"/><Relationship Id="rId41" Type="http://schemas.openxmlformats.org/officeDocument/2006/relationships/slideLayout" Target="../slideLayouts/slideLayout40.xml"/><Relationship Id="rId42" Type="http://schemas.openxmlformats.org/officeDocument/2006/relationships/slideLayout" Target="../slideLayouts/slideLayout4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  <p:sldLayoutId id="2147483723" r:id="rId24"/>
    <p:sldLayoutId id="2147483724" r:id="rId25"/>
    <p:sldLayoutId id="2147483725" r:id="rId26"/>
    <p:sldLayoutId id="2147483726" r:id="rId27"/>
    <p:sldLayoutId id="2147483727" r:id="rId28"/>
    <p:sldLayoutId id="2147483728" r:id="rId29"/>
    <p:sldLayoutId id="2147483729" r:id="rId30"/>
    <p:sldLayoutId id="2147483730" r:id="rId31"/>
    <p:sldLayoutId id="2147483731" r:id="rId32"/>
    <p:sldLayoutId id="2147483732" r:id="rId33"/>
    <p:sldLayoutId id="2147483733" r:id="rId34"/>
    <p:sldLayoutId id="2147483734" r:id="rId35"/>
    <p:sldLayoutId id="2147483735" r:id="rId36"/>
    <p:sldLayoutId id="2147483736" r:id="rId37"/>
    <p:sldLayoutId id="2147483737" r:id="rId38"/>
    <p:sldLayoutId id="2147483738" r:id="rId39"/>
    <p:sldLayoutId id="2147483739" r:id="rId40"/>
    <p:sldLayoutId id="2147483740" r:id="rId41"/>
    <p:sldLayoutId id="2147483741" r:id="rId42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2590801"/>
            <a:ext cx="1036320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16504B"/>
                </a:solidFill>
                <a:latin typeface="Calibri"/>
              </a:rPr>
              <a:t>Meridian Analytics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3749040"/>
            <a:ext cx="103632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Turn raw events into decisions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Why Teams Switch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3.2x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Faster Insights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median query time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30784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30784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Lower Cost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30784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vs prior stack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158480" y="2471929"/>
            <a:ext cx="3576320" cy="88391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5800" b="1" i="0">
                <a:solidFill>
                  <a:srgbClr val="E2A03F"/>
                </a:solidFill>
                <a:latin typeface="Calibri"/>
              </a:rPr>
              <a:t>99.9%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158480" y="3630168"/>
            <a:ext cx="357632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Uptime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158480" y="4422647"/>
            <a:ext cx="3576320" cy="3657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2400" b="0" i="0">
                <a:solidFill>
                  <a:srgbClr val="8A8A9A"/>
                </a:solidFill>
                <a:latin typeface="Calibri"/>
              </a:rPr>
              <a:t>trailing 12 months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How It Works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Ingest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109215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Stream events from any source.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1424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621023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Define metrics once, reuse everywhere.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4523232"/>
            <a:ext cx="11277600" cy="51815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C1C28"/>
                </a:solidFill>
                <a:latin typeface="Calibri"/>
              </a:rPr>
              <a:t>Decide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5132831"/>
            <a:ext cx="11277600" cy="627889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Dashboards update in real time.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457200"/>
            <a:ext cx="11277600" cy="768096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4200" b="1" i="0">
                <a:solidFill>
                  <a:srgbClr val="16504B"/>
                </a:solidFill>
                <a:latin typeface="Calibri"/>
              </a:rPr>
              <a:t>Old Way vs Meridian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Spreadsheets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233160" y="1499616"/>
            <a:ext cx="5501640" cy="621791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1" i="0">
                <a:solidFill>
                  <a:srgbClr val="16504B"/>
                </a:solidFill>
                <a:latin typeface="Calibri"/>
              </a:rPr>
              <a:t>Meridian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Manual exports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233160" y="2395727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Live pipelines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Stale numbers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33160" y="3517391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Always current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No lineage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33160" y="4639055"/>
            <a:ext cx="5501640" cy="847344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3400" b="0" i="0">
                <a:solidFill>
                  <a:srgbClr val="1C1C28"/>
                </a:solidFill>
                <a:latin typeface="Calibri"/>
              </a:rPr>
              <a:t>Full lineage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363200" y="6035040"/>
            <a:ext cx="1371600" cy="36576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 algn="l"/>
            <a:r>
              <a:rPr sz="1600" b="0" i="0">
                <a:solidFill>
                  <a:srgbClr val="8A8A9A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