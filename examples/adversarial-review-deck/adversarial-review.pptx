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914400" y="297180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1F3A5F"/>
                </a:solidFill>
                <a:latin typeface="Arial"/>
              </a:rPr>
              <a:t>Quarterly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con Text Row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What Drives Us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Excellence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09215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High standards in every deliverable we ship.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Integrity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621023"/>
            <a:ext cx="1133344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Transparent and honest in all we do.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Innovation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5132831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Investing in ideas that shape tomorrow.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By the Numbers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127%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965448"/>
            <a:ext cx="50480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Revenue Target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30784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94%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3965448"/>
            <a:ext cx="47916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Retention Rate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158480" y="2776728"/>
            <a:ext cx="40335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48 NPS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8158480" y="3965448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Net Promoter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Side-by-Side Evaluation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58115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Legacy Platform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Modern Stack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651887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Deploy time: 4 hours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2395727"/>
            <a:ext cx="590389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Deploy time: 8 min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Manual scaling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Auto-scales fast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639055"/>
            <a:ext cx="694088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On-premise; high cost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Cloud-native; low cost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Key Milestones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54936"/>
            <a:ext cx="39432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Foundation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Cloud platform migration done.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2154936"/>
            <a:ext cx="39830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API Launch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4518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REST API live with 99.99% SLA.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AI Beta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AI features shipped to 500 partners.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9121140" y="2154936"/>
            <a:ext cx="30708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Scale Out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12114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APAC regions live; global coverage.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mage Half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Built in the Field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6233160" y="149961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Built with customers, not just for them.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290169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60% faster rollout; 50% fewer tickets.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What We Offer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83136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Insights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54935"/>
            <a:ext cx="2613660" cy="360578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Live data and AI analytics.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3345180" y="1499616"/>
            <a:ext cx="290929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Security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2154935"/>
            <a:ext cx="2613660" cy="360578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Zero-trust, SOC 2 ready.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6233160" y="14996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Speed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154935"/>
            <a:ext cx="2613660" cy="360578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Sub-100ms p99 latency.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9121140" y="14996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APIs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9121140" y="2154935"/>
            <a:ext cx="2613660" cy="360578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300+ open connectors.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Where We Stand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What We Will Cover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Performance against targets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250179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Customer and market signals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38510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Operational health and risks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26841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Roadmap for next quarter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515172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05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Decisions we need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body" idx="1"/>
          </p:nvPr>
        </p:nvSpPr>
        <p:spPr>
          <a:xfrm>
            <a:off x="457200" y="202539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B31B1B"/>
                </a:solidFill>
                <a:latin typeface="Arial"/>
              </a:rPr>
              <a:t>3.2M</a:t>
            </a:r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5547360" y="3771900"/>
            <a:ext cx="1097280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457200" y="410108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111827"/>
                </a:solidFill>
                <a:latin typeface="Arial"/>
              </a:rPr>
              <a:t>Active customers worldwide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ull 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301240"/>
            <a:ext cx="128016" cy="225552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301240"/>
            <a:ext cx="10738104" cy="13716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"We stopped buying tools and started buying outcomes."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94716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6B7280"/>
                </a:solidFill>
                <a:latin typeface="Arial"/>
              </a:rPr>
              <a:t>- VP of Engineering, enterprise customer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Defini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965960"/>
            <a:ext cx="128016" cy="292608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96596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Net Revenue Retention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246120"/>
            <a:ext cx="10738104" cy="16459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The percentage of recurring revenue retained from existing customers over a period, including expansion and after churn.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Ques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011680"/>
            <a:ext cx="128016" cy="283464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011680"/>
            <a:ext cx="10738104" cy="283464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6000" b="1" i="0">
                <a:solidFill>
                  <a:srgbClr val="111827"/>
                </a:solidFill>
                <a:latin typeface="Arial"/>
              </a:rPr>
              <a:t>What would we build if we trusted our customers completely?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46804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What Changed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Activation time dropped by half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Support tickets fell sharply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Expansion revenue outpaced new sales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de Block"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5F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BD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ph type="body" idx="3"/>
          </p:nvPr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27C9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4"/>
          </p:nvPr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D4D4D4"/>
                </a:solidFill>
                <a:latin typeface="Arial"/>
              </a:rPr>
              <a:t>hello.py</a:t>
            </a:r>
          </a:p>
        </p:txBody>
      </p:sp>
      <p:sp>
        <p:nvSpPr>
          <p:cNvPr id="9" name="TextBox 8"/>
          <p:cNvSpPr/>
          <p:nvPr>
            <p:ph type="body" idx="5"/>
          </p:nvPr>
        </p:nvSpPr>
        <p:spPr>
          <a:xfrm>
            <a:off x="457200" y="1837944"/>
            <a:ext cx="78513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6A9955"/>
                </a:solidFill>
                <a:latin typeface="Arial"/>
              </a:rPr>
              <a:t># The classic, end to end</a:t>
            </a:r>
          </a:p>
        </p:txBody>
      </p:sp>
      <p:sp>
        <p:nvSpPr>
          <p:cNvPr id="10" name="TextBox 9"/>
          <p:cNvSpPr/>
          <p:nvPr>
            <p:ph type="body" idx="6"/>
          </p:nvPr>
        </p:nvSpPr>
        <p:spPr>
          <a:xfrm>
            <a:off x="457200" y="2356103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11" name="TextBox 10"/>
          <p:cNvSpPr/>
          <p:nvPr>
            <p:ph type="body" idx="7"/>
          </p:nvPr>
        </p:nvSpPr>
        <p:spPr>
          <a:xfrm>
            <a:off x="1057461" y="2356103"/>
            <a:ext cx="3028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 </a:t>
            </a:r>
          </a:p>
        </p:txBody>
      </p:sp>
      <p:sp>
        <p:nvSpPr>
          <p:cNvPr id="12" name="TextBox 11"/>
          <p:cNvSpPr/>
          <p:nvPr>
            <p:ph type="body" idx="8"/>
          </p:nvPr>
        </p:nvSpPr>
        <p:spPr>
          <a:xfrm>
            <a:off x="1177429" y="2356103"/>
            <a:ext cx="1680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CDCAA"/>
                </a:solidFill>
                <a:latin typeface="Arial"/>
              </a:rPr>
              <a:t>main</a:t>
            </a:r>
          </a:p>
        </p:txBody>
      </p:sp>
      <p:sp>
        <p:nvSpPr>
          <p:cNvPr id="13" name="TextBox 12"/>
          <p:cNvSpPr/>
          <p:nvPr>
            <p:ph type="body" idx="9"/>
          </p:nvPr>
        </p:nvSpPr>
        <p:spPr>
          <a:xfrm>
            <a:off x="2113347" y="2356103"/>
            <a:ext cx="83496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():</a:t>
            </a:r>
          </a:p>
        </p:txBody>
      </p:sp>
      <p:sp>
        <p:nvSpPr>
          <p:cNvPr id="14" name="TextBox 13"/>
          <p:cNvSpPr/>
          <p:nvPr>
            <p:ph type="body" idx="13"/>
          </p:nvPr>
        </p:nvSpPr>
        <p:spPr>
          <a:xfrm>
            <a:off x="457200" y="2874262"/>
            <a:ext cx="6627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    </a:t>
            </a:r>
          </a:p>
        </p:txBody>
      </p:sp>
      <p:sp>
        <p:nvSpPr>
          <p:cNvPr id="15" name="TextBox 14"/>
          <p:cNvSpPr/>
          <p:nvPr>
            <p:ph type="body" idx="14"/>
          </p:nvPr>
        </p:nvSpPr>
        <p:spPr>
          <a:xfrm>
            <a:off x="937071" y="2874262"/>
            <a:ext cx="15268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CDCAA"/>
                </a:solidFill>
                <a:latin typeface="Arial"/>
              </a:rPr>
              <a:t>print</a:t>
            </a:r>
          </a:p>
        </p:txBody>
      </p:sp>
      <p:sp>
        <p:nvSpPr>
          <p:cNvPr id="16" name="TextBox 15"/>
          <p:cNvSpPr/>
          <p:nvPr>
            <p:ph type="body" idx="15"/>
          </p:nvPr>
        </p:nvSpPr>
        <p:spPr>
          <a:xfrm>
            <a:off x="1777057" y="2874262"/>
            <a:ext cx="4129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(</a:t>
            </a:r>
          </a:p>
        </p:txBody>
      </p:sp>
      <p:sp>
        <p:nvSpPr>
          <p:cNvPr id="17" name="TextBox 16"/>
          <p:cNvSpPr/>
          <p:nvPr>
            <p:ph type="body" idx="16"/>
          </p:nvPr>
        </p:nvSpPr>
        <p:spPr>
          <a:xfrm>
            <a:off x="1920850" y="2874262"/>
            <a:ext cx="447456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CE9178"/>
                </a:solidFill>
                <a:latin typeface="Arial"/>
              </a:rPr>
              <a:t>"Hello, world!"</a:t>
            </a:r>
          </a:p>
        </p:txBody>
      </p:sp>
      <p:sp>
        <p:nvSpPr>
          <p:cNvPr id="18" name="TextBox 17"/>
          <p:cNvSpPr/>
          <p:nvPr>
            <p:ph type="body" idx="17"/>
          </p:nvPr>
        </p:nvSpPr>
        <p:spPr>
          <a:xfrm>
            <a:off x="4603155" y="2874262"/>
            <a:ext cx="4129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)</a:t>
            </a:r>
          </a:p>
        </p:txBody>
      </p:sp>
      <p:sp>
        <p:nvSpPr>
          <p:cNvPr id="19" name="TextBox 18"/>
          <p:cNvSpPr/>
          <p:nvPr>
            <p:ph type="body" idx="18"/>
          </p:nvPr>
        </p:nvSpPr>
        <p:spPr>
          <a:xfrm>
            <a:off x="457200" y="3910580"/>
            <a:ext cx="1680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CDCAA"/>
                </a:solidFill>
                <a:latin typeface="Arial"/>
              </a:rPr>
              <a:t>main</a:t>
            </a:r>
          </a:p>
        </p:txBody>
      </p:sp>
      <p:sp>
        <p:nvSpPr>
          <p:cNvPr id="20" name="TextBox 19"/>
          <p:cNvSpPr/>
          <p:nvPr>
            <p:ph type="body" idx="19"/>
          </p:nvPr>
        </p:nvSpPr>
        <p:spPr>
          <a:xfrm>
            <a:off x="1393118" y="3910580"/>
            <a:ext cx="6430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()</a:t>
            </a:r>
          </a:p>
        </p:txBody>
      </p:sp>
      <p:sp>
        <p:nvSpPr>
          <p:cNvPr id="21" name="TextBox 20"/>
          <p:cNvSpPr/>
          <p:nvPr>
            <p:ph type="body" idx="20"/>
          </p:nvPr>
        </p:nvSpPr>
        <p:spPr>
          <a:xfrm>
            <a:off x="457200" y="4946898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4EC9B0"/>
                </a:solidFill>
                <a:latin typeface="Arial"/>
              </a:rPr>
              <a:t>$</a:t>
            </a:r>
          </a:p>
        </p:txBody>
      </p:sp>
      <p:sp>
        <p:nvSpPr>
          <p:cNvPr id="22" name="TextBox 21"/>
          <p:cNvSpPr/>
          <p:nvPr>
            <p:ph type="body" idx="21"/>
          </p:nvPr>
        </p:nvSpPr>
        <p:spPr>
          <a:xfrm>
            <a:off x="697347" y="4946898"/>
            <a:ext cx="50224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 python hello.py</a:t>
            </a:r>
          </a:p>
        </p:txBody>
      </p:sp>
      <p:sp>
        <p:nvSpPr>
          <p:cNvPr id="23" name="TextBox 22"/>
          <p:cNvSpPr/>
          <p:nvPr>
            <p:ph type="body" idx="22"/>
          </p:nvPr>
        </p:nvSpPr>
        <p:spPr>
          <a:xfrm>
            <a:off x="457200" y="5465057"/>
            <a:ext cx="39840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ile Tre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Final folder shape</a:t>
            </a:r>
          </a:p>
        </p:txBody>
      </p:sp>
      <p:sp>
        <p:nvSpPr>
          <p:cNvPr id="6" name="Rounded Rectangle 5"/>
          <p:cNvSpPr/>
          <p:nvPr>
            <p:ph type="body" idx="1"/>
          </p:nvPr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0C1A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822960" y="1819656"/>
            <a:ext cx="6206708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569CD6"/>
                </a:solidFill>
                <a:latin typeface="Courier New"/>
              </a:rPr>
              <a:t>simple-eda-project/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22960" y="22158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├─ 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17417" y="2215896"/>
            <a:ext cx="1451054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569CD6"/>
                </a:solidFill>
                <a:latin typeface="Courier New"/>
              </a:rPr>
              <a:t>src/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22960" y="2612136"/>
            <a:ext cx="208514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│  └─ 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011873" y="261213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569CD6"/>
                </a:solidFill>
                <a:latin typeface="Courier New"/>
              </a:rPr>
              <a:t>simple_eda/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22960" y="300837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│     ├─ 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2606330" y="300837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4D4D4"/>
                </a:solidFill>
                <a:latin typeface="Courier New"/>
              </a:rPr>
              <a:t>__init__.py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22960" y="340461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│     └─ 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2606330" y="340461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4D4D4"/>
                </a:solidFill>
                <a:latin typeface="Courier New"/>
              </a:rPr>
              <a:t>core.py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22960" y="380085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├─ 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1417417" y="380085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4D4D4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822960" y="41970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├─ 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1417417" y="4197096"/>
            <a:ext cx="4621489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4D4D4"/>
                </a:solidFill>
                <a:latin typeface="Courier New"/>
              </a:rPr>
              <a:t>pyproject.toml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822960" y="459333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└─ 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1417417" y="459333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4D4D4"/>
                </a:solidFill>
                <a:latin typeface="Courier New"/>
              </a:rPr>
              <a:t>LICENSE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Three Steps to Onboard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Connect your data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461983" y="2185416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Link a source in minutes with a guided wizard.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Pick a template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Start from a proven layout, then tailor it.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Share the result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Publish to your team and gather feedback fast.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wo Panel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Onboarding, Reworked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Before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548640" y="2176271"/>
            <a:ext cx="1650492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6B7280"/>
                </a:solidFill>
                <a:latin typeface="Arial"/>
              </a:rPr>
              <a:t>After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6324600" y="2176271"/>
            <a:ext cx="1650492" cy="548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395727"/>
            <a:ext cx="694257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Manual account setup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608831"/>
            <a:ext cx="75943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Three-day approval wait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821935"/>
            <a:ext cx="590423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Email-only support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One-click provisioning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Same-day approval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In-product live chat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his vs Th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Cloud or On-Prem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11827"/>
                </a:solidFill>
                <a:latin typeface="Arial"/>
              </a:rPr>
              <a:t>3 wks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Cloud time-to-launch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11827"/>
                </a:solidFill>
                <a:latin typeface="Arial"/>
              </a:rPr>
              <a:t>6 mo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48462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On-prem time-to-launch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6B7280"/>
                </a:solidFill>
                <a:latin typeface="Arial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Key Metrics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B31B1B"/>
                </a:solidFill>
                <a:latin typeface="Arial"/>
              </a:rPr>
              <a:t>98.7%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Uptime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B31B1B"/>
                </a:solidFill>
                <a:latin typeface="Arial"/>
              </a:rPr>
              <a:t>1,240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259384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New accounts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B31B1B"/>
                </a:solidFill>
                <a:latin typeface="Arial"/>
              </a:rPr>
              <a:t>4.6/5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770128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Support rating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B31B1B"/>
                </a:solidFill>
                <a:latin typeface="Arial"/>
              </a:rPr>
              <a:t>$2.1M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Net new revenue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4307840" y="379780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B31B1B"/>
                </a:solidFill>
                <a:latin typeface="Arial"/>
              </a:rPr>
              <a:t>12 days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5559552" y="4492752"/>
            <a:ext cx="1072896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4307840" y="4602480"/>
            <a:ext cx="357632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Avg. time to value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815848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B31B1B"/>
                </a:solidFill>
                <a:latin typeface="Arial"/>
              </a:rPr>
              <a:t>31%</a:t>
            </a:r>
          </a:p>
        </p:txBody>
      </p:sp>
      <p:sp>
        <p:nvSpPr>
          <p:cNvPr id="22" name="Rectangle 21"/>
          <p:cNvSpPr/>
          <p:nvPr>
            <p:ph type="body" idx="20"/>
          </p:nvPr>
        </p:nvSpPr>
        <p:spPr>
          <a:xfrm>
            <a:off x="9410192" y="4751832"/>
            <a:ext cx="1072896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770128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Expansion rate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hart With In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Monthly Active Teams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3680394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120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680085" y="4335714"/>
            <a:ext cx="1040129" cy="769686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6B7280"/>
                </a:solidFill>
                <a:latin typeface="Arial"/>
              </a:rPr>
              <a:t>Jan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217420" y="3295551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440305" y="3950871"/>
            <a:ext cx="1040129" cy="1154529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21742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6B7280"/>
                </a:solidFill>
                <a:latin typeface="Arial"/>
              </a:rPr>
              <a:t>Feb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77640" y="2590005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290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200525" y="3245325"/>
            <a:ext cx="1040129" cy="1860075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97764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6B7280"/>
                </a:solidFill>
                <a:latin typeface="Arial"/>
              </a:rPr>
              <a:t>Mar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5737860" y="1499616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460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5960745" y="2154936"/>
            <a:ext cx="1040129" cy="29504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573786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6B7280"/>
                </a:solidFill>
                <a:latin typeface="Arial"/>
              </a:rPr>
              <a:t>Apr</a:t>
            </a:r>
          </a:p>
        </p:txBody>
      </p:sp>
      <p:sp>
        <p:nvSpPr>
          <p:cNvPr id="18" name="Rectangle 17"/>
          <p:cNvSpPr/>
          <p:nvPr>
            <p:ph type="body" idx="16"/>
          </p:nvPr>
        </p:nvSpPr>
        <p:spPr>
          <a:xfrm>
            <a:off x="7498080" y="1770888"/>
            <a:ext cx="128016" cy="371856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8037576" y="1770888"/>
            <a:ext cx="3697224" cy="37185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Activations nearly quadrupled once self-serve onboarding shipped in February.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Pricing Tiers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3337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Plan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339579" y="1499616"/>
            <a:ext cx="22382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Seats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126448" y="1499616"/>
            <a:ext cx="20223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Price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7691577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Starter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39579" y="2401823"/>
            <a:ext cx="241036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Up to 5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126448" y="2401823"/>
            <a:ext cx="202232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$0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3310127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Team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339579" y="3310127"/>
            <a:ext cx="279459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Up to 50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126448" y="3310127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$12/seat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457200" y="4218431"/>
            <a:ext cx="298620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Business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3339579" y="4218431"/>
            <a:ext cx="31788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Up to 250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6126448" y="4218431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$20/seat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5126735"/>
            <a:ext cx="33316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Enterprise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339579" y="5126735"/>
            <a:ext cx="30624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Unlimited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6126448" y="5126735"/>
            <a:ext cx="256317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Metric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Performance vs Last Year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07568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B31B1B"/>
                </a:solidFill>
                <a:latin typeface="Arial"/>
              </a:rPr>
              <a:t>$8.4M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264408"/>
            <a:ext cx="357632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Annual recurring revenue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522569" y="4666488"/>
            <a:ext cx="1445581" cy="518159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260802" y="4666488"/>
            <a:ext cx="1969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+24%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307840" y="207568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B31B1B"/>
                </a:solidFill>
                <a:latin typeface="Arial"/>
              </a:rPr>
              <a:t>2.1%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3264408"/>
            <a:ext cx="4522132" cy="1127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Monthly churn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5175547" y="4666488"/>
            <a:ext cx="1840906" cy="518159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795183" y="4666488"/>
            <a:ext cx="260163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-0.8 pts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158480" y="207568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B31B1B"/>
                </a:solidFill>
                <a:latin typeface="Arial"/>
              </a:rPr>
              <a:t>63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3264408"/>
            <a:ext cx="357632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Net promoter score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9427731" y="4666488"/>
            <a:ext cx="1037817" cy="518159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288294" y="4666488"/>
            <a:ext cx="131669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+11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rocess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Onboarding Flow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94560"/>
            <a:ext cx="784098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414016"/>
            <a:ext cx="27156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Sign up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Create an account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3345180" y="2194560"/>
            <a:ext cx="784098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345180" y="2414016"/>
            <a:ext cx="2946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Connect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Link your data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>
            <p:ph type="body" idx="13"/>
          </p:nvPr>
        </p:nvSpPr>
        <p:spPr>
          <a:xfrm>
            <a:off x="6233160" y="2194560"/>
            <a:ext cx="784098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6233160" y="2414016"/>
            <a:ext cx="344499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Configure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Pick your metrics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9121140" y="2194560"/>
            <a:ext cx="784098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9121140" y="2414016"/>
            <a:ext cx="26394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Launch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Go live in minutes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2026 Plan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Ship API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279647"/>
            <a:ext cx="383192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Beta launch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0784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Mobile app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307840" y="3279647"/>
            <a:ext cx="3793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Integrations</a:t>
            </a:r>
          </a:p>
        </p:txBody>
      </p:sp>
      <p:sp>
        <p:nvSpPr>
          <p:cNvPr id="14" name="Rectangle 13"/>
          <p:cNvSpPr/>
          <p:nvPr>
            <p:ph type="body" idx="9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Enterprise tier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8158480" y="327964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SSO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Sales Pipeline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Visitors · 50,000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Signups · 8,000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Trials · 2,400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3558540" y="4901184"/>
            <a:ext cx="5074919" cy="859536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558540" y="4901184"/>
            <a:ext cx="5558452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Customers · 600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ested Circ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Job Search Funnel (2021)</a:t>
            </a:r>
          </a:p>
        </p:txBody>
      </p:sp>
      <p:sp>
        <p:nvSpPr>
          <p:cNvPr id="6" name="Oval 5"/>
          <p:cNvSpPr/>
          <p:nvPr>
            <p:ph type="body" idx="1"/>
          </p:nvPr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ph type="body" idx="2"/>
          </p:nvPr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ph type="body" idx="3"/>
          </p:nvPr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7329" y="1645920"/>
            <a:ext cx="3037342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&gt;700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594080" y="2316480"/>
            <a:ext cx="5003840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58104" y="3950208"/>
            <a:ext cx="3475792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Interviews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5296524" y="5157216"/>
            <a:ext cx="15989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1.5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5235159" y="5583935"/>
            <a:ext cx="1721682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Offers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Hierarchy of Needs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Vision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Goals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Tactics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WO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SWOT Analysis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Strengths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1650492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5501640" cy="1097281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 strong brand with loyal users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6B7280"/>
                </a:solidFill>
                <a:latin typeface="Arial"/>
              </a:rPr>
              <a:t>Weaknesses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6233160" y="2176271"/>
            <a:ext cx="1650492" cy="548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395727"/>
            <a:ext cx="5501640" cy="1097281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Thin margins and a small team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Opportunities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57200" y="4443983"/>
            <a:ext cx="1650492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457200" y="4663439"/>
            <a:ext cx="5501640" cy="1097281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New markets through partnerships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6B7280"/>
                </a:solidFill>
                <a:latin typeface="Arial"/>
              </a:rPr>
              <a:t>Threats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6233160" y="4443983"/>
            <a:ext cx="1650492" cy="548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4663439"/>
            <a:ext cx="5501640" cy="1097281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New entrants driving price pressure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6035040"/>
            <a:ext cx="13716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3280182" y="1499616"/>
            <a:ext cx="365043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11827"/>
                </a:solidFill>
                <a:latin typeface="Arial"/>
              </a:rPr>
              <a:t>Platform A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5973987" y="1499616"/>
            <a:ext cx="367607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11827"/>
                </a:solidFill>
                <a:latin typeface="Arial"/>
              </a:rPr>
              <a:t>Platform B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845296" y="1499616"/>
            <a:ext cx="3346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11827"/>
                </a:solidFill>
                <a:latin typeface="Arial"/>
              </a:rPr>
              <a:t>Platform C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Security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4245247" y="2401823"/>
            <a:ext cx="1720305" cy="518159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01063" y="2401823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491979" y="2401823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Medium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Strong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3612895"/>
            <a:ext cx="32790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Workflow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3785355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Medium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Strong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98603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Medium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Support</a:t>
            </a:r>
          </a:p>
        </p:txBody>
      </p:sp>
      <p:sp>
        <p:nvSpPr>
          <p:cNvPr id="20" name="Rectangle 19"/>
          <p:cNvSpPr/>
          <p:nvPr>
            <p:ph type="body" idx="18"/>
          </p:nvPr>
        </p:nvSpPr>
        <p:spPr>
          <a:xfrm>
            <a:off x="4245247" y="4823967"/>
            <a:ext cx="1720305" cy="518159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3901063" y="4823967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22" name="TextBox 21"/>
          <p:cNvSpPr/>
          <p:nvPr>
            <p:ph type="body" idx="20"/>
          </p:nvPr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Strong</a:t>
            </a:r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9198603" y="4823967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  <p:sldLayoutId id="2147483741" r:id="rId4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arxiv.org/abs/2608.18167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hyperlink" Target="https://arxiv.org/abs/2608.18167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hyperlink" Target="https://arxiv.org/abs/2608.18167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hyperlink" Target="https://arxiv.org/abs/2608.18167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7556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1F3A5F"/>
                </a:solidFill>
                <a:latin typeface="Arial"/>
              </a:rPr>
              <a:t>Adversarial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6428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Structured disagreement for grounded code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0809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B31B1B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The design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0179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Building AR step by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510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Where AR breaks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6841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The one-prompt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5172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Real repositories and cost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111827"/>
                </a:solidFill>
                <a:latin typeface="Arial"/>
              </a:rPr>
              <a:t>How many agents?</a:t>
            </a:r>
          </a:p>
        </p:txBody>
      </p:sp>
      <p:sp>
        <p:nvSpPr>
          <p:cNvPr id="4" name="TextBox 3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Adversarial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 reviewer writes. A critic audits the review.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Three benchmarks, three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B31B1B"/>
                </a:solidFill>
                <a:latin typeface="Arial"/>
              </a:rPr>
              <a:t>87%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LiveCodeBench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B31B1B"/>
                </a:solidFill>
                <a:latin typeface="Arial"/>
              </a:rPr>
              <a:t>0.533</a:t>
            </a:r>
          </a:p>
        </p:txBody>
      </p:sp>
      <p:sp>
        <p:nvSpPr>
          <p:cNvPr id="7" name="Rectangle 6"/>
          <p:cNvSpPr/>
          <p:nvPr/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3323" y="2593848"/>
            <a:ext cx="490535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SWE-PRBench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B31B1B"/>
                </a:solidFill>
                <a:latin typeface="Arial"/>
              </a:rPr>
              <a:t>75.2%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2123" y="2593848"/>
            <a:ext cx="386903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SWE-bench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B31B1B"/>
                </a:solidFill>
                <a:latin typeface="Arial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61560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Agents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Three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 minimal reviewer-critic loop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Agents optimise for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Structured disagreement fixes it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The design question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Two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7363241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Role-separated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76271"/>
            <a:ext cx="1650492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9588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6B7280"/>
                </a:solidFill>
                <a:latin typeface="Arial"/>
              </a:rPr>
              <a:t>Subagents as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4600" y="2176271"/>
            <a:ext cx="1650492" cy="548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801667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Many agents, split by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609584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Diminishing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717331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Coordination overhead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Invoked like a tool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No agent 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The production default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926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111827"/>
                </a:solidFill>
                <a:latin typeface="Arial"/>
              </a:rPr>
              <a:t>Is there a middle?</a:t>
            </a:r>
          </a:p>
        </p:txBody>
      </p:sp>
      <p:sp>
        <p:nvSpPr>
          <p:cNvPr id="4" name="TextBox 3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375945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Prior work, in three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Self-refinement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One model critiques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Role-separated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MapCoder, AgentCoder, CodeCoR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Debate and aggregation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MAD, then MARS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Debate versus 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MAD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805580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Everyone reads everyone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2395727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Reviewers run in parallel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17391"/>
            <a:ext cx="7325121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Cost grows with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3517391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 meta-reviewer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9055"/>
            <a:ext cx="6019939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Pass-rate can drop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No interaction at all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Three benchmarks, three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9248" y="1499616"/>
            <a:ext cx="24323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11827"/>
                </a:solidFill>
                <a:latin typeface="Arial"/>
              </a:rPr>
              <a:t>LCB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4996" y="1499616"/>
            <a:ext cx="325405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11827"/>
                </a:solidFill>
                <a:latin typeface="Arial"/>
              </a:rPr>
              <a:t>PRBench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9205" y="1499616"/>
            <a:ext cx="26788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11827"/>
                </a:solidFill>
                <a:latin typeface="Arial"/>
              </a:rPr>
              <a:t>Verified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01823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3672" y="2401823"/>
            <a:ext cx="3063456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Generate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378" y="2401823"/>
            <a:ext cx="1817292" cy="518159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0098" y="2401823"/>
            <a:ext cx="25638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Repair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2895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2872" y="3612895"/>
            <a:ext cx="2525056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Pass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4748" y="3612895"/>
            <a:ext cx="272780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pass@1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9248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105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2496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500</a:t>
            </a:r>
          </a:p>
        </p:txBody>
      </p:sp>
      <p:sp>
        <p:nvSpPr>
          <p:cNvPr id="20" name="TextBox 19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Building AR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The LiveCodeBench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105 stdin-style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57 tagged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Claude Sonnet 4.5, 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One design choice per step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Where the methods separate</a:t>
            </a:r>
          </a:p>
        </p:txBody>
      </p:sp>
      <p:sp>
        <p:nvSpPr>
          <p:cNvPr id="3" name="Oval 2"/>
          <p:cNvSpPr/>
          <p:nvPr/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7329" y="1645920"/>
            <a:ext cx="3037342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17676" y="2316480"/>
            <a:ext cx="4156648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Arial"/>
              </a:rPr>
              <a:t>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4990" y="3950208"/>
            <a:ext cx="3082020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96524" y="5157216"/>
            <a:ext cx="15989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4729" y="5583935"/>
            <a:ext cx="1922542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Solved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The construction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784098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14016"/>
            <a:ext cx="33684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Zero-shot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41903"/>
            <a:ext cx="3062784" cy="2718817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No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5180" y="2194560"/>
            <a:ext cx="784098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518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Refine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5180" y="3041903"/>
            <a:ext cx="3370104" cy="2718817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Self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160" y="2194560"/>
            <a:ext cx="784098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160" y="2414016"/>
            <a:ext cx="321695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Reviewer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60" y="3041903"/>
            <a:ext cx="3908504" cy="2718817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One outside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21140" y="2194560"/>
            <a:ext cx="784098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1140" y="2414016"/>
            <a:ext cx="30708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Two more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1140" y="3041903"/>
            <a:ext cx="3070860" cy="2718817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In parallel</a:t>
            </a:r>
          </a:p>
        </p:txBody>
      </p:sp>
      <p:sp>
        <p:nvSpPr>
          <p:cNvPr id="19" name="TextBox 18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8343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B31B1B"/>
                </a:solidFill>
                <a:latin typeface="Arial"/>
              </a:rPr>
              <a:t>77%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360" y="3329940"/>
            <a:ext cx="1097280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912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111827"/>
                </a:solidFill>
                <a:latin typeface="Arial"/>
              </a:rPr>
              <a:t>The starting pass-rate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4964"/>
            <a:ext cx="1127760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6B7280"/>
                </a:solidFill>
                <a:latin typeface="Arial"/>
              </a:rPr>
              <a:t>Four methods land on this number.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Why self-critique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Critic and generator are one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It repeats its own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So it misses what it missed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Why one reviewer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High variance across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It can approve without checking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Or flag nits and miss the bug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19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The cluster, and the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38750"/>
            <a:ext cx="1133856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77</a:t>
            </a:r>
          </a:p>
        </p:txBody>
      </p:sp>
      <p:sp>
        <p:nvSpPr>
          <p:cNvPr id="4" name="Rectangle 3"/>
          <p:cNvSpPr/>
          <p:nvPr/>
        </p:nvSpPr>
        <p:spPr>
          <a:xfrm>
            <a:off x="627278" y="2494070"/>
            <a:ext cx="793699" cy="261133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379720"/>
            <a:ext cx="1133856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6B7280"/>
                </a:solidFill>
                <a:latin typeface="Arial"/>
              </a:rPr>
              <a:t>ZS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1838750"/>
            <a:ext cx="1133856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77</a:t>
            </a:r>
          </a:p>
        </p:txBody>
      </p:sp>
      <p:sp>
        <p:nvSpPr>
          <p:cNvPr id="7" name="Rectangle 6"/>
          <p:cNvSpPr/>
          <p:nvPr/>
        </p:nvSpPr>
        <p:spPr>
          <a:xfrm>
            <a:off x="2035454" y="2494070"/>
            <a:ext cx="793699" cy="261133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65376" y="5379720"/>
            <a:ext cx="1133856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6B7280"/>
                </a:solidFill>
                <a:latin typeface="Arial"/>
              </a:rPr>
              <a:t>1R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1906577"/>
            <a:ext cx="1133856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3630" y="2561897"/>
            <a:ext cx="793699" cy="2543503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5379720"/>
            <a:ext cx="1133856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6B7280"/>
                </a:solidFill>
                <a:latin typeface="Arial"/>
              </a:rPr>
              <a:t>2R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669183"/>
            <a:ext cx="1133856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82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51806" y="2324503"/>
            <a:ext cx="793699" cy="2780897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5379720"/>
            <a:ext cx="1650572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6B7280"/>
                </a:solidFill>
                <a:latin typeface="Arial"/>
              </a:rPr>
              <a:t>MARS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1499616"/>
            <a:ext cx="1133856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87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9982" y="2154936"/>
            <a:ext cx="793699" cy="29504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5379720"/>
            <a:ext cx="1133856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6B7280"/>
                </a:solidFill>
                <a:latin typeface="Arial"/>
              </a:rPr>
              <a:t>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3325368"/>
            <a:ext cx="128016" cy="60960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37576" y="3325368"/>
            <a:ext cx="369722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AR leads.</a:t>
            </a:r>
          </a:p>
        </p:txBody>
      </p:sp>
      <p:sp>
        <p:nvSpPr>
          <p:cNvPr id="20" name="TextBox 19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MARS spends five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Author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54935"/>
            <a:ext cx="2613660" cy="360578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Writes the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5180" y="1499616"/>
            <a:ext cx="360118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Reviewers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5180" y="2154935"/>
            <a:ext cx="2613660" cy="360578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Three in parallel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160" y="14996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2154935"/>
            <a:ext cx="2613660" cy="360578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One final 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1140" y="14996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1140" y="2154935"/>
            <a:ext cx="2613660" cy="360578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Two rounds only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MARS breaks the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B31B1B"/>
                </a:solidFill>
                <a:latin typeface="Arial"/>
              </a:rPr>
              <a:t>82%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348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Pass-rate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50778" y="4407408"/>
            <a:ext cx="1589163" cy="518159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5937" y="4407408"/>
            <a:ext cx="219884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+5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84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B31B1B"/>
                </a:solidFill>
                <a:latin typeface="Arial"/>
              </a:rPr>
              <a:t>39/57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7840" y="352348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Hard tasks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85252" y="4407408"/>
            <a:ext cx="821495" cy="518159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10711" y="4407408"/>
            <a:ext cx="9705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848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B31B1B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8480" y="352348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Agents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35892" y="4407408"/>
            <a:ext cx="821495" cy="518159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1351" y="4407408"/>
            <a:ext cx="9705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+4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But MARS pays for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Five agents for a small 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All interaction is removed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Parallel reviews never meet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23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111827"/>
                </a:solidFill>
                <a:latin typeface="Arial"/>
              </a:rPr>
              <a:t>Can two agents talk?</a:t>
            </a:r>
          </a:p>
        </p:txBody>
      </p:sp>
      <p:sp>
        <p:nvSpPr>
          <p:cNvPr id="4" name="TextBox 3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24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Inside the loop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25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The inner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Review text moves. The artifact never does.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26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The inner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Reviewer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 inspects the frozen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Critic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 fresh C audits that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Repeat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Until R and C are consistent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The outer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Converge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One consistent review emerges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Accept it, or hand it to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M writes artifact version N+1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28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First-pass termination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Reviewer approved at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Critic agreed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No back-and-forth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Otherwise, edit and repeat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29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621280"/>
            <a:ext cx="11110912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"Self-review is not review."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627120"/>
            <a:ext cx="107381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6B7280"/>
                </a:solidFill>
                <a:latin typeface="Arial"/>
              </a:rPr>
              <a:t>- AR SKILL.md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30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375112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Three roles, one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65448"/>
            <a:ext cx="397091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Writes, 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84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840" y="3965448"/>
            <a:ext cx="44836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Reviews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848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8480" y="3965448"/>
            <a:ext cx="35763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Audits R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31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LiveCodeBench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31490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54897" y="1499616"/>
            <a:ext cx="179639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77744" y="1499616"/>
            <a:ext cx="252438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72639"/>
            <a:ext cx="7449743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01823"/>
            <a:ext cx="463615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Two-reviewers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4897" y="2401823"/>
            <a:ext cx="156565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7744" y="2401823"/>
            <a:ext cx="182919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0127"/>
            <a:ext cx="314905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Zero-shot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4897" y="3310127"/>
            <a:ext cx="156565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77%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7744" y="3310127"/>
            <a:ext cx="182919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18431"/>
            <a:ext cx="314905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MARS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4897" y="4218431"/>
            <a:ext cx="156565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82%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7744" y="4218431"/>
            <a:ext cx="182919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6735"/>
            <a:ext cx="314905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4897" y="5126735"/>
            <a:ext cx="156565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87%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7744" y="5126735"/>
            <a:ext cx="182919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32</a:t>
            </a:fld>
          </a:p>
        </p:txBody>
      </p:sp>
      <p:sp>
        <p:nvSpPr>
          <p:cNvPr id="20" name="TextBox 19"/>
          <p:cNvSpPr txBox="1"/>
          <p:nvPr/>
        </p:nvSpPr>
        <p:spPr>
          <a:xfrm>
            <a:off x="926217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B31B1B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8343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B31B1B"/>
                </a:solidFill>
                <a:latin typeface="Arial"/>
              </a:rPr>
              <a:t>87%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360" y="3329940"/>
            <a:ext cx="1097280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912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111827"/>
                </a:solidFill>
                <a:latin typeface="Arial"/>
              </a:rPr>
              <a:t>AR on LiveCodeBench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4964"/>
            <a:ext cx="1127760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6B7280"/>
                </a:solidFill>
                <a:latin typeface="Arial"/>
              </a:rPr>
              <a:t>Five points over MARS.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33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Reviewing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11827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65448"/>
            <a:ext cx="47929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11827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1820" y="3965448"/>
            <a:ext cx="47929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6B7280"/>
                </a:solidFill>
                <a:latin typeface="Arial"/>
              </a:rPr>
              <a:t>VS</a:t>
            </a:r>
          </a:p>
        </p:txBody>
      </p:sp>
      <p:sp>
        <p:nvSpPr>
          <p:cNvPr id="8" name="TextBox 7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34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Review quality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35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The SWE-PRBench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100 real pull-request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 GPT-5.2 judge scores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Kappa 0.75 against humans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F1 over matched comments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36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SWE-PRBench F1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334155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7394" y="1499616"/>
            <a:ext cx="144631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2348" y="1499616"/>
            <a:ext cx="1086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72639"/>
            <a:ext cx="6971348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01823"/>
            <a:ext cx="334155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7394" y="2401823"/>
            <a:ext cx="191176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0.457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2348" y="2401823"/>
            <a:ext cx="133558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0127"/>
            <a:ext cx="494415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Single-reviewer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7394" y="3310127"/>
            <a:ext cx="191176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0.495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2348" y="3310127"/>
            <a:ext cx="133558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18431"/>
            <a:ext cx="334155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MARS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7394" y="4218431"/>
            <a:ext cx="191176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0.501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2348" y="4218431"/>
            <a:ext cx="133558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6735"/>
            <a:ext cx="463615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Two-reviewers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7394" y="5126735"/>
            <a:ext cx="191176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0.503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348" y="5126735"/>
            <a:ext cx="133558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100</a:t>
            </a:r>
          </a:p>
        </p:txBody>
      </p:sp>
      <p:sp>
        <p:nvSpPr>
          <p:cNvPr id="19" name="TextBox 18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37</a:t>
            </a:fld>
          </a:p>
        </p:txBody>
      </p:sp>
      <p:sp>
        <p:nvSpPr>
          <p:cNvPr id="20" name="TextBox 19"/>
          <p:cNvSpPr txBox="1"/>
          <p:nvPr/>
        </p:nvSpPr>
        <p:spPr>
          <a:xfrm>
            <a:off x="926217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B31B1B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8343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B31B1B"/>
                </a:solidFill>
                <a:latin typeface="Arial"/>
              </a:rPr>
              <a:t>0.457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360" y="3329940"/>
            <a:ext cx="1097280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912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111827"/>
                </a:solidFill>
                <a:latin typeface="Arial"/>
              </a:rPr>
              <a:t>AR, naively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4964"/>
            <a:ext cx="1127760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6B7280"/>
                </a:solidFill>
                <a:latin typeface="Arial"/>
              </a:rPr>
              <a:t>Last of the four review methods.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38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926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111827"/>
                </a:solidFill>
                <a:latin typeface="Arial"/>
              </a:rPr>
              <a:t>Why did AR lose?</a:t>
            </a:r>
          </a:p>
        </p:txBody>
      </p:sp>
      <p:sp>
        <p:nvSpPr>
          <p:cNvPr id="4" name="TextBox 3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39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Two 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6900744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Over-decomposition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76271"/>
            <a:ext cx="1650492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6B7280"/>
                </a:solidFill>
                <a:latin typeface="Arial"/>
              </a:rPr>
              <a:t>The critic yields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4600" y="2176271"/>
            <a:ext cx="1650492" cy="548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6634579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The reviewer hedges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751538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The critic confirms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713317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Thin comments pile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5979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 finds a real bug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 rebuts, cites no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750739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 gives in anyway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40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Case A: what survives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99616"/>
            <a:ext cx="11277600" cy="12374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277600" cy="12374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Flags raised · 5</a:t>
            </a:r>
          </a:p>
        </p:txBody>
      </p:sp>
      <p:sp>
        <p:nvSpPr>
          <p:cNvPr id="5" name="Rectangle 4"/>
          <p:cNvSpPr/>
          <p:nvPr/>
        </p:nvSpPr>
        <p:spPr>
          <a:xfrm>
            <a:off x="2007870" y="3011424"/>
            <a:ext cx="8176260" cy="12374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07870" y="3011424"/>
            <a:ext cx="8176260" cy="12374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Judged real ·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558540" y="4523232"/>
            <a:ext cx="5074919" cy="1237488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58540" y="4523232"/>
            <a:ext cx="5134748" cy="12374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Actual bugs · 1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41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Case B: the dropped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31008"/>
            <a:ext cx="550164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B31B1B"/>
                </a:solidFill>
                <a:latin typeface="Arial"/>
              </a:rPr>
              <a:t>0.286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19728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AR on this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3160" y="2731008"/>
            <a:ext cx="550164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B31B1B"/>
                </a:solidFill>
                <a:latin typeface="Arial"/>
              </a:rPr>
              <a:t>0.667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51263" y="3919728"/>
            <a:ext cx="586543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MARS on this task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42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False consensus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Agreement without the evidence to earn it.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43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580137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A reliability bug, not a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It looks like independent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It comes from the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Not from weak agents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44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"Agreement is not validation."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627120"/>
            <a:ext cx="107381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6B7280"/>
                </a:solidFill>
                <a:latin typeface="Arial"/>
              </a:rPr>
              <a:t>- Section 7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45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The one-prompt fix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46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Three verdicts, not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AGREE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Every flag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Cite code that contradicts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CONCERN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Doubt with no code to cite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47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D4D4D4"/>
                </a:solidFill>
                <a:latin typeface="Arial"/>
              </a:rPr>
              <a:t>The critic's output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7944"/>
            <a:ext cx="536717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6A9955"/>
                </a:solidFill>
                <a:latin typeface="Arial"/>
              </a:rPr>
              <a:t>## Output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4262"/>
            <a:ext cx="260163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AGREE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92421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DISAGREE_EVIDENCE: &lt;cite file:line&gt;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10580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DISAGREE_CONCERN: &lt;plausible, unproven&gt;</a:t>
            </a:r>
          </a:p>
        </p:txBody>
      </p:sp>
      <p:sp>
        <p:nvSpPr>
          <p:cNvPr id="10" name="TextBox 9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48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What the reviewer owes 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AGREE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4983619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Keep every flag</a:t>
            </a:r>
          </a:p>
        </p:txBody>
      </p:sp>
      <p:sp>
        <p:nvSpPr>
          <p:cNvPr id="6" name="Rectangle 5"/>
          <p:cNvSpPr/>
          <p:nvPr/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07840" y="1499616"/>
            <a:ext cx="3714868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7840" y="2395727"/>
            <a:ext cx="4752875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Revise the flag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8480" y="1499616"/>
            <a:ext cx="3675737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CONCERN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Cite code or drop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49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The text constraint pays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4768"/>
            <a:ext cx="550164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B31B1B"/>
                </a:solidFill>
                <a:latin typeface="Arial"/>
              </a:rPr>
              <a:t>0.533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3488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AR constrained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068" y="4407408"/>
            <a:ext cx="1661903" cy="518159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0405" y="4407408"/>
            <a:ext cx="23152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+0.076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160" y="2334768"/>
            <a:ext cx="550164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B31B1B"/>
                </a:solidFill>
                <a:latin typeface="Arial"/>
              </a:rPr>
              <a:t>0.503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3523488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Best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3028" y="4407408"/>
            <a:ext cx="1661903" cy="518159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26365" y="4407408"/>
            <a:ext cx="23152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+0.030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50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What did not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Still one reviewer, one critic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Same wiring, same agent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Only the prompt text changed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51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Real repositories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52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The SWE-bench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500 real GitHub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Claude Code, full tool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AR written as a SKILL.md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pass@1 via the Docker harness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53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SWE-bench Verified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63874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9400" y="1499616"/>
            <a:ext cx="285430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Pass@1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3441" y="1499616"/>
            <a:ext cx="1086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72639"/>
            <a:ext cx="6432441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01823"/>
            <a:ext cx="313936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Zero-shot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9400" y="2401823"/>
            <a:ext cx="2141835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71.6%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3441" y="2401823"/>
            <a:ext cx="133558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2895"/>
            <a:ext cx="221356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MARS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9400" y="3612895"/>
            <a:ext cx="2141835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72.6%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3441" y="3612895"/>
            <a:ext cx="133558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23967"/>
            <a:ext cx="221356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9400" y="4823967"/>
            <a:ext cx="2141835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75.2%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3441" y="4823967"/>
            <a:ext cx="133558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500</a:t>
            </a:r>
          </a:p>
        </p:txBody>
      </p:sp>
      <p:sp>
        <p:nvSpPr>
          <p:cNvPr id="16" name="TextBox 1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54</a:t>
            </a:fld>
          </a:p>
        </p:txBody>
      </p:sp>
      <p:sp>
        <p:nvSpPr>
          <p:cNvPr id="17" name="TextBox 16"/>
          <p:cNvSpPr txBox="1"/>
          <p:nvPr/>
        </p:nvSpPr>
        <p:spPr>
          <a:xfrm>
            <a:off x="926217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B31B1B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8343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B31B1B"/>
                </a:solidFill>
                <a:latin typeface="Arial"/>
              </a:rPr>
              <a:t>75.2%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360" y="3329940"/>
            <a:ext cx="1097280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912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111827"/>
                </a:solidFill>
                <a:latin typeface="Arial"/>
              </a:rPr>
              <a:t>AR on real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644" y="4664964"/>
            <a:ext cx="1166471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6B7280"/>
                </a:solidFill>
                <a:latin typeface="Arial"/>
              </a:rPr>
              <a:t>No orchestrator, just the text protocol.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55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Case 1: one frame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357632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Round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54936"/>
            <a:ext cx="525214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R blames caller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47415"/>
            <a:ext cx="3576320" cy="281330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Symptom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840" y="1499616"/>
            <a:ext cx="357632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Round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840" y="2154936"/>
            <a:ext cx="505918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C pushes 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7840" y="2947415"/>
            <a:ext cx="3677761" cy="281330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Root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8480" y="1499616"/>
            <a:ext cx="357632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B31B1B"/>
                </a:solidFill>
                <a:latin typeface="Arial"/>
              </a:rPr>
              <a:t>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8480" y="2154936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M fixes callee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8480" y="2947415"/>
            <a:ext cx="3576320" cy="281330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20 lines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56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Case 1: symptom or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7014766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Zero-shot and MARS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F3A5F"/>
                </a:solidFill>
                <a:latin typeface="Arial"/>
              </a:rPr>
              <a:t>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6942574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Patch the calling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2395727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Patch the callee instead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17391"/>
            <a:ext cx="7135534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45 and 50 line patches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About 20 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9055"/>
            <a:ext cx="6596796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Both fail hidden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The only one that passes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57</a:t>
            </a:fld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Case 2: scope creep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astropy, add one 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Zero-shot ships 24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AR ships 32 and over-edits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Nobody called it out of scope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58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When AR hurts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11827"/>
                </a:solidFill>
                <a:latin typeface="Arial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65448"/>
            <a:ext cx="47929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Zero-shot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11827"/>
                </a:solidFill>
                <a:latin typeface="Arial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1820" y="3965448"/>
            <a:ext cx="47929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11827"/>
                </a:solidFill>
                <a:latin typeface="Arial"/>
              </a:rPr>
              <a:t>AR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6B7280"/>
                </a:solidFill>
                <a:latin typeface="Arial"/>
              </a:rPr>
              <a:t>VS</a:t>
            </a:r>
          </a:p>
        </p:txBody>
      </p:sp>
      <p:sp>
        <p:nvSpPr>
          <p:cNvPr id="8" name="TextBox 7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59</a:t>
            </a:fld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Cost and limits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60</a:t>
            </a:fld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8343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B31B1B"/>
                </a:solidFill>
                <a:latin typeface="Arial"/>
              </a:rPr>
              <a:t>4.5x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360" y="3329940"/>
            <a:ext cx="1097280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912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111827"/>
                </a:solidFill>
                <a:latin typeface="Arial"/>
              </a:rPr>
              <a:t>AR's token multiple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664964"/>
            <a:ext cx="1219200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6B7280"/>
                </a:solidFill>
                <a:latin typeface="Arial"/>
              </a:rPr>
              <a:t>Measured against the zero-shot scaffold.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61</a:t>
            </a:fld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B31B1B"/>
                </a:solidFill>
                <a:latin typeface="Arial"/>
              </a:rPr>
              <a:t>Pareto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Nothing tested is cheaper and better.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62</a:t>
            </a:fld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When to spend the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Complex repositories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Root cause beats token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Skip it on easy tasks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63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Arial"/>
              </a:rPr>
              <a:t>AR in one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Strengths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1650492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678840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Top score on all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6B7280"/>
                </a:solidFill>
                <a:latin typeface="Arial"/>
              </a:rPr>
              <a:t>Weaknesses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160" y="2176271"/>
            <a:ext cx="1650492" cy="548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About 4.5x the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B31B1B"/>
                </a:solidFill>
                <a:latin typeface="Arial"/>
              </a:rPr>
              <a:t>Opportunities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43983"/>
            <a:ext cx="1650492" cy="54864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39"/>
            <a:ext cx="770868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Scope-aware critics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6B7280"/>
                </a:solidFill>
                <a:latin typeface="Arial"/>
              </a:rPr>
              <a:t>Threats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160" y="4443983"/>
            <a:ext cx="1650492" cy="548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160" y="4663439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Judges reward surface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64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What the paper does not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No formal 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Three probes, not full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Each benchmark sees one angle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65</a:t>
            </a:fld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 scope-checking critic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A gate that skips easy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Training on disagreement traces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66</a:t>
            </a:fld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Do not scale the agent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Make disagreement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11827"/>
                </a:solidFill>
                <a:latin typeface="Arial"/>
              </a:rPr>
              <a:t>Ground every flag in code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67</a:t>
            </a:fld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11827"/>
                </a:solidFill>
                <a:latin typeface="Arial"/>
              </a:rPr>
              <a:t>"Minimal, structured, grounded."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627120"/>
            <a:ext cx="107381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6B7280"/>
                </a:solidFill>
                <a:latin typeface="Arial"/>
              </a:rPr>
              <a:t>- Qiu and Gill, 2026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fld id="{4B0E1F8A-6C1D-4E2A-9F3B-7A5C8D2E1F60}" type="slidenum">
              <a:rPr sz="1600" b="0" i="0">
                <a:solidFill>
                  <a:srgbClr val="6B7280"/>
                </a:solidFill>
                <a:latin typeface="Arial"/>
              </a:rPr>
              <a:t>68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